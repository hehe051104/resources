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xml" ContentType="application/vnd.openxmlformats-officedocument.presentationml.tags+xml"/>
  <Override PartName="/ppt/notesSlides/notesSlide23.xml" ContentType="application/vnd.openxmlformats-officedocument.presentationml.notesSlide+xml"/>
  <Override PartName="/ppt/tags/tag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1.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4.xml" ContentType="application/vnd.openxmlformats-officedocument.presentationml.tags+xml"/>
  <Override PartName="/ppt/notesSlides/notesSlide3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7.xml" ContentType="application/vnd.openxmlformats-officedocument.presentationml.notesSlide+xml"/>
  <Override PartName="/ppt/tags/tag15.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6.xml" ContentType="application/vnd.openxmlformats-officedocument.presentationml.tags+xml"/>
  <Override PartName="/ppt/notesSlides/notesSlide42.xml" ContentType="application/vnd.openxmlformats-officedocument.presentationml.notesSlide+xml"/>
  <Override PartName="/ppt/tags/tag1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256" r:id="rId2"/>
    <p:sldId id="1047" r:id="rId3"/>
    <p:sldId id="1112" r:id="rId4"/>
    <p:sldId id="1113" r:id="rId5"/>
    <p:sldId id="1114" r:id="rId6"/>
    <p:sldId id="1115" r:id="rId7"/>
    <p:sldId id="1116" r:id="rId8"/>
    <p:sldId id="1104" r:id="rId9"/>
    <p:sldId id="1105" r:id="rId10"/>
    <p:sldId id="1106" r:id="rId11"/>
    <p:sldId id="1107" r:id="rId12"/>
    <p:sldId id="1108" r:id="rId13"/>
    <p:sldId id="1117" r:id="rId14"/>
    <p:sldId id="1109" r:id="rId15"/>
    <p:sldId id="1111" r:id="rId16"/>
    <p:sldId id="1119" r:id="rId17"/>
    <p:sldId id="468" r:id="rId18"/>
    <p:sldId id="467" r:id="rId19"/>
    <p:sldId id="464" r:id="rId20"/>
    <p:sldId id="469" r:id="rId21"/>
    <p:sldId id="1168" r:id="rId22"/>
    <p:sldId id="465" r:id="rId23"/>
    <p:sldId id="466" r:id="rId24"/>
    <p:sldId id="1041" r:id="rId25"/>
    <p:sldId id="457" r:id="rId26"/>
    <p:sldId id="458" r:id="rId27"/>
    <p:sldId id="499" r:id="rId28"/>
    <p:sldId id="1043" r:id="rId29"/>
    <p:sldId id="470" r:id="rId30"/>
    <p:sldId id="484" r:id="rId31"/>
    <p:sldId id="486" r:id="rId32"/>
    <p:sldId id="504" r:id="rId33"/>
    <p:sldId id="503" r:id="rId34"/>
    <p:sldId id="502" r:id="rId35"/>
    <p:sldId id="506" r:id="rId36"/>
    <p:sldId id="471" r:id="rId37"/>
    <p:sldId id="488" r:id="rId38"/>
    <p:sldId id="1167" r:id="rId39"/>
    <p:sldId id="489" r:id="rId40"/>
    <p:sldId id="1207" r:id="rId41"/>
    <p:sldId id="490" r:id="rId42"/>
    <p:sldId id="1208" r:id="rId43"/>
    <p:sldId id="1209" r:id="rId44"/>
    <p:sldId id="1229" r:id="rId45"/>
    <p:sldId id="1230" r:id="rId46"/>
    <p:sldId id="1231" r:id="rId47"/>
    <p:sldId id="1232" r:id="rId48"/>
    <p:sldId id="1233" r:id="rId49"/>
    <p:sldId id="1234" r:id="rId50"/>
    <p:sldId id="1235" r:id="rId51"/>
    <p:sldId id="1228" r:id="rId52"/>
    <p:sldId id="1217" r:id="rId53"/>
    <p:sldId id="1218" r:id="rId54"/>
    <p:sldId id="1219" r:id="rId55"/>
    <p:sldId id="1220" r:id="rId56"/>
    <p:sldId id="1221" r:id="rId57"/>
    <p:sldId id="1222" r:id="rId58"/>
    <p:sldId id="1223" r:id="rId59"/>
    <p:sldId id="1224" r:id="rId60"/>
    <p:sldId id="1225" r:id="rId61"/>
    <p:sldId id="1227" r:id="rId62"/>
  </p:sldIdLst>
  <p:sldSz cx="12192000" cy="6858000"/>
  <p:notesSz cx="6858000" cy="9144000"/>
  <p:custDataLst>
    <p:tags r:id="rId64"/>
  </p:custDataLst>
  <p:defaultTextStyle>
    <a:defPPr>
      <a:defRPr lang="en-US"/>
    </a:defPPr>
    <a:lvl1pPr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63" autoAdjust="0"/>
    <p:restoredTop sz="53127" autoAdjust="0"/>
  </p:normalViewPr>
  <p:slideViewPr>
    <p:cSldViewPr showGuides="1">
      <p:cViewPr varScale="1">
        <p:scale>
          <a:sx n="83" d="100"/>
          <a:sy n="83" d="100"/>
        </p:scale>
        <p:origin x="2812" y="64"/>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_rels/data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6B50CAF-522A-4276-825E-4C8F065E5EB7}" type="doc">
      <dgm:prSet loTypeId="urn:microsoft.com/office/officeart/2005/8/layout/venn1" loCatId="relationship" qsTypeId="urn:microsoft.com/office/officeart/2005/8/quickstyle/simple1#1" qsCatId="simple" csTypeId="urn:microsoft.com/office/officeart/2005/8/colors/accent1_2#1" csCatId="accent1"/>
      <dgm:spPr/>
      <dgm:t>
        <a:bodyPr/>
        <a:lstStyle/>
        <a:p>
          <a:endParaRPr lang="zh-CN" altLang="en-US"/>
        </a:p>
      </dgm:t>
    </dgm:pt>
    <dgm:pt modelId="{3F9C59D7-E58F-49E9-9A70-8532D0DCD6C2}">
      <dgm:prSet/>
      <dgm:spPr/>
      <dgm:t>
        <a:bodyPr/>
        <a:lstStyle/>
        <a:p>
          <a:pPr rtl="0"/>
          <a:r>
            <a:rPr lang="zh-CN" dirty="0"/>
            <a:t>神经网络</a:t>
          </a:r>
        </a:p>
      </dgm:t>
    </dgm:pt>
    <dgm:pt modelId="{4FB92C52-A398-47AE-A4B9-F284E0E227C4}" type="parTrans" cxnId="{55D9F587-9FC1-41B0-8229-F2C1C9E7E8BB}">
      <dgm:prSet/>
      <dgm:spPr/>
      <dgm:t>
        <a:bodyPr/>
        <a:lstStyle/>
        <a:p>
          <a:endParaRPr lang="zh-CN" altLang="en-US"/>
        </a:p>
      </dgm:t>
    </dgm:pt>
    <dgm:pt modelId="{3053C86C-B15D-4725-B798-F08EFB5E46C0}" type="sibTrans" cxnId="{55D9F587-9FC1-41B0-8229-F2C1C9E7E8BB}">
      <dgm:prSet/>
      <dgm:spPr/>
      <dgm:t>
        <a:bodyPr/>
        <a:lstStyle/>
        <a:p>
          <a:endParaRPr lang="zh-CN" altLang="en-US"/>
        </a:p>
      </dgm:t>
    </dgm:pt>
    <dgm:pt modelId="{0A384C75-38A9-48F2-A8C1-163F0F61ED55}">
      <dgm:prSet/>
      <dgm:spPr/>
      <dgm:t>
        <a:bodyPr/>
        <a:lstStyle/>
        <a:p>
          <a:pPr rtl="0"/>
          <a:r>
            <a:rPr lang="zh-CN"/>
            <a:t>深度学习</a:t>
          </a:r>
        </a:p>
      </dgm:t>
    </dgm:pt>
    <dgm:pt modelId="{B465E50E-F5D9-4AE0-978F-0923D46A673D}" type="parTrans" cxnId="{BA000DEF-1D10-4C27-85FB-31F1E3CF79C9}">
      <dgm:prSet/>
      <dgm:spPr/>
      <dgm:t>
        <a:bodyPr/>
        <a:lstStyle/>
        <a:p>
          <a:endParaRPr lang="zh-CN" altLang="en-US"/>
        </a:p>
      </dgm:t>
    </dgm:pt>
    <dgm:pt modelId="{F41CC2E5-0442-482C-AEF4-4BF722808F1D}" type="sibTrans" cxnId="{BA000DEF-1D10-4C27-85FB-31F1E3CF79C9}">
      <dgm:prSet/>
      <dgm:spPr/>
      <dgm:t>
        <a:bodyPr/>
        <a:lstStyle/>
        <a:p>
          <a:endParaRPr lang="zh-CN" altLang="en-US"/>
        </a:p>
      </dgm:t>
    </dgm:pt>
    <dgm:pt modelId="{22048410-E181-43DF-9CC6-41DBDEA6281E}" type="pres">
      <dgm:prSet presAssocID="{26B50CAF-522A-4276-825E-4C8F065E5EB7}" presName="compositeShape" presStyleCnt="0">
        <dgm:presLayoutVars>
          <dgm:chMax val="7"/>
          <dgm:dir/>
          <dgm:resizeHandles val="exact"/>
        </dgm:presLayoutVars>
      </dgm:prSet>
      <dgm:spPr/>
    </dgm:pt>
    <dgm:pt modelId="{5A005036-7C44-4F4B-8DF4-88FCAA11FFFC}" type="pres">
      <dgm:prSet presAssocID="{3F9C59D7-E58F-49E9-9A70-8532D0DCD6C2}" presName="circ1" presStyleLbl="vennNode1" presStyleIdx="0" presStyleCnt="2"/>
      <dgm:spPr/>
    </dgm:pt>
    <dgm:pt modelId="{E3031F3D-E94D-4AC9-887E-448763ADD8C6}" type="pres">
      <dgm:prSet presAssocID="{3F9C59D7-E58F-49E9-9A70-8532D0DCD6C2}" presName="circ1Tx" presStyleLbl="revTx" presStyleIdx="0" presStyleCnt="0">
        <dgm:presLayoutVars>
          <dgm:chMax val="0"/>
          <dgm:chPref val="0"/>
          <dgm:bulletEnabled val="1"/>
        </dgm:presLayoutVars>
      </dgm:prSet>
      <dgm:spPr/>
    </dgm:pt>
    <dgm:pt modelId="{8836C7B6-C725-42A2-A331-A174816D17C7}" type="pres">
      <dgm:prSet presAssocID="{0A384C75-38A9-48F2-A8C1-163F0F61ED55}" presName="circ2" presStyleLbl="vennNode1" presStyleIdx="1" presStyleCnt="2"/>
      <dgm:spPr/>
    </dgm:pt>
    <dgm:pt modelId="{AD2BB0E3-7147-4EA4-A089-AB5D86ACBE0E}" type="pres">
      <dgm:prSet presAssocID="{0A384C75-38A9-48F2-A8C1-163F0F61ED55}" presName="circ2Tx" presStyleLbl="revTx" presStyleIdx="0" presStyleCnt="0">
        <dgm:presLayoutVars>
          <dgm:chMax val="0"/>
          <dgm:chPref val="0"/>
          <dgm:bulletEnabled val="1"/>
        </dgm:presLayoutVars>
      </dgm:prSet>
      <dgm:spPr/>
    </dgm:pt>
  </dgm:ptLst>
  <dgm:cxnLst>
    <dgm:cxn modelId="{A49E6F27-6CA8-491B-91A6-64F949DC3114}" type="presOf" srcId="{3F9C59D7-E58F-49E9-9A70-8532D0DCD6C2}" destId="{E3031F3D-E94D-4AC9-887E-448763ADD8C6}" srcOrd="1" destOrd="0" presId="urn:microsoft.com/office/officeart/2005/8/layout/venn1"/>
    <dgm:cxn modelId="{9130B830-D537-48F2-BF77-3C053B96A1C2}" type="presOf" srcId="{26B50CAF-522A-4276-825E-4C8F065E5EB7}" destId="{22048410-E181-43DF-9CC6-41DBDEA6281E}" srcOrd="0" destOrd="0" presId="urn:microsoft.com/office/officeart/2005/8/layout/venn1"/>
    <dgm:cxn modelId="{FBC2245E-F132-44CE-A8AF-8CE6219D71DB}" type="presOf" srcId="{0A384C75-38A9-48F2-A8C1-163F0F61ED55}" destId="{AD2BB0E3-7147-4EA4-A089-AB5D86ACBE0E}" srcOrd="1" destOrd="0" presId="urn:microsoft.com/office/officeart/2005/8/layout/venn1"/>
    <dgm:cxn modelId="{55D9F587-9FC1-41B0-8229-F2C1C9E7E8BB}" srcId="{26B50CAF-522A-4276-825E-4C8F065E5EB7}" destId="{3F9C59D7-E58F-49E9-9A70-8532D0DCD6C2}" srcOrd="0" destOrd="0" parTransId="{4FB92C52-A398-47AE-A4B9-F284E0E227C4}" sibTransId="{3053C86C-B15D-4725-B798-F08EFB5E46C0}"/>
    <dgm:cxn modelId="{4FEFEDEA-79FB-4577-BD56-3288910D70C4}" type="presOf" srcId="{3F9C59D7-E58F-49E9-9A70-8532D0DCD6C2}" destId="{5A005036-7C44-4F4B-8DF4-88FCAA11FFFC}" srcOrd="0" destOrd="0" presId="urn:microsoft.com/office/officeart/2005/8/layout/venn1"/>
    <dgm:cxn modelId="{BA000DEF-1D10-4C27-85FB-31F1E3CF79C9}" srcId="{26B50CAF-522A-4276-825E-4C8F065E5EB7}" destId="{0A384C75-38A9-48F2-A8C1-163F0F61ED55}" srcOrd="1" destOrd="0" parTransId="{B465E50E-F5D9-4AE0-978F-0923D46A673D}" sibTransId="{F41CC2E5-0442-482C-AEF4-4BF722808F1D}"/>
    <dgm:cxn modelId="{34279AEF-DD42-4E4C-B7A8-B3388AF73665}" type="presOf" srcId="{0A384C75-38A9-48F2-A8C1-163F0F61ED55}" destId="{8836C7B6-C725-42A2-A331-A174816D17C7}" srcOrd="0" destOrd="0" presId="urn:microsoft.com/office/officeart/2005/8/layout/venn1"/>
    <dgm:cxn modelId="{31B15FBB-0BFF-47AF-B921-782CE9F5AF6A}" type="presParOf" srcId="{22048410-E181-43DF-9CC6-41DBDEA6281E}" destId="{5A005036-7C44-4F4B-8DF4-88FCAA11FFFC}" srcOrd="0" destOrd="0" presId="urn:microsoft.com/office/officeart/2005/8/layout/venn1"/>
    <dgm:cxn modelId="{62C61B4A-D0E0-48C9-AE57-4E34D1B157DD}" type="presParOf" srcId="{22048410-E181-43DF-9CC6-41DBDEA6281E}" destId="{E3031F3D-E94D-4AC9-887E-448763ADD8C6}" srcOrd="1" destOrd="0" presId="urn:microsoft.com/office/officeart/2005/8/layout/venn1"/>
    <dgm:cxn modelId="{AFC54C13-5107-47FB-ABE2-CBEF4AA6E250}" type="presParOf" srcId="{22048410-E181-43DF-9CC6-41DBDEA6281E}" destId="{8836C7B6-C725-42A2-A331-A174816D17C7}" srcOrd="2" destOrd="0" presId="urn:microsoft.com/office/officeart/2005/8/layout/venn1"/>
    <dgm:cxn modelId="{730E3132-BC67-47DC-A42F-730F4109E781}" type="presParOf" srcId="{22048410-E181-43DF-9CC6-41DBDEA6281E}" destId="{AD2BB0E3-7147-4EA4-A089-AB5D86ACBE0E}"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1AE1026-D2A0-47C2-8B3D-C6B0156D358B}" type="doc">
      <dgm:prSet loTypeId="urn:microsoft.com/office/officeart/2005/8/layout/hierarchy2#1" loCatId="hierarchy" qsTypeId="urn:microsoft.com/office/officeart/2005/8/quickstyle/simple1#2" qsCatId="simple" csTypeId="urn:microsoft.com/office/officeart/2005/8/colors/accent1_2#2" csCatId="accent1" phldr="1"/>
      <dgm:spPr/>
      <dgm:t>
        <a:bodyPr/>
        <a:lstStyle/>
        <a:p>
          <a:endParaRPr lang="zh-CN" altLang="en-US"/>
        </a:p>
      </dgm:t>
    </dgm:pt>
    <dgm:pt modelId="{F2DD335F-F4ED-427B-9143-27BE63843845}">
      <dgm:prSet custT="1"/>
      <dgm:spPr/>
      <dgm:t>
        <a:bodyPr/>
        <a:lstStyle/>
        <a:p>
          <a:pPr rtl="0">
            <a:lnSpc>
              <a:spcPct val="100000"/>
            </a:lnSpc>
            <a:spcBef>
              <a:spcPts val="0"/>
            </a:spcBef>
            <a:spcAft>
              <a:spcPts val="0"/>
            </a:spcAft>
          </a:pPr>
          <a:r>
            <a:rPr lang="zh-CN" altLang="en-US" sz="2000" dirty="0"/>
            <a:t>知识</a:t>
          </a:r>
        </a:p>
      </dgm:t>
    </dgm:pt>
    <dgm:pt modelId="{8889FCFF-0902-4D6E-9951-6CD429DB888B}" type="parTrans" cxnId="{4839C0D2-6618-439C-B7B2-186067D6EEB7}">
      <dgm:prSet/>
      <dgm:spPr/>
      <dgm:t>
        <a:bodyPr/>
        <a:lstStyle/>
        <a:p>
          <a:pPr>
            <a:lnSpc>
              <a:spcPct val="100000"/>
            </a:lnSpc>
            <a:spcBef>
              <a:spcPts val="0"/>
            </a:spcBef>
            <a:spcAft>
              <a:spcPts val="0"/>
            </a:spcAft>
          </a:pPr>
          <a:endParaRPr lang="zh-CN" altLang="en-US" sz="2800"/>
        </a:p>
      </dgm:t>
    </dgm:pt>
    <dgm:pt modelId="{447E591A-B8DE-4930-BE32-F339B98FD4F3}" type="sibTrans" cxnId="{4839C0D2-6618-439C-B7B2-186067D6EEB7}">
      <dgm:prSet/>
      <dgm:spPr/>
      <dgm:t>
        <a:bodyPr/>
        <a:lstStyle/>
        <a:p>
          <a:pPr>
            <a:lnSpc>
              <a:spcPct val="100000"/>
            </a:lnSpc>
            <a:spcBef>
              <a:spcPts val="0"/>
            </a:spcBef>
            <a:spcAft>
              <a:spcPts val="0"/>
            </a:spcAft>
          </a:pPr>
          <a:endParaRPr lang="zh-CN" altLang="en-US" sz="2800"/>
        </a:p>
      </dgm:t>
    </dgm:pt>
    <dgm:pt modelId="{F8A913BF-FF20-4BE3-AB5E-0F7AA51F32B6}">
      <dgm:prSet custT="1"/>
      <dgm:spPr/>
      <dgm:t>
        <a:bodyPr/>
        <a:lstStyle/>
        <a:p>
          <a:pPr rtl="0">
            <a:lnSpc>
              <a:spcPct val="100000"/>
            </a:lnSpc>
            <a:spcBef>
              <a:spcPts val="0"/>
            </a:spcBef>
            <a:spcAft>
              <a:spcPts val="0"/>
            </a:spcAft>
          </a:pPr>
          <a:r>
            <a:rPr lang="zh-CN" sz="2000" dirty="0"/>
            <a:t>知道</a:t>
          </a:r>
          <a:endParaRPr lang="en-US" altLang="zh-CN" sz="2000" dirty="0"/>
        </a:p>
        <a:p>
          <a:pPr rtl="0">
            <a:lnSpc>
              <a:spcPct val="100000"/>
            </a:lnSpc>
            <a:spcBef>
              <a:spcPts val="0"/>
            </a:spcBef>
            <a:spcAft>
              <a:spcPts val="0"/>
            </a:spcAft>
          </a:pPr>
          <a:r>
            <a:rPr lang="zh-CN" altLang="en-US" sz="2000" dirty="0"/>
            <a:t>怎么做</a:t>
          </a:r>
          <a:endParaRPr lang="zh-CN" sz="2000" dirty="0"/>
        </a:p>
      </dgm:t>
    </dgm:pt>
    <dgm:pt modelId="{B94A8C1F-8663-48DC-AFE0-ED9153CDDB04}" type="parTrans" cxnId="{EED8D562-C4D2-45BB-817E-227067307736}">
      <dgm:prSet custT="1"/>
      <dgm:spPr/>
      <dgm:t>
        <a:bodyPr/>
        <a:lstStyle/>
        <a:p>
          <a:pPr>
            <a:lnSpc>
              <a:spcPct val="100000"/>
            </a:lnSpc>
            <a:spcBef>
              <a:spcPts val="0"/>
            </a:spcBef>
            <a:spcAft>
              <a:spcPts val="0"/>
            </a:spcAft>
          </a:pPr>
          <a:endParaRPr lang="zh-CN" altLang="en-US" sz="800"/>
        </a:p>
      </dgm:t>
    </dgm:pt>
    <dgm:pt modelId="{60D3BD74-18BE-4E7C-B4DB-328BDD094F37}" type="sibTrans" cxnId="{EED8D562-C4D2-45BB-817E-227067307736}">
      <dgm:prSet/>
      <dgm:spPr/>
      <dgm:t>
        <a:bodyPr/>
        <a:lstStyle/>
        <a:p>
          <a:pPr>
            <a:lnSpc>
              <a:spcPct val="100000"/>
            </a:lnSpc>
            <a:spcBef>
              <a:spcPts val="0"/>
            </a:spcBef>
            <a:spcAft>
              <a:spcPts val="0"/>
            </a:spcAft>
          </a:pPr>
          <a:endParaRPr lang="zh-CN" altLang="en-US" sz="2800"/>
        </a:p>
      </dgm:t>
    </dgm:pt>
    <dgm:pt modelId="{FA135B7F-2613-4B80-BDFC-5E6ED5D1C14D}">
      <dgm:prSet custT="1"/>
      <dgm:spPr/>
      <dgm:t>
        <a:bodyPr/>
        <a:lstStyle/>
        <a:p>
          <a:pPr rtl="0">
            <a:lnSpc>
              <a:spcPct val="100000"/>
            </a:lnSpc>
            <a:spcBef>
              <a:spcPts val="0"/>
            </a:spcBef>
            <a:spcAft>
              <a:spcPts val="0"/>
            </a:spcAft>
          </a:pPr>
          <a:r>
            <a:rPr lang="zh-CN" sz="2000" dirty="0"/>
            <a:t>不知道</a:t>
          </a:r>
          <a:endParaRPr lang="en-US" altLang="zh-CN" sz="2000" dirty="0"/>
        </a:p>
        <a:p>
          <a:pPr rtl="0">
            <a:lnSpc>
              <a:spcPct val="100000"/>
            </a:lnSpc>
            <a:spcBef>
              <a:spcPts val="0"/>
            </a:spcBef>
            <a:spcAft>
              <a:spcPts val="0"/>
            </a:spcAft>
          </a:pPr>
          <a:r>
            <a:rPr lang="zh-CN" altLang="en-US" sz="2000" dirty="0"/>
            <a:t>怎么做</a:t>
          </a:r>
          <a:endParaRPr lang="zh-CN" sz="2000" dirty="0"/>
        </a:p>
      </dgm:t>
    </dgm:pt>
    <dgm:pt modelId="{9C6E211D-B358-45C5-95D3-C96B3D66FDB2}" type="parTrans" cxnId="{86FEB9FD-0E4A-4361-838D-55E96663BF06}">
      <dgm:prSet custT="1"/>
      <dgm:spPr/>
      <dgm:t>
        <a:bodyPr/>
        <a:lstStyle/>
        <a:p>
          <a:pPr>
            <a:lnSpc>
              <a:spcPct val="100000"/>
            </a:lnSpc>
            <a:spcBef>
              <a:spcPts val="0"/>
            </a:spcBef>
            <a:spcAft>
              <a:spcPts val="0"/>
            </a:spcAft>
          </a:pPr>
          <a:endParaRPr lang="zh-CN" altLang="en-US" sz="800"/>
        </a:p>
      </dgm:t>
    </dgm:pt>
    <dgm:pt modelId="{14C1B338-1697-457F-B7F9-3F005F6B8871}" type="sibTrans" cxnId="{86FEB9FD-0E4A-4361-838D-55E96663BF06}">
      <dgm:prSet/>
      <dgm:spPr/>
      <dgm:t>
        <a:bodyPr/>
        <a:lstStyle/>
        <a:p>
          <a:pPr>
            <a:lnSpc>
              <a:spcPct val="100000"/>
            </a:lnSpc>
            <a:spcBef>
              <a:spcPts val="0"/>
            </a:spcBef>
            <a:spcAft>
              <a:spcPts val="0"/>
            </a:spcAft>
          </a:pPr>
          <a:endParaRPr lang="zh-CN" altLang="en-US" sz="2800"/>
        </a:p>
      </dgm:t>
    </dgm:pt>
    <dgm:pt modelId="{CB36CA1F-DC00-49FC-9F39-3899387403F7}">
      <dgm:prSet custT="1"/>
      <dgm:spPr/>
      <dgm:t>
        <a:bodyPr/>
        <a:lstStyle/>
        <a:p>
          <a:pPr rtl="0">
            <a:lnSpc>
              <a:spcPct val="100000"/>
            </a:lnSpc>
            <a:spcBef>
              <a:spcPts val="0"/>
            </a:spcBef>
            <a:spcAft>
              <a:spcPts val="0"/>
            </a:spcAft>
          </a:pPr>
          <a:r>
            <a:rPr lang="zh-CN" altLang="en-US" sz="2000" dirty="0"/>
            <a:t>专家系统</a:t>
          </a:r>
        </a:p>
      </dgm:t>
    </dgm:pt>
    <dgm:pt modelId="{777E2D03-330E-43C8-A439-09671C3F191F}" type="parTrans" cxnId="{ECF7D460-D68D-4656-BD12-BCC421A71B10}">
      <dgm:prSet custT="1"/>
      <dgm:spPr/>
      <dgm:t>
        <a:bodyPr/>
        <a:lstStyle/>
        <a:p>
          <a:pPr>
            <a:lnSpc>
              <a:spcPct val="100000"/>
            </a:lnSpc>
            <a:spcBef>
              <a:spcPts val="0"/>
            </a:spcBef>
            <a:spcAft>
              <a:spcPts val="0"/>
            </a:spcAft>
          </a:pPr>
          <a:endParaRPr lang="zh-CN" altLang="en-US" sz="800"/>
        </a:p>
      </dgm:t>
    </dgm:pt>
    <dgm:pt modelId="{55354CDE-24BF-4D27-8286-AC0B44E5E01F}" type="sibTrans" cxnId="{ECF7D460-D68D-4656-BD12-BCC421A71B10}">
      <dgm:prSet/>
      <dgm:spPr/>
      <dgm:t>
        <a:bodyPr/>
        <a:lstStyle/>
        <a:p>
          <a:pPr>
            <a:lnSpc>
              <a:spcPct val="100000"/>
            </a:lnSpc>
            <a:spcBef>
              <a:spcPts val="0"/>
            </a:spcBef>
            <a:spcAft>
              <a:spcPts val="0"/>
            </a:spcAft>
          </a:pPr>
          <a:endParaRPr lang="zh-CN" altLang="en-US" sz="2800"/>
        </a:p>
      </dgm:t>
    </dgm:pt>
    <dgm:pt modelId="{2E56F678-C1CE-4892-BC9F-D88898E69FD5}">
      <dgm:prSet custT="1"/>
      <dgm:spPr>
        <a:solidFill>
          <a:srgbClr val="FF0000"/>
        </a:solidFill>
      </dgm:spPr>
      <dgm:t>
        <a:bodyPr/>
        <a:lstStyle/>
        <a:p>
          <a:pPr rtl="0">
            <a:lnSpc>
              <a:spcPct val="100000"/>
            </a:lnSpc>
            <a:spcBef>
              <a:spcPts val="0"/>
            </a:spcBef>
            <a:spcAft>
              <a:spcPts val="0"/>
            </a:spcAft>
          </a:pPr>
          <a:r>
            <a:rPr lang="zh-CN" altLang="en-US" sz="2000" dirty="0"/>
            <a:t>机器学习</a:t>
          </a:r>
        </a:p>
      </dgm:t>
    </dgm:pt>
    <dgm:pt modelId="{D66DAC0E-D6F2-470E-A02F-6C7E94390031}" type="parTrans" cxnId="{BBE05118-6A51-4EE2-ADC1-45AABD8CC483}">
      <dgm:prSet custT="1"/>
      <dgm:spPr/>
      <dgm:t>
        <a:bodyPr/>
        <a:lstStyle/>
        <a:p>
          <a:pPr>
            <a:lnSpc>
              <a:spcPct val="100000"/>
            </a:lnSpc>
            <a:spcBef>
              <a:spcPts val="0"/>
            </a:spcBef>
            <a:spcAft>
              <a:spcPts val="0"/>
            </a:spcAft>
          </a:pPr>
          <a:endParaRPr lang="zh-CN" altLang="en-US" sz="800"/>
        </a:p>
      </dgm:t>
    </dgm:pt>
    <dgm:pt modelId="{F74E17AE-50A3-4D9E-B990-4B9831EAECD6}" type="sibTrans" cxnId="{BBE05118-6A51-4EE2-ADC1-45AABD8CC483}">
      <dgm:prSet/>
      <dgm:spPr/>
      <dgm:t>
        <a:bodyPr/>
        <a:lstStyle/>
        <a:p>
          <a:pPr>
            <a:lnSpc>
              <a:spcPct val="100000"/>
            </a:lnSpc>
            <a:spcBef>
              <a:spcPts val="0"/>
            </a:spcBef>
            <a:spcAft>
              <a:spcPts val="0"/>
            </a:spcAft>
          </a:pPr>
          <a:endParaRPr lang="zh-CN" altLang="en-US" sz="2800"/>
        </a:p>
      </dgm:t>
    </dgm:pt>
    <dgm:pt modelId="{70EB503F-3A9B-46F0-8303-EF97445EEC83}">
      <dgm:prSet custT="1"/>
      <dgm:spPr/>
      <dgm:t>
        <a:bodyPr/>
        <a:lstStyle/>
        <a:p>
          <a:pPr rtl="0">
            <a:lnSpc>
              <a:spcPct val="100000"/>
            </a:lnSpc>
            <a:spcBef>
              <a:spcPts val="0"/>
            </a:spcBef>
            <a:spcAft>
              <a:spcPts val="0"/>
            </a:spcAft>
          </a:pPr>
          <a:r>
            <a:rPr lang="en-US" altLang="zh-CN" sz="2000" dirty="0"/>
            <a:t>…</a:t>
          </a:r>
          <a:endParaRPr lang="zh-CN" sz="2000" dirty="0"/>
        </a:p>
      </dgm:t>
    </dgm:pt>
    <dgm:pt modelId="{FF3DB6AF-A4DE-4E13-AE14-D96D5C0A1A8B}" type="parTrans" cxnId="{76E6D0E2-CAA0-47F4-8F29-FEC4AD627595}">
      <dgm:prSet custT="1"/>
      <dgm:spPr/>
      <dgm:t>
        <a:bodyPr/>
        <a:lstStyle/>
        <a:p>
          <a:pPr>
            <a:lnSpc>
              <a:spcPct val="100000"/>
            </a:lnSpc>
            <a:spcBef>
              <a:spcPts val="0"/>
            </a:spcBef>
            <a:spcAft>
              <a:spcPts val="0"/>
            </a:spcAft>
          </a:pPr>
          <a:endParaRPr lang="zh-CN" altLang="en-US" sz="800"/>
        </a:p>
      </dgm:t>
    </dgm:pt>
    <dgm:pt modelId="{C09D8828-D1EC-4445-AC28-913742F85FBF}" type="sibTrans" cxnId="{76E6D0E2-CAA0-47F4-8F29-FEC4AD627595}">
      <dgm:prSet/>
      <dgm:spPr/>
      <dgm:t>
        <a:bodyPr/>
        <a:lstStyle/>
        <a:p>
          <a:pPr>
            <a:lnSpc>
              <a:spcPct val="100000"/>
            </a:lnSpc>
            <a:spcBef>
              <a:spcPts val="0"/>
            </a:spcBef>
            <a:spcAft>
              <a:spcPts val="0"/>
            </a:spcAft>
          </a:pPr>
          <a:endParaRPr lang="zh-CN" altLang="en-US" sz="2800"/>
        </a:p>
      </dgm:t>
    </dgm:pt>
    <dgm:pt modelId="{9F41907F-BB90-49A4-8E97-05E5E602AA08}">
      <dgm:prSet custT="1"/>
      <dgm:spPr/>
      <dgm:t>
        <a:bodyPr/>
        <a:lstStyle/>
        <a:p>
          <a:pPr rtl="0">
            <a:lnSpc>
              <a:spcPct val="100000"/>
            </a:lnSpc>
            <a:spcBef>
              <a:spcPts val="0"/>
            </a:spcBef>
            <a:spcAft>
              <a:spcPts val="0"/>
            </a:spcAft>
          </a:pPr>
          <a:r>
            <a:rPr lang="zh-CN" altLang="en-US" sz="2000" dirty="0"/>
            <a:t>图像识别</a:t>
          </a:r>
        </a:p>
      </dgm:t>
    </dgm:pt>
    <dgm:pt modelId="{0A9FB55B-D1A7-4307-8A08-CC8062B73331}" type="parTrans" cxnId="{3DD80F62-62FF-4793-8A1C-C01B9DBCAAD9}">
      <dgm:prSet custT="1"/>
      <dgm:spPr/>
      <dgm:t>
        <a:bodyPr/>
        <a:lstStyle/>
        <a:p>
          <a:pPr>
            <a:lnSpc>
              <a:spcPct val="100000"/>
            </a:lnSpc>
            <a:spcBef>
              <a:spcPts val="0"/>
            </a:spcBef>
            <a:spcAft>
              <a:spcPts val="0"/>
            </a:spcAft>
          </a:pPr>
          <a:endParaRPr lang="zh-CN" altLang="en-US" sz="800"/>
        </a:p>
      </dgm:t>
    </dgm:pt>
    <dgm:pt modelId="{CA45A301-B28A-4F99-A0E1-05C0281E7D20}" type="sibTrans" cxnId="{3DD80F62-62FF-4793-8A1C-C01B9DBCAAD9}">
      <dgm:prSet/>
      <dgm:spPr/>
      <dgm:t>
        <a:bodyPr/>
        <a:lstStyle/>
        <a:p>
          <a:pPr>
            <a:lnSpc>
              <a:spcPct val="100000"/>
            </a:lnSpc>
            <a:spcBef>
              <a:spcPts val="0"/>
            </a:spcBef>
            <a:spcAft>
              <a:spcPts val="0"/>
            </a:spcAft>
          </a:pPr>
          <a:endParaRPr lang="zh-CN" altLang="en-US" sz="2800"/>
        </a:p>
      </dgm:t>
    </dgm:pt>
    <dgm:pt modelId="{05CD4DBB-775F-4F64-B7B3-2A8FB6878FB6}">
      <dgm:prSet custT="1"/>
      <dgm:spPr/>
      <dgm:t>
        <a:bodyPr/>
        <a:lstStyle/>
        <a:p>
          <a:pPr rtl="0">
            <a:lnSpc>
              <a:spcPct val="100000"/>
            </a:lnSpc>
            <a:spcBef>
              <a:spcPts val="0"/>
            </a:spcBef>
            <a:spcAft>
              <a:spcPts val="0"/>
            </a:spcAft>
          </a:pPr>
          <a:r>
            <a:rPr lang="zh-CN" altLang="en-US" sz="2000" dirty="0"/>
            <a:t>自然语言处理</a:t>
          </a:r>
        </a:p>
      </dgm:t>
    </dgm:pt>
    <dgm:pt modelId="{7E301767-8ADB-4167-BA15-EC4ED536CDF3}" type="parTrans" cxnId="{92A0EDDC-2ADD-4592-9705-18201C0D7A77}">
      <dgm:prSet custT="1"/>
      <dgm:spPr/>
      <dgm:t>
        <a:bodyPr/>
        <a:lstStyle/>
        <a:p>
          <a:pPr>
            <a:lnSpc>
              <a:spcPct val="100000"/>
            </a:lnSpc>
            <a:spcBef>
              <a:spcPts val="0"/>
            </a:spcBef>
            <a:spcAft>
              <a:spcPts val="0"/>
            </a:spcAft>
          </a:pPr>
          <a:endParaRPr lang="zh-CN" altLang="en-US" sz="800"/>
        </a:p>
      </dgm:t>
    </dgm:pt>
    <dgm:pt modelId="{BA73F853-FE33-4BBC-8D45-84658BD94781}" type="sibTrans" cxnId="{92A0EDDC-2ADD-4592-9705-18201C0D7A77}">
      <dgm:prSet/>
      <dgm:spPr/>
      <dgm:t>
        <a:bodyPr/>
        <a:lstStyle/>
        <a:p>
          <a:pPr>
            <a:lnSpc>
              <a:spcPct val="100000"/>
            </a:lnSpc>
            <a:spcBef>
              <a:spcPts val="0"/>
            </a:spcBef>
            <a:spcAft>
              <a:spcPts val="0"/>
            </a:spcAft>
          </a:pPr>
          <a:endParaRPr lang="zh-CN" altLang="en-US" sz="2800"/>
        </a:p>
      </dgm:t>
    </dgm:pt>
    <dgm:pt modelId="{AB428304-461C-4EF2-8AB5-72E61F1D457B}">
      <dgm:prSet custT="1"/>
      <dgm:spPr/>
      <dgm:t>
        <a:bodyPr/>
        <a:lstStyle/>
        <a:p>
          <a:pPr rtl="0">
            <a:lnSpc>
              <a:spcPct val="100000"/>
            </a:lnSpc>
            <a:spcBef>
              <a:spcPts val="0"/>
            </a:spcBef>
            <a:spcAft>
              <a:spcPts val="0"/>
            </a:spcAft>
          </a:pPr>
          <a:r>
            <a:rPr lang="zh-CN" altLang="en-US" sz="2000" dirty="0"/>
            <a:t>语音识别</a:t>
          </a:r>
        </a:p>
      </dgm:t>
    </dgm:pt>
    <dgm:pt modelId="{151543BC-AEBE-4068-BE93-39163CC15B0C}" type="parTrans" cxnId="{C0C9B3D1-A740-4616-A98F-5A4A0EC01948}">
      <dgm:prSet custT="1"/>
      <dgm:spPr/>
      <dgm:t>
        <a:bodyPr/>
        <a:lstStyle/>
        <a:p>
          <a:pPr>
            <a:lnSpc>
              <a:spcPct val="100000"/>
            </a:lnSpc>
            <a:spcBef>
              <a:spcPts val="0"/>
            </a:spcBef>
            <a:spcAft>
              <a:spcPts val="0"/>
            </a:spcAft>
          </a:pPr>
          <a:endParaRPr lang="zh-CN" altLang="en-US" sz="800"/>
        </a:p>
      </dgm:t>
    </dgm:pt>
    <dgm:pt modelId="{3A0F74E7-D9A7-4A57-8BC0-85238CF5478F}" type="sibTrans" cxnId="{C0C9B3D1-A740-4616-A98F-5A4A0EC01948}">
      <dgm:prSet/>
      <dgm:spPr/>
      <dgm:t>
        <a:bodyPr/>
        <a:lstStyle/>
        <a:p>
          <a:pPr>
            <a:lnSpc>
              <a:spcPct val="100000"/>
            </a:lnSpc>
            <a:spcBef>
              <a:spcPts val="0"/>
            </a:spcBef>
            <a:spcAft>
              <a:spcPts val="0"/>
            </a:spcAft>
          </a:pPr>
          <a:endParaRPr lang="zh-CN" altLang="en-US" sz="2800"/>
        </a:p>
      </dgm:t>
    </dgm:pt>
    <dgm:pt modelId="{0417665F-05DB-447F-B5CF-5767FCC0E66D}">
      <dgm:prSet custT="1"/>
      <dgm:spPr/>
      <dgm:t>
        <a:bodyPr/>
        <a:lstStyle/>
        <a:p>
          <a:pPr rtl="0">
            <a:lnSpc>
              <a:spcPct val="100000"/>
            </a:lnSpc>
            <a:spcBef>
              <a:spcPts val="0"/>
            </a:spcBef>
            <a:spcAft>
              <a:spcPts val="0"/>
            </a:spcAft>
          </a:pPr>
          <a:r>
            <a:rPr lang="zh-CN" altLang="en-US" sz="2000" dirty="0"/>
            <a:t>不容易做</a:t>
          </a:r>
        </a:p>
      </dgm:t>
    </dgm:pt>
    <dgm:pt modelId="{11F84FE5-D2A8-4928-A291-B5915D3D9955}" type="parTrans" cxnId="{89C2492B-4899-4876-8F13-F2FD8936FB46}">
      <dgm:prSet custT="1"/>
      <dgm:spPr/>
      <dgm:t>
        <a:bodyPr/>
        <a:lstStyle/>
        <a:p>
          <a:pPr>
            <a:lnSpc>
              <a:spcPct val="100000"/>
            </a:lnSpc>
            <a:spcBef>
              <a:spcPts val="0"/>
            </a:spcBef>
            <a:spcAft>
              <a:spcPts val="0"/>
            </a:spcAft>
          </a:pPr>
          <a:endParaRPr lang="zh-CN" altLang="en-US" sz="800"/>
        </a:p>
      </dgm:t>
    </dgm:pt>
    <dgm:pt modelId="{BF6BB68F-2C69-49CC-A414-9F5F03650CF8}" type="sibTrans" cxnId="{89C2492B-4899-4876-8F13-F2FD8936FB46}">
      <dgm:prSet/>
      <dgm:spPr/>
      <dgm:t>
        <a:bodyPr/>
        <a:lstStyle/>
        <a:p>
          <a:pPr>
            <a:lnSpc>
              <a:spcPct val="100000"/>
            </a:lnSpc>
            <a:spcBef>
              <a:spcPts val="0"/>
            </a:spcBef>
            <a:spcAft>
              <a:spcPts val="0"/>
            </a:spcAft>
          </a:pPr>
          <a:endParaRPr lang="zh-CN" altLang="en-US" sz="2800"/>
        </a:p>
      </dgm:t>
    </dgm:pt>
    <dgm:pt modelId="{0520DB01-5CDA-4B89-ABBB-14C2DA83042A}">
      <dgm:prSet custT="1"/>
      <dgm:spPr>
        <a:solidFill>
          <a:schemeClr val="accent1"/>
        </a:solidFill>
      </dgm:spPr>
      <dgm:t>
        <a:bodyPr/>
        <a:lstStyle/>
        <a:p>
          <a:pPr rtl="0">
            <a:lnSpc>
              <a:spcPct val="100000"/>
            </a:lnSpc>
            <a:spcBef>
              <a:spcPts val="0"/>
            </a:spcBef>
            <a:spcAft>
              <a:spcPts val="0"/>
            </a:spcAft>
          </a:pPr>
          <a:r>
            <a:rPr lang="zh-CN" altLang="en-US" sz="2000" dirty="0"/>
            <a:t>容易做</a:t>
          </a:r>
        </a:p>
      </dgm:t>
    </dgm:pt>
    <dgm:pt modelId="{7AA7E7C8-28F5-4795-AD69-71F96663B848}" type="parTrans" cxnId="{798E3BF1-89A4-4EAC-BF19-C5E5A968BEE3}">
      <dgm:prSet custT="1"/>
      <dgm:spPr/>
      <dgm:t>
        <a:bodyPr/>
        <a:lstStyle/>
        <a:p>
          <a:pPr>
            <a:lnSpc>
              <a:spcPct val="100000"/>
            </a:lnSpc>
            <a:spcBef>
              <a:spcPts val="0"/>
            </a:spcBef>
            <a:spcAft>
              <a:spcPts val="0"/>
            </a:spcAft>
          </a:pPr>
          <a:endParaRPr lang="zh-CN" altLang="en-US" sz="800"/>
        </a:p>
      </dgm:t>
    </dgm:pt>
    <dgm:pt modelId="{9965978E-C79C-411E-9C9B-DD5223ACF6B8}" type="sibTrans" cxnId="{798E3BF1-89A4-4EAC-BF19-C5E5A968BEE3}">
      <dgm:prSet/>
      <dgm:spPr/>
      <dgm:t>
        <a:bodyPr/>
        <a:lstStyle/>
        <a:p>
          <a:pPr>
            <a:lnSpc>
              <a:spcPct val="100000"/>
            </a:lnSpc>
            <a:spcBef>
              <a:spcPts val="0"/>
            </a:spcBef>
            <a:spcAft>
              <a:spcPts val="0"/>
            </a:spcAft>
          </a:pPr>
          <a:endParaRPr lang="zh-CN" altLang="en-US" sz="2800"/>
        </a:p>
      </dgm:t>
    </dgm:pt>
    <dgm:pt modelId="{20A65034-31C8-4FB9-B35A-01908CBDDB35}">
      <dgm:prSet custT="1"/>
      <dgm:spPr/>
      <dgm:t>
        <a:bodyPr/>
        <a:lstStyle/>
        <a:p>
          <a:pPr rtl="0">
            <a:lnSpc>
              <a:spcPct val="100000"/>
            </a:lnSpc>
            <a:spcBef>
              <a:spcPts val="0"/>
            </a:spcBef>
            <a:spcAft>
              <a:spcPts val="0"/>
            </a:spcAft>
          </a:pPr>
          <a:r>
            <a:rPr lang="zh-CN" altLang="en-US" sz="2000" dirty="0"/>
            <a:t>强化学习</a:t>
          </a:r>
        </a:p>
      </dgm:t>
    </dgm:pt>
    <dgm:pt modelId="{36061C26-038C-48A2-8176-FC82F637E77E}" type="parTrans" cxnId="{C0486979-4AA4-4DD0-BE83-89FBB6E59BAD}">
      <dgm:prSet custT="1"/>
      <dgm:spPr/>
      <dgm:t>
        <a:bodyPr/>
        <a:lstStyle/>
        <a:p>
          <a:pPr>
            <a:lnSpc>
              <a:spcPct val="100000"/>
            </a:lnSpc>
            <a:spcBef>
              <a:spcPts val="0"/>
            </a:spcBef>
            <a:spcAft>
              <a:spcPts val="0"/>
            </a:spcAft>
          </a:pPr>
          <a:endParaRPr lang="zh-CN" altLang="en-US" sz="800"/>
        </a:p>
      </dgm:t>
    </dgm:pt>
    <dgm:pt modelId="{82371B03-B973-4BE5-8950-B7F0D1CAA83F}" type="sibTrans" cxnId="{C0486979-4AA4-4DD0-BE83-89FBB6E59BAD}">
      <dgm:prSet/>
      <dgm:spPr/>
      <dgm:t>
        <a:bodyPr/>
        <a:lstStyle/>
        <a:p>
          <a:pPr>
            <a:lnSpc>
              <a:spcPct val="100000"/>
            </a:lnSpc>
            <a:spcBef>
              <a:spcPts val="0"/>
            </a:spcBef>
            <a:spcAft>
              <a:spcPts val="0"/>
            </a:spcAft>
          </a:pPr>
          <a:endParaRPr lang="zh-CN" altLang="en-US" sz="2800"/>
        </a:p>
      </dgm:t>
    </dgm:pt>
    <dgm:pt modelId="{F77BAF7A-175C-4003-A6AA-24E76EF32702}">
      <dgm:prSet custT="1"/>
      <dgm:spPr/>
      <dgm:t>
        <a:bodyPr/>
        <a:lstStyle/>
        <a:p>
          <a:pPr rtl="0">
            <a:lnSpc>
              <a:spcPct val="100000"/>
            </a:lnSpc>
            <a:spcBef>
              <a:spcPts val="0"/>
            </a:spcBef>
            <a:spcAft>
              <a:spcPts val="0"/>
            </a:spcAft>
          </a:pPr>
          <a:r>
            <a:rPr lang="zh-CN" altLang="en-US" sz="2000" dirty="0"/>
            <a:t>围棋</a:t>
          </a:r>
        </a:p>
      </dgm:t>
    </dgm:pt>
    <dgm:pt modelId="{06E1B8E6-917A-4BFE-B4CD-67A90C88741F}" type="parTrans" cxnId="{E76AA94C-DDC6-46E9-9B32-37C5F5299BC9}">
      <dgm:prSet custT="1"/>
      <dgm:spPr/>
      <dgm:t>
        <a:bodyPr/>
        <a:lstStyle/>
        <a:p>
          <a:pPr>
            <a:lnSpc>
              <a:spcPct val="100000"/>
            </a:lnSpc>
            <a:spcBef>
              <a:spcPts val="0"/>
            </a:spcBef>
            <a:spcAft>
              <a:spcPts val="0"/>
            </a:spcAft>
          </a:pPr>
          <a:endParaRPr lang="zh-CN" altLang="en-US" sz="800"/>
        </a:p>
      </dgm:t>
    </dgm:pt>
    <dgm:pt modelId="{5418DC28-54AB-4167-B8C4-10240D4FCB1D}" type="sibTrans" cxnId="{E76AA94C-DDC6-46E9-9B32-37C5F5299BC9}">
      <dgm:prSet/>
      <dgm:spPr/>
      <dgm:t>
        <a:bodyPr/>
        <a:lstStyle/>
        <a:p>
          <a:pPr>
            <a:lnSpc>
              <a:spcPct val="100000"/>
            </a:lnSpc>
            <a:spcBef>
              <a:spcPts val="0"/>
            </a:spcBef>
            <a:spcAft>
              <a:spcPts val="0"/>
            </a:spcAft>
          </a:pPr>
          <a:endParaRPr lang="zh-CN" altLang="en-US" sz="2800"/>
        </a:p>
      </dgm:t>
    </dgm:pt>
    <dgm:pt modelId="{6CDEF2D0-E275-4921-BA3B-84ABC851091F}" type="pres">
      <dgm:prSet presAssocID="{B1AE1026-D2A0-47C2-8B3D-C6B0156D358B}" presName="diagram" presStyleCnt="0">
        <dgm:presLayoutVars>
          <dgm:chPref val="1"/>
          <dgm:dir/>
          <dgm:animOne val="branch"/>
          <dgm:animLvl val="lvl"/>
          <dgm:resizeHandles val="exact"/>
        </dgm:presLayoutVars>
      </dgm:prSet>
      <dgm:spPr/>
    </dgm:pt>
    <dgm:pt modelId="{6BD5A947-8166-447A-B304-C2F64D6C456A}" type="pres">
      <dgm:prSet presAssocID="{F2DD335F-F4ED-427B-9143-27BE63843845}" presName="root1" presStyleCnt="0"/>
      <dgm:spPr/>
    </dgm:pt>
    <dgm:pt modelId="{398C20A5-A9D8-4D3E-B587-799A3BB16507}" type="pres">
      <dgm:prSet presAssocID="{F2DD335F-F4ED-427B-9143-27BE63843845}" presName="LevelOneTextNode" presStyleLbl="node0" presStyleIdx="0" presStyleCnt="1">
        <dgm:presLayoutVars>
          <dgm:chPref val="3"/>
        </dgm:presLayoutVars>
      </dgm:prSet>
      <dgm:spPr/>
    </dgm:pt>
    <dgm:pt modelId="{E5EECC48-296F-4977-9549-5478D27AA71E}" type="pres">
      <dgm:prSet presAssocID="{F2DD335F-F4ED-427B-9143-27BE63843845}" presName="level2hierChild" presStyleCnt="0"/>
      <dgm:spPr/>
    </dgm:pt>
    <dgm:pt modelId="{E701DB57-D095-4995-BA9F-3DC318F851BB}" type="pres">
      <dgm:prSet presAssocID="{B94A8C1F-8663-48DC-AFE0-ED9153CDDB04}" presName="conn2-1" presStyleLbl="parChTrans1D2" presStyleIdx="0" presStyleCnt="2"/>
      <dgm:spPr/>
    </dgm:pt>
    <dgm:pt modelId="{8532DA87-15CF-41DC-A6ED-D536B73B26D5}" type="pres">
      <dgm:prSet presAssocID="{B94A8C1F-8663-48DC-AFE0-ED9153CDDB04}" presName="connTx" presStyleLbl="parChTrans1D2" presStyleIdx="0" presStyleCnt="2"/>
      <dgm:spPr/>
    </dgm:pt>
    <dgm:pt modelId="{66E6AE2D-E424-401E-BE98-13D9C7C8E64F}" type="pres">
      <dgm:prSet presAssocID="{F8A913BF-FF20-4BE3-AB5E-0F7AA51F32B6}" presName="root2" presStyleCnt="0"/>
      <dgm:spPr/>
    </dgm:pt>
    <dgm:pt modelId="{037CC688-649A-434F-9080-67500DD1A79D}" type="pres">
      <dgm:prSet presAssocID="{F8A913BF-FF20-4BE3-AB5E-0F7AA51F32B6}" presName="LevelTwoTextNode" presStyleLbl="node2" presStyleIdx="0" presStyleCnt="2">
        <dgm:presLayoutVars>
          <dgm:chPref val="3"/>
        </dgm:presLayoutVars>
      </dgm:prSet>
      <dgm:spPr/>
    </dgm:pt>
    <dgm:pt modelId="{C0952350-77B3-4279-8F92-FF05E01C1691}" type="pres">
      <dgm:prSet presAssocID="{F8A913BF-FF20-4BE3-AB5E-0F7AA51F32B6}" presName="level3hierChild" presStyleCnt="0"/>
      <dgm:spPr/>
    </dgm:pt>
    <dgm:pt modelId="{33B9F075-4423-4B3D-A2BD-A73956F1955D}" type="pres">
      <dgm:prSet presAssocID="{777E2D03-330E-43C8-A439-09671C3F191F}" presName="conn2-1" presStyleLbl="parChTrans1D3" presStyleIdx="0" presStyleCnt="3"/>
      <dgm:spPr/>
    </dgm:pt>
    <dgm:pt modelId="{D409D1B5-8445-4A64-8086-7FE53A8B3E24}" type="pres">
      <dgm:prSet presAssocID="{777E2D03-330E-43C8-A439-09671C3F191F}" presName="connTx" presStyleLbl="parChTrans1D3" presStyleIdx="0" presStyleCnt="3"/>
      <dgm:spPr/>
    </dgm:pt>
    <dgm:pt modelId="{C7214047-2809-48BC-9810-4DD98B40D464}" type="pres">
      <dgm:prSet presAssocID="{CB36CA1F-DC00-49FC-9F39-3899387403F7}" presName="root2" presStyleCnt="0"/>
      <dgm:spPr/>
    </dgm:pt>
    <dgm:pt modelId="{66091779-FD2E-4FDC-86F2-2AC227D5816C}" type="pres">
      <dgm:prSet presAssocID="{CB36CA1F-DC00-49FC-9F39-3899387403F7}" presName="LevelTwoTextNode" presStyleLbl="node3" presStyleIdx="0" presStyleCnt="3">
        <dgm:presLayoutVars>
          <dgm:chPref val="3"/>
        </dgm:presLayoutVars>
      </dgm:prSet>
      <dgm:spPr/>
    </dgm:pt>
    <dgm:pt modelId="{6E3562EA-6D04-4E9B-A3D1-A1F6DC869A7B}" type="pres">
      <dgm:prSet presAssocID="{CB36CA1F-DC00-49FC-9F39-3899387403F7}" presName="level3hierChild" presStyleCnt="0"/>
      <dgm:spPr/>
    </dgm:pt>
    <dgm:pt modelId="{69ABC5AB-FD09-427D-B12C-5C8B1CBD2726}" type="pres">
      <dgm:prSet presAssocID="{FF3DB6AF-A4DE-4E13-AE14-D96D5C0A1A8B}" presName="conn2-1" presStyleLbl="parChTrans1D4" presStyleIdx="0" presStyleCnt="7"/>
      <dgm:spPr/>
    </dgm:pt>
    <dgm:pt modelId="{5156EE79-8EF5-461E-AB61-DF6007AD0779}" type="pres">
      <dgm:prSet presAssocID="{FF3DB6AF-A4DE-4E13-AE14-D96D5C0A1A8B}" presName="connTx" presStyleLbl="parChTrans1D4" presStyleIdx="0" presStyleCnt="7"/>
      <dgm:spPr/>
    </dgm:pt>
    <dgm:pt modelId="{C27DD1E1-701E-4C8F-8174-E6B8B2DC4D15}" type="pres">
      <dgm:prSet presAssocID="{70EB503F-3A9B-46F0-8303-EF97445EEC83}" presName="root2" presStyleCnt="0"/>
      <dgm:spPr/>
    </dgm:pt>
    <dgm:pt modelId="{5B8380FE-0DCB-4F6C-B2BC-0BBB10FD4D3D}" type="pres">
      <dgm:prSet presAssocID="{70EB503F-3A9B-46F0-8303-EF97445EEC83}" presName="LevelTwoTextNode" presStyleLbl="node4" presStyleIdx="0" presStyleCnt="7">
        <dgm:presLayoutVars>
          <dgm:chPref val="3"/>
        </dgm:presLayoutVars>
      </dgm:prSet>
      <dgm:spPr/>
    </dgm:pt>
    <dgm:pt modelId="{364F520D-3FEF-4E8D-A45A-CCC229C7AAAB}" type="pres">
      <dgm:prSet presAssocID="{70EB503F-3A9B-46F0-8303-EF97445EEC83}" presName="level3hierChild" presStyleCnt="0"/>
      <dgm:spPr/>
    </dgm:pt>
    <dgm:pt modelId="{42EAD14C-C4CD-43F4-BBC5-79864427DD73}" type="pres">
      <dgm:prSet presAssocID="{9C6E211D-B358-45C5-95D3-C96B3D66FDB2}" presName="conn2-1" presStyleLbl="parChTrans1D2" presStyleIdx="1" presStyleCnt="2"/>
      <dgm:spPr/>
    </dgm:pt>
    <dgm:pt modelId="{2D5F6FEF-BACB-4FE7-B689-8A9CFA42D76E}" type="pres">
      <dgm:prSet presAssocID="{9C6E211D-B358-45C5-95D3-C96B3D66FDB2}" presName="connTx" presStyleLbl="parChTrans1D2" presStyleIdx="1" presStyleCnt="2"/>
      <dgm:spPr/>
    </dgm:pt>
    <dgm:pt modelId="{81B8013D-90D5-45A9-8B4B-BF7D3BD54942}" type="pres">
      <dgm:prSet presAssocID="{FA135B7F-2613-4B80-BDFC-5E6ED5D1C14D}" presName="root2" presStyleCnt="0"/>
      <dgm:spPr/>
    </dgm:pt>
    <dgm:pt modelId="{78FFD0A5-EFF7-4D75-9190-24A2A39A0A14}" type="pres">
      <dgm:prSet presAssocID="{FA135B7F-2613-4B80-BDFC-5E6ED5D1C14D}" presName="LevelTwoTextNode" presStyleLbl="node2" presStyleIdx="1" presStyleCnt="2">
        <dgm:presLayoutVars>
          <dgm:chPref val="3"/>
        </dgm:presLayoutVars>
      </dgm:prSet>
      <dgm:spPr/>
    </dgm:pt>
    <dgm:pt modelId="{2B786ED4-C331-4CCB-A219-049FDEC12BC1}" type="pres">
      <dgm:prSet presAssocID="{FA135B7F-2613-4B80-BDFC-5E6ED5D1C14D}" presName="level3hierChild" presStyleCnt="0"/>
      <dgm:spPr/>
    </dgm:pt>
    <dgm:pt modelId="{E8CC1104-E240-42BE-900E-835E00B649B3}" type="pres">
      <dgm:prSet presAssocID="{7AA7E7C8-28F5-4795-AD69-71F96663B848}" presName="conn2-1" presStyleLbl="parChTrans1D3" presStyleIdx="1" presStyleCnt="3"/>
      <dgm:spPr/>
    </dgm:pt>
    <dgm:pt modelId="{DB6F332D-DB1E-42F9-B0F5-86DE58B9A006}" type="pres">
      <dgm:prSet presAssocID="{7AA7E7C8-28F5-4795-AD69-71F96663B848}" presName="connTx" presStyleLbl="parChTrans1D3" presStyleIdx="1" presStyleCnt="3"/>
      <dgm:spPr/>
    </dgm:pt>
    <dgm:pt modelId="{12A24013-BD94-4075-B65C-E72D4CC5DA9F}" type="pres">
      <dgm:prSet presAssocID="{0520DB01-5CDA-4B89-ABBB-14C2DA83042A}" presName="root2" presStyleCnt="0"/>
      <dgm:spPr/>
    </dgm:pt>
    <dgm:pt modelId="{B8B76B01-ABE5-4B2A-967E-5B81E7EB1BEB}" type="pres">
      <dgm:prSet presAssocID="{0520DB01-5CDA-4B89-ABBB-14C2DA83042A}" presName="LevelTwoTextNode" presStyleLbl="node3" presStyleIdx="1" presStyleCnt="3">
        <dgm:presLayoutVars>
          <dgm:chPref val="3"/>
        </dgm:presLayoutVars>
      </dgm:prSet>
      <dgm:spPr/>
    </dgm:pt>
    <dgm:pt modelId="{153D918C-2E6B-4614-A103-50E828FE18BA}" type="pres">
      <dgm:prSet presAssocID="{0520DB01-5CDA-4B89-ABBB-14C2DA83042A}" presName="level3hierChild" presStyleCnt="0"/>
      <dgm:spPr/>
    </dgm:pt>
    <dgm:pt modelId="{5F5B8F60-B6E3-4D33-8006-A534B5219659}" type="pres">
      <dgm:prSet presAssocID="{D66DAC0E-D6F2-470E-A02F-6C7E94390031}" presName="conn2-1" presStyleLbl="parChTrans1D4" presStyleIdx="1" presStyleCnt="7"/>
      <dgm:spPr/>
    </dgm:pt>
    <dgm:pt modelId="{974EA6F0-7E42-4CD5-BFEE-3A3BF1F9DA7E}" type="pres">
      <dgm:prSet presAssocID="{D66DAC0E-D6F2-470E-A02F-6C7E94390031}" presName="connTx" presStyleLbl="parChTrans1D4" presStyleIdx="1" presStyleCnt="7"/>
      <dgm:spPr/>
    </dgm:pt>
    <dgm:pt modelId="{538F3372-CE0D-4542-85F9-3B6CD7763FB3}" type="pres">
      <dgm:prSet presAssocID="{2E56F678-C1CE-4892-BC9F-D88898E69FD5}" presName="root2" presStyleCnt="0"/>
      <dgm:spPr/>
    </dgm:pt>
    <dgm:pt modelId="{484FF441-C91D-4E7A-BC24-9D042BC822F3}" type="pres">
      <dgm:prSet presAssocID="{2E56F678-C1CE-4892-BC9F-D88898E69FD5}" presName="LevelTwoTextNode" presStyleLbl="node4" presStyleIdx="1" presStyleCnt="7">
        <dgm:presLayoutVars>
          <dgm:chPref val="3"/>
        </dgm:presLayoutVars>
      </dgm:prSet>
      <dgm:spPr/>
    </dgm:pt>
    <dgm:pt modelId="{9ECE1F91-50F5-4017-B313-AE0D00533061}" type="pres">
      <dgm:prSet presAssocID="{2E56F678-C1CE-4892-BC9F-D88898E69FD5}" presName="level3hierChild" presStyleCnt="0"/>
      <dgm:spPr/>
    </dgm:pt>
    <dgm:pt modelId="{52C33EA9-1F67-42E9-95A3-083353CEDF6A}" type="pres">
      <dgm:prSet presAssocID="{0A9FB55B-D1A7-4307-8A08-CC8062B73331}" presName="conn2-1" presStyleLbl="parChTrans1D4" presStyleIdx="2" presStyleCnt="7"/>
      <dgm:spPr/>
    </dgm:pt>
    <dgm:pt modelId="{A8E92269-108D-40EB-979D-DA3CEFA1FF1C}" type="pres">
      <dgm:prSet presAssocID="{0A9FB55B-D1A7-4307-8A08-CC8062B73331}" presName="connTx" presStyleLbl="parChTrans1D4" presStyleIdx="2" presStyleCnt="7"/>
      <dgm:spPr/>
    </dgm:pt>
    <dgm:pt modelId="{C8753729-E2B8-450F-9128-731EC0602952}" type="pres">
      <dgm:prSet presAssocID="{9F41907F-BB90-49A4-8E97-05E5E602AA08}" presName="root2" presStyleCnt="0"/>
      <dgm:spPr/>
    </dgm:pt>
    <dgm:pt modelId="{2456E607-9E9A-461B-9DA8-D9F7AFDF1055}" type="pres">
      <dgm:prSet presAssocID="{9F41907F-BB90-49A4-8E97-05E5E602AA08}" presName="LevelTwoTextNode" presStyleLbl="node4" presStyleIdx="2" presStyleCnt="7">
        <dgm:presLayoutVars>
          <dgm:chPref val="3"/>
        </dgm:presLayoutVars>
      </dgm:prSet>
      <dgm:spPr/>
    </dgm:pt>
    <dgm:pt modelId="{F581CF7D-63D0-46D6-BD41-50B5A9048593}" type="pres">
      <dgm:prSet presAssocID="{9F41907F-BB90-49A4-8E97-05E5E602AA08}" presName="level3hierChild" presStyleCnt="0"/>
      <dgm:spPr/>
    </dgm:pt>
    <dgm:pt modelId="{E11CDAD6-EF43-4F94-BA41-40CBC44693B1}" type="pres">
      <dgm:prSet presAssocID="{7E301767-8ADB-4167-BA15-EC4ED536CDF3}" presName="conn2-1" presStyleLbl="parChTrans1D4" presStyleIdx="3" presStyleCnt="7"/>
      <dgm:spPr/>
    </dgm:pt>
    <dgm:pt modelId="{068C6179-719E-4B47-9EBE-F32060C437F0}" type="pres">
      <dgm:prSet presAssocID="{7E301767-8ADB-4167-BA15-EC4ED536CDF3}" presName="connTx" presStyleLbl="parChTrans1D4" presStyleIdx="3" presStyleCnt="7"/>
      <dgm:spPr/>
    </dgm:pt>
    <dgm:pt modelId="{74CBADCE-7DBB-49C9-AB2B-4F4E54499CFA}" type="pres">
      <dgm:prSet presAssocID="{05CD4DBB-775F-4F64-B7B3-2A8FB6878FB6}" presName="root2" presStyleCnt="0"/>
      <dgm:spPr/>
    </dgm:pt>
    <dgm:pt modelId="{FE57452C-E001-4B6F-B3D9-B5C2BCE6A1ED}" type="pres">
      <dgm:prSet presAssocID="{05CD4DBB-775F-4F64-B7B3-2A8FB6878FB6}" presName="LevelTwoTextNode" presStyleLbl="node4" presStyleIdx="3" presStyleCnt="7">
        <dgm:presLayoutVars>
          <dgm:chPref val="3"/>
        </dgm:presLayoutVars>
      </dgm:prSet>
      <dgm:spPr/>
    </dgm:pt>
    <dgm:pt modelId="{B0A9A8DF-F323-4D69-9E2D-187487BA5A16}" type="pres">
      <dgm:prSet presAssocID="{05CD4DBB-775F-4F64-B7B3-2A8FB6878FB6}" presName="level3hierChild" presStyleCnt="0"/>
      <dgm:spPr/>
    </dgm:pt>
    <dgm:pt modelId="{68A85DED-C01F-403C-9517-F2C92D2E1D99}" type="pres">
      <dgm:prSet presAssocID="{151543BC-AEBE-4068-BE93-39163CC15B0C}" presName="conn2-1" presStyleLbl="parChTrans1D4" presStyleIdx="4" presStyleCnt="7"/>
      <dgm:spPr/>
    </dgm:pt>
    <dgm:pt modelId="{67A478BE-7EDA-4AC0-9240-BEECD2C1B112}" type="pres">
      <dgm:prSet presAssocID="{151543BC-AEBE-4068-BE93-39163CC15B0C}" presName="connTx" presStyleLbl="parChTrans1D4" presStyleIdx="4" presStyleCnt="7"/>
      <dgm:spPr/>
    </dgm:pt>
    <dgm:pt modelId="{ECB87CAF-2DB1-4330-A83A-E171394034A5}" type="pres">
      <dgm:prSet presAssocID="{AB428304-461C-4EF2-8AB5-72E61F1D457B}" presName="root2" presStyleCnt="0"/>
      <dgm:spPr/>
    </dgm:pt>
    <dgm:pt modelId="{E5B3CEF5-212B-4333-BDA5-5231AF422114}" type="pres">
      <dgm:prSet presAssocID="{AB428304-461C-4EF2-8AB5-72E61F1D457B}" presName="LevelTwoTextNode" presStyleLbl="node4" presStyleIdx="4" presStyleCnt="7">
        <dgm:presLayoutVars>
          <dgm:chPref val="3"/>
        </dgm:presLayoutVars>
      </dgm:prSet>
      <dgm:spPr/>
    </dgm:pt>
    <dgm:pt modelId="{21C1B8C2-43C8-48BF-9746-CB1D67DECABF}" type="pres">
      <dgm:prSet presAssocID="{AB428304-461C-4EF2-8AB5-72E61F1D457B}" presName="level3hierChild" presStyleCnt="0"/>
      <dgm:spPr/>
    </dgm:pt>
    <dgm:pt modelId="{AC917292-0880-4240-9CF8-AB0D0F2B0832}" type="pres">
      <dgm:prSet presAssocID="{11F84FE5-D2A8-4928-A291-B5915D3D9955}" presName="conn2-1" presStyleLbl="parChTrans1D3" presStyleIdx="2" presStyleCnt="3"/>
      <dgm:spPr/>
    </dgm:pt>
    <dgm:pt modelId="{E4BF694D-E775-4639-8D69-EA549226CA94}" type="pres">
      <dgm:prSet presAssocID="{11F84FE5-D2A8-4928-A291-B5915D3D9955}" presName="connTx" presStyleLbl="parChTrans1D3" presStyleIdx="2" presStyleCnt="3"/>
      <dgm:spPr/>
    </dgm:pt>
    <dgm:pt modelId="{37B81F9F-4D8B-4846-8416-F2DF3B678FAA}" type="pres">
      <dgm:prSet presAssocID="{0417665F-05DB-447F-B5CF-5767FCC0E66D}" presName="root2" presStyleCnt="0"/>
      <dgm:spPr/>
    </dgm:pt>
    <dgm:pt modelId="{3D4DFC46-14FD-44CF-889B-312D881097D2}" type="pres">
      <dgm:prSet presAssocID="{0417665F-05DB-447F-B5CF-5767FCC0E66D}" presName="LevelTwoTextNode" presStyleLbl="node3" presStyleIdx="2" presStyleCnt="3">
        <dgm:presLayoutVars>
          <dgm:chPref val="3"/>
        </dgm:presLayoutVars>
      </dgm:prSet>
      <dgm:spPr/>
    </dgm:pt>
    <dgm:pt modelId="{917D5023-7B29-411C-A5D9-8EC5EA9E9182}" type="pres">
      <dgm:prSet presAssocID="{0417665F-05DB-447F-B5CF-5767FCC0E66D}" presName="level3hierChild" presStyleCnt="0"/>
      <dgm:spPr/>
    </dgm:pt>
    <dgm:pt modelId="{4D5C558E-2E7D-4D1A-ABA2-D5D2DD86206F}" type="pres">
      <dgm:prSet presAssocID="{36061C26-038C-48A2-8176-FC82F637E77E}" presName="conn2-1" presStyleLbl="parChTrans1D4" presStyleIdx="5" presStyleCnt="7"/>
      <dgm:spPr/>
    </dgm:pt>
    <dgm:pt modelId="{EC993B32-D076-4951-AEE7-4200E341C468}" type="pres">
      <dgm:prSet presAssocID="{36061C26-038C-48A2-8176-FC82F637E77E}" presName="connTx" presStyleLbl="parChTrans1D4" presStyleIdx="5" presStyleCnt="7"/>
      <dgm:spPr/>
    </dgm:pt>
    <dgm:pt modelId="{2E1CE949-7538-4875-A596-272E93252598}" type="pres">
      <dgm:prSet presAssocID="{20A65034-31C8-4FB9-B35A-01908CBDDB35}" presName="root2" presStyleCnt="0"/>
      <dgm:spPr/>
    </dgm:pt>
    <dgm:pt modelId="{7CFDB172-E668-43FE-B146-64584C675B7A}" type="pres">
      <dgm:prSet presAssocID="{20A65034-31C8-4FB9-B35A-01908CBDDB35}" presName="LevelTwoTextNode" presStyleLbl="node4" presStyleIdx="5" presStyleCnt="7">
        <dgm:presLayoutVars>
          <dgm:chPref val="3"/>
        </dgm:presLayoutVars>
      </dgm:prSet>
      <dgm:spPr/>
    </dgm:pt>
    <dgm:pt modelId="{36379834-7B61-43DE-BE71-A16800DF47B8}" type="pres">
      <dgm:prSet presAssocID="{20A65034-31C8-4FB9-B35A-01908CBDDB35}" presName="level3hierChild" presStyleCnt="0"/>
      <dgm:spPr/>
    </dgm:pt>
    <dgm:pt modelId="{AF3A758F-4CD4-4A21-B44A-EE5D60432290}" type="pres">
      <dgm:prSet presAssocID="{06E1B8E6-917A-4BFE-B4CD-67A90C88741F}" presName="conn2-1" presStyleLbl="parChTrans1D4" presStyleIdx="6" presStyleCnt="7"/>
      <dgm:spPr/>
    </dgm:pt>
    <dgm:pt modelId="{938E7890-3687-42DC-855E-CB4ABC65476D}" type="pres">
      <dgm:prSet presAssocID="{06E1B8E6-917A-4BFE-B4CD-67A90C88741F}" presName="connTx" presStyleLbl="parChTrans1D4" presStyleIdx="6" presStyleCnt="7"/>
      <dgm:spPr/>
    </dgm:pt>
    <dgm:pt modelId="{4B7B71BA-84E6-4924-AA79-3886DCAFA119}" type="pres">
      <dgm:prSet presAssocID="{F77BAF7A-175C-4003-A6AA-24E76EF32702}" presName="root2" presStyleCnt="0"/>
      <dgm:spPr/>
    </dgm:pt>
    <dgm:pt modelId="{EAD3BB15-FD98-48A1-AE91-B49E6520FB73}" type="pres">
      <dgm:prSet presAssocID="{F77BAF7A-175C-4003-A6AA-24E76EF32702}" presName="LevelTwoTextNode" presStyleLbl="node4" presStyleIdx="6" presStyleCnt="7">
        <dgm:presLayoutVars>
          <dgm:chPref val="3"/>
        </dgm:presLayoutVars>
      </dgm:prSet>
      <dgm:spPr/>
    </dgm:pt>
    <dgm:pt modelId="{18D337E8-52AE-4734-9779-0B4151CCD775}" type="pres">
      <dgm:prSet presAssocID="{F77BAF7A-175C-4003-A6AA-24E76EF32702}" presName="level3hierChild" presStyleCnt="0"/>
      <dgm:spPr/>
    </dgm:pt>
  </dgm:ptLst>
  <dgm:cxnLst>
    <dgm:cxn modelId="{E49B5004-6E21-4811-9C1F-6002F0B93B1C}" type="presOf" srcId="{7E301767-8ADB-4167-BA15-EC4ED536CDF3}" destId="{E11CDAD6-EF43-4F94-BA41-40CBC44693B1}" srcOrd="0" destOrd="0" presId="urn:microsoft.com/office/officeart/2005/8/layout/hierarchy2#1"/>
    <dgm:cxn modelId="{D874D105-8E31-46CE-ABE4-3795E22DCD84}" type="presOf" srcId="{B94A8C1F-8663-48DC-AFE0-ED9153CDDB04}" destId="{8532DA87-15CF-41DC-A6ED-D536B73B26D5}" srcOrd="1" destOrd="0" presId="urn:microsoft.com/office/officeart/2005/8/layout/hierarchy2#1"/>
    <dgm:cxn modelId="{6B5EC607-BA16-4CDF-BDDC-B61BD01B912F}" type="presOf" srcId="{F77BAF7A-175C-4003-A6AA-24E76EF32702}" destId="{EAD3BB15-FD98-48A1-AE91-B49E6520FB73}" srcOrd="0" destOrd="0" presId="urn:microsoft.com/office/officeart/2005/8/layout/hierarchy2#1"/>
    <dgm:cxn modelId="{442DED0C-569A-4E1E-8F81-7CF88C6CE1F9}" type="presOf" srcId="{AB428304-461C-4EF2-8AB5-72E61F1D457B}" destId="{E5B3CEF5-212B-4333-BDA5-5231AF422114}" srcOrd="0" destOrd="0" presId="urn:microsoft.com/office/officeart/2005/8/layout/hierarchy2#1"/>
    <dgm:cxn modelId="{B891380F-DEBE-485B-8244-C62FE7DF23BE}" type="presOf" srcId="{7AA7E7C8-28F5-4795-AD69-71F96663B848}" destId="{DB6F332D-DB1E-42F9-B0F5-86DE58B9A006}" srcOrd="1" destOrd="0" presId="urn:microsoft.com/office/officeart/2005/8/layout/hierarchy2#1"/>
    <dgm:cxn modelId="{BBE05118-6A51-4EE2-ADC1-45AABD8CC483}" srcId="{0520DB01-5CDA-4B89-ABBB-14C2DA83042A}" destId="{2E56F678-C1CE-4892-BC9F-D88898E69FD5}" srcOrd="0" destOrd="0" parTransId="{D66DAC0E-D6F2-470E-A02F-6C7E94390031}" sibTransId="{F74E17AE-50A3-4D9E-B990-4B9831EAECD6}"/>
    <dgm:cxn modelId="{E7B9AF1B-80F3-4E70-B8E8-51CC335CDF38}" type="presOf" srcId="{06E1B8E6-917A-4BFE-B4CD-67A90C88741F}" destId="{AF3A758F-4CD4-4A21-B44A-EE5D60432290}" srcOrd="0" destOrd="0" presId="urn:microsoft.com/office/officeart/2005/8/layout/hierarchy2#1"/>
    <dgm:cxn modelId="{C6838324-6AB8-4BE3-8AF2-1A2AA95B126A}" type="presOf" srcId="{FF3DB6AF-A4DE-4E13-AE14-D96D5C0A1A8B}" destId="{69ABC5AB-FD09-427D-B12C-5C8B1CBD2726}" srcOrd="0" destOrd="0" presId="urn:microsoft.com/office/officeart/2005/8/layout/hierarchy2#1"/>
    <dgm:cxn modelId="{62A27227-BCC3-4930-A1FE-25552AF40EF4}" type="presOf" srcId="{70EB503F-3A9B-46F0-8303-EF97445EEC83}" destId="{5B8380FE-0DCB-4F6C-B2BC-0BBB10FD4D3D}" srcOrd="0" destOrd="0" presId="urn:microsoft.com/office/officeart/2005/8/layout/hierarchy2#1"/>
    <dgm:cxn modelId="{89C2492B-4899-4876-8F13-F2FD8936FB46}" srcId="{FA135B7F-2613-4B80-BDFC-5E6ED5D1C14D}" destId="{0417665F-05DB-447F-B5CF-5767FCC0E66D}" srcOrd="1" destOrd="0" parTransId="{11F84FE5-D2A8-4928-A291-B5915D3D9955}" sibTransId="{BF6BB68F-2C69-49CC-A414-9F5F03650CF8}"/>
    <dgm:cxn modelId="{4951DE2F-7B5C-47D3-97D4-87C840D88F5D}" type="presOf" srcId="{7AA7E7C8-28F5-4795-AD69-71F96663B848}" destId="{E8CC1104-E240-42BE-900E-835E00B649B3}" srcOrd="0" destOrd="0" presId="urn:microsoft.com/office/officeart/2005/8/layout/hierarchy2#1"/>
    <dgm:cxn modelId="{0071CB30-8F8B-4323-94C3-31468A5CCB34}" type="presOf" srcId="{CB36CA1F-DC00-49FC-9F39-3899387403F7}" destId="{66091779-FD2E-4FDC-86F2-2AC227D5816C}" srcOrd="0" destOrd="0" presId="urn:microsoft.com/office/officeart/2005/8/layout/hierarchy2#1"/>
    <dgm:cxn modelId="{9DEBA337-6500-45B2-A1BB-7BE2240A9182}" type="presOf" srcId="{0520DB01-5CDA-4B89-ABBB-14C2DA83042A}" destId="{B8B76B01-ABE5-4B2A-967E-5B81E7EB1BEB}" srcOrd="0" destOrd="0" presId="urn:microsoft.com/office/officeart/2005/8/layout/hierarchy2#1"/>
    <dgm:cxn modelId="{69265C3C-0E1C-4EDF-B6C6-E5587E1DA0BE}" type="presOf" srcId="{36061C26-038C-48A2-8176-FC82F637E77E}" destId="{EC993B32-D076-4951-AEE7-4200E341C468}" srcOrd="1" destOrd="0" presId="urn:microsoft.com/office/officeart/2005/8/layout/hierarchy2#1"/>
    <dgm:cxn modelId="{6EE5873E-84C1-4CBA-9377-9B5716D1C74C}" type="presOf" srcId="{0A9FB55B-D1A7-4307-8A08-CC8062B73331}" destId="{52C33EA9-1F67-42E9-95A3-083353CEDF6A}" srcOrd="0" destOrd="0" presId="urn:microsoft.com/office/officeart/2005/8/layout/hierarchy2#1"/>
    <dgm:cxn modelId="{0824DD5B-4720-4B73-8247-DA516509E796}" type="presOf" srcId="{777E2D03-330E-43C8-A439-09671C3F191F}" destId="{D409D1B5-8445-4A64-8086-7FE53A8B3E24}" srcOrd="1" destOrd="0" presId="urn:microsoft.com/office/officeart/2005/8/layout/hierarchy2#1"/>
    <dgm:cxn modelId="{3C98985D-827E-4418-813D-FC835F920BE3}" type="presOf" srcId="{11F84FE5-D2A8-4928-A291-B5915D3D9955}" destId="{E4BF694D-E775-4639-8D69-EA549226CA94}" srcOrd="1" destOrd="0" presId="urn:microsoft.com/office/officeart/2005/8/layout/hierarchy2#1"/>
    <dgm:cxn modelId="{ECF7D460-D68D-4656-BD12-BCC421A71B10}" srcId="{F8A913BF-FF20-4BE3-AB5E-0F7AA51F32B6}" destId="{CB36CA1F-DC00-49FC-9F39-3899387403F7}" srcOrd="0" destOrd="0" parTransId="{777E2D03-330E-43C8-A439-09671C3F191F}" sibTransId="{55354CDE-24BF-4D27-8286-AC0B44E5E01F}"/>
    <dgm:cxn modelId="{3DD80F62-62FF-4793-8A1C-C01B9DBCAAD9}" srcId="{2E56F678-C1CE-4892-BC9F-D88898E69FD5}" destId="{9F41907F-BB90-49A4-8E97-05E5E602AA08}" srcOrd="0" destOrd="0" parTransId="{0A9FB55B-D1A7-4307-8A08-CC8062B73331}" sibTransId="{CA45A301-B28A-4F99-A0E1-05C0281E7D20}"/>
    <dgm:cxn modelId="{EED8D562-C4D2-45BB-817E-227067307736}" srcId="{F2DD335F-F4ED-427B-9143-27BE63843845}" destId="{F8A913BF-FF20-4BE3-AB5E-0F7AA51F32B6}" srcOrd="0" destOrd="0" parTransId="{B94A8C1F-8663-48DC-AFE0-ED9153CDDB04}" sibTransId="{60D3BD74-18BE-4E7C-B4DB-328BDD094F37}"/>
    <dgm:cxn modelId="{329FA446-1FDD-4A0E-9441-6914A3904DB3}" type="presOf" srcId="{151543BC-AEBE-4068-BE93-39163CC15B0C}" destId="{67A478BE-7EDA-4AC0-9240-BEECD2C1B112}" srcOrd="1" destOrd="0" presId="urn:microsoft.com/office/officeart/2005/8/layout/hierarchy2#1"/>
    <dgm:cxn modelId="{D47E3F49-94AB-465C-AACE-F945EB1F9BA4}" type="presOf" srcId="{FF3DB6AF-A4DE-4E13-AE14-D96D5C0A1A8B}" destId="{5156EE79-8EF5-461E-AB61-DF6007AD0779}" srcOrd="1" destOrd="0" presId="urn:microsoft.com/office/officeart/2005/8/layout/hierarchy2#1"/>
    <dgm:cxn modelId="{0082456A-71B1-4BF0-8C7C-3119CEEC6AAE}" type="presOf" srcId="{F8A913BF-FF20-4BE3-AB5E-0F7AA51F32B6}" destId="{037CC688-649A-434F-9080-67500DD1A79D}" srcOrd="0" destOrd="0" presId="urn:microsoft.com/office/officeart/2005/8/layout/hierarchy2#1"/>
    <dgm:cxn modelId="{E76AA94C-DDC6-46E9-9B32-37C5F5299BC9}" srcId="{20A65034-31C8-4FB9-B35A-01908CBDDB35}" destId="{F77BAF7A-175C-4003-A6AA-24E76EF32702}" srcOrd="0" destOrd="0" parTransId="{06E1B8E6-917A-4BFE-B4CD-67A90C88741F}" sibTransId="{5418DC28-54AB-4167-B8C4-10240D4FCB1D}"/>
    <dgm:cxn modelId="{070B5E4F-8062-42BA-BBB0-464E50DCDB9D}" type="presOf" srcId="{20A65034-31C8-4FB9-B35A-01908CBDDB35}" destId="{7CFDB172-E668-43FE-B146-64584C675B7A}" srcOrd="0" destOrd="0" presId="urn:microsoft.com/office/officeart/2005/8/layout/hierarchy2#1"/>
    <dgm:cxn modelId="{913EA752-AAC5-4DC3-8396-33E249EBEBA0}" type="presOf" srcId="{36061C26-038C-48A2-8176-FC82F637E77E}" destId="{4D5C558E-2E7D-4D1A-ABA2-D5D2DD86206F}" srcOrd="0" destOrd="0" presId="urn:microsoft.com/office/officeart/2005/8/layout/hierarchy2#1"/>
    <dgm:cxn modelId="{36FDD673-AD85-4573-BB5A-6232ED1BE70C}" type="presOf" srcId="{7E301767-8ADB-4167-BA15-EC4ED536CDF3}" destId="{068C6179-719E-4B47-9EBE-F32060C437F0}" srcOrd="1" destOrd="0" presId="urn:microsoft.com/office/officeart/2005/8/layout/hierarchy2#1"/>
    <dgm:cxn modelId="{A30AB156-21A4-4740-ABBE-DD7998798B1F}" type="presOf" srcId="{FA135B7F-2613-4B80-BDFC-5E6ED5D1C14D}" destId="{78FFD0A5-EFF7-4D75-9190-24A2A39A0A14}" srcOrd="0" destOrd="0" presId="urn:microsoft.com/office/officeart/2005/8/layout/hierarchy2#1"/>
    <dgm:cxn modelId="{005F5477-816A-4C77-91D3-EE85041AFD2F}" type="presOf" srcId="{151543BC-AEBE-4068-BE93-39163CC15B0C}" destId="{68A85DED-C01F-403C-9517-F2C92D2E1D99}" srcOrd="0" destOrd="0" presId="urn:microsoft.com/office/officeart/2005/8/layout/hierarchy2#1"/>
    <dgm:cxn modelId="{C0486979-4AA4-4DD0-BE83-89FBB6E59BAD}" srcId="{0417665F-05DB-447F-B5CF-5767FCC0E66D}" destId="{20A65034-31C8-4FB9-B35A-01908CBDDB35}" srcOrd="0" destOrd="0" parTransId="{36061C26-038C-48A2-8176-FC82F637E77E}" sibTransId="{82371B03-B973-4BE5-8950-B7F0D1CAA83F}"/>
    <dgm:cxn modelId="{D34CAC80-206F-497F-970B-A39B06FADD2C}" type="presOf" srcId="{B1AE1026-D2A0-47C2-8B3D-C6B0156D358B}" destId="{6CDEF2D0-E275-4921-BA3B-84ABC851091F}" srcOrd="0" destOrd="0" presId="urn:microsoft.com/office/officeart/2005/8/layout/hierarchy2#1"/>
    <dgm:cxn modelId="{00AB788A-792D-4147-8436-4B06D89FCD1B}" type="presOf" srcId="{0417665F-05DB-447F-B5CF-5767FCC0E66D}" destId="{3D4DFC46-14FD-44CF-889B-312D881097D2}" srcOrd="0" destOrd="0" presId="urn:microsoft.com/office/officeart/2005/8/layout/hierarchy2#1"/>
    <dgm:cxn modelId="{AED34FA7-357A-4736-AAFC-70A1B66A8925}" type="presOf" srcId="{06E1B8E6-917A-4BFE-B4CD-67A90C88741F}" destId="{938E7890-3687-42DC-855E-CB4ABC65476D}" srcOrd="1" destOrd="0" presId="urn:microsoft.com/office/officeart/2005/8/layout/hierarchy2#1"/>
    <dgm:cxn modelId="{29F6EEB2-A122-4A98-AFBD-83511EBF5CD3}" type="presOf" srcId="{2E56F678-C1CE-4892-BC9F-D88898E69FD5}" destId="{484FF441-C91D-4E7A-BC24-9D042BC822F3}" srcOrd="0" destOrd="0" presId="urn:microsoft.com/office/officeart/2005/8/layout/hierarchy2#1"/>
    <dgm:cxn modelId="{E18B8FB4-B860-4E74-A870-F6554E301CD2}" type="presOf" srcId="{9C6E211D-B358-45C5-95D3-C96B3D66FDB2}" destId="{42EAD14C-C4CD-43F4-BBC5-79864427DD73}" srcOrd="0" destOrd="0" presId="urn:microsoft.com/office/officeart/2005/8/layout/hierarchy2#1"/>
    <dgm:cxn modelId="{F6280BC0-E4AE-4BFC-938A-510262354F90}" type="presOf" srcId="{0A9FB55B-D1A7-4307-8A08-CC8062B73331}" destId="{A8E92269-108D-40EB-979D-DA3CEFA1FF1C}" srcOrd="1" destOrd="0" presId="urn:microsoft.com/office/officeart/2005/8/layout/hierarchy2#1"/>
    <dgm:cxn modelId="{D19D93C6-86D4-443D-9CA0-6490B1D18616}" type="presOf" srcId="{F2DD335F-F4ED-427B-9143-27BE63843845}" destId="{398C20A5-A9D8-4D3E-B587-799A3BB16507}" srcOrd="0" destOrd="0" presId="urn:microsoft.com/office/officeart/2005/8/layout/hierarchy2#1"/>
    <dgm:cxn modelId="{C0C9B3D1-A740-4616-A98F-5A4A0EC01948}" srcId="{2E56F678-C1CE-4892-BC9F-D88898E69FD5}" destId="{AB428304-461C-4EF2-8AB5-72E61F1D457B}" srcOrd="2" destOrd="0" parTransId="{151543BC-AEBE-4068-BE93-39163CC15B0C}" sibTransId="{3A0F74E7-D9A7-4A57-8BC0-85238CF5478F}"/>
    <dgm:cxn modelId="{C14EDBD1-A735-4FED-AE92-495AC30A48E4}" type="presOf" srcId="{9F41907F-BB90-49A4-8E97-05E5E602AA08}" destId="{2456E607-9E9A-461B-9DA8-D9F7AFDF1055}" srcOrd="0" destOrd="0" presId="urn:microsoft.com/office/officeart/2005/8/layout/hierarchy2#1"/>
    <dgm:cxn modelId="{4839C0D2-6618-439C-B7B2-186067D6EEB7}" srcId="{B1AE1026-D2A0-47C2-8B3D-C6B0156D358B}" destId="{F2DD335F-F4ED-427B-9143-27BE63843845}" srcOrd="0" destOrd="0" parTransId="{8889FCFF-0902-4D6E-9951-6CD429DB888B}" sibTransId="{447E591A-B8DE-4930-BE32-F339B98FD4F3}"/>
    <dgm:cxn modelId="{6BBD61D8-73FE-4E58-93BF-FDFEF4B836AD}" type="presOf" srcId="{B94A8C1F-8663-48DC-AFE0-ED9153CDDB04}" destId="{E701DB57-D095-4995-BA9F-3DC318F851BB}" srcOrd="0" destOrd="0" presId="urn:microsoft.com/office/officeart/2005/8/layout/hierarchy2#1"/>
    <dgm:cxn modelId="{2C152BD9-AB8F-4DA3-970C-6B9B48702F8B}" type="presOf" srcId="{777E2D03-330E-43C8-A439-09671C3F191F}" destId="{33B9F075-4423-4B3D-A2BD-A73956F1955D}" srcOrd="0" destOrd="0" presId="urn:microsoft.com/office/officeart/2005/8/layout/hierarchy2#1"/>
    <dgm:cxn modelId="{92A0EDDC-2ADD-4592-9705-18201C0D7A77}" srcId="{2E56F678-C1CE-4892-BC9F-D88898E69FD5}" destId="{05CD4DBB-775F-4F64-B7B3-2A8FB6878FB6}" srcOrd="1" destOrd="0" parTransId="{7E301767-8ADB-4167-BA15-EC4ED536CDF3}" sibTransId="{BA73F853-FE33-4BBC-8D45-84658BD94781}"/>
    <dgm:cxn modelId="{9C1AEADF-F50B-4331-9D25-19AEDF04AC92}" type="presOf" srcId="{9C6E211D-B358-45C5-95D3-C96B3D66FDB2}" destId="{2D5F6FEF-BACB-4FE7-B689-8A9CFA42D76E}" srcOrd="1" destOrd="0" presId="urn:microsoft.com/office/officeart/2005/8/layout/hierarchy2#1"/>
    <dgm:cxn modelId="{76E6D0E2-CAA0-47F4-8F29-FEC4AD627595}" srcId="{CB36CA1F-DC00-49FC-9F39-3899387403F7}" destId="{70EB503F-3A9B-46F0-8303-EF97445EEC83}" srcOrd="0" destOrd="0" parTransId="{FF3DB6AF-A4DE-4E13-AE14-D96D5C0A1A8B}" sibTransId="{C09D8828-D1EC-4445-AC28-913742F85FBF}"/>
    <dgm:cxn modelId="{5CE56FE7-CD00-4654-A079-0F55D64818D8}" type="presOf" srcId="{05CD4DBB-775F-4F64-B7B3-2A8FB6878FB6}" destId="{FE57452C-E001-4B6F-B3D9-B5C2BCE6A1ED}" srcOrd="0" destOrd="0" presId="urn:microsoft.com/office/officeart/2005/8/layout/hierarchy2#1"/>
    <dgm:cxn modelId="{9168C7F0-18A0-4503-B77D-2800B629C312}" type="presOf" srcId="{11F84FE5-D2A8-4928-A291-B5915D3D9955}" destId="{AC917292-0880-4240-9CF8-AB0D0F2B0832}" srcOrd="0" destOrd="0" presId="urn:microsoft.com/office/officeart/2005/8/layout/hierarchy2#1"/>
    <dgm:cxn modelId="{B6D60DF1-8A9D-43A8-9226-172F5D18A382}" type="presOf" srcId="{D66DAC0E-D6F2-470E-A02F-6C7E94390031}" destId="{5F5B8F60-B6E3-4D33-8006-A534B5219659}" srcOrd="0" destOrd="0" presId="urn:microsoft.com/office/officeart/2005/8/layout/hierarchy2#1"/>
    <dgm:cxn modelId="{798E3BF1-89A4-4EAC-BF19-C5E5A968BEE3}" srcId="{FA135B7F-2613-4B80-BDFC-5E6ED5D1C14D}" destId="{0520DB01-5CDA-4B89-ABBB-14C2DA83042A}" srcOrd="0" destOrd="0" parTransId="{7AA7E7C8-28F5-4795-AD69-71F96663B848}" sibTransId="{9965978E-C79C-411E-9C9B-DD5223ACF6B8}"/>
    <dgm:cxn modelId="{A3FC66FD-7842-41C6-B8BF-E836BD8387BD}" type="presOf" srcId="{D66DAC0E-D6F2-470E-A02F-6C7E94390031}" destId="{974EA6F0-7E42-4CD5-BFEE-3A3BF1F9DA7E}" srcOrd="1" destOrd="0" presId="urn:microsoft.com/office/officeart/2005/8/layout/hierarchy2#1"/>
    <dgm:cxn modelId="{86FEB9FD-0E4A-4361-838D-55E96663BF06}" srcId="{F2DD335F-F4ED-427B-9143-27BE63843845}" destId="{FA135B7F-2613-4B80-BDFC-5E6ED5D1C14D}" srcOrd="1" destOrd="0" parTransId="{9C6E211D-B358-45C5-95D3-C96B3D66FDB2}" sibTransId="{14C1B338-1697-457F-B7F9-3F005F6B8871}"/>
    <dgm:cxn modelId="{94345929-E09C-4CE6-BAAC-97005FC6C0EC}" type="presParOf" srcId="{6CDEF2D0-E275-4921-BA3B-84ABC851091F}" destId="{6BD5A947-8166-447A-B304-C2F64D6C456A}" srcOrd="0" destOrd="0" presId="urn:microsoft.com/office/officeart/2005/8/layout/hierarchy2#1"/>
    <dgm:cxn modelId="{4085F9ED-E667-4405-9042-6389E75FE004}" type="presParOf" srcId="{6BD5A947-8166-447A-B304-C2F64D6C456A}" destId="{398C20A5-A9D8-4D3E-B587-799A3BB16507}" srcOrd="0" destOrd="0" presId="urn:microsoft.com/office/officeart/2005/8/layout/hierarchy2#1"/>
    <dgm:cxn modelId="{DA17A97C-BDF5-4E07-8018-53217C28773C}" type="presParOf" srcId="{6BD5A947-8166-447A-B304-C2F64D6C456A}" destId="{E5EECC48-296F-4977-9549-5478D27AA71E}" srcOrd="1" destOrd="0" presId="urn:microsoft.com/office/officeart/2005/8/layout/hierarchy2#1"/>
    <dgm:cxn modelId="{0195C1B1-0219-4B5B-B4E4-1A3B8751F3C4}" type="presParOf" srcId="{E5EECC48-296F-4977-9549-5478D27AA71E}" destId="{E701DB57-D095-4995-BA9F-3DC318F851BB}" srcOrd="0" destOrd="0" presId="urn:microsoft.com/office/officeart/2005/8/layout/hierarchy2#1"/>
    <dgm:cxn modelId="{AC0439F0-117C-4308-A075-53F8CE8DF46D}" type="presParOf" srcId="{E701DB57-D095-4995-BA9F-3DC318F851BB}" destId="{8532DA87-15CF-41DC-A6ED-D536B73B26D5}" srcOrd="0" destOrd="0" presId="urn:microsoft.com/office/officeart/2005/8/layout/hierarchy2#1"/>
    <dgm:cxn modelId="{DE0254E8-7F61-4109-AE1C-3CBC6807241F}" type="presParOf" srcId="{E5EECC48-296F-4977-9549-5478D27AA71E}" destId="{66E6AE2D-E424-401E-BE98-13D9C7C8E64F}" srcOrd="1" destOrd="0" presId="urn:microsoft.com/office/officeart/2005/8/layout/hierarchy2#1"/>
    <dgm:cxn modelId="{585288A0-A643-41BE-B799-F2CB911AB827}" type="presParOf" srcId="{66E6AE2D-E424-401E-BE98-13D9C7C8E64F}" destId="{037CC688-649A-434F-9080-67500DD1A79D}" srcOrd="0" destOrd="0" presId="urn:microsoft.com/office/officeart/2005/8/layout/hierarchy2#1"/>
    <dgm:cxn modelId="{867B5E5F-12F2-4BA5-8DA4-B6BCC6372FA8}" type="presParOf" srcId="{66E6AE2D-E424-401E-BE98-13D9C7C8E64F}" destId="{C0952350-77B3-4279-8F92-FF05E01C1691}" srcOrd="1" destOrd="0" presId="urn:microsoft.com/office/officeart/2005/8/layout/hierarchy2#1"/>
    <dgm:cxn modelId="{01729D0F-9200-48B8-904B-C498C80D63D6}" type="presParOf" srcId="{C0952350-77B3-4279-8F92-FF05E01C1691}" destId="{33B9F075-4423-4B3D-A2BD-A73956F1955D}" srcOrd="0" destOrd="0" presId="urn:microsoft.com/office/officeart/2005/8/layout/hierarchy2#1"/>
    <dgm:cxn modelId="{381DC385-54FB-4CEB-84B4-8595A2526F86}" type="presParOf" srcId="{33B9F075-4423-4B3D-A2BD-A73956F1955D}" destId="{D409D1B5-8445-4A64-8086-7FE53A8B3E24}" srcOrd="0" destOrd="0" presId="urn:microsoft.com/office/officeart/2005/8/layout/hierarchy2#1"/>
    <dgm:cxn modelId="{1F36CB35-5DB4-4AAD-ADC6-7C8E24AE4AC9}" type="presParOf" srcId="{C0952350-77B3-4279-8F92-FF05E01C1691}" destId="{C7214047-2809-48BC-9810-4DD98B40D464}" srcOrd="1" destOrd="0" presId="urn:microsoft.com/office/officeart/2005/8/layout/hierarchy2#1"/>
    <dgm:cxn modelId="{AD65D5B5-DB60-452A-8225-9DC02DFF7A81}" type="presParOf" srcId="{C7214047-2809-48BC-9810-4DD98B40D464}" destId="{66091779-FD2E-4FDC-86F2-2AC227D5816C}" srcOrd="0" destOrd="0" presId="urn:microsoft.com/office/officeart/2005/8/layout/hierarchy2#1"/>
    <dgm:cxn modelId="{F16E90AE-9DEA-4CC7-808E-5069158CA875}" type="presParOf" srcId="{C7214047-2809-48BC-9810-4DD98B40D464}" destId="{6E3562EA-6D04-4E9B-A3D1-A1F6DC869A7B}" srcOrd="1" destOrd="0" presId="urn:microsoft.com/office/officeart/2005/8/layout/hierarchy2#1"/>
    <dgm:cxn modelId="{4ED22EFB-0374-46DB-8A4A-2A90BFDE466E}" type="presParOf" srcId="{6E3562EA-6D04-4E9B-A3D1-A1F6DC869A7B}" destId="{69ABC5AB-FD09-427D-B12C-5C8B1CBD2726}" srcOrd="0" destOrd="0" presId="urn:microsoft.com/office/officeart/2005/8/layout/hierarchy2#1"/>
    <dgm:cxn modelId="{6956D341-34C9-4D58-9C76-570300407915}" type="presParOf" srcId="{69ABC5AB-FD09-427D-B12C-5C8B1CBD2726}" destId="{5156EE79-8EF5-461E-AB61-DF6007AD0779}" srcOrd="0" destOrd="0" presId="urn:microsoft.com/office/officeart/2005/8/layout/hierarchy2#1"/>
    <dgm:cxn modelId="{12A5BBBC-C885-4416-8E2B-1E88C0BE4531}" type="presParOf" srcId="{6E3562EA-6D04-4E9B-A3D1-A1F6DC869A7B}" destId="{C27DD1E1-701E-4C8F-8174-E6B8B2DC4D15}" srcOrd="1" destOrd="0" presId="urn:microsoft.com/office/officeart/2005/8/layout/hierarchy2#1"/>
    <dgm:cxn modelId="{72CFA053-BEEA-45F2-ABAB-90F244519195}" type="presParOf" srcId="{C27DD1E1-701E-4C8F-8174-E6B8B2DC4D15}" destId="{5B8380FE-0DCB-4F6C-B2BC-0BBB10FD4D3D}" srcOrd="0" destOrd="0" presId="urn:microsoft.com/office/officeart/2005/8/layout/hierarchy2#1"/>
    <dgm:cxn modelId="{99BF444A-8715-4CC5-A9FA-0AF4C57DF362}" type="presParOf" srcId="{C27DD1E1-701E-4C8F-8174-E6B8B2DC4D15}" destId="{364F520D-3FEF-4E8D-A45A-CCC229C7AAAB}" srcOrd="1" destOrd="0" presId="urn:microsoft.com/office/officeart/2005/8/layout/hierarchy2#1"/>
    <dgm:cxn modelId="{16511238-1BC2-45A1-BC67-5954B2F02753}" type="presParOf" srcId="{E5EECC48-296F-4977-9549-5478D27AA71E}" destId="{42EAD14C-C4CD-43F4-BBC5-79864427DD73}" srcOrd="2" destOrd="0" presId="urn:microsoft.com/office/officeart/2005/8/layout/hierarchy2#1"/>
    <dgm:cxn modelId="{FF6DEB0A-39A3-4001-9636-16F36B109237}" type="presParOf" srcId="{42EAD14C-C4CD-43F4-BBC5-79864427DD73}" destId="{2D5F6FEF-BACB-4FE7-B689-8A9CFA42D76E}" srcOrd="0" destOrd="0" presId="urn:microsoft.com/office/officeart/2005/8/layout/hierarchy2#1"/>
    <dgm:cxn modelId="{F9152E3C-CA4E-4B34-BCA1-0AFFBB2AFA61}" type="presParOf" srcId="{E5EECC48-296F-4977-9549-5478D27AA71E}" destId="{81B8013D-90D5-45A9-8B4B-BF7D3BD54942}" srcOrd="3" destOrd="0" presId="urn:microsoft.com/office/officeart/2005/8/layout/hierarchy2#1"/>
    <dgm:cxn modelId="{D46B5314-1213-4C84-96C2-E5C6F13E5B97}" type="presParOf" srcId="{81B8013D-90D5-45A9-8B4B-BF7D3BD54942}" destId="{78FFD0A5-EFF7-4D75-9190-24A2A39A0A14}" srcOrd="0" destOrd="0" presId="urn:microsoft.com/office/officeart/2005/8/layout/hierarchy2#1"/>
    <dgm:cxn modelId="{63230BD2-996B-492A-B97C-CF3E30F53A86}" type="presParOf" srcId="{81B8013D-90D5-45A9-8B4B-BF7D3BD54942}" destId="{2B786ED4-C331-4CCB-A219-049FDEC12BC1}" srcOrd="1" destOrd="0" presId="urn:microsoft.com/office/officeart/2005/8/layout/hierarchy2#1"/>
    <dgm:cxn modelId="{DC21766B-7C6F-44FA-A01E-1CE05AEDF45B}" type="presParOf" srcId="{2B786ED4-C331-4CCB-A219-049FDEC12BC1}" destId="{E8CC1104-E240-42BE-900E-835E00B649B3}" srcOrd="0" destOrd="0" presId="urn:microsoft.com/office/officeart/2005/8/layout/hierarchy2#1"/>
    <dgm:cxn modelId="{00631ABA-BF8D-40B6-825E-3B98EE092C17}" type="presParOf" srcId="{E8CC1104-E240-42BE-900E-835E00B649B3}" destId="{DB6F332D-DB1E-42F9-B0F5-86DE58B9A006}" srcOrd="0" destOrd="0" presId="urn:microsoft.com/office/officeart/2005/8/layout/hierarchy2#1"/>
    <dgm:cxn modelId="{66BE95FD-C832-468A-A123-32BA56620E2A}" type="presParOf" srcId="{2B786ED4-C331-4CCB-A219-049FDEC12BC1}" destId="{12A24013-BD94-4075-B65C-E72D4CC5DA9F}" srcOrd="1" destOrd="0" presId="urn:microsoft.com/office/officeart/2005/8/layout/hierarchy2#1"/>
    <dgm:cxn modelId="{83E96A93-E61E-41CE-AEED-68CD3D3E9554}" type="presParOf" srcId="{12A24013-BD94-4075-B65C-E72D4CC5DA9F}" destId="{B8B76B01-ABE5-4B2A-967E-5B81E7EB1BEB}" srcOrd="0" destOrd="0" presId="urn:microsoft.com/office/officeart/2005/8/layout/hierarchy2#1"/>
    <dgm:cxn modelId="{2390B178-E5BA-4797-A869-D894E18B8BE7}" type="presParOf" srcId="{12A24013-BD94-4075-B65C-E72D4CC5DA9F}" destId="{153D918C-2E6B-4614-A103-50E828FE18BA}" srcOrd="1" destOrd="0" presId="urn:microsoft.com/office/officeart/2005/8/layout/hierarchy2#1"/>
    <dgm:cxn modelId="{605C0DCD-8014-4532-9B25-C8589352B6DA}" type="presParOf" srcId="{153D918C-2E6B-4614-A103-50E828FE18BA}" destId="{5F5B8F60-B6E3-4D33-8006-A534B5219659}" srcOrd="0" destOrd="0" presId="urn:microsoft.com/office/officeart/2005/8/layout/hierarchy2#1"/>
    <dgm:cxn modelId="{32B72603-58ED-402C-82CA-7DBAE3263DC3}" type="presParOf" srcId="{5F5B8F60-B6E3-4D33-8006-A534B5219659}" destId="{974EA6F0-7E42-4CD5-BFEE-3A3BF1F9DA7E}" srcOrd="0" destOrd="0" presId="urn:microsoft.com/office/officeart/2005/8/layout/hierarchy2#1"/>
    <dgm:cxn modelId="{01351134-5B24-4C71-9E4F-7D0015D260F4}" type="presParOf" srcId="{153D918C-2E6B-4614-A103-50E828FE18BA}" destId="{538F3372-CE0D-4542-85F9-3B6CD7763FB3}" srcOrd="1" destOrd="0" presId="urn:microsoft.com/office/officeart/2005/8/layout/hierarchy2#1"/>
    <dgm:cxn modelId="{5E2BA61E-42E8-431A-998D-2749655B87C7}" type="presParOf" srcId="{538F3372-CE0D-4542-85F9-3B6CD7763FB3}" destId="{484FF441-C91D-4E7A-BC24-9D042BC822F3}" srcOrd="0" destOrd="0" presId="urn:microsoft.com/office/officeart/2005/8/layout/hierarchy2#1"/>
    <dgm:cxn modelId="{B9CF5182-36AF-4349-9D1F-8B01B7960D15}" type="presParOf" srcId="{538F3372-CE0D-4542-85F9-3B6CD7763FB3}" destId="{9ECE1F91-50F5-4017-B313-AE0D00533061}" srcOrd="1" destOrd="0" presId="urn:microsoft.com/office/officeart/2005/8/layout/hierarchy2#1"/>
    <dgm:cxn modelId="{0AA600A8-52E3-4D0E-8106-0501B7712F59}" type="presParOf" srcId="{9ECE1F91-50F5-4017-B313-AE0D00533061}" destId="{52C33EA9-1F67-42E9-95A3-083353CEDF6A}" srcOrd="0" destOrd="0" presId="urn:microsoft.com/office/officeart/2005/8/layout/hierarchy2#1"/>
    <dgm:cxn modelId="{2C645C70-E028-4CA0-86BE-36BA59BA2405}" type="presParOf" srcId="{52C33EA9-1F67-42E9-95A3-083353CEDF6A}" destId="{A8E92269-108D-40EB-979D-DA3CEFA1FF1C}" srcOrd="0" destOrd="0" presId="urn:microsoft.com/office/officeart/2005/8/layout/hierarchy2#1"/>
    <dgm:cxn modelId="{A722CF5E-7E1B-4098-B32E-F44EA7AAEF50}" type="presParOf" srcId="{9ECE1F91-50F5-4017-B313-AE0D00533061}" destId="{C8753729-E2B8-450F-9128-731EC0602952}" srcOrd="1" destOrd="0" presId="urn:microsoft.com/office/officeart/2005/8/layout/hierarchy2#1"/>
    <dgm:cxn modelId="{95748031-3B4E-462E-8977-F850698C7B79}" type="presParOf" srcId="{C8753729-E2B8-450F-9128-731EC0602952}" destId="{2456E607-9E9A-461B-9DA8-D9F7AFDF1055}" srcOrd="0" destOrd="0" presId="urn:microsoft.com/office/officeart/2005/8/layout/hierarchy2#1"/>
    <dgm:cxn modelId="{1AEDFA4B-6557-40E7-B021-84C879955C06}" type="presParOf" srcId="{C8753729-E2B8-450F-9128-731EC0602952}" destId="{F581CF7D-63D0-46D6-BD41-50B5A9048593}" srcOrd="1" destOrd="0" presId="urn:microsoft.com/office/officeart/2005/8/layout/hierarchy2#1"/>
    <dgm:cxn modelId="{73EAF567-377F-44EF-82B1-118431D16B49}" type="presParOf" srcId="{9ECE1F91-50F5-4017-B313-AE0D00533061}" destId="{E11CDAD6-EF43-4F94-BA41-40CBC44693B1}" srcOrd="2" destOrd="0" presId="urn:microsoft.com/office/officeart/2005/8/layout/hierarchy2#1"/>
    <dgm:cxn modelId="{CCA282B7-BAA7-4F58-BF63-4364441181D5}" type="presParOf" srcId="{E11CDAD6-EF43-4F94-BA41-40CBC44693B1}" destId="{068C6179-719E-4B47-9EBE-F32060C437F0}" srcOrd="0" destOrd="0" presId="urn:microsoft.com/office/officeart/2005/8/layout/hierarchy2#1"/>
    <dgm:cxn modelId="{A7EECB15-BB89-4218-9B6A-828BDE785D62}" type="presParOf" srcId="{9ECE1F91-50F5-4017-B313-AE0D00533061}" destId="{74CBADCE-7DBB-49C9-AB2B-4F4E54499CFA}" srcOrd="3" destOrd="0" presId="urn:microsoft.com/office/officeart/2005/8/layout/hierarchy2#1"/>
    <dgm:cxn modelId="{71991261-68CD-4052-9C02-2FA96EF86DB2}" type="presParOf" srcId="{74CBADCE-7DBB-49C9-AB2B-4F4E54499CFA}" destId="{FE57452C-E001-4B6F-B3D9-B5C2BCE6A1ED}" srcOrd="0" destOrd="0" presId="urn:microsoft.com/office/officeart/2005/8/layout/hierarchy2#1"/>
    <dgm:cxn modelId="{8322BC54-59BF-4F92-8A38-31B5C1777708}" type="presParOf" srcId="{74CBADCE-7DBB-49C9-AB2B-4F4E54499CFA}" destId="{B0A9A8DF-F323-4D69-9E2D-187487BA5A16}" srcOrd="1" destOrd="0" presId="urn:microsoft.com/office/officeart/2005/8/layout/hierarchy2#1"/>
    <dgm:cxn modelId="{AC5E3E87-99DF-410B-884D-5387BE8BF27E}" type="presParOf" srcId="{9ECE1F91-50F5-4017-B313-AE0D00533061}" destId="{68A85DED-C01F-403C-9517-F2C92D2E1D99}" srcOrd="4" destOrd="0" presId="urn:microsoft.com/office/officeart/2005/8/layout/hierarchy2#1"/>
    <dgm:cxn modelId="{0F428C0F-4F49-45B7-8B90-52606DFE37E3}" type="presParOf" srcId="{68A85DED-C01F-403C-9517-F2C92D2E1D99}" destId="{67A478BE-7EDA-4AC0-9240-BEECD2C1B112}" srcOrd="0" destOrd="0" presId="urn:microsoft.com/office/officeart/2005/8/layout/hierarchy2#1"/>
    <dgm:cxn modelId="{0CCC9EC5-D980-48B3-85C4-E6417302E502}" type="presParOf" srcId="{9ECE1F91-50F5-4017-B313-AE0D00533061}" destId="{ECB87CAF-2DB1-4330-A83A-E171394034A5}" srcOrd="5" destOrd="0" presId="urn:microsoft.com/office/officeart/2005/8/layout/hierarchy2#1"/>
    <dgm:cxn modelId="{5F08FF8A-1363-4ADC-ADAA-BBE814FD38D8}" type="presParOf" srcId="{ECB87CAF-2DB1-4330-A83A-E171394034A5}" destId="{E5B3CEF5-212B-4333-BDA5-5231AF422114}" srcOrd="0" destOrd="0" presId="urn:microsoft.com/office/officeart/2005/8/layout/hierarchy2#1"/>
    <dgm:cxn modelId="{C44E6BA1-4CE2-4FA4-97BB-2CFB7DFB8A5C}" type="presParOf" srcId="{ECB87CAF-2DB1-4330-A83A-E171394034A5}" destId="{21C1B8C2-43C8-48BF-9746-CB1D67DECABF}" srcOrd="1" destOrd="0" presId="urn:microsoft.com/office/officeart/2005/8/layout/hierarchy2#1"/>
    <dgm:cxn modelId="{EC60D6AA-F813-467B-8D4A-3037889785DB}" type="presParOf" srcId="{2B786ED4-C331-4CCB-A219-049FDEC12BC1}" destId="{AC917292-0880-4240-9CF8-AB0D0F2B0832}" srcOrd="2" destOrd="0" presId="urn:microsoft.com/office/officeart/2005/8/layout/hierarchy2#1"/>
    <dgm:cxn modelId="{0EA3C7E5-B3D8-42B3-AD8C-9AC35B3D296A}" type="presParOf" srcId="{AC917292-0880-4240-9CF8-AB0D0F2B0832}" destId="{E4BF694D-E775-4639-8D69-EA549226CA94}" srcOrd="0" destOrd="0" presId="urn:microsoft.com/office/officeart/2005/8/layout/hierarchy2#1"/>
    <dgm:cxn modelId="{05244670-F56F-4E14-BE19-4FB9BAA68C65}" type="presParOf" srcId="{2B786ED4-C331-4CCB-A219-049FDEC12BC1}" destId="{37B81F9F-4D8B-4846-8416-F2DF3B678FAA}" srcOrd="3" destOrd="0" presId="urn:microsoft.com/office/officeart/2005/8/layout/hierarchy2#1"/>
    <dgm:cxn modelId="{6871B613-A784-4D7E-8341-4C29CB3B6D3C}" type="presParOf" srcId="{37B81F9F-4D8B-4846-8416-F2DF3B678FAA}" destId="{3D4DFC46-14FD-44CF-889B-312D881097D2}" srcOrd="0" destOrd="0" presId="urn:microsoft.com/office/officeart/2005/8/layout/hierarchy2#1"/>
    <dgm:cxn modelId="{7BE0AD6A-2439-429A-89BE-E274F9205FA6}" type="presParOf" srcId="{37B81F9F-4D8B-4846-8416-F2DF3B678FAA}" destId="{917D5023-7B29-411C-A5D9-8EC5EA9E9182}" srcOrd="1" destOrd="0" presId="urn:microsoft.com/office/officeart/2005/8/layout/hierarchy2#1"/>
    <dgm:cxn modelId="{18867677-60D4-489B-80B4-09B88776CA1C}" type="presParOf" srcId="{917D5023-7B29-411C-A5D9-8EC5EA9E9182}" destId="{4D5C558E-2E7D-4D1A-ABA2-D5D2DD86206F}" srcOrd="0" destOrd="0" presId="urn:microsoft.com/office/officeart/2005/8/layout/hierarchy2#1"/>
    <dgm:cxn modelId="{0F018217-FC4B-48D8-923D-74FFB846A6CA}" type="presParOf" srcId="{4D5C558E-2E7D-4D1A-ABA2-D5D2DD86206F}" destId="{EC993B32-D076-4951-AEE7-4200E341C468}" srcOrd="0" destOrd="0" presId="urn:microsoft.com/office/officeart/2005/8/layout/hierarchy2#1"/>
    <dgm:cxn modelId="{433ACF3E-B545-468A-95C7-3C51573E235F}" type="presParOf" srcId="{917D5023-7B29-411C-A5D9-8EC5EA9E9182}" destId="{2E1CE949-7538-4875-A596-272E93252598}" srcOrd="1" destOrd="0" presId="urn:microsoft.com/office/officeart/2005/8/layout/hierarchy2#1"/>
    <dgm:cxn modelId="{F573143D-9F2C-48C3-9388-9D27E0A1FB8D}" type="presParOf" srcId="{2E1CE949-7538-4875-A596-272E93252598}" destId="{7CFDB172-E668-43FE-B146-64584C675B7A}" srcOrd="0" destOrd="0" presId="urn:microsoft.com/office/officeart/2005/8/layout/hierarchy2#1"/>
    <dgm:cxn modelId="{A44D3BE0-99B3-4DA8-8A96-B11F499B4E6A}" type="presParOf" srcId="{2E1CE949-7538-4875-A596-272E93252598}" destId="{36379834-7B61-43DE-BE71-A16800DF47B8}" srcOrd="1" destOrd="0" presId="urn:microsoft.com/office/officeart/2005/8/layout/hierarchy2#1"/>
    <dgm:cxn modelId="{C22CF9F5-3B3B-4356-9E41-E51636FF4BDE}" type="presParOf" srcId="{36379834-7B61-43DE-BE71-A16800DF47B8}" destId="{AF3A758F-4CD4-4A21-B44A-EE5D60432290}" srcOrd="0" destOrd="0" presId="urn:microsoft.com/office/officeart/2005/8/layout/hierarchy2#1"/>
    <dgm:cxn modelId="{6388CF2F-1C64-4081-B4FD-D7C2DB2D9176}" type="presParOf" srcId="{AF3A758F-4CD4-4A21-B44A-EE5D60432290}" destId="{938E7890-3687-42DC-855E-CB4ABC65476D}" srcOrd="0" destOrd="0" presId="urn:microsoft.com/office/officeart/2005/8/layout/hierarchy2#1"/>
    <dgm:cxn modelId="{10AC88F1-5734-4DE8-A33E-CB28E2F446F0}" type="presParOf" srcId="{36379834-7B61-43DE-BE71-A16800DF47B8}" destId="{4B7B71BA-84E6-4924-AA79-3886DCAFA119}" srcOrd="1" destOrd="0" presId="urn:microsoft.com/office/officeart/2005/8/layout/hierarchy2#1"/>
    <dgm:cxn modelId="{02EFD368-6530-4D81-8DEC-A3BB0861EB60}" type="presParOf" srcId="{4B7B71BA-84E6-4924-AA79-3886DCAFA119}" destId="{EAD3BB15-FD98-48A1-AE91-B49E6520FB73}" srcOrd="0" destOrd="0" presId="urn:microsoft.com/office/officeart/2005/8/layout/hierarchy2#1"/>
    <dgm:cxn modelId="{5FDE2925-7A17-4087-AB7C-8D2589A7EFA3}" type="presParOf" srcId="{4B7B71BA-84E6-4924-AA79-3886DCAFA119}" destId="{18D337E8-52AE-4734-9779-0B4151CCD775}" srcOrd="1" destOrd="0" presId="urn:microsoft.com/office/officeart/2005/8/layout/hierarchy2#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94B9D6-14D9-464B-AB87-9AA8661B9B79}" type="doc">
      <dgm:prSet loTypeId="urn:microsoft.com/office/officeart/2005/8/layout/process2" loCatId="process" qsTypeId="urn:microsoft.com/office/officeart/2005/8/quickstyle/simple1#3" qsCatId="simple" csTypeId="urn:microsoft.com/office/officeart/2005/8/colors/accent1_2#3" csCatId="accent1" phldr="1"/>
      <dgm:spPr/>
      <dgm:t>
        <a:bodyPr/>
        <a:lstStyle/>
        <a:p>
          <a:endParaRPr lang="zh-CN" altLang="en-US"/>
        </a:p>
      </dgm:t>
    </dgm:pt>
    <dgm:pt modelId="{C1DD56FD-8541-4B87-B289-BB4A9F4FE4EA}">
      <dgm:prSet custT="1"/>
      <dgm:spPr>
        <a:blipFill>
          <a:blip xmlns:r="http://schemas.openxmlformats.org/officeDocument/2006/relationships" r:embed="rId1"/>
          <a:stretch>
            <a:fillRect/>
          </a:stretch>
        </a:blipFill>
      </dgm:spPr>
      <dgm:t>
        <a:bodyPr/>
        <a:lstStyle/>
        <a:p>
          <a:r>
            <a:rPr lang="zh-CN" altLang="en-US">
              <a:noFill/>
            </a:rPr>
            <a:t> </a:t>
          </a:r>
        </a:p>
      </dgm:t>
    </dgm:pt>
    <dgm:pt modelId="{A089A9E3-F74C-474E-BFB4-AE768D330D4E}" type="parTrans" cxnId="{CFED224F-682C-44C9-A793-0C8FAA63B0D6}">
      <dgm:prSet/>
      <dgm:spPr/>
      <dgm:t>
        <a:bodyPr/>
        <a:lstStyle/>
        <a:p>
          <a:endParaRPr lang="zh-CN" altLang="en-US" sz="3200"/>
        </a:p>
      </dgm:t>
    </dgm:pt>
    <dgm:pt modelId="{A28EAEE1-B752-49BF-8918-B4E358A0C6CC}" type="sibTrans" cxnId="{CFED224F-682C-44C9-A793-0C8FAA63B0D6}">
      <dgm:prSet custT="1"/>
      <dgm:spPr/>
      <dgm:t>
        <a:bodyPr/>
        <a:lstStyle/>
        <a:p>
          <a:endParaRPr lang="zh-CN" altLang="en-US" sz="1400"/>
        </a:p>
      </dgm:t>
    </dgm:pt>
    <dgm:pt modelId="{41F2C266-4A97-41BB-BF31-B7B52A7B3260}">
      <dgm:prSet custT="1"/>
      <dgm:spPr>
        <a:blipFill>
          <a:blip xmlns:r="http://schemas.openxmlformats.org/officeDocument/2006/relationships" r:embed="rId2"/>
          <a:stretch>
            <a:fillRect/>
          </a:stretch>
        </a:blipFill>
      </dgm:spPr>
      <dgm:t>
        <a:bodyPr/>
        <a:lstStyle/>
        <a:p>
          <a:r>
            <a:rPr lang="zh-CN" altLang="en-US">
              <a:noFill/>
            </a:rPr>
            <a:t> </a:t>
          </a:r>
        </a:p>
      </dgm:t>
    </dgm:pt>
    <dgm:pt modelId="{46CCE478-BBB2-45F4-8D80-08CD5EA0C277}" type="parTrans" cxnId="{BBADCC05-D4CA-4A47-95E2-20D9E9A3F702}">
      <dgm:prSet/>
      <dgm:spPr/>
      <dgm:t>
        <a:bodyPr/>
        <a:lstStyle/>
        <a:p>
          <a:endParaRPr lang="zh-CN" altLang="en-US" sz="3200"/>
        </a:p>
      </dgm:t>
    </dgm:pt>
    <dgm:pt modelId="{38CF7023-AFD3-4111-89A1-5FACC591B24B}" type="sibTrans" cxnId="{BBADCC05-D4CA-4A47-95E2-20D9E9A3F702}">
      <dgm:prSet custT="1"/>
      <dgm:spPr/>
      <dgm:t>
        <a:bodyPr/>
        <a:lstStyle/>
        <a:p>
          <a:endParaRPr lang="zh-CN" altLang="en-US" sz="1400"/>
        </a:p>
      </dgm:t>
    </dgm:pt>
    <dgm:pt modelId="{912FECB8-3D85-4C27-B4A1-FE45042E4604}">
      <dgm:prSet custT="1"/>
      <dgm:spPr>
        <a:blipFill>
          <a:blip xmlns:r="http://schemas.openxmlformats.org/officeDocument/2006/relationships" r:embed="rId3"/>
          <a:stretch>
            <a:fillRect/>
          </a:stretch>
        </a:blipFill>
      </dgm:spPr>
      <dgm:t>
        <a:bodyPr/>
        <a:lstStyle/>
        <a:p>
          <a:r>
            <a:rPr lang="zh-CN" altLang="en-US">
              <a:noFill/>
            </a:rPr>
            <a:t> </a:t>
          </a:r>
        </a:p>
      </dgm:t>
    </dgm:pt>
    <dgm:pt modelId="{E1AC82B9-1A0D-469B-AA76-09748AF87FD9}" type="parTrans" cxnId="{4A9CC389-DD53-4448-BF71-BF328A5D3E89}">
      <dgm:prSet/>
      <dgm:spPr/>
      <dgm:t>
        <a:bodyPr/>
        <a:lstStyle/>
        <a:p>
          <a:endParaRPr lang="zh-CN" altLang="en-US" sz="3200"/>
        </a:p>
      </dgm:t>
    </dgm:pt>
    <dgm:pt modelId="{8CC43198-BDC5-4748-99CD-A9997A2201A8}" type="sibTrans" cxnId="{4A9CC389-DD53-4448-BF71-BF328A5D3E89}">
      <dgm:prSet/>
      <dgm:spPr/>
      <dgm:t>
        <a:bodyPr/>
        <a:lstStyle/>
        <a:p>
          <a:endParaRPr lang="zh-CN" altLang="en-US" sz="3200"/>
        </a:p>
      </dgm:t>
    </dgm:pt>
    <dgm:pt modelId="{8E9E83E4-04BE-4573-B7C4-A800E90E98DF}">
      <dgm:prSet custT="1"/>
      <dgm:spPr/>
      <dgm:t>
        <a:bodyPr/>
        <a:lstStyle/>
        <a:p>
          <a:pPr rtl="0"/>
          <a:r>
            <a:rPr lang="en-US" altLang="zh-CN" sz="2000" dirty="0"/>
            <a:t>…</a:t>
          </a:r>
          <a:endParaRPr lang="zh-CN" sz="2000" dirty="0"/>
        </a:p>
      </dgm:t>
    </dgm:pt>
    <dgm:pt modelId="{3FDDF0B7-8141-4578-A4D4-0C681BE0B55D}" type="parTrans" cxnId="{EA20FEF3-669C-4C78-9AF9-88FEBC132B41}">
      <dgm:prSet/>
      <dgm:spPr/>
      <dgm:t>
        <a:bodyPr/>
        <a:lstStyle/>
        <a:p>
          <a:endParaRPr lang="zh-CN" altLang="en-US" sz="3200"/>
        </a:p>
      </dgm:t>
    </dgm:pt>
    <dgm:pt modelId="{51D1F71F-A5C9-426F-B3D5-4F6940487976}" type="sibTrans" cxnId="{EA20FEF3-669C-4C78-9AF9-88FEBC132B41}">
      <dgm:prSet custT="1"/>
      <dgm:spPr/>
      <dgm:t>
        <a:bodyPr/>
        <a:lstStyle/>
        <a:p>
          <a:endParaRPr lang="zh-CN" altLang="en-US" sz="1400"/>
        </a:p>
      </dgm:t>
    </dgm:pt>
    <dgm:pt modelId="{92867A3C-C6DF-4833-A074-A8BDFA96BA78}" type="pres">
      <dgm:prSet presAssocID="{AA94B9D6-14D9-464B-AB87-9AA8661B9B79}" presName="linearFlow" presStyleCnt="0">
        <dgm:presLayoutVars>
          <dgm:resizeHandles val="exact"/>
        </dgm:presLayoutVars>
      </dgm:prSet>
      <dgm:spPr/>
    </dgm:pt>
    <dgm:pt modelId="{FCD6CC03-B4F7-430C-98D0-115893192BDE}" type="pres">
      <dgm:prSet presAssocID="{C1DD56FD-8541-4B87-B289-BB4A9F4FE4EA}" presName="node" presStyleLbl="node1" presStyleIdx="0" presStyleCnt="4">
        <dgm:presLayoutVars>
          <dgm:bulletEnabled val="1"/>
        </dgm:presLayoutVars>
      </dgm:prSet>
      <dgm:spPr/>
    </dgm:pt>
    <dgm:pt modelId="{4EF64793-5BF1-44BB-A21B-0135AFBD46AF}" type="pres">
      <dgm:prSet presAssocID="{A28EAEE1-B752-49BF-8918-B4E358A0C6CC}" presName="sibTrans" presStyleLbl="sibTrans2D1" presStyleIdx="0" presStyleCnt="3"/>
      <dgm:spPr/>
    </dgm:pt>
    <dgm:pt modelId="{92E7D38F-E55A-42CB-B86C-837C0D9078A3}" type="pres">
      <dgm:prSet presAssocID="{A28EAEE1-B752-49BF-8918-B4E358A0C6CC}" presName="connectorText" presStyleLbl="sibTrans2D1" presStyleIdx="0" presStyleCnt="3"/>
      <dgm:spPr/>
    </dgm:pt>
    <dgm:pt modelId="{9FCB7101-7B41-4F46-B29A-8B98CB20ACF4}" type="pres">
      <dgm:prSet presAssocID="{41F2C266-4A97-41BB-BF31-B7B52A7B3260}" presName="node" presStyleLbl="node1" presStyleIdx="1" presStyleCnt="4" custScaleX="216739">
        <dgm:presLayoutVars>
          <dgm:bulletEnabled val="1"/>
        </dgm:presLayoutVars>
      </dgm:prSet>
      <dgm:spPr/>
    </dgm:pt>
    <dgm:pt modelId="{0E188FDA-3031-47C5-A37C-074F9C682AE9}" type="pres">
      <dgm:prSet presAssocID="{38CF7023-AFD3-4111-89A1-5FACC591B24B}" presName="sibTrans" presStyleLbl="sibTrans2D1" presStyleIdx="1" presStyleCnt="3"/>
      <dgm:spPr/>
    </dgm:pt>
    <dgm:pt modelId="{FF5E01BF-EA3A-461C-ABB2-916E996E420E}" type="pres">
      <dgm:prSet presAssocID="{38CF7023-AFD3-4111-89A1-5FACC591B24B}" presName="connectorText" presStyleLbl="sibTrans2D1" presStyleIdx="1" presStyleCnt="3"/>
      <dgm:spPr/>
    </dgm:pt>
    <dgm:pt modelId="{18185A6C-2422-400B-9E45-ECC7B0CECAC8}" type="pres">
      <dgm:prSet presAssocID="{8E9E83E4-04BE-4573-B7C4-A800E90E98DF}" presName="node" presStyleLbl="node1" presStyleIdx="2" presStyleCnt="4">
        <dgm:presLayoutVars>
          <dgm:bulletEnabled val="1"/>
        </dgm:presLayoutVars>
      </dgm:prSet>
      <dgm:spPr/>
    </dgm:pt>
    <dgm:pt modelId="{CF55BC5C-1C33-4983-911D-EF7A771C9BEC}" type="pres">
      <dgm:prSet presAssocID="{51D1F71F-A5C9-426F-B3D5-4F6940487976}" presName="sibTrans" presStyleLbl="sibTrans2D1" presStyleIdx="2" presStyleCnt="3"/>
      <dgm:spPr/>
    </dgm:pt>
    <dgm:pt modelId="{66FFAA11-2188-4140-84FE-E73B3D5128AF}" type="pres">
      <dgm:prSet presAssocID="{51D1F71F-A5C9-426F-B3D5-4F6940487976}" presName="connectorText" presStyleLbl="sibTrans2D1" presStyleIdx="2" presStyleCnt="3"/>
      <dgm:spPr/>
    </dgm:pt>
    <dgm:pt modelId="{1F0BD8E5-EC2F-45C6-88A9-672B0AD75965}" type="pres">
      <dgm:prSet presAssocID="{912FECB8-3D85-4C27-B4A1-FE45042E4604}" presName="node" presStyleLbl="node1" presStyleIdx="3" presStyleCnt="4" custScaleX="237093" custScaleY="100523" custLinFactNeighborX="2947" custLinFactNeighborY="552">
        <dgm:presLayoutVars>
          <dgm:bulletEnabled val="1"/>
        </dgm:presLayoutVars>
      </dgm:prSet>
      <dgm:spPr/>
    </dgm:pt>
  </dgm:ptLst>
  <dgm:cxnLst>
    <dgm:cxn modelId="{BBADCC05-D4CA-4A47-95E2-20D9E9A3F702}" srcId="{AA94B9D6-14D9-464B-AB87-9AA8661B9B79}" destId="{41F2C266-4A97-41BB-BF31-B7B52A7B3260}" srcOrd="1" destOrd="0" parTransId="{46CCE478-BBB2-45F4-8D80-08CD5EA0C277}" sibTransId="{38CF7023-AFD3-4111-89A1-5FACC591B24B}"/>
    <dgm:cxn modelId="{AADB1A3B-781F-41B3-9157-89AA006696E4}" type="presOf" srcId="{41F2C266-4A97-41BB-BF31-B7B52A7B3260}" destId="{9FCB7101-7B41-4F46-B29A-8B98CB20ACF4}" srcOrd="0" destOrd="0" presId="urn:microsoft.com/office/officeart/2005/8/layout/process2"/>
    <dgm:cxn modelId="{8EC6CE3D-223F-435D-BE2C-7E339803D506}" type="presOf" srcId="{AA94B9D6-14D9-464B-AB87-9AA8661B9B79}" destId="{92867A3C-C6DF-4833-A074-A8BDFA96BA78}" srcOrd="0" destOrd="0" presId="urn:microsoft.com/office/officeart/2005/8/layout/process2"/>
    <dgm:cxn modelId="{CFED224F-682C-44C9-A793-0C8FAA63B0D6}" srcId="{AA94B9D6-14D9-464B-AB87-9AA8661B9B79}" destId="{C1DD56FD-8541-4B87-B289-BB4A9F4FE4EA}" srcOrd="0" destOrd="0" parTransId="{A089A9E3-F74C-474E-BFB4-AE768D330D4E}" sibTransId="{A28EAEE1-B752-49BF-8918-B4E358A0C6CC}"/>
    <dgm:cxn modelId="{4A9CC389-DD53-4448-BF71-BF328A5D3E89}" srcId="{AA94B9D6-14D9-464B-AB87-9AA8661B9B79}" destId="{912FECB8-3D85-4C27-B4A1-FE45042E4604}" srcOrd="3" destOrd="0" parTransId="{E1AC82B9-1A0D-469B-AA76-09748AF87FD9}" sibTransId="{8CC43198-BDC5-4748-99CD-A9997A2201A8}"/>
    <dgm:cxn modelId="{4B50108A-1323-4FD1-9468-434FEED764F1}" type="presOf" srcId="{38CF7023-AFD3-4111-89A1-5FACC591B24B}" destId="{FF5E01BF-EA3A-461C-ABB2-916E996E420E}" srcOrd="1" destOrd="0" presId="urn:microsoft.com/office/officeart/2005/8/layout/process2"/>
    <dgm:cxn modelId="{33325396-4A25-453B-8CF7-63C794E0B525}" type="presOf" srcId="{51D1F71F-A5C9-426F-B3D5-4F6940487976}" destId="{66FFAA11-2188-4140-84FE-E73B3D5128AF}" srcOrd="1" destOrd="0" presId="urn:microsoft.com/office/officeart/2005/8/layout/process2"/>
    <dgm:cxn modelId="{04648197-0A30-40DA-A412-C63043E92C5D}" type="presOf" srcId="{C1DD56FD-8541-4B87-B289-BB4A9F4FE4EA}" destId="{FCD6CC03-B4F7-430C-98D0-115893192BDE}" srcOrd="0" destOrd="0" presId="urn:microsoft.com/office/officeart/2005/8/layout/process2"/>
    <dgm:cxn modelId="{02927BD2-05B6-4ED6-8D13-0CDF1EF5613B}" type="presOf" srcId="{38CF7023-AFD3-4111-89A1-5FACC591B24B}" destId="{0E188FDA-3031-47C5-A37C-074F9C682AE9}" srcOrd="0" destOrd="0" presId="urn:microsoft.com/office/officeart/2005/8/layout/process2"/>
    <dgm:cxn modelId="{3BD37ED2-1E47-43DF-80BC-DF30D2565D6C}" type="presOf" srcId="{8E9E83E4-04BE-4573-B7C4-A800E90E98DF}" destId="{18185A6C-2422-400B-9E45-ECC7B0CECAC8}" srcOrd="0" destOrd="0" presId="urn:microsoft.com/office/officeart/2005/8/layout/process2"/>
    <dgm:cxn modelId="{12FC61E6-1480-4591-ACE5-30617D2FEA46}" type="presOf" srcId="{51D1F71F-A5C9-426F-B3D5-4F6940487976}" destId="{CF55BC5C-1C33-4983-911D-EF7A771C9BEC}" srcOrd="0" destOrd="0" presId="urn:microsoft.com/office/officeart/2005/8/layout/process2"/>
    <dgm:cxn modelId="{EA20FEF3-669C-4C78-9AF9-88FEBC132B41}" srcId="{AA94B9D6-14D9-464B-AB87-9AA8661B9B79}" destId="{8E9E83E4-04BE-4573-B7C4-A800E90E98DF}" srcOrd="2" destOrd="0" parTransId="{3FDDF0B7-8141-4578-A4D4-0C681BE0B55D}" sibTransId="{51D1F71F-A5C9-426F-B3D5-4F6940487976}"/>
    <dgm:cxn modelId="{D54597F8-F628-45D8-9358-5228F72E9195}" type="presOf" srcId="{A28EAEE1-B752-49BF-8918-B4E358A0C6CC}" destId="{4EF64793-5BF1-44BB-A21B-0135AFBD46AF}" srcOrd="0" destOrd="0" presId="urn:microsoft.com/office/officeart/2005/8/layout/process2"/>
    <dgm:cxn modelId="{3754E1F8-046A-4488-8DD9-2458DB1D0313}" type="presOf" srcId="{912FECB8-3D85-4C27-B4A1-FE45042E4604}" destId="{1F0BD8E5-EC2F-45C6-88A9-672B0AD75965}" srcOrd="0" destOrd="0" presId="urn:microsoft.com/office/officeart/2005/8/layout/process2"/>
    <dgm:cxn modelId="{AF1856FE-967D-4FC4-9B79-0172E715930B}" type="presOf" srcId="{A28EAEE1-B752-49BF-8918-B4E358A0C6CC}" destId="{92E7D38F-E55A-42CB-B86C-837C0D9078A3}" srcOrd="1" destOrd="0" presId="urn:microsoft.com/office/officeart/2005/8/layout/process2"/>
    <dgm:cxn modelId="{B9FCF1FA-927D-44A0-8971-CB623C0857C8}" type="presParOf" srcId="{92867A3C-C6DF-4833-A074-A8BDFA96BA78}" destId="{FCD6CC03-B4F7-430C-98D0-115893192BDE}" srcOrd="0" destOrd="0" presId="urn:microsoft.com/office/officeart/2005/8/layout/process2"/>
    <dgm:cxn modelId="{E1649BF5-E0A8-4D48-9FC8-E84E682A0D10}" type="presParOf" srcId="{92867A3C-C6DF-4833-A074-A8BDFA96BA78}" destId="{4EF64793-5BF1-44BB-A21B-0135AFBD46AF}" srcOrd="1" destOrd="0" presId="urn:microsoft.com/office/officeart/2005/8/layout/process2"/>
    <dgm:cxn modelId="{6D56158E-A92A-488F-99F3-C0FAF840747D}" type="presParOf" srcId="{4EF64793-5BF1-44BB-A21B-0135AFBD46AF}" destId="{92E7D38F-E55A-42CB-B86C-837C0D9078A3}" srcOrd="0" destOrd="0" presId="urn:microsoft.com/office/officeart/2005/8/layout/process2"/>
    <dgm:cxn modelId="{EA6270D7-9DC5-4825-B434-99E635AB0BD7}" type="presParOf" srcId="{92867A3C-C6DF-4833-A074-A8BDFA96BA78}" destId="{9FCB7101-7B41-4F46-B29A-8B98CB20ACF4}" srcOrd="2" destOrd="0" presId="urn:microsoft.com/office/officeart/2005/8/layout/process2"/>
    <dgm:cxn modelId="{F95D3788-47A3-4525-87D4-8B4FEAC1C8CB}" type="presParOf" srcId="{92867A3C-C6DF-4833-A074-A8BDFA96BA78}" destId="{0E188FDA-3031-47C5-A37C-074F9C682AE9}" srcOrd="3" destOrd="0" presId="urn:microsoft.com/office/officeart/2005/8/layout/process2"/>
    <dgm:cxn modelId="{70C3490F-E5AA-4C18-B6CC-4567A02E587D}" type="presParOf" srcId="{0E188FDA-3031-47C5-A37C-074F9C682AE9}" destId="{FF5E01BF-EA3A-461C-ABB2-916E996E420E}" srcOrd="0" destOrd="0" presId="urn:microsoft.com/office/officeart/2005/8/layout/process2"/>
    <dgm:cxn modelId="{0108E87E-8760-4061-8BD6-37B80FB7FE40}" type="presParOf" srcId="{92867A3C-C6DF-4833-A074-A8BDFA96BA78}" destId="{18185A6C-2422-400B-9E45-ECC7B0CECAC8}" srcOrd="4" destOrd="0" presId="urn:microsoft.com/office/officeart/2005/8/layout/process2"/>
    <dgm:cxn modelId="{AD5BC608-20E0-4CEA-AFC3-122FC2DD4E27}" type="presParOf" srcId="{92867A3C-C6DF-4833-A074-A8BDFA96BA78}" destId="{CF55BC5C-1C33-4983-911D-EF7A771C9BEC}" srcOrd="5" destOrd="0" presId="urn:microsoft.com/office/officeart/2005/8/layout/process2"/>
    <dgm:cxn modelId="{01BCCA9E-047D-413A-A742-0EB8EB0E116D}" type="presParOf" srcId="{CF55BC5C-1C33-4983-911D-EF7A771C9BEC}" destId="{66FFAA11-2188-4140-84FE-E73B3D5128AF}" srcOrd="0" destOrd="0" presId="urn:microsoft.com/office/officeart/2005/8/layout/process2"/>
    <dgm:cxn modelId="{14DA7B36-687A-4F4D-9017-B0B92DA52A7C}" type="presParOf" srcId="{92867A3C-C6DF-4833-A074-A8BDFA96BA78}" destId="{1F0BD8E5-EC2F-45C6-88A9-672B0AD75965}" srcOrd="6"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005036-7C44-4F4B-8DF4-88FCAA11FFFC}">
      <dsp:nvSpPr>
        <dsp:cNvPr id="0" name=""/>
        <dsp:cNvSpPr/>
      </dsp:nvSpPr>
      <dsp:spPr bwMode="white">
        <a:xfrm>
          <a:off x="94297" y="200977"/>
          <a:ext cx="2326005" cy="2326004"/>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311400" rtl="0">
            <a:lnSpc>
              <a:spcPct val="90000"/>
            </a:lnSpc>
            <a:spcBef>
              <a:spcPct val="0"/>
            </a:spcBef>
            <a:spcAft>
              <a:spcPct val="35000"/>
            </a:spcAft>
            <a:buNone/>
          </a:pPr>
          <a:r>
            <a:rPr lang="zh-CN" sz="5200" kern="1200" dirty="0"/>
            <a:t>神经网络</a:t>
          </a:r>
        </a:p>
      </dsp:txBody>
      <dsp:txXfrm>
        <a:off x="419100" y="475263"/>
        <a:ext cx="1341120" cy="1777433"/>
      </dsp:txXfrm>
    </dsp:sp>
    <dsp:sp modelId="{8836C7B6-C725-42A2-A331-A174816D17C7}">
      <dsp:nvSpPr>
        <dsp:cNvPr id="0" name=""/>
        <dsp:cNvSpPr/>
      </dsp:nvSpPr>
      <dsp:spPr bwMode="white">
        <a:xfrm>
          <a:off x="1770697" y="200977"/>
          <a:ext cx="2326005" cy="2326004"/>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311400" rtl="0">
            <a:lnSpc>
              <a:spcPct val="90000"/>
            </a:lnSpc>
            <a:spcBef>
              <a:spcPct val="0"/>
            </a:spcBef>
            <a:spcAft>
              <a:spcPct val="35000"/>
            </a:spcAft>
            <a:buNone/>
          </a:pPr>
          <a:r>
            <a:rPr lang="zh-CN" sz="5200" kern="1200"/>
            <a:t>深度学习</a:t>
          </a:r>
        </a:p>
      </dsp:txBody>
      <dsp:txXfrm>
        <a:off x="2430780" y="475263"/>
        <a:ext cx="1341120" cy="1777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C20A5-A9D8-4D3E-B587-799A3BB16507}">
      <dsp:nvSpPr>
        <dsp:cNvPr id="0" name=""/>
        <dsp:cNvSpPr/>
      </dsp:nvSpPr>
      <dsp:spPr>
        <a:xfrm>
          <a:off x="5911" y="1799311"/>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知识</a:t>
          </a:r>
        </a:p>
      </dsp:txBody>
      <dsp:txXfrm>
        <a:off x="24145" y="1817545"/>
        <a:ext cx="1208649" cy="586090"/>
      </dsp:txXfrm>
    </dsp:sp>
    <dsp:sp modelId="{E701DB57-D095-4995-BA9F-3DC318F851BB}">
      <dsp:nvSpPr>
        <dsp:cNvPr id="0" name=""/>
        <dsp:cNvSpPr/>
      </dsp:nvSpPr>
      <dsp:spPr>
        <a:xfrm rot="17692822">
          <a:off x="908161" y="1562285"/>
          <a:ext cx="1183782" cy="22697"/>
        </a:xfrm>
        <a:custGeom>
          <a:avLst/>
          <a:gdLst/>
          <a:ahLst/>
          <a:cxnLst/>
          <a:rect l="0" t="0" r="0" b="0"/>
          <a:pathLst>
            <a:path>
              <a:moveTo>
                <a:pt x="0" y="11348"/>
              </a:moveTo>
              <a:lnTo>
                <a:pt x="1183782" y="11348"/>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1470458" y="1544039"/>
        <a:ext cx="59189" cy="59189"/>
      </dsp:txXfrm>
    </dsp:sp>
    <dsp:sp modelId="{037CC688-649A-434F-9080-67500DD1A79D}">
      <dsp:nvSpPr>
        <dsp:cNvPr id="0" name=""/>
        <dsp:cNvSpPr/>
      </dsp:nvSpPr>
      <dsp:spPr>
        <a:xfrm>
          <a:off x="1749076" y="725397"/>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sz="2000" kern="1200" dirty="0"/>
            <a:t>知道</a:t>
          </a:r>
          <a:endParaRPr lang="en-US" altLang="zh-CN" sz="2000" kern="1200" dirty="0"/>
        </a:p>
        <a:p>
          <a:pPr marL="0" lvl="0" indent="0" algn="ctr" defTabSz="889000" rtl="0">
            <a:lnSpc>
              <a:spcPct val="100000"/>
            </a:lnSpc>
            <a:spcBef>
              <a:spcPct val="0"/>
            </a:spcBef>
            <a:spcAft>
              <a:spcPts val="0"/>
            </a:spcAft>
            <a:buNone/>
          </a:pPr>
          <a:r>
            <a:rPr lang="zh-CN" altLang="en-US" sz="2000" kern="1200" dirty="0"/>
            <a:t>怎么做</a:t>
          </a:r>
          <a:endParaRPr lang="zh-CN" sz="2000" kern="1200" dirty="0"/>
        </a:p>
      </dsp:txBody>
      <dsp:txXfrm>
        <a:off x="1767310" y="743631"/>
        <a:ext cx="1208649" cy="586090"/>
      </dsp:txXfrm>
    </dsp:sp>
    <dsp:sp modelId="{33B9F075-4423-4B3D-A2BD-A73956F1955D}">
      <dsp:nvSpPr>
        <dsp:cNvPr id="0" name=""/>
        <dsp:cNvSpPr/>
      </dsp:nvSpPr>
      <dsp:spPr>
        <a:xfrm>
          <a:off x="2994194" y="1025328"/>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3230766" y="1024226"/>
        <a:ext cx="24902" cy="24902"/>
      </dsp:txXfrm>
    </dsp:sp>
    <dsp:sp modelId="{66091779-FD2E-4FDC-86F2-2AC227D5816C}">
      <dsp:nvSpPr>
        <dsp:cNvPr id="0" name=""/>
        <dsp:cNvSpPr/>
      </dsp:nvSpPr>
      <dsp:spPr>
        <a:xfrm>
          <a:off x="3492241" y="725397"/>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专家系统</a:t>
          </a:r>
        </a:p>
      </dsp:txBody>
      <dsp:txXfrm>
        <a:off x="3510475" y="743631"/>
        <a:ext cx="1208649" cy="586090"/>
      </dsp:txXfrm>
    </dsp:sp>
    <dsp:sp modelId="{69ABC5AB-FD09-427D-B12C-5C8B1CBD2726}">
      <dsp:nvSpPr>
        <dsp:cNvPr id="0" name=""/>
        <dsp:cNvSpPr/>
      </dsp:nvSpPr>
      <dsp:spPr>
        <a:xfrm>
          <a:off x="4737358" y="1025328"/>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4973931" y="1024226"/>
        <a:ext cx="24902" cy="24902"/>
      </dsp:txXfrm>
    </dsp:sp>
    <dsp:sp modelId="{5B8380FE-0DCB-4F6C-B2BC-0BBB10FD4D3D}">
      <dsp:nvSpPr>
        <dsp:cNvPr id="0" name=""/>
        <dsp:cNvSpPr/>
      </dsp:nvSpPr>
      <dsp:spPr>
        <a:xfrm>
          <a:off x="5235405" y="725397"/>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en-US" altLang="zh-CN" sz="2000" kern="1200" dirty="0"/>
            <a:t>…</a:t>
          </a:r>
          <a:endParaRPr lang="zh-CN" sz="2000" kern="1200" dirty="0"/>
        </a:p>
      </dsp:txBody>
      <dsp:txXfrm>
        <a:off x="5253639" y="743631"/>
        <a:ext cx="1208649" cy="586090"/>
      </dsp:txXfrm>
    </dsp:sp>
    <dsp:sp modelId="{42EAD14C-C4CD-43F4-BBC5-79864427DD73}">
      <dsp:nvSpPr>
        <dsp:cNvPr id="0" name=""/>
        <dsp:cNvSpPr/>
      </dsp:nvSpPr>
      <dsp:spPr>
        <a:xfrm rot="3907178">
          <a:off x="908161" y="2636199"/>
          <a:ext cx="1183782" cy="22697"/>
        </a:xfrm>
        <a:custGeom>
          <a:avLst/>
          <a:gdLst/>
          <a:ahLst/>
          <a:cxnLst/>
          <a:rect l="0" t="0" r="0" b="0"/>
          <a:pathLst>
            <a:path>
              <a:moveTo>
                <a:pt x="0" y="11348"/>
              </a:moveTo>
              <a:lnTo>
                <a:pt x="1183782" y="11348"/>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1470458" y="2617953"/>
        <a:ext cx="59189" cy="59189"/>
      </dsp:txXfrm>
    </dsp:sp>
    <dsp:sp modelId="{78FFD0A5-EFF7-4D75-9190-24A2A39A0A14}">
      <dsp:nvSpPr>
        <dsp:cNvPr id="0" name=""/>
        <dsp:cNvSpPr/>
      </dsp:nvSpPr>
      <dsp:spPr>
        <a:xfrm>
          <a:off x="1749076" y="2873225"/>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sz="2000" kern="1200" dirty="0"/>
            <a:t>不知道</a:t>
          </a:r>
          <a:endParaRPr lang="en-US" altLang="zh-CN" sz="2000" kern="1200" dirty="0"/>
        </a:p>
        <a:p>
          <a:pPr marL="0" lvl="0" indent="0" algn="ctr" defTabSz="889000" rtl="0">
            <a:lnSpc>
              <a:spcPct val="100000"/>
            </a:lnSpc>
            <a:spcBef>
              <a:spcPct val="0"/>
            </a:spcBef>
            <a:spcAft>
              <a:spcPts val="0"/>
            </a:spcAft>
            <a:buNone/>
          </a:pPr>
          <a:r>
            <a:rPr lang="zh-CN" altLang="en-US" sz="2000" kern="1200" dirty="0"/>
            <a:t>怎么做</a:t>
          </a:r>
          <a:endParaRPr lang="zh-CN" sz="2000" kern="1200" dirty="0"/>
        </a:p>
      </dsp:txBody>
      <dsp:txXfrm>
        <a:off x="1767310" y="2891459"/>
        <a:ext cx="1208649" cy="586090"/>
      </dsp:txXfrm>
    </dsp:sp>
    <dsp:sp modelId="{E8CC1104-E240-42BE-900E-835E00B649B3}">
      <dsp:nvSpPr>
        <dsp:cNvPr id="0" name=""/>
        <dsp:cNvSpPr/>
      </dsp:nvSpPr>
      <dsp:spPr>
        <a:xfrm rot="18289469">
          <a:off x="2807148" y="2815185"/>
          <a:ext cx="872138" cy="22697"/>
        </a:xfrm>
        <a:custGeom>
          <a:avLst/>
          <a:gdLst/>
          <a:ahLst/>
          <a:cxnLst/>
          <a:rect l="0" t="0" r="0" b="0"/>
          <a:pathLst>
            <a:path>
              <a:moveTo>
                <a:pt x="0" y="11348"/>
              </a:moveTo>
              <a:lnTo>
                <a:pt x="872138"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3221414" y="2804730"/>
        <a:ext cx="43606" cy="43606"/>
      </dsp:txXfrm>
    </dsp:sp>
    <dsp:sp modelId="{B8B76B01-ABE5-4B2A-967E-5B81E7EB1BEB}">
      <dsp:nvSpPr>
        <dsp:cNvPr id="0" name=""/>
        <dsp:cNvSpPr/>
      </dsp:nvSpPr>
      <dsp:spPr>
        <a:xfrm>
          <a:off x="3492241" y="2157283"/>
          <a:ext cx="1245117" cy="622558"/>
        </a:xfrm>
        <a:prstGeom prst="roundRect">
          <a:avLst>
            <a:gd name="adj" fmla="val 10000"/>
          </a:avLst>
        </a:prstGeom>
        <a:solidFill>
          <a:schemeClr val="accent1"/>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容易做</a:t>
          </a:r>
        </a:p>
      </dsp:txBody>
      <dsp:txXfrm>
        <a:off x="3510475" y="2175517"/>
        <a:ext cx="1208649" cy="586090"/>
      </dsp:txXfrm>
    </dsp:sp>
    <dsp:sp modelId="{5F5B8F60-B6E3-4D33-8006-A534B5219659}">
      <dsp:nvSpPr>
        <dsp:cNvPr id="0" name=""/>
        <dsp:cNvSpPr/>
      </dsp:nvSpPr>
      <dsp:spPr>
        <a:xfrm>
          <a:off x="4737358" y="2457213"/>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4973931" y="2456111"/>
        <a:ext cx="24902" cy="24902"/>
      </dsp:txXfrm>
    </dsp:sp>
    <dsp:sp modelId="{484FF441-C91D-4E7A-BC24-9D042BC822F3}">
      <dsp:nvSpPr>
        <dsp:cNvPr id="0" name=""/>
        <dsp:cNvSpPr/>
      </dsp:nvSpPr>
      <dsp:spPr>
        <a:xfrm>
          <a:off x="5235405" y="2157283"/>
          <a:ext cx="1245117" cy="622558"/>
        </a:xfrm>
        <a:prstGeom prst="roundRect">
          <a:avLst>
            <a:gd name="adj" fmla="val 10000"/>
          </a:avLst>
        </a:prstGeom>
        <a:solidFill>
          <a:srgbClr val="FF00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机器学习</a:t>
          </a:r>
        </a:p>
      </dsp:txBody>
      <dsp:txXfrm>
        <a:off x="5253639" y="2175517"/>
        <a:ext cx="1208649" cy="586090"/>
      </dsp:txXfrm>
    </dsp:sp>
    <dsp:sp modelId="{52C33EA9-1F67-42E9-95A3-083353CEDF6A}">
      <dsp:nvSpPr>
        <dsp:cNvPr id="0" name=""/>
        <dsp:cNvSpPr/>
      </dsp:nvSpPr>
      <dsp:spPr>
        <a:xfrm rot="18289469">
          <a:off x="6293478" y="2099242"/>
          <a:ext cx="872138" cy="22697"/>
        </a:xfrm>
        <a:custGeom>
          <a:avLst/>
          <a:gdLst/>
          <a:ahLst/>
          <a:cxnLst/>
          <a:rect l="0" t="0" r="0" b="0"/>
          <a:pathLst>
            <a:path>
              <a:moveTo>
                <a:pt x="0" y="11348"/>
              </a:moveTo>
              <a:lnTo>
                <a:pt x="872138"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6707743" y="2088787"/>
        <a:ext cx="43606" cy="43606"/>
      </dsp:txXfrm>
    </dsp:sp>
    <dsp:sp modelId="{2456E607-9E9A-461B-9DA8-D9F7AFDF1055}">
      <dsp:nvSpPr>
        <dsp:cNvPr id="0" name=""/>
        <dsp:cNvSpPr/>
      </dsp:nvSpPr>
      <dsp:spPr>
        <a:xfrm>
          <a:off x="6978570" y="1441340"/>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图像识别</a:t>
          </a:r>
        </a:p>
      </dsp:txBody>
      <dsp:txXfrm>
        <a:off x="6996804" y="1459574"/>
        <a:ext cx="1208649" cy="586090"/>
      </dsp:txXfrm>
    </dsp:sp>
    <dsp:sp modelId="{E11CDAD6-EF43-4F94-BA41-40CBC44693B1}">
      <dsp:nvSpPr>
        <dsp:cNvPr id="0" name=""/>
        <dsp:cNvSpPr/>
      </dsp:nvSpPr>
      <dsp:spPr>
        <a:xfrm>
          <a:off x="6480523" y="2457213"/>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6717095" y="2456111"/>
        <a:ext cx="24902" cy="24902"/>
      </dsp:txXfrm>
    </dsp:sp>
    <dsp:sp modelId="{FE57452C-E001-4B6F-B3D9-B5C2BCE6A1ED}">
      <dsp:nvSpPr>
        <dsp:cNvPr id="0" name=""/>
        <dsp:cNvSpPr/>
      </dsp:nvSpPr>
      <dsp:spPr>
        <a:xfrm>
          <a:off x="6978570" y="2157283"/>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自然语言处理</a:t>
          </a:r>
        </a:p>
      </dsp:txBody>
      <dsp:txXfrm>
        <a:off x="6996804" y="2175517"/>
        <a:ext cx="1208649" cy="586090"/>
      </dsp:txXfrm>
    </dsp:sp>
    <dsp:sp modelId="{68A85DED-C01F-403C-9517-F2C92D2E1D99}">
      <dsp:nvSpPr>
        <dsp:cNvPr id="0" name=""/>
        <dsp:cNvSpPr/>
      </dsp:nvSpPr>
      <dsp:spPr>
        <a:xfrm rot="3310531">
          <a:off x="6293478" y="2815185"/>
          <a:ext cx="872138" cy="22697"/>
        </a:xfrm>
        <a:custGeom>
          <a:avLst/>
          <a:gdLst/>
          <a:ahLst/>
          <a:cxnLst/>
          <a:rect l="0" t="0" r="0" b="0"/>
          <a:pathLst>
            <a:path>
              <a:moveTo>
                <a:pt x="0" y="11348"/>
              </a:moveTo>
              <a:lnTo>
                <a:pt x="872138"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6707743" y="2804730"/>
        <a:ext cx="43606" cy="43606"/>
      </dsp:txXfrm>
    </dsp:sp>
    <dsp:sp modelId="{E5B3CEF5-212B-4333-BDA5-5231AF422114}">
      <dsp:nvSpPr>
        <dsp:cNvPr id="0" name=""/>
        <dsp:cNvSpPr/>
      </dsp:nvSpPr>
      <dsp:spPr>
        <a:xfrm>
          <a:off x="6978570" y="2873225"/>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语音识别</a:t>
          </a:r>
        </a:p>
      </dsp:txBody>
      <dsp:txXfrm>
        <a:off x="6996804" y="2891459"/>
        <a:ext cx="1208649" cy="586090"/>
      </dsp:txXfrm>
    </dsp:sp>
    <dsp:sp modelId="{AC917292-0880-4240-9CF8-AB0D0F2B0832}">
      <dsp:nvSpPr>
        <dsp:cNvPr id="0" name=""/>
        <dsp:cNvSpPr/>
      </dsp:nvSpPr>
      <dsp:spPr>
        <a:xfrm rot="3310531">
          <a:off x="2807148" y="3531127"/>
          <a:ext cx="872138" cy="22697"/>
        </a:xfrm>
        <a:custGeom>
          <a:avLst/>
          <a:gdLst/>
          <a:ahLst/>
          <a:cxnLst/>
          <a:rect l="0" t="0" r="0" b="0"/>
          <a:pathLst>
            <a:path>
              <a:moveTo>
                <a:pt x="0" y="11348"/>
              </a:moveTo>
              <a:lnTo>
                <a:pt x="872138"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3221414" y="3520673"/>
        <a:ext cx="43606" cy="43606"/>
      </dsp:txXfrm>
    </dsp:sp>
    <dsp:sp modelId="{3D4DFC46-14FD-44CF-889B-312D881097D2}">
      <dsp:nvSpPr>
        <dsp:cNvPr id="0" name=""/>
        <dsp:cNvSpPr/>
      </dsp:nvSpPr>
      <dsp:spPr>
        <a:xfrm>
          <a:off x="3492241" y="3589168"/>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不容易做</a:t>
          </a:r>
        </a:p>
      </dsp:txBody>
      <dsp:txXfrm>
        <a:off x="3510475" y="3607402"/>
        <a:ext cx="1208649" cy="586090"/>
      </dsp:txXfrm>
    </dsp:sp>
    <dsp:sp modelId="{4D5C558E-2E7D-4D1A-ABA2-D5D2DD86206F}">
      <dsp:nvSpPr>
        <dsp:cNvPr id="0" name=""/>
        <dsp:cNvSpPr/>
      </dsp:nvSpPr>
      <dsp:spPr>
        <a:xfrm>
          <a:off x="4737358" y="3889099"/>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4973931" y="3887996"/>
        <a:ext cx="24902" cy="24902"/>
      </dsp:txXfrm>
    </dsp:sp>
    <dsp:sp modelId="{7CFDB172-E668-43FE-B146-64584C675B7A}">
      <dsp:nvSpPr>
        <dsp:cNvPr id="0" name=""/>
        <dsp:cNvSpPr/>
      </dsp:nvSpPr>
      <dsp:spPr>
        <a:xfrm>
          <a:off x="5235405" y="3589168"/>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强化学习</a:t>
          </a:r>
        </a:p>
      </dsp:txBody>
      <dsp:txXfrm>
        <a:off x="5253639" y="3607402"/>
        <a:ext cx="1208649" cy="586090"/>
      </dsp:txXfrm>
    </dsp:sp>
    <dsp:sp modelId="{AF3A758F-4CD4-4A21-B44A-EE5D60432290}">
      <dsp:nvSpPr>
        <dsp:cNvPr id="0" name=""/>
        <dsp:cNvSpPr/>
      </dsp:nvSpPr>
      <dsp:spPr>
        <a:xfrm>
          <a:off x="6480523" y="3889099"/>
          <a:ext cx="498047" cy="22697"/>
        </a:xfrm>
        <a:custGeom>
          <a:avLst/>
          <a:gdLst/>
          <a:ahLst/>
          <a:cxnLst/>
          <a:rect l="0" t="0" r="0" b="0"/>
          <a:pathLst>
            <a:path>
              <a:moveTo>
                <a:pt x="0" y="11348"/>
              </a:moveTo>
              <a:lnTo>
                <a:pt x="498047" y="11348"/>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100000"/>
            </a:lnSpc>
            <a:spcBef>
              <a:spcPct val="0"/>
            </a:spcBef>
            <a:spcAft>
              <a:spcPts val="0"/>
            </a:spcAft>
            <a:buNone/>
          </a:pPr>
          <a:endParaRPr lang="zh-CN" altLang="en-US" sz="800" kern="1200"/>
        </a:p>
      </dsp:txBody>
      <dsp:txXfrm>
        <a:off x="6717095" y="3887996"/>
        <a:ext cx="24902" cy="24902"/>
      </dsp:txXfrm>
    </dsp:sp>
    <dsp:sp modelId="{EAD3BB15-FD98-48A1-AE91-B49E6520FB73}">
      <dsp:nvSpPr>
        <dsp:cNvPr id="0" name=""/>
        <dsp:cNvSpPr/>
      </dsp:nvSpPr>
      <dsp:spPr>
        <a:xfrm>
          <a:off x="6978570" y="3589168"/>
          <a:ext cx="1245117" cy="62255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0">
            <a:lnSpc>
              <a:spcPct val="100000"/>
            </a:lnSpc>
            <a:spcBef>
              <a:spcPct val="0"/>
            </a:spcBef>
            <a:spcAft>
              <a:spcPts val="0"/>
            </a:spcAft>
            <a:buNone/>
          </a:pPr>
          <a:r>
            <a:rPr lang="zh-CN" altLang="en-US" sz="2000" kern="1200" dirty="0"/>
            <a:t>围棋</a:t>
          </a:r>
        </a:p>
      </dsp:txBody>
      <dsp:txXfrm>
        <a:off x="6996804" y="3607402"/>
        <a:ext cx="1208649" cy="5860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6CC03-B4F7-430C-98D0-115893192BDE}">
      <dsp:nvSpPr>
        <dsp:cNvPr id="0" name=""/>
        <dsp:cNvSpPr/>
      </dsp:nvSpPr>
      <dsp:spPr>
        <a:xfrm>
          <a:off x="1648135" y="1256"/>
          <a:ext cx="818528" cy="454738"/>
        </a:xfrm>
        <a:prstGeom prst="roundRect">
          <a:avLst>
            <a:gd name="adj" fmla="val 10000"/>
          </a:avLst>
        </a:prstGeom>
        <a:blipFill>
          <a:blip xmlns:r="http://schemas.openxmlformats.org/officeDocument/2006/relationships" r:embed="rId1"/>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a:noFill/>
            </a:rPr>
            <a:t> </a:t>
          </a:r>
        </a:p>
      </dsp:txBody>
      <dsp:txXfrm>
        <a:off x="1661454" y="14575"/>
        <a:ext cx="791890" cy="428100"/>
      </dsp:txXfrm>
    </dsp:sp>
    <dsp:sp modelId="{4EF64793-5BF1-44BB-A21B-0135AFBD46AF}">
      <dsp:nvSpPr>
        <dsp:cNvPr id="0" name=""/>
        <dsp:cNvSpPr/>
      </dsp:nvSpPr>
      <dsp:spPr>
        <a:xfrm rot="5400000">
          <a:off x="1972136" y="467363"/>
          <a:ext cx="170526" cy="2046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5400000">
        <a:off x="1996009" y="484416"/>
        <a:ext cx="122780" cy="119368"/>
      </dsp:txXfrm>
    </dsp:sp>
    <dsp:sp modelId="{9FCB7101-7B41-4F46-B29A-8B98CB20ACF4}">
      <dsp:nvSpPr>
        <dsp:cNvPr id="0" name=""/>
        <dsp:cNvSpPr/>
      </dsp:nvSpPr>
      <dsp:spPr>
        <a:xfrm>
          <a:off x="1170364" y="683364"/>
          <a:ext cx="1774070" cy="454738"/>
        </a:xfrm>
        <a:prstGeom prst="roundRect">
          <a:avLst>
            <a:gd name="adj" fmla="val 10000"/>
          </a:avLst>
        </a:prstGeom>
        <a:blipFill>
          <a:blip xmlns:r="http://schemas.openxmlformats.org/officeDocument/2006/relationships" r:embed="rId2"/>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a:noFill/>
            </a:rPr>
            <a:t> </a:t>
          </a:r>
        </a:p>
      </dsp:txBody>
      <dsp:txXfrm>
        <a:off x="1183683" y="696683"/>
        <a:ext cx="1747432" cy="428100"/>
      </dsp:txXfrm>
    </dsp:sp>
    <dsp:sp modelId="{0E188FDA-3031-47C5-A37C-074F9C682AE9}">
      <dsp:nvSpPr>
        <dsp:cNvPr id="0" name=""/>
        <dsp:cNvSpPr/>
      </dsp:nvSpPr>
      <dsp:spPr>
        <a:xfrm rot="5400000">
          <a:off x="1972136" y="1149470"/>
          <a:ext cx="170526" cy="2046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5400000">
        <a:off x="1996009" y="1166523"/>
        <a:ext cx="122780" cy="119368"/>
      </dsp:txXfrm>
    </dsp:sp>
    <dsp:sp modelId="{18185A6C-2422-400B-9E45-ECC7B0CECAC8}">
      <dsp:nvSpPr>
        <dsp:cNvPr id="0" name=""/>
        <dsp:cNvSpPr/>
      </dsp:nvSpPr>
      <dsp:spPr>
        <a:xfrm>
          <a:off x="1648135" y="1365471"/>
          <a:ext cx="818528" cy="4547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n-US" altLang="zh-CN" sz="2000" kern="1200" dirty="0"/>
            <a:t>…</a:t>
          </a:r>
          <a:endParaRPr lang="zh-CN" sz="2000" kern="1200" dirty="0"/>
        </a:p>
      </dsp:txBody>
      <dsp:txXfrm>
        <a:off x="1661454" y="1378790"/>
        <a:ext cx="791890" cy="428100"/>
      </dsp:txXfrm>
    </dsp:sp>
    <dsp:sp modelId="{CF55BC5C-1C33-4983-911D-EF7A771C9BEC}">
      <dsp:nvSpPr>
        <dsp:cNvPr id="0" name=""/>
        <dsp:cNvSpPr/>
      </dsp:nvSpPr>
      <dsp:spPr>
        <a:xfrm rot="5278912">
          <a:off x="1983652" y="1832205"/>
          <a:ext cx="171574" cy="20463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5400000">
        <a:off x="2007143" y="1848750"/>
        <a:ext cx="122780" cy="120102"/>
      </dsp:txXfrm>
    </dsp:sp>
    <dsp:sp modelId="{1F0BD8E5-EC2F-45C6-88A9-672B0AD75965}">
      <dsp:nvSpPr>
        <dsp:cNvPr id="0" name=""/>
        <dsp:cNvSpPr/>
      </dsp:nvSpPr>
      <dsp:spPr>
        <a:xfrm>
          <a:off x="1111184" y="2048833"/>
          <a:ext cx="1940674" cy="457116"/>
        </a:xfrm>
        <a:prstGeom prst="roundRect">
          <a:avLst>
            <a:gd name="adj" fmla="val 10000"/>
          </a:avLst>
        </a:prstGeom>
        <a:blipFill>
          <a:blip xmlns:r="http://schemas.openxmlformats.org/officeDocument/2006/relationships" r:embed="rId3"/>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a:noFill/>
            </a:rPr>
            <a:t> </a:t>
          </a:r>
        </a:p>
      </dsp:txBody>
      <dsp:txXfrm>
        <a:off x="1124572" y="2062221"/>
        <a:ext cx="1913898" cy="430340"/>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1">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683E5292-C197-4B29-8ABD-C7AEB5E0B154}" type="datetimeFigureOut">
              <a:rPr lang="en-US" altLang="zh-CN"/>
              <a:t>9/4/2025</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B4C119E0-CEE4-4FF8-83B2-DC856A2C17CC}"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为了好这门课，需要对这门课整个的知识进行梳理。</a:t>
            </a:r>
          </a:p>
          <a:p>
            <a:endParaRPr lang="zh-CN" altLang="en-US" dirty="0"/>
          </a:p>
          <a:p>
            <a:r>
              <a:rPr lang="zh-CN" altLang="en-US" dirty="0"/>
              <a:t>还有一些深度学习模型，它会用到很多的概率的东西。所以，后面我们还会讲一些进阶的概率图模型相关的知识。</a:t>
            </a:r>
          </a:p>
          <a:p>
            <a:r>
              <a:rPr lang="zh-CN" altLang="en-US" dirty="0">
                <a:sym typeface="+mn-ea"/>
              </a:rPr>
              <a:t>概率图模型</a:t>
            </a:r>
            <a:r>
              <a:rPr lang="en-US" altLang="zh-CN" dirty="0">
                <a:sym typeface="+mn-ea"/>
              </a:rPr>
              <a:t>: </a:t>
            </a:r>
            <a:r>
              <a:rPr lang="zh-CN" altLang="en-US" dirty="0">
                <a:sym typeface="+mn-ea"/>
              </a:rPr>
              <a:t>用概率的形式建模各式各样的问题。</a:t>
            </a:r>
          </a:p>
          <a:p>
            <a:endParaRPr lang="zh-CN" altLang="en-US" dirty="0">
              <a:sym typeface="+mn-ea"/>
            </a:endParaRPr>
          </a:p>
          <a:p>
            <a:r>
              <a:rPr lang="en-US" altLang="zh-CN" dirty="0">
                <a:sym typeface="+mn-ea"/>
              </a:rPr>
              <a:t>EM</a:t>
            </a:r>
            <a:r>
              <a:rPr lang="zh-CN" altLang="en-US" dirty="0">
                <a:sym typeface="+mn-ea"/>
              </a:rPr>
              <a:t>算法：当存在不能观察隐变量或者缺失值的时候，怎么去学习模型。</a:t>
            </a:r>
          </a:p>
          <a:p>
            <a:endParaRPr lang="zh-CN" altLang="en-US" dirty="0">
              <a:sym typeface="+mn-ea"/>
            </a:endParaRPr>
          </a:p>
          <a:p>
            <a:r>
              <a:rPr lang="zh-CN" altLang="en-US" dirty="0">
                <a:sym typeface="+mn-ea"/>
              </a:rPr>
              <a:t>概率图模型和机器学习</a:t>
            </a:r>
            <a:r>
              <a:rPr lang="en-US" altLang="zh-CN" dirty="0">
                <a:sym typeface="+mn-ea"/>
              </a:rPr>
              <a:t>/DL</a:t>
            </a:r>
            <a:r>
              <a:rPr lang="zh-CN" altLang="en-US" dirty="0">
                <a:sym typeface="+mn-ea"/>
              </a:rPr>
              <a:t>结合比较紧密的主要是在密度估计这一块，比如</a:t>
            </a:r>
            <a:r>
              <a:rPr lang="en-US" altLang="zh-CN" dirty="0">
                <a:sym typeface="+mn-ea"/>
              </a:rPr>
              <a:t>VAE</a:t>
            </a:r>
            <a:r>
              <a:rPr lang="zh-CN" altLang="en-US" dirty="0">
                <a:sym typeface="+mn-ea"/>
              </a:rPr>
              <a:t>，</a:t>
            </a:r>
            <a:r>
              <a:rPr lang="en-US" altLang="zh-CN" dirty="0">
                <a:sym typeface="+mn-ea"/>
              </a:rPr>
              <a:t>GAN</a:t>
            </a:r>
            <a:r>
              <a:rPr lang="zh-CN" altLang="en-US" dirty="0">
                <a:sym typeface="+mn-ea"/>
              </a:rPr>
              <a:t>。</a:t>
            </a:r>
            <a:endParaRPr lang="en-US" altLang="zh-CN" dirty="0">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知识结构是</a:t>
            </a:r>
            <a:r>
              <a:rPr lang="en-US" altLang="zh-CN" dirty="0"/>
              <a:t>2</a:t>
            </a:r>
            <a:r>
              <a:rPr lang="zh-CN" altLang="en-US" dirty="0"/>
              <a:t>维的，关联比较负责。我们讲解的时候需要按照顺序讲解。</a:t>
            </a:r>
          </a:p>
          <a:p>
            <a:r>
              <a:rPr lang="zh-CN" altLang="en-US" dirty="0"/>
              <a:t>概述</a:t>
            </a:r>
            <a:r>
              <a:rPr lang="en-US" altLang="zh-CN" dirty="0"/>
              <a:t>-</a:t>
            </a:r>
            <a:r>
              <a:rPr lang="zh-CN" altLang="en-US" dirty="0"/>
              <a:t>》真实机器学习问题（简单的回归问题）</a:t>
            </a:r>
            <a:r>
              <a:rPr lang="en-US" altLang="zh-CN" dirty="0"/>
              <a:t>-</a:t>
            </a:r>
            <a:r>
              <a:rPr lang="zh-CN" altLang="en-US" dirty="0"/>
              <a:t>》我们主要讲线性回归</a:t>
            </a:r>
            <a:r>
              <a:rPr lang="en-US" altLang="zh-CN" dirty="0"/>
              <a:t>--</a:t>
            </a:r>
            <a:r>
              <a:rPr lang="zh-CN" altLang="en-US" dirty="0"/>
              <a:t>》可以迁移到非线性回归的地方，比如曲线拟合。虽然名字叫线性回归，但是它可以解决比较复杂的问题。</a:t>
            </a:r>
          </a:p>
          <a:p>
            <a:r>
              <a:rPr lang="zh-CN" altLang="en-US" dirty="0"/>
              <a:t>有监督</a:t>
            </a:r>
            <a:r>
              <a:rPr lang="en-US" altLang="zh-CN" dirty="0"/>
              <a:t>--</a:t>
            </a:r>
            <a:r>
              <a:rPr lang="zh-CN" altLang="en-US" dirty="0"/>
              <a:t>》（回归也是有监督，放到概述里面讲这样会让同学们对机器学习有更加直观的印象）</a:t>
            </a:r>
            <a:r>
              <a:rPr lang="en-US" altLang="zh-CN" dirty="0"/>
              <a:t>--</a:t>
            </a:r>
            <a:r>
              <a:rPr lang="zh-CN" altLang="en-US" dirty="0"/>
              <a:t>》分为两大类：线性和非线性。</a:t>
            </a:r>
            <a:r>
              <a:rPr lang="en-US" altLang="zh-CN" dirty="0"/>
              <a:t>Logistic/soft Max</a:t>
            </a:r>
            <a:r>
              <a:rPr lang="zh-CN" altLang="en-US" dirty="0"/>
              <a:t>跟后面部分是有紧密结合的。</a:t>
            </a:r>
          </a:p>
          <a:p>
            <a:endParaRPr lang="zh-CN" altLang="en-US" dirty="0"/>
          </a:p>
          <a:p>
            <a:r>
              <a:rPr lang="zh-CN" altLang="en-US" dirty="0"/>
              <a:t>参数化方法对应后面要讲的更复杂的模型（</a:t>
            </a:r>
            <a:r>
              <a:rPr lang="en-US" altLang="zh-CN" dirty="0"/>
              <a:t>VAE/GAN</a:t>
            </a:r>
            <a:r>
              <a:rPr lang="zh-CN" altLang="en-US" dirty="0"/>
              <a:t>）</a:t>
            </a:r>
          </a:p>
          <a:p>
            <a:endParaRPr lang="zh-CN" altLang="en-US" dirty="0"/>
          </a:p>
          <a:p>
            <a:r>
              <a:rPr lang="zh-CN" altLang="en-US" dirty="0"/>
              <a:t>序列生成也是深度学习中一个非常重要的应用。</a:t>
            </a:r>
          </a:p>
          <a:p>
            <a:endParaRPr lang="zh-CN" altLang="en-US" dirty="0"/>
          </a:p>
          <a:p>
            <a:r>
              <a:rPr lang="zh-CN" altLang="en-US" dirty="0"/>
              <a:t>这节课我们还是主要讲一个概述，也就是说我们这门课主要是干什么的。</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8</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主要参考前</a:t>
            </a:r>
            <a:r>
              <a:rPr kumimoji="1" lang="en-US" altLang="zh-CN" dirty="0"/>
              <a:t>3</a:t>
            </a:r>
            <a:r>
              <a:rPr kumimoji="1" lang="zh-CN" altLang="en-US" dirty="0"/>
              <a:t>个</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9</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李宏毅</a:t>
            </a:r>
            <a:r>
              <a:rPr lang="en-US" altLang="zh-CN" dirty="0"/>
              <a:t>《Generative Adversarial Network (GAN)》</a:t>
            </a:r>
          </a:p>
          <a:p>
            <a:pPr lvl="1"/>
            <a:r>
              <a:rPr lang="en-US" altLang="zh-CN" dirty="0"/>
              <a:t>http://speech.ee.ntu.edu.tw/~tlkagk/slide/Tutorial_HYLee_GAN.pptx</a:t>
            </a: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11</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发展快，最新的东西都是在顶会上。</a:t>
            </a:r>
          </a:p>
          <a:p>
            <a:r>
              <a:rPr lang="zh-CN" altLang="en-US"/>
              <a:t>还有一些公众号。</a:t>
            </a:r>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CN" dirty="0"/>
              <a:t>GPU</a:t>
            </a:r>
            <a:r>
              <a:rPr lang="zh-CN" altLang="en-US" dirty="0"/>
              <a:t>计算。</a:t>
            </a:r>
            <a:endParaRPr lang="zh-CN" altLang="zh-TW" dirty="0"/>
          </a:p>
          <a:p>
            <a:r>
              <a:rPr lang="zh-CN" altLang="zh-TW" dirty="0"/>
              <a:t>多机多卡并行。</a:t>
            </a:r>
          </a:p>
          <a:p>
            <a:endParaRPr lang="zh-CN" altLang="zh-TW" dirty="0"/>
          </a:p>
          <a:p>
            <a:r>
              <a:rPr lang="zh-CN" altLang="zh-TW" dirty="0"/>
              <a:t>最早：</a:t>
            </a:r>
            <a:r>
              <a:rPr lang="en-US" altLang="zh-CN" dirty="0"/>
              <a:t>Theano, </a:t>
            </a:r>
            <a:r>
              <a:rPr lang="zh-CN" altLang="en-US" dirty="0"/>
              <a:t>古老，不维护了。</a:t>
            </a:r>
          </a:p>
          <a:p>
            <a:endParaRPr lang="zh-CN" altLang="en-US" dirty="0"/>
          </a:p>
          <a:p>
            <a:r>
              <a:rPr lang="zh-CN" altLang="en-US" dirty="0"/>
              <a:t>之后，</a:t>
            </a:r>
            <a:r>
              <a:rPr lang="en-US" altLang="zh-CN" dirty="0"/>
              <a:t>Tensorflow, </a:t>
            </a:r>
            <a:r>
              <a:rPr lang="zh-CN" altLang="en-US" dirty="0"/>
              <a:t>继承了</a:t>
            </a:r>
            <a:r>
              <a:rPr lang="en-US" altLang="zh-CN" dirty="0"/>
              <a:t>Theano</a:t>
            </a:r>
            <a:r>
              <a:rPr lang="zh-CN" altLang="en-US" dirty="0"/>
              <a:t>的很多想法。但是，因为它是基于静态的设计，就是模型设计好了之后就不能发生变化，这在很多场景下不能适用，后面很多框架就瞄准了动态框架，就是说网络结构可以在运算时适时改变。</a:t>
            </a:r>
          </a:p>
          <a:p>
            <a:r>
              <a:rPr lang="zh-CN" altLang="en-US" dirty="0"/>
              <a:t>动态优秀的工具：</a:t>
            </a:r>
            <a:r>
              <a:rPr lang="en-US" altLang="zh-CN" dirty="0"/>
              <a:t>chainer, </a:t>
            </a:r>
            <a:r>
              <a:rPr lang="zh-CN" altLang="en-US" dirty="0"/>
              <a:t>做的非常早的动态图的。</a:t>
            </a:r>
          </a:p>
          <a:p>
            <a:r>
              <a:rPr lang="zh-CN" altLang="en-US" dirty="0"/>
              <a:t>目前最最流行做动态图的就是</a:t>
            </a:r>
            <a:r>
              <a:rPr lang="en-US" altLang="zh-CN" dirty="0"/>
              <a:t>Pytorch. </a:t>
            </a:r>
          </a:p>
          <a:p>
            <a:r>
              <a:rPr lang="zh-CN" altLang="en-US" dirty="0"/>
              <a:t>推荐使用：</a:t>
            </a:r>
            <a:r>
              <a:rPr lang="en-US" altLang="zh-CN" dirty="0"/>
              <a:t>Pytorch.</a:t>
            </a:r>
          </a:p>
          <a:p>
            <a:r>
              <a:rPr lang="zh-CN" altLang="en-US" dirty="0"/>
              <a:t>国产的，他们做的也非常好，只是现在用户量还不够，比如百度的</a:t>
            </a:r>
            <a:r>
              <a:rPr lang="en-US" altLang="zh-CN" dirty="0"/>
              <a:t>PaddlePaddle, </a:t>
            </a:r>
            <a:r>
              <a:rPr lang="zh-CN" altLang="en-US" dirty="0"/>
              <a:t>还有华为的</a:t>
            </a:r>
            <a:r>
              <a:rPr lang="en-US" altLang="zh-CN" dirty="0"/>
              <a:t> MindSpore.</a:t>
            </a:r>
          </a:p>
        </p:txBody>
      </p:sp>
      <p:sp>
        <p:nvSpPr>
          <p:cNvPr id="4" name="投影片編號版面配置區 3"/>
          <p:cNvSpPr>
            <a:spLocks noGrp="1"/>
          </p:cNvSpPr>
          <p:nvPr>
            <p:ph type="sldNum" sz="quarter" idx="10"/>
          </p:nvPr>
        </p:nvSpPr>
        <p:spPr/>
        <p:txBody>
          <a:bodyPr/>
          <a:lstStyle/>
          <a:p>
            <a:fld id="{3F9096D2-8776-4F5C-A458-4FD37E7160D3}" type="slidenum">
              <a:rPr lang="zh-TW" altLang="en-US" smtClean="0"/>
              <a:t>13</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14</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15</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1950</a:t>
            </a:r>
            <a:r>
              <a:rPr lang="zh-CN" altLang="en-US" dirty="0"/>
              <a:t>年 </a:t>
            </a:r>
            <a:r>
              <a:rPr lang="en-US" altLang="zh-CN" dirty="0"/>
              <a:t>\</a:t>
            </a:r>
            <a:r>
              <a:rPr lang="en-US" altLang="zh-CN" dirty="0" err="1"/>
              <a:t>textbf</a:t>
            </a:r>
            <a:r>
              <a:rPr lang="en-US" altLang="zh-CN" dirty="0"/>
              <a:t>{</a:t>
            </a:r>
            <a:r>
              <a:rPr lang="zh-CN" altLang="en-US" dirty="0"/>
              <a:t>图灵测试</a:t>
            </a:r>
            <a:r>
              <a:rPr lang="en-US" altLang="zh-CN" dirty="0"/>
              <a:t>}</a:t>
            </a:r>
            <a:r>
              <a:rPr lang="zh-CN" altLang="en-US" dirty="0"/>
              <a:t>：“一个人在不接触对方的情况下，通过一种特殊的方式，和对方进行一系列的问答。如果在相当长时间内，他无法根据这些问题判断对方是人还是计算机，那么就可以认为这个计算机是智能的”。</a:t>
            </a:r>
            <a:endParaRPr lang="en-US" altLang="zh-CN" dirty="0"/>
          </a:p>
          <a:p>
            <a:endParaRPr lang="en-US" altLang="zh-CN" dirty="0"/>
          </a:p>
          <a:p>
            <a:r>
              <a:rPr lang="zh-CN" altLang="en-US" dirty="0"/>
              <a:t> 图灵测试是促使人工智能从哲学探讨到科学研究的一个重要因素，引导了人工智能的很多研究方向。因为要使得计算机能通过图灵测试，计算机必须具备理解语言、学习、记忆、推理、决策等能力。</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17</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sz="100"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18</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AFD8253B-1398-4495-91F9-6AC7A7072624}" type="slidenum">
              <a:rPr lang="en-US" altLang="zh-CN" smtClean="0"/>
              <a:t>19</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normAutofit fontScale="77500" lnSpcReduction="20000"/>
          </a:bodyPr>
          <a:lstStyle/>
          <a:p>
            <a:r>
              <a:rPr lang="en-US" altLang="zh-CN" dirty="0"/>
              <a:t>2. </a:t>
            </a:r>
            <a:r>
              <a:rPr lang="en-US" altLang="zh-CN" dirty="0" err="1"/>
              <a:t>推理期</a:t>
            </a:r>
            <a:endParaRPr lang="en-US" altLang="zh-CN" dirty="0"/>
          </a:p>
          <a:p>
            <a:r>
              <a:rPr lang="en-US" altLang="zh-CN" dirty="0" err="1">
                <a:sym typeface="+mn-ea"/>
              </a:rPr>
              <a:t>他们大概就构想，就是通过</a:t>
            </a:r>
            <a:r>
              <a:rPr lang="zh-CN" altLang="en-US" dirty="0">
                <a:sym typeface="+mn-ea"/>
              </a:rPr>
              <a:t>编写程序让机器</a:t>
            </a:r>
            <a:r>
              <a:rPr lang="en-US" altLang="zh-CN" dirty="0" err="1">
                <a:sym typeface="+mn-ea"/>
              </a:rPr>
              <a:t>去完成很多智能行为，比如说比如说数学证明，并且也取得了很大的成功</a:t>
            </a:r>
            <a:r>
              <a:rPr lang="en-US" altLang="zh-CN" dirty="0">
                <a:sym typeface="+mn-ea"/>
              </a:rPr>
              <a:t>。</a:t>
            </a:r>
            <a:endParaRPr lang="en-US" altLang="zh-CN" dirty="0"/>
          </a:p>
          <a:p>
            <a:r>
              <a:rPr lang="en-US" altLang="zh-CN" dirty="0" err="1">
                <a:sym typeface="+mn-ea"/>
              </a:rPr>
              <a:t>推理机</a:t>
            </a:r>
            <a:r>
              <a:rPr lang="zh-CN" altLang="en-US" dirty="0">
                <a:sym typeface="+mn-ea"/>
              </a:rPr>
              <a:t>很难解决现实问题，比如</a:t>
            </a:r>
            <a:r>
              <a:rPr lang="zh-CN" altLang="en-US" dirty="0"/>
              <a:t>无法解决</a:t>
            </a:r>
            <a:r>
              <a:rPr lang="en-US" altLang="zh-CN" dirty="0" err="1"/>
              <a:t>人脸识别</a:t>
            </a:r>
            <a:r>
              <a:rPr lang="zh-CN" altLang="en-US" dirty="0"/>
              <a:t>，</a:t>
            </a:r>
            <a:r>
              <a:rPr lang="en-US" altLang="zh-CN" dirty="0" err="1"/>
              <a:t>声音识</a:t>
            </a:r>
            <a:r>
              <a:rPr lang="zh-CN" altLang="en-US" dirty="0"/>
              <a:t>别的问题。</a:t>
            </a:r>
          </a:p>
          <a:p>
            <a:r>
              <a:rPr lang="zh-CN" altLang="en-US" dirty="0"/>
              <a:t>所以，</a:t>
            </a:r>
            <a:r>
              <a:rPr lang="en-US" altLang="zh-CN" dirty="0"/>
              <a:t>1965</a:t>
            </a:r>
            <a:r>
              <a:rPr lang="zh-CN" altLang="en-US" dirty="0"/>
              <a:t>，低谷期</a:t>
            </a:r>
            <a:r>
              <a:rPr lang="en-US" altLang="zh-CN" dirty="0"/>
              <a:t>d</a:t>
            </a:r>
            <a:r>
              <a:rPr lang="zh-CN" altLang="en-US" dirty="0"/>
              <a:t>。</a:t>
            </a:r>
          </a:p>
          <a:p>
            <a:r>
              <a:rPr lang="en-US" altLang="zh-CN" dirty="0"/>
              <a:t>缺少一些知识，所以啊，在1970年左右开始呢，就进入了另外一个高潮期，就是知识</a:t>
            </a:r>
            <a:r>
              <a:rPr lang="zh-CN" altLang="en-US" dirty="0"/>
              <a:t>期</a:t>
            </a:r>
            <a:r>
              <a:rPr lang="en-US" altLang="zh-CN" dirty="0"/>
              <a:t>。</a:t>
            </a:r>
          </a:p>
          <a:p>
            <a:endParaRPr lang="en-US" altLang="zh-CN" dirty="0"/>
          </a:p>
          <a:p>
            <a:r>
              <a:rPr lang="en-US" altLang="zh-CN" dirty="0"/>
              <a:t>3. </a:t>
            </a:r>
            <a:r>
              <a:rPr lang="zh-CN" altLang="en-US" dirty="0"/>
              <a:t>知识期</a:t>
            </a:r>
          </a:p>
          <a:p>
            <a:r>
              <a:rPr lang="en-US" altLang="zh-CN" dirty="0"/>
              <a:t>就是说。我们给各种各样的推理器注入很多规则，也叫专家知识。专家系统就开始开始兴起，就大量的人投入去构建知识。我们现在还用的比较多的，像比如说这个worldnet，就是我们在NLP里用的比较多的这个</a:t>
            </a:r>
            <a:r>
              <a:rPr lang="zh-CN" altLang="en-US" dirty="0"/>
              <a:t>知识库</a:t>
            </a:r>
            <a:r>
              <a:rPr lang="en-US" altLang="zh-CN" dirty="0" err="1"/>
              <a:t>基本上就来自于这个时期构建</a:t>
            </a:r>
            <a:r>
              <a:rPr lang="zh-CN" altLang="en-US" dirty="0"/>
              <a:t>的</a:t>
            </a:r>
            <a:r>
              <a:rPr lang="en-US" altLang="zh-CN" dirty="0"/>
              <a:t>，</a:t>
            </a:r>
            <a:r>
              <a:rPr lang="en-US" altLang="zh-CN" dirty="0" err="1"/>
              <a:t>他也非常成功</a:t>
            </a:r>
            <a:r>
              <a:rPr lang="en-US" altLang="zh-CN" dirty="0"/>
              <a:t>。</a:t>
            </a:r>
          </a:p>
          <a:p>
            <a:r>
              <a:rPr lang="en-US" altLang="zh-CN" dirty="0"/>
              <a:t>规模越来越大，维护困难。另外就是说知识的定义以及如何解决字之间的冲突。因为一个知识库复杂之后，它必然有很多知识相互冲突的，所以呢，这个又使得呢，他们的应用，就又变得非常困难</a:t>
            </a:r>
            <a:r>
              <a:rPr lang="zh-CN" altLang="en-US" dirty="0"/>
              <a:t>。</a:t>
            </a:r>
            <a:r>
              <a:rPr lang="en-US" altLang="zh-CN" dirty="0" err="1"/>
              <a:t>所以</a:t>
            </a:r>
            <a:r>
              <a:rPr lang="zh-CN" altLang="en-US" dirty="0"/>
              <a:t>，</a:t>
            </a:r>
            <a:r>
              <a:rPr lang="en-US" altLang="zh-CN" dirty="0" err="1"/>
              <a:t>以这个专家系统为代表的这个知识器就开始走向</a:t>
            </a:r>
            <a:r>
              <a:rPr lang="zh-CN" altLang="en-US" dirty="0"/>
              <a:t>低谷</a:t>
            </a:r>
            <a:r>
              <a:rPr lang="en-US" altLang="zh-CN" dirty="0"/>
              <a:t>，</a:t>
            </a:r>
            <a:r>
              <a:rPr lang="en-US" altLang="zh-CN" dirty="0" err="1"/>
              <a:t>那随之而起的，就是所谓的学习期</a:t>
            </a:r>
            <a:r>
              <a:rPr lang="en-US" altLang="zh-CN" dirty="0"/>
              <a:t>，</a:t>
            </a:r>
          </a:p>
          <a:p>
            <a:endParaRPr lang="en-US" altLang="zh-CN" dirty="0"/>
          </a:p>
          <a:p>
            <a:r>
              <a:rPr lang="en-US" altLang="zh-CN" dirty="0"/>
              <a:t>4. </a:t>
            </a:r>
            <a:r>
              <a:rPr lang="zh-CN" altLang="en-US" dirty="0"/>
              <a:t>学习期</a:t>
            </a:r>
          </a:p>
          <a:p>
            <a:r>
              <a:rPr lang="en-US" altLang="zh-CN" dirty="0" err="1"/>
              <a:t>其实就是以机器学习为代表的这种方法就开始慢慢的兴起了。那其中伴随着有神经网络的重新流行</a:t>
            </a:r>
            <a:r>
              <a:rPr lang="zh-CN" altLang="en-US" dirty="0"/>
              <a:t>。</a:t>
            </a:r>
            <a:r>
              <a:rPr lang="en-US" altLang="zh-CN" dirty="0"/>
              <a:t>就是说在推理期结束之后，其实神经网络也一度陷入低谷，然后也是一直到学习期的时候，他才开始重新流行，但是也只流行了一小段时间。然后在1995年到2000年左右呢，这段时期呢，就很多的做统计学的人呢，也对机器学习这个领域感兴趣，所以就就进入了机器学习领域。然后在这一段时期呢，统计机器学习就开始升起兴起，然后特别是比如说以支持向量机为代表的这种模型，它又简单，然后效果又好</a:t>
            </a:r>
            <a:r>
              <a:rPr lang="zh-CN" altLang="en-US" dirty="0"/>
              <a:t>。</a:t>
            </a:r>
            <a:r>
              <a:rPr lang="en-US" altLang="zh-CN" dirty="0" err="1"/>
              <a:t>所以呢</a:t>
            </a:r>
            <a:r>
              <a:rPr lang="zh-CN" altLang="en-US" dirty="0"/>
              <a:t>，</a:t>
            </a:r>
            <a:r>
              <a:rPr lang="en-US" altLang="zh-CN" dirty="0"/>
              <a:t>在这段时期呢，就是神经网络又陷入了一个低谷，那一直到2005年，就是他们找到了一种方法，去能够训练很复杂的神经网络，然后之后呢，就是以神经网络为代表的深度学习就又开始重新兴起</a:t>
            </a:r>
            <a:r>
              <a:rPr lang="zh-CN" altLang="en-US" dirty="0"/>
              <a:t>，</a:t>
            </a:r>
            <a:r>
              <a:rPr lang="en-US" altLang="zh-CN" dirty="0" err="1"/>
              <a:t>一直发展到现在</a:t>
            </a:r>
            <a:r>
              <a:rPr lang="zh-CN" altLang="en-US" dirty="0"/>
              <a:t>。</a:t>
            </a:r>
            <a:r>
              <a:rPr lang="en-US" altLang="zh-CN" dirty="0" err="1"/>
              <a:t>所以呢，这就是大概的这个人工智能的这个发展历史，所以呢，它和这个人工神经</a:t>
            </a:r>
            <a:r>
              <a:rPr lang="zh-CN" altLang="en-US" dirty="0"/>
              <a:t>网络的</a:t>
            </a:r>
            <a:r>
              <a:rPr lang="en-US" altLang="zh-CN" dirty="0" err="1"/>
              <a:t>兴衰也是有部分重合的，我们到后面还会讲人工神经网络的几个发展周期</a:t>
            </a:r>
            <a:r>
              <a:rPr lang="zh-CN" altLang="en-US" dirty="0"/>
              <a:t>。</a:t>
            </a:r>
            <a:endParaRPr lang="en-US" altLang="zh-CN" dirty="0"/>
          </a:p>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将左边的三角形（直角）和右边的三角形区分开来。</a:t>
            </a:r>
          </a:p>
          <a:p>
            <a:endParaRPr lang="zh-CN" altLang="en-US"/>
          </a:p>
          <a:p>
            <a:r>
              <a:rPr lang="zh-CN" altLang="en-US"/>
              <a:t>比如，测体温，温度高于多少就是发烧了。</a:t>
            </a:r>
          </a:p>
          <a:p>
            <a:endParaRPr lang="zh-CN" altLang="en-US"/>
          </a:p>
          <a:p>
            <a:r>
              <a:rPr lang="zh-CN" altLang="en-US"/>
              <a:t>基于专家知识，很好实现。</a:t>
            </a:r>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语音：你好</a:t>
            </a:r>
          </a:p>
          <a:p>
            <a:endParaRPr lang="zh-CN" altLang="en-US"/>
          </a:p>
          <a:p>
            <a:r>
              <a:rPr lang="zh-CN" altLang="en-US"/>
              <a:t>但是，我们如何根据规则找哪一段语音代表的是那几个字呢？这个就变得非常困难。很难去总结这个规则，因为不同的人发音是不一样的，就算是相同的人在不同的情形下对这两个字的发音也可能是不同的。我们人可以听懂，但是你想指导里面的规则是什么，这个是很难的。</a:t>
            </a:r>
          </a:p>
          <a:p>
            <a:endParaRPr lang="zh-CN" altLang="en-US"/>
          </a:p>
          <a:p>
            <a:r>
              <a:rPr lang="zh-CN" altLang="en-US">
                <a:sym typeface="+mn-ea"/>
              </a:rPr>
              <a:t>图片：手写数字</a:t>
            </a:r>
            <a:endParaRPr lang="zh-CN" altLang="en-US"/>
          </a:p>
          <a:p>
            <a:endParaRPr lang="zh-CN" altLang="en-US"/>
          </a:p>
          <a:p>
            <a:r>
              <a:rPr lang="zh-CN" altLang="en-US"/>
              <a:t>写法不同，但都是同一个数字。</a:t>
            </a:r>
          </a:p>
          <a:p>
            <a:endParaRPr lang="zh-CN" altLang="en-US"/>
          </a:p>
          <a:p>
            <a:r>
              <a:rPr lang="zh-CN" altLang="en-US"/>
              <a:t>人脸识别。</a:t>
            </a:r>
          </a:p>
          <a:p>
            <a:r>
              <a:rPr lang="zh-CN" altLang="en-US"/>
              <a:t>比如一堆人脸，我们人很容易看出来是不同的人，但是你想把这些总结成规则，让计算机来判定两个人是不一样的人，就非常困难。那么，对于这一类问题，我们怎么解呢？</a:t>
            </a:r>
          </a:p>
          <a:p>
            <a:endParaRPr lang="zh-CN" altLang="en-US"/>
          </a:p>
          <a:p>
            <a:r>
              <a:rPr lang="zh-CN" altLang="en-US"/>
              <a:t>机器学习</a:t>
            </a:r>
            <a:r>
              <a:rPr lang="en-US" altLang="zh-CN"/>
              <a:t>--&gt; </a:t>
            </a:r>
            <a:r>
              <a:rPr lang="zh-CN" altLang="en-US"/>
              <a:t>我们希望计算机去自动总结规则。</a:t>
            </a:r>
          </a:p>
          <a:p>
            <a:endParaRPr lang="zh-CN" altLang="en-US"/>
          </a:p>
          <a:p>
            <a:endParaRPr lang="zh-CN" altLang="en-US"/>
          </a:p>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规则基本上可以等同于一个映射函数。</a:t>
            </a:r>
          </a:p>
          <a:p>
            <a:endParaRPr lang="zh-CN" altLang="en-US"/>
          </a:p>
          <a:p>
            <a:r>
              <a:rPr lang="zh-CN" altLang="en-US"/>
              <a:t>通过构造函数的方法，将我们的输入映射为预期的输出，这就是机器学习要做的事情。</a:t>
            </a:r>
          </a:p>
          <a:p>
            <a:endParaRPr lang="zh-CN" altLang="en-US"/>
          </a:p>
          <a:p>
            <a:r>
              <a:rPr lang="zh-CN" altLang="en-US"/>
              <a:t>这里的核心就是怎么样去构建这个函数</a:t>
            </a:r>
            <a:r>
              <a:rPr lang="en-US" altLang="zh-CN"/>
              <a:t>, </a:t>
            </a:r>
            <a:r>
              <a:rPr lang="zh-CN" altLang="en-US"/>
              <a:t>也是机器学习主要要解决的问题。</a:t>
            </a:r>
          </a:p>
          <a:p>
            <a:endParaRPr lang="en-US" altLang="zh-CN"/>
          </a:p>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机器学习到底是什么样的概念呢？我们通过判断芒果是否甜蜜的例子来给大家举例。</a:t>
            </a:r>
          </a:p>
          <a:p>
            <a:r>
              <a:rPr lang="en-US" altLang="zh-CN"/>
              <a:t>quora</a:t>
            </a:r>
            <a:r>
              <a:rPr lang="zh-CN" altLang="en-US"/>
              <a:t>上的一个高赞的回答。</a:t>
            </a:r>
          </a:p>
          <a:p>
            <a:endParaRPr lang="zh-CN" altLang="en-US"/>
          </a:p>
          <a:p>
            <a:r>
              <a:rPr lang="zh-CN" altLang="en-US"/>
              <a:t>构建一个函数，</a:t>
            </a:r>
            <a:r>
              <a:rPr lang="en-US" altLang="zh-CN"/>
              <a:t>f(</a:t>
            </a:r>
            <a:r>
              <a:rPr lang="zh-CN" altLang="en-US"/>
              <a:t>芒果图片</a:t>
            </a:r>
            <a:r>
              <a:rPr lang="en-US" altLang="zh-CN"/>
              <a:t>)=</a:t>
            </a:r>
            <a:r>
              <a:rPr lang="zh-CN" altLang="en-US"/>
              <a:t>甜</a:t>
            </a:r>
            <a:r>
              <a:rPr lang="en-US" altLang="zh-CN"/>
              <a:t>/</a:t>
            </a:r>
            <a:r>
              <a:rPr lang="zh-CN" altLang="en-US"/>
              <a:t>酸</a:t>
            </a:r>
          </a:p>
          <a:p>
            <a:endParaRPr lang="zh-CN" altLang="en-US"/>
          </a:p>
          <a:p>
            <a:endParaRPr lang="zh-CN" altLang="en-US"/>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我们如何构建一个判断芒果是否甜的一个函数</a:t>
            </a:r>
            <a:r>
              <a:rPr lang="en-US" altLang="zh-CN">
                <a:sym typeface="+mn-ea"/>
              </a:rPr>
              <a:t>/</a:t>
            </a:r>
            <a:r>
              <a:rPr lang="zh-CN" altLang="en-US">
                <a:sym typeface="+mn-ea"/>
              </a:rPr>
              <a:t>模型呢？</a:t>
            </a:r>
          </a:p>
          <a:p>
            <a:endParaRPr lang="zh-CN" altLang="en-US">
              <a:sym typeface="+mn-ea"/>
            </a:endParaRPr>
          </a:p>
          <a:p>
            <a:r>
              <a:rPr lang="zh-CN" altLang="en-US">
                <a:sym typeface="+mn-ea"/>
              </a:rPr>
              <a:t>首先，收集大量的数据，比如。。。然后从这些数据中总结它的规则。</a:t>
            </a:r>
          </a:p>
          <a:p>
            <a:endParaRPr lang="zh-CN" altLang="en-US">
              <a:sym typeface="+mn-ea"/>
            </a:endParaRPr>
          </a:p>
          <a:p>
            <a:r>
              <a:rPr lang="zh-CN" altLang="en-US">
                <a:sym typeface="+mn-ea"/>
              </a:rPr>
              <a:t>（</a:t>
            </a:r>
            <a:r>
              <a:rPr lang="en-US" altLang="zh-CN">
                <a:sym typeface="+mn-ea"/>
              </a:rPr>
              <a:t>x1, x2, .., xn; y</a:t>
            </a:r>
            <a:r>
              <a:rPr lang="zh-CN" altLang="en-US">
                <a:sym typeface="+mn-ea"/>
              </a:rPr>
              <a:t>）</a:t>
            </a:r>
          </a:p>
          <a:p>
            <a:endParaRPr lang="zh-CN" altLang="en-US">
              <a:sym typeface="+mn-ea"/>
            </a:endParaRPr>
          </a:p>
          <a:p>
            <a:r>
              <a:rPr lang="zh-CN" altLang="en-US">
                <a:sym typeface="+mn-ea"/>
              </a:rPr>
              <a:t>这就是机器学习的大概流程。</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最后，我们来总结一下““。</a:t>
            </a:r>
          </a:p>
          <a:p>
            <a:endParaRPr lang="zh-CN" altLang="en-US" dirty="0"/>
          </a:p>
          <a:p>
            <a:r>
              <a:rPr lang="zh-CN" altLang="en-US" dirty="0"/>
              <a:t>我们把人工智能做预测所依赖的东西叫做知识，知识从哪里来？</a:t>
            </a:r>
          </a:p>
          <a:p>
            <a:r>
              <a:rPr lang="zh-CN" altLang="en-US" dirty="0"/>
              <a:t>按照我们刚才将的，如果按照我们知道的规则，我们很容易开发一个专家系统，它就可以很好的完成这个任务。</a:t>
            </a:r>
          </a:p>
          <a:p>
            <a:endParaRPr lang="zh-CN" altLang="en-US" dirty="0"/>
          </a:p>
          <a:p>
            <a:r>
              <a:rPr lang="zh-CN" altLang="en-US" dirty="0"/>
              <a:t>另外一类任务的话，是我们不知道它的规则，比如人脸识别，但是我们人很容易做，就可以利用机器学习总结规则，让机器去做。比如，。。。</a:t>
            </a:r>
          </a:p>
          <a:p>
            <a:r>
              <a:rPr lang="zh-CN" altLang="en-US" dirty="0"/>
              <a:t>还有一类任务，是我们人都觉得很难的，比如说下围棋，很难找到足够的人来标注大量的数据，如果说它的反馈机制非常明确的话，我们就可以用强化学习来做。比如说，下围棋，我们也不知道怎么做，但是我们知道如果这样做了之后，它最终的输赢很明确，我们就可以拿这个结果进行反馈，然后通过不断的试错去学习，这就是强化学习。</a:t>
            </a:r>
          </a:p>
          <a:p>
            <a:endParaRPr lang="zh-CN" altLang="en-US" dirty="0"/>
          </a:p>
          <a:p>
            <a:r>
              <a:rPr lang="zh-CN" altLang="en-US" dirty="0"/>
              <a:t>有了这样一个大概的路径之后，我们大概就知道怎么去开发一个合适的人工智能系统。</a:t>
            </a:r>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27</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数据预处理：质量差的，缺失值多了，可以删除。</a:t>
            </a:r>
          </a:p>
          <a:p>
            <a:r>
              <a:rPr lang="zh-CN" altLang="en-US"/>
              <a:t>提取有效的特征：重量不重要删除，找出隐藏重要特征等。</a:t>
            </a:r>
          </a:p>
          <a:p>
            <a:r>
              <a:rPr lang="zh-CN" altLang="en-US"/>
              <a:t>特征组合，转化为更有效的特征。</a:t>
            </a:r>
          </a:p>
          <a:p>
            <a:endParaRPr lang="zh-CN" altLang="en-US"/>
          </a:p>
          <a:p>
            <a:r>
              <a:rPr lang="zh-CN" altLang="en-US"/>
              <a:t>机器学习只关注给定特征</a:t>
            </a:r>
            <a:r>
              <a:rPr lang="en-US" altLang="zh-CN"/>
              <a:t>X</a:t>
            </a:r>
            <a:r>
              <a:rPr lang="zh-CN" altLang="en-US"/>
              <a:t>之后，如何构建映射函数</a:t>
            </a:r>
            <a:r>
              <a:rPr lang="en-US" altLang="zh-CN"/>
              <a:t>f. </a:t>
            </a:r>
            <a:r>
              <a:rPr lang="zh-CN" altLang="en-US"/>
              <a:t>而前面的过程通常是机器学习中不关注的，我们把它统称为特征处理</a:t>
            </a:r>
            <a:r>
              <a:rPr lang="en-US" altLang="zh-CN"/>
              <a:t>/</a:t>
            </a:r>
            <a:r>
              <a:rPr lang="zh-CN" altLang="en-US"/>
              <a:t>特征工程。</a:t>
            </a:r>
          </a:p>
          <a:p>
            <a:endParaRPr lang="zh-CN" altLang="en-US"/>
          </a:p>
          <a:p>
            <a:r>
              <a:rPr lang="en-US" altLang="zh-CN"/>
              <a:t>FE</a:t>
            </a:r>
            <a:r>
              <a:rPr lang="zh-CN" altLang="en-US"/>
              <a:t>：为了让机器学习效果好，我们人工去处理很多特征。比如现在很多大厂里面很多做机器学习的岗位，表面上是做算法的，其实很多的工作都集中在特征工程上。因为它特别重要。反而，模型部分，用不同的分类器结果都差不多。起到关键作用的就是特征。</a:t>
            </a:r>
          </a:p>
          <a:p>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特征还有一个非常重要的部分就是底层特征，它和我们需要判断的高层语义，它的差异是非常大的，叫做语义鸿沟，它是人工智能非常重要的挑战之一。</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举个例子：如果判断是一个圣诞老人。如何将底层特征，比如，颜色，纹理，形状这些跟圣诞老人建立联系是非常困难的。</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另外一个例子是七夕，比如给一个男的和女的还有其他的一些造型，你就可以判断他们是牛郎和织女。但是，我们从底层特征出发的话是看不到的，并且还有很多噪声，比如背景啊这些，它不是很重要，但是会对模型的预测产生很多干扰。</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另外一个就是文本，我们看到一个一个的字，它们组合到一起呢，你就知道它是一首诗，反映了思乡的心情。但是，通过表面的字符是很难简单得到的。</a:t>
            </a: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所以，我们就需要从底层特征，构造一些表示，这些表示能够蕴含高层的语义特征。</a:t>
            </a: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endParaRPr lang="zh-CN" altLang="en-US" dirty="0"/>
          </a:p>
        </p:txBody>
      </p:sp>
      <p:sp>
        <p:nvSpPr>
          <p:cNvPr id="4" name="Slide Number Placeholder 3"/>
          <p:cNvSpPr>
            <a:spLocks noGrp="1"/>
          </p:cNvSpPr>
          <p:nvPr>
            <p:ph type="sldNum" sz="quarter" idx="10"/>
          </p:nvPr>
        </p:nvSpPr>
        <p:spPr/>
        <p:txBody>
          <a:bodyPr/>
          <a:lstStyle/>
          <a:p>
            <a:pPr>
              <a:defRPr/>
            </a:pPr>
            <a:fld id="{B4C119E0-CEE4-4FF8-83B2-DC856A2C17CC}" type="slidenum">
              <a:rPr lang="en-US" altLang="zh-CN" smtClean="0"/>
              <a:t>30</a:t>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如何构建一个好的表示呢？它是非常难的。</a:t>
            </a:r>
          </a:p>
          <a:p>
            <a:endParaRPr lang="zh-CN" altLang="en-US" dirty="0"/>
          </a:p>
          <a:p>
            <a:r>
              <a:rPr lang="zh-CN" altLang="en-US" dirty="0"/>
              <a:t>它不能在这个数据上好，在另外的数据上差，那它也不是一个好的表示。</a:t>
            </a:r>
          </a:p>
        </p:txBody>
      </p:sp>
      <p:sp>
        <p:nvSpPr>
          <p:cNvPr id="4" name="Slide Number Placeholder 3"/>
          <p:cNvSpPr>
            <a:spLocks noGrp="1"/>
          </p:cNvSpPr>
          <p:nvPr>
            <p:ph type="sldNum" sz="quarter" idx="10"/>
          </p:nvPr>
        </p:nvSpPr>
        <p:spPr/>
        <p:txBody>
          <a:bodyPr/>
          <a:lstStyle/>
          <a:p>
            <a:pPr>
              <a:defRPr/>
            </a:pPr>
            <a:fld id="{B4C119E0-CEE4-4FF8-83B2-DC856A2C17CC}" type="slidenum">
              <a:rPr lang="en-US" altLang="zh-CN" smtClean="0"/>
              <a:t>31</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zh-CN" altLang="en-US" dirty="0"/>
              <a:t>这个表示具体是什么呢？</a:t>
            </a:r>
          </a:p>
          <a:p>
            <a:r>
              <a:rPr lang="zh-CN" altLang="en-US" dirty="0"/>
              <a:t>我们来看一下为了表示一个对象的特征的话，它有哪些表示形式。</a:t>
            </a:r>
          </a:p>
          <a:p>
            <a:endParaRPr lang="zh-CN" altLang="en-US" dirty="0"/>
          </a:p>
          <a:p>
            <a:r>
              <a:rPr lang="zh-CN" altLang="en-US" dirty="0"/>
              <a:t>从大的方面来分，两种：局部和分布式</a:t>
            </a:r>
          </a:p>
          <a:p>
            <a:endParaRPr lang="zh-CN" altLang="en-US" dirty="0"/>
          </a:p>
          <a:p>
            <a:r>
              <a:rPr lang="zh-CN" altLang="en-US" dirty="0"/>
              <a:t>区别是什么呢？</a:t>
            </a:r>
          </a:p>
          <a:p>
            <a:endParaRPr lang="zh-CN" altLang="en-US" dirty="0"/>
          </a:p>
          <a:p>
            <a:r>
              <a:rPr lang="zh-CN" altLang="en-US" dirty="0"/>
              <a:t>分布式：</a:t>
            </a:r>
          </a:p>
          <a:p>
            <a:r>
              <a:rPr lang="zh-CN" altLang="en-US" dirty="0"/>
              <a:t>只要两个向量不一样就可以表示不同的语义。</a:t>
            </a:r>
          </a:p>
          <a:p>
            <a:r>
              <a:rPr lang="zh-CN" altLang="en-US" dirty="0"/>
              <a:t>为什么叫分布式呢，比如这个就是二维的，两个维度共同合起来就代表一个语义。区别于前面的局部表示，它是每一维度都代表不同的语义。</a:t>
            </a:r>
          </a:p>
          <a:p>
            <a:endParaRPr lang="zh-CN" altLang="en-US" dirty="0"/>
          </a:p>
          <a:p>
            <a:r>
              <a:rPr lang="zh-CN" altLang="en-US" dirty="0"/>
              <a:t>通常来说，分布式表示的表示能力更强。比如，这个棋盘，这些点在空间中都可以代表一个维度的信息，所以，就算是二维的空间它的表示能力也是非常强的。只要是每个点不重合，有一定的区分性，就可以代表不同的语义。</a:t>
            </a:r>
          </a:p>
          <a:p>
            <a:endParaRPr lang="zh-CN" altLang="en-US" dirty="0"/>
          </a:p>
          <a:p>
            <a:r>
              <a:rPr lang="zh-CN" altLang="en-US" dirty="0"/>
              <a:t>它的表示能力有多强呢？我们可以简单的算一下，假设我们又一个</a:t>
            </a:r>
            <a:r>
              <a:rPr lang="en-US" altLang="zh-CN" dirty="0"/>
              <a:t>N</a:t>
            </a:r>
            <a:r>
              <a:rPr lang="zh-CN" altLang="en-US" dirty="0"/>
              <a:t>维的向量，里面有</a:t>
            </a:r>
            <a:r>
              <a:rPr lang="en-US" altLang="zh-CN" dirty="0"/>
              <a:t>K</a:t>
            </a:r>
            <a:r>
              <a:rPr lang="zh-CN" altLang="en-US" dirty="0"/>
              <a:t>个非</a:t>
            </a:r>
            <a:r>
              <a:rPr lang="en-US" altLang="zh-CN" dirty="0"/>
              <a:t>0</a:t>
            </a:r>
            <a:r>
              <a:rPr lang="zh-CN" altLang="en-US" dirty="0"/>
              <a:t>的取值的维度，如果每个维度表示两个语义，那</a:t>
            </a:r>
            <a:r>
              <a:rPr lang="en-US" altLang="zh-CN" dirty="0"/>
              <a:t>K</a:t>
            </a:r>
            <a:r>
              <a:rPr lang="zh-CN" altLang="en-US" dirty="0"/>
              <a:t>个维度，就是</a:t>
            </a:r>
            <a:r>
              <a:rPr lang="en-US" altLang="zh-CN" dirty="0"/>
              <a:t>2^k</a:t>
            </a:r>
            <a:r>
              <a:rPr lang="zh-CN" altLang="en-US" dirty="0"/>
              <a:t>个语义。如果用局部表示的话，</a:t>
            </a:r>
            <a:r>
              <a:rPr lang="en-US" altLang="zh-CN" dirty="0"/>
              <a:t>K</a:t>
            </a:r>
            <a:r>
              <a:rPr lang="zh-CN" altLang="en-US" dirty="0"/>
              <a:t>维就只能表示</a:t>
            </a:r>
            <a:r>
              <a:rPr lang="en-US" altLang="zh-CN" dirty="0"/>
              <a:t>K</a:t>
            </a:r>
            <a:r>
              <a:rPr lang="zh-CN" altLang="en-US" dirty="0"/>
              <a:t>个语义。所以说分布式表示它的表示能力是更强的。</a:t>
            </a:r>
          </a:p>
          <a:p>
            <a:endParaRPr lang="zh-CN" altLang="en-US" dirty="0"/>
          </a:p>
          <a:p>
            <a:endParaRPr lang="zh-CN" altLang="en-US" dirty="0"/>
          </a:p>
          <a:p>
            <a:endParaRPr lang="zh-CN" altLang="en-US" dirty="0"/>
          </a:p>
        </p:txBody>
      </p:sp>
      <p:sp>
        <p:nvSpPr>
          <p:cNvPr id="4" name="Slide Number Placeholder 3"/>
          <p:cNvSpPr>
            <a:spLocks noGrp="1"/>
          </p:cNvSpPr>
          <p:nvPr>
            <p:ph type="sldNum" sz="quarter" idx="10"/>
          </p:nvPr>
        </p:nvSpPr>
        <p:spPr/>
        <p:txBody>
          <a:bodyPr/>
          <a:lstStyle/>
          <a:p>
            <a:pPr>
              <a:defRPr/>
            </a:pPr>
            <a:fld id="{B4C119E0-CEE4-4FF8-83B2-DC856A2C17CC}" type="slidenum">
              <a:rPr lang="en-US" altLang="zh-CN" smtClean="0"/>
              <a:t>32</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dirty="0" err="1"/>
              <a:t>eg</a:t>
            </a:r>
            <a:r>
              <a:rPr kumimoji="1" lang="en-US" altLang="zh-CN" dirty="0"/>
              <a:t>:</a:t>
            </a:r>
            <a:r>
              <a:rPr kumimoji="1" lang="zh-CN" altLang="en-US" dirty="0"/>
              <a:t>颜色的数据用</a:t>
            </a:r>
            <a:r>
              <a:rPr kumimoji="1" lang="en-US" altLang="zh-CN" dirty="0"/>
              <a:t>RGB</a:t>
            </a:r>
            <a:r>
              <a:rPr kumimoji="1" lang="zh-CN" altLang="en-US" dirty="0"/>
              <a:t>三个值来表示，不是使用</a:t>
            </a:r>
            <a:r>
              <a:rPr kumimoji="1" lang="en-US" altLang="zh-CN" dirty="0"/>
              <a:t>one-hot</a:t>
            </a:r>
            <a:r>
              <a:rPr kumimoji="1" lang="zh-CN" altLang="en-US" dirty="0"/>
              <a:t>对各个颜色值进行表示。</a:t>
            </a:r>
          </a:p>
          <a:p>
            <a:endParaRPr kumimoji="1" lang="zh-CN" altLang="en-US" dirty="0"/>
          </a:p>
          <a:p>
            <a:r>
              <a:rPr kumimoji="1" lang="zh-CN" altLang="en-US" dirty="0"/>
              <a:t>局部表示解释能力很强，每个维度就表示一种颜色。</a:t>
            </a:r>
          </a:p>
          <a:p>
            <a:r>
              <a:rPr kumimoji="1" lang="zh-CN" altLang="en-US" dirty="0"/>
              <a:t>分布式表示的解释能力就很差，它就是一个三维的向量，就是给你一个向量，你其实不知道它具体是什么颜色。</a:t>
            </a:r>
          </a:p>
          <a:p>
            <a:endParaRPr kumimoji="1" lang="zh-CN" altLang="en-US" dirty="0"/>
          </a:p>
          <a:p>
            <a:r>
              <a:rPr kumimoji="1" lang="zh-CN" altLang="en-US" dirty="0"/>
              <a:t>从表示能力来说，分布式表示的表示能力就很强，因为你用三维向量就可以表示几乎所有的颜色。那如果是局部表示的话，有多少种颜色就需要有多少维向量。比如说我们常用的颜色有</a:t>
            </a:r>
            <a:r>
              <a:rPr kumimoji="1" lang="en-US" altLang="zh-CN" dirty="0"/>
              <a:t>1000</a:t>
            </a:r>
            <a:r>
              <a:rPr kumimoji="1" lang="zh-CN" altLang="en-US" dirty="0"/>
              <a:t>多种，那就需要</a:t>
            </a:r>
            <a:r>
              <a:rPr kumimoji="1" lang="en-US" altLang="zh-CN" dirty="0"/>
              <a:t>1000</a:t>
            </a:r>
            <a:r>
              <a:rPr kumimoji="1" lang="zh-CN" altLang="en-US" dirty="0"/>
              <a:t>多维的向量。</a:t>
            </a:r>
          </a:p>
          <a:p>
            <a:endParaRPr kumimoji="1" lang="zh-CN" altLang="en-US" dirty="0"/>
          </a:p>
          <a:p>
            <a:r>
              <a:rPr kumimoji="1" lang="zh-CN" altLang="en-US" dirty="0"/>
              <a:t>分布式表示还有一个优点是，给你任意两个颜色的表示，你可以去计算他们的相似度的，而局部表示就无法计算相似度，因为，比如我们计算内积的话，任意两个颜色的相似度都为</a:t>
            </a:r>
            <a:r>
              <a:rPr kumimoji="1" lang="en-US" altLang="zh-CN" dirty="0"/>
              <a:t>0. </a:t>
            </a:r>
            <a:r>
              <a:rPr kumimoji="1" lang="zh-CN" altLang="en-US" dirty="0"/>
              <a:t>如果我想知道哪些颜色是相近的就需要人工构建一些规则</a:t>
            </a:r>
            <a:r>
              <a:rPr kumimoji="1" lang="en-US" altLang="zh-CN" dirty="0"/>
              <a:t>/</a:t>
            </a:r>
            <a:r>
              <a:rPr kumimoji="1" lang="zh-CN" altLang="en-US" dirty="0"/>
              <a:t>知识库才可以。</a:t>
            </a:r>
          </a:p>
          <a:p>
            <a:endParaRPr kumimoji="1" lang="zh-CN" altLang="en-US" dirty="0"/>
          </a:p>
          <a:p>
            <a:r>
              <a:rPr kumimoji="1" lang="zh-CN" altLang="en-US" dirty="0"/>
              <a:t>从表示学习来说，如果采用分布式表示更为理想。</a:t>
            </a:r>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33</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我们将的这两种表示方法，比如局部表示，它通常需要配合知识库</a:t>
            </a:r>
            <a:r>
              <a:rPr kumimoji="1" lang="en-US" altLang="zh-CN" dirty="0"/>
              <a:t>/</a:t>
            </a:r>
            <a:r>
              <a:rPr kumimoji="1" lang="zh-CN" altLang="en-US" dirty="0"/>
              <a:t>规则来使用。另外一种是分布式表示，这两种是可以相互转换的。</a:t>
            </a:r>
          </a:p>
          <a:p>
            <a:r>
              <a:rPr kumimoji="1" lang="zh-CN" altLang="en-US" dirty="0"/>
              <a:t>通常我们可以把局部表示映射为分布式表示：</a:t>
            </a:r>
          </a:p>
          <a:p>
            <a:r>
              <a:rPr kumimoji="1" lang="zh-CN" altLang="en-US" dirty="0"/>
              <a:t>比如，局部表示有三个语义，</a:t>
            </a:r>
            <a:r>
              <a:rPr kumimoji="1" lang="en-US" altLang="zh-CN" dirty="0"/>
              <a:t>w1, w2, w3, </a:t>
            </a:r>
            <a:r>
              <a:rPr kumimoji="1" lang="zh-CN" altLang="en-US" dirty="0"/>
              <a:t>他们都是</a:t>
            </a:r>
            <a:r>
              <a:rPr kumimoji="1" lang="en-US" altLang="zh-CN" dirty="0"/>
              <a:t>one-hot</a:t>
            </a:r>
            <a:r>
              <a:rPr kumimoji="1" lang="zh-CN" altLang="en-US" dirty="0"/>
              <a:t>向量的表示，我们可以把它映射到更低维的空间，比如二维空间，这里面的每个点代表一个语义，那么这些嵌入空间里的点它就不在坐标轴上了，而是一个稠密的向量。因为它是嵌入的关系，所以我们也把这种表示，如果它是跟符号对应的话，叫做嵌入（</a:t>
            </a:r>
            <a:r>
              <a:rPr kumimoji="1" lang="en-US" altLang="zh-CN" dirty="0"/>
              <a:t>Embedding</a:t>
            </a:r>
            <a:r>
              <a:rPr kumimoji="1" lang="zh-CN" altLang="en-US" dirty="0"/>
              <a:t>）</a:t>
            </a:r>
            <a:r>
              <a:rPr kumimoji="1" lang="en-US" altLang="zh-CN" dirty="0"/>
              <a:t>.</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34</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一个著名的例子：</a:t>
            </a:r>
          </a:p>
          <a:p>
            <a:r>
              <a:rPr lang="en-US" altLang="zh-CN"/>
              <a:t>NLP</a:t>
            </a:r>
            <a:r>
              <a:rPr lang="zh-CN" altLang="en-US"/>
              <a:t>，经常使用的词嵌入。</a:t>
            </a:r>
          </a:p>
          <a:p>
            <a:endParaRPr lang="zh-CN" altLang="en-US"/>
          </a:p>
          <a:p>
            <a:r>
              <a:rPr lang="zh-CN" altLang="en-US"/>
              <a:t>首先，如果我们要表达一个词的语义的话，我们就把它投到语义空间中。</a:t>
            </a:r>
          </a:p>
          <a:p>
            <a:r>
              <a:rPr lang="zh-CN" altLang="en-US"/>
              <a:t>在语义空间中，相似的词，他们会离的非常近，比如在这个空间中某个区域表示的都是地名。</a:t>
            </a:r>
          </a:p>
          <a:p>
            <a:r>
              <a:rPr lang="zh-CN" altLang="en-US"/>
              <a:t>这样的话，任意给两个语义，我们就可以清楚的知道他们之间的关系，比较方便后面的计算。</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有了表示之后呢，我们就希望这些表示能够被自动的学到。</a:t>
            </a:r>
            <a:endParaRPr lang="zh-CN" altLang="en-US" dirty="0"/>
          </a:p>
          <a:p>
            <a:r>
              <a:rPr lang="zh-CN" altLang="en-US"/>
              <a:t>这就需要对原来的机器学习模型进行一定的改造。前面我们看到机器学习之前有很多人工处理特征的部分，现在我们就希望这些部分能够由计算机进行自动的归纳总结。</a:t>
            </a:r>
          </a:p>
          <a:p>
            <a:r>
              <a:rPr lang="zh-CN" altLang="en-US"/>
              <a:t>比如，。。。</a:t>
            </a:r>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表示学习：自动去学到好的表示，也就是特征。</a:t>
            </a:r>
          </a:p>
          <a:p>
            <a:r>
              <a:rPr lang="zh-CN" altLang="en-US"/>
              <a:t>如果大家对机器学习整个领域比较了解的话，就会发现在机器学习中的一个自领域也在研究如何进行更好的特征抽取。比如说，</a:t>
            </a:r>
            <a:r>
              <a:rPr lang="en-US" altLang="zh-CN"/>
              <a:t>PCA</a:t>
            </a:r>
            <a:r>
              <a:rPr lang="zh-CN" altLang="en-US"/>
              <a:t>，</a:t>
            </a:r>
            <a:r>
              <a:rPr lang="en-US" altLang="zh-CN"/>
              <a:t>LDA</a:t>
            </a:r>
            <a:r>
              <a:rPr lang="zh-CN" altLang="en-US"/>
              <a:t>（带标签的）。</a:t>
            </a:r>
          </a:p>
          <a:p>
            <a:endParaRPr lang="zh-CN" altLang="en-US"/>
          </a:p>
          <a:p>
            <a:r>
              <a:rPr lang="zh-CN" altLang="en-US"/>
              <a:t>这些方法的目标也是为了学习到更好的特征表示，那么它跟我们这里的表示学习的区别在哪里呢？</a:t>
            </a:r>
          </a:p>
          <a:p>
            <a:r>
              <a:rPr lang="zh-CN" altLang="en-US"/>
              <a:t>我们上面讲到特征提取算法基本上是自己设一个好的特征的标准，比如，</a:t>
            </a:r>
            <a:r>
              <a:rPr lang="en-US" altLang="zh-CN"/>
              <a:t>PCA</a:t>
            </a:r>
            <a:r>
              <a:rPr lang="zh-CN" altLang="en-US"/>
              <a:t>，我要使得它投影后的方差最大，</a:t>
            </a:r>
            <a:r>
              <a:rPr lang="en-US" altLang="zh-CN"/>
              <a:t>LDA</a:t>
            </a:r>
            <a:r>
              <a:rPr lang="zh-CN" altLang="en-US"/>
              <a:t>，期望投影后同类的尽可能近，不同类的尽可能远，它都要设立一个事先的目标。而这些目标对分类任务影响是好是坏是不一定的。</a:t>
            </a:r>
          </a:p>
          <a:p>
            <a:r>
              <a:rPr lang="zh-CN" altLang="en-US"/>
              <a:t>所以它本质上来说还是特征工程的问题，需要人不断的尝试，</a:t>
            </a:r>
            <a:r>
              <a:rPr lang="en-US" altLang="zh-CN"/>
              <a:t> </a:t>
            </a:r>
            <a:r>
              <a:rPr lang="zh-CN" altLang="en-US"/>
              <a:t>所以它的特点是。。。跟后面的分类器不是太相关的，它是阶段性的，就是说我学到的特征并不一定保证分类器的结果是好的。</a:t>
            </a:r>
          </a:p>
          <a:p>
            <a:endParaRPr lang="zh-CN" altLang="en-US"/>
          </a:p>
          <a:p>
            <a:r>
              <a:rPr lang="zh-CN" altLang="en-US"/>
              <a:t>表示学习相当于是把数据从输入到输出串联到一起了，就是我希望学到的表示是对后面的分类是直接有帮助的，并且希望它可以蕴含着高层的语义特征。表示学习的难点也是非常明确的，就是它对于这个表示来讲它没有明确的目标，它所有的信息都要间接来自于后面分类器的效果。</a:t>
            </a:r>
          </a:p>
          <a:p>
            <a:r>
              <a:rPr lang="zh-CN" altLang="en-US"/>
              <a:t>所以，它要跟整个模型的预测结果一起来进行学习，就是所谓的端到端学习。</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我们前面提到，一个好的表示它应该是蕴含高层的语义信息的，而从底层的特征到高层语义特征的映射是很难一步完成的，所以它需要有一个逐层抽象的过程，这样的话就需要我们的表示模型具备一定的深度。这个深度也是有好处的，一方面它可以进行一个特征的重用，比如说底层的特征可以被高层的特征重复利用。另外呢，我们的抽象表示本身也是需要多步的抽取来得到的。</a:t>
            </a:r>
          </a:p>
        </p:txBody>
      </p:sp>
      <p:sp>
        <p:nvSpPr>
          <p:cNvPr id="4" name="Slide Number Placeholder 3"/>
          <p:cNvSpPr>
            <a:spLocks noGrp="1"/>
          </p:cNvSpPr>
          <p:nvPr>
            <p:ph type="sldNum" sz="quarter" idx="10"/>
          </p:nvPr>
        </p:nvSpPr>
        <p:spPr/>
        <p:txBody>
          <a:bodyPr/>
          <a:lstStyle/>
          <a:p>
            <a:pPr>
              <a:defRPr/>
            </a:pPr>
            <a:fld id="{B4C119E0-CEE4-4FF8-83B2-DC856A2C17CC}" type="slidenum">
              <a:rPr lang="en-US" altLang="zh-CN" smtClean="0"/>
              <a:t>39</a:t>
            </a:fld>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normAutofit lnSpcReduction="10000"/>
          </a:bodyPr>
          <a:lstStyle/>
          <a:p>
            <a:r>
              <a:rPr lang="zh-CN" altLang="en-US"/>
              <a:t>什么是</a:t>
            </a:r>
            <a:r>
              <a:rPr lang="en-US" altLang="zh-CN"/>
              <a:t>DL</a:t>
            </a:r>
            <a:r>
              <a:rPr lang="zh-CN" altLang="en-US"/>
              <a:t>？</a:t>
            </a:r>
          </a:p>
          <a:p>
            <a:endParaRPr lang="zh-CN" altLang="en-US"/>
          </a:p>
          <a:p>
            <a:r>
              <a:rPr lang="zh-CN" altLang="en-US"/>
              <a:t>端到端</a:t>
            </a:r>
          </a:p>
          <a:p>
            <a:endParaRPr lang="zh-CN" altLang="en-US"/>
          </a:p>
          <a:p>
            <a:r>
              <a:rPr lang="zh-CN" altLang="en-US"/>
              <a:t>计算机自动学。</a:t>
            </a:r>
          </a:p>
          <a:p>
            <a:endParaRPr lang="zh-CN" altLang="en-US"/>
          </a:p>
          <a:p>
            <a:r>
              <a:rPr lang="en-US" altLang="zh-CN"/>
              <a:t>f1, f2, f3, f4, </a:t>
            </a:r>
            <a:r>
              <a:rPr lang="zh-CN" altLang="en-US"/>
              <a:t>到底哪个模块对最终的输出结果影响最大，影响有多少，这就是我们所谓的贡献度分配的问题。</a:t>
            </a:r>
          </a:p>
          <a:p>
            <a:endParaRPr lang="zh-CN" altLang="en-US"/>
          </a:p>
          <a:p>
            <a:r>
              <a:rPr lang="zh-CN" altLang="en-US"/>
              <a:t>这是一个很难解决的问题，比如我们下围棋，我们每下一步，其实是很难知道当前步下的是好是坏的，只有下完了回来推，才知道哪一步下的好或坏。这个是来自于经验，这就是要我们大量的下，下很多的棋，这样我们在下每一步的时候才能大概的估算这一步会导致赢棋的概率有多少，输棋的概率有多少，来判断当前这一步的贡献有多少。</a:t>
            </a:r>
          </a:p>
          <a:p>
            <a:r>
              <a:rPr lang="zh-CN" altLang="en-US"/>
              <a:t>当然我们可以通过强化学习来解决贡献度分配的问题，但在一般的机器学习系统中，我们无法采用像</a:t>
            </a:r>
            <a:r>
              <a:rPr lang="en-US" altLang="zh-CN"/>
              <a:t>RL</a:t>
            </a:r>
            <a:r>
              <a:rPr lang="zh-CN" altLang="en-US"/>
              <a:t>这种，所以我们要找到更好的解决强化学习问题的方法。</a:t>
            </a:r>
            <a:r>
              <a:rPr lang="en-US" altLang="zh-CN"/>
              <a:t> </a:t>
            </a:r>
            <a:endParaRPr lang="zh-CN" altLang="en-US"/>
          </a:p>
          <a:p>
            <a:endParaRPr lang="zh-CN" altLang="en-US"/>
          </a:p>
          <a:p>
            <a:r>
              <a:rPr lang="zh-CN" altLang="en-US"/>
              <a:t>而解决这个问题的一个很好的模型就是神经网络。就是我们下面要讲的内容。</a:t>
            </a:r>
          </a:p>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我们来看一个例子，就是表示学习和深度学习来共同决策来完成一个图像分类的任务。</a:t>
            </a:r>
          </a:p>
          <a:p>
            <a:endParaRPr lang="zh-CN" altLang="en-US"/>
          </a:p>
          <a:p>
            <a:r>
              <a:rPr lang="en-US" altLang="zh-CN"/>
              <a:t>end-to-end</a:t>
            </a:r>
          </a:p>
          <a:p>
            <a:endParaRPr lang="en-US" altLang="zh-CN"/>
          </a:p>
          <a:p>
            <a:r>
              <a:rPr lang="zh-CN" altLang="en-US"/>
              <a:t>当然，随着深度学习的发展，很多步骤我们也会干预，就是说它虽然不是端到端了，但它依法也是深度学习模型。</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接下来我们用数学的描述来形式的看一下什么是深度学习。</a:t>
            </a:r>
          </a:p>
          <a:p>
            <a:endParaRPr lang="zh-CN" altLang="en-US" dirty="0"/>
          </a:p>
          <a:p>
            <a:r>
              <a:rPr lang="zh-CN" altLang="en-US" dirty="0"/>
              <a:t>非线性：为什么是非线性呢？因为如果是线性的，嵌入再多它依然是线性的，它的能力并没有提升，所以它基本上是一个非线性模型。</a:t>
            </a:r>
          </a:p>
          <a:p>
            <a:endParaRPr lang="zh-CN" altLang="en-US" dirty="0"/>
          </a:p>
          <a:p>
            <a:r>
              <a:rPr lang="zh-CN" altLang="en-US" dirty="0"/>
              <a:t>当每一层是连续的话，。。。</a:t>
            </a:r>
          </a:p>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42</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接下来，我们再来看一下什么是神经网络。我们知道我们的人脑神经网络虽然非常复杂，但是它的基本的构成单元非常简单，就是这个</a:t>
            </a:r>
            <a:r>
              <a:rPr lang="zh-CN" altLang="en-US" b="1" dirty="0"/>
              <a:t>生物神经元</a:t>
            </a:r>
            <a:r>
              <a:rPr lang="zh-CN" altLang="en-US" dirty="0"/>
              <a:t>。生神经元基本上它的主体就是这个细胞体，它可以通过很多的树突，很短的这种树突去接收其他神经元传过来的信息。然后当这些信息汇聚到一定程度，这个神经元就会产生</a:t>
            </a:r>
            <a:r>
              <a:rPr lang="zh-CN" altLang="en-US" b="1" dirty="0"/>
              <a:t>兴奋</a:t>
            </a:r>
            <a:r>
              <a:rPr lang="zh-CN" altLang="en-US" dirty="0"/>
              <a:t>。如果是没有到达这个阈值呢，他就抑制就是不不产生信号。当他处于兴奋的时候呢，他就通过这根很长的这个轴突呢，将信息传递给其他神经元。</a:t>
            </a: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44</a:t>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另外一个问题就是我们人脑的神经网络是怎么学习的，那其实这个也是一个很复杂的问题，到目前为止也没有一个非常清晰的或者非常。就是说被验证的说法，但是有一个理论还是被普遍接受的，就是这个赫布法则。</a:t>
            </a:r>
          </a:p>
          <a:p>
            <a:r>
              <a:rPr lang="zh-CN" altLang="en-US" dirty="0"/>
              <a:t>当他的意思就是说，当有两个神经元，如果他们经常的一起兴奋，一起抑制，那么他们之间的联系就会加强。反之，就会减弱。大概我们人脑的这种神经元之间的连接，大概就是这样去学习的。</a:t>
            </a:r>
          </a:p>
          <a:p>
            <a:endParaRPr lang="zh-CN" altLang="en-US" dirty="0"/>
          </a:p>
          <a:p>
            <a:r>
              <a:rPr lang="zh-CN" altLang="en-US" dirty="0"/>
              <a:t>还有一些关于人脑神经网络的一些知识，比如说我们的知识就存就是存储在这个神经元之间的连接上。然后，我们的知识其实可以分成，就是在人脑中记忆了。它其实可以分为两种，一个是长期记忆，短期记忆，然后短期记忆可以在某个区域，比如说这个海马区可以去凝固成一个长期记忆等。总之，人脑的工作机理呢，其实是非常复杂的。到目前，我们还没有搞得特别清楚。但是不妨碍呢，就是我们可以模拟人脑去构建一个人工的神经网络。当然，他的学习呢，和人脑的就很不一样，就带到整个机器学习框架中去学习。但即使这样呢，目前的神经网络呢，依然也可以取得非常大的成功。</a:t>
            </a:r>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45</a:t>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首先最基本的就是我们怎么样去构造一个人工神经元。人工神经元的构造其实是非常简单，比如说，我们可以做一个非常简单的数学模型。就比如说，我们前面这个X表示神经元接收的信号，然后呢，经过一个加权组合，比如说这些W就是权重用来模拟，比如说我们不同神经元之间的连接强度，然后加权汇总之后呢，我们过一个激活函数，我们简单就是一个阈值函数，当然也可以像上面的这种S型函数。就是如果他的信息呢，接受的信息汇总起来越小，那么它就值越低，就是不兴奋，如果他们汇总的信息量越大会兴奋。这就是一个人工神经元。</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有了神人工神经元之后呢，我们就可以去组成网络了。那么，组成网络之后，一个网络我们需要考虑哪些因素呢？首先一个就是我们刚才讲的人工神经元的激活规则，就是它到底是怎么激活的，这个是我们需要考虑的。而另外一个就是网络的拓扑结构，就是他们之间的是怎么样联系的。然后另外一个就是学习算法，那当然目前就是采用的主要是带入到机器学习，比如采用梯度下降，在神经网络里面就特指错误的反向传播，不同的神经网络区别主要在这三个方面的区别。</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那网络的</a:t>
            </a:r>
            <a:r>
              <a:rPr lang="zh-CN" altLang="en-US" u="sng"/>
              <a:t>形态</a:t>
            </a:r>
            <a:r>
              <a:rPr lang="zh-CN" altLang="en-US"/>
              <a:t>方面呢，我们到目前为止有非常多种的神经网络，归类的话就可以分为这三种：</a:t>
            </a:r>
          </a:p>
          <a:p>
            <a:r>
              <a:rPr lang="zh-CN" altLang="en-US" u="sng"/>
              <a:t>前馈网络</a:t>
            </a:r>
            <a:r>
              <a:rPr lang="zh-CN" altLang="en-US"/>
              <a:t>：它里面的信息是由前往后</a:t>
            </a:r>
            <a:r>
              <a:rPr lang="zh-CN" altLang="en-US" b="1" u="sng"/>
              <a:t>单向传递</a:t>
            </a:r>
            <a:r>
              <a:rPr lang="zh-CN" altLang="en-US"/>
              <a:t>，没有反向的信息传递然。</a:t>
            </a:r>
          </a:p>
          <a:p>
            <a:r>
              <a:rPr lang="zh-CN" altLang="en-US" u="sng"/>
              <a:t>记忆网络</a:t>
            </a:r>
            <a:r>
              <a:rPr lang="zh-CN" altLang="en-US"/>
              <a:t>：有反馈边的，比如说像循环网络、记忆网络之类的，因为有反馈那么也就是说神经元它在不同时刻就有不同的状态，所谓的状态就是我们的记忆，所以这一类网络我们把它称为叫记忆网络。</a:t>
            </a:r>
          </a:p>
          <a:p>
            <a:r>
              <a:rPr lang="zh-CN" altLang="en-US" u="sng"/>
              <a:t>图网络</a:t>
            </a:r>
            <a:r>
              <a:rPr lang="zh-CN" altLang="en-US"/>
              <a:t>：所谓图网络就是它的网络结构是由一个额外的图来去确定。所以它的连接是更加灵活就更加具有一般性。</a:t>
            </a:r>
          </a:p>
          <a:p>
            <a:endParaRPr lang="zh-CN" altLang="en-US"/>
          </a:p>
          <a:p>
            <a:r>
              <a:rPr lang="zh-CN" altLang="en-US"/>
              <a:t>这就是我们后面要讲的三种主要网络。</a:t>
            </a:r>
          </a:p>
          <a:p>
            <a:r>
              <a:rPr lang="zh-CN" altLang="en-US"/>
              <a:t>事实上，具体要解决一个问题时，所构造的神经网络里面，基本上都是这些网络的复合形态。比如说前馈网络，你也可以叠加上一个记忆网络也可以叠加上一个图网络，就是是一种复合结构。</a:t>
            </a:r>
          </a:p>
          <a:p>
            <a:r>
              <a:rPr lang="zh-CN" altLang="en-US"/>
              <a:t>但是我们讲的时候呢，基本上还是要分开讲啊，这样的话，我们可以讲的更清楚一点。</a:t>
            </a:r>
          </a:p>
          <a:p>
            <a:endParaRPr lang="zh-CN" altLang="en-US"/>
          </a:p>
          <a:p>
            <a:r>
              <a:rPr lang="zh-CN" altLang="en-US"/>
              <a:t>另外，就是这里的网络，相比我们人脑的生物神神经网络还是非常简单的，我们人脑的网络其实非常复杂，它就是里面有非常多的这种循环依赖结构，目前我们的神经网络还不具备这样的能力。</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那我们来看一下，就是神经网络和我们之前讲的深度学习是怎么对应的。比如说，我们之前讲的深度学习是可以写成这种嵌套的函数。</a:t>
            </a:r>
          </a:p>
          <a:p>
            <a:endParaRPr lang="zh-CN" altLang="en-US"/>
          </a:p>
          <a:p>
            <a:r>
              <a:rPr lang="zh-CN" altLang="en-US"/>
              <a:t>。。。</a:t>
            </a:r>
          </a:p>
          <a:p>
            <a:endParaRPr lang="zh-CN" altLang="en-US"/>
          </a:p>
          <a:p>
            <a:r>
              <a:rPr lang="zh-CN" altLang="en-US"/>
              <a:t>其实这个前馈神经网络的每一层，我们都可以看成是一个特征的抽取器，然后整个的神经网络的学习我们就可以看成是一个端到端的学习。前面的我们可以认为是表示学习，后面的就是这个分类器。我们也可以不明显区分，把它整个看成是一个深度学习。</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文本占位符 2"/>
              <p:cNvSpPr>
                <a:spLocks noGrp="1"/>
              </p:cNvSpPr>
              <p:nvPr>
                <p:ph type="body" idx="3"/>
              </p:nvPr>
            </p:nvSpPr>
            <p:spPr/>
            <p:txBody>
              <a:bodyPr>
                <a:normAutofit fontScale="92500"/>
              </a:bodyPr>
              <a:lstStyle/>
              <a:p>
                <a:r>
                  <a:rPr lang="zh-CN" altLang="en-US" dirty="0"/>
                  <a:t>核心秘诀就在于它是连续可导的！</a:t>
                </a:r>
                <a:br>
                  <a:rPr lang="zh-CN" altLang="en-US" dirty="0"/>
                </a:br>
                <a:endParaRPr lang="zh-CN" altLang="en-US" dirty="0"/>
              </a:p>
              <a:p>
                <a:r>
                  <a:rPr lang="zh-CN" altLang="en-US" dirty="0"/>
                  <a:t>在微积分里面的一个定义就是偏导数。偏导数什么意思呢？就是说，我们比如说一个函数y=f(x)，那我们要看，比如说这个X对Y的影响有多大。那么我们怎么看呢？就是我们比如说在某一点，我们就对X做一个扰动，然后看Y的变动有多少。那么这样的话，我们用</a:t>
                </a:r>
                <a14:m>
                  <m:oMath xmlns:m="http://schemas.openxmlformats.org/officeDocument/2006/math">
                    <m:r>
                      <a:rPr lang="en-US" altLang="zh-CN" i="1" kern="0">
                        <a:solidFill>
                          <a:sysClr val="windowText" lastClr="000000"/>
                        </a:solidFill>
                        <a:latin typeface="Cambria Math" panose="02040503050406030204" pitchFamily="18" charset="0"/>
                        <a:ea typeface="Cambria Math" panose="02040503050406030204" pitchFamily="18" charset="0"/>
                      </a:rPr>
                      <m:t>∆</m:t>
                    </m:r>
                  </m:oMath>
                </a14:m>
                <a:r>
                  <a:rPr lang="zh-CN" altLang="en-US" dirty="0"/>
                  <a:t>Y除</a:t>
                </a:r>
                <a14:m>
                  <m:oMath xmlns:m="http://schemas.openxmlformats.org/officeDocument/2006/math">
                    <m:r>
                      <a:rPr lang="en-US" altLang="zh-CN" i="1" kern="0">
                        <a:solidFill>
                          <a:sysClr val="windowText" lastClr="000000"/>
                        </a:solidFill>
                        <a:latin typeface="Cambria Math" panose="02040503050406030204" pitchFamily="18" charset="0"/>
                        <a:ea typeface="Cambria Math" panose="02040503050406030204" pitchFamily="18" charset="0"/>
                      </a:rPr>
                      <m:t>∆</m:t>
                    </m:r>
                  </m:oMath>
                </a14:m>
                <a:r>
                  <a:rPr lang="zh-CN" altLang="en-US" dirty="0"/>
                  <a:t>X就可以得到一个斜率。这个斜率呢，就表示了X对Y造成的影响。</a:t>
                </a:r>
              </a:p>
              <a:p>
                <a:r>
                  <a:rPr lang="zh-CN" altLang="en-US" dirty="0"/>
                  <a:t>如果在一个点，它的斜率越大，表示在这个点就是一个微小的扰动，就能造成Y的一个比较大的变化。</a:t>
                </a:r>
              </a:p>
              <a:p>
                <a:endParaRPr lang="zh-CN" altLang="en-US" dirty="0"/>
              </a:p>
              <a:p>
                <a:r>
                  <a:rPr lang="zh-CN" altLang="en-US" dirty="0"/>
                  <a:t>。。。</a:t>
                </a:r>
              </a:p>
              <a:p>
                <a:endParaRPr lang="zh-CN" altLang="en-US" dirty="0"/>
              </a:p>
              <a:p>
                <a:r>
                  <a:rPr lang="zh-CN" altLang="en-US" dirty="0"/>
                  <a:t>如果这个参数比较重要的话，那么我对这个参数做一个很小的扰动，它的Y应该变化很大。那么也意味着呢，它的贡献度就会越大。那所以通过这种方法呢，其实我们就可以知道，比如说在每一个模块里，这个这个参数对最终结果它的变化是多少，这样就能确定它的贡献度的分配问题。当</a:t>
                </a:r>
                <a:r>
                  <a:rPr lang="zh-CN" altLang="en-US" u="sng" dirty="0"/>
                  <a:t>一个结果。比如说不好的时候，我们就应该知道我要去调哪些参数</a:t>
                </a:r>
                <a:r>
                  <a:rPr lang="zh-CN" altLang="en-US" dirty="0"/>
                  <a:t>。所以呢，神经网络就比较完美的解决了贡献度分配问题。</a:t>
                </a:r>
              </a:p>
              <a:p>
                <a:endParaRPr lang="zh-CN" altLang="en-US" dirty="0"/>
              </a:p>
              <a:p>
                <a:r>
                  <a:rPr lang="zh-CN" altLang="en-US" dirty="0"/>
                  <a:t>所以呢，神经网络，天然不是深度学习，因为它的诞生也不是为了深度学习，他是为了产生就是为了类脑智能的这种目标去的。但是呢，深度学习天然是神经网络，因为神经网络给深度学习提供了一个很好的，解决贡献度分配问题的这样一种方法.</a:t>
                </a:r>
              </a:p>
            </p:txBody>
          </p:sp>
        </mc:Choice>
        <mc:Fallback xmlns="">
          <p:sp>
            <p:nvSpPr>
              <p:cNvPr id="3" name="文本占位符 2"/>
              <p:cNvSpPr>
                <a:spLocks noGrp="1"/>
              </p:cNvSpPr>
              <p:nvPr>
                <p:ph type="body" idx="3"/>
              </p:nvPr>
            </p:nvSpPr>
            <p:spPr/>
            <p:txBody>
              <a:bodyPr>
                <a:normAutofit fontScale="92500"/>
              </a:bodyPr>
              <a:lstStyle/>
              <a:p>
                <a:r>
                  <a:rPr lang="zh-CN" altLang="en-US" dirty="0"/>
                  <a:t>核心秘诀就在于它是连续可导的！</a:t>
                </a:r>
                <a:br>
                  <a:rPr lang="zh-CN" altLang="en-US" dirty="0"/>
                </a:br>
                <a:endParaRPr lang="zh-CN" altLang="en-US" dirty="0"/>
              </a:p>
              <a:p>
                <a:r>
                  <a:rPr lang="zh-CN" altLang="en-US" dirty="0"/>
                  <a:t>在微积分里面的一个定义就是偏导数。偏导数什么意思呢？就是说，我们比如说一个函数y=f(x)，那我们要看，比如说这个X对Y的影响有多大。那么我们怎么看呢？就是我们比如说在某一点，我们就对X做一个扰动，然后看Y的变动有多少。那么这样的话，我们用</a:t>
                </a:r>
                <a:r>
                  <a:rPr lang="en-US" altLang="zh-CN" i="0" kern="0">
                    <a:solidFill>
                      <a:sysClr val="windowText" lastClr="000000"/>
                    </a:solidFill>
                    <a:latin typeface="Cambria Math" panose="02040503050406030204" pitchFamily="18" charset="0"/>
                    <a:ea typeface="Cambria Math" panose="02040503050406030204" pitchFamily="18" charset="0"/>
                  </a:rPr>
                  <a:t>∆</a:t>
                </a:r>
                <a:r>
                  <a:rPr lang="zh-CN" altLang="en-US" dirty="0"/>
                  <a:t>Y除</a:t>
                </a:r>
                <a:r>
                  <a:rPr lang="en-US" altLang="zh-CN" i="0" kern="0">
                    <a:solidFill>
                      <a:sysClr val="windowText" lastClr="000000"/>
                    </a:solidFill>
                    <a:latin typeface="Cambria Math" panose="02040503050406030204" pitchFamily="18" charset="0"/>
                    <a:ea typeface="Cambria Math" panose="02040503050406030204" pitchFamily="18" charset="0"/>
                  </a:rPr>
                  <a:t>∆</a:t>
                </a:r>
                <a:r>
                  <a:rPr lang="zh-CN" altLang="en-US" dirty="0"/>
                  <a:t>X就可以得到一个斜率。这个斜率呢，就表示了X对Y造成的影响。</a:t>
                </a:r>
              </a:p>
              <a:p>
                <a:r>
                  <a:rPr lang="zh-CN" altLang="en-US" dirty="0"/>
                  <a:t>如果在一个点，它的斜率越大，表示在这个点就是一个微小的扰动，就能造成Y的一个比较大的变化。</a:t>
                </a:r>
              </a:p>
              <a:p>
                <a:endParaRPr lang="zh-CN" altLang="en-US" dirty="0"/>
              </a:p>
              <a:p>
                <a:r>
                  <a:rPr lang="zh-CN" altLang="en-US" dirty="0"/>
                  <a:t>。。。</a:t>
                </a:r>
              </a:p>
              <a:p>
                <a:endParaRPr lang="zh-CN" altLang="en-US" dirty="0"/>
              </a:p>
              <a:p>
                <a:r>
                  <a:rPr lang="zh-CN" altLang="en-US" dirty="0"/>
                  <a:t>如果这个参数比较重要的话，那么我对这个参数做一个很小的扰动，它的Y应该变化很大。那么也意味着呢，它的贡献度就会越大。那所以通过这种方法呢，其实我们就可以知道，比如说在每一个模块里，这个这个参数对最终结果它的变化是多少，这样就能确定它的贡献度的分配问题。当</a:t>
                </a:r>
                <a:r>
                  <a:rPr lang="zh-CN" altLang="en-US" u="sng" dirty="0"/>
                  <a:t>一个结果。比如说不好的时候，我们就应该知道我要去调哪些参数</a:t>
                </a:r>
                <a:r>
                  <a:rPr lang="zh-CN" altLang="en-US" dirty="0"/>
                  <a:t>。所以呢，神经网络就比较完美的解决了贡献度分配问题。</a:t>
                </a:r>
              </a:p>
              <a:p>
                <a:endParaRPr lang="zh-CN" altLang="en-US" dirty="0"/>
              </a:p>
              <a:p>
                <a:r>
                  <a:rPr lang="zh-CN" altLang="en-US" dirty="0"/>
                  <a:t>所以呢，神经网络，天然不是深度学习，因为它的诞生也不是为了深度学习，他是为了产生就是为了类脑智能的这种目标去的。但是呢，深度学习天然是神经网络，因为神经网络给深度学习提供了一个很好的，解决贡献度分配问题的这样一种方法.</a:t>
                </a:r>
              </a:p>
            </p:txBody>
          </p:sp>
        </mc:Fallback>
      </mc:AlternateContent>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u="sng" dirty="0">
              <a:solidFill>
                <a:srgbClr val="FF0000"/>
              </a:solidFill>
              <a:sym typeface="+mn-ea"/>
            </a:endParaRPr>
          </a:p>
          <a:p>
            <a:endParaRPr lang="zh-CN" altLang="en-US" u="sng" dirty="0">
              <a:solidFill>
                <a:srgbClr val="FF0000"/>
              </a:solidFill>
              <a:sym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虽然在第一个阶段很多研究者对神经网络投入了很大的热情，并且提出了很多种神经网络模型，但是这些模型又一个缺点，就是神经网络的学习非常的低效！</a:t>
            </a:r>
          </a:p>
          <a:p>
            <a:r>
              <a:rPr lang="zh-CN" altLang="en-US" dirty="0">
                <a:sym typeface="+mn-ea"/>
              </a:rPr>
              <a:t>虽然</a:t>
            </a:r>
            <a:r>
              <a:rPr lang="en-US" altLang="zh-CN" dirty="0">
                <a:sym typeface="+mn-ea"/>
              </a:rPr>
              <a:t>Rosenblatt</a:t>
            </a:r>
            <a:r>
              <a:rPr lang="zh-CN" altLang="en-US" dirty="0">
                <a:sym typeface="+mn-ea"/>
              </a:rPr>
              <a:t>提出的</a:t>
            </a:r>
            <a:r>
              <a:rPr lang="zh-CN" altLang="en-US" dirty="0">
                <a:solidFill>
                  <a:srgbClr val="FF0000"/>
                </a:solidFill>
                <a:sym typeface="+mn-ea"/>
              </a:rPr>
              <a:t>感知器能够进行有效的学习，但是感知器毕竟是一个非常简单的模型，你可以认为它是一个只有一层的神经网络，所以它无法处理复杂的问题。</a:t>
            </a:r>
          </a:p>
          <a:p>
            <a:endParaRPr lang="zh-CN" altLang="en-US" dirty="0">
              <a:solidFill>
                <a:srgbClr val="FF0000"/>
              </a:solidFill>
              <a:sym typeface="+mn-ea"/>
            </a:endParaRPr>
          </a:p>
          <a:p>
            <a:r>
              <a:rPr lang="en-US" altLang="zh-CN" dirty="0">
                <a:solidFill>
                  <a:srgbClr val="FF0000"/>
                </a:solidFill>
                <a:sym typeface="+mn-ea"/>
              </a:rPr>
              <a:t>1</a:t>
            </a:r>
            <a:r>
              <a:rPr lang="zh-CN" altLang="en-US" dirty="0">
                <a:solidFill>
                  <a:srgbClr val="FF0000"/>
                </a:solidFill>
                <a:sym typeface="+mn-ea"/>
              </a:rPr>
              <a:t>）简单来讲感知器是一个线性分类器，它无法处理非线性的问题。</a:t>
            </a:r>
          </a:p>
          <a:p>
            <a:endParaRPr lang="zh-CN" altLang="en-US" dirty="0">
              <a:solidFill>
                <a:srgbClr val="FF0000"/>
              </a:solidFill>
              <a:sym typeface="+mn-ea"/>
            </a:endParaRPr>
          </a:p>
          <a:p>
            <a:r>
              <a:rPr lang="zh-CN" altLang="en-US" dirty="0">
                <a:solidFill>
                  <a:srgbClr val="FF0000"/>
                </a:solidFill>
                <a:sym typeface="+mn-ea"/>
              </a:rPr>
              <a:t>它的架构和现在的卷积神经网络类似，只不过它没有使用目前常用的反向传播算法。</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由此，神经网络变得可以学习了，所以又重新引起了大家的兴趣。</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由反向传播算法引起的神经网络的复兴并没有持续太长的时间，很快就被以</a:t>
            </a:r>
            <a:r>
              <a:rPr lang="en-US" altLang="zh-CN"/>
              <a:t>SVM</a:t>
            </a:r>
            <a:r>
              <a:rPr lang="zh-CN" altLang="en-US"/>
              <a:t>为代表的统计机器学习所替代。因为这种方法更容易学习并且效率更高，而神经网络呢，虽然它可以用反向传播算法优化，因为它是非凸优化问题，它的优化依然非常困难，当时呢，又没有足够的算力来优化大型的网络，所以当时的网络都是一层两层的，所以它的效果也不好。没有统计模型好用。又陷入了低潮。</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神经网络研究陷入低潮之后呢，大部分的人都去研究统计机器学习方法，依然又少数人坚持做神经网络研究。其中一个代表就是</a:t>
            </a:r>
            <a:r>
              <a:rPr lang="en-US" altLang="zh-CN"/>
              <a:t>Geffrey Hiton.</a:t>
            </a:r>
          </a:p>
          <a:p>
            <a:r>
              <a:rPr lang="en-US" altLang="zh-CN"/>
              <a:t>2006</a:t>
            </a:r>
            <a:r>
              <a:rPr lang="zh-CN" altLang="en-US"/>
              <a:t>年的时候，</a:t>
            </a:r>
            <a:r>
              <a:rPr lang="en-US" altLang="zh-CN"/>
              <a:t>Hiton</a:t>
            </a:r>
            <a:r>
              <a:rPr lang="zh-CN" altLang="en-US"/>
              <a:t>他们发现了可以通过逐层训练的方法先去训练一个深层的深度信念网络，然后把它的权重赋予一个多层前馈神经网络，这样有了一个很好的初始化之后呢，我们就可以用反向传播算法来精调，这样就可以训练一个非常好的深层前馈神经网络，这种网络在图像分类和语音识别上取得了巨大的成功！</a:t>
            </a:r>
            <a:r>
              <a:rPr lang="en-US" altLang="zh-CN"/>
              <a:t>--</a:t>
            </a:r>
            <a:r>
              <a:rPr lang="zh-CN" altLang="en-US"/>
              <a:t>》</a:t>
            </a:r>
            <a:r>
              <a:rPr lang="en-US" altLang="zh-CN"/>
              <a:t>Hiton</a:t>
            </a:r>
            <a:r>
              <a:rPr lang="zh-CN" altLang="en-US"/>
              <a:t>把他们成为深度学习。</a:t>
            </a:r>
          </a:p>
          <a:p>
            <a:endParaRPr lang="zh-CN" altLang="en-US"/>
          </a:p>
          <a:p>
            <a:r>
              <a:rPr lang="zh-CN" altLang="en-US"/>
              <a:t>深度学习虽然在</a:t>
            </a:r>
            <a:r>
              <a:rPr lang="en-US" altLang="zh-CN"/>
              <a:t>2006</a:t>
            </a:r>
            <a:r>
              <a:rPr lang="zh-CN" altLang="en-US"/>
              <a:t>就可以提，但是并没有大规模的应用。</a:t>
            </a:r>
          </a:p>
          <a:p>
            <a:r>
              <a:rPr lang="zh-CN" altLang="en-US"/>
              <a:t>一直到</a:t>
            </a:r>
            <a:r>
              <a:rPr lang="en-US" altLang="zh-CN"/>
              <a:t>2003</a:t>
            </a:r>
            <a:r>
              <a:rPr lang="zh-CN" altLang="en-US"/>
              <a:t>年，</a:t>
            </a:r>
            <a:r>
              <a:rPr lang="en-US" altLang="zh-CN"/>
              <a:t>Hiton</a:t>
            </a:r>
            <a:r>
              <a:rPr lang="zh-CN" altLang="en-US"/>
              <a:t>的学生，叫</a:t>
            </a:r>
            <a:r>
              <a:rPr lang="en-US" altLang="zh-CN"/>
              <a:t>Alex, </a:t>
            </a:r>
            <a:r>
              <a:rPr lang="zh-CN" altLang="en-US"/>
              <a:t>提出了</a:t>
            </a:r>
            <a:r>
              <a:rPr lang="en-US" altLang="zh-CN"/>
              <a:t>AlexNet</a:t>
            </a:r>
            <a:r>
              <a:rPr lang="zh-CN" altLang="en-US"/>
              <a:t>，</a:t>
            </a:r>
            <a:r>
              <a:rPr lang="en-US" altLang="zh-CN"/>
              <a:t> </a:t>
            </a:r>
            <a:r>
              <a:rPr lang="zh-CN" altLang="en-US"/>
              <a:t>在图像分类上取得了巨大的成功。</a:t>
            </a:r>
            <a:r>
              <a:rPr lang="en-US" altLang="zh-CN">
                <a:sym typeface="+mn-ea"/>
              </a:rPr>
              <a:t>AlexNet</a:t>
            </a:r>
            <a:r>
              <a:rPr lang="zh-CN" altLang="en-US">
                <a:sym typeface="+mn-ea"/>
              </a:rPr>
              <a:t>是第一个现代意义上的深度卷积网络模型。他提出了很多训练方法，很多方法到现在还都在被广泛使用。</a:t>
            </a:r>
          </a:p>
          <a:p>
            <a:endParaRPr lang="zh-CN" altLang="en-US">
              <a:sym typeface="+mn-ea"/>
            </a:endParaRPr>
          </a:p>
          <a:p>
            <a:r>
              <a:rPr lang="zh-CN" altLang="en-US">
                <a:sym typeface="+mn-ea"/>
              </a:rPr>
              <a:t>由此之后，大家发现深度网络在很多任务上都能取得很好的效果，加上</a:t>
            </a:r>
            <a:r>
              <a:rPr lang="en-US" altLang="zh-CN">
                <a:sym typeface="+mn-ea"/>
              </a:rPr>
              <a:t>GPU</a:t>
            </a:r>
            <a:r>
              <a:rPr lang="zh-CN" altLang="en-US">
                <a:sym typeface="+mn-ea"/>
              </a:rPr>
              <a:t>算力带来的计算机计算能力的大幅提升，加上可供学习的数据规模也越来越大，我们现在就可以训练出超大规模的神经网络模型。</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发展历史</a:t>
            </a:r>
            <a:endParaRPr lang="en-US" altLang="zh-CN" dirty="0"/>
          </a:p>
          <a:p>
            <a:pPr lvl="0"/>
            <a:r>
              <a:rPr lang="en-US" altLang="zh-CN" dirty="0"/>
              <a:t>1958 </a:t>
            </a:r>
            <a:r>
              <a:rPr lang="zh-CN" altLang="en-US" dirty="0"/>
              <a:t>年 </a:t>
            </a:r>
            <a:r>
              <a:rPr lang="en-US" altLang="zh-CN" dirty="0"/>
              <a:t>Rosenblatt </a:t>
            </a:r>
            <a:r>
              <a:rPr lang="zh-CN" altLang="en-US" dirty="0"/>
              <a:t>感知器</a:t>
            </a:r>
          </a:p>
          <a:p>
            <a:pPr lvl="0"/>
            <a:r>
              <a:rPr lang="en-US" altLang="zh-CN" dirty="0"/>
              <a:t>1969 </a:t>
            </a:r>
            <a:r>
              <a:rPr lang="zh-CN" altLang="en-US" dirty="0"/>
              <a:t>年 </a:t>
            </a:r>
            <a:r>
              <a:rPr lang="en-US" altLang="zh-CN" dirty="0"/>
              <a:t>Minsky XOR</a:t>
            </a:r>
          </a:p>
          <a:p>
            <a:pPr lvl="0"/>
            <a:r>
              <a:rPr lang="en-US" altLang="zh-CN" dirty="0"/>
              <a:t>1986 </a:t>
            </a:r>
            <a:r>
              <a:rPr lang="zh-CN" altLang="en-US" dirty="0"/>
              <a:t>年 </a:t>
            </a:r>
            <a:r>
              <a:rPr lang="en-US" altLang="zh-CN" dirty="0"/>
              <a:t>Hinton</a:t>
            </a:r>
            <a:r>
              <a:rPr lang="zh-CN" altLang="en-US" dirty="0"/>
              <a:t>、</a:t>
            </a:r>
            <a:r>
              <a:rPr lang="en-US" altLang="zh-CN" dirty="0" err="1"/>
              <a:t>LeCun</a:t>
            </a:r>
            <a:r>
              <a:rPr lang="en-US" altLang="zh-CN" dirty="0"/>
              <a:t> </a:t>
            </a:r>
            <a:r>
              <a:rPr lang="zh-CN" altLang="en-US" dirty="0"/>
              <a:t>人工神经网络（</a:t>
            </a:r>
            <a:r>
              <a:rPr lang="en-US" altLang="zh-CN" dirty="0"/>
              <a:t>BP </a:t>
            </a:r>
            <a:r>
              <a:rPr lang="zh-CN" altLang="en-US" dirty="0"/>
              <a:t>算法）</a:t>
            </a:r>
          </a:p>
          <a:p>
            <a:pPr lvl="0"/>
            <a:r>
              <a:rPr lang="en-US" altLang="zh-CN" dirty="0"/>
              <a:t>1998 </a:t>
            </a:r>
            <a:r>
              <a:rPr lang="zh-CN" altLang="en-US" dirty="0"/>
              <a:t>年 </a:t>
            </a:r>
            <a:r>
              <a:rPr lang="en-US" altLang="zh-CN" dirty="0" err="1"/>
              <a:t>LeCun</a:t>
            </a:r>
            <a:r>
              <a:rPr lang="en-US" altLang="zh-CN" dirty="0"/>
              <a:t> </a:t>
            </a:r>
            <a:r>
              <a:rPr lang="zh-CN" altLang="en-US" dirty="0"/>
              <a:t>卷积神经网络</a:t>
            </a:r>
          </a:p>
          <a:p>
            <a:pPr lvl="0"/>
            <a:r>
              <a:rPr lang="en-US" altLang="zh-CN" dirty="0"/>
              <a:t>2006 </a:t>
            </a:r>
            <a:r>
              <a:rPr lang="zh-CN" altLang="en-US" dirty="0"/>
              <a:t>年 </a:t>
            </a:r>
            <a:r>
              <a:rPr lang="en-US" altLang="zh-CN" dirty="0"/>
              <a:t>Hinton </a:t>
            </a:r>
            <a:r>
              <a:rPr lang="zh-CN" altLang="en-US" dirty="0"/>
              <a:t>深度网络</a:t>
            </a:r>
          </a:p>
          <a:p>
            <a:pPr lvl="0"/>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t>57</a:t>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Stanford</a:t>
            </a:r>
            <a:r>
              <a:rPr lang="zh-CN" altLang="en-US" dirty="0"/>
              <a:t>大学</a:t>
            </a:r>
            <a:endParaRPr lang="en-US" altLang="zh-CN" dirty="0"/>
          </a:p>
          <a:p>
            <a:pPr lvl="1"/>
            <a:r>
              <a:rPr lang="zh-CN" altLang="en-US" dirty="0"/>
              <a:t> </a:t>
            </a:r>
            <a:r>
              <a:rPr lang="en-US" altLang="zh-CN" dirty="0"/>
              <a:t>Ng (Now Baidu) 03 </a:t>
            </a:r>
            <a:r>
              <a:rPr lang="zh-CN" altLang="en-US" dirty="0"/>
              <a:t>年 </a:t>
            </a:r>
            <a:r>
              <a:rPr lang="en-US" altLang="zh-CN" dirty="0"/>
              <a:t>UC Berkeley </a:t>
            </a:r>
            <a:r>
              <a:rPr lang="zh-CN" altLang="en-US" dirty="0"/>
              <a:t>大学 </a:t>
            </a:r>
            <a:r>
              <a:rPr lang="en-US" altLang="zh-CN" dirty="0"/>
              <a:t>M. Jordan </a:t>
            </a:r>
            <a:r>
              <a:rPr lang="zh-CN" altLang="en-US" dirty="0"/>
              <a:t>博士</a:t>
            </a: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t>58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hasCustomPrompt="1"/>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单击此处编辑母版标题样式</a:t>
            </a:r>
          </a:p>
        </p:txBody>
      </p:sp>
      <p:sp>
        <p:nvSpPr>
          <p:cNvPr id="8" name="Text Placeholder 12"/>
          <p:cNvSpPr>
            <a:spLocks noGrp="1"/>
          </p:cNvSpPr>
          <p:nvPr>
            <p:ph idx="1" hasCustomPrompt="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600" y="1066799"/>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8" name="Text Placeholder 12"/>
          <p:cNvSpPr>
            <a:spLocks noGrp="1"/>
          </p:cNvSpPr>
          <p:nvPr>
            <p:ph idx="10" hasCustomPrompt="1"/>
          </p:nvPr>
        </p:nvSpPr>
        <p:spPr bwMode="auto">
          <a:xfrm>
            <a:off x="6248400" y="1066800"/>
            <a:ext cx="5334000" cy="51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3" name="标题 2"/>
          <p:cNvSpPr>
            <a:spLocks noGrp="1"/>
          </p:cNvSpPr>
          <p:nvPr>
            <p:ph type="title"/>
          </p:nvPr>
        </p:nvSpPr>
        <p:spPr/>
        <p:txBody>
          <a:bodyPr/>
          <a:lstStyle/>
          <a:p>
            <a:r>
              <a:rPr lang="zh-CN" altLang="en-US"/>
              <a:t>单击此处编辑母版标题样式</a:t>
            </a:r>
            <a:endParaRPr lang="zh-CN" altLang="en-US" dirty="0"/>
          </a:p>
        </p:txBody>
      </p:sp>
      <p:cxnSp>
        <p:nvCxnSpPr>
          <p:cNvPr id="6" name="直接连接符 5"/>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p:cNvSpPr>
            <a:spLocks noGrp="1"/>
          </p:cNvSpPr>
          <p:nvPr>
            <p:ph idx="1" hasCustomPrompt="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3" name="标题 2"/>
          <p:cNvSpPr>
            <a:spLocks noGrp="1"/>
          </p:cNvSpPr>
          <p:nvPr>
            <p:ph type="title"/>
          </p:nvPr>
        </p:nvSpPr>
        <p:spPr/>
        <p:txBody>
          <a:bodyPr/>
          <a:lstStyle/>
          <a:p>
            <a:r>
              <a:rPr lang="zh-CN" altLang="en-US"/>
              <a:t>单击此处编辑母版标题样式</a:t>
            </a:r>
          </a:p>
        </p:txBody>
      </p:sp>
      <p:cxnSp>
        <p:nvCxnSpPr>
          <p:cNvPr id="4" name="直接连接符 3"/>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En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userDrawn="1"/>
        </p:nvSpPr>
        <p:spPr bwMode="auto">
          <a:xfrm>
            <a:off x="609600" y="898949"/>
            <a:ext cx="10972800" cy="0"/>
          </a:xfrm>
          <a:prstGeom prst="line">
            <a:avLst/>
          </a:prstGeom>
          <a:noFill/>
          <a:ln w="9525" algn="ctr">
            <a:solidFill>
              <a:schemeClr val="accent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p:cNvSpPr txBox="1"/>
          <p:nvPr/>
        </p:nvSpPr>
        <p:spPr>
          <a:xfrm>
            <a:off x="4114800" y="6492875"/>
            <a:ext cx="3962400" cy="365125"/>
          </a:xfrm>
          <a:prstGeom prst="rect">
            <a:avLst/>
          </a:prstGeom>
        </p:spPr>
        <p:txBody>
          <a:bodyPr vert="horz" wrap="square" lIns="0" tIns="0" rIns="0" bIns="0" numCol="1" anchor="ctr" anchorCtr="0" compatLnSpc="1"/>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90204" pitchFamily="34" charset="0"/>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mn-ea"/>
                <a:cs typeface="Arial" panose="020B0604020202090204" pitchFamily="34" charset="0"/>
              </a:defRPr>
            </a:lvl5pPr>
            <a:lvl6pPr marL="22860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6pPr>
            <a:lvl7pPr marL="27432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7pPr>
            <a:lvl8pPr marL="32004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8pPr>
            <a:lvl9pPr marL="3657600" algn="l" defTabSz="914400" rtl="0" eaLnBrk="1" latinLnBrk="0" hangingPunct="1">
              <a:defRPr kern="1200">
                <a:solidFill>
                  <a:schemeClr val="tx1"/>
                </a:solidFill>
                <a:latin typeface="Arial" panose="020B0604020202090204" pitchFamily="34" charset="0"/>
                <a:ea typeface="+mn-ea"/>
                <a:cs typeface="Arial" panose="020B060402020209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90204" pitchFamily="34" charset="0"/>
              </a:rPr>
              <a:t>‹#›</a:t>
            </a:fld>
            <a:endParaRPr lang="en-US" altLang="zh-CN" sz="1400" kern="1200" dirty="0">
              <a:solidFill>
                <a:schemeClr val="tx2"/>
              </a:solidFill>
              <a:latin typeface="+mn-ea"/>
              <a:ea typeface="+mn-ea"/>
              <a:cs typeface="Arial" panose="020B0604020202090204" pitchFamily="34" charset="0"/>
            </a:endParaRPr>
          </a:p>
        </p:txBody>
      </p:sp>
      <p:sp>
        <p:nvSpPr>
          <p:cNvPr id="12" name="Straight Connector 27"/>
          <p:cNvSpPr>
            <a:spLocks noChangeShapeType="1"/>
          </p:cNvSpPr>
          <p:nvPr userDrawn="1"/>
        </p:nvSpPr>
        <p:spPr bwMode="auto">
          <a:xfrm>
            <a:off x="609600" y="6477000"/>
            <a:ext cx="10972800" cy="0"/>
          </a:xfrm>
          <a:prstGeom prst="line">
            <a:avLst/>
          </a:prstGeom>
          <a:noFill/>
          <a:ln w="9525" algn="ctr">
            <a:solidFill>
              <a:schemeClr val="accent2"/>
            </a:solidFill>
            <a:prstDash val="dash"/>
            <a:round/>
          </a:ln>
        </p:spPr>
        <p:txBody>
          <a:bodyPr/>
          <a:lstStyle/>
          <a:p>
            <a:endParaRPr lang="zh-CN" altLang="en-US" sz="1400">
              <a:latin typeface="+mn-ea"/>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ndl.github.i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chao910904@suda.edu.cn"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jpeg"/><Relationship Id="rId5" Type="http://schemas.openxmlformats.org/officeDocument/2006/relationships/hyperlink" Target="https://nndl.github.io/" TargetMode="Externa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nndl/practice-in-paddle"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github.com/deep-learning-with-pytorch/dlwpt-code"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web.stanford.edu/class/cs224n/"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peech.ee.ntu.edu.tw/~tlkagk/slide/Tutorial_HYLee_Deep.pptx"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25.jpe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9.xml"/><Relationship Id="rId7" Type="http://schemas.openxmlformats.org/officeDocument/2006/relationships/oleObject" Target="../embeddings/oleObject3.bin"/><Relationship Id="rId12" Type="http://schemas.openxmlformats.org/officeDocument/2006/relationships/image" Target="../media/image30.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29.png"/><Relationship Id="rId5" Type="http://schemas.openxmlformats.org/officeDocument/2006/relationships/image" Target="../media/image26.wmf"/><Relationship Id="rId10" Type="http://schemas.openxmlformats.org/officeDocument/2006/relationships/image" Target="../media/image28.png"/><Relationship Id="rId4" Type="http://schemas.openxmlformats.org/officeDocument/2006/relationships/oleObject" Target="../embeddings/oleObject1.bin"/><Relationship Id="rId9" Type="http://schemas.openxmlformats.org/officeDocument/2006/relationships/image" Target="../media/image27.wmf"/></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2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2.xml"/><Relationship Id="rId7" Type="http://schemas.openxmlformats.org/officeDocument/2006/relationships/diagramColors" Target="../diagrams/colors2.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3.xml"/><Relationship Id="rId1" Type="http://schemas.openxmlformats.org/officeDocument/2006/relationships/tags" Target="../tags/tag9.xml"/><Relationship Id="rId5" Type="http://schemas.openxmlformats.org/officeDocument/2006/relationships/image" Target="../media/image34.jpe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42.png"/><Relationship Id="rId4"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36.xml"/><Relationship Id="rId7" Type="http://schemas.openxmlformats.org/officeDocument/2006/relationships/diagramColors" Target="../diagrams/colors3.xml"/><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openxmlformats.org/officeDocument/2006/relationships/image" Target="../media/image440.png"/><Relationship Id="rId4" Type="http://schemas.openxmlformats.org/officeDocument/2006/relationships/diagramData" Target="../diagrams/data3.xml"/><Relationship Id="rId9"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hyperlink" Target="structure%20of%20brain.mp4" TargetMode="Externa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6.xml"/><Relationship Id="rId5" Type="http://schemas.openxmlformats.org/officeDocument/2006/relationships/image" Target="../media/image51.png"/><Relationship Id="rId4" Type="http://schemas.openxmlformats.org/officeDocument/2006/relationships/image" Target="../media/image490.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17.xml"/><Relationship Id="rId5" Type="http://schemas.openxmlformats.org/officeDocument/2006/relationships/image" Target="../media/image520.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nndl.github.io/"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en-US" altLang="zh-CN" dirty="0"/>
              <a:t>1.</a:t>
            </a:r>
            <a:r>
              <a:rPr lang="zh-CN" altLang="en-US" dirty="0"/>
              <a:t> 绪论</a:t>
            </a:r>
          </a:p>
        </p:txBody>
      </p:sp>
      <p:sp>
        <p:nvSpPr>
          <p:cNvPr id="6" name="副标题 5"/>
          <p:cNvSpPr>
            <a:spLocks noGrp="1"/>
          </p:cNvSpPr>
          <p:nvPr>
            <p:ph type="subTitle" idx="1"/>
          </p:nvPr>
        </p:nvSpPr>
        <p:spPr/>
        <p:txBody>
          <a:bodyPr/>
          <a:lstStyle/>
          <a:p>
            <a:r>
              <a:rPr lang="en-US" altLang="zh-CN" dirty="0"/>
              <a:t>《</a:t>
            </a:r>
            <a:r>
              <a:rPr lang="zh-CN" altLang="en-US" dirty="0"/>
              <a:t>神经网络与深度学习</a:t>
            </a:r>
            <a:r>
              <a:rPr lang="en-US" altLang="zh-CN" dirty="0"/>
              <a:t>》</a:t>
            </a:r>
            <a:endParaRPr lang="zh-CN" altLang="en-US" dirty="0"/>
          </a:p>
        </p:txBody>
      </p:sp>
      <p:sp>
        <p:nvSpPr>
          <p:cNvPr id="15" name="Text Placeholder 14"/>
          <p:cNvSpPr>
            <a:spLocks noGrp="1"/>
          </p:cNvSpPr>
          <p:nvPr>
            <p:ph type="body" sz="quarter" idx="10"/>
          </p:nvPr>
        </p:nvSpPr>
        <p:spPr/>
        <p:txBody>
          <a:bodyPr/>
          <a:lstStyle/>
          <a:p>
            <a:r>
              <a:rPr lang="zh-CN" altLang="en-US" dirty="0">
                <a:hlinkClick r:id="rId3"/>
              </a:rPr>
              <a:t>主讲人：袁亚超</a:t>
            </a:r>
            <a:endParaRPr lang="en-US" altLang="zh-CN" dirty="0">
              <a:hlinkClick r:id="rId3"/>
            </a:endParaRPr>
          </a:p>
          <a:p>
            <a:r>
              <a:rPr lang="en-US" altLang="zh-CN" dirty="0">
                <a:hlinkClick r:id="rId3"/>
              </a:rPr>
              <a:t>PPT</a:t>
            </a:r>
            <a:r>
              <a:rPr lang="zh-CN" altLang="en-US" dirty="0">
                <a:hlinkClick r:id="rId3"/>
              </a:rPr>
              <a:t>来源：</a:t>
            </a:r>
            <a:r>
              <a:rPr lang="en-US" altLang="zh-CN" dirty="0">
                <a:hlinkClick r:id="rId3"/>
              </a:rPr>
              <a:t>https://nndl.github.io/</a:t>
            </a:r>
            <a:endParaRPr lang="en-US" altLang="zh-CN" dirty="0"/>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授课老师介绍</a:t>
            </a:r>
          </a:p>
        </p:txBody>
      </p:sp>
      <p:sp>
        <p:nvSpPr>
          <p:cNvPr id="5" name="内容占位符 4"/>
          <p:cNvSpPr>
            <a:spLocks noGrp="1"/>
          </p:cNvSpPr>
          <p:nvPr>
            <p:ph idx="1"/>
          </p:nvPr>
        </p:nvSpPr>
        <p:spPr/>
        <p:txBody>
          <a:bodyPr/>
          <a:lstStyle/>
          <a:p>
            <a:pPr marL="154305" lvl="1" indent="0">
              <a:buNone/>
            </a:pPr>
            <a:r>
              <a:rPr lang="zh-CN" altLang="en-US" dirty="0"/>
              <a:t>袁亚超</a:t>
            </a:r>
          </a:p>
          <a:p>
            <a:pPr marL="154305" lvl="1" indent="0">
              <a:buNone/>
            </a:pPr>
            <a:r>
              <a:rPr lang="zh-CN" altLang="en-US" dirty="0"/>
              <a:t>优青讲师</a:t>
            </a:r>
            <a:endParaRPr lang="en-US" altLang="zh-CN" dirty="0"/>
          </a:p>
          <a:p>
            <a:pPr marL="154305" lvl="1" indent="0">
              <a:buNone/>
            </a:pPr>
            <a:r>
              <a:rPr lang="zh-CN" altLang="en-US" dirty="0"/>
              <a:t>未来科创中心</a:t>
            </a:r>
            <a:r>
              <a:rPr lang="en-US" altLang="zh-CN" dirty="0"/>
              <a:t>602</a:t>
            </a:r>
          </a:p>
          <a:p>
            <a:pPr marL="154305" lvl="1" indent="0">
              <a:buNone/>
            </a:pPr>
            <a:r>
              <a:rPr lang="en-US" altLang="zh-CN" dirty="0">
                <a:hlinkClick r:id="rId2"/>
              </a:rPr>
              <a:t>chao910904@suda.edu.cn</a:t>
            </a:r>
            <a:endParaRPr lang="en-US" altLang="zh-CN" dirty="0"/>
          </a:p>
          <a:p>
            <a:pPr marL="154305" lvl="1" indent="0">
              <a:buNone/>
            </a:pPr>
            <a:r>
              <a:rPr lang="zh-CN" altLang="en-US" dirty="0"/>
              <a:t>未来科学与工程学院</a:t>
            </a:r>
            <a:endParaRPr lang="en-US" altLang="zh-CN" dirty="0"/>
          </a:p>
          <a:p>
            <a:pPr marL="154305" lvl="1" indent="0">
              <a:buNone/>
            </a:pPr>
            <a:r>
              <a:rPr lang="zh-CN" altLang="en-US" dirty="0"/>
              <a:t>苏州大学</a:t>
            </a:r>
          </a:p>
          <a:p>
            <a:pPr marL="154305" lvl="1" indent="0">
              <a:buNone/>
            </a:pPr>
            <a:endParaRPr lang="en-US" altLang="zh-CN" dirty="0"/>
          </a:p>
          <a:p>
            <a:pPr marL="154305" lvl="1" indent="0">
              <a:buNone/>
            </a:pPr>
            <a:r>
              <a:rPr lang="zh-CN" altLang="en-US" dirty="0"/>
              <a:t>个人主页：</a:t>
            </a:r>
            <a:r>
              <a:rPr lang="en-US" altLang="zh-CN" dirty="0"/>
              <a:t> https://web.suda.edu.cn/yyc/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关于本课程</a:t>
            </a:r>
            <a:endParaRPr lang="zh-CN" altLang="en-US" dirty="0"/>
          </a:p>
        </p:txBody>
      </p:sp>
      <p:sp>
        <p:nvSpPr>
          <p:cNvPr id="5" name="内容占位符 4"/>
          <p:cNvSpPr>
            <a:spLocks noGrp="1"/>
          </p:cNvSpPr>
          <p:nvPr>
            <p:ph idx="1"/>
          </p:nvPr>
        </p:nvSpPr>
        <p:spPr/>
        <p:txBody>
          <a:bodyPr/>
          <a:lstStyle/>
          <a:p>
            <a:r>
              <a:rPr lang="zh-CN" altLang="en-US" dirty="0"/>
              <a:t>人工智能的一个子领域</a:t>
            </a:r>
            <a:endParaRPr lang="en-US" altLang="zh-CN" dirty="0"/>
          </a:p>
          <a:p>
            <a:pPr lvl="1"/>
            <a:r>
              <a:rPr lang="zh-CN" altLang="en-US" dirty="0"/>
              <a:t>神经网络：一种以（人工）神经元为基本单元的模型</a:t>
            </a:r>
            <a:endParaRPr lang="en-US" altLang="zh-CN" dirty="0"/>
          </a:p>
          <a:p>
            <a:pPr lvl="1"/>
            <a:r>
              <a:rPr lang="zh-CN" altLang="en-US" dirty="0"/>
              <a:t>深度学习：一类机器学习问题，主要解决贡献度分配问题。</a:t>
            </a:r>
          </a:p>
        </p:txBody>
      </p:sp>
      <p:graphicFrame>
        <p:nvGraphicFramePr>
          <p:cNvPr id="6" name="内容占位符 3"/>
          <p:cNvGraphicFramePr/>
          <p:nvPr/>
        </p:nvGraphicFramePr>
        <p:xfrm>
          <a:off x="3810000" y="3124200"/>
          <a:ext cx="4191000" cy="2727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更详细的课程概括</a:t>
            </a:r>
          </a:p>
        </p:txBody>
      </p:sp>
      <p:pic>
        <p:nvPicPr>
          <p:cNvPr id="3" name="图片 2"/>
          <p:cNvPicPr>
            <a:picLocks noChangeAspect="1"/>
          </p:cNvPicPr>
          <p:nvPr/>
        </p:nvPicPr>
        <p:blipFill>
          <a:blip r:embed="rId3" cstate="hqprint"/>
          <a:stretch>
            <a:fillRect/>
          </a:stretch>
        </p:blipFill>
        <p:spPr>
          <a:xfrm>
            <a:off x="2133600" y="1152699"/>
            <a:ext cx="7772400" cy="51534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路线图</a:t>
            </a:r>
          </a:p>
        </p:txBody>
      </p:sp>
      <p:pic>
        <p:nvPicPr>
          <p:cNvPr id="3" name="图片 2"/>
          <p:cNvPicPr>
            <a:picLocks noChangeAspect="1"/>
          </p:cNvPicPr>
          <p:nvPr>
            <p:custDataLst>
              <p:tags r:id="rId1"/>
            </p:custDataLst>
          </p:nvPr>
        </p:nvPicPr>
        <p:blipFill>
          <a:blip r:embed="rId4"/>
          <a:stretch>
            <a:fillRect/>
          </a:stretch>
        </p:blipFill>
        <p:spPr>
          <a:xfrm>
            <a:off x="375920" y="972185"/>
            <a:ext cx="11511280" cy="55460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概述</a:t>
            </a:r>
            <a:endParaRPr lang="en-US" altLang="zh-CN" dirty="0"/>
          </a:p>
          <a:p>
            <a:pPr lvl="1"/>
            <a:r>
              <a:rPr lang="zh-CN" altLang="en-US" dirty="0"/>
              <a:t>机器学习概述</a:t>
            </a:r>
          </a:p>
          <a:p>
            <a:pPr lvl="1"/>
            <a:r>
              <a:rPr lang="zh-CN" altLang="en-US" dirty="0"/>
              <a:t>线性模型</a:t>
            </a:r>
          </a:p>
          <a:p>
            <a:r>
              <a:rPr lang="zh-CN" altLang="en-US" dirty="0"/>
              <a:t>基础网络模型</a:t>
            </a:r>
            <a:endParaRPr lang="en-US" altLang="zh-CN" dirty="0"/>
          </a:p>
          <a:p>
            <a:pPr lvl="1"/>
            <a:r>
              <a:rPr lang="zh-CN" altLang="en-US" dirty="0"/>
              <a:t>前馈神经网络</a:t>
            </a:r>
          </a:p>
          <a:p>
            <a:pPr lvl="1"/>
            <a:r>
              <a:rPr lang="zh-CN" altLang="en-US" dirty="0"/>
              <a:t>卷积神经网络</a:t>
            </a:r>
          </a:p>
          <a:p>
            <a:pPr lvl="1"/>
            <a:r>
              <a:rPr lang="zh-CN" altLang="en-US" dirty="0"/>
              <a:t>循环神经网络</a:t>
            </a:r>
          </a:p>
          <a:p>
            <a:pPr lvl="1"/>
            <a:r>
              <a:rPr lang="zh-CN" altLang="en-US" dirty="0"/>
              <a:t>网络优化与正则化</a:t>
            </a:r>
          </a:p>
          <a:p>
            <a:pPr lvl="1"/>
            <a:r>
              <a:rPr lang="zh-CN" altLang="en-US" dirty="0"/>
              <a:t>记忆与注意力机制</a:t>
            </a:r>
          </a:p>
          <a:p>
            <a:pPr lvl="1"/>
            <a:r>
              <a:rPr lang="zh-CN" altLang="en-US" dirty="0"/>
              <a:t>无监督学习</a:t>
            </a:r>
          </a:p>
          <a:p>
            <a:pPr lvl="1"/>
            <a:endParaRPr lang="en-US" altLang="zh-CN" dirty="0"/>
          </a:p>
          <a:p>
            <a:pPr lvl="1"/>
            <a:endParaRPr lang="en-US" altLang="zh-CN" dirty="0"/>
          </a:p>
        </p:txBody>
      </p:sp>
      <p:sp>
        <p:nvSpPr>
          <p:cNvPr id="4" name="内容占位符 3"/>
          <p:cNvSpPr>
            <a:spLocks noGrp="1"/>
          </p:cNvSpPr>
          <p:nvPr>
            <p:ph idx="4294967295"/>
          </p:nvPr>
        </p:nvSpPr>
        <p:spPr>
          <a:xfrm>
            <a:off x="6248400" y="1066800"/>
            <a:ext cx="5334000" cy="5181598"/>
          </a:xfrm>
        </p:spPr>
        <p:txBody>
          <a:bodyPr/>
          <a:lstStyle/>
          <a:p>
            <a:r>
              <a:rPr lang="zh-CN" altLang="en-US" dirty="0"/>
              <a:t>进阶模型</a:t>
            </a:r>
          </a:p>
          <a:p>
            <a:pPr lvl="1"/>
            <a:r>
              <a:rPr lang="zh-CN" altLang="en-US" dirty="0"/>
              <a:t>概率图模型</a:t>
            </a:r>
          </a:p>
          <a:p>
            <a:pPr lvl="1"/>
            <a:r>
              <a:rPr lang="zh-CN" altLang="en-US" dirty="0"/>
              <a:t>玻尔兹曼机</a:t>
            </a:r>
          </a:p>
          <a:p>
            <a:pPr lvl="1"/>
            <a:r>
              <a:rPr lang="zh-CN" altLang="en-US" dirty="0"/>
              <a:t>深度信念网络</a:t>
            </a:r>
          </a:p>
          <a:p>
            <a:pPr lvl="1"/>
            <a:r>
              <a:rPr lang="zh-CN" altLang="en-US" dirty="0"/>
              <a:t>深度生成模型</a:t>
            </a:r>
          </a:p>
          <a:p>
            <a:pPr lvl="1"/>
            <a:r>
              <a:rPr lang="zh-CN" altLang="en-US" dirty="0"/>
              <a:t>深度强化学习</a:t>
            </a:r>
          </a:p>
          <a:p>
            <a:pPr lvl="1"/>
            <a:r>
              <a:rPr lang="zh-CN" altLang="en-US" dirty="0"/>
              <a:t>序列生成模型</a:t>
            </a:r>
          </a:p>
          <a:p>
            <a:pPr marL="154305" lvl="1" indent="0">
              <a:buNone/>
            </a:pPr>
            <a:endParaRPr lang="en-US" altLang="zh-CN" dirty="0"/>
          </a:p>
        </p:txBody>
      </p:sp>
      <p:sp>
        <p:nvSpPr>
          <p:cNvPr id="2" name="标题 1"/>
          <p:cNvSpPr>
            <a:spLocks noGrp="1"/>
          </p:cNvSpPr>
          <p:nvPr>
            <p:ph type="title"/>
          </p:nvPr>
        </p:nvSpPr>
        <p:spPr/>
        <p:txBody>
          <a:bodyPr/>
          <a:lstStyle/>
          <a:p>
            <a:r>
              <a:rPr lang="zh-CN" altLang="en-US"/>
              <a:t>课程大纲</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预备知识</a:t>
            </a:r>
            <a:endParaRPr lang="zh-CN" altLang="en-US" dirty="0"/>
          </a:p>
        </p:txBody>
      </p:sp>
      <p:sp>
        <p:nvSpPr>
          <p:cNvPr id="3" name="内容占位符 2"/>
          <p:cNvSpPr>
            <a:spLocks noGrp="1"/>
          </p:cNvSpPr>
          <p:nvPr>
            <p:ph idx="1"/>
          </p:nvPr>
        </p:nvSpPr>
        <p:spPr/>
        <p:txBody>
          <a:bodyPr/>
          <a:lstStyle/>
          <a:p>
            <a:r>
              <a:rPr lang="zh-CN" altLang="en-US" dirty="0"/>
              <a:t>线性代数</a:t>
            </a:r>
            <a:endParaRPr lang="en-US" altLang="zh-CN" dirty="0"/>
          </a:p>
          <a:p>
            <a:r>
              <a:rPr lang="zh-CN" altLang="en-US" dirty="0"/>
              <a:t>微积分</a:t>
            </a:r>
            <a:endParaRPr lang="en-US" altLang="zh-CN" dirty="0"/>
          </a:p>
          <a:p>
            <a:r>
              <a:rPr lang="zh-CN" altLang="en-US" dirty="0"/>
              <a:t>数学优化</a:t>
            </a:r>
            <a:endParaRPr lang="en-US" altLang="zh-CN" dirty="0"/>
          </a:p>
          <a:p>
            <a:r>
              <a:rPr lang="zh-CN" altLang="en-US" dirty="0"/>
              <a:t>概率论</a:t>
            </a:r>
            <a:endParaRPr lang="en-US" altLang="zh-CN" dirty="0"/>
          </a:p>
          <a:p>
            <a:r>
              <a:rPr lang="zh-CN" altLang="en-US" dirty="0"/>
              <a:t>信息论</a:t>
            </a:r>
            <a:endParaRPr lang="en-US" altLang="zh-CN" dirty="0"/>
          </a:p>
          <a:p>
            <a:pPr marL="0" indent="0">
              <a:buNone/>
            </a:pPr>
            <a:endParaRPr lang="en-US" altLang="zh-CN" dirty="0"/>
          </a:p>
          <a:p>
            <a:pPr marL="0" indent="0">
              <a:buNone/>
            </a:pPr>
            <a:endParaRPr lang="en-US" altLang="zh-CN" dirty="0"/>
          </a:p>
        </p:txBody>
      </p:sp>
      <p:pic>
        <p:nvPicPr>
          <p:cNvPr id="4" name="图片 3"/>
          <p:cNvPicPr>
            <a:picLocks noChangeAspect="1"/>
          </p:cNvPicPr>
          <p:nvPr>
            <p:custDataLst>
              <p:tags r:id="rId1"/>
            </p:custDataLst>
          </p:nvPr>
        </p:nvPicPr>
        <p:blipFill>
          <a:blip r:embed="rId3"/>
          <a:stretch>
            <a:fillRect/>
          </a:stretch>
        </p:blipFill>
        <p:spPr>
          <a:xfrm>
            <a:off x="8001000" y="3124200"/>
            <a:ext cx="2085975" cy="24288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理论课推荐教材</a:t>
            </a:r>
            <a:endParaRPr lang="zh-CN" altLang="en-US" dirty="0"/>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92" y="609421"/>
            <a:ext cx="1709797" cy="2222501"/>
          </a:xfrm>
          <a:prstGeom prst="rect">
            <a:avLst/>
          </a:prstGeom>
        </p:spPr>
      </p:pic>
      <p:pic>
        <p:nvPicPr>
          <p:cNvPr id="5122" name="Picture 2" descr="Pattern Recognition and Machine Learning de Christopher Bishop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53600" y="3429000"/>
            <a:ext cx="1704975" cy="2389505"/>
          </a:xfrm>
          <a:prstGeom prst="rect">
            <a:avLst/>
          </a:prstGeom>
          <a:noFill/>
          <a:extLst>
            <a:ext uri="{909E8E84-426E-40DD-AFC4-6F175D3DCCD1}">
              <a14:hiddenFill xmlns:a14="http://schemas.microsoft.com/office/drawing/2010/main">
                <a:solidFill>
                  <a:srgbClr val="FFFFFF"/>
                </a:solidFill>
              </a14:hiddenFill>
            </a:ext>
          </a:extLst>
        </p:spPr>
      </p:pic>
      <p:sp>
        <p:nvSpPr>
          <p:cNvPr id="16" name="内容占位符 2"/>
          <p:cNvSpPr txBox="1"/>
          <p:nvPr/>
        </p:nvSpPr>
        <p:spPr bwMode="auto">
          <a:xfrm>
            <a:off x="533400" y="1046480"/>
            <a:ext cx="773303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r>
              <a:rPr lang="zh-CN" altLang="en-US" sz="2000" dirty="0"/>
              <a:t>邱锡鹏，</a:t>
            </a:r>
            <a:r>
              <a:rPr lang="en-US" altLang="zh-CN" sz="2000" dirty="0"/>
              <a:t>《</a:t>
            </a:r>
            <a:r>
              <a:rPr lang="zh-CN" altLang="en-US" sz="2000" dirty="0"/>
              <a:t>神经网络与深度学习</a:t>
            </a:r>
            <a:r>
              <a:rPr lang="en-US" altLang="zh-CN" sz="2000" dirty="0"/>
              <a:t>》</a:t>
            </a:r>
            <a:r>
              <a:rPr lang="zh-CN" altLang="en-US" sz="2000" dirty="0"/>
              <a:t>，机械工业出版社，</a:t>
            </a:r>
            <a:r>
              <a:rPr lang="en-US" altLang="zh-CN" sz="2000" dirty="0"/>
              <a:t>2020</a:t>
            </a:r>
          </a:p>
          <a:p>
            <a:pPr lvl="1"/>
            <a:r>
              <a:rPr lang="en-US" altLang="zh-CN" sz="1800" dirty="0">
                <a:hlinkClick r:id="rId5"/>
              </a:rPr>
              <a:t>https://nndl.github.io/</a:t>
            </a:r>
            <a:endParaRPr lang="en-US" altLang="zh-CN" sz="1800" dirty="0"/>
          </a:p>
          <a:p>
            <a:r>
              <a:rPr lang="zh-CN" altLang="en-US" sz="2200" dirty="0"/>
              <a:t>王琦，</a:t>
            </a:r>
            <a:r>
              <a:rPr lang="en-US" altLang="zh-CN" sz="2200" dirty="0"/>
              <a:t>《</a:t>
            </a:r>
            <a:r>
              <a:rPr lang="zh-CN" altLang="en-US" sz="2200" dirty="0"/>
              <a:t>深度学习详解</a:t>
            </a:r>
            <a:r>
              <a:rPr lang="en-US" altLang="zh-CN" sz="2200" dirty="0"/>
              <a:t>》</a:t>
            </a:r>
            <a:r>
              <a:rPr lang="zh-CN" altLang="en-US" sz="2200" dirty="0"/>
              <a:t>，人民邮电出版社，</a:t>
            </a:r>
            <a:r>
              <a:rPr lang="en-US" altLang="zh-CN" sz="2200" dirty="0"/>
              <a:t>2024</a:t>
            </a:r>
          </a:p>
          <a:p>
            <a:endParaRPr lang="zh-CN" altLang="en-US" sz="2200" dirty="0"/>
          </a:p>
          <a:p>
            <a:r>
              <a:rPr lang="en-US" sz="2000" dirty="0"/>
              <a:t>Bishop, C.M. (2006). </a:t>
            </a:r>
            <a:r>
              <a:rPr lang="en-US" altLang="zh-CN" sz="2000" dirty="0"/>
              <a:t>《</a:t>
            </a:r>
            <a:r>
              <a:rPr lang="en-US" sz="2000" dirty="0"/>
              <a:t>Pattern recognition and Machine Learning</a:t>
            </a:r>
            <a:r>
              <a:rPr lang="en-US" altLang="zh-CN" sz="2000" dirty="0"/>
              <a:t>》</a:t>
            </a:r>
            <a:r>
              <a:rPr lang="en-US" sz="2000" dirty="0"/>
              <a:t>. Springer. ISBN 9780387310732.</a:t>
            </a:r>
          </a:p>
          <a:p>
            <a:pPr lvl="1"/>
            <a:r>
              <a:rPr lang="zh-CN" altLang="en-US" sz="1800" dirty="0"/>
              <a:t>网上有中文版 </a:t>
            </a:r>
            <a:r>
              <a:rPr lang="en-US" altLang="zh-CN" sz="1800" dirty="0"/>
              <a:t>by</a:t>
            </a:r>
            <a:r>
              <a:rPr lang="zh-CN" altLang="en-US" sz="1800" dirty="0"/>
              <a:t>马春鹏</a:t>
            </a:r>
          </a:p>
          <a:p>
            <a:pPr lvl="1"/>
            <a:r>
              <a:rPr lang="en-US" altLang="zh-CN" sz="1800" dirty="0">
                <a:sym typeface="+mn-ea"/>
              </a:rPr>
              <a:t>《</a:t>
            </a:r>
            <a:r>
              <a:rPr lang="zh-CN" altLang="en-US" sz="1800" dirty="0">
                <a:sym typeface="+mn-ea"/>
              </a:rPr>
              <a:t>神经网络与深度学习</a:t>
            </a:r>
            <a:r>
              <a:rPr lang="en-US" altLang="zh-CN" sz="1800" dirty="0">
                <a:sym typeface="+mn-ea"/>
              </a:rPr>
              <a:t>》</a:t>
            </a:r>
            <a:r>
              <a:rPr lang="zh-CN" altLang="en-US" sz="1800" dirty="0">
                <a:sym typeface="+mn-ea"/>
              </a:rPr>
              <a:t>大量参考了该书</a:t>
            </a:r>
          </a:p>
          <a:p>
            <a:pPr lvl="1"/>
            <a:endParaRPr lang="zh-CN" altLang="en-US" sz="1800" dirty="0">
              <a:sym typeface="+mn-ea"/>
            </a:endParaRPr>
          </a:p>
          <a:p>
            <a:pPr lvl="1"/>
            <a:r>
              <a:rPr lang="zh-CN" altLang="en-US" sz="2000" dirty="0">
                <a:solidFill>
                  <a:srgbClr val="C00000"/>
                </a:solidFill>
                <a:cs typeface="Arial" panose="020B0604020202090204" pitchFamily="34" charset="0"/>
                <a:sym typeface="+mn-ea"/>
              </a:rPr>
              <a:t>优化</a:t>
            </a:r>
          </a:p>
          <a:p>
            <a:pPr lvl="1" algn="l"/>
            <a:r>
              <a:rPr lang="zh-CN" altLang="en-US" sz="1800" dirty="0">
                <a:sym typeface="+mn-ea"/>
              </a:rPr>
              <a:t>Wright, S., &amp; Nocedal, J. (1999) Numerical optimization. Springer Science, 35(67-68), 7.</a:t>
            </a:r>
          </a:p>
          <a:p>
            <a:pPr lvl="1" algn="l"/>
            <a:r>
              <a:rPr lang="zh-CN" altLang="en-US" sz="1800" dirty="0">
                <a:sym typeface="+mn-ea"/>
              </a:rPr>
              <a:t>Boyd, S., &amp; Vandenberghe, L. (2004).  Convexoptimization. Cambridge university press.</a:t>
            </a:r>
          </a:p>
        </p:txBody>
      </p:sp>
      <p:pic>
        <p:nvPicPr>
          <p:cNvPr id="4" name="图片 3">
            <a:extLst>
              <a:ext uri="{FF2B5EF4-FFF2-40B4-BE49-F238E27FC236}">
                <a16:creationId xmlns:a16="http://schemas.microsoft.com/office/drawing/2014/main" id="{10312F4F-C517-4039-8D33-803A8ED925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66430" y="4009705"/>
            <a:ext cx="1316731" cy="17542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实践推荐教材</a:t>
            </a:r>
          </a:p>
        </p:txBody>
      </p:sp>
      <p:sp>
        <p:nvSpPr>
          <p:cNvPr id="16" name="内容占位符 2"/>
          <p:cNvSpPr txBox="1"/>
          <p:nvPr/>
        </p:nvSpPr>
        <p:spPr bwMode="auto">
          <a:xfrm>
            <a:off x="533400" y="1046538"/>
            <a:ext cx="8686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pPr marL="154305" lvl="1" indent="0">
              <a:buNone/>
            </a:pPr>
            <a:endParaRPr lang="en-US" altLang="zh-CN" sz="1400" dirty="0"/>
          </a:p>
          <a:p>
            <a:r>
              <a:rPr lang="zh-CN" altLang="en-US" sz="2000" dirty="0"/>
              <a:t>邱锡鹏，</a:t>
            </a:r>
            <a:r>
              <a:rPr lang="en-US" altLang="zh-CN" sz="2000" dirty="0"/>
              <a:t>《</a:t>
            </a:r>
            <a:r>
              <a:rPr lang="zh-CN" altLang="en-US" sz="2000" dirty="0"/>
              <a:t>神经网络与深度学习：案例与实践</a:t>
            </a:r>
            <a:r>
              <a:rPr lang="en-US" altLang="zh-CN" sz="2000" dirty="0"/>
              <a:t>》</a:t>
            </a:r>
            <a:r>
              <a:rPr lang="zh-CN" altLang="en-US" sz="2000" dirty="0"/>
              <a:t>，机械工业出版社</a:t>
            </a:r>
            <a:r>
              <a:rPr lang="en-US" altLang="zh-CN" sz="2000" dirty="0"/>
              <a:t>, 2020</a:t>
            </a:r>
          </a:p>
          <a:p>
            <a:pPr lvl="1"/>
            <a:r>
              <a:rPr lang="en-US" altLang="zh-CN" sz="1800" dirty="0">
                <a:hlinkClick r:id="rId3"/>
              </a:rPr>
              <a:t>https://github.com/nndl/practice-in-paddle</a:t>
            </a:r>
            <a:endParaRPr lang="en-US" altLang="zh-CN" sz="1800" dirty="0"/>
          </a:p>
          <a:p>
            <a:pPr lvl="1"/>
            <a:endParaRPr lang="en-US" altLang="zh-CN" sz="1800" dirty="0"/>
          </a:p>
          <a:p>
            <a:r>
              <a:rPr lang="en-US" altLang="zh-CN" sz="2000" dirty="0"/>
              <a:t>Eli Stevens</a:t>
            </a:r>
            <a:r>
              <a:rPr lang="zh-CN" altLang="en-US" sz="2000" dirty="0"/>
              <a:t>等，</a:t>
            </a:r>
            <a:r>
              <a:rPr lang="en-US" altLang="zh-CN" sz="2000" dirty="0"/>
              <a:t>《</a:t>
            </a:r>
            <a:r>
              <a:rPr lang="en-US" altLang="zh-CN" sz="2000" dirty="0" err="1"/>
              <a:t>Pytorch</a:t>
            </a:r>
            <a:r>
              <a:rPr lang="zh-CN" altLang="en-US" sz="2000" dirty="0"/>
              <a:t>深度学习实战</a:t>
            </a:r>
            <a:r>
              <a:rPr lang="en-US" altLang="zh-CN" sz="2000" dirty="0"/>
              <a:t>》</a:t>
            </a:r>
            <a:r>
              <a:rPr lang="zh-CN" altLang="en-US" sz="2000" dirty="0"/>
              <a:t>，人民邮电出版社</a:t>
            </a:r>
            <a:endParaRPr lang="en-US" altLang="zh-CN" sz="2000" dirty="0"/>
          </a:p>
          <a:p>
            <a:pPr lvl="1"/>
            <a:r>
              <a:rPr lang="en-US" altLang="zh-CN" sz="1800" dirty="0">
                <a:hlinkClick r:id="rId4"/>
              </a:rPr>
              <a:t>https://github.com/deep-learning-with-pytorch/dlwpt-code</a:t>
            </a:r>
            <a:endParaRPr lang="en-US" altLang="zh-CN" sz="1800" dirty="0"/>
          </a:p>
          <a:p>
            <a:pPr lvl="1"/>
            <a:endParaRPr lang="zh-CN" altLang="en-US" sz="1800" dirty="0"/>
          </a:p>
          <a:p>
            <a:endParaRPr lang="zh-CN" altLang="en-US" sz="1800" dirty="0">
              <a:sym typeface="+mn-ea"/>
            </a:endParaRPr>
          </a:p>
        </p:txBody>
      </p:sp>
      <p:pic>
        <p:nvPicPr>
          <p:cNvPr id="3" name="图片 2"/>
          <p:cNvPicPr>
            <a:picLocks noChangeAspect="1"/>
          </p:cNvPicPr>
          <p:nvPr/>
        </p:nvPicPr>
        <p:blipFill>
          <a:blip r:embed="rId5"/>
          <a:stretch>
            <a:fillRect/>
          </a:stretch>
        </p:blipFill>
        <p:spPr>
          <a:xfrm>
            <a:off x="9296400" y="1066858"/>
            <a:ext cx="2222500" cy="2222500"/>
          </a:xfrm>
          <a:prstGeom prst="rect">
            <a:avLst/>
          </a:prstGeom>
        </p:spPr>
      </p:pic>
      <p:pic>
        <p:nvPicPr>
          <p:cNvPr id="4" name="图片 3"/>
          <p:cNvPicPr>
            <a:picLocks noChangeAspect="1"/>
          </p:cNvPicPr>
          <p:nvPr/>
        </p:nvPicPr>
        <p:blipFill>
          <a:blip r:embed="rId6"/>
          <a:stretch>
            <a:fillRect/>
          </a:stretch>
        </p:blipFill>
        <p:spPr>
          <a:xfrm>
            <a:off x="9829831" y="3886201"/>
            <a:ext cx="1433799" cy="1845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其他参考资料</a:t>
            </a:r>
          </a:p>
        </p:txBody>
      </p:sp>
      <p:sp>
        <p:nvSpPr>
          <p:cNvPr id="3" name="内容占位符 2"/>
          <p:cNvSpPr txBox="1"/>
          <p:nvPr/>
        </p:nvSpPr>
        <p:spPr bwMode="auto">
          <a:xfrm>
            <a:off x="533400" y="1046538"/>
            <a:ext cx="11049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r>
              <a:rPr lang="zh-CN" altLang="en-US" sz="2400" dirty="0"/>
              <a:t>斯坦福大学</a:t>
            </a:r>
            <a:r>
              <a:rPr lang="en-US" altLang="zh-CN" sz="2400" dirty="0"/>
              <a:t>CS231n: Convolutional Neural Networks for Visual Recognition</a:t>
            </a:r>
          </a:p>
          <a:p>
            <a:pPr lvl="1" algn="l"/>
            <a:r>
              <a:rPr lang="en-US" altLang="zh-CN" sz="2000" dirty="0"/>
              <a:t>https://cs231n.github.io/</a:t>
            </a:r>
          </a:p>
          <a:p>
            <a:pPr lvl="1"/>
            <a:endParaRPr lang="zh-CN" altLang="en-US" sz="2000" dirty="0"/>
          </a:p>
          <a:p>
            <a:r>
              <a:rPr lang="zh-CN" altLang="en-US" sz="2400" dirty="0"/>
              <a:t>斯坦福大学</a:t>
            </a:r>
            <a:r>
              <a:rPr lang="en-US" altLang="zh-CN" sz="2400" dirty="0"/>
              <a:t>CS224n: Deep Learning for Natural Language Processing</a:t>
            </a:r>
            <a:endParaRPr lang="en-US" sz="2400" dirty="0"/>
          </a:p>
          <a:p>
            <a:pPr lvl="1"/>
            <a:r>
              <a:rPr lang="en-US" altLang="zh-CN" sz="2000" dirty="0">
                <a:hlinkClick r:id="rId2"/>
              </a:rPr>
              <a:t>https://web.stanford.edu/class/cs224n/</a:t>
            </a:r>
            <a:endParaRPr lang="en-US" altLang="zh-CN" sz="2000" dirty="0"/>
          </a:p>
          <a:p>
            <a:pPr lvl="1"/>
            <a:endParaRPr lang="zh-CN" altLang="en-US" sz="2740" dirty="0"/>
          </a:p>
          <a:p>
            <a:pPr lvl="0"/>
            <a:r>
              <a:rPr lang="zh-CN" altLang="en-US" sz="2740" dirty="0"/>
              <a:t>加州大学伯克利分校 </a:t>
            </a:r>
            <a:r>
              <a:rPr lang="en-US" altLang="zh-CN" sz="2740" dirty="0"/>
              <a:t>CS 294: Deep Reinforcement Learning</a:t>
            </a:r>
          </a:p>
          <a:p>
            <a:pPr lvl="1"/>
            <a:r>
              <a:rPr lang="en-US" altLang="zh-CN" sz="2000" u="sng" dirty="0"/>
              <a:t>http://</a:t>
            </a:r>
            <a:r>
              <a:rPr lang="en-US" altLang="zh-CN" sz="2000" u="sng" dirty="0" err="1"/>
              <a:t>rail.eecs.berkeley.edu</a:t>
            </a:r>
            <a:r>
              <a:rPr lang="en-US" altLang="zh-CN" sz="2000" u="sng" dirty="0"/>
              <a:t>/</a:t>
            </a:r>
            <a:r>
              <a:rPr lang="en-US" altLang="zh-CN" sz="2000" u="sng" dirty="0" err="1"/>
              <a:t>deeprlcourse</a:t>
            </a:r>
            <a:r>
              <a:rPr lang="en-US" altLang="zh-CN" sz="2000" u="sng" dirty="0"/>
              <a:t>/</a:t>
            </a:r>
            <a:endParaRPr lang="zh-CN" altLang="en-US" sz="2000" u="sng" dirty="0"/>
          </a:p>
          <a:p>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其他参考资料</a:t>
            </a:r>
            <a:endParaRPr lang="zh-CN" altLang="en-US" dirty="0"/>
          </a:p>
        </p:txBody>
      </p:sp>
      <p:sp>
        <p:nvSpPr>
          <p:cNvPr id="3" name="内容占位符 2"/>
          <p:cNvSpPr>
            <a:spLocks noGrp="1"/>
          </p:cNvSpPr>
          <p:nvPr>
            <p:ph idx="1"/>
          </p:nvPr>
        </p:nvSpPr>
        <p:spPr/>
        <p:txBody>
          <a:bodyPr/>
          <a:lstStyle/>
          <a:p>
            <a:pPr marL="457200" indent="-457200">
              <a:buFont typeface="+mj-lt"/>
              <a:buAutoNum type="arabicPeriod"/>
            </a:pPr>
            <a:r>
              <a:rPr lang="zh-CN" altLang="en-US" sz="2400" dirty="0"/>
              <a:t>林轩田“机器学习基石” “机器学习技法”</a:t>
            </a:r>
            <a:endParaRPr lang="en-US" altLang="zh-CN" sz="2400" dirty="0"/>
          </a:p>
          <a:p>
            <a:pPr marL="154305" lvl="1" indent="0">
              <a:buNone/>
            </a:pPr>
            <a:r>
              <a:rPr lang="en-US" altLang="zh-CN" sz="2000" dirty="0"/>
              <a:t> </a:t>
            </a:r>
            <a:r>
              <a:rPr lang="en-US" altLang="zh-CN" sz="2000" u="sng" dirty="0"/>
              <a:t>https://</a:t>
            </a:r>
            <a:r>
              <a:rPr lang="en-US" altLang="zh-CN" sz="2000" u="sng" dirty="0" err="1"/>
              <a:t>www.csie.ntu.edu.tw</a:t>
            </a:r>
            <a:r>
              <a:rPr lang="en-US" altLang="zh-CN" sz="2000" u="sng" dirty="0"/>
              <a:t>/~</a:t>
            </a:r>
            <a:r>
              <a:rPr lang="en-US" altLang="zh-CN" sz="2000" u="sng" dirty="0" err="1"/>
              <a:t>htlin</a:t>
            </a:r>
            <a:r>
              <a:rPr lang="en-US" altLang="zh-CN" sz="2000" u="sng" dirty="0"/>
              <a:t>/</a:t>
            </a:r>
            <a:r>
              <a:rPr lang="en-US" altLang="zh-CN" sz="2000" u="sng" dirty="0" err="1"/>
              <a:t>mooc</a:t>
            </a:r>
            <a:r>
              <a:rPr lang="en-US" altLang="zh-CN" sz="2000" u="sng" dirty="0"/>
              <a:t>/</a:t>
            </a:r>
          </a:p>
          <a:p>
            <a:pPr marL="457200" indent="-457200">
              <a:buFont typeface="+mj-lt"/>
              <a:buAutoNum type="arabicPeriod"/>
            </a:pPr>
            <a:endParaRPr lang="en-US" altLang="zh-CN" sz="2400" dirty="0"/>
          </a:p>
          <a:p>
            <a:pPr marL="457200" indent="-457200">
              <a:buFont typeface="+mj-lt"/>
              <a:buAutoNum type="arabicPeriod"/>
            </a:pPr>
            <a:r>
              <a:rPr lang="zh-CN" altLang="en-US" sz="2400" dirty="0"/>
              <a:t>李宏毅</a:t>
            </a:r>
            <a:r>
              <a:rPr lang="en-US" altLang="zh-CN" sz="2400" dirty="0"/>
              <a:t> </a:t>
            </a:r>
            <a:r>
              <a:rPr lang="zh-CN" altLang="en-US" sz="2400" dirty="0"/>
              <a:t>“</a:t>
            </a:r>
            <a:r>
              <a:rPr lang="en-US" altLang="zh-CN" sz="2400" dirty="0"/>
              <a:t>1</a:t>
            </a:r>
            <a:r>
              <a:rPr lang="zh-CN" altLang="en-US" sz="2400" dirty="0"/>
              <a:t>天搞懂深度学</a:t>
            </a:r>
            <a:endParaRPr lang="en-US" altLang="zh-CN" sz="2400" dirty="0"/>
          </a:p>
          <a:p>
            <a:pPr marL="154305" lvl="1" indent="0">
              <a:buNone/>
            </a:pPr>
            <a:r>
              <a:rPr lang="en-US" altLang="zh-CN" sz="2000" u="sng" dirty="0">
                <a:hlinkClick r:id="rId3"/>
              </a:rPr>
              <a:t>http://speech.ee.ntu.edu.tw/~tlkagk/slide/Tutorial_HYLee_Deep.pptx</a:t>
            </a:r>
            <a:endParaRPr lang="en-US" altLang="zh-CN" sz="2000" u="sng" dirty="0"/>
          </a:p>
          <a:p>
            <a:pPr marL="154305" lvl="1" indent="0">
              <a:buNone/>
            </a:pPr>
            <a:endParaRPr lang="en-US" altLang="zh-CN" sz="2000" dirty="0"/>
          </a:p>
          <a:p>
            <a:pPr marL="457200" indent="-457200">
              <a:buFont typeface="+mj-lt"/>
              <a:buAutoNum type="arabicPeriod"/>
            </a:pPr>
            <a:r>
              <a:rPr lang="zh-CN" altLang="en-US" sz="2400" dirty="0"/>
              <a:t>李宏毅 </a:t>
            </a:r>
            <a:r>
              <a:rPr lang="en-US" altLang="zh-CN" sz="2400" dirty="0"/>
              <a:t>“</a:t>
            </a:r>
            <a:r>
              <a:rPr lang="zh-CN" altLang="en-US" sz="2400" dirty="0"/>
              <a:t>机器学习</a:t>
            </a:r>
            <a:r>
              <a:rPr lang="en-US" altLang="zh-CN" sz="2400" dirty="0"/>
              <a:t>2020”</a:t>
            </a:r>
            <a:r>
              <a:rPr lang="zh-CN" altLang="en-US" sz="2400" dirty="0"/>
              <a:t>，</a:t>
            </a:r>
            <a:endParaRPr lang="en-US" altLang="zh-CN" sz="2400" dirty="0"/>
          </a:p>
          <a:p>
            <a:pPr marL="154305" lvl="1" indent="0">
              <a:buNone/>
            </a:pPr>
            <a:r>
              <a:rPr lang="en-US" altLang="zh-CN" sz="2000" u="sng" dirty="0"/>
              <a:t>https://www.bilibili.com/video/av94519857/</a:t>
            </a:r>
          </a:p>
          <a:p>
            <a:pPr marL="457200" indent="-457200">
              <a:buFont typeface="+mj-lt"/>
              <a:buAutoNum type="arabicPeriod"/>
            </a:pPr>
            <a:endParaRPr lang="zh-CN" altLang="en-US" sz="24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顶会论文</a:t>
            </a:r>
            <a:endParaRPr lang="zh-CN" altLang="en-US" dirty="0"/>
          </a:p>
        </p:txBody>
      </p:sp>
      <p:sp>
        <p:nvSpPr>
          <p:cNvPr id="3" name="内容占位符 2"/>
          <p:cNvSpPr>
            <a:spLocks noGrp="1"/>
          </p:cNvSpPr>
          <p:nvPr>
            <p:ph idx="1"/>
          </p:nvPr>
        </p:nvSpPr>
        <p:spPr/>
        <p:txBody>
          <a:bodyPr/>
          <a:lstStyle/>
          <a:p>
            <a:r>
              <a:rPr lang="zh-CN" altLang="en-US" dirty="0" err="1"/>
              <a:t>机器学习</a:t>
            </a:r>
            <a:r>
              <a:rPr dirty="0" err="1"/>
              <a:t>/</a:t>
            </a:r>
            <a:r>
              <a:rPr lang="zh-CN" altLang="en-US" dirty="0" err="1"/>
              <a:t>人工智能：</a:t>
            </a:r>
            <a:r>
              <a:rPr lang="en-US" altLang="zh-CN" dirty="0" err="1"/>
              <a:t>NeurIPS</a:t>
            </a:r>
            <a:r>
              <a:rPr lang="zh-CN" altLang="en-US" dirty="0"/>
              <a:t>、</a:t>
            </a:r>
            <a:r>
              <a:rPr lang="en-US" altLang="zh-CN" dirty="0"/>
              <a:t>ICLR</a:t>
            </a:r>
            <a:r>
              <a:rPr lang="zh-CN" altLang="en-US" dirty="0"/>
              <a:t>、</a:t>
            </a:r>
            <a:r>
              <a:rPr lang="en-US" altLang="zh-CN" dirty="0"/>
              <a:t>ICML</a:t>
            </a:r>
            <a:r>
              <a:rPr lang="zh-CN" altLang="en-US" dirty="0"/>
              <a:t>、</a:t>
            </a:r>
            <a:r>
              <a:rPr lang="en-US" altLang="zh-CN" dirty="0"/>
              <a:t>AAAI</a:t>
            </a:r>
            <a:r>
              <a:rPr lang="zh-CN" altLang="en-US" dirty="0"/>
              <a:t>、</a:t>
            </a:r>
            <a:r>
              <a:rPr lang="en-US" altLang="zh-CN" dirty="0"/>
              <a:t>IJCAI</a:t>
            </a:r>
            <a:endParaRPr lang="zh-CN" altLang="en-US" dirty="0"/>
          </a:p>
          <a:p>
            <a:r>
              <a:rPr lang="zh-CN" altLang="en-US" dirty="0"/>
              <a:t>计算机视觉：</a:t>
            </a:r>
            <a:r>
              <a:rPr lang="en-US" altLang="zh-CN" dirty="0"/>
              <a:t>CVPR</a:t>
            </a:r>
            <a:r>
              <a:rPr lang="zh-CN" altLang="en-US" dirty="0"/>
              <a:t>、</a:t>
            </a:r>
            <a:r>
              <a:rPr lang="en-US" altLang="zh-CN" dirty="0"/>
              <a:t>ICCV</a:t>
            </a:r>
          </a:p>
          <a:p>
            <a:r>
              <a:rPr lang="zh-CN" altLang="en-US" dirty="0"/>
              <a:t>自然语言处理：</a:t>
            </a:r>
            <a:r>
              <a:rPr dirty="0"/>
              <a:t>ACL</a:t>
            </a:r>
            <a:r>
              <a:rPr lang="zh-CN" altLang="en-US" dirty="0"/>
              <a:t>、</a:t>
            </a:r>
            <a:r>
              <a:rPr dirty="0"/>
              <a:t>EMNLP</a:t>
            </a:r>
            <a:endParaRPr lang="en-US" altLang="zh-CN" dirty="0"/>
          </a:p>
          <a:p>
            <a:r>
              <a:rPr lang="zh-CN" altLang="en-US">
                <a:sym typeface="+mn-ea"/>
              </a:rPr>
              <a:t>网络与信息安全：</a:t>
            </a:r>
            <a:r>
              <a:rPr>
                <a:sym typeface="+mn-ea"/>
              </a:rPr>
              <a:t>CCS</a:t>
            </a:r>
            <a:r>
              <a:rPr lang="zh-CN" altLang="en-US">
                <a:sym typeface="+mn-ea"/>
              </a:rPr>
              <a:t>、</a:t>
            </a:r>
            <a:r>
              <a:rPr>
                <a:sym typeface="+mn-ea"/>
              </a:rPr>
              <a:t>S&amp;P</a:t>
            </a:r>
            <a:r>
              <a:rPr lang="zh-CN" altLang="en-US">
                <a:sym typeface="+mn-ea"/>
              </a:rPr>
              <a:t>、USENIX</a:t>
            </a:r>
            <a:r>
              <a:rPr>
                <a:sym typeface="+mn-ea"/>
              </a:rPr>
              <a:t> Security</a:t>
            </a:r>
            <a:r>
              <a:rPr lang="zh-CN" altLang="en-US">
                <a:latin typeface="Times New Roman Bold" panose="02020503050405090304" charset="0"/>
                <a:cs typeface="Times New Roman Bold" panose="02020503050405090304" charset="0"/>
                <a:sym typeface="+mn-ea"/>
              </a:rPr>
              <a:t>、</a:t>
            </a:r>
            <a:r>
              <a:rPr>
                <a:latin typeface="Times New Roman" panose="02020503050405090304" charset="0"/>
                <a:cs typeface="Times New Roman" panose="02020503050405090304" charset="0"/>
                <a:sym typeface="+mn-ea"/>
              </a:rPr>
              <a:t>NDSS</a:t>
            </a:r>
            <a:endParaRPr lang="zh-CN" altLang="en-US" dirty="0"/>
          </a:p>
          <a:p>
            <a:r>
              <a:rPr lang="en-US" altLang="zh-CN"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a:t>常用的深度学习框架</a:t>
            </a:r>
            <a:endParaRPr lang="zh-TW" altLang="en-US" dirty="0"/>
          </a:p>
        </p:txBody>
      </p:sp>
      <p:sp>
        <p:nvSpPr>
          <p:cNvPr id="11" name="内容占位符 10"/>
          <p:cNvSpPr>
            <a:spLocks noGrp="1"/>
          </p:cNvSpPr>
          <p:nvPr>
            <p:ph idx="1"/>
          </p:nvPr>
        </p:nvSpPr>
        <p:spPr/>
        <p:txBody>
          <a:bodyPr/>
          <a:lstStyle/>
          <a:p>
            <a:r>
              <a:rPr lang="zh-CN" altLang="en-US"/>
              <a:t>简易和快速的原型设计</a:t>
            </a:r>
            <a:endParaRPr lang="en-US" altLang="zh-CN"/>
          </a:p>
          <a:p>
            <a:r>
              <a:rPr lang="zh-CN" altLang="en-US"/>
              <a:t>自动梯度计算</a:t>
            </a:r>
            <a:endParaRPr lang="en-US" altLang="zh-CN"/>
          </a:p>
          <a:p>
            <a:r>
              <a:rPr lang="zh-CN" altLang="en-US"/>
              <a:t>无缝</a:t>
            </a:r>
            <a:r>
              <a:rPr lang="en-US" altLang="zh-CN"/>
              <a:t>CPU</a:t>
            </a:r>
            <a:r>
              <a:rPr lang="zh-CN" altLang="en-US"/>
              <a:t>和</a:t>
            </a:r>
            <a:r>
              <a:rPr lang="en-US" altLang="zh-CN"/>
              <a:t>GPU</a:t>
            </a:r>
            <a:r>
              <a:rPr lang="zh-CN" altLang="en-US"/>
              <a:t>切换</a:t>
            </a:r>
          </a:p>
          <a:p>
            <a:r>
              <a:rPr lang="zh-CN" altLang="en-US"/>
              <a:t>分布式计算</a:t>
            </a:r>
          </a:p>
          <a:p>
            <a:endParaRPr lang="zh-CN" altLang="en-US" dirty="0"/>
          </a:p>
        </p:txBody>
      </p:sp>
      <p:pic>
        <p:nvPicPr>
          <p:cNvPr id="5" name="Picture 6" descr="http://cdn.geekwire.com/wp-content/uploads/2015/11/google-Tensor-Flow.png"/>
          <p:cNvPicPr>
            <a:picLocks noChangeAspect="1" noChangeArrowheads="1"/>
          </p:cNvPicPr>
          <p:nvPr/>
        </p:nvPicPr>
        <p:blipFill>
          <a:blip r:embed="rId3" cstate="print"/>
          <a:srcRect/>
          <a:stretch>
            <a:fillRect/>
          </a:stretch>
        </p:blipFill>
        <p:spPr bwMode="auto">
          <a:xfrm>
            <a:off x="1925429" y="3121994"/>
            <a:ext cx="1618734" cy="1319268"/>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屏幕剪辑"/>
          <p:cNvPicPr>
            <a:picLocks noChangeAspect="1"/>
          </p:cNvPicPr>
          <p:nvPr/>
        </p:nvPicPr>
        <p:blipFill>
          <a:blip r:embed="rId4"/>
          <a:stretch>
            <a:fillRect/>
          </a:stretch>
        </p:blipFill>
        <p:spPr>
          <a:xfrm>
            <a:off x="4257103" y="4701541"/>
            <a:ext cx="3912731" cy="1005508"/>
          </a:xfrm>
          <a:prstGeom prst="rect">
            <a:avLst/>
          </a:prstGeom>
        </p:spPr>
      </p:pic>
      <p:pic>
        <p:nvPicPr>
          <p:cNvPr id="8" name="图片 7"/>
          <p:cNvPicPr>
            <a:picLocks noChangeAspect="1"/>
          </p:cNvPicPr>
          <p:nvPr/>
        </p:nvPicPr>
        <p:blipFill>
          <a:blip r:embed="rId5"/>
          <a:stretch>
            <a:fillRect/>
          </a:stretch>
        </p:blipFill>
        <p:spPr>
          <a:xfrm>
            <a:off x="4347711" y="3289755"/>
            <a:ext cx="1972578" cy="1030831"/>
          </a:xfrm>
          <a:prstGeom prst="rect">
            <a:avLst/>
          </a:prstGeom>
        </p:spPr>
      </p:pic>
      <p:pic>
        <p:nvPicPr>
          <p:cNvPr id="12" name="图片 11"/>
          <p:cNvPicPr>
            <a:picLocks noChangeAspect="1"/>
          </p:cNvPicPr>
          <p:nvPr/>
        </p:nvPicPr>
        <p:blipFill>
          <a:blip r:embed="rId6"/>
          <a:stretch>
            <a:fillRect/>
          </a:stretch>
        </p:blipFill>
        <p:spPr>
          <a:xfrm>
            <a:off x="1879711" y="5383496"/>
            <a:ext cx="1818823" cy="581840"/>
          </a:xfrm>
          <a:prstGeom prst="rect">
            <a:avLst/>
          </a:prstGeom>
        </p:spPr>
      </p:pic>
      <p:pic>
        <p:nvPicPr>
          <p:cNvPr id="13" name="图片 12"/>
          <p:cNvPicPr>
            <a:picLocks noChangeAspect="1"/>
          </p:cNvPicPr>
          <p:nvPr/>
        </p:nvPicPr>
        <p:blipFill>
          <a:blip r:embed="rId7"/>
          <a:stretch>
            <a:fillRect/>
          </a:stretch>
        </p:blipFill>
        <p:spPr>
          <a:xfrm>
            <a:off x="1040458" y="4448717"/>
            <a:ext cx="2248567" cy="652462"/>
          </a:xfrm>
          <a:prstGeom prst="rect">
            <a:avLst/>
          </a:prstGeom>
        </p:spPr>
      </p:pic>
      <p:pic>
        <p:nvPicPr>
          <p:cNvPr id="5128" name="Picture 8" descr="âdeep learning frameworkâçå¾çæç´¢ç»æ"/>
          <p:cNvPicPr>
            <a:picLocks noChangeAspect="1" noChangeArrowheads="1"/>
          </p:cNvPicPr>
          <p:nvPr/>
        </p:nvPicPr>
        <p:blipFill>
          <a:blip r:embed="rId8"/>
          <a:srcRect/>
          <a:stretch>
            <a:fillRect/>
          </a:stretch>
        </p:blipFill>
        <p:spPr bwMode="auto">
          <a:xfrm>
            <a:off x="6819900" y="2902429"/>
            <a:ext cx="1905000" cy="1285876"/>
          </a:xfrm>
          <a:prstGeom prst="rect">
            <a:avLst/>
          </a:prstGeom>
          <a:noFill/>
          <a:extLst>
            <a:ext uri="{909E8E84-426E-40DD-AFC4-6F175D3DCCD1}">
              <a14:hiddenFill xmlns:a14="http://schemas.microsoft.com/office/drawing/2010/main">
                <a:solidFill>
                  <a:srgbClr val="FFFFFF"/>
                </a:solidFill>
              </a14:hiddenFill>
            </a:ext>
          </a:extLst>
        </p:spPr>
      </p:pic>
      <p:pic>
        <p:nvPicPr>
          <p:cNvPr id="14" name="图片 13"/>
          <p:cNvPicPr>
            <a:picLocks noChangeAspect="1"/>
          </p:cNvPicPr>
          <p:nvPr/>
        </p:nvPicPr>
        <p:blipFill>
          <a:blip r:embed="rId9"/>
          <a:stretch>
            <a:fillRect/>
          </a:stretch>
        </p:blipFill>
        <p:spPr>
          <a:xfrm>
            <a:off x="8328635" y="4953000"/>
            <a:ext cx="2088315" cy="1195332"/>
          </a:xfrm>
          <a:prstGeom prst="rect">
            <a:avLst/>
          </a:prstGeom>
        </p:spPr>
      </p:pic>
      <p:pic>
        <p:nvPicPr>
          <p:cNvPr id="15" name="图片 14"/>
          <p:cNvPicPr>
            <a:picLocks noChangeAspect="1"/>
          </p:cNvPicPr>
          <p:nvPr/>
        </p:nvPicPr>
        <p:blipFill>
          <a:blip r:embed="rId10"/>
          <a:stretch>
            <a:fillRect/>
          </a:stretch>
        </p:blipFill>
        <p:spPr>
          <a:xfrm>
            <a:off x="9069087" y="3668610"/>
            <a:ext cx="1962551" cy="1031922"/>
          </a:xfrm>
          <a:prstGeom prst="rect">
            <a:avLst/>
          </a:prstGeom>
        </p:spPr>
      </p:pic>
      <p:pic>
        <p:nvPicPr>
          <p:cNvPr id="17" name="图片 16"/>
          <p:cNvPicPr>
            <a:picLocks noChangeAspect="1"/>
          </p:cNvPicPr>
          <p:nvPr/>
        </p:nvPicPr>
        <p:blipFill>
          <a:blip r:embed="rId11"/>
          <a:stretch>
            <a:fillRect/>
          </a:stretch>
        </p:blipFill>
        <p:spPr>
          <a:xfrm>
            <a:off x="6183419" y="938563"/>
            <a:ext cx="5771336" cy="164895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理论</a:t>
            </a:r>
            <a:r>
              <a:rPr lang="en-US" altLang="zh-CN" dirty="0"/>
              <a:t>+</a:t>
            </a:r>
            <a:r>
              <a:rPr lang="zh-CN" altLang="en-US" dirty="0"/>
              <a:t>实践课程教学说明</a:t>
            </a:r>
          </a:p>
        </p:txBody>
      </p:sp>
      <p:sp>
        <p:nvSpPr>
          <p:cNvPr id="3" name="内容占位符 2"/>
          <p:cNvSpPr>
            <a:spLocks noGrp="1"/>
          </p:cNvSpPr>
          <p:nvPr>
            <p:ph idx="1"/>
          </p:nvPr>
        </p:nvSpPr>
        <p:spPr>
          <a:xfrm>
            <a:off x="631190" y="990600"/>
            <a:ext cx="10972800" cy="5735320"/>
          </a:xfrm>
        </p:spPr>
        <p:txBody>
          <a:bodyPr/>
          <a:lstStyle/>
          <a:p>
            <a:pPr eaLnBrk="1" hangingPunct="1">
              <a:lnSpc>
                <a:spcPct val="134000"/>
              </a:lnSpc>
              <a:spcBef>
                <a:spcPct val="50000"/>
              </a:spcBef>
            </a:pPr>
            <a:r>
              <a:rPr lang="zh-CN" altLang="en-US" sz="2000" b="1" dirty="0">
                <a:latin typeface="KaiTi" panose="02010609060101010101" pitchFamily="49" charset="-122"/>
                <a:ea typeface="KaiTi" panose="02010609060101010101" pitchFamily="49" charset="-122"/>
                <a:cs typeface="Times New Roman" panose="02020503050405090304" charset="0"/>
              </a:rPr>
              <a:t>教学内容：课件、教材、参考文献。</a:t>
            </a:r>
          </a:p>
          <a:p>
            <a:pPr eaLnBrk="1" hangingPunct="1">
              <a:lnSpc>
                <a:spcPct val="134000"/>
              </a:lnSpc>
              <a:spcBef>
                <a:spcPct val="50000"/>
              </a:spcBef>
            </a:pPr>
            <a:r>
              <a:rPr lang="zh-CN" altLang="en-US" sz="2000" b="1" dirty="0">
                <a:latin typeface="KaiTi" panose="02010609060101010101" pitchFamily="49" charset="-122"/>
                <a:ea typeface="KaiTi" panose="02010609060101010101" pitchFamily="49" charset="-122"/>
                <a:cs typeface="Times New Roman" panose="02020503050405090304" charset="0"/>
              </a:rPr>
              <a:t>介绍概念</a:t>
            </a:r>
            <a:r>
              <a:rPr lang="en-US" altLang="zh-CN" sz="2000" b="1" dirty="0">
                <a:latin typeface="KaiTi" panose="02010609060101010101" pitchFamily="49" charset="-122"/>
                <a:ea typeface="KaiTi" panose="02010609060101010101" pitchFamily="49" charset="-122"/>
                <a:cs typeface="Times New Roman" panose="02020503050405090304" charset="0"/>
              </a:rPr>
              <a:t>/</a:t>
            </a:r>
            <a:r>
              <a:rPr lang="zh-CN" altLang="en-US" sz="2000" b="1" dirty="0">
                <a:latin typeface="KaiTi" panose="02010609060101010101" pitchFamily="49" charset="-122"/>
                <a:ea typeface="KaiTi" panose="02010609060101010101" pitchFamily="49" charset="-122"/>
                <a:cs typeface="Times New Roman" panose="02020503050405090304" charset="0"/>
              </a:rPr>
              <a:t>框架为主，要求学生能够</a:t>
            </a:r>
            <a:r>
              <a:rPr lang="zh-CN" altLang="en-US" sz="2000" b="1" dirty="0">
                <a:highlight>
                  <a:srgbClr val="FFFF00"/>
                </a:highlight>
                <a:latin typeface="KaiTi" panose="02010609060101010101" pitchFamily="49" charset="-122"/>
                <a:ea typeface="KaiTi" panose="02010609060101010101" pitchFamily="49" charset="-122"/>
                <a:cs typeface="Times New Roman" panose="02020503050405090304" charset="0"/>
              </a:rPr>
              <a:t>全面了解神经网络和深度学习的基本概念、原理和方法</a:t>
            </a:r>
            <a:r>
              <a:rPr lang="zh-CN" altLang="en-US" sz="2000" b="1" dirty="0">
                <a:latin typeface="KaiTi" panose="02010609060101010101" pitchFamily="49" charset="-122"/>
                <a:ea typeface="KaiTi" panose="02010609060101010101" pitchFamily="49" charset="-122"/>
                <a:cs typeface="Times New Roman" panose="02020503050405090304" charset="0"/>
              </a:rPr>
              <a:t>，</a:t>
            </a:r>
            <a:r>
              <a:rPr lang="zh-CN" altLang="en-US" sz="2000" b="1" dirty="0">
                <a:highlight>
                  <a:srgbClr val="FFFF00"/>
                </a:highlight>
                <a:latin typeface="KaiTi" panose="02010609060101010101" pitchFamily="49" charset="-122"/>
                <a:ea typeface="KaiTi" panose="02010609060101010101" pitchFamily="49" charset="-122"/>
                <a:cs typeface="Times New Roman" panose="02020503050405090304" charset="0"/>
              </a:rPr>
              <a:t>掌握常见的神经网络模型和深度学习框架的使用，熟悉深度学习技术的各种应用场景</a:t>
            </a:r>
            <a:r>
              <a:rPr lang="zh-CN" altLang="en-US" sz="2000" b="1" dirty="0">
                <a:latin typeface="KaiTi" panose="02010609060101010101" pitchFamily="49" charset="-122"/>
                <a:ea typeface="KaiTi" panose="02010609060101010101" pitchFamily="49" charset="-122"/>
                <a:cs typeface="Times New Roman" panose="02020503050405090304" charset="0"/>
              </a:rPr>
              <a:t>。</a:t>
            </a:r>
            <a:endParaRPr lang="en-US" altLang="zh-CN" sz="2000" b="1" dirty="0">
              <a:latin typeface="KaiTi" panose="02010609060101010101" pitchFamily="49" charset="-122"/>
              <a:ea typeface="KaiTi" panose="02010609060101010101" pitchFamily="49" charset="-122"/>
              <a:cs typeface="Times New Roman" panose="02020503050405090304" charset="0"/>
            </a:endParaRPr>
          </a:p>
          <a:p>
            <a:pPr lvl="1" eaLnBrk="1" hangingPunct="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掌握神经网络和深度学习的基本概念和原理</a:t>
            </a:r>
            <a:endParaRPr lang="en-US" altLang="zh-CN" sz="1800" b="1" dirty="0">
              <a:latin typeface="KaiTi" panose="02010609060101010101" pitchFamily="49" charset="-122"/>
              <a:ea typeface="KaiTi" panose="02010609060101010101" pitchFamily="49" charset="-122"/>
              <a:cs typeface="Times New Roman" panose="02020503050405090304" charset="0"/>
            </a:endParaRPr>
          </a:p>
          <a:p>
            <a:pPr lvl="1" eaLnBrk="1" hangingPunct="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掌握深度学习框架的使用并能够进行实践操作</a:t>
            </a:r>
            <a:endParaRPr lang="en-US" altLang="zh-CN" sz="1800" b="1" dirty="0">
              <a:latin typeface="KaiTi" panose="02010609060101010101" pitchFamily="49" charset="-122"/>
              <a:ea typeface="KaiTi" panose="02010609060101010101" pitchFamily="49" charset="-122"/>
              <a:cs typeface="Times New Roman" panose="02020503050405090304" charset="0"/>
            </a:endParaRPr>
          </a:p>
          <a:p>
            <a:pPr lvl="1" eaLnBrk="1" hangingPunct="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熟悉深度学习模型的优化方法并掌握相关工具</a:t>
            </a:r>
            <a:endParaRPr lang="en-US" altLang="zh-CN" sz="1800" b="1" dirty="0">
              <a:latin typeface="KaiTi" panose="02010609060101010101" pitchFamily="49" charset="-122"/>
              <a:ea typeface="KaiTi" panose="02010609060101010101" pitchFamily="49" charset="-122"/>
              <a:cs typeface="Times New Roman" panose="02020503050405090304" charset="0"/>
            </a:endParaRPr>
          </a:p>
          <a:p>
            <a:pPr lvl="1" eaLnBrk="1" hangingPunct="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跟进深度学习的前沿研究并培养独立解决问题的能力</a:t>
            </a:r>
            <a:endParaRPr lang="en-US" altLang="zh-CN" sz="1800" b="1" dirty="0">
              <a:latin typeface="KaiTi" panose="02010609060101010101" pitchFamily="49" charset="-122"/>
              <a:ea typeface="KaiTi" panose="02010609060101010101" pitchFamily="49" charset="-122"/>
              <a:cs typeface="Times New Roman" panose="02020503050405090304" charset="0"/>
            </a:endParaRPr>
          </a:p>
          <a:p>
            <a:pPr lvl="1">
              <a:lnSpc>
                <a:spcPct val="134000"/>
              </a:lnSpc>
            </a:pPr>
            <a:r>
              <a:rPr lang="zh-CN" altLang="en-US" sz="2000" b="1" dirty="0">
                <a:solidFill>
                  <a:srgbClr val="C00000"/>
                </a:solidFill>
                <a:latin typeface="KaiTi" panose="02010609060101010101" pitchFamily="49" charset="-122"/>
                <a:ea typeface="KaiTi" panose="02010609060101010101" pitchFamily="49" charset="-122"/>
                <a:cs typeface="Times New Roman" panose="02020503050405090304" charset="0"/>
              </a:rPr>
              <a:t>通过本课程的学习，学生将获得足够的理论知识和实践经验，为后续的研究和工作打下坚实的基础。</a:t>
            </a:r>
            <a:endParaRPr lang="en-US" altLang="zh-CN" sz="2000" b="1" dirty="0">
              <a:solidFill>
                <a:srgbClr val="C00000"/>
              </a:solidFill>
              <a:latin typeface="KaiTi" panose="02010609060101010101" pitchFamily="49" charset="-122"/>
              <a:ea typeface="KaiTi" panose="02010609060101010101" pitchFamily="49" charset="-122"/>
              <a:cs typeface="Times New Roman" panose="02020503050405090304" charset="0"/>
            </a:endParaRPr>
          </a:p>
          <a:p>
            <a:pPr eaLnBrk="1" hangingPunct="1">
              <a:lnSpc>
                <a:spcPct val="134000"/>
              </a:lnSpc>
              <a:spcBef>
                <a:spcPct val="50000"/>
              </a:spcBef>
            </a:pPr>
            <a:r>
              <a:rPr lang="zh-CN" altLang="en-US" sz="2000" b="1" dirty="0">
                <a:latin typeface="KaiTi" panose="02010609060101010101" pitchFamily="49" charset="-122"/>
                <a:ea typeface="KaiTi" panose="02010609060101010101" pitchFamily="49" charset="-122"/>
                <a:cs typeface="Times New Roman" panose="02020503050405090304" charset="0"/>
              </a:rPr>
              <a:t>学习要求</a:t>
            </a:r>
          </a:p>
          <a:p>
            <a:pPr lvl="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把握学习节奏，莫到结束时总算账</a:t>
            </a:r>
            <a:r>
              <a:rPr lang="en-US" altLang="zh-CN" sz="1800" b="1" dirty="0">
                <a:latin typeface="KaiTi" panose="02010609060101010101" pitchFamily="49" charset="-122"/>
                <a:ea typeface="KaiTi" panose="02010609060101010101" pitchFamily="49" charset="-122"/>
                <a:cs typeface="Times New Roman" panose="02020503050405090304" charset="0"/>
              </a:rPr>
              <a:t> (</a:t>
            </a:r>
            <a:r>
              <a:rPr lang="zh-CN" altLang="en-US" sz="1800" b="1" dirty="0">
                <a:latin typeface="KaiTi" panose="02010609060101010101" pitchFamily="49" charset="-122"/>
                <a:ea typeface="KaiTi" panose="02010609060101010101" pitchFamily="49" charset="-122"/>
                <a:cs typeface="Times New Roman" panose="02020503050405090304" charset="0"/>
              </a:rPr>
              <a:t>课前预习，重点听讲，课后复习，补充细节</a:t>
            </a:r>
            <a:r>
              <a:rPr lang="en-US" altLang="zh-CN" sz="1800" b="1" dirty="0">
                <a:latin typeface="KaiTi" panose="02010609060101010101" pitchFamily="49" charset="-122"/>
                <a:ea typeface="KaiTi" panose="02010609060101010101" pitchFamily="49" charset="-122"/>
                <a:cs typeface="Times New Roman" panose="02020503050405090304" charset="0"/>
              </a:rPr>
              <a:t>)</a:t>
            </a:r>
            <a:endParaRPr lang="zh-CN" altLang="en-US" sz="1800" b="1" dirty="0">
              <a:latin typeface="KaiTi" panose="02010609060101010101" pitchFamily="49" charset="-122"/>
              <a:ea typeface="KaiTi" panose="02010609060101010101" pitchFamily="49" charset="-122"/>
              <a:cs typeface="Times New Roman" panose="02020503050405090304" charset="0"/>
            </a:endParaRPr>
          </a:p>
          <a:p>
            <a:pPr lvl="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把握知识点</a:t>
            </a:r>
            <a:r>
              <a:rPr lang="en-US" altLang="zh-CN" sz="1800" b="1" dirty="0">
                <a:latin typeface="KaiTi" panose="02010609060101010101" pitchFamily="49" charset="-122"/>
                <a:ea typeface="KaiTi" panose="02010609060101010101" pitchFamily="49" charset="-122"/>
                <a:cs typeface="Times New Roman" panose="02020503050405090304" charset="0"/>
              </a:rPr>
              <a:t>(</a:t>
            </a:r>
            <a:r>
              <a:rPr lang="zh-CN" altLang="en-US" sz="1800" b="1" dirty="0">
                <a:latin typeface="KaiTi" panose="02010609060101010101" pitchFamily="49" charset="-122"/>
                <a:ea typeface="KaiTi" panose="02010609060101010101" pitchFamily="49" charset="-122"/>
                <a:cs typeface="Times New Roman" panose="02020503050405090304" charset="0"/>
              </a:rPr>
              <a:t>自己会用，看懂别人使用，不懂</a:t>
            </a:r>
            <a:r>
              <a:rPr lang="en-US" altLang="zh-CN" sz="1800" b="1" dirty="0">
                <a:latin typeface="KaiTi" panose="02010609060101010101" pitchFamily="49" charset="-122"/>
                <a:ea typeface="KaiTi" panose="02010609060101010101" pitchFamily="49" charset="-122"/>
                <a:cs typeface="Times New Roman" panose="02020503050405090304" charset="0"/>
              </a:rPr>
              <a:t>)</a:t>
            </a:r>
            <a:endParaRPr lang="zh-CN" altLang="en-US" sz="1800" b="1" dirty="0">
              <a:latin typeface="KaiTi" panose="02010609060101010101" pitchFamily="49" charset="-122"/>
              <a:ea typeface="KaiTi" panose="02010609060101010101" pitchFamily="49" charset="-122"/>
              <a:cs typeface="Times New Roman" panose="02020503050405090304" charset="0"/>
            </a:endParaRPr>
          </a:p>
          <a:p>
            <a:pPr lvl="1">
              <a:lnSpc>
                <a:spcPct val="134000"/>
              </a:lnSpc>
              <a:buFont typeface="Wingdings" panose="05000000000000000000" charset="0"/>
              <a:buChar char=""/>
            </a:pPr>
            <a:r>
              <a:rPr lang="zh-CN" altLang="en-US" sz="1800" b="1" dirty="0">
                <a:latin typeface="KaiTi" panose="02010609060101010101" pitchFamily="49" charset="-122"/>
                <a:ea typeface="KaiTi" panose="02010609060101010101" pitchFamily="49" charset="-122"/>
                <a:cs typeface="Times New Roman" panose="02020503050405090304" charset="0"/>
              </a:rPr>
              <a:t>如何复习：理顺思路，建立体系</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成绩考核</a:t>
            </a:r>
          </a:p>
        </p:txBody>
      </p:sp>
      <p:sp>
        <p:nvSpPr>
          <p:cNvPr id="3" name="内容占位符 2"/>
          <p:cNvSpPr>
            <a:spLocks noGrp="1"/>
          </p:cNvSpPr>
          <p:nvPr>
            <p:ph idx="1"/>
          </p:nvPr>
        </p:nvSpPr>
        <p:spPr>
          <a:xfrm>
            <a:off x="609600" y="990600"/>
            <a:ext cx="10972800" cy="4419600"/>
          </a:xfrm>
        </p:spPr>
        <p:txBody>
          <a:bodyPr/>
          <a:lstStyle/>
          <a:p>
            <a:r>
              <a:rPr lang="zh-CN" altLang="en-US" sz="2800" dirty="0"/>
              <a:t>平时成绩（出勤）</a:t>
            </a:r>
            <a:endParaRPr lang="en-US" altLang="zh-CN" sz="2800" b="1" dirty="0">
              <a:highlight>
                <a:srgbClr val="FFFF00"/>
              </a:highlight>
            </a:endParaRPr>
          </a:p>
          <a:p>
            <a:pPr marL="0" lvl="1" indent="0">
              <a:spcBef>
                <a:spcPts val="340"/>
              </a:spcBef>
              <a:buNone/>
            </a:pPr>
            <a:r>
              <a:rPr lang="en-US" altLang="zh-CN" dirty="0">
                <a:solidFill>
                  <a:srgbClr val="C00000"/>
                </a:solidFill>
                <a:cs typeface="Arial" panose="020B0604020202090204" pitchFamily="34" charset="0"/>
              </a:rPr>
              <a:t>  10%</a:t>
            </a:r>
          </a:p>
          <a:p>
            <a:r>
              <a:rPr lang="zh-CN" altLang="en-US" sz="2800" dirty="0"/>
              <a:t>平时作业</a:t>
            </a:r>
            <a:endParaRPr lang="en-US" altLang="zh-CN" sz="2800" dirty="0"/>
          </a:p>
          <a:p>
            <a:pPr marL="0" indent="0">
              <a:buNone/>
            </a:pPr>
            <a:r>
              <a:rPr lang="en-US" altLang="zh-CN" sz="2800" dirty="0"/>
              <a:t>  30%</a:t>
            </a:r>
          </a:p>
          <a:p>
            <a:r>
              <a:rPr lang="zh-CN" altLang="en-US" sz="2800" dirty="0"/>
              <a:t>期末大作业</a:t>
            </a:r>
            <a:endParaRPr lang="en-US" altLang="zh-CN" sz="2800" dirty="0"/>
          </a:p>
          <a:p>
            <a:pPr marL="0" indent="0">
              <a:buNone/>
            </a:pPr>
            <a:r>
              <a:rPr lang="en-US" altLang="zh-CN" sz="2800" dirty="0"/>
              <a:t>  60%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1.1 </a:t>
            </a:r>
            <a:r>
              <a:rPr lang="zh-CN" altLang="en-US" dirty="0"/>
              <a:t>人工智能</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图灵测试</a:t>
            </a:r>
            <a:endParaRPr lang="zh-CN" altLang="en-US" dirty="0"/>
          </a:p>
        </p:txBody>
      </p:sp>
      <p:pic>
        <p:nvPicPr>
          <p:cNvPr id="4" name="Picture 2" descr=" 2050"/>
          <p:cNvPicPr>
            <a:picLocks noChangeAspect="1" noChangeArrowheads="1"/>
          </p:cNvPicPr>
          <p:nvPr/>
        </p:nvPicPr>
        <p:blipFill>
          <a:blip r:embed="rId3"/>
          <a:srcRect/>
          <a:stretch>
            <a:fillRect/>
          </a:stretch>
        </p:blipFill>
        <p:spPr bwMode="auto">
          <a:xfrm>
            <a:off x="7709061" y="1420696"/>
            <a:ext cx="1693069" cy="21431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 2052"/>
          <p:cNvPicPr>
            <a:picLocks noChangeAspect="1" noChangeArrowheads="1"/>
          </p:cNvPicPr>
          <p:nvPr/>
        </p:nvPicPr>
        <p:blipFill>
          <a:blip r:embed="rId4"/>
          <a:srcRect/>
          <a:stretch>
            <a:fillRect/>
          </a:stretch>
        </p:blipFill>
        <p:spPr bwMode="auto">
          <a:xfrm>
            <a:off x="7237096" y="4572000"/>
            <a:ext cx="2897505" cy="139493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descr=" 5"/>
          <p:cNvSpPr/>
          <p:nvPr/>
        </p:nvSpPr>
        <p:spPr>
          <a:xfrm>
            <a:off x="7879736" y="3698578"/>
            <a:ext cx="1351717" cy="369332"/>
          </a:xfrm>
          <a:prstGeom prst="rect">
            <a:avLst/>
          </a:prstGeom>
        </p:spPr>
        <p:txBody>
          <a:bodyPr wrap="none">
            <a:spAutoFit/>
          </a:bodyPr>
          <a:lstStyle/>
          <a:p>
            <a:r>
              <a:rPr lang="en-US" altLang="zh-CN" dirty="0"/>
              <a:t>Alan Turing</a:t>
            </a:r>
            <a:endParaRPr lang="zh-CN" altLang="en-US" dirty="0"/>
          </a:p>
        </p:txBody>
      </p:sp>
      <p:sp>
        <p:nvSpPr>
          <p:cNvPr id="11" name="文本框 10"/>
          <p:cNvSpPr txBox="1"/>
          <p:nvPr/>
        </p:nvSpPr>
        <p:spPr>
          <a:xfrm>
            <a:off x="685800" y="1828800"/>
            <a:ext cx="5562600" cy="3600986"/>
          </a:xfrm>
          <a:prstGeom prst="rect">
            <a:avLst/>
          </a:prstGeom>
          <a:noFill/>
        </p:spPr>
        <p:txBody>
          <a:bodyPr wrap="square" rtlCol="0">
            <a:spAutoFit/>
          </a:bodyPr>
          <a:lstStyle/>
          <a:p>
            <a:r>
              <a:rPr lang="zh-CN" altLang="en-US" sz="2400" dirty="0">
                <a:solidFill>
                  <a:srgbClr val="000000"/>
                </a:solidFill>
              </a:rPr>
              <a:t>“一个人在不接触对方的情况下，通过一种特殊的方式，和对方进行一系列的问答。如果在相当长时间内，他无法根据这些问题判断对方是人还是计算机，那么就可以认为这个计算机是智能的”。</a:t>
            </a:r>
            <a:endParaRPr lang="en-US" altLang="zh-CN" sz="2400" dirty="0">
              <a:solidFill>
                <a:srgbClr val="000000"/>
              </a:solidFill>
            </a:endParaRPr>
          </a:p>
          <a:p>
            <a:pPr algn="r"/>
            <a:endParaRPr lang="en-US" altLang="zh-CN" sz="2400" dirty="0">
              <a:solidFill>
                <a:srgbClr val="000000"/>
              </a:solidFill>
            </a:endParaRPr>
          </a:p>
          <a:p>
            <a:pPr algn="r"/>
            <a:r>
              <a:rPr lang="en-US" altLang="zh-CN" dirty="0">
                <a:solidFill>
                  <a:srgbClr val="000000"/>
                </a:solidFill>
              </a:rPr>
              <a:t>---Alan Turing [1950]</a:t>
            </a:r>
          </a:p>
          <a:p>
            <a:pPr algn="r"/>
            <a:r>
              <a:rPr lang="en-US" altLang="zh-CN" dirty="0">
                <a:solidFill>
                  <a:srgbClr val="000000"/>
                </a:solidFill>
              </a:rPr>
              <a:t>《Computing Machinery and Intelligence》</a:t>
            </a:r>
            <a:endParaRPr lang="zh-CN" altLang="en-US" dirty="0">
              <a:solidFill>
                <a:srgbClr val="000000"/>
              </a:solidFill>
            </a:endParaRPr>
          </a:p>
          <a:p>
            <a:endParaRPr lang="zh-CN" altLang="en-US" sz="2400"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人工智能</a:t>
            </a:r>
            <a:endParaRPr lang="zh-CN" altLang="en-US" dirty="0"/>
          </a:p>
        </p:txBody>
      </p:sp>
      <p:sp>
        <p:nvSpPr>
          <p:cNvPr id="3" name="内容占位符 2"/>
          <p:cNvSpPr>
            <a:spLocks noGrp="1"/>
          </p:cNvSpPr>
          <p:nvPr>
            <p:ph idx="1"/>
          </p:nvPr>
        </p:nvSpPr>
        <p:spPr/>
        <p:txBody>
          <a:bodyPr/>
          <a:lstStyle/>
          <a:p>
            <a:r>
              <a:rPr lang="zh-CN" altLang="en-US" dirty="0"/>
              <a:t>人工智能（</a:t>
            </a:r>
            <a:r>
              <a:rPr lang="en-US" altLang="zh-CN" dirty="0"/>
              <a:t>artificial intelligence</a:t>
            </a:r>
            <a:r>
              <a:rPr lang="zh-CN" altLang="en-US" dirty="0"/>
              <a:t>，</a:t>
            </a:r>
            <a:r>
              <a:rPr lang="en-US" altLang="zh-CN" dirty="0"/>
              <a:t>AI</a:t>
            </a:r>
            <a:r>
              <a:rPr lang="zh-CN" altLang="en-US" dirty="0"/>
              <a:t>）就是让机器具有人类的智能。</a:t>
            </a:r>
            <a:endParaRPr lang="en-US" altLang="zh-CN" dirty="0"/>
          </a:p>
          <a:p>
            <a:pPr lvl="1"/>
            <a:r>
              <a:rPr lang="zh-CN" altLang="en-US" dirty="0"/>
              <a:t>“计算机控制”</a:t>
            </a:r>
            <a:r>
              <a:rPr lang="en-US" altLang="zh-CN" dirty="0"/>
              <a:t>+“</a:t>
            </a:r>
            <a:r>
              <a:rPr lang="zh-CN" altLang="en-US" dirty="0"/>
              <a:t>智能行为”</a:t>
            </a:r>
            <a:endParaRPr lang="en-US" altLang="zh-CN" dirty="0"/>
          </a:p>
          <a:p>
            <a:endParaRPr lang="en-US" altLang="zh-CN" dirty="0"/>
          </a:p>
          <a:p>
            <a:r>
              <a:rPr lang="zh-CN" altLang="en-US" dirty="0"/>
              <a:t>人工智能这个学科的诞生有着明确的标志性事件，就是</a:t>
            </a:r>
            <a:r>
              <a:rPr lang="en-US" altLang="zh-CN" dirty="0"/>
              <a:t>1956</a:t>
            </a:r>
            <a:r>
              <a:rPr lang="zh-CN" altLang="en-US" dirty="0"/>
              <a:t>年的达特茅斯（</a:t>
            </a:r>
            <a:r>
              <a:rPr lang="en-US" altLang="zh-CN" dirty="0"/>
              <a:t>Dartmouth</a:t>
            </a:r>
            <a:r>
              <a:rPr lang="zh-CN" altLang="en-US" dirty="0"/>
              <a:t>）会议。在这次会议上，“人工智能”被提出并作为本研究领域的名称。</a:t>
            </a:r>
            <a:endParaRPr lang="en-US" altLang="zh-CN" dirty="0"/>
          </a:p>
          <a:p>
            <a:endParaRPr lang="zh-CN" altLang="en-US" dirty="0"/>
          </a:p>
        </p:txBody>
      </p:sp>
      <p:sp>
        <p:nvSpPr>
          <p:cNvPr id="4" name="矩形 3"/>
          <p:cNvSpPr/>
          <p:nvPr/>
        </p:nvSpPr>
        <p:spPr>
          <a:xfrm>
            <a:off x="2438400" y="5410200"/>
            <a:ext cx="7543800" cy="369332"/>
          </a:xfrm>
          <a:prstGeom prst="rect">
            <a:avLst/>
          </a:prstGeom>
        </p:spPr>
        <p:txBody>
          <a:bodyPr wrap="square">
            <a:spAutoFit/>
          </a:bodyPr>
          <a:lstStyle/>
          <a:p>
            <a:r>
              <a:rPr lang="zh-CN" altLang="en-US" dirty="0">
                <a:solidFill>
                  <a:srgbClr val="C00000"/>
                </a:solidFill>
              </a:rPr>
              <a:t>人工智能就是要让机器的行为看起来就像是人所表现出的智能行为一样。</a:t>
            </a:r>
          </a:p>
        </p:txBody>
      </p:sp>
      <p:sp>
        <p:nvSpPr>
          <p:cNvPr id="5" name="矩形 4"/>
          <p:cNvSpPr/>
          <p:nvPr/>
        </p:nvSpPr>
        <p:spPr>
          <a:xfrm>
            <a:off x="7086600" y="5918869"/>
            <a:ext cx="3429000" cy="369332"/>
          </a:xfrm>
          <a:prstGeom prst="rect">
            <a:avLst/>
          </a:prstGeom>
        </p:spPr>
        <p:txBody>
          <a:bodyPr wrap="square">
            <a:spAutoFit/>
          </a:bodyPr>
          <a:lstStyle/>
          <a:p>
            <a:r>
              <a:rPr lang="zh-CN" altLang="en-US" dirty="0">
                <a:solidFill>
                  <a:srgbClr val="C00000"/>
                </a:solidFill>
                <a:latin typeface="+mn-lt"/>
              </a:rPr>
              <a:t>John McCarthy（1927-2011）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descr=" 2"/>
          <p:cNvSpPr>
            <a:spLocks noGrp="1"/>
          </p:cNvSpPr>
          <p:nvPr>
            <p:ph type="title"/>
          </p:nvPr>
        </p:nvSpPr>
        <p:spPr/>
        <p:txBody>
          <a:bodyPr/>
          <a:lstStyle/>
          <a:p>
            <a:r>
              <a:rPr lang="zh-CN" altLang="en-US"/>
              <a:t>人工智能的研究领域</a:t>
            </a:r>
            <a:endParaRPr lang="zh-CN" altLang="en-US" dirty="0"/>
          </a:p>
        </p:txBody>
      </p:sp>
      <p:sp>
        <p:nvSpPr>
          <p:cNvPr id="3" name="内容占位符 2"/>
          <p:cNvSpPr>
            <a:spLocks noGrp="1"/>
          </p:cNvSpPr>
          <p:nvPr>
            <p:ph idx="1"/>
          </p:nvPr>
        </p:nvSpPr>
        <p:spPr/>
        <p:txBody>
          <a:bodyPr/>
          <a:lstStyle/>
          <a:p>
            <a:r>
              <a:rPr lang="zh-CN" altLang="en-US"/>
              <a:t>图灵测试是促使人工智能从哲学探讨到科学研究的一个重要因素，引导了人工智能的很多研究方向。</a:t>
            </a:r>
          </a:p>
          <a:p>
            <a:pPr lvl="2"/>
            <a:r>
              <a:rPr lang="zh-CN" altLang="en-US"/>
              <a:t>因为要使得计算机能通过图灵测试，计算机必须具备理解语言、学习、记忆、推理和决策等的能力。</a:t>
            </a:r>
          </a:p>
          <a:p>
            <a:r>
              <a:rPr lang="zh-CN" altLang="en-US"/>
              <a:t>研究领域</a:t>
            </a:r>
            <a:endParaRPr lang="en-US" altLang="zh-CN"/>
          </a:p>
          <a:p>
            <a:pPr lvl="1"/>
            <a:r>
              <a:rPr lang="zh-CN" altLang="en-US"/>
              <a:t>机器感知（计算机视觉、语音信息处理）</a:t>
            </a:r>
            <a:endParaRPr lang="en-US" altLang="zh-CN"/>
          </a:p>
          <a:p>
            <a:pPr lvl="1"/>
            <a:r>
              <a:rPr lang="zh-CN" altLang="en-US"/>
              <a:t>学习（模式识别、机器学习、强化学习）</a:t>
            </a:r>
            <a:endParaRPr lang="en-US" altLang="zh-CN"/>
          </a:p>
          <a:p>
            <a:pPr lvl="1"/>
            <a:r>
              <a:rPr lang="zh-CN" altLang="en-US"/>
              <a:t>语言（自然语言处理）</a:t>
            </a:r>
            <a:endParaRPr lang="en-US" altLang="zh-CN"/>
          </a:p>
          <a:p>
            <a:pPr lvl="1"/>
            <a:r>
              <a:rPr lang="zh-CN" altLang="en-US"/>
              <a:t>记忆（知识表示）</a:t>
            </a:r>
            <a:endParaRPr lang="en-US" altLang="zh-CN"/>
          </a:p>
          <a:p>
            <a:pPr lvl="1"/>
            <a:r>
              <a:rPr lang="zh-CN" altLang="en-US"/>
              <a:t>决策（规划、数据挖掘）</a:t>
            </a:r>
            <a:endParaRPr lang="zh-CN"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发展历史</a:t>
            </a:r>
          </a:p>
        </p:txBody>
      </p:sp>
      <p:pic>
        <p:nvPicPr>
          <p:cNvPr id="3" name="图片 2" descr="屏幕剪辑"/>
          <p:cNvPicPr>
            <a:picLocks noChangeAspect="1"/>
          </p:cNvPicPr>
          <p:nvPr/>
        </p:nvPicPr>
        <p:blipFill>
          <a:blip r:embed="rId3"/>
          <a:stretch>
            <a:fillRect/>
          </a:stretch>
        </p:blipFill>
        <p:spPr>
          <a:xfrm>
            <a:off x="745424" y="2590800"/>
            <a:ext cx="10710513" cy="2059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1.2 </a:t>
            </a:r>
            <a:r>
              <a:rPr lang="zh-CN" altLang="en-US" dirty="0"/>
              <a:t>如何开发一个人工智能系统</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如何开发一个人工智能系统？</a:t>
            </a:r>
          </a:p>
        </p:txBody>
      </p:sp>
      <p:sp>
        <p:nvSpPr>
          <p:cNvPr id="3" name="内容占位符 2"/>
          <p:cNvSpPr>
            <a:spLocks noGrp="1"/>
          </p:cNvSpPr>
          <p:nvPr>
            <p:ph idx="1"/>
          </p:nvPr>
        </p:nvSpPr>
        <p:spPr/>
        <p:txBody>
          <a:bodyPr/>
          <a:lstStyle/>
          <a:p>
            <a:r>
              <a:rPr lang="zh-CN" altLang="en-US" dirty="0"/>
              <a:t>专家知识（人工规则）</a:t>
            </a:r>
          </a:p>
        </p:txBody>
      </p:sp>
      <p:pic>
        <p:nvPicPr>
          <p:cNvPr id="2050" name="Picture 2" descr="âreasoning  ruleâçå¾çæç´¢ç»æ"/>
          <p:cNvPicPr>
            <a:picLocks noChangeAspect="1" noChangeArrowheads="1"/>
          </p:cNvPicPr>
          <p:nvPr/>
        </p:nvPicPr>
        <p:blipFill>
          <a:blip r:embed="rId3"/>
          <a:srcRect/>
          <a:stretch>
            <a:fillRect/>
          </a:stretch>
        </p:blipFill>
        <p:spPr bwMode="auto">
          <a:xfrm>
            <a:off x="3505200" y="2362201"/>
            <a:ext cx="4773126" cy="3565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等线" panose="02010600030101010101" pitchFamily="2" charset="-122"/>
                <a:ea typeface="等线" panose="02010600030101010101" pitchFamily="2" charset="-122"/>
              </a:rPr>
              <a:t>What is the Rule?</a:t>
            </a:r>
            <a:endParaRPr lang="zh-CN" altLang="en-US" dirty="0">
              <a:latin typeface="等线" panose="02010600030101010101" pitchFamily="2" charset="-122"/>
              <a:ea typeface="等线" panose="02010600030101010101" pitchFamily="2" charset="-122"/>
            </a:endParaRPr>
          </a:p>
        </p:txBody>
      </p:sp>
      <p:pic>
        <p:nvPicPr>
          <p:cNvPr id="3" name="图片 2" descr="屏幕剪辑"/>
          <p:cNvPicPr>
            <a:picLocks noChangeAspect="1"/>
          </p:cNvPicPr>
          <p:nvPr/>
        </p:nvPicPr>
        <p:blipFill>
          <a:blip r:embed="rId4"/>
          <a:stretch>
            <a:fillRect/>
          </a:stretch>
        </p:blipFill>
        <p:spPr>
          <a:xfrm>
            <a:off x="2362201" y="1752600"/>
            <a:ext cx="4153009" cy="1534926"/>
          </a:xfrm>
          <a:prstGeom prst="rect">
            <a:avLst/>
          </a:prstGeom>
        </p:spPr>
      </p:pic>
      <p:pic>
        <p:nvPicPr>
          <p:cNvPr id="3074" name="Picture 2" descr="âPattern Recognition handwrite numberâçå¾çæç´¢ç»æ"/>
          <p:cNvPicPr>
            <a:picLocks noChangeAspect="1" noChangeArrowheads="1"/>
          </p:cNvPicPr>
          <p:nvPr/>
        </p:nvPicPr>
        <p:blipFill>
          <a:blip r:embed="rId5"/>
          <a:srcRect/>
          <a:stretch>
            <a:fillRect/>
          </a:stretch>
        </p:blipFill>
        <p:spPr bwMode="auto">
          <a:xfrm>
            <a:off x="2590800" y="3962400"/>
            <a:ext cx="3670974" cy="216416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7315201" y="3505201"/>
            <a:ext cx="2031325" cy="646331"/>
          </a:xfrm>
          <a:prstGeom prst="rect">
            <a:avLst/>
          </a:prstGeom>
          <a:noFill/>
        </p:spPr>
        <p:txBody>
          <a:bodyPr wrap="none" rtlCol="0">
            <a:spAutoFit/>
          </a:bodyPr>
          <a:lstStyle/>
          <a:p>
            <a:r>
              <a:rPr lang="zh-CN" altLang="en-US" sz="3600" dirty="0">
                <a:solidFill>
                  <a:srgbClr val="FF0000"/>
                </a:solidFill>
                <a:latin typeface="黑体" panose="02010609060101010101" pitchFamily="49" charset="-122"/>
                <a:ea typeface="黑体" panose="02010609060101010101" pitchFamily="49" charset="-122"/>
              </a:rPr>
              <a:t>机器学习</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CN" altLang="en-US"/>
              <a:t>机器学习 </a:t>
            </a:r>
            <a:r>
              <a:rPr lang="en-US" altLang="zh-TW"/>
              <a:t>≈ </a:t>
            </a:r>
            <a:r>
              <a:rPr lang="zh-CN" altLang="en-US"/>
              <a:t>构建一个映射函数</a:t>
            </a:r>
            <a:endParaRPr lang="zh-TW" altLang="en-US" dirty="0"/>
          </a:p>
        </p:txBody>
      </p:sp>
      <p:sp>
        <p:nvSpPr>
          <p:cNvPr id="3" name="內容版面配置區 2"/>
          <p:cNvSpPr>
            <a:spLocks noGrp="1"/>
          </p:cNvSpPr>
          <p:nvPr>
            <p:ph idx="1"/>
          </p:nvPr>
        </p:nvSpPr>
        <p:spPr/>
        <p:txBody>
          <a:bodyPr/>
          <a:lstStyle/>
          <a:p>
            <a:r>
              <a:rPr lang="zh-CN" altLang="en-US" dirty="0"/>
              <a:t>语音识别</a:t>
            </a:r>
            <a:endParaRPr lang="en-US" altLang="zh-TW" dirty="0"/>
          </a:p>
          <a:p>
            <a:endParaRPr lang="en-US" altLang="zh-TW" dirty="0"/>
          </a:p>
          <a:p>
            <a:r>
              <a:rPr lang="zh-CN" altLang="en-US" dirty="0"/>
              <a:t>图像识别</a:t>
            </a:r>
            <a:endParaRPr lang="en-US" altLang="zh-TW" dirty="0"/>
          </a:p>
          <a:p>
            <a:endParaRPr lang="en-US" altLang="zh-CN" dirty="0"/>
          </a:p>
          <a:p>
            <a:endParaRPr lang="en-US" altLang="zh-CN" dirty="0"/>
          </a:p>
          <a:p>
            <a:r>
              <a:rPr lang="zh-CN" altLang="en-US" dirty="0"/>
              <a:t>围棋</a:t>
            </a:r>
            <a:endParaRPr lang="en-US" altLang="zh-CN" dirty="0"/>
          </a:p>
          <a:p>
            <a:endParaRPr lang="en-US" altLang="zh-CN" dirty="0"/>
          </a:p>
          <a:p>
            <a:endParaRPr lang="en-US" altLang="zh-CN" dirty="0"/>
          </a:p>
          <a:p>
            <a:r>
              <a:rPr lang="zh-CN" altLang="en-US" dirty="0"/>
              <a:t>机器翻译</a:t>
            </a:r>
            <a:endParaRPr lang="zh-TW" altLang="en-US" dirty="0"/>
          </a:p>
        </p:txBody>
      </p:sp>
      <p:graphicFrame>
        <p:nvGraphicFramePr>
          <p:cNvPr id="4" name="Object 12"/>
          <p:cNvGraphicFramePr>
            <a:graphicFrameLocks noChangeAspect="1"/>
          </p:cNvGraphicFramePr>
          <p:nvPr/>
        </p:nvGraphicFramePr>
        <p:xfrm>
          <a:off x="3886200" y="1449899"/>
          <a:ext cx="3822700" cy="460375"/>
        </p:xfrm>
        <a:graphic>
          <a:graphicData uri="http://schemas.openxmlformats.org/presentationml/2006/ole">
            <mc:AlternateContent xmlns:mc="http://schemas.openxmlformats.org/markup-compatibility/2006">
              <mc:Choice xmlns:v="urn:schemas-microsoft-com:vml" Requires="v">
                <p:oleObj spid="_x0000_s1415" name="方程式" r:id="rId4" imgW="42976800" imgH="5181600" progId="Equation.3">
                  <p:embed/>
                </p:oleObj>
              </mc:Choice>
              <mc:Fallback>
                <p:oleObj name="方程式" r:id="rId4" imgW="42976800" imgH="5181600" progId="Equation.3">
                  <p:embed/>
                  <p:pic>
                    <p:nvPicPr>
                      <p:cNvPr id="0" name="Object 12"/>
                      <p:cNvPicPr>
                        <a:picLocks noChangeAspect="1" noChangeArrowheads="1"/>
                      </p:cNvPicPr>
                      <p:nvPr/>
                    </p:nvPicPr>
                    <p:blipFill>
                      <a:blip r:embed="rId5"/>
                      <a:srcRect/>
                      <a:stretch>
                        <a:fillRect/>
                      </a:stretch>
                    </p:blipFill>
                    <p:spPr bwMode="auto">
                      <a:xfrm>
                        <a:off x="3886200" y="1449899"/>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2"/>
          <p:cNvGraphicFramePr>
            <a:graphicFrameLocks noChangeAspect="1"/>
          </p:cNvGraphicFramePr>
          <p:nvPr/>
        </p:nvGraphicFramePr>
        <p:xfrm>
          <a:off x="3837735" y="2818269"/>
          <a:ext cx="3822700" cy="460375"/>
        </p:xfrm>
        <a:graphic>
          <a:graphicData uri="http://schemas.openxmlformats.org/presentationml/2006/ole">
            <mc:AlternateContent xmlns:mc="http://schemas.openxmlformats.org/markup-compatibility/2006">
              <mc:Choice xmlns:v="urn:schemas-microsoft-com:vml" Requires="v">
                <p:oleObj spid="_x0000_s1416" name="方程式" r:id="rId6" imgW="42976800" imgH="5181600" progId="Equation.3">
                  <p:embed/>
                </p:oleObj>
              </mc:Choice>
              <mc:Fallback>
                <p:oleObj name="方程式" r:id="rId6" imgW="42976800" imgH="5181600" progId="Equation.3">
                  <p:embed/>
                  <p:pic>
                    <p:nvPicPr>
                      <p:cNvPr id="0" name="Object 12"/>
                      <p:cNvPicPr>
                        <a:picLocks noChangeAspect="1" noChangeArrowheads="1"/>
                      </p:cNvPicPr>
                      <p:nvPr/>
                    </p:nvPicPr>
                    <p:blipFill>
                      <a:blip r:embed="rId5"/>
                      <a:srcRect/>
                      <a:stretch>
                        <a:fillRect/>
                      </a:stretch>
                    </p:blipFill>
                    <p:spPr bwMode="auto">
                      <a:xfrm>
                        <a:off x="3837735" y="2818269"/>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12"/>
          <p:cNvGraphicFramePr>
            <a:graphicFrameLocks noChangeAspect="1"/>
          </p:cNvGraphicFramePr>
          <p:nvPr/>
        </p:nvGraphicFramePr>
        <p:xfrm>
          <a:off x="3873595" y="4226793"/>
          <a:ext cx="3822700" cy="460375"/>
        </p:xfrm>
        <a:graphic>
          <a:graphicData uri="http://schemas.openxmlformats.org/presentationml/2006/ole">
            <mc:AlternateContent xmlns:mc="http://schemas.openxmlformats.org/markup-compatibility/2006">
              <mc:Choice xmlns:v="urn:schemas-microsoft-com:vml" Requires="v">
                <p:oleObj spid="_x0000_s1417" name="方程式" r:id="rId7" imgW="42976800" imgH="5181600" progId="Equation.3">
                  <p:embed/>
                </p:oleObj>
              </mc:Choice>
              <mc:Fallback>
                <p:oleObj name="方程式" r:id="rId7" imgW="42976800" imgH="5181600" progId="Equation.3">
                  <p:embed/>
                  <p:pic>
                    <p:nvPicPr>
                      <p:cNvPr id="0" name="Object 12"/>
                      <p:cNvPicPr>
                        <a:picLocks noChangeAspect="1" noChangeArrowheads="1"/>
                      </p:cNvPicPr>
                      <p:nvPr/>
                    </p:nvPicPr>
                    <p:blipFill>
                      <a:blip r:embed="rId5"/>
                      <a:srcRect/>
                      <a:stretch>
                        <a:fillRect/>
                      </a:stretch>
                    </p:blipFill>
                    <p:spPr bwMode="auto">
                      <a:xfrm>
                        <a:off x="3873595" y="4226793"/>
                        <a:ext cx="3822700"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12"/>
          <p:cNvGraphicFramePr>
            <a:graphicFrameLocks noChangeAspect="1"/>
          </p:cNvGraphicFramePr>
          <p:nvPr/>
        </p:nvGraphicFramePr>
        <p:xfrm>
          <a:off x="3904425" y="5462270"/>
          <a:ext cx="3578225" cy="460375"/>
        </p:xfrm>
        <a:graphic>
          <a:graphicData uri="http://schemas.openxmlformats.org/presentationml/2006/ole">
            <mc:AlternateContent xmlns:mc="http://schemas.openxmlformats.org/markup-compatibility/2006">
              <mc:Choice xmlns:v="urn:schemas-microsoft-com:vml" Requires="v">
                <p:oleObj spid="_x0000_s1418" name="方程式" r:id="rId8" imgW="40233600" imgH="5181600" progId="Equation.3">
                  <p:embed/>
                </p:oleObj>
              </mc:Choice>
              <mc:Fallback>
                <p:oleObj name="方程式" r:id="rId8" imgW="40233600" imgH="5181600" progId="Equation.3">
                  <p:embed/>
                  <p:pic>
                    <p:nvPicPr>
                      <p:cNvPr id="0" name="Object 12"/>
                      <p:cNvPicPr>
                        <a:picLocks noChangeAspect="1" noChangeArrowheads="1"/>
                      </p:cNvPicPr>
                      <p:nvPr/>
                    </p:nvPicPr>
                    <p:blipFill>
                      <a:blip r:embed="rId9"/>
                      <a:srcRect/>
                      <a:stretch>
                        <a:fillRect/>
                      </a:stretch>
                    </p:blipFill>
                    <p:spPr bwMode="auto">
                      <a:xfrm>
                        <a:off x="3904425" y="5462270"/>
                        <a:ext cx="3578225"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文字方塊 7"/>
          <p:cNvSpPr txBox="1"/>
          <p:nvPr/>
        </p:nvSpPr>
        <p:spPr>
          <a:xfrm>
            <a:off x="7660435" y="2786845"/>
            <a:ext cx="947054" cy="523220"/>
          </a:xfrm>
          <a:prstGeom prst="rect">
            <a:avLst/>
          </a:prstGeom>
          <a:noFill/>
        </p:spPr>
        <p:txBody>
          <a:bodyPr wrap="square" rtlCol="0">
            <a:spAutoFit/>
          </a:bodyPr>
          <a:lstStyle/>
          <a:p>
            <a:r>
              <a:rPr lang="en-US" altLang="zh-TW" sz="2800" dirty="0"/>
              <a:t>“</a:t>
            </a:r>
            <a:r>
              <a:rPr lang="en-US" altLang="zh-CN" sz="2800" dirty="0"/>
              <a:t>9</a:t>
            </a:r>
            <a:r>
              <a:rPr lang="en-US" altLang="zh-TW" sz="2800" dirty="0"/>
              <a:t>”</a:t>
            </a:r>
            <a:endParaRPr lang="zh-TW" altLang="en-US" sz="2800" dirty="0"/>
          </a:p>
        </p:txBody>
      </p:sp>
      <p:sp>
        <p:nvSpPr>
          <p:cNvPr id="9" name="文字方塊 8"/>
          <p:cNvSpPr txBox="1"/>
          <p:nvPr/>
        </p:nvSpPr>
        <p:spPr>
          <a:xfrm>
            <a:off x="7708900" y="1418715"/>
            <a:ext cx="2898395" cy="523220"/>
          </a:xfrm>
          <a:prstGeom prst="rect">
            <a:avLst/>
          </a:prstGeom>
          <a:noFill/>
        </p:spPr>
        <p:txBody>
          <a:bodyPr wrap="square" rtlCol="0">
            <a:spAutoFit/>
          </a:bodyPr>
          <a:lstStyle/>
          <a:p>
            <a:r>
              <a:rPr lang="en-US" altLang="zh-TW" sz="2800" dirty="0"/>
              <a:t>“</a:t>
            </a:r>
            <a:r>
              <a:rPr lang="zh-CN" altLang="en-US" sz="2800" dirty="0"/>
              <a:t>你好</a:t>
            </a:r>
            <a:r>
              <a:rPr lang="en-US" altLang="zh-TW" sz="2800" dirty="0"/>
              <a:t>”</a:t>
            </a:r>
            <a:endParaRPr lang="zh-TW" altLang="en-US" sz="2800" dirty="0"/>
          </a:p>
        </p:txBody>
      </p:sp>
      <p:sp>
        <p:nvSpPr>
          <p:cNvPr id="10" name="文字方塊 9"/>
          <p:cNvSpPr txBox="1"/>
          <p:nvPr/>
        </p:nvSpPr>
        <p:spPr>
          <a:xfrm>
            <a:off x="7696296" y="4169103"/>
            <a:ext cx="1239914" cy="523220"/>
          </a:xfrm>
          <a:prstGeom prst="rect">
            <a:avLst/>
          </a:prstGeom>
          <a:noFill/>
        </p:spPr>
        <p:txBody>
          <a:bodyPr wrap="square" rtlCol="0">
            <a:spAutoFit/>
          </a:bodyPr>
          <a:lstStyle/>
          <a:p>
            <a:r>
              <a:rPr lang="en-US" altLang="zh-TW" sz="2800" dirty="0"/>
              <a:t>“6-5”</a:t>
            </a:r>
            <a:endParaRPr lang="zh-TW" altLang="en-US" sz="2800" dirty="0"/>
          </a:p>
        </p:txBody>
      </p:sp>
      <p:sp>
        <p:nvSpPr>
          <p:cNvPr id="11" name="文字方塊 10"/>
          <p:cNvSpPr txBox="1"/>
          <p:nvPr/>
        </p:nvSpPr>
        <p:spPr>
          <a:xfrm>
            <a:off x="7852103" y="5481119"/>
            <a:ext cx="3031893" cy="523220"/>
          </a:xfrm>
          <a:prstGeom prst="rect">
            <a:avLst/>
          </a:prstGeom>
          <a:noFill/>
        </p:spPr>
        <p:txBody>
          <a:bodyPr wrap="square" rtlCol="0">
            <a:spAutoFit/>
          </a:bodyPr>
          <a:lstStyle/>
          <a:p>
            <a:r>
              <a:rPr lang="en-US" altLang="zh-TW" sz="2800" dirty="0"/>
              <a:t>“</a:t>
            </a:r>
            <a:r>
              <a:rPr lang="en-US" altLang="zh-CN" sz="2800" dirty="0"/>
              <a:t>Hello!</a:t>
            </a:r>
            <a:r>
              <a:rPr lang="en-US" altLang="zh-TW" sz="2800" dirty="0"/>
              <a:t>”</a:t>
            </a:r>
            <a:endParaRPr lang="zh-TW" altLang="en-US" sz="2800" dirty="0"/>
          </a:p>
        </p:txBody>
      </p:sp>
      <p:sp>
        <p:nvSpPr>
          <p:cNvPr id="15" name="矩形 14"/>
          <p:cNvSpPr/>
          <p:nvPr/>
        </p:nvSpPr>
        <p:spPr>
          <a:xfrm>
            <a:off x="4343536" y="5415468"/>
            <a:ext cx="2659840" cy="523220"/>
          </a:xfrm>
          <a:prstGeom prst="rect">
            <a:avLst/>
          </a:prstGeom>
        </p:spPr>
        <p:txBody>
          <a:bodyPr wrap="square">
            <a:spAutoFit/>
          </a:bodyPr>
          <a:lstStyle/>
          <a:p>
            <a:pPr algn="ctr"/>
            <a:r>
              <a:rPr lang="en-US" altLang="zh-TW" sz="2800" dirty="0"/>
              <a:t>“</a:t>
            </a:r>
            <a:r>
              <a:rPr lang="zh-CN" altLang="en-US" sz="2800" dirty="0"/>
              <a:t>你好！</a:t>
            </a:r>
            <a:r>
              <a:rPr lang="en-US" altLang="zh-TW" sz="2800" dirty="0"/>
              <a:t>”</a:t>
            </a:r>
            <a:endParaRPr lang="zh-TW" altLang="en-US" sz="2800" dirty="0"/>
          </a:p>
        </p:txBody>
      </p:sp>
      <p:sp>
        <p:nvSpPr>
          <p:cNvPr id="18" name="文字方塊 17"/>
          <p:cNvSpPr txBox="1"/>
          <p:nvPr/>
        </p:nvSpPr>
        <p:spPr>
          <a:xfrm>
            <a:off x="8493243" y="4199881"/>
            <a:ext cx="2543153" cy="461665"/>
          </a:xfrm>
          <a:prstGeom prst="rect">
            <a:avLst/>
          </a:prstGeom>
          <a:noFill/>
        </p:spPr>
        <p:txBody>
          <a:bodyPr wrap="square" rtlCol="0">
            <a:spAutoFit/>
          </a:bodyPr>
          <a:lstStyle/>
          <a:p>
            <a:pPr algn="ctr"/>
            <a:r>
              <a:rPr lang="en-US" altLang="zh-TW" sz="2400" dirty="0"/>
              <a:t>(</a:t>
            </a:r>
            <a:r>
              <a:rPr lang="zh-CN" altLang="en-US" sz="2400" dirty="0"/>
              <a:t>落子位置</a:t>
            </a:r>
            <a:r>
              <a:rPr lang="en-US" altLang="zh-TW" sz="2400" dirty="0"/>
              <a:t>)</a:t>
            </a:r>
            <a:endParaRPr lang="zh-TW" altLang="en-US" sz="2400" dirty="0"/>
          </a:p>
        </p:txBody>
      </p:sp>
      <p:pic>
        <p:nvPicPr>
          <p:cNvPr id="14" name="图片 13" descr="屏幕剪辑"/>
          <p:cNvPicPr>
            <a:picLocks noChangeAspect="1"/>
          </p:cNvPicPr>
          <p:nvPr/>
        </p:nvPicPr>
        <p:blipFill>
          <a:blip r:embed="rId10"/>
          <a:stretch>
            <a:fillRect/>
          </a:stretch>
        </p:blipFill>
        <p:spPr>
          <a:xfrm>
            <a:off x="5476935" y="2766955"/>
            <a:ext cx="544300" cy="702147"/>
          </a:xfrm>
          <a:prstGeom prst="rect">
            <a:avLst/>
          </a:prstGeom>
        </p:spPr>
      </p:pic>
      <p:pic>
        <p:nvPicPr>
          <p:cNvPr id="17" name="图片 16" descr="屏幕剪辑"/>
          <p:cNvPicPr>
            <a:picLocks noChangeAspect="1"/>
          </p:cNvPicPr>
          <p:nvPr/>
        </p:nvPicPr>
        <p:blipFill>
          <a:blip r:embed="rId11" cstate="print"/>
          <a:stretch>
            <a:fillRect/>
          </a:stretch>
        </p:blipFill>
        <p:spPr>
          <a:xfrm>
            <a:off x="5092795" y="3909303"/>
            <a:ext cx="1219200" cy="1215850"/>
          </a:xfrm>
          <a:prstGeom prst="rect">
            <a:avLst/>
          </a:prstGeom>
        </p:spPr>
      </p:pic>
      <p:pic>
        <p:nvPicPr>
          <p:cNvPr id="21" name="图片 20" descr="屏幕剪辑"/>
          <p:cNvPicPr>
            <a:picLocks noChangeAspect="1"/>
          </p:cNvPicPr>
          <p:nvPr/>
        </p:nvPicPr>
        <p:blipFill>
          <a:blip r:embed="rId12" cstate="hqprint"/>
          <a:stretch>
            <a:fillRect/>
          </a:stretch>
        </p:blipFill>
        <p:spPr>
          <a:xfrm>
            <a:off x="4929356" y="1328278"/>
            <a:ext cx="1639458" cy="73164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芒果机器学习</a:t>
            </a:r>
          </a:p>
        </p:txBody>
      </p:sp>
      <p:sp>
        <p:nvSpPr>
          <p:cNvPr id="4" name="矩形 3"/>
          <p:cNvSpPr/>
          <p:nvPr/>
        </p:nvSpPr>
        <p:spPr>
          <a:xfrm>
            <a:off x="2819400" y="5638801"/>
            <a:ext cx="6324600" cy="646331"/>
          </a:xfrm>
          <a:prstGeom prst="rect">
            <a:avLst/>
          </a:prstGeom>
        </p:spPr>
        <p:txBody>
          <a:bodyPr wrap="square">
            <a:spAutoFit/>
          </a:bodyPr>
          <a:lstStyle/>
          <a:p>
            <a:r>
              <a:rPr lang="zh-CN" altLang="en-US" dirty="0"/>
              <a:t>https://www.quora.com/How-do-you-explain-Machine-Learning-and-Data-Mining-to-non-Computer-Science-people</a:t>
            </a:r>
          </a:p>
        </p:txBody>
      </p:sp>
      <p:pic>
        <p:nvPicPr>
          <p:cNvPr id="6" name="图片 5"/>
          <p:cNvPicPr>
            <a:picLocks noChangeAspect="1"/>
          </p:cNvPicPr>
          <p:nvPr/>
        </p:nvPicPr>
        <p:blipFill>
          <a:blip r:embed="rId3"/>
          <a:stretch>
            <a:fillRect/>
          </a:stretch>
        </p:blipFill>
        <p:spPr>
          <a:xfrm>
            <a:off x="3505200" y="2084325"/>
            <a:ext cx="4781550" cy="3400425"/>
          </a:xfrm>
          <a:prstGeom prst="rect">
            <a:avLst/>
          </a:prstGeom>
        </p:spPr>
      </p:pic>
      <p:sp>
        <p:nvSpPr>
          <p:cNvPr id="8" name="矩形 7"/>
          <p:cNvSpPr/>
          <p:nvPr/>
        </p:nvSpPr>
        <p:spPr>
          <a:xfrm>
            <a:off x="5029201" y="371110"/>
            <a:ext cx="4617937" cy="523220"/>
          </a:xfrm>
          <a:prstGeom prst="rect">
            <a:avLst/>
          </a:prstGeom>
        </p:spPr>
        <p:txBody>
          <a:bodyPr wrap="square">
            <a:spAutoFit/>
          </a:bodyPr>
          <a:lstStyle/>
          <a:p>
            <a:r>
              <a:rPr lang="zh-CN" altLang="en-US" sz="2800" dirty="0">
                <a:solidFill>
                  <a:srgbClr val="FF0000"/>
                </a:solidFill>
              </a:rPr>
              <a:t>如果判断芒果是否甜蜜？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芒果机器学习</a:t>
            </a:r>
            <a:endParaRPr lang="zh-CN" altLang="en-US" dirty="0"/>
          </a:p>
        </p:txBody>
      </p:sp>
      <p:sp>
        <p:nvSpPr>
          <p:cNvPr id="3" name="内容占位符 2"/>
          <p:cNvSpPr>
            <a:spLocks noGrp="1"/>
          </p:cNvSpPr>
          <p:nvPr>
            <p:ph idx="1"/>
          </p:nvPr>
        </p:nvSpPr>
        <p:spPr/>
        <p:txBody>
          <a:bodyPr/>
          <a:lstStyle/>
          <a:p>
            <a:r>
              <a:rPr lang="zh-CN" altLang="en-US" dirty="0"/>
              <a:t>从市场上</a:t>
            </a:r>
            <a:r>
              <a:rPr lang="zh-CN" altLang="en-US" u="sng" dirty="0"/>
              <a:t>随机</a:t>
            </a:r>
            <a:r>
              <a:rPr lang="zh-CN" altLang="en-US" dirty="0"/>
              <a:t>选取的芒果样本（训练数据），列出每个芒果的所有</a:t>
            </a:r>
            <a:r>
              <a:rPr lang="zh-CN" altLang="en-US" u="sng" dirty="0"/>
              <a:t>特征</a:t>
            </a:r>
            <a:r>
              <a:rPr lang="zh-CN" altLang="en-US" dirty="0"/>
              <a:t>：</a:t>
            </a:r>
            <a:endParaRPr lang="en-US" altLang="zh-CN" dirty="0"/>
          </a:p>
          <a:p>
            <a:pPr lvl="1"/>
            <a:r>
              <a:rPr lang="zh-CN" altLang="en-US" dirty="0"/>
              <a:t>如颜色，大小，形状，产地，品牌</a:t>
            </a:r>
          </a:p>
          <a:p>
            <a:pPr lvl="2"/>
            <a:r>
              <a:rPr lang="zh-CN" altLang="en-US">
                <a:sym typeface="+mn-ea"/>
              </a:rPr>
              <a:t>（</a:t>
            </a:r>
            <a:r>
              <a:rPr lang="en-US" altLang="zh-CN">
                <a:sym typeface="+mn-ea"/>
              </a:rPr>
              <a:t>x1, x2, .., xn; y</a:t>
            </a:r>
            <a:r>
              <a:rPr lang="zh-CN" altLang="en-US">
                <a:sym typeface="+mn-ea"/>
              </a:rPr>
              <a:t>）</a:t>
            </a:r>
            <a:r>
              <a:rPr lang="en-US" altLang="zh-CN">
                <a:sym typeface="+mn-ea"/>
              </a:rPr>
              <a:t>-&gt; (X, y)  ; f(x)=y</a:t>
            </a:r>
            <a:endParaRPr lang="en-US" altLang="zh-CN" dirty="0"/>
          </a:p>
          <a:p>
            <a:r>
              <a:rPr lang="zh-CN" altLang="en-US" dirty="0"/>
              <a:t>以及芒果质量（输出变量）：</a:t>
            </a:r>
            <a:endParaRPr lang="en-US" altLang="zh-CN" dirty="0"/>
          </a:p>
          <a:p>
            <a:pPr lvl="1"/>
            <a:r>
              <a:rPr lang="zh-CN" altLang="en-US" dirty="0"/>
              <a:t>甜蜜</a:t>
            </a:r>
            <a:endParaRPr lang="en-US" altLang="zh-CN" dirty="0"/>
          </a:p>
          <a:p>
            <a:endParaRPr lang="en-US" altLang="zh-CN" dirty="0"/>
          </a:p>
          <a:p>
            <a:r>
              <a:rPr lang="zh-CN" altLang="en-US" dirty="0"/>
              <a:t>学习：设计一个学习算法来学习芒果的</a:t>
            </a:r>
            <a:r>
              <a:rPr lang="zh-CN" altLang="en-US" u="sng" dirty="0"/>
              <a:t>特征</a:t>
            </a:r>
            <a:r>
              <a:rPr lang="zh-CN" altLang="en-US" dirty="0"/>
              <a:t>与</a:t>
            </a:r>
            <a:r>
              <a:rPr lang="zh-CN" altLang="en-US" u="sng" dirty="0"/>
              <a:t>输出变量</a:t>
            </a:r>
            <a:r>
              <a:rPr lang="zh-CN" altLang="en-US" dirty="0"/>
              <a:t>之间的</a:t>
            </a:r>
            <a:r>
              <a:rPr lang="zh-CN" altLang="en-US" u="sng" dirty="0"/>
              <a:t>相关性</a:t>
            </a:r>
            <a:r>
              <a:rPr lang="zh-CN" altLang="en-US" dirty="0"/>
              <a:t>模型。</a:t>
            </a:r>
            <a:endParaRPr lang="en-US" altLang="zh-CN" dirty="0"/>
          </a:p>
          <a:p>
            <a:r>
              <a:rPr lang="zh-CN" altLang="en-US" dirty="0"/>
              <a:t>测试：下次从市场上买芒果时，可以根据芒果（测试数据）的特征，使用前面计算的模型来预测芒果的质量。</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4"/>
          <p:cNvGraphicFramePr/>
          <p:nvPr/>
        </p:nvGraphicFramePr>
        <p:xfrm>
          <a:off x="1828800" y="1143000"/>
          <a:ext cx="8229600" cy="49371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标题 1"/>
          <p:cNvSpPr>
            <a:spLocks noGrp="1"/>
          </p:cNvSpPr>
          <p:nvPr>
            <p:ph type="title"/>
          </p:nvPr>
        </p:nvSpPr>
        <p:spPr/>
        <p:txBody>
          <a:bodyPr/>
          <a:lstStyle/>
          <a:p>
            <a:r>
              <a:rPr lang="zh-CN" altLang="en-US"/>
              <a:t>如何开发一个人工智能系统？</a:t>
            </a:r>
            <a:endParaRPr lang="zh-CN" altLang="en-US" dirty="0"/>
          </a:p>
        </p:txBody>
      </p:sp>
      <p:sp>
        <p:nvSpPr>
          <p:cNvPr id="3" name="文本框 2"/>
          <p:cNvSpPr txBox="1"/>
          <p:nvPr/>
        </p:nvSpPr>
        <p:spPr>
          <a:xfrm>
            <a:off x="5562600" y="1447800"/>
            <a:ext cx="697627" cy="400110"/>
          </a:xfrm>
          <a:prstGeom prst="rect">
            <a:avLst/>
          </a:prstGeom>
          <a:noFill/>
        </p:spPr>
        <p:txBody>
          <a:bodyPr wrap="none" rtlCol="0">
            <a:spAutoFit/>
          </a:bodyPr>
          <a:lstStyle/>
          <a:p>
            <a:r>
              <a:rPr lang="zh-CN" altLang="en-US" sz="2000" dirty="0"/>
              <a:t>规则</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graphicEl>
                                              <a:dgm id="{398C20A5-A9D8-4D3E-B587-799A3BB16507}"/>
                                            </p:graphicEl>
                                          </p:spTgt>
                                        </p:tgtEl>
                                        <p:attrNameLst>
                                          <p:attrName>style.visibility</p:attrName>
                                        </p:attrNameLst>
                                      </p:cBhvr>
                                      <p:to>
                                        <p:strVal val="visible"/>
                                      </p:to>
                                    </p:set>
                                    <p:animEffect transition="in" filter="fade">
                                      <p:cBhvr>
                                        <p:cTn id="12" dur="500"/>
                                        <p:tgtEl>
                                          <p:spTgt spid="6">
                                            <p:graphicEl>
                                              <a:dgm id="{398C20A5-A9D8-4D3E-B587-799A3BB16507}"/>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graphicEl>
                                              <a:dgm id="{E701DB57-D095-4995-BA9F-3DC318F851BB}"/>
                                            </p:graphicEl>
                                          </p:spTgt>
                                        </p:tgtEl>
                                        <p:attrNameLst>
                                          <p:attrName>style.visibility</p:attrName>
                                        </p:attrNameLst>
                                      </p:cBhvr>
                                      <p:to>
                                        <p:strVal val="visible"/>
                                      </p:to>
                                    </p:set>
                                    <p:animEffect transition="in" filter="fade">
                                      <p:cBhvr>
                                        <p:cTn id="17" dur="500"/>
                                        <p:tgtEl>
                                          <p:spTgt spid="6">
                                            <p:graphicEl>
                                              <a:dgm id="{E701DB57-D095-4995-BA9F-3DC318F851BB}"/>
                                            </p:graphic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graphicEl>
                                              <a:dgm id="{037CC688-649A-434F-9080-67500DD1A79D}"/>
                                            </p:graphicEl>
                                          </p:spTgt>
                                        </p:tgtEl>
                                        <p:attrNameLst>
                                          <p:attrName>style.visibility</p:attrName>
                                        </p:attrNameLst>
                                      </p:cBhvr>
                                      <p:to>
                                        <p:strVal val="visible"/>
                                      </p:to>
                                    </p:set>
                                    <p:animEffect transition="in" filter="fade">
                                      <p:cBhvr>
                                        <p:cTn id="20" dur="500"/>
                                        <p:tgtEl>
                                          <p:spTgt spid="6">
                                            <p:graphicEl>
                                              <a:dgm id="{037CC688-649A-434F-9080-67500DD1A79D}"/>
                                            </p:graphic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graphicEl>
                                              <a:dgm id="{33B9F075-4423-4B3D-A2BD-A73956F1955D}"/>
                                            </p:graphicEl>
                                          </p:spTgt>
                                        </p:tgtEl>
                                        <p:attrNameLst>
                                          <p:attrName>style.visibility</p:attrName>
                                        </p:attrNameLst>
                                      </p:cBhvr>
                                      <p:to>
                                        <p:strVal val="visible"/>
                                      </p:to>
                                    </p:set>
                                    <p:animEffect transition="in" filter="fade">
                                      <p:cBhvr>
                                        <p:cTn id="25" dur="500"/>
                                        <p:tgtEl>
                                          <p:spTgt spid="6">
                                            <p:graphicEl>
                                              <a:dgm id="{33B9F075-4423-4B3D-A2BD-A73956F1955D}"/>
                                            </p:graphic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graphicEl>
                                              <a:dgm id="{66091779-FD2E-4FDC-86F2-2AC227D5816C}"/>
                                            </p:graphicEl>
                                          </p:spTgt>
                                        </p:tgtEl>
                                        <p:attrNameLst>
                                          <p:attrName>style.visibility</p:attrName>
                                        </p:attrNameLst>
                                      </p:cBhvr>
                                      <p:to>
                                        <p:strVal val="visible"/>
                                      </p:to>
                                    </p:set>
                                    <p:animEffect transition="in" filter="fade">
                                      <p:cBhvr>
                                        <p:cTn id="28" dur="500"/>
                                        <p:tgtEl>
                                          <p:spTgt spid="6">
                                            <p:graphicEl>
                                              <a:dgm id="{66091779-FD2E-4FDC-86F2-2AC227D5816C}"/>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graphicEl>
                                              <a:dgm id="{69ABC5AB-FD09-427D-B12C-5C8B1CBD2726}"/>
                                            </p:graphicEl>
                                          </p:spTgt>
                                        </p:tgtEl>
                                        <p:attrNameLst>
                                          <p:attrName>style.visibility</p:attrName>
                                        </p:attrNameLst>
                                      </p:cBhvr>
                                      <p:to>
                                        <p:strVal val="visible"/>
                                      </p:to>
                                    </p:set>
                                    <p:animEffect transition="in" filter="fade">
                                      <p:cBhvr>
                                        <p:cTn id="33" dur="500"/>
                                        <p:tgtEl>
                                          <p:spTgt spid="6">
                                            <p:graphicEl>
                                              <a:dgm id="{69ABC5AB-FD09-427D-B12C-5C8B1CBD2726}"/>
                                            </p:graphic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graphicEl>
                                              <a:dgm id="{5B8380FE-0DCB-4F6C-B2BC-0BBB10FD4D3D}"/>
                                            </p:graphicEl>
                                          </p:spTgt>
                                        </p:tgtEl>
                                        <p:attrNameLst>
                                          <p:attrName>style.visibility</p:attrName>
                                        </p:attrNameLst>
                                      </p:cBhvr>
                                      <p:to>
                                        <p:strVal val="visible"/>
                                      </p:to>
                                    </p:set>
                                    <p:animEffect transition="in" filter="fade">
                                      <p:cBhvr>
                                        <p:cTn id="36" dur="500"/>
                                        <p:tgtEl>
                                          <p:spTgt spid="6">
                                            <p:graphicEl>
                                              <a:dgm id="{5B8380FE-0DCB-4F6C-B2BC-0BBB10FD4D3D}"/>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
                                            <p:graphicEl>
                                              <a:dgm id="{42EAD14C-C4CD-43F4-BBC5-79864427DD73}"/>
                                            </p:graphicEl>
                                          </p:spTgt>
                                        </p:tgtEl>
                                        <p:attrNameLst>
                                          <p:attrName>style.visibility</p:attrName>
                                        </p:attrNameLst>
                                      </p:cBhvr>
                                      <p:to>
                                        <p:strVal val="visible"/>
                                      </p:to>
                                    </p:set>
                                    <p:animEffect transition="in" filter="fade">
                                      <p:cBhvr>
                                        <p:cTn id="41" dur="500"/>
                                        <p:tgtEl>
                                          <p:spTgt spid="6">
                                            <p:graphicEl>
                                              <a:dgm id="{42EAD14C-C4CD-43F4-BBC5-79864427DD73}"/>
                                            </p:graphic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6">
                                            <p:graphicEl>
                                              <a:dgm id="{78FFD0A5-EFF7-4D75-9190-24A2A39A0A14}"/>
                                            </p:graphicEl>
                                          </p:spTgt>
                                        </p:tgtEl>
                                        <p:attrNameLst>
                                          <p:attrName>style.visibility</p:attrName>
                                        </p:attrNameLst>
                                      </p:cBhvr>
                                      <p:to>
                                        <p:strVal val="visible"/>
                                      </p:to>
                                    </p:set>
                                    <p:animEffect transition="in" filter="fade">
                                      <p:cBhvr>
                                        <p:cTn id="44" dur="500"/>
                                        <p:tgtEl>
                                          <p:spTgt spid="6">
                                            <p:graphicEl>
                                              <a:dgm id="{78FFD0A5-EFF7-4D75-9190-24A2A39A0A14}"/>
                                            </p:graphic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
                                            <p:graphicEl>
                                              <a:dgm id="{E8CC1104-E240-42BE-900E-835E00B649B3}"/>
                                            </p:graphicEl>
                                          </p:spTgt>
                                        </p:tgtEl>
                                        <p:attrNameLst>
                                          <p:attrName>style.visibility</p:attrName>
                                        </p:attrNameLst>
                                      </p:cBhvr>
                                      <p:to>
                                        <p:strVal val="visible"/>
                                      </p:to>
                                    </p:set>
                                    <p:animEffect transition="in" filter="fade">
                                      <p:cBhvr>
                                        <p:cTn id="49" dur="500"/>
                                        <p:tgtEl>
                                          <p:spTgt spid="6">
                                            <p:graphicEl>
                                              <a:dgm id="{E8CC1104-E240-42BE-900E-835E00B649B3}"/>
                                            </p:graphic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
                                            <p:graphicEl>
                                              <a:dgm id="{B8B76B01-ABE5-4B2A-967E-5B81E7EB1BEB}"/>
                                            </p:graphicEl>
                                          </p:spTgt>
                                        </p:tgtEl>
                                        <p:attrNameLst>
                                          <p:attrName>style.visibility</p:attrName>
                                        </p:attrNameLst>
                                      </p:cBhvr>
                                      <p:to>
                                        <p:strVal val="visible"/>
                                      </p:to>
                                    </p:set>
                                    <p:animEffect transition="in" filter="fade">
                                      <p:cBhvr>
                                        <p:cTn id="52" dur="500"/>
                                        <p:tgtEl>
                                          <p:spTgt spid="6">
                                            <p:graphicEl>
                                              <a:dgm id="{B8B76B01-ABE5-4B2A-967E-5B81E7EB1BEB}"/>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graphicEl>
                                              <a:dgm id="{5F5B8F60-B6E3-4D33-8006-A534B5219659}"/>
                                            </p:graphicEl>
                                          </p:spTgt>
                                        </p:tgtEl>
                                        <p:attrNameLst>
                                          <p:attrName>style.visibility</p:attrName>
                                        </p:attrNameLst>
                                      </p:cBhvr>
                                      <p:to>
                                        <p:strVal val="visible"/>
                                      </p:to>
                                    </p:set>
                                    <p:animEffect transition="in" filter="fade">
                                      <p:cBhvr>
                                        <p:cTn id="57" dur="500"/>
                                        <p:tgtEl>
                                          <p:spTgt spid="6">
                                            <p:graphicEl>
                                              <a:dgm id="{5F5B8F60-B6E3-4D33-8006-A534B5219659}"/>
                                            </p:graphic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graphicEl>
                                              <a:dgm id="{484FF441-C91D-4E7A-BC24-9D042BC822F3}"/>
                                            </p:graphicEl>
                                          </p:spTgt>
                                        </p:tgtEl>
                                        <p:attrNameLst>
                                          <p:attrName>style.visibility</p:attrName>
                                        </p:attrNameLst>
                                      </p:cBhvr>
                                      <p:to>
                                        <p:strVal val="visible"/>
                                      </p:to>
                                    </p:set>
                                    <p:animEffect transition="in" filter="fade">
                                      <p:cBhvr>
                                        <p:cTn id="60" dur="500"/>
                                        <p:tgtEl>
                                          <p:spTgt spid="6">
                                            <p:graphicEl>
                                              <a:dgm id="{484FF441-C91D-4E7A-BC24-9D042BC822F3}"/>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6">
                                            <p:graphicEl>
                                              <a:dgm id="{52C33EA9-1F67-42E9-95A3-083353CEDF6A}"/>
                                            </p:graphicEl>
                                          </p:spTgt>
                                        </p:tgtEl>
                                        <p:attrNameLst>
                                          <p:attrName>style.visibility</p:attrName>
                                        </p:attrNameLst>
                                      </p:cBhvr>
                                      <p:to>
                                        <p:strVal val="visible"/>
                                      </p:to>
                                    </p:set>
                                    <p:animEffect transition="in" filter="fade">
                                      <p:cBhvr>
                                        <p:cTn id="65" dur="500"/>
                                        <p:tgtEl>
                                          <p:spTgt spid="6">
                                            <p:graphicEl>
                                              <a:dgm id="{52C33EA9-1F67-42E9-95A3-083353CEDF6A}"/>
                                            </p:graphic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graphicEl>
                                              <a:dgm id="{2456E607-9E9A-461B-9DA8-D9F7AFDF1055}"/>
                                            </p:graphicEl>
                                          </p:spTgt>
                                        </p:tgtEl>
                                        <p:attrNameLst>
                                          <p:attrName>style.visibility</p:attrName>
                                        </p:attrNameLst>
                                      </p:cBhvr>
                                      <p:to>
                                        <p:strVal val="visible"/>
                                      </p:to>
                                    </p:set>
                                    <p:animEffect transition="in" filter="fade">
                                      <p:cBhvr>
                                        <p:cTn id="68" dur="500"/>
                                        <p:tgtEl>
                                          <p:spTgt spid="6">
                                            <p:graphicEl>
                                              <a:dgm id="{2456E607-9E9A-461B-9DA8-D9F7AFDF1055}"/>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
                                            <p:graphicEl>
                                              <a:dgm id="{E11CDAD6-EF43-4F94-BA41-40CBC44693B1}"/>
                                            </p:graphicEl>
                                          </p:spTgt>
                                        </p:tgtEl>
                                        <p:attrNameLst>
                                          <p:attrName>style.visibility</p:attrName>
                                        </p:attrNameLst>
                                      </p:cBhvr>
                                      <p:to>
                                        <p:strVal val="visible"/>
                                      </p:to>
                                    </p:set>
                                    <p:animEffect transition="in" filter="fade">
                                      <p:cBhvr>
                                        <p:cTn id="73" dur="500"/>
                                        <p:tgtEl>
                                          <p:spTgt spid="6">
                                            <p:graphicEl>
                                              <a:dgm id="{E11CDAD6-EF43-4F94-BA41-40CBC44693B1}"/>
                                            </p:graphic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6">
                                            <p:graphicEl>
                                              <a:dgm id="{FE57452C-E001-4B6F-B3D9-B5C2BCE6A1ED}"/>
                                            </p:graphicEl>
                                          </p:spTgt>
                                        </p:tgtEl>
                                        <p:attrNameLst>
                                          <p:attrName>style.visibility</p:attrName>
                                        </p:attrNameLst>
                                      </p:cBhvr>
                                      <p:to>
                                        <p:strVal val="visible"/>
                                      </p:to>
                                    </p:set>
                                    <p:animEffect transition="in" filter="fade">
                                      <p:cBhvr>
                                        <p:cTn id="76" dur="500"/>
                                        <p:tgtEl>
                                          <p:spTgt spid="6">
                                            <p:graphicEl>
                                              <a:dgm id="{FE57452C-E001-4B6F-B3D9-B5C2BCE6A1ED}"/>
                                            </p:graphic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6">
                                            <p:graphicEl>
                                              <a:dgm id="{68A85DED-C01F-403C-9517-F2C92D2E1D99}"/>
                                            </p:graphicEl>
                                          </p:spTgt>
                                        </p:tgtEl>
                                        <p:attrNameLst>
                                          <p:attrName>style.visibility</p:attrName>
                                        </p:attrNameLst>
                                      </p:cBhvr>
                                      <p:to>
                                        <p:strVal val="visible"/>
                                      </p:to>
                                    </p:set>
                                    <p:animEffect transition="in" filter="fade">
                                      <p:cBhvr>
                                        <p:cTn id="81" dur="500"/>
                                        <p:tgtEl>
                                          <p:spTgt spid="6">
                                            <p:graphicEl>
                                              <a:dgm id="{68A85DED-C01F-403C-9517-F2C92D2E1D99}"/>
                                            </p:graphic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
                                            <p:graphicEl>
                                              <a:dgm id="{E5B3CEF5-212B-4333-BDA5-5231AF422114}"/>
                                            </p:graphicEl>
                                          </p:spTgt>
                                        </p:tgtEl>
                                        <p:attrNameLst>
                                          <p:attrName>style.visibility</p:attrName>
                                        </p:attrNameLst>
                                      </p:cBhvr>
                                      <p:to>
                                        <p:strVal val="visible"/>
                                      </p:to>
                                    </p:set>
                                    <p:animEffect transition="in" filter="fade">
                                      <p:cBhvr>
                                        <p:cTn id="84" dur="500"/>
                                        <p:tgtEl>
                                          <p:spTgt spid="6">
                                            <p:graphicEl>
                                              <a:dgm id="{E5B3CEF5-212B-4333-BDA5-5231AF422114}"/>
                                            </p:graphicEl>
                                          </p:spTgt>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6">
                                            <p:graphicEl>
                                              <a:dgm id="{AC917292-0880-4240-9CF8-AB0D0F2B0832}"/>
                                            </p:graphicEl>
                                          </p:spTgt>
                                        </p:tgtEl>
                                        <p:attrNameLst>
                                          <p:attrName>style.visibility</p:attrName>
                                        </p:attrNameLst>
                                      </p:cBhvr>
                                      <p:to>
                                        <p:strVal val="visible"/>
                                      </p:to>
                                    </p:set>
                                    <p:animEffect transition="in" filter="fade">
                                      <p:cBhvr>
                                        <p:cTn id="89" dur="500"/>
                                        <p:tgtEl>
                                          <p:spTgt spid="6">
                                            <p:graphicEl>
                                              <a:dgm id="{AC917292-0880-4240-9CF8-AB0D0F2B0832}"/>
                                            </p:graphic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6">
                                            <p:graphicEl>
                                              <a:dgm id="{3D4DFC46-14FD-44CF-889B-312D881097D2}"/>
                                            </p:graphicEl>
                                          </p:spTgt>
                                        </p:tgtEl>
                                        <p:attrNameLst>
                                          <p:attrName>style.visibility</p:attrName>
                                        </p:attrNameLst>
                                      </p:cBhvr>
                                      <p:to>
                                        <p:strVal val="visible"/>
                                      </p:to>
                                    </p:set>
                                    <p:animEffect transition="in" filter="fade">
                                      <p:cBhvr>
                                        <p:cTn id="92" dur="500"/>
                                        <p:tgtEl>
                                          <p:spTgt spid="6">
                                            <p:graphicEl>
                                              <a:dgm id="{3D4DFC46-14FD-44CF-889B-312D881097D2}"/>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
                                            <p:graphicEl>
                                              <a:dgm id="{4D5C558E-2E7D-4D1A-ABA2-D5D2DD86206F}"/>
                                            </p:graphicEl>
                                          </p:spTgt>
                                        </p:tgtEl>
                                        <p:attrNameLst>
                                          <p:attrName>style.visibility</p:attrName>
                                        </p:attrNameLst>
                                      </p:cBhvr>
                                      <p:to>
                                        <p:strVal val="visible"/>
                                      </p:to>
                                    </p:set>
                                    <p:animEffect transition="in" filter="fade">
                                      <p:cBhvr>
                                        <p:cTn id="97" dur="500"/>
                                        <p:tgtEl>
                                          <p:spTgt spid="6">
                                            <p:graphicEl>
                                              <a:dgm id="{4D5C558E-2E7D-4D1A-ABA2-D5D2DD86206F}"/>
                                            </p:graphic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
                                            <p:graphicEl>
                                              <a:dgm id="{7CFDB172-E668-43FE-B146-64584C675B7A}"/>
                                            </p:graphicEl>
                                          </p:spTgt>
                                        </p:tgtEl>
                                        <p:attrNameLst>
                                          <p:attrName>style.visibility</p:attrName>
                                        </p:attrNameLst>
                                      </p:cBhvr>
                                      <p:to>
                                        <p:strVal val="visible"/>
                                      </p:to>
                                    </p:set>
                                    <p:animEffect transition="in" filter="fade">
                                      <p:cBhvr>
                                        <p:cTn id="100" dur="500"/>
                                        <p:tgtEl>
                                          <p:spTgt spid="6">
                                            <p:graphicEl>
                                              <a:dgm id="{7CFDB172-E668-43FE-B146-64584C675B7A}"/>
                                            </p:graphic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6">
                                            <p:graphicEl>
                                              <a:dgm id="{AF3A758F-4CD4-4A21-B44A-EE5D60432290}"/>
                                            </p:graphicEl>
                                          </p:spTgt>
                                        </p:tgtEl>
                                        <p:attrNameLst>
                                          <p:attrName>style.visibility</p:attrName>
                                        </p:attrNameLst>
                                      </p:cBhvr>
                                      <p:to>
                                        <p:strVal val="visible"/>
                                      </p:to>
                                    </p:set>
                                    <p:animEffect transition="in" filter="fade">
                                      <p:cBhvr>
                                        <p:cTn id="105" dur="500"/>
                                        <p:tgtEl>
                                          <p:spTgt spid="6">
                                            <p:graphicEl>
                                              <a:dgm id="{AF3A758F-4CD4-4A21-B44A-EE5D60432290}"/>
                                            </p:graphicEl>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6">
                                            <p:graphicEl>
                                              <a:dgm id="{EAD3BB15-FD98-48A1-AE91-B49E6520FB73}"/>
                                            </p:graphicEl>
                                          </p:spTgt>
                                        </p:tgtEl>
                                        <p:attrNameLst>
                                          <p:attrName>style.visibility</p:attrName>
                                        </p:attrNameLst>
                                      </p:cBhvr>
                                      <p:to>
                                        <p:strVal val="visible"/>
                                      </p:to>
                                    </p:set>
                                    <p:animEffect transition="in" filter="fade">
                                      <p:cBhvr>
                                        <p:cTn id="108" dur="500"/>
                                        <p:tgtEl>
                                          <p:spTgt spid="6">
                                            <p:graphicEl>
                                              <a:dgm id="{EAD3BB15-FD98-48A1-AE91-B49E6520FB7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1.3 </a:t>
            </a:r>
            <a:r>
              <a:rPr lang="zh-CN" altLang="en-US" dirty="0"/>
              <a:t>表示学习</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机器学习</a:t>
            </a:r>
            <a:endParaRPr lang="zh-CN" altLang="en-US" dirty="0"/>
          </a:p>
        </p:txBody>
      </p:sp>
      <p:sp>
        <p:nvSpPr>
          <p:cNvPr id="3" name="内容占位符 2"/>
          <p:cNvSpPr>
            <a:spLocks noGrp="1"/>
          </p:cNvSpPr>
          <p:nvPr>
            <p:ph idx="1"/>
          </p:nvPr>
        </p:nvSpPr>
        <p:spPr/>
        <p:txBody>
          <a:bodyPr/>
          <a:lstStyle/>
          <a:p>
            <a:r>
              <a:rPr lang="zh-CN" altLang="en-US" dirty="0"/>
              <a:t>当我们用机器学习来解决一些模式识别任务时，一般的流程包含以下几个步骤：</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浅层学习（</a:t>
            </a:r>
            <a:r>
              <a:rPr lang="en-US" altLang="zh-CN" dirty="0"/>
              <a:t>Shallow Learning</a:t>
            </a:r>
            <a:r>
              <a:rPr lang="zh-CN" altLang="en-US" dirty="0"/>
              <a:t>）：不涉及特征学习，其特征主要靠人工经验或特征转换方法来抽取。</a:t>
            </a:r>
          </a:p>
        </p:txBody>
      </p:sp>
      <p:pic>
        <p:nvPicPr>
          <p:cNvPr id="4" name="图片 3" descr="屏幕剪辑"/>
          <p:cNvPicPr>
            <a:picLocks noChangeAspect="1"/>
          </p:cNvPicPr>
          <p:nvPr/>
        </p:nvPicPr>
        <p:blipFill>
          <a:blip r:embed="rId4"/>
          <a:stretch>
            <a:fillRect/>
          </a:stretch>
        </p:blipFill>
        <p:spPr>
          <a:xfrm>
            <a:off x="1991331" y="2362200"/>
            <a:ext cx="8209338" cy="1033047"/>
          </a:xfrm>
          <a:prstGeom prst="rect">
            <a:avLst/>
          </a:prstGeom>
        </p:spPr>
      </p:pic>
      <p:sp>
        <p:nvSpPr>
          <p:cNvPr id="5" name="矩形 4"/>
          <p:cNvSpPr/>
          <p:nvPr/>
        </p:nvSpPr>
        <p:spPr>
          <a:xfrm>
            <a:off x="3962400" y="3810000"/>
            <a:ext cx="4047903" cy="400110"/>
          </a:xfrm>
          <a:prstGeom prst="rect">
            <a:avLst/>
          </a:prstGeom>
        </p:spPr>
        <p:txBody>
          <a:bodyPr wrap="none">
            <a:spAutoFit/>
          </a:bodyPr>
          <a:lstStyle/>
          <a:p>
            <a:r>
              <a:rPr lang="zh-CN" altLang="en-US" sz="2000" dirty="0">
                <a:solidFill>
                  <a:srgbClr val="FF0000"/>
                </a:solidFill>
              </a:rPr>
              <a:t>特征工程（Feature Engineering）</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语义鸿沟：人工智能的挑战之一</a:t>
            </a:r>
            <a:endParaRPr lang="zh-CN" altLang="en-US" dirty="0"/>
          </a:p>
        </p:txBody>
      </p:sp>
      <p:sp>
        <p:nvSpPr>
          <p:cNvPr id="3" name="Content Placeholder 2"/>
          <p:cNvSpPr>
            <a:spLocks noGrp="1"/>
          </p:cNvSpPr>
          <p:nvPr>
            <p:ph idx="1"/>
          </p:nvPr>
        </p:nvSpPr>
        <p:spPr/>
        <p:txBody>
          <a:bodyPr/>
          <a:lstStyle/>
          <a:p>
            <a:r>
              <a:rPr lang="zh-CN" altLang="en-US"/>
              <a:t>底层特征 </a:t>
            </a:r>
            <a:r>
              <a:rPr lang="en-US" altLang="zh-CN"/>
              <a:t>VS </a:t>
            </a:r>
            <a:r>
              <a:rPr lang="zh-CN" altLang="en-US"/>
              <a:t>高层语义</a:t>
            </a:r>
            <a:endParaRPr lang="en-US" altLang="zh-CN"/>
          </a:p>
          <a:p>
            <a:pPr lvl="1"/>
            <a:r>
              <a:rPr lang="zh-CN" altLang="en-US"/>
              <a:t>人们对文本、图像的理解无法从字符串或者图像的底层特征直接获得</a:t>
            </a:r>
            <a:endParaRPr lang="zh-CN" altLang="en-US" dirty="0"/>
          </a:p>
        </p:txBody>
      </p:sp>
      <p:pic>
        <p:nvPicPr>
          <p:cNvPr id="5" name="Picture 4"/>
          <p:cNvPicPr>
            <a:picLocks noChangeAspect="1"/>
          </p:cNvPicPr>
          <p:nvPr/>
        </p:nvPicPr>
        <p:blipFill>
          <a:blip r:embed="rId4" cstate="screen"/>
          <a:stretch>
            <a:fillRect/>
          </a:stretch>
        </p:blipFill>
        <p:spPr>
          <a:xfrm>
            <a:off x="1646953" y="3096139"/>
            <a:ext cx="2196782" cy="2807208"/>
          </a:xfrm>
          <a:prstGeom prst="rect">
            <a:avLst/>
          </a:prstGeom>
        </p:spPr>
      </p:pic>
      <p:pic>
        <p:nvPicPr>
          <p:cNvPr id="6" name="Picture 5"/>
          <p:cNvPicPr>
            <a:picLocks noChangeAspect="1"/>
          </p:cNvPicPr>
          <p:nvPr/>
        </p:nvPicPr>
        <p:blipFill>
          <a:blip r:embed="rId5" cstate="screen"/>
          <a:stretch>
            <a:fillRect/>
          </a:stretch>
        </p:blipFill>
        <p:spPr>
          <a:xfrm>
            <a:off x="4284067" y="3345581"/>
            <a:ext cx="2743200" cy="2129866"/>
          </a:xfrm>
          <a:prstGeom prst="rect">
            <a:avLst/>
          </a:prstGeom>
        </p:spPr>
      </p:pic>
      <p:sp>
        <p:nvSpPr>
          <p:cNvPr id="8" name="Rectangle 7"/>
          <p:cNvSpPr/>
          <p:nvPr/>
        </p:nvSpPr>
        <p:spPr>
          <a:xfrm>
            <a:off x="7833671" y="3048000"/>
            <a:ext cx="2743201" cy="3046988"/>
          </a:xfrm>
          <a:prstGeom prst="rect">
            <a:avLst/>
          </a:prstGeom>
        </p:spPr>
        <p:txBody>
          <a:bodyPr wrap="square">
            <a:spAutoFit/>
          </a:bodyPr>
          <a:lstStyle/>
          <a:p>
            <a:pPr algn="ctr">
              <a:lnSpc>
                <a:spcPct val="150000"/>
              </a:lnSpc>
            </a:pPr>
            <a:r>
              <a:rPr lang="zh-CN" altLang="en-US" sz="3200" dirty="0">
                <a:solidFill>
                  <a:srgbClr val="FF0000"/>
                </a:solidFill>
                <a:latin typeface="+mn-ea"/>
              </a:rPr>
              <a:t>床前明月光，</a:t>
            </a:r>
          </a:p>
          <a:p>
            <a:pPr algn="ctr">
              <a:lnSpc>
                <a:spcPct val="150000"/>
              </a:lnSpc>
            </a:pPr>
            <a:r>
              <a:rPr lang="zh-CN" altLang="en-US" sz="3200" dirty="0">
                <a:solidFill>
                  <a:srgbClr val="FF0000"/>
                </a:solidFill>
                <a:latin typeface="+mn-ea"/>
              </a:rPr>
              <a:t>疑是地上霜。</a:t>
            </a:r>
          </a:p>
          <a:p>
            <a:pPr algn="ctr">
              <a:lnSpc>
                <a:spcPct val="150000"/>
              </a:lnSpc>
            </a:pPr>
            <a:r>
              <a:rPr lang="zh-CN" altLang="en-US" sz="3200" dirty="0">
                <a:solidFill>
                  <a:srgbClr val="FF0000"/>
                </a:solidFill>
                <a:latin typeface="+mn-ea"/>
              </a:rPr>
              <a:t>举头望明月，</a:t>
            </a:r>
          </a:p>
          <a:p>
            <a:pPr algn="ctr">
              <a:lnSpc>
                <a:spcPct val="150000"/>
              </a:lnSpc>
            </a:pPr>
            <a:r>
              <a:rPr lang="zh-CN" altLang="en-US" sz="3200" dirty="0">
                <a:solidFill>
                  <a:srgbClr val="FF0000"/>
                </a:solidFill>
                <a:latin typeface="+mn-ea"/>
              </a:rPr>
              <a:t>低头思故乡。</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什么是好的数据表示？</a:t>
            </a:r>
            <a:endParaRPr lang="zh-CN" altLang="en-US" dirty="0"/>
          </a:p>
        </p:txBody>
      </p:sp>
      <p:sp>
        <p:nvSpPr>
          <p:cNvPr id="3" name="Content Placeholder 2"/>
          <p:cNvSpPr>
            <a:spLocks noGrp="1"/>
          </p:cNvSpPr>
          <p:nvPr>
            <p:ph idx="1"/>
          </p:nvPr>
        </p:nvSpPr>
        <p:spPr/>
        <p:txBody>
          <a:bodyPr/>
          <a:lstStyle/>
          <a:p>
            <a:r>
              <a:rPr lang="zh-CN" altLang="en-US"/>
              <a:t>“好的表示”是一个非常</a:t>
            </a:r>
            <a:r>
              <a:rPr lang="zh-CN" altLang="en-US" u="sng"/>
              <a:t>主观</a:t>
            </a:r>
            <a:r>
              <a:rPr lang="zh-CN" altLang="en-US"/>
              <a:t>的概念，没有一个明确的标准。</a:t>
            </a:r>
            <a:endParaRPr lang="en-US" altLang="zh-CN"/>
          </a:p>
          <a:p>
            <a:endParaRPr lang="en-US" altLang="zh-CN"/>
          </a:p>
          <a:p>
            <a:r>
              <a:rPr lang="zh-CN" altLang="en-US"/>
              <a:t>但一般而言，一个好的表示具有以下几个</a:t>
            </a:r>
            <a:r>
              <a:rPr lang="zh-CN" altLang="en-US" u="sng"/>
              <a:t>优点</a:t>
            </a:r>
            <a:r>
              <a:rPr lang="zh-CN" altLang="en-US"/>
              <a:t>：</a:t>
            </a:r>
          </a:p>
          <a:p>
            <a:pPr lvl="1"/>
            <a:r>
              <a:rPr lang="zh-CN" altLang="en-US"/>
              <a:t>应该具有很强的表示能力。</a:t>
            </a:r>
          </a:p>
          <a:p>
            <a:pPr lvl="1"/>
            <a:r>
              <a:rPr lang="zh-CN" altLang="en-US"/>
              <a:t>应该使后续的学习任务变得简单。</a:t>
            </a:r>
          </a:p>
          <a:p>
            <a:pPr lvl="1"/>
            <a:r>
              <a:rPr lang="zh-CN" altLang="en-US"/>
              <a:t>应该具有一般性，是任务或领域独立的。</a:t>
            </a:r>
            <a:endParaRPr lang="en-US" altLang="zh-CN"/>
          </a:p>
          <a:p>
            <a:endParaRPr lang="en-US" altLang="zh-CN"/>
          </a:p>
          <a:p>
            <a:pPr lvl="1"/>
            <a:endParaRPr lang="en-US" altLang="zh-CN"/>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表示形式</a:t>
            </a:r>
            <a:endParaRPr lang="zh-CN" altLang="en-US" dirty="0"/>
          </a:p>
        </p:txBody>
      </p:sp>
      <p:sp>
        <p:nvSpPr>
          <p:cNvPr id="3" name="Content Placeholder 2"/>
          <p:cNvSpPr>
            <a:spLocks noGrp="1"/>
          </p:cNvSpPr>
          <p:nvPr>
            <p:ph idx="1"/>
          </p:nvPr>
        </p:nvSpPr>
        <p:spPr/>
        <p:txBody>
          <a:bodyPr/>
          <a:lstStyle/>
          <a:p>
            <a:r>
              <a:rPr lang="zh-CN" altLang="en-US"/>
              <a:t>局部表示</a:t>
            </a:r>
          </a:p>
          <a:p>
            <a:pPr lvl="1"/>
            <a:r>
              <a:rPr lang="zh-CN" altLang="en-US"/>
              <a:t>离散表示、</a:t>
            </a:r>
            <a:r>
              <a:rPr lang="zh-CN" altLang="en-US" u="sng"/>
              <a:t>符号表示</a:t>
            </a:r>
            <a:endParaRPr lang="en-US" altLang="zh-CN"/>
          </a:p>
          <a:p>
            <a:pPr lvl="1"/>
            <a:r>
              <a:rPr lang="en-US" altLang="zh-CN"/>
              <a:t>One-Hot</a:t>
            </a:r>
            <a:r>
              <a:rPr lang="zh-CN" altLang="en-US"/>
              <a:t>向量</a:t>
            </a:r>
            <a:endParaRPr lang="en-US" altLang="zh-CN"/>
          </a:p>
          <a:p>
            <a:endParaRPr lang="en-US" altLang="zh-CN"/>
          </a:p>
          <a:p>
            <a:endParaRPr lang="en-US" altLang="zh-CN"/>
          </a:p>
          <a:p>
            <a:r>
              <a:rPr lang="zh-CN" altLang="en-US"/>
              <a:t>分布式</a:t>
            </a:r>
            <a:r>
              <a:rPr lang="en-US" altLang="zh-CN"/>
              <a:t>(distributed)</a:t>
            </a:r>
            <a:r>
              <a:rPr lang="zh-CN" altLang="en-US"/>
              <a:t>表示</a:t>
            </a:r>
            <a:endParaRPr lang="en-US" altLang="zh-CN"/>
          </a:p>
          <a:p>
            <a:pPr lvl="1"/>
            <a:r>
              <a:rPr lang="zh-CN" altLang="en-US"/>
              <a:t>压缩、低维、稠密向量</a:t>
            </a:r>
            <a:endParaRPr lang="en-US" altLang="zh-CN"/>
          </a:p>
          <a:p>
            <a:pPr lvl="1"/>
            <a:r>
              <a:rPr lang="zh-CN" altLang="en-US"/>
              <a:t>用</a:t>
            </a:r>
            <a:r>
              <a:rPr lang="en-US" altLang="zh-CN"/>
              <a:t>O(N)</a:t>
            </a:r>
            <a:r>
              <a:rPr lang="zh-CN" altLang="en-US"/>
              <a:t>个参数表示</a:t>
            </a:r>
            <a:r>
              <a:rPr lang="en-US" altLang="zh-CN"/>
              <a:t> O(2k)</a:t>
            </a:r>
            <a:r>
              <a:rPr lang="zh-CN" altLang="en-US"/>
              <a:t>区间</a:t>
            </a:r>
            <a:endParaRPr lang="en-US" altLang="zh-CN"/>
          </a:p>
          <a:p>
            <a:pPr lvl="2"/>
            <a:r>
              <a:rPr lang="en-US" altLang="zh-CN"/>
              <a:t>k</a:t>
            </a:r>
            <a:r>
              <a:rPr lang="zh-CN" altLang="en-US"/>
              <a:t>为非</a:t>
            </a:r>
            <a:r>
              <a:rPr lang="en-US" altLang="zh-CN"/>
              <a:t>0</a:t>
            </a:r>
            <a:r>
              <a:rPr lang="zh-CN" altLang="en-US"/>
              <a:t>参数，</a:t>
            </a:r>
            <a:r>
              <a:rPr lang="en-US" altLang="zh-CN"/>
              <a:t>k&lt;N</a:t>
            </a:r>
            <a:endParaRPr lang="en-US" altLang="zh-CN" dirty="0"/>
          </a:p>
        </p:txBody>
      </p:sp>
      <p:graphicFrame>
        <p:nvGraphicFramePr>
          <p:cNvPr id="4" name="Table 3"/>
          <p:cNvGraphicFramePr>
            <a:graphicFrameLocks noGrp="1"/>
          </p:cNvGraphicFramePr>
          <p:nvPr/>
        </p:nvGraphicFramePr>
        <p:xfrm>
          <a:off x="5943600" y="1295400"/>
          <a:ext cx="4648200" cy="2026222"/>
        </p:xfrm>
        <a:graphic>
          <a:graphicData uri="http://schemas.openxmlformats.org/drawingml/2006/table">
            <a:tbl>
              <a:tblPr firstRow="1" firstCol="1" bandRow="1">
                <a:tableStyleId>{5C22544A-7EE6-4342-B048-85BDC9FD1C3A}</a:tableStyleId>
              </a:tblPr>
              <a:tblGrid>
                <a:gridCol w="451023">
                  <a:extLst>
                    <a:ext uri="{9D8B030D-6E8A-4147-A177-3AD203B41FA5}">
                      <a16:colId xmlns:a16="http://schemas.microsoft.com/office/drawing/2014/main" val="20000"/>
                    </a:ext>
                  </a:extLst>
                </a:gridCol>
                <a:gridCol w="1991252">
                  <a:extLst>
                    <a:ext uri="{9D8B030D-6E8A-4147-A177-3AD203B41FA5}">
                      <a16:colId xmlns:a16="http://schemas.microsoft.com/office/drawing/2014/main" val="20001"/>
                    </a:ext>
                  </a:extLst>
                </a:gridCol>
                <a:gridCol w="2205925">
                  <a:extLst>
                    <a:ext uri="{9D8B030D-6E8A-4147-A177-3AD203B41FA5}">
                      <a16:colId xmlns:a16="http://schemas.microsoft.com/office/drawing/2014/main" val="20002"/>
                    </a:ext>
                  </a:extLst>
                </a:gridCol>
              </a:tblGrid>
              <a:tr h="0">
                <a:tc>
                  <a:txBody>
                    <a:bodyPr/>
                    <a:lstStyle/>
                    <a:p>
                      <a:pPr algn="ctr">
                        <a:lnSpc>
                          <a:spcPct val="115000"/>
                        </a:lnSpc>
                        <a:spcAft>
                          <a:spcPts val="0"/>
                        </a:spcAft>
                      </a:pPr>
                      <a:r>
                        <a:rPr lang="en-US" sz="2000" kern="100" dirty="0">
                          <a:effectLst/>
                        </a:rPr>
                        <a:t> </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zh-CN" altLang="en-US" sz="2000" kern="100" dirty="0">
                          <a:effectLst/>
                        </a:rPr>
                        <a:t>局部表示</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zh-CN" altLang="en-US" sz="2000" kern="100" dirty="0">
                          <a:effectLst/>
                        </a:rPr>
                        <a:t>分布式表示</a:t>
                      </a:r>
                      <a:endParaRPr lang="zh-CN" sz="1800" kern="100" dirty="0">
                        <a:effectLst/>
                        <a:latin typeface="宋体" pitchFamily="2" charset="-122"/>
                        <a:ea typeface="宋体" pitchFamily="2" charset="-122"/>
                        <a:cs typeface="宋体" pitchFamily="2" charset="-122"/>
                      </a:endParaRPr>
                    </a:p>
                  </a:txBody>
                  <a:tcPr marL="68580" marR="68580" marT="0" marB="0"/>
                </a:tc>
                <a:extLst>
                  <a:ext uri="{0D108BD9-81ED-4DB2-BD59-A6C34878D82A}">
                    <a16:rowId xmlns:a16="http://schemas.microsoft.com/office/drawing/2014/main" val="10000"/>
                  </a:ext>
                </a:extLst>
              </a:tr>
              <a:tr h="426720">
                <a:tc>
                  <a:txBody>
                    <a:bodyPr/>
                    <a:lstStyle/>
                    <a:p>
                      <a:pPr algn="ctr">
                        <a:lnSpc>
                          <a:spcPct val="115000"/>
                        </a:lnSpc>
                        <a:spcAft>
                          <a:spcPts val="0"/>
                        </a:spcAft>
                      </a:pPr>
                      <a:r>
                        <a:rPr lang="en-US" sz="2000" kern="100" dirty="0">
                          <a:effectLst/>
                        </a:rPr>
                        <a:t>A</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[1 0 0 0]</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[0.25 0.5]</a:t>
                      </a:r>
                      <a:endParaRPr lang="zh-CN" sz="1800" kern="100" dirty="0">
                        <a:effectLst/>
                        <a:latin typeface="宋体" pitchFamily="2" charset="-122"/>
                        <a:ea typeface="宋体" pitchFamily="2" charset="-122"/>
                        <a:cs typeface="宋体" pitchFamily="2" charset="-122"/>
                      </a:endParaRPr>
                    </a:p>
                  </a:txBody>
                  <a:tcPr marL="68580" marR="68580" marT="0" marB="0"/>
                </a:tc>
                <a:extLst>
                  <a:ext uri="{0D108BD9-81ED-4DB2-BD59-A6C34878D82A}">
                    <a16:rowId xmlns:a16="http://schemas.microsoft.com/office/drawing/2014/main" val="10001"/>
                  </a:ext>
                </a:extLst>
              </a:tr>
              <a:tr h="426720">
                <a:tc>
                  <a:txBody>
                    <a:bodyPr/>
                    <a:lstStyle/>
                    <a:p>
                      <a:pPr algn="ctr">
                        <a:lnSpc>
                          <a:spcPct val="115000"/>
                        </a:lnSpc>
                        <a:spcAft>
                          <a:spcPts val="0"/>
                        </a:spcAft>
                      </a:pPr>
                      <a:r>
                        <a:rPr lang="en-US" sz="2000" kern="100" dirty="0">
                          <a:effectLst/>
                        </a:rPr>
                        <a:t>B</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 1 0 0]</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a:effectLst/>
                        </a:rPr>
                        <a:t>[0.2 0.9]</a:t>
                      </a:r>
                      <a:endParaRPr lang="zh-CN" sz="1800" kern="100">
                        <a:effectLst/>
                        <a:latin typeface="宋体" pitchFamily="2" charset="-122"/>
                        <a:ea typeface="宋体" pitchFamily="2" charset="-122"/>
                        <a:cs typeface="宋体" pitchFamily="2" charset="-122"/>
                      </a:endParaRPr>
                    </a:p>
                  </a:txBody>
                  <a:tcPr marL="68580" marR="68580" marT="0" marB="0"/>
                </a:tc>
                <a:extLst>
                  <a:ext uri="{0D108BD9-81ED-4DB2-BD59-A6C34878D82A}">
                    <a16:rowId xmlns:a16="http://schemas.microsoft.com/office/drawing/2014/main" val="10002"/>
                  </a:ext>
                </a:extLst>
              </a:tr>
              <a:tr h="426720">
                <a:tc>
                  <a:txBody>
                    <a:bodyPr/>
                    <a:lstStyle/>
                    <a:p>
                      <a:pPr algn="ctr">
                        <a:lnSpc>
                          <a:spcPct val="115000"/>
                        </a:lnSpc>
                        <a:spcAft>
                          <a:spcPts val="0"/>
                        </a:spcAft>
                      </a:pPr>
                      <a:r>
                        <a:rPr lang="en-US" sz="2000" kern="100">
                          <a:effectLst/>
                        </a:rPr>
                        <a:t>C</a:t>
                      </a:r>
                      <a:endParaRPr lang="zh-CN" sz="1800" kern="10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 0 1 0]</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[0.8 0.2]</a:t>
                      </a:r>
                      <a:endParaRPr lang="zh-CN" sz="1800" kern="100" dirty="0">
                        <a:effectLst/>
                        <a:latin typeface="宋体" pitchFamily="2" charset="-122"/>
                        <a:ea typeface="宋体" pitchFamily="2" charset="-122"/>
                        <a:cs typeface="宋体" pitchFamily="2" charset="-122"/>
                      </a:endParaRPr>
                    </a:p>
                  </a:txBody>
                  <a:tcPr marL="68580" marR="68580" marT="0" marB="0"/>
                </a:tc>
                <a:extLst>
                  <a:ext uri="{0D108BD9-81ED-4DB2-BD59-A6C34878D82A}">
                    <a16:rowId xmlns:a16="http://schemas.microsoft.com/office/drawing/2014/main" val="10003"/>
                  </a:ext>
                </a:extLst>
              </a:tr>
              <a:tr h="426720">
                <a:tc>
                  <a:txBody>
                    <a:bodyPr/>
                    <a:lstStyle/>
                    <a:p>
                      <a:pPr algn="ctr">
                        <a:lnSpc>
                          <a:spcPct val="115000"/>
                        </a:lnSpc>
                        <a:spcAft>
                          <a:spcPts val="0"/>
                        </a:spcAft>
                      </a:pPr>
                      <a:r>
                        <a:rPr lang="en-US" sz="2000" kern="100">
                          <a:effectLst/>
                        </a:rPr>
                        <a:t>D</a:t>
                      </a:r>
                      <a:endParaRPr lang="zh-CN" sz="1800" kern="10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 0 0 1]</a:t>
                      </a:r>
                      <a:endParaRPr lang="zh-CN" sz="1800" kern="100" dirty="0">
                        <a:effectLst/>
                        <a:latin typeface="宋体" pitchFamily="2" charset="-122"/>
                        <a:ea typeface="宋体" pitchFamily="2" charset="-122"/>
                        <a:cs typeface="宋体" pitchFamily="2" charset="-122"/>
                      </a:endParaRPr>
                    </a:p>
                  </a:txBody>
                  <a:tcPr marL="68580" marR="68580" marT="0" marB="0"/>
                </a:tc>
                <a:tc>
                  <a:txBody>
                    <a:bodyPr/>
                    <a:lstStyle/>
                    <a:p>
                      <a:pPr algn="ctr">
                        <a:lnSpc>
                          <a:spcPct val="115000"/>
                        </a:lnSpc>
                        <a:spcAft>
                          <a:spcPts val="0"/>
                        </a:spcAft>
                      </a:pPr>
                      <a:r>
                        <a:rPr lang="en-US" sz="2000" kern="100" dirty="0">
                          <a:effectLst/>
                        </a:rPr>
                        <a:t>[0.9 0.1]</a:t>
                      </a:r>
                      <a:endParaRPr lang="zh-CN" sz="1800" kern="100" dirty="0">
                        <a:effectLst/>
                        <a:latin typeface="宋体" pitchFamily="2" charset="-122"/>
                        <a:ea typeface="宋体" pitchFamily="2" charset="-122"/>
                        <a:cs typeface="宋体" pitchFamily="2" charset="-122"/>
                      </a:endParaRPr>
                    </a:p>
                  </a:txBody>
                  <a:tcPr marL="68580" marR="68580" marT="0" marB="0"/>
                </a:tc>
                <a:extLst>
                  <a:ext uri="{0D108BD9-81ED-4DB2-BD59-A6C34878D82A}">
                    <a16:rowId xmlns:a16="http://schemas.microsoft.com/office/drawing/2014/main" val="10004"/>
                  </a:ext>
                </a:extLst>
              </a:tr>
            </a:tbl>
          </a:graphicData>
        </a:graphic>
      </p:graphicFrame>
      <p:pic>
        <p:nvPicPr>
          <p:cNvPr id="1026" name="Picture 2" descr="http://pic.fxxz.com/up/2010-11/2010111715502219310.jpg"/>
          <p:cNvPicPr>
            <a:picLocks noChangeAspect="1" noChangeArrowheads="1"/>
          </p:cNvPicPr>
          <p:nvPr/>
        </p:nvPicPr>
        <p:blipFill>
          <a:blip r:embed="rId3" cstate="screen"/>
          <a:srcRect/>
          <a:stretch>
            <a:fillRect/>
          </a:stretch>
        </p:blipFill>
        <p:spPr bwMode="auto">
          <a:xfrm>
            <a:off x="7391400" y="3715558"/>
            <a:ext cx="2127654" cy="21161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361508" y="5895847"/>
            <a:ext cx="1800493" cy="369332"/>
          </a:xfrm>
          <a:prstGeom prst="rect">
            <a:avLst/>
          </a:prstGeom>
        </p:spPr>
        <p:txBody>
          <a:bodyPr wrap="none">
            <a:spAutoFit/>
          </a:bodyPr>
          <a:lstStyle/>
          <a:p>
            <a:pPr lvl="1" algn="ctr"/>
            <a:r>
              <a:rPr lang="zh-CN" altLang="en-US" dirty="0"/>
              <a:t>分布式表示</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一个生活中的例子：颜色</a:t>
            </a:r>
          </a:p>
        </p:txBody>
      </p:sp>
      <p:pic>
        <p:nvPicPr>
          <p:cNvPr id="1026" name="Picture 2" descr="“rgb”的图片搜索结果"/>
          <p:cNvPicPr>
            <a:picLocks noChangeAspect="1" noChangeArrowheads="1"/>
          </p:cNvPicPr>
          <p:nvPr/>
        </p:nvPicPr>
        <p:blipFill>
          <a:blip r:embed="rId3"/>
          <a:srcRect/>
          <a:stretch>
            <a:fillRect/>
          </a:stretch>
        </p:blipFill>
        <p:spPr bwMode="auto">
          <a:xfrm>
            <a:off x="7620001" y="2514601"/>
            <a:ext cx="2471103" cy="2138083"/>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6579" y="2743200"/>
            <a:ext cx="4589496" cy="21336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语义表示</a:t>
            </a:r>
            <a:endParaRPr lang="zh-CN" altLang="en-US" dirty="0"/>
          </a:p>
        </p:txBody>
      </p:sp>
      <p:sp>
        <p:nvSpPr>
          <p:cNvPr id="4" name="内容占位符 3"/>
          <p:cNvSpPr>
            <a:spLocks noGrp="1"/>
          </p:cNvSpPr>
          <p:nvPr>
            <p:ph idx="1"/>
          </p:nvPr>
        </p:nvSpPr>
        <p:spPr/>
        <p:txBody>
          <a:bodyPr/>
          <a:lstStyle/>
          <a:p>
            <a:r>
              <a:rPr lang="zh-CN" altLang="en-US"/>
              <a:t>如何在计算机中表示语义？</a:t>
            </a:r>
            <a:endParaRPr lang="en-US" altLang="zh-CN"/>
          </a:p>
          <a:p>
            <a:pPr lvl="1"/>
            <a:endParaRPr lang="zh-CN" altLang="en-US" dirty="0"/>
          </a:p>
        </p:txBody>
      </p:sp>
      <p:sp>
        <p:nvSpPr>
          <p:cNvPr id="5" name="圆角矩形 4"/>
          <p:cNvSpPr/>
          <p:nvPr/>
        </p:nvSpPr>
        <p:spPr>
          <a:xfrm>
            <a:off x="4136435" y="1937774"/>
            <a:ext cx="204383" cy="387191"/>
          </a:xfrm>
          <a:prstGeom prst="roundRect">
            <a:avLst/>
          </a:prstGeom>
        </p:spPr>
        <p:txBody>
          <a:bodyPr wrap="none" rtlCol="0" anchor="ctr">
            <a:spAutoFit/>
          </a:bodyPr>
          <a:lstStyle/>
          <a:p>
            <a:pPr algn="ctr"/>
            <a:endParaRPr lang="zh-CN" altLang="en-US" dirty="0"/>
          </a:p>
        </p:txBody>
      </p:sp>
      <p:sp>
        <p:nvSpPr>
          <p:cNvPr id="7" name="矩形 6"/>
          <p:cNvSpPr/>
          <p:nvPr/>
        </p:nvSpPr>
        <p:spPr>
          <a:xfrm>
            <a:off x="1676400" y="1923714"/>
            <a:ext cx="3352800" cy="553998"/>
          </a:xfrm>
          <a:prstGeom prst="rect">
            <a:avLst/>
          </a:prstGeom>
        </p:spPr>
        <p:style>
          <a:lnRef idx="3">
            <a:schemeClr val="lt1"/>
          </a:lnRef>
          <a:fillRef idx="1">
            <a:schemeClr val="accent4"/>
          </a:fillRef>
          <a:effectRef idx="1">
            <a:schemeClr val="accent4"/>
          </a:effectRef>
          <a:fontRef idx="minor">
            <a:schemeClr val="lt1"/>
          </a:fontRef>
        </p:style>
        <p:txBody>
          <a:bodyPr wrap="square">
            <a:spAutoFit/>
          </a:bodyPr>
          <a:lstStyle/>
          <a:p>
            <a:pPr algn="ctr"/>
            <a:r>
              <a:rPr lang="zh-CN" altLang="en-US" sz="3000" dirty="0"/>
              <a:t>局部（符号）表示</a:t>
            </a:r>
          </a:p>
        </p:txBody>
      </p:sp>
      <p:sp>
        <p:nvSpPr>
          <p:cNvPr id="8" name="矩形 7"/>
          <p:cNvSpPr/>
          <p:nvPr/>
        </p:nvSpPr>
        <p:spPr>
          <a:xfrm>
            <a:off x="6324600" y="1905000"/>
            <a:ext cx="2571750" cy="553998"/>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zh-CN" altLang="en-US" sz="3000" dirty="0"/>
              <a:t>分布式表示</a:t>
            </a:r>
          </a:p>
        </p:txBody>
      </p:sp>
      <p:sp>
        <p:nvSpPr>
          <p:cNvPr id="10" name="右箭头 9"/>
          <p:cNvSpPr/>
          <p:nvPr/>
        </p:nvSpPr>
        <p:spPr>
          <a:xfrm>
            <a:off x="5353052" y="1870177"/>
            <a:ext cx="742949" cy="733663"/>
          </a:xfrm>
          <a:prstGeom prst="rightArrow">
            <a:avLst/>
          </a:prstGeom>
        </p:spPr>
        <p:style>
          <a:lnRef idx="2">
            <a:schemeClr val="accent4"/>
          </a:lnRef>
          <a:fillRef idx="1">
            <a:schemeClr val="lt1"/>
          </a:fillRef>
          <a:effectRef idx="0">
            <a:schemeClr val="accent4"/>
          </a:effectRef>
          <a:fontRef idx="minor">
            <a:schemeClr val="dk1"/>
          </a:fontRef>
        </p:style>
        <p:txBody>
          <a:bodyPr wrap="square" rtlCol="0" anchor="ctr">
            <a:spAutoFit/>
          </a:bodyPr>
          <a:lstStyle/>
          <a:p>
            <a:pPr algn="ctr"/>
            <a:endParaRPr lang="zh-CN" altLang="en-US" dirty="0"/>
          </a:p>
        </p:txBody>
      </p:sp>
      <p:sp>
        <p:nvSpPr>
          <p:cNvPr id="6" name="矩形 5"/>
          <p:cNvSpPr/>
          <p:nvPr/>
        </p:nvSpPr>
        <p:spPr>
          <a:xfrm>
            <a:off x="2135556" y="2629506"/>
            <a:ext cx="2469782" cy="369332"/>
          </a:xfrm>
          <a:prstGeom prst="rect">
            <a:avLst/>
          </a:prstGeom>
        </p:spPr>
        <p:txBody>
          <a:bodyPr wrap="square">
            <a:spAutoFit/>
          </a:bodyPr>
          <a:lstStyle/>
          <a:p>
            <a:pPr algn="ctr"/>
            <a:r>
              <a:rPr lang="zh-CN" altLang="en-US" dirty="0"/>
              <a:t>知识库、规则</a:t>
            </a:r>
          </a:p>
        </p:txBody>
      </p:sp>
      <p:pic>
        <p:nvPicPr>
          <p:cNvPr id="11" name="图片 10" descr="屏幕剪辑"/>
          <p:cNvPicPr>
            <a:picLocks noChangeAspect="1"/>
          </p:cNvPicPr>
          <p:nvPr/>
        </p:nvPicPr>
        <p:blipFill>
          <a:blip r:embed="rId4" cstate="hqprint"/>
          <a:stretch>
            <a:fillRect/>
          </a:stretch>
        </p:blipFill>
        <p:spPr>
          <a:xfrm>
            <a:off x="3589479" y="3682078"/>
            <a:ext cx="2469783" cy="2483047"/>
          </a:xfrm>
          <a:prstGeom prst="rect">
            <a:avLst/>
          </a:prstGeom>
        </p:spPr>
      </p:pic>
      <p:sp>
        <p:nvSpPr>
          <p:cNvPr id="13" name="矩形 12"/>
          <p:cNvSpPr/>
          <p:nvPr/>
        </p:nvSpPr>
        <p:spPr>
          <a:xfrm>
            <a:off x="6318250" y="2775466"/>
            <a:ext cx="3185487" cy="369332"/>
          </a:xfrm>
          <a:prstGeom prst="rect">
            <a:avLst/>
          </a:prstGeom>
        </p:spPr>
        <p:txBody>
          <a:bodyPr wrap="none">
            <a:spAutoFit/>
          </a:bodyPr>
          <a:lstStyle/>
          <a:p>
            <a:r>
              <a:rPr lang="zh-CN" altLang="en-US" dirty="0"/>
              <a:t>嵌入：压缩、低维、稠密向量</a:t>
            </a:r>
          </a:p>
        </p:txBody>
      </p:sp>
      <p:sp>
        <p:nvSpPr>
          <p:cNvPr id="14" name="矩形 13"/>
          <p:cNvSpPr/>
          <p:nvPr/>
        </p:nvSpPr>
        <p:spPr>
          <a:xfrm>
            <a:off x="2026330" y="5185626"/>
            <a:ext cx="2314488" cy="369332"/>
          </a:xfrm>
          <a:prstGeom prst="rect">
            <a:avLst/>
          </a:prstGeom>
        </p:spPr>
        <p:txBody>
          <a:bodyPr wrap="square">
            <a:spAutoFit/>
          </a:bodyPr>
          <a:lstStyle/>
          <a:p>
            <a:pPr lvl="1"/>
            <a:r>
              <a:rPr lang="en-US" altLang="zh-CN" dirty="0"/>
              <a:t>One-Hot</a:t>
            </a:r>
            <a:r>
              <a:rPr lang="zh-CN" altLang="en-US" dirty="0"/>
              <a:t>向量</a:t>
            </a:r>
            <a:endParaRPr lang="en-US" altLang="zh-CN"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10" grpId="0" animBg="1"/>
      <p:bldP spid="6" grpId="0"/>
      <p:bldP spid="13" grpId="0"/>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词嵌入（</a:t>
            </a:r>
            <a:r>
              <a:rPr lang="en-US" altLang="zh-CN" dirty="0"/>
              <a:t>Word Embeddings</a:t>
            </a:r>
            <a:r>
              <a:rPr lang="zh-CN" altLang="en-US" dirty="0"/>
              <a:t>）</a:t>
            </a:r>
          </a:p>
        </p:txBody>
      </p:sp>
      <p:pic>
        <p:nvPicPr>
          <p:cNvPr id="1026" name="Picture 2" descr="http://sebastianruder.com/content/images/2016/04/word_embeddings_colah.png"/>
          <p:cNvPicPr>
            <a:picLocks noChangeAspect="1" noChangeArrowheads="1"/>
          </p:cNvPicPr>
          <p:nvPr/>
        </p:nvPicPr>
        <p:blipFill>
          <a:blip r:embed="rId3"/>
          <a:srcRect/>
          <a:stretch>
            <a:fillRect/>
          </a:stretch>
        </p:blipFill>
        <p:spPr bwMode="auto">
          <a:xfrm>
            <a:off x="5029201" y="1676401"/>
            <a:ext cx="4740795" cy="3881437"/>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4419600" y="5906571"/>
            <a:ext cx="4493538" cy="369332"/>
          </a:xfrm>
          <a:prstGeom prst="rect">
            <a:avLst/>
          </a:prstGeom>
        </p:spPr>
        <p:txBody>
          <a:bodyPr wrap="none">
            <a:spAutoFit/>
          </a:bodyPr>
          <a:lstStyle/>
          <a:p>
            <a:r>
              <a:rPr lang="zh-CN" altLang="en-US" dirty="0"/>
              <a:t>https://indico.io/blog/visualizing-with-t-sne/</a:t>
            </a:r>
          </a:p>
        </p:txBody>
      </p:sp>
      <p:sp>
        <p:nvSpPr>
          <p:cNvPr id="4" name="文本框 3"/>
          <p:cNvSpPr txBox="1"/>
          <p:nvPr/>
        </p:nvSpPr>
        <p:spPr>
          <a:xfrm>
            <a:off x="2286001" y="2057401"/>
            <a:ext cx="800219" cy="461665"/>
          </a:xfrm>
          <a:prstGeom prst="rect">
            <a:avLst/>
          </a:prstGeom>
          <a:noFill/>
        </p:spPr>
        <p:txBody>
          <a:bodyPr wrap="none" rtlCol="0">
            <a:spAutoFit/>
          </a:bodyPr>
          <a:lstStyle/>
          <a:p>
            <a:r>
              <a:rPr lang="zh-CN" altLang="en-US" sz="2400" dirty="0"/>
              <a:t>上海</a:t>
            </a:r>
          </a:p>
        </p:txBody>
      </p:sp>
      <p:sp>
        <p:nvSpPr>
          <p:cNvPr id="6" name="文本框 5"/>
          <p:cNvSpPr txBox="1"/>
          <p:nvPr/>
        </p:nvSpPr>
        <p:spPr>
          <a:xfrm>
            <a:off x="2286001" y="2514601"/>
            <a:ext cx="800219" cy="461665"/>
          </a:xfrm>
          <a:prstGeom prst="rect">
            <a:avLst/>
          </a:prstGeom>
          <a:noFill/>
        </p:spPr>
        <p:txBody>
          <a:bodyPr wrap="none" rtlCol="0">
            <a:spAutoFit/>
          </a:bodyPr>
          <a:lstStyle/>
          <a:p>
            <a:r>
              <a:rPr lang="zh-CN" altLang="en-US" sz="2400" dirty="0"/>
              <a:t>北京</a:t>
            </a:r>
          </a:p>
        </p:txBody>
      </p:sp>
      <p:cxnSp>
        <p:nvCxnSpPr>
          <p:cNvPr id="7" name="曲线连接符 6"/>
          <p:cNvCxnSpPr>
            <a:stCxn id="4" idx="3"/>
          </p:cNvCxnSpPr>
          <p:nvPr/>
        </p:nvCxnSpPr>
        <p:spPr>
          <a:xfrm>
            <a:off x="3086220" y="2288234"/>
            <a:ext cx="3009781" cy="378767"/>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曲线连接符 8"/>
          <p:cNvCxnSpPr>
            <a:stCxn id="6" idx="3"/>
          </p:cNvCxnSpPr>
          <p:nvPr/>
        </p:nvCxnSpPr>
        <p:spPr>
          <a:xfrm>
            <a:off x="3086220" y="2745433"/>
            <a:ext cx="3009781" cy="230832"/>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2209801" y="3962401"/>
            <a:ext cx="800219" cy="461665"/>
          </a:xfrm>
          <a:prstGeom prst="rect">
            <a:avLst/>
          </a:prstGeom>
          <a:noFill/>
        </p:spPr>
        <p:txBody>
          <a:bodyPr wrap="none" rtlCol="0">
            <a:spAutoFit/>
          </a:bodyPr>
          <a:lstStyle/>
          <a:p>
            <a:r>
              <a:rPr lang="zh-CN" altLang="en-US" sz="2400" dirty="0"/>
              <a:t>高兴</a:t>
            </a:r>
          </a:p>
        </p:txBody>
      </p:sp>
      <p:sp>
        <p:nvSpPr>
          <p:cNvPr id="13" name="文本框 12"/>
          <p:cNvSpPr txBox="1"/>
          <p:nvPr/>
        </p:nvSpPr>
        <p:spPr>
          <a:xfrm>
            <a:off x="2209801" y="4419601"/>
            <a:ext cx="800219" cy="461665"/>
          </a:xfrm>
          <a:prstGeom prst="rect">
            <a:avLst/>
          </a:prstGeom>
          <a:noFill/>
        </p:spPr>
        <p:txBody>
          <a:bodyPr wrap="none" rtlCol="0">
            <a:spAutoFit/>
          </a:bodyPr>
          <a:lstStyle/>
          <a:p>
            <a:r>
              <a:rPr lang="zh-CN" altLang="en-US" sz="2400" dirty="0"/>
              <a:t>难过</a:t>
            </a:r>
          </a:p>
        </p:txBody>
      </p:sp>
      <p:cxnSp>
        <p:nvCxnSpPr>
          <p:cNvPr id="14" name="曲线连接符 13"/>
          <p:cNvCxnSpPr>
            <a:stCxn id="12" idx="3"/>
          </p:cNvCxnSpPr>
          <p:nvPr/>
        </p:nvCxnSpPr>
        <p:spPr>
          <a:xfrm flipV="1">
            <a:off x="3010020" y="3657601"/>
            <a:ext cx="5448181" cy="53563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13" idx="3"/>
          </p:cNvCxnSpPr>
          <p:nvPr/>
        </p:nvCxnSpPr>
        <p:spPr>
          <a:xfrm flipV="1">
            <a:off x="3010020" y="3962401"/>
            <a:ext cx="5371981" cy="68803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表示学习</a:t>
            </a:r>
            <a:endParaRPr lang="zh-CN" altLang="en-US" dirty="0"/>
          </a:p>
        </p:txBody>
      </p:sp>
      <p:sp>
        <p:nvSpPr>
          <p:cNvPr id="3" name="内容占位符 2"/>
          <p:cNvSpPr>
            <a:spLocks noGrp="1"/>
          </p:cNvSpPr>
          <p:nvPr>
            <p:ph idx="1"/>
          </p:nvPr>
        </p:nvSpPr>
        <p:spPr/>
        <p:txBody>
          <a:bodyPr/>
          <a:lstStyle/>
          <a:p>
            <a:r>
              <a:rPr lang="zh-CN" altLang="en-US" dirty="0"/>
              <a:t>表示学习：如何自动从数据中学习好的表示</a:t>
            </a:r>
          </a:p>
          <a:p>
            <a:r>
              <a:rPr lang="zh-CN" altLang="en-US" dirty="0"/>
              <a:t>通过构建具有一定“深度”的模型，可以让模型来自动学习好的特征表示（从底层特征，到中层特征，再到高层特征），从而最终提升预测或识别的准确性。</a:t>
            </a:r>
          </a:p>
        </p:txBody>
      </p:sp>
      <p:pic>
        <p:nvPicPr>
          <p:cNvPr id="5" name="图片 4" descr="屏幕剪辑"/>
          <p:cNvPicPr>
            <a:picLocks noChangeAspect="1"/>
          </p:cNvPicPr>
          <p:nvPr/>
        </p:nvPicPr>
        <p:blipFill>
          <a:blip r:embed="rId3"/>
          <a:stretch>
            <a:fillRect/>
          </a:stretch>
        </p:blipFill>
        <p:spPr>
          <a:xfrm>
            <a:off x="1986428" y="3666310"/>
            <a:ext cx="8224372" cy="134442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传统的特征提取</a:t>
            </a:r>
            <a:r>
              <a:rPr lang="en-US" altLang="zh-CN"/>
              <a:t> VS </a:t>
            </a:r>
            <a:r>
              <a:rPr lang="zh-CN" altLang="en-US"/>
              <a:t>表示学习</a:t>
            </a:r>
          </a:p>
        </p:txBody>
      </p:sp>
      <p:sp>
        <p:nvSpPr>
          <p:cNvPr id="3" name="Content Placeholder 2"/>
          <p:cNvSpPr>
            <a:spLocks noGrp="1"/>
          </p:cNvSpPr>
          <p:nvPr>
            <p:ph idx="1"/>
          </p:nvPr>
        </p:nvSpPr>
        <p:spPr/>
        <p:txBody>
          <a:bodyPr/>
          <a:lstStyle/>
          <a:p>
            <a:r>
              <a:rPr lang="zh-CN" altLang="en-US" dirty="0"/>
              <a:t>特征提取</a:t>
            </a:r>
            <a:endParaRPr lang="en-US" altLang="zh-CN" dirty="0"/>
          </a:p>
          <a:p>
            <a:pPr lvl="1"/>
            <a:r>
              <a:rPr lang="zh-CN" altLang="en-US" dirty="0"/>
              <a:t>线性投影（子空间）</a:t>
            </a:r>
            <a:endParaRPr lang="en-US" altLang="zh-CN" dirty="0"/>
          </a:p>
          <a:p>
            <a:pPr lvl="2"/>
            <a:r>
              <a:rPr lang="en-US" altLang="zh-CN" dirty="0"/>
              <a:t>PCA</a:t>
            </a:r>
            <a:r>
              <a:rPr lang="zh-CN" altLang="en-US" dirty="0"/>
              <a:t>、</a:t>
            </a:r>
            <a:r>
              <a:rPr lang="en-US" altLang="zh-CN" dirty="0"/>
              <a:t>LDA</a:t>
            </a:r>
          </a:p>
          <a:p>
            <a:pPr lvl="1"/>
            <a:r>
              <a:rPr lang="zh-CN" altLang="en-US" dirty="0"/>
              <a:t>自编码器</a:t>
            </a:r>
            <a:endParaRPr lang="en-US" altLang="zh-CN" dirty="0"/>
          </a:p>
          <a:p>
            <a:pPr lvl="1"/>
            <a:endParaRPr lang="en-US" altLang="zh-CN" dirty="0"/>
          </a:p>
          <a:p>
            <a:r>
              <a:rPr lang="zh-CN" altLang="en-US" dirty="0"/>
              <a:t>特征提取</a:t>
            </a:r>
            <a:r>
              <a:rPr lang="en-US" altLang="zh-CN" dirty="0"/>
              <a:t>VS</a:t>
            </a:r>
            <a:r>
              <a:rPr lang="zh-CN" altLang="en-US" dirty="0"/>
              <a:t>表示学习</a:t>
            </a:r>
            <a:endParaRPr lang="en-US" altLang="zh-CN" dirty="0"/>
          </a:p>
          <a:p>
            <a:pPr lvl="1"/>
            <a:r>
              <a:rPr lang="zh-CN" altLang="en-US" dirty="0"/>
              <a:t>特征提取：基于任务或先验去除无用特征</a:t>
            </a:r>
            <a:endParaRPr lang="en-US" altLang="zh-CN" dirty="0"/>
          </a:p>
          <a:p>
            <a:pPr lvl="1"/>
            <a:r>
              <a:rPr lang="zh-CN" altLang="en-US" dirty="0"/>
              <a:t>表示学习：通过深度模型学习高层语义特征</a:t>
            </a:r>
            <a:endParaRPr lang="en-US" altLang="zh-CN" dirty="0"/>
          </a:p>
          <a:p>
            <a:pPr lvl="2"/>
            <a:r>
              <a:rPr lang="zh-CN" altLang="en-US" dirty="0"/>
              <a:t>难点：没有明确的目标</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1.4 </a:t>
            </a:r>
            <a:r>
              <a:rPr lang="zh-CN" altLang="en-US" dirty="0"/>
              <a:t>深度学习</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表示学习与深度学习</a:t>
            </a:r>
            <a:endParaRPr lang="zh-CN" altLang="en-US" dirty="0"/>
          </a:p>
        </p:txBody>
      </p:sp>
      <p:sp>
        <p:nvSpPr>
          <p:cNvPr id="3" name="Content Placeholder 2"/>
          <p:cNvSpPr>
            <a:spLocks noGrp="1"/>
          </p:cNvSpPr>
          <p:nvPr>
            <p:ph idx="1"/>
          </p:nvPr>
        </p:nvSpPr>
        <p:spPr/>
        <p:txBody>
          <a:bodyPr/>
          <a:lstStyle/>
          <a:p>
            <a:r>
              <a:rPr lang="zh-CN" altLang="en-US" dirty="0"/>
              <a:t>一个好的表示学习策略必须具备一定的深度</a:t>
            </a:r>
            <a:endParaRPr lang="en-US" altLang="zh-CN" dirty="0"/>
          </a:p>
          <a:p>
            <a:pPr lvl="1"/>
            <a:r>
              <a:rPr lang="zh-CN" altLang="en-US" dirty="0"/>
              <a:t>特征重用</a:t>
            </a:r>
            <a:endParaRPr lang="en-US" altLang="zh-CN" dirty="0"/>
          </a:p>
          <a:p>
            <a:pPr lvl="2"/>
            <a:r>
              <a:rPr lang="zh-CN" altLang="en-US" dirty="0"/>
              <a:t>指数级的表示能力</a:t>
            </a:r>
            <a:endParaRPr lang="en-US" altLang="zh-CN" dirty="0"/>
          </a:p>
          <a:p>
            <a:pPr lvl="1"/>
            <a:r>
              <a:rPr lang="zh-CN" altLang="en-US" dirty="0"/>
              <a:t>抽象表示与不变性</a:t>
            </a:r>
            <a:endParaRPr lang="en-US" altLang="zh-CN" dirty="0"/>
          </a:p>
          <a:p>
            <a:pPr lvl="2"/>
            <a:r>
              <a:rPr lang="zh-CN" altLang="en-US" dirty="0"/>
              <a:t>抽象表示需要多步的构造</a:t>
            </a:r>
            <a:endParaRPr lang="en-US" altLang="zh-CN" dirty="0"/>
          </a:p>
          <a:p>
            <a:pPr lvl="2"/>
            <a:endParaRPr lang="zh-CN" altLang="en-US" dirty="0"/>
          </a:p>
        </p:txBody>
      </p:sp>
      <p:sp>
        <p:nvSpPr>
          <p:cNvPr id="4" name="Rectangle 3"/>
          <p:cNvSpPr/>
          <p:nvPr/>
        </p:nvSpPr>
        <p:spPr>
          <a:xfrm>
            <a:off x="1981200" y="5895350"/>
            <a:ext cx="8686800" cy="523220"/>
          </a:xfrm>
          <a:prstGeom prst="rect">
            <a:avLst/>
          </a:prstGeom>
        </p:spPr>
        <p:txBody>
          <a:bodyPr wrap="square">
            <a:spAutoFit/>
          </a:bodyPr>
          <a:lstStyle/>
          <a:p>
            <a:r>
              <a:rPr lang="zh-CN" altLang="en-US" sz="1400" dirty="0"/>
              <a:t>https://mathteachingstrategies.wordpress.com/2008/11/24/concrete-and-abstract-representations-using-mathematical-tools/</a:t>
            </a:r>
          </a:p>
        </p:txBody>
      </p:sp>
      <p:pic>
        <p:nvPicPr>
          <p:cNvPr id="6" name="Picture 2" descr="CRA Problem Example "/>
          <p:cNvPicPr>
            <a:picLocks noChangeAspect="1" noChangeArrowheads="1"/>
          </p:cNvPicPr>
          <p:nvPr/>
        </p:nvPicPr>
        <p:blipFill>
          <a:blip r:embed="rId3"/>
          <a:srcRect/>
          <a:stretch>
            <a:fillRect/>
          </a:stretch>
        </p:blipFill>
        <p:spPr bwMode="auto">
          <a:xfrm>
            <a:off x="3457956" y="3741314"/>
            <a:ext cx="5918699" cy="207783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深度学习（</a:t>
            </a:r>
            <a:r>
              <a:rPr lang="en-US" altLang="zh-CN"/>
              <a:t>Deep Learning</a:t>
            </a:r>
            <a:r>
              <a:rPr lang="zh-CN" altLang="en-US"/>
              <a:t>）</a:t>
            </a:r>
          </a:p>
        </p:txBody>
      </p:sp>
      <p:pic>
        <p:nvPicPr>
          <p:cNvPr id="4" name="内容占位符 3"/>
          <p:cNvPicPr>
            <a:picLocks noGrp="1" noChangeAspect="1"/>
          </p:cNvPicPr>
          <p:nvPr>
            <p:ph idx="1"/>
            <p:custDataLst>
              <p:tags r:id="rId1"/>
            </p:custDataLst>
          </p:nvPr>
        </p:nvPicPr>
        <p:blipFill>
          <a:blip r:embed="rId5"/>
          <a:stretch>
            <a:fillRect/>
          </a:stretch>
        </p:blipFill>
        <p:spPr>
          <a:xfrm>
            <a:off x="3200400" y="3657600"/>
            <a:ext cx="6741160" cy="1082675"/>
          </a:xfrm>
          <a:prstGeom prst="rect">
            <a:avLst/>
          </a:prstGeom>
        </p:spPr>
      </p:pic>
      <p:sp>
        <p:nvSpPr>
          <p:cNvPr id="7" name="Content Placeholder 2"/>
          <p:cNvSpPr>
            <a:spLocks noGrp="1"/>
          </p:cNvSpPr>
          <p:nvPr>
            <p:custDataLst>
              <p:tags r:id="rId2"/>
            </p:custDataLst>
          </p:nvPr>
        </p:nvSpPr>
        <p:spPr>
          <a:xfrm>
            <a:off x="609600" y="990600"/>
            <a:ext cx="10972800" cy="5410200"/>
          </a:xfrm>
          <a:prstGeom prst="rect">
            <a:avLst/>
          </a:prstGeom>
          <a:noFill/>
          <a:ln>
            <a:noFill/>
          </a:ln>
        </p:spPr>
        <p:txBody>
          <a:bodyPr vert="horz" wrap="square" lIns="91440" tIns="45720" rIns="91440" bIns="45720" numCol="1" anchor="t" anchorCtr="0" compatLnSpc="1"/>
          <a:lstStyle>
            <a:lvl1pPr marL="153670" indent="-153670" algn="l" rtl="0" eaLnBrk="1" fontAlgn="base" hangingPunct="1">
              <a:spcBef>
                <a:spcPts val="340"/>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90204" pitchFamily="34" charset="0"/>
              </a:defRPr>
            </a:lvl1pPr>
            <a:lvl2pPr marL="307975" indent="-153670" algn="l" rtl="0" eaLnBrk="1" fontAlgn="base" hangingPunct="1">
              <a:spcBef>
                <a:spcPts val="280"/>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280" indent="-128905" algn="l" rtl="0" eaLnBrk="1" fontAlgn="base" hangingPunct="1">
              <a:spcBef>
                <a:spcPts val="280"/>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220" indent="-128905"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905" algn="l" rtl="0" eaLnBrk="1" fontAlgn="base" hangingPunct="1">
              <a:spcBef>
                <a:spcPts val="170"/>
              </a:spcBef>
              <a:spcAft>
                <a:spcPct val="0"/>
              </a:spcAft>
              <a:buClr>
                <a:schemeClr val="accent2"/>
              </a:buClr>
              <a:buSzPct val="70000"/>
              <a:buFont typeface="Wingdings" panose="05000000000000000000" pitchFamily="2" charset="2"/>
              <a:buChar char=""/>
              <a:defRPr sz="1350" kern="1200" baseline="0">
                <a:solidFill>
                  <a:schemeClr val="tx1"/>
                </a:solidFill>
                <a:latin typeface="+mn-lt"/>
                <a:ea typeface="+mn-ea"/>
                <a:cs typeface="+mn-cs"/>
              </a:defRPr>
            </a:lvl5pPr>
            <a:lvl6pPr marL="925830" indent="-102870" algn="l" rtl="0" eaLnBrk="1" latinLnBrk="0" hangingPunct="1">
              <a:spcBef>
                <a:spcPts val="170"/>
              </a:spcBef>
              <a:buClr>
                <a:srgbClr val="9FB8CD">
                  <a:shade val="75000"/>
                </a:srgbClr>
              </a:buClr>
              <a:buSzPct val="75000"/>
              <a:buFont typeface="Wingdings 3" panose="05040102010807070707"/>
              <a:buChar char=""/>
              <a:defRPr kumimoji="0" lang="en-US" sz="900" kern="1200" smtClean="0">
                <a:solidFill>
                  <a:schemeClr val="tx1"/>
                </a:solidFill>
                <a:latin typeface="+mn-lt"/>
                <a:ea typeface="+mn-ea"/>
                <a:cs typeface="+mn-cs"/>
              </a:defRPr>
            </a:lvl6pPr>
            <a:lvl7pPr marL="1028700" indent="-102870" algn="l" rtl="0" eaLnBrk="1" latinLnBrk="0" hangingPunct="1">
              <a:spcBef>
                <a:spcPts val="170"/>
              </a:spcBef>
              <a:buClr>
                <a:srgbClr val="727CA3">
                  <a:shade val="75000"/>
                </a:srgbClr>
              </a:buClr>
              <a:buSzPct val="75000"/>
              <a:buFont typeface="Wingdings 3" panose="05040102010807070707"/>
              <a:buChar char=""/>
              <a:defRPr kumimoji="0" lang="en-US" sz="790" kern="1200" smtClean="0">
                <a:solidFill>
                  <a:schemeClr val="tx1"/>
                </a:solidFill>
                <a:latin typeface="+mn-lt"/>
                <a:ea typeface="+mn-ea"/>
                <a:cs typeface="+mn-cs"/>
              </a:defRPr>
            </a:lvl7pPr>
            <a:lvl8pPr marL="1131570" indent="-102870" algn="l" rtl="0" eaLnBrk="1" latinLnBrk="0" hangingPunct="1">
              <a:spcBef>
                <a:spcPts val="170"/>
              </a:spcBef>
              <a:buClr>
                <a:prstClr val="white">
                  <a:shade val="50000"/>
                </a:prstClr>
              </a:buClr>
              <a:buSzPct val="75000"/>
              <a:buFont typeface="Wingdings 3" panose="05040102010807070707"/>
              <a:buChar char=""/>
              <a:defRPr kumimoji="0" lang="en-US" sz="790" kern="1200" smtClean="0">
                <a:solidFill>
                  <a:schemeClr val="tx1"/>
                </a:solidFill>
                <a:latin typeface="+mn-lt"/>
                <a:ea typeface="+mn-ea"/>
                <a:cs typeface="+mn-cs"/>
              </a:defRPr>
            </a:lvl8pPr>
            <a:lvl9pPr marL="1234440" indent="-102870" algn="l" rtl="0" eaLnBrk="1" latinLnBrk="0" hangingPunct="1">
              <a:spcBef>
                <a:spcPts val="170"/>
              </a:spcBef>
              <a:buClr>
                <a:srgbClr val="9FB8CD"/>
              </a:buClr>
              <a:buSzPct val="75000"/>
              <a:buFont typeface="Wingdings 3" panose="05040102010807070707"/>
              <a:buChar char=""/>
              <a:defRPr kumimoji="0" lang="en-US" sz="675" kern="1200" smtClean="0">
                <a:solidFill>
                  <a:schemeClr val="tx1"/>
                </a:solidFill>
                <a:latin typeface="+mn-lt"/>
                <a:ea typeface="+mn-ea"/>
                <a:cs typeface="+mn-cs"/>
              </a:defRPr>
            </a:lvl9pPr>
          </a:lstStyle>
          <a:p>
            <a:r>
              <a:rPr lang="zh-CN" altLang="en-US" dirty="0"/>
              <a:t>深度学习</a:t>
            </a:r>
            <a:r>
              <a:rPr dirty="0"/>
              <a:t>=</a:t>
            </a:r>
            <a:r>
              <a:rPr lang="zh-CN" altLang="en-US" dirty="0"/>
              <a:t>表示学习</a:t>
            </a:r>
            <a:r>
              <a:rPr dirty="0"/>
              <a:t>+</a:t>
            </a:r>
            <a:r>
              <a:rPr lang="zh-CN" altLang="en-US" dirty="0"/>
              <a:t>决策（预测）学习</a:t>
            </a:r>
            <a:r>
              <a:rPr dirty="0"/>
              <a:t>/</a:t>
            </a:r>
            <a:r>
              <a:rPr lang="zh-CN" altLang="en-US" dirty="0"/>
              <a:t>浅层学习</a:t>
            </a:r>
            <a:endParaRPr lang="en-US" altLang="zh-CN" dirty="0"/>
          </a:p>
          <a:p>
            <a:pPr marL="333375" lvl="2" indent="0">
              <a:buNone/>
            </a:pPr>
            <a:endParaRPr lang="zh-CN" altLang="en-US" dirty="0"/>
          </a:p>
        </p:txBody>
      </p:sp>
      <p:sp>
        <p:nvSpPr>
          <p:cNvPr id="8" name="文本框 7"/>
          <p:cNvSpPr txBox="1"/>
          <p:nvPr/>
        </p:nvSpPr>
        <p:spPr>
          <a:xfrm>
            <a:off x="4804410" y="5311140"/>
            <a:ext cx="4034790" cy="368300"/>
          </a:xfrm>
          <a:prstGeom prst="rect">
            <a:avLst/>
          </a:prstGeom>
          <a:noFill/>
        </p:spPr>
        <p:txBody>
          <a:bodyPr wrap="square" rtlCol="0">
            <a:spAutoFit/>
          </a:bodyPr>
          <a:lstStyle/>
          <a:p>
            <a:r>
              <a:rPr lang="zh-CN" altLang="en-US"/>
              <a:t>贡献度分配的问题</a:t>
            </a:r>
            <a:r>
              <a:rPr lang="en-US" altLang="zh-CN"/>
              <a:t> --&gt; NN</a:t>
            </a: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a:t>深度学习</a:t>
            </a:r>
          </a:p>
        </p:txBody>
      </p:sp>
      <p:pic>
        <p:nvPicPr>
          <p:cNvPr id="6" name="Content Placeholder 3"/>
          <p:cNvPicPr>
            <a:picLocks noChangeAspect="1"/>
          </p:cNvPicPr>
          <p:nvPr/>
        </p:nvPicPr>
        <p:blipFill>
          <a:blip r:embed="rId3"/>
          <a:stretch>
            <a:fillRect/>
          </a:stretch>
        </p:blipFill>
        <p:spPr bwMode="auto">
          <a:xfrm>
            <a:off x="1752600" y="1676400"/>
            <a:ext cx="8229600" cy="394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深度学习的数学描述</a:t>
            </a:r>
            <a:endParaRPr lang="en-US" altLang="zh-CN" dirty="0"/>
          </a:p>
        </p:txBody>
      </p:sp>
      <p:graphicFrame>
        <p:nvGraphicFramePr>
          <p:cNvPr id="11" name="图示 10"/>
          <p:cNvGraphicFramePr/>
          <p:nvPr>
            <p:extLst>
              <p:ext uri="{D42A27DB-BD31-4B8C-83A1-F6EECF244321}">
                <p14:modId xmlns:p14="http://schemas.microsoft.com/office/powerpoint/2010/main" val="3780838853"/>
              </p:ext>
            </p:extLst>
          </p:nvPr>
        </p:nvGraphicFramePr>
        <p:xfrm>
          <a:off x="3613214" y="2135354"/>
          <a:ext cx="4114800" cy="25059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文本框 11"/>
          <p:cNvSpPr txBox="1"/>
          <p:nvPr/>
        </p:nvSpPr>
        <p:spPr>
          <a:xfrm>
            <a:off x="7988428" y="2057400"/>
            <a:ext cx="1107996" cy="369332"/>
          </a:xfrm>
          <a:prstGeom prst="rect">
            <a:avLst/>
          </a:prstGeom>
          <a:noFill/>
        </p:spPr>
        <p:txBody>
          <a:bodyPr wrap="none" rtlCol="0">
            <a:spAutoFit/>
          </a:bodyPr>
          <a:lstStyle/>
          <a:p>
            <a:r>
              <a:rPr lang="zh-CN" altLang="en-US" dirty="0"/>
              <a:t>浅层学习</a:t>
            </a:r>
          </a:p>
        </p:txBody>
      </p:sp>
      <p:sp>
        <p:nvSpPr>
          <p:cNvPr id="13" name="文本框 12"/>
          <p:cNvSpPr txBox="1"/>
          <p:nvPr/>
        </p:nvSpPr>
        <p:spPr>
          <a:xfrm>
            <a:off x="8131116" y="4271974"/>
            <a:ext cx="1107996" cy="369332"/>
          </a:xfrm>
          <a:prstGeom prst="rect">
            <a:avLst/>
          </a:prstGeom>
          <a:noFill/>
        </p:spPr>
        <p:txBody>
          <a:bodyPr wrap="none" rtlCol="0">
            <a:spAutoFit/>
          </a:bodyPr>
          <a:lstStyle/>
          <a:p>
            <a:r>
              <a:rPr lang="zh-CN" altLang="en-US" dirty="0"/>
              <a:t>深度学习</a:t>
            </a:r>
          </a:p>
        </p:txBody>
      </p:sp>
      <mc:AlternateContent xmlns:mc="http://schemas.openxmlformats.org/markup-compatibility/2006" xmlns:a14="http://schemas.microsoft.com/office/drawing/2010/main">
        <mc:Choice Requires="a14">
          <p:sp>
            <p:nvSpPr>
              <p:cNvPr id="14" name="矩形 13"/>
              <p:cNvSpPr/>
              <p:nvPr/>
            </p:nvSpPr>
            <p:spPr>
              <a:xfrm>
                <a:off x="2209800" y="5633660"/>
                <a:ext cx="8382000" cy="404983"/>
              </a:xfrm>
              <a:prstGeom prst="rect">
                <a:avLst/>
              </a:prstGeom>
            </p:spPr>
            <p:txBody>
              <a:bodyPr wrap="square">
                <a:spAutoFit/>
              </a:bodyPr>
              <a:lstStyle/>
              <a:p>
                <a:pPr lvl="0"/>
                <a:r>
                  <a:rPr lang="zh-CN" altLang="en-US" dirty="0">
                    <a:solidFill>
                      <a:schemeClr val="tx1"/>
                    </a:solidFill>
                    <a:latin typeface="Cambria Math" panose="02040503050406030204" pitchFamily="18" charset="0"/>
                  </a:rPr>
                  <a:t>当</a:t>
                </a:r>
                <a14:m>
                  <m:oMath xmlns:m="http://schemas.openxmlformats.org/officeDocument/2006/math">
                    <m:r>
                      <a:rPr lang="pt-BR" altLang="zh-CN">
                        <a:solidFill>
                          <a:schemeClr val="tx1"/>
                        </a:solidFill>
                        <a:latin typeface="Cambria Math" panose="02040503050406030204" pitchFamily="18" charset="0"/>
                        <a:ea typeface="Cambria Math" panose="02040503050406030204" pitchFamily="18" charset="0"/>
                      </a:rPr>
                      <m:t>𝑓</m:t>
                    </m:r>
                    <m:r>
                      <m:rPr>
                        <m:sty m:val="p"/>
                      </m:rPr>
                      <a:rPr lang="en-US" altLang="zh-CN" i="1" baseline="30000">
                        <a:solidFill>
                          <a:schemeClr val="tx1"/>
                        </a:solidFill>
                        <a:latin typeface="Cambria Math" panose="02040503050406030204" pitchFamily="18" charset="0"/>
                        <a:ea typeface="Cambria Math" panose="02040503050406030204" pitchFamily="18" charset="0"/>
                      </a:rPr>
                      <m:t>l</m:t>
                    </m:r>
                    <m:d>
                      <m:dPr>
                        <m:ctrlPr>
                          <a:rPr lang="pt-BR" altLang="zh-CN" i="1">
                            <a:solidFill>
                              <a:schemeClr val="tx1"/>
                            </a:solidFill>
                            <a:latin typeface="Cambria Math" panose="02040503050406030204" pitchFamily="18" charset="0"/>
                            <a:ea typeface="Cambria Math" panose="02040503050406030204" pitchFamily="18" charset="0"/>
                          </a:rPr>
                        </m:ctrlPr>
                      </m:dPr>
                      <m:e>
                        <m:r>
                          <a:rPr lang="pt-BR" altLang="zh-CN">
                            <a:solidFill>
                              <a:schemeClr val="tx1"/>
                            </a:solidFill>
                            <a:latin typeface="Cambria Math" panose="02040503050406030204" pitchFamily="18" charset="0"/>
                            <a:ea typeface="Cambria Math" panose="02040503050406030204" pitchFamily="18" charset="0"/>
                          </a:rPr>
                          <m:t>𝑥</m:t>
                        </m:r>
                      </m:e>
                    </m:d>
                  </m:oMath>
                </a14:m>
                <a:r>
                  <a:rPr lang="zh-CN" altLang="en-US" dirty="0">
                    <a:latin typeface="Cambria Math" panose="02040503050406030204" pitchFamily="18" charset="0"/>
                  </a:rPr>
                  <a:t>连续时，  比如</a:t>
                </a:r>
                <a14:m>
                  <m:oMath xmlns:m="http://schemas.openxmlformats.org/officeDocument/2006/math">
                    <m:r>
                      <a:rPr lang="pt-BR" altLang="zh-CN">
                        <a:solidFill>
                          <a:schemeClr val="tx1"/>
                        </a:solidFill>
                        <a:latin typeface="Cambria Math" panose="02040503050406030204" pitchFamily="18" charset="0"/>
                        <a:ea typeface="Cambria Math" panose="02040503050406030204" pitchFamily="18" charset="0"/>
                      </a:rPr>
                      <m:t>𝑓</m:t>
                    </m:r>
                    <m:r>
                      <m:rPr>
                        <m:sty m:val="p"/>
                      </m:rPr>
                      <a:rPr lang="en-US" altLang="zh-CN" i="1" baseline="30000">
                        <a:solidFill>
                          <a:schemeClr val="tx1"/>
                        </a:solidFill>
                        <a:latin typeface="Cambria Math" panose="02040503050406030204" pitchFamily="18" charset="0"/>
                        <a:ea typeface="Cambria Math" panose="02040503050406030204" pitchFamily="18" charset="0"/>
                      </a:rPr>
                      <m:t>l</m:t>
                    </m:r>
                    <m:d>
                      <m:dPr>
                        <m:ctrlPr>
                          <a:rPr lang="pt-BR" altLang="zh-CN" i="1">
                            <a:solidFill>
                              <a:schemeClr val="tx1"/>
                            </a:solidFill>
                            <a:latin typeface="Cambria Math" panose="02040503050406030204" pitchFamily="18" charset="0"/>
                            <a:ea typeface="Cambria Math" panose="02040503050406030204" pitchFamily="18" charset="0"/>
                          </a:rPr>
                        </m:ctrlPr>
                      </m:dPr>
                      <m:e>
                        <m:r>
                          <a:rPr lang="pt-BR" altLang="zh-CN">
                            <a:solidFill>
                              <a:schemeClr val="tx1"/>
                            </a:solidFill>
                            <a:latin typeface="Cambria Math" panose="02040503050406030204" pitchFamily="18" charset="0"/>
                            <a:ea typeface="Cambria Math" panose="02040503050406030204" pitchFamily="18" charset="0"/>
                          </a:rPr>
                          <m:t>𝑥</m:t>
                        </m:r>
                      </m:e>
                    </m:d>
                    <m:r>
                      <a:rPr lang="en-US" altLang="zh-CN" i="1">
                        <a:solidFill>
                          <a:schemeClr val="tx1"/>
                        </a:solidFill>
                        <a:latin typeface="Cambria Math" panose="02040503050406030204" pitchFamily="18" charset="0"/>
                        <a:ea typeface="Cambria Math" panose="02040503050406030204" pitchFamily="18" charset="0"/>
                      </a:rPr>
                      <m:t>=</m:t>
                    </m:r>
                    <m:r>
                      <a:rPr lang="zh-CN" altLang="en-US" i="1">
                        <a:solidFill>
                          <a:schemeClr val="tx1"/>
                        </a:solidFill>
                        <a:latin typeface="Cambria Math" panose="02040503050406030204" pitchFamily="18" charset="0"/>
                      </a:rPr>
                      <m:t>𝜎</m:t>
                    </m:r>
                    <m:d>
                      <m:dPr>
                        <m:ctrlPr>
                          <a:rPr lang="en-US" altLang="zh-CN" i="1">
                            <a:solidFill>
                              <a:schemeClr val="tx1"/>
                            </a:solidFill>
                            <a:latin typeface="Cambria Math" panose="02040503050406030204" pitchFamily="18" charset="0"/>
                            <a:ea typeface="Cambria Math" panose="02040503050406030204" pitchFamily="18" charset="0"/>
                          </a:rPr>
                        </m:ctrlPr>
                      </m:dPr>
                      <m:e>
                        <m:r>
                          <a:rPr lang="en-US" altLang="zh-CN" i="1">
                            <a:solidFill>
                              <a:schemeClr val="tx1"/>
                            </a:solidFill>
                            <a:latin typeface="Cambria Math" panose="02040503050406030204" pitchFamily="18" charset="0"/>
                            <a:ea typeface="Cambria Math" panose="02040503050406030204" pitchFamily="18" charset="0"/>
                          </a:rPr>
                          <m:t>𝑊</m:t>
                        </m:r>
                        <m:r>
                          <m:rPr>
                            <m:sty m:val="p"/>
                          </m:rPr>
                          <a:rPr lang="en-US" altLang="zh-CN" i="1" baseline="30000">
                            <a:solidFill>
                              <a:schemeClr val="tx1"/>
                            </a:solidFill>
                            <a:latin typeface="Cambria Math" panose="02040503050406030204" pitchFamily="18" charset="0"/>
                            <a:ea typeface="Cambria Math" panose="02040503050406030204" pitchFamily="18" charset="0"/>
                          </a:rPr>
                          <m:t>l</m:t>
                        </m:r>
                        <m:r>
                          <a:rPr lang="pt-BR" altLang="zh-CN">
                            <a:solidFill>
                              <a:schemeClr val="tx1"/>
                            </a:solidFill>
                            <a:latin typeface="Cambria Math" panose="02040503050406030204" pitchFamily="18" charset="0"/>
                            <a:ea typeface="Cambria Math" panose="02040503050406030204" pitchFamily="18" charset="0"/>
                          </a:rPr>
                          <m:t>𝑓</m:t>
                        </m:r>
                        <m:r>
                          <m:rPr>
                            <m:sty m:val="p"/>
                          </m:rPr>
                          <a:rPr lang="en-US" altLang="zh-CN" i="1" baseline="30000">
                            <a:solidFill>
                              <a:schemeClr val="tx1"/>
                            </a:solidFill>
                            <a:latin typeface="Cambria Math" panose="02040503050406030204" pitchFamily="18" charset="0"/>
                            <a:ea typeface="Cambria Math" panose="02040503050406030204" pitchFamily="18" charset="0"/>
                          </a:rPr>
                          <m:t>l</m:t>
                        </m:r>
                        <m:r>
                          <a:rPr lang="en-US" altLang="zh-CN" i="1" baseline="30000">
                            <a:solidFill>
                              <a:schemeClr val="tx1"/>
                            </a:solidFill>
                            <a:latin typeface="Cambria Math" panose="02040503050406030204" pitchFamily="18" charset="0"/>
                            <a:ea typeface="Cambria Math" panose="02040503050406030204" pitchFamily="18" charset="0"/>
                          </a:rPr>
                          <m:t>−1</m:t>
                        </m:r>
                        <m:d>
                          <m:dPr>
                            <m:ctrlPr>
                              <a:rPr lang="pt-BR" altLang="zh-CN" i="1">
                                <a:solidFill>
                                  <a:schemeClr val="tx1"/>
                                </a:solidFill>
                                <a:latin typeface="Cambria Math" panose="02040503050406030204" pitchFamily="18" charset="0"/>
                                <a:ea typeface="Cambria Math" panose="02040503050406030204" pitchFamily="18" charset="0"/>
                              </a:rPr>
                            </m:ctrlPr>
                          </m:dPr>
                          <m:e>
                            <m:r>
                              <a:rPr lang="en-US" altLang="zh-CN" b="0" i="1" smtClean="0">
                                <a:solidFill>
                                  <a:schemeClr val="tx1"/>
                                </a:solidFill>
                                <a:latin typeface="Cambria Math" panose="02040503050406030204" pitchFamily="18" charset="0"/>
                                <a:ea typeface="Cambria Math" panose="02040503050406030204" pitchFamily="18" charset="0"/>
                              </a:rPr>
                              <m:t>𝑥</m:t>
                            </m:r>
                          </m:e>
                        </m:d>
                      </m:e>
                    </m:d>
                  </m:oMath>
                </a14:m>
                <a:r>
                  <a:rPr lang="zh-CN" altLang="en-US" dirty="0">
                    <a:solidFill>
                      <a:schemeClr val="tx1"/>
                    </a:solidFill>
                    <a:latin typeface="Cambria Math" panose="02040503050406030204" pitchFamily="18" charset="0"/>
                    <a:ea typeface="Cambria Math" panose="02040503050406030204" pitchFamily="18" charset="0"/>
                  </a:rPr>
                  <a:t>，</a:t>
                </a:r>
                <a:r>
                  <a:rPr lang="zh-CN" altLang="en-US" dirty="0">
                    <a:latin typeface="Cambria Math" panose="02040503050406030204" pitchFamily="18" charset="0"/>
                  </a:rPr>
                  <a:t>这个复合函数称为</a:t>
                </a:r>
                <a:r>
                  <a:rPr lang="zh-CN" altLang="en-US" dirty="0">
                    <a:solidFill>
                      <a:srgbClr val="FF0000"/>
                    </a:solidFill>
                    <a:latin typeface="Cambria Math" panose="02040503050406030204" pitchFamily="18" charset="0"/>
                  </a:rPr>
                  <a:t>神经网络</a:t>
                </a:r>
                <a:r>
                  <a:rPr lang="zh-CN" altLang="en-US" dirty="0">
                    <a:solidFill>
                      <a:schemeClr val="tx1"/>
                    </a:solidFill>
                    <a:latin typeface="Cambria Math" panose="02040503050406030204" pitchFamily="18" charset="0"/>
                  </a:rPr>
                  <a:t>。</a:t>
                </a:r>
                <a:endParaRPr lang="en-US" altLang="zh-CN" dirty="0">
                  <a:solidFill>
                    <a:schemeClr val="tx1"/>
                  </a:solidFill>
                  <a:latin typeface="Cambria Math" panose="02040503050406030204" pitchFamily="18" charset="0"/>
                  <a:ea typeface="Cambria Math" panose="02040503050406030204" pitchFamily="18" charset="0"/>
                </a:endParaRPr>
              </a:p>
            </p:txBody>
          </p:sp>
        </mc:Choice>
        <mc:Fallback xmlns="">
          <p:sp>
            <p:nvSpPr>
              <p:cNvPr id="14" name="矩形 13"/>
              <p:cNvSpPr>
                <a:spLocks noRot="1" noChangeAspect="1" noMove="1" noResize="1" noEditPoints="1" noAdjustHandles="1" noChangeArrowheads="1" noChangeShapeType="1" noTextEdit="1"/>
              </p:cNvSpPr>
              <p:nvPr/>
            </p:nvSpPr>
            <p:spPr>
              <a:xfrm>
                <a:off x="2209800" y="5633660"/>
                <a:ext cx="8382000" cy="404983"/>
              </a:xfrm>
              <a:prstGeom prst="rect">
                <a:avLst/>
              </a:prstGeom>
              <a:blipFill rotWithShape="1">
                <a:blip r:embed="rId9"/>
                <a:stretch>
                  <a:fillRect t="-142" b="1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3962400" y="5105400"/>
                <a:ext cx="3675814" cy="369332"/>
              </a:xfrm>
              <a:prstGeom prst="rect">
                <a:avLst/>
              </a:prstGeom>
            </p:spPr>
            <p:txBody>
              <a:bodyPr wrap="none">
                <a:spAutoFit/>
              </a:bodyPr>
              <a:lstStyle/>
              <a:p>
                <a:pPr lvl="0"/>
                <a14:m>
                  <m:oMath xmlns:m="http://schemas.openxmlformats.org/officeDocument/2006/math">
                    <m:r>
                      <a:rPr lang="pt-BR" altLang="zh-CN" smtClean="0">
                        <a:solidFill>
                          <a:schemeClr val="tx1"/>
                        </a:solidFill>
                        <a:latin typeface="Cambria Math" panose="02040503050406030204" pitchFamily="18" charset="0"/>
                        <a:ea typeface="Cambria Math" panose="02040503050406030204" pitchFamily="18" charset="0"/>
                      </a:rPr>
                      <m:t>𝑓</m:t>
                    </m:r>
                    <m:r>
                      <m:rPr>
                        <m:sty m:val="p"/>
                      </m:rPr>
                      <a:rPr lang="en-US" altLang="zh-CN" i="1" baseline="30000">
                        <a:solidFill>
                          <a:schemeClr val="tx1"/>
                        </a:solidFill>
                        <a:latin typeface="Cambria Math" panose="02040503050406030204" pitchFamily="18" charset="0"/>
                        <a:ea typeface="Cambria Math" panose="02040503050406030204" pitchFamily="18" charset="0"/>
                      </a:rPr>
                      <m:t>l</m:t>
                    </m:r>
                    <m:d>
                      <m:dPr>
                        <m:ctrlPr>
                          <a:rPr lang="pt-BR" altLang="zh-CN" i="1">
                            <a:solidFill>
                              <a:schemeClr val="tx1"/>
                            </a:solidFill>
                            <a:latin typeface="Cambria Math" panose="02040503050406030204" pitchFamily="18" charset="0"/>
                            <a:ea typeface="Cambria Math" panose="02040503050406030204" pitchFamily="18" charset="0"/>
                          </a:rPr>
                        </m:ctrlPr>
                      </m:dPr>
                      <m:e>
                        <m:r>
                          <a:rPr lang="pt-BR" altLang="zh-CN">
                            <a:solidFill>
                              <a:schemeClr val="tx1"/>
                            </a:solidFill>
                            <a:latin typeface="Cambria Math" panose="02040503050406030204" pitchFamily="18" charset="0"/>
                            <a:ea typeface="Cambria Math" panose="02040503050406030204" pitchFamily="18" charset="0"/>
                          </a:rPr>
                          <m:t>𝑥</m:t>
                        </m:r>
                      </m:e>
                    </m:d>
                    <m:r>
                      <a:rPr lang="zh-CN" altLang="en-US" i="1">
                        <a:solidFill>
                          <a:schemeClr val="tx1"/>
                        </a:solidFill>
                        <a:latin typeface="Cambria Math" panose="02040503050406030204" pitchFamily="18" charset="0"/>
                        <a:ea typeface="Cambria Math" panose="02040503050406030204" pitchFamily="18" charset="0"/>
                      </a:rPr>
                      <m:t>为</m:t>
                    </m:r>
                  </m:oMath>
                </a14:m>
                <a:r>
                  <a:rPr lang="zh-CN" altLang="en-US" dirty="0">
                    <a:solidFill>
                      <a:schemeClr val="tx1"/>
                    </a:solidFill>
                    <a:latin typeface="Cambria Math" panose="02040503050406030204" pitchFamily="18" charset="0"/>
                  </a:rPr>
                  <a:t>非线性函数，不一定连续。</a:t>
                </a:r>
                <a:endParaRPr lang="en-US" altLang="zh-CN" dirty="0">
                  <a:solidFill>
                    <a:schemeClr val="tx1"/>
                  </a:solidFill>
                  <a:latin typeface="Cambria Math" panose="02040503050406030204" pitchFamily="18" charset="0"/>
                </a:endParaRPr>
              </a:p>
            </p:txBody>
          </p:sp>
        </mc:Choice>
        <mc:Fallback xmlns="">
          <p:sp>
            <p:nvSpPr>
              <p:cNvPr id="4" name="矩形 3"/>
              <p:cNvSpPr>
                <a:spLocks noRot="1" noChangeAspect="1" noMove="1" noResize="1" noEditPoints="1" noAdjustHandles="1" noChangeArrowheads="1" noChangeShapeType="1" noTextEdit="1"/>
              </p:cNvSpPr>
              <p:nvPr/>
            </p:nvSpPr>
            <p:spPr>
              <a:xfrm>
                <a:off x="3962400" y="5105400"/>
                <a:ext cx="3675814" cy="369332"/>
              </a:xfrm>
              <a:prstGeom prst="rect">
                <a:avLst/>
              </a:prstGeom>
              <a:blipFill rotWithShape="1">
                <a:blip r:embed="rId10"/>
                <a:stretch>
                  <a:fillRect r="12" b="107"/>
                </a:stretch>
              </a:blipFill>
            </p:spPr>
            <p:txBody>
              <a:bodyPr/>
              <a:lstStyle/>
              <a:p>
                <a:r>
                  <a:rPr lang="zh-CN" altLang="en-US">
                    <a:noFill/>
                  </a:rPr>
                  <a:t> </a:t>
                </a:r>
              </a:p>
            </p:txBody>
          </p:sp>
        </mc:Fallback>
      </mc:AlternateContent>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graphicEl>
                                              <a:dgm id="{FCD6CC03-B4F7-430C-98D0-115893192BDE}"/>
                                            </p:graphicEl>
                                          </p:spTgt>
                                        </p:tgtEl>
                                        <p:attrNameLst>
                                          <p:attrName>style.visibility</p:attrName>
                                        </p:attrNameLst>
                                      </p:cBhvr>
                                      <p:to>
                                        <p:strVal val="visible"/>
                                      </p:to>
                                    </p:set>
                                    <p:animEffect transition="in" filter="fade">
                                      <p:cBhvr>
                                        <p:cTn id="7" dur="500"/>
                                        <p:tgtEl>
                                          <p:spTgt spid="11">
                                            <p:graphicEl>
                                              <a:dgm id="{FCD6CC03-B4F7-430C-98D0-115893192BDE}"/>
                                            </p:graphic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graphicEl>
                                              <a:dgm id="{4EF64793-5BF1-44BB-A21B-0135AFBD46AF}"/>
                                            </p:graphicEl>
                                          </p:spTgt>
                                        </p:tgtEl>
                                        <p:attrNameLst>
                                          <p:attrName>style.visibility</p:attrName>
                                        </p:attrNameLst>
                                      </p:cBhvr>
                                      <p:to>
                                        <p:strVal val="visible"/>
                                      </p:to>
                                    </p:set>
                                    <p:animEffect transition="in" filter="fade">
                                      <p:cBhvr>
                                        <p:cTn id="15" dur="500"/>
                                        <p:tgtEl>
                                          <p:spTgt spid="11">
                                            <p:graphicEl>
                                              <a:dgm id="{4EF64793-5BF1-44BB-A21B-0135AFBD46AF}"/>
                                            </p:graphic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graphicEl>
                                              <a:dgm id="{9FCB7101-7B41-4F46-B29A-8B98CB20ACF4}"/>
                                            </p:graphicEl>
                                          </p:spTgt>
                                        </p:tgtEl>
                                        <p:attrNameLst>
                                          <p:attrName>style.visibility</p:attrName>
                                        </p:attrNameLst>
                                      </p:cBhvr>
                                      <p:to>
                                        <p:strVal val="visible"/>
                                      </p:to>
                                    </p:set>
                                    <p:animEffect transition="in" filter="fade">
                                      <p:cBhvr>
                                        <p:cTn id="18" dur="500"/>
                                        <p:tgtEl>
                                          <p:spTgt spid="11">
                                            <p:graphicEl>
                                              <a:dgm id="{9FCB7101-7B41-4F46-B29A-8B98CB20ACF4}"/>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graphicEl>
                                              <a:dgm id="{0E188FDA-3031-47C5-A37C-074F9C682AE9}"/>
                                            </p:graphicEl>
                                          </p:spTgt>
                                        </p:tgtEl>
                                        <p:attrNameLst>
                                          <p:attrName>style.visibility</p:attrName>
                                        </p:attrNameLst>
                                      </p:cBhvr>
                                      <p:to>
                                        <p:strVal val="visible"/>
                                      </p:to>
                                    </p:set>
                                    <p:animEffect transition="in" filter="fade">
                                      <p:cBhvr>
                                        <p:cTn id="23" dur="500"/>
                                        <p:tgtEl>
                                          <p:spTgt spid="11">
                                            <p:graphicEl>
                                              <a:dgm id="{0E188FDA-3031-47C5-A37C-074F9C682AE9}"/>
                                            </p:graphic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graphicEl>
                                              <a:dgm id="{18185A6C-2422-400B-9E45-ECC7B0CECAC8}"/>
                                            </p:graphicEl>
                                          </p:spTgt>
                                        </p:tgtEl>
                                        <p:attrNameLst>
                                          <p:attrName>style.visibility</p:attrName>
                                        </p:attrNameLst>
                                      </p:cBhvr>
                                      <p:to>
                                        <p:strVal val="visible"/>
                                      </p:to>
                                    </p:set>
                                    <p:animEffect transition="in" filter="fade">
                                      <p:cBhvr>
                                        <p:cTn id="26" dur="500"/>
                                        <p:tgtEl>
                                          <p:spTgt spid="11">
                                            <p:graphicEl>
                                              <a:dgm id="{18185A6C-2422-400B-9E45-ECC7B0CECAC8}"/>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graphicEl>
                                              <a:dgm id="{CF55BC5C-1C33-4983-911D-EF7A771C9BEC}"/>
                                            </p:graphicEl>
                                          </p:spTgt>
                                        </p:tgtEl>
                                        <p:attrNameLst>
                                          <p:attrName>style.visibility</p:attrName>
                                        </p:attrNameLst>
                                      </p:cBhvr>
                                      <p:to>
                                        <p:strVal val="visible"/>
                                      </p:to>
                                    </p:set>
                                    <p:animEffect transition="in" filter="fade">
                                      <p:cBhvr>
                                        <p:cTn id="31" dur="500"/>
                                        <p:tgtEl>
                                          <p:spTgt spid="11">
                                            <p:graphicEl>
                                              <a:dgm id="{CF55BC5C-1C33-4983-911D-EF7A771C9BEC}"/>
                                            </p:graphic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graphicEl>
                                              <a:dgm id="{1F0BD8E5-EC2F-45C6-88A9-672B0AD75965}"/>
                                            </p:graphicEl>
                                          </p:spTgt>
                                        </p:tgtEl>
                                        <p:attrNameLst>
                                          <p:attrName>style.visibility</p:attrName>
                                        </p:attrNameLst>
                                      </p:cBhvr>
                                      <p:to>
                                        <p:strVal val="visible"/>
                                      </p:to>
                                    </p:set>
                                    <p:animEffect transition="in" filter="fade">
                                      <p:cBhvr>
                                        <p:cTn id="37" dur="500"/>
                                        <p:tgtEl>
                                          <p:spTgt spid="11">
                                            <p:graphicEl>
                                              <a:dgm id="{1F0BD8E5-EC2F-45C6-88A9-672B0AD7596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uiExpand="1">
        <p:bldSub>
          <a:bldDgm bld="one"/>
        </p:bldSub>
      </p:bldGraphic>
      <p:bldP spid="12" grpId="0"/>
      <p:bldP spid="13" grpId="0"/>
      <p:bldP spid="14" grpId="0"/>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1.5 </a:t>
            </a:r>
            <a:r>
              <a:rPr lang="zh-CN" altLang="en-US"/>
              <a:t>神经网络</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3"/>
          <p:cNvPicPr>
            <a:picLocks noChangeAspect="1"/>
          </p:cNvPicPr>
          <p:nvPr/>
        </p:nvPicPr>
        <p:blipFill>
          <a:blip r:embed="rId3"/>
          <a:stretch>
            <a:fillRect/>
          </a:stretch>
        </p:blipFill>
        <p:spPr bwMode="auto">
          <a:xfrm>
            <a:off x="2018414" y="1235407"/>
            <a:ext cx="7661275"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生物神经元</a:t>
            </a:r>
            <a:endParaRPr lang="zh-CN" altLang="en-US" dirty="0"/>
          </a:p>
        </p:txBody>
      </p:sp>
      <p:sp>
        <p:nvSpPr>
          <p:cNvPr id="5" name="矩形 4"/>
          <p:cNvSpPr/>
          <p:nvPr/>
        </p:nvSpPr>
        <p:spPr>
          <a:xfrm>
            <a:off x="6096000" y="4495801"/>
            <a:ext cx="4114800" cy="954107"/>
          </a:xfrm>
          <a:prstGeom prst="rect">
            <a:avLst/>
          </a:prstGeom>
        </p:spPr>
        <p:txBody>
          <a:bodyPr wrap="square">
            <a:spAutoFit/>
          </a:bodyPr>
          <a:lstStyle/>
          <a:p>
            <a:r>
              <a:rPr lang="zh-CN" altLang="en-US" sz="2800" dirty="0">
                <a:solidFill>
                  <a:srgbClr val="FF0000"/>
                </a:solidFill>
              </a:rPr>
              <a:t>单个神经细胞只有两种状态：兴奋和抑制</a:t>
            </a:r>
          </a:p>
        </p:txBody>
      </p:sp>
      <p:sp>
        <p:nvSpPr>
          <p:cNvPr id="8" name="矩形 7"/>
          <p:cNvSpPr/>
          <p:nvPr/>
        </p:nvSpPr>
        <p:spPr>
          <a:xfrm>
            <a:off x="7772400" y="512782"/>
            <a:ext cx="2595582" cy="369332"/>
          </a:xfrm>
          <a:prstGeom prst="rect">
            <a:avLst/>
          </a:prstGeom>
        </p:spPr>
        <p:txBody>
          <a:bodyPr wrap="none">
            <a:spAutoFit/>
          </a:bodyPr>
          <a:lstStyle/>
          <a:p>
            <a:r>
              <a:rPr lang="en-US" altLang="zh-CN" dirty="0">
                <a:hlinkClick r:id="rId4" action="ppaction://hlinkfile"/>
              </a:rPr>
              <a:t>video:</a:t>
            </a:r>
            <a:r>
              <a:rPr lang="zh-CN" altLang="en-US" dirty="0">
                <a:hlinkClick r:id="rId4" action="ppaction://hlinkfile"/>
              </a:rPr>
              <a:t> structure of brain</a:t>
            </a:r>
            <a:endParaRPr lang="zh-CN" altLang="en-US" dirty="0"/>
          </a:p>
        </p:txBody>
      </p:sp>
      <p:sp>
        <p:nvSpPr>
          <p:cNvPr id="3" name="矩形 2"/>
          <p:cNvSpPr/>
          <p:nvPr/>
        </p:nvSpPr>
        <p:spPr>
          <a:xfrm>
            <a:off x="4953000" y="512782"/>
            <a:ext cx="2416046" cy="369332"/>
          </a:xfrm>
          <a:prstGeom prst="rect">
            <a:avLst/>
          </a:prstGeom>
        </p:spPr>
        <p:txBody>
          <a:bodyPr wrap="none">
            <a:spAutoFit/>
          </a:bodyPr>
          <a:lstStyle/>
          <a:p>
            <a:r>
              <a:rPr lang="zh-CN" altLang="en-US" dirty="0"/>
              <a:t>人脑有860亿个神经元</a:t>
            </a:r>
          </a:p>
        </p:txBody>
      </p:sp>
      <p:sp>
        <p:nvSpPr>
          <p:cNvPr id="4" name="文本框 3">
            <a:extLst>
              <a:ext uri="{FF2B5EF4-FFF2-40B4-BE49-F238E27FC236}">
                <a16:creationId xmlns:a16="http://schemas.microsoft.com/office/drawing/2014/main" id="{8D5C06DD-1433-45E3-B804-9F67D398C7AE}"/>
              </a:ext>
            </a:extLst>
          </p:cNvPr>
          <p:cNvSpPr txBox="1"/>
          <p:nvPr/>
        </p:nvSpPr>
        <p:spPr>
          <a:xfrm>
            <a:off x="3048000" y="1208791"/>
            <a:ext cx="1066800" cy="369332"/>
          </a:xfrm>
          <a:prstGeom prst="rect">
            <a:avLst/>
          </a:prstGeom>
          <a:noFill/>
        </p:spPr>
        <p:txBody>
          <a:bodyPr wrap="square" rtlCol="0">
            <a:spAutoFit/>
          </a:bodyPr>
          <a:lstStyle/>
          <a:p>
            <a:r>
              <a:rPr lang="zh-CN" altLang="en-US" dirty="0"/>
              <a:t>神经元</a:t>
            </a:r>
          </a:p>
        </p:txBody>
      </p:sp>
      <p:sp>
        <p:nvSpPr>
          <p:cNvPr id="9" name="文本框 8">
            <a:extLst>
              <a:ext uri="{FF2B5EF4-FFF2-40B4-BE49-F238E27FC236}">
                <a16:creationId xmlns:a16="http://schemas.microsoft.com/office/drawing/2014/main" id="{187AFBF7-E739-40ED-987D-E854F245BE8F}"/>
              </a:ext>
            </a:extLst>
          </p:cNvPr>
          <p:cNvSpPr txBox="1"/>
          <p:nvPr/>
        </p:nvSpPr>
        <p:spPr>
          <a:xfrm>
            <a:off x="3505200" y="5987866"/>
            <a:ext cx="1066800" cy="369332"/>
          </a:xfrm>
          <a:prstGeom prst="rect">
            <a:avLst/>
          </a:prstGeom>
          <a:noFill/>
        </p:spPr>
        <p:txBody>
          <a:bodyPr wrap="square" rtlCol="0">
            <a:spAutoFit/>
          </a:bodyPr>
          <a:lstStyle/>
          <a:p>
            <a:r>
              <a:rPr lang="zh-CN" altLang="en-US" dirty="0"/>
              <a:t>树突</a:t>
            </a:r>
          </a:p>
        </p:txBody>
      </p:sp>
      <p:sp>
        <p:nvSpPr>
          <p:cNvPr id="10" name="文本框 9">
            <a:extLst>
              <a:ext uri="{FF2B5EF4-FFF2-40B4-BE49-F238E27FC236}">
                <a16:creationId xmlns:a16="http://schemas.microsoft.com/office/drawing/2014/main" id="{EA62B6C3-12FC-42B2-9FB9-14D3B8F6008A}"/>
              </a:ext>
            </a:extLst>
          </p:cNvPr>
          <p:cNvSpPr txBox="1"/>
          <p:nvPr/>
        </p:nvSpPr>
        <p:spPr>
          <a:xfrm>
            <a:off x="5627623" y="1828800"/>
            <a:ext cx="1066800" cy="369332"/>
          </a:xfrm>
          <a:prstGeom prst="rect">
            <a:avLst/>
          </a:prstGeom>
          <a:noFill/>
        </p:spPr>
        <p:txBody>
          <a:bodyPr wrap="square" rtlCol="0">
            <a:spAutoFit/>
          </a:bodyPr>
          <a:lstStyle/>
          <a:p>
            <a:r>
              <a:rPr lang="zh-CN" altLang="en-US" dirty="0"/>
              <a:t>轴突</a:t>
            </a:r>
          </a:p>
        </p:txBody>
      </p:sp>
      <p:sp>
        <p:nvSpPr>
          <p:cNvPr id="11" name="文本框 10">
            <a:extLst>
              <a:ext uri="{FF2B5EF4-FFF2-40B4-BE49-F238E27FC236}">
                <a16:creationId xmlns:a16="http://schemas.microsoft.com/office/drawing/2014/main" id="{1B9740AF-C01B-4D23-9C27-7AB16167D5BF}"/>
              </a:ext>
            </a:extLst>
          </p:cNvPr>
          <p:cNvSpPr txBox="1"/>
          <p:nvPr/>
        </p:nvSpPr>
        <p:spPr>
          <a:xfrm>
            <a:off x="8229600" y="1174155"/>
            <a:ext cx="1066800" cy="369332"/>
          </a:xfrm>
          <a:prstGeom prst="rect">
            <a:avLst/>
          </a:prstGeom>
          <a:noFill/>
        </p:spPr>
        <p:txBody>
          <a:bodyPr wrap="square" rtlCol="0">
            <a:spAutoFit/>
          </a:bodyPr>
          <a:lstStyle/>
          <a:p>
            <a:r>
              <a:rPr lang="zh-CN" altLang="en-US" dirty="0"/>
              <a:t>神经元</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神经网络如何学习？</a:t>
            </a:r>
            <a:endParaRPr lang="zh-CN" altLang="en-US" dirty="0"/>
          </a:p>
        </p:txBody>
      </p:sp>
      <p:sp>
        <p:nvSpPr>
          <p:cNvPr id="3" name="内容占位符 2"/>
          <p:cNvSpPr>
            <a:spLocks noGrp="1"/>
          </p:cNvSpPr>
          <p:nvPr>
            <p:ph idx="1"/>
          </p:nvPr>
        </p:nvSpPr>
        <p:spPr/>
        <p:txBody>
          <a:bodyPr/>
          <a:lstStyle/>
          <a:p>
            <a:r>
              <a:rPr lang="zh-CN" altLang="en-US" dirty="0"/>
              <a:t>赫布法则</a:t>
            </a:r>
            <a:r>
              <a:rPr lang="en-US" altLang="zh-CN" dirty="0"/>
              <a:t> Hebb's Rule</a:t>
            </a:r>
          </a:p>
          <a:p>
            <a:pPr lvl="1"/>
            <a:r>
              <a:rPr lang="zh-CN" altLang="en-US" dirty="0"/>
              <a:t>“当神经元 </a:t>
            </a:r>
            <a:r>
              <a:rPr lang="en-US" altLang="zh-CN" dirty="0"/>
              <a:t>A</a:t>
            </a:r>
            <a:r>
              <a:rPr lang="zh-CN" altLang="en-US" dirty="0"/>
              <a:t>的一个轴突和神经元</a:t>
            </a:r>
            <a:r>
              <a:rPr lang="en-US" altLang="zh-CN" dirty="0"/>
              <a:t>B</a:t>
            </a:r>
            <a:r>
              <a:rPr lang="zh-CN" altLang="en-US" dirty="0"/>
              <a:t>很近，足以对它产生影响，并且持续地、重复地参与了对神经元</a:t>
            </a:r>
            <a:r>
              <a:rPr lang="en-US" altLang="zh-CN" dirty="0"/>
              <a:t>B</a:t>
            </a:r>
            <a:r>
              <a:rPr lang="zh-CN" altLang="en-US" dirty="0"/>
              <a:t>的兴奋，那么在这两个神经元或其中之一会发生某种生长过程或新陈代谢变化，以致于神经元</a:t>
            </a:r>
            <a:r>
              <a:rPr lang="en-US" altLang="zh-CN" dirty="0"/>
              <a:t>A</a:t>
            </a:r>
            <a:r>
              <a:rPr lang="zh-CN" altLang="en-US" dirty="0"/>
              <a:t>作为能使神经元</a:t>
            </a:r>
            <a:r>
              <a:rPr lang="en-US" altLang="zh-CN" dirty="0"/>
              <a:t>B</a:t>
            </a:r>
            <a:r>
              <a:rPr lang="zh-CN" altLang="en-US" dirty="0"/>
              <a:t>兴奋的细胞之一，它的效能加强了。”</a:t>
            </a:r>
            <a:endParaRPr lang="en-US" altLang="zh-CN" dirty="0"/>
          </a:p>
        </p:txBody>
      </p:sp>
      <p:sp>
        <p:nvSpPr>
          <p:cNvPr id="5" name="矩形 4"/>
          <p:cNvSpPr/>
          <p:nvPr/>
        </p:nvSpPr>
        <p:spPr>
          <a:xfrm>
            <a:off x="838200" y="4495800"/>
            <a:ext cx="10820400" cy="1569660"/>
          </a:xfrm>
          <a:prstGeom prst="rect">
            <a:avLst/>
          </a:prstGeom>
        </p:spPr>
        <p:txBody>
          <a:bodyPr wrap="square">
            <a:spAutoFit/>
          </a:bodyPr>
          <a:lstStyle/>
          <a:p>
            <a:pPr marL="285750" indent="-285750">
              <a:buFont typeface="Wingdings" panose="05000000000000000000" pitchFamily="2" charset="2"/>
              <a:buChar char="Ø"/>
            </a:pPr>
            <a:r>
              <a:rPr lang="zh-CN" altLang="en-US" sz="2400" dirty="0"/>
              <a:t>人脑有两种记忆：</a:t>
            </a:r>
            <a:r>
              <a:rPr lang="zh-CN" altLang="en-US" sz="2400" dirty="0">
                <a:solidFill>
                  <a:srgbClr val="FF0000"/>
                </a:solidFill>
              </a:rPr>
              <a:t>长期记忆</a:t>
            </a:r>
            <a:r>
              <a:rPr lang="zh-CN" altLang="en-US" sz="2400" dirty="0"/>
              <a:t>和</a:t>
            </a:r>
            <a:r>
              <a:rPr lang="zh-CN" altLang="en-US" sz="2400" dirty="0">
                <a:solidFill>
                  <a:srgbClr val="FF0000"/>
                </a:solidFill>
              </a:rPr>
              <a:t>短期记忆</a:t>
            </a:r>
            <a:r>
              <a:rPr lang="zh-CN" altLang="en-US" sz="2400" dirty="0"/>
              <a:t>。短期记忆持续时间不超过一分钟。如果一个经验重复足够的次数，此经验就可储存在长期记忆中。</a:t>
            </a:r>
            <a:endParaRPr lang="en-US" altLang="zh-CN" sz="2400" dirty="0"/>
          </a:p>
          <a:p>
            <a:pPr marL="285750" indent="-285750">
              <a:buFont typeface="Wingdings" panose="05000000000000000000" pitchFamily="2" charset="2"/>
              <a:buChar char="Ø"/>
            </a:pPr>
            <a:r>
              <a:rPr lang="zh-CN" altLang="en-US" sz="2400" dirty="0"/>
              <a:t>短期记忆转化为长期记忆的过程就称为</a:t>
            </a:r>
            <a:r>
              <a:rPr lang="zh-CN" altLang="en-US" sz="2400" dirty="0">
                <a:solidFill>
                  <a:srgbClr val="FF0000"/>
                </a:solidFill>
              </a:rPr>
              <a:t>凝固作用</a:t>
            </a:r>
            <a:r>
              <a:rPr lang="zh-CN" altLang="en-US" sz="2400" dirty="0"/>
              <a:t>。</a:t>
            </a:r>
            <a:endParaRPr lang="en-US" altLang="zh-CN" sz="2400" dirty="0"/>
          </a:p>
          <a:p>
            <a:pPr marL="285750" indent="-285750">
              <a:buFont typeface="Wingdings" panose="05000000000000000000" pitchFamily="2" charset="2"/>
              <a:buChar char="Ø"/>
            </a:pPr>
            <a:r>
              <a:rPr lang="zh-CN" altLang="en-US" sz="2400" dirty="0"/>
              <a:t>人脑中的海马区为大脑结构凝固作用的核心区域。</a:t>
            </a:r>
          </a:p>
        </p:txBody>
      </p:sp>
      <p:sp>
        <p:nvSpPr>
          <p:cNvPr id="7" name="矩形 6"/>
          <p:cNvSpPr/>
          <p:nvPr/>
        </p:nvSpPr>
        <p:spPr>
          <a:xfrm>
            <a:off x="5181600" y="3429000"/>
            <a:ext cx="6096000" cy="646331"/>
          </a:xfrm>
          <a:prstGeom prst="rect">
            <a:avLst/>
          </a:prstGeom>
        </p:spPr>
        <p:txBody>
          <a:bodyPr>
            <a:spAutoFit/>
          </a:bodyPr>
          <a:lstStyle/>
          <a:p>
            <a:pPr marL="205740" lvl="1" indent="0" algn="r">
              <a:buNone/>
            </a:pPr>
            <a:r>
              <a:rPr lang="en-US" altLang="zh-CN" dirty="0"/>
              <a:t>----</a:t>
            </a:r>
            <a:r>
              <a:rPr lang="zh-CN" altLang="en-US" dirty="0"/>
              <a:t>加拿大心理学家</a:t>
            </a:r>
            <a:r>
              <a:rPr lang="en-US" altLang="zh-CN" dirty="0"/>
              <a:t>Donald Hebb</a:t>
            </a:r>
            <a:r>
              <a:rPr lang="zh-CN" altLang="en-US" dirty="0"/>
              <a:t>，</a:t>
            </a:r>
            <a:endParaRPr lang="en-US" altLang="zh-CN" dirty="0"/>
          </a:p>
          <a:p>
            <a:pPr marL="205740" lvl="1" indent="0" algn="r">
              <a:buNone/>
            </a:pPr>
            <a:r>
              <a:rPr lang="en-US" altLang="zh-CN" dirty="0"/>
              <a:t>《</a:t>
            </a:r>
            <a:r>
              <a:rPr lang="zh-CN" altLang="en-US" dirty="0"/>
              <a:t>行为的组织</a:t>
            </a:r>
            <a:r>
              <a:rPr lang="en-US" altLang="zh-CN" dirty="0"/>
              <a:t>》</a:t>
            </a:r>
            <a:r>
              <a:rPr lang="zh-CN" altLang="en-US" dirty="0"/>
              <a:t>，</a:t>
            </a:r>
            <a:r>
              <a:rPr lang="en-US" altLang="zh-CN" dirty="0"/>
              <a:t>1949</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3" descr="屏幕剪辑"/>
          <p:cNvPicPr>
            <a:picLocks noChangeAspect="1"/>
          </p:cNvPicPr>
          <p:nvPr/>
        </p:nvPicPr>
        <p:blipFill>
          <a:blip r:embed="rId3"/>
          <a:stretch>
            <a:fillRect/>
          </a:stretch>
        </p:blipFill>
        <p:spPr bwMode="auto">
          <a:xfrm>
            <a:off x="2819400" y="2819400"/>
            <a:ext cx="4608513" cy="336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dirty="0"/>
              <a:t>人工神经元</a:t>
            </a:r>
          </a:p>
        </p:txBody>
      </p:sp>
      <p:pic>
        <p:nvPicPr>
          <p:cNvPr id="3" name="图片 2" descr="屏幕剪辑"/>
          <p:cNvPicPr>
            <a:picLocks noChangeAspect="1"/>
          </p:cNvPicPr>
          <p:nvPr/>
        </p:nvPicPr>
        <p:blipFill>
          <a:blip r:embed="rId4" cstate="print"/>
          <a:stretch>
            <a:fillRect/>
          </a:stretch>
        </p:blipFill>
        <p:spPr>
          <a:xfrm>
            <a:off x="7086601" y="1447801"/>
            <a:ext cx="2693763" cy="2041117"/>
          </a:xfrm>
          <a:prstGeom prst="rect">
            <a:avLst/>
          </a:prstGeom>
        </p:spPr>
      </p:pic>
      <p:cxnSp>
        <p:nvCxnSpPr>
          <p:cNvPr id="6" name="直接箭头连接符 5"/>
          <p:cNvCxnSpPr/>
          <p:nvPr/>
        </p:nvCxnSpPr>
        <p:spPr>
          <a:xfrm flipV="1">
            <a:off x="6172200" y="3048000"/>
            <a:ext cx="1219200" cy="1066800"/>
          </a:xfrm>
          <a:prstGeom prst="straightConnector1">
            <a:avLst/>
          </a:prstGeom>
          <a:ln w="9525"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人工神经网络</a:t>
            </a:r>
            <a:endParaRPr lang="zh-CN" altLang="en-US" dirty="0"/>
          </a:p>
        </p:txBody>
      </p:sp>
      <p:sp>
        <p:nvSpPr>
          <p:cNvPr id="3" name="内容占位符 2"/>
          <p:cNvSpPr>
            <a:spLocks noGrp="1"/>
          </p:cNvSpPr>
          <p:nvPr>
            <p:ph idx="1"/>
          </p:nvPr>
        </p:nvSpPr>
        <p:spPr/>
        <p:txBody>
          <a:bodyPr/>
          <a:lstStyle/>
          <a:p>
            <a:r>
              <a:rPr lang="zh-CN" altLang="en-US"/>
              <a:t>人工神经网络主要由大量的神经元以及它们之间的有向连接构成。因此考虑三方面：</a:t>
            </a:r>
            <a:endParaRPr lang="en-US" altLang="zh-CN"/>
          </a:p>
          <a:p>
            <a:endParaRPr lang="zh-CN" altLang="en-US"/>
          </a:p>
          <a:p>
            <a:r>
              <a:rPr lang="zh-CN" altLang="en-US"/>
              <a:t>神经元的激活规则</a:t>
            </a:r>
            <a:endParaRPr lang="en-US" altLang="zh-CN"/>
          </a:p>
          <a:p>
            <a:pPr lvl="1"/>
            <a:r>
              <a:rPr lang="zh-CN" altLang="en-US"/>
              <a:t>主要是指神经元输入到输出之间的映射关系，一般为非线性函数。</a:t>
            </a:r>
          </a:p>
          <a:p>
            <a:r>
              <a:rPr lang="zh-CN" altLang="en-US"/>
              <a:t>网络的拓扑结构</a:t>
            </a:r>
            <a:endParaRPr lang="en-US" altLang="zh-CN"/>
          </a:p>
          <a:p>
            <a:pPr lvl="1"/>
            <a:r>
              <a:rPr lang="zh-CN" altLang="en-US"/>
              <a:t>不同神经元之间的连接关系。</a:t>
            </a:r>
          </a:p>
          <a:p>
            <a:r>
              <a:rPr lang="zh-CN" altLang="en-US"/>
              <a:t>学习算法</a:t>
            </a:r>
            <a:endParaRPr lang="en-US" altLang="zh-CN"/>
          </a:p>
          <a:p>
            <a:pPr lvl="1"/>
            <a:r>
              <a:rPr lang="zh-CN" altLang="en-US"/>
              <a:t>通过训练数据来学习神经网络的参数。</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人工神经网络</a:t>
            </a:r>
            <a:endParaRPr lang="zh-CN" altLang="en-US" dirty="0"/>
          </a:p>
        </p:txBody>
      </p:sp>
      <p:sp>
        <p:nvSpPr>
          <p:cNvPr id="3" name="内容占位符 2"/>
          <p:cNvSpPr>
            <a:spLocks noGrp="1"/>
          </p:cNvSpPr>
          <p:nvPr>
            <p:ph idx="1"/>
          </p:nvPr>
        </p:nvSpPr>
        <p:spPr/>
        <p:txBody>
          <a:bodyPr/>
          <a:lstStyle/>
          <a:p>
            <a:r>
              <a:rPr lang="zh-CN" altLang="en-US"/>
              <a:t>人工神经网络由神经元模型构成，这种由许多神经元组成的信息处理网络具有并行分布结构。</a:t>
            </a:r>
            <a:endParaRPr lang="en-US" altLang="zh-CN"/>
          </a:p>
          <a:p>
            <a:pPr lvl="1"/>
            <a:r>
              <a:rPr lang="zh-CN" altLang="en-US"/>
              <a:t>虽然这里将 神经网络结构大体上分为三种类型，但是大多数网络都是复合型结构，即一个神经网络中包括多种网络结构。</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3429000"/>
            <a:ext cx="7952016" cy="258110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神经网络</a:t>
            </a:r>
          </a:p>
        </p:txBody>
      </p:sp>
      <mc:AlternateContent xmlns:mc="http://schemas.openxmlformats.org/markup-compatibility/2006" xmlns:a14="http://schemas.microsoft.com/office/drawing/2010/main">
        <mc:Choice Requires="a14">
          <p:sp>
            <p:nvSpPr>
              <p:cNvPr id="5" name="矩形 4"/>
              <p:cNvSpPr/>
              <p:nvPr/>
            </p:nvSpPr>
            <p:spPr>
              <a:xfrm>
                <a:off x="3588276" y="1278777"/>
                <a:ext cx="3690177" cy="584775"/>
              </a:xfrm>
              <a:prstGeom prst="rect">
                <a:avLst/>
              </a:prstGeom>
            </p:spPr>
            <p:txBody>
              <a:bodyPr wrap="none">
                <a:spAutoFit/>
              </a:bodyPr>
              <a:lstStyle/>
              <a:p>
                <a:pPr lvl="0"/>
                <a14:m>
                  <m:oMathPara xmlns:m="http://schemas.openxmlformats.org/officeDocument/2006/math">
                    <m:oMathParaPr>
                      <m:jc m:val="centerGroup"/>
                    </m:oMathParaPr>
                    <m:oMath xmlns:m="http://schemas.openxmlformats.org/officeDocument/2006/math">
                      <m:r>
                        <a:rPr lang="en-US" altLang="zh-CN" sz="3200" i="1">
                          <a:latin typeface="Cambria Math" panose="02040503050406030204" pitchFamily="18" charset="0"/>
                          <a:ea typeface="Cambria Math" panose="02040503050406030204" pitchFamily="18" charset="0"/>
                        </a:rPr>
                        <m:t>𝑦</m:t>
                      </m:r>
                      <m:r>
                        <a:rPr lang="en-US" altLang="zh-CN" sz="3200" i="1">
                          <a:latin typeface="Cambria Math" panose="02040503050406030204" pitchFamily="18" charset="0"/>
                          <a:ea typeface="Cambria Math" panose="02040503050406030204" pitchFamily="18" charset="0"/>
                        </a:rPr>
                        <m:t>= (</m:t>
                      </m:r>
                      <m:r>
                        <a:rPr lang="en-US" altLang="zh-CN" sz="3200" i="1">
                          <a:latin typeface="Cambria Math" panose="02040503050406030204" pitchFamily="18" charset="0"/>
                          <a:ea typeface="Cambria Math" panose="02040503050406030204" pitchFamily="18" charset="0"/>
                        </a:rPr>
                        <m:t>𝑓</m:t>
                      </m:r>
                      <m:r>
                        <a:rPr lang="en-US" altLang="zh-CN" sz="3200" i="1" baseline="30000">
                          <a:latin typeface="Cambria Math" panose="02040503050406030204" pitchFamily="18" charset="0"/>
                          <a:ea typeface="Cambria Math" panose="02040503050406030204" pitchFamily="18" charset="0"/>
                        </a:rPr>
                        <m:t>3</m:t>
                      </m:r>
                      <m:r>
                        <a:rPr lang="en-US" altLang="zh-CN" sz="3200" i="1">
                          <a:latin typeface="Cambria Math" panose="02040503050406030204" pitchFamily="18" charset="0"/>
                          <a:ea typeface="Cambria Math" panose="02040503050406030204" pitchFamily="18" charset="0"/>
                        </a:rPr>
                        <m:t>(</m:t>
                      </m:r>
                      <m:r>
                        <a:rPr lang="en-US" altLang="zh-CN" sz="3200" i="1">
                          <a:latin typeface="Cambria Math" panose="02040503050406030204" pitchFamily="18" charset="0"/>
                          <a:ea typeface="Cambria Math" panose="02040503050406030204" pitchFamily="18" charset="0"/>
                        </a:rPr>
                        <m:t>𝑓</m:t>
                      </m:r>
                      <m:r>
                        <a:rPr lang="en-US" altLang="zh-CN" sz="3200" i="1" baseline="30000">
                          <a:latin typeface="Cambria Math" panose="02040503050406030204" pitchFamily="18" charset="0"/>
                          <a:ea typeface="Cambria Math" panose="02040503050406030204" pitchFamily="18" charset="0"/>
                        </a:rPr>
                        <m:t>2</m:t>
                      </m:r>
                      <m:r>
                        <a:rPr lang="en-US" altLang="zh-CN" sz="3200" i="1">
                          <a:latin typeface="Cambria Math" panose="02040503050406030204" pitchFamily="18" charset="0"/>
                          <a:ea typeface="Cambria Math" panose="02040503050406030204" pitchFamily="18" charset="0"/>
                        </a:rPr>
                        <m:t>(</m:t>
                      </m:r>
                      <m:r>
                        <a:rPr lang="pt-BR" altLang="zh-CN" sz="3200" i="1">
                          <a:latin typeface="Cambria Math" panose="02040503050406030204" pitchFamily="18" charset="0"/>
                          <a:ea typeface="Cambria Math" panose="02040503050406030204" pitchFamily="18" charset="0"/>
                        </a:rPr>
                        <m:t>𝑓</m:t>
                      </m:r>
                      <m:r>
                        <a:rPr lang="en-US" altLang="zh-CN" sz="3200" i="1" baseline="30000">
                          <a:latin typeface="Cambria Math" panose="02040503050406030204" pitchFamily="18" charset="0"/>
                          <a:ea typeface="Cambria Math" panose="02040503050406030204" pitchFamily="18" charset="0"/>
                        </a:rPr>
                        <m:t>1</m:t>
                      </m:r>
                      <m:d>
                        <m:dPr>
                          <m:ctrlPr>
                            <a:rPr lang="pt-BR" altLang="zh-CN" sz="3200" i="1">
                              <a:latin typeface="Cambria Math" panose="02040503050406030204" pitchFamily="18" charset="0"/>
                              <a:ea typeface="Cambria Math" panose="02040503050406030204" pitchFamily="18" charset="0"/>
                            </a:rPr>
                          </m:ctrlPr>
                        </m:dPr>
                        <m:e>
                          <m:r>
                            <a:rPr lang="pt-BR" altLang="zh-CN" sz="3200" i="1">
                              <a:latin typeface="Cambria Math" panose="02040503050406030204" pitchFamily="18" charset="0"/>
                              <a:ea typeface="Cambria Math" panose="02040503050406030204" pitchFamily="18" charset="0"/>
                            </a:rPr>
                            <m:t>𝑥</m:t>
                          </m:r>
                        </m:e>
                      </m:d>
                      <m:r>
                        <a:rPr lang="en-US" altLang="zh-CN" sz="3200" i="1">
                          <a:latin typeface="Cambria Math" panose="02040503050406030204" pitchFamily="18" charset="0"/>
                          <a:ea typeface="Cambria Math" panose="02040503050406030204" pitchFamily="18" charset="0"/>
                        </a:rPr>
                        <m:t>))</m:t>
                      </m:r>
                    </m:oMath>
                  </m:oMathPara>
                </a14:m>
                <a:endParaRPr lang="zh-CN" altLang="zh-CN" sz="3200" i="1" dirty="0">
                  <a:latin typeface="Cambria Math" panose="02040503050406030204" pitchFamily="18" charset="0"/>
                </a:endParaRPr>
              </a:p>
            </p:txBody>
          </p:sp>
        </mc:Choice>
        <mc:Fallback xmlns="">
          <p:sp>
            <p:nvSpPr>
              <p:cNvPr id="5" name="矩形 4"/>
              <p:cNvSpPr>
                <a:spLocks noRot="1" noChangeAspect="1" noMove="1" noResize="1" noEditPoints="1" noAdjustHandles="1" noChangeArrowheads="1" noChangeShapeType="1" noTextEdit="1"/>
              </p:cNvSpPr>
              <p:nvPr/>
            </p:nvSpPr>
            <p:spPr>
              <a:xfrm>
                <a:off x="3588276" y="1278777"/>
                <a:ext cx="3690177" cy="584775"/>
              </a:xfrm>
              <a:prstGeom prst="rect">
                <a:avLst/>
              </a:prstGeom>
              <a:blipFill rotWithShape="1">
                <a:blip r:embed="rId4"/>
                <a:stretch>
                  <a:fillRect l="-14" t="-9536" r="2" b="79"/>
                </a:stretch>
              </a:blipFill>
            </p:spPr>
            <p:txBody>
              <a:bodyPr/>
              <a:lstStyle/>
              <a:p>
                <a:r>
                  <a:rPr lang="zh-CN" altLang="en-US">
                    <a:noFill/>
                  </a:rPr>
                  <a:t> </a:t>
                </a:r>
              </a:p>
            </p:txBody>
          </p:sp>
        </mc:Fallback>
      </mc:AlternateContent>
      <p:pic>
        <p:nvPicPr>
          <p:cNvPr id="7" name="图片 6" descr="屏幕剪辑"/>
          <p:cNvPicPr>
            <a:picLocks noChangeAspect="1"/>
          </p:cNvPicPr>
          <p:nvPr/>
        </p:nvPicPr>
        <p:blipFill>
          <a:blip r:embed="rId5" cstate="print"/>
          <a:stretch>
            <a:fillRect/>
          </a:stretch>
        </p:blipFill>
        <p:spPr>
          <a:xfrm>
            <a:off x="2895600" y="2830403"/>
            <a:ext cx="5676714" cy="3246574"/>
          </a:xfrm>
          <a:prstGeom prst="rect">
            <a:avLst/>
          </a:prstGeom>
        </p:spPr>
      </p:pic>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如果解决贡献度分配问题？</a:t>
            </a:r>
          </a:p>
        </p:txBody>
      </p:sp>
      <p:sp>
        <p:nvSpPr>
          <p:cNvPr id="3" name="内容占位符 2"/>
          <p:cNvSpPr>
            <a:spLocks noGrp="1"/>
          </p:cNvSpPr>
          <p:nvPr>
            <p:ph idx="1"/>
          </p:nvPr>
        </p:nvSpPr>
        <p:spPr/>
        <p:txBody>
          <a:bodyPr/>
          <a:lstStyle/>
          <a:p>
            <a:r>
              <a:rPr lang="zh-CN" altLang="en-US" dirty="0"/>
              <a:t>偏导数</a:t>
            </a:r>
          </a:p>
          <a:p>
            <a:pPr marL="0" indent="0" eaLnBrk="1" fontAlgn="auto" hangingPunct="1">
              <a:spcBef>
                <a:spcPts val="0"/>
              </a:spcBef>
              <a:spcAft>
                <a:spcPts val="0"/>
              </a:spcAft>
              <a:buClrTx/>
              <a:buSzTx/>
              <a:buNone/>
              <a:defRPr/>
            </a:pPr>
            <a:endParaRPr lang="zh-CN" altLang="en-US" sz="1800" kern="0" dirty="0">
              <a:solidFill>
                <a:sysClr val="windowText" lastClr="000000"/>
              </a:solidFill>
            </a:endParaRPr>
          </a:p>
          <a:p>
            <a:endParaRPr lang="en-US" altLang="zh-CN" dirty="0"/>
          </a:p>
          <a:p>
            <a:endParaRPr lang="en-US" altLang="zh-CN" dirty="0"/>
          </a:p>
          <a:p>
            <a:endParaRPr lang="en-US" altLang="zh-CN" dirty="0"/>
          </a:p>
          <a:p>
            <a:endParaRPr lang="en-US" altLang="zh-CN" dirty="0"/>
          </a:p>
          <a:p>
            <a:r>
              <a:rPr lang="zh-CN" altLang="en-US" dirty="0"/>
              <a:t>贡献度</a:t>
            </a:r>
            <a:endParaRPr lang="en-US" altLang="zh-CN" dirty="0"/>
          </a:p>
          <a:p>
            <a:pPr marL="0" indent="0">
              <a:buNone/>
            </a:pPr>
            <a:endParaRPr lang="en-US" altLang="zh-CN" dirty="0"/>
          </a:p>
          <a:p>
            <a:endParaRPr lang="zh-CN" altLang="en-US" dirty="0"/>
          </a:p>
        </p:txBody>
      </p:sp>
      <p:pic>
        <p:nvPicPr>
          <p:cNvPr id="5124" name="Picture 4" descr="âderivativeâçå¾çæç´¢ç»æ"/>
          <p:cNvPicPr>
            <a:picLocks noChangeAspect="1" noChangeArrowheads="1"/>
          </p:cNvPicPr>
          <p:nvPr/>
        </p:nvPicPr>
        <p:blipFill>
          <a:blip r:embed="rId4"/>
          <a:srcRect/>
          <a:stretch>
            <a:fillRect/>
          </a:stretch>
        </p:blipFill>
        <p:spPr bwMode="auto">
          <a:xfrm>
            <a:off x="4191000" y="1524001"/>
            <a:ext cx="3810000" cy="2462359"/>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文本框 6"/>
              <p:cNvSpPr txBox="1"/>
              <p:nvPr/>
            </p:nvSpPr>
            <p:spPr>
              <a:xfrm>
                <a:off x="4207330" y="4775783"/>
                <a:ext cx="3154582" cy="6298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altLang="zh-CN" i="1" kern="0">
                              <a:solidFill>
                                <a:sysClr val="windowText" lastClr="000000"/>
                              </a:solidFill>
                              <a:latin typeface="Cambria Math" panose="02040503050406030204" pitchFamily="18" charset="0"/>
                              <a:ea typeface="Cambria Math" panose="02040503050406030204" pitchFamily="18" charset="0"/>
                            </a:rPr>
                          </m:ctrlPr>
                        </m:fPr>
                        <m:num>
                          <m:r>
                            <a:rPr lang="zh-CN" altLang="en-US" i="1" kern="0">
                              <a:solidFill>
                                <a:sysClr val="windowText" lastClr="000000"/>
                              </a:solidFill>
                              <a:latin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𝑦</m:t>
                          </m:r>
                        </m:num>
                        <m:den>
                          <m:r>
                            <a:rPr lang="zh-CN" altLang="en-US" i="1" kern="0">
                              <a:solidFill>
                                <a:sysClr val="windowText" lastClr="000000"/>
                              </a:solidFill>
                              <a:latin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m:t>
                          </m:r>
                          <m:r>
                            <a:rPr lang="en-US" altLang="zh-CN" i="1" kern="0" baseline="30000">
                              <a:solidFill>
                                <a:sysClr val="windowText" lastClr="000000"/>
                              </a:solidFill>
                              <a:latin typeface="Cambria Math" panose="02040503050406030204" pitchFamily="18" charset="0"/>
                              <a:ea typeface="Cambria Math" panose="02040503050406030204" pitchFamily="18" charset="0"/>
                            </a:rPr>
                            <m:t>𝑙</m:t>
                          </m:r>
                        </m:den>
                      </m:f>
                      <m:r>
                        <a:rPr lang="en-US" altLang="zh-CN" i="1" kern="0">
                          <a:solidFill>
                            <a:sysClr val="windowText" lastClr="000000"/>
                          </a:solidFill>
                          <a:latin typeface="Cambria Math" panose="02040503050406030204" pitchFamily="18" charset="0"/>
                          <a:ea typeface="Cambria Math" panose="02040503050406030204" pitchFamily="18" charset="0"/>
                        </a:rPr>
                        <m:t>=</m:t>
                      </m:r>
                      <m:f>
                        <m:fPr>
                          <m:ctrlPr>
                            <a:rPr lang="en-US" altLang="zh-CN" i="1" kern="0">
                              <a:solidFill>
                                <a:sysClr val="windowText" lastClr="000000"/>
                              </a:solidFill>
                              <a:latin typeface="Cambria Math" panose="02040503050406030204" pitchFamily="18" charset="0"/>
                              <a:ea typeface="Cambria Math" panose="02040503050406030204" pitchFamily="18" charset="0"/>
                            </a:rPr>
                          </m:ctrlPr>
                        </m:fPr>
                        <m:num>
                          <m:r>
                            <a:rPr lang="en-US" altLang="zh-CN" i="1" kern="0">
                              <a:solidFill>
                                <a:sysClr val="windowText" lastClr="000000"/>
                              </a:solidFill>
                              <a:latin typeface="Cambria Math" panose="02040503050406030204" pitchFamily="18" charset="0"/>
                              <a:ea typeface="Cambria Math" panose="02040503050406030204" pitchFamily="18" charset="0"/>
                            </a:rPr>
                            <m:t>𝑦</m:t>
                          </m:r>
                          <m:d>
                            <m:dPr>
                              <m:ctrlPr>
                                <a:rPr lang="en-US" altLang="zh-CN" i="1" kern="0">
                                  <a:solidFill>
                                    <a:sysClr val="windowText" lastClr="000000"/>
                                  </a:solidFill>
                                  <a:latin typeface="Cambria Math" panose="02040503050406030204" pitchFamily="18" charset="0"/>
                                  <a:ea typeface="Cambria Math" panose="02040503050406030204" pitchFamily="18" charset="0"/>
                                </a:rPr>
                              </m:ctrlPr>
                            </m:dPr>
                            <m:e>
                              <m:r>
                                <a:rPr lang="en-US" altLang="zh-CN" i="1" kern="0">
                                  <a:solidFill>
                                    <a:sysClr val="windowText" lastClr="000000"/>
                                  </a:solidFill>
                                  <a:latin typeface="Cambria Math" panose="02040503050406030204" pitchFamily="18" charset="0"/>
                                  <a:ea typeface="Cambria Math" panose="02040503050406030204" pitchFamily="18" charset="0"/>
                                </a:rPr>
                                <m:t>𝑊</m:t>
                              </m:r>
                              <m:r>
                                <a:rPr lang="en-US" altLang="zh-CN" i="1" kern="0" baseline="30000">
                                  <a:solidFill>
                                    <a:sysClr val="windowText" lastClr="000000"/>
                                  </a:solidFill>
                                  <a:latin typeface="Cambria Math" panose="02040503050406030204" pitchFamily="18" charset="0"/>
                                  <a:ea typeface="Cambria Math" panose="02040503050406030204" pitchFamily="18" charset="0"/>
                                </a:rPr>
                                <m:t>𝑙</m:t>
                              </m:r>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e>
                          </m:d>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𝑦</m:t>
                          </m:r>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r>
                            <a:rPr lang="en-US" altLang="zh-CN" i="1" kern="0">
                              <a:solidFill>
                                <a:sysClr val="windowText" lastClr="000000"/>
                              </a:solidFill>
                              <a:latin typeface="Cambria Math" panose="02040503050406030204" pitchFamily="18" charset="0"/>
                              <a:ea typeface="Cambria Math" panose="02040503050406030204" pitchFamily="18" charset="0"/>
                            </a:rPr>
                            <m:t>)</m:t>
                          </m:r>
                        </m:num>
                        <m:den>
                          <m:r>
                            <a:rPr lang="en-US" altLang="zh-CN" i="1" kern="0">
                              <a:solidFill>
                                <a:sysClr val="windowText" lastClr="000000"/>
                              </a:solidFill>
                              <a:latin typeface="Cambria Math" panose="02040503050406030204" pitchFamily="18" charset="0"/>
                              <a:ea typeface="Cambria Math" panose="02040503050406030204" pitchFamily="18" charset="0"/>
                            </a:rPr>
                            <m:t>∆</m:t>
                          </m:r>
                          <m:r>
                            <a:rPr lang="en-US" altLang="zh-CN" i="1" kern="0">
                              <a:solidFill>
                                <a:sysClr val="windowText" lastClr="000000"/>
                              </a:solidFill>
                              <a:latin typeface="Cambria Math" panose="02040503050406030204" pitchFamily="18" charset="0"/>
                              <a:ea typeface="Cambria Math" panose="02040503050406030204" pitchFamily="18" charset="0"/>
                            </a:rPr>
                            <m:t>𝑊𝑙</m:t>
                          </m:r>
                        </m:den>
                      </m:f>
                    </m:oMath>
                  </m:oMathPara>
                </a14:m>
                <a:endParaRPr lang="zh-CN" altLang="en-US" i="1" dirty="0">
                  <a:latin typeface="Cambria Math" panose="020405030504060302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4207330" y="4775783"/>
                <a:ext cx="3154582" cy="629852"/>
              </a:xfrm>
              <a:prstGeom prst="rect">
                <a:avLst/>
              </a:prstGeom>
              <a:blipFill rotWithShape="1">
                <a:blip r:embed="rId5"/>
                <a:stretch>
                  <a:fillRect l="-14" t="-93" r="11" b="82"/>
                </a:stretch>
              </a:blipFill>
            </p:spPr>
            <p:txBody>
              <a:bodyPr/>
              <a:lstStyle/>
              <a:p>
                <a:r>
                  <a:rPr lang="zh-CN" altLang="en-US">
                    <a:noFill/>
                  </a:rPr>
                  <a:t> </a:t>
                </a:r>
              </a:p>
            </p:txBody>
          </p:sp>
        </mc:Fallback>
      </mc:AlternateContent>
      <p:sp>
        <p:nvSpPr>
          <p:cNvPr id="6" name="矩形 5"/>
          <p:cNvSpPr/>
          <p:nvPr/>
        </p:nvSpPr>
        <p:spPr>
          <a:xfrm>
            <a:off x="3124200" y="5715000"/>
            <a:ext cx="6743700" cy="369332"/>
          </a:xfrm>
          <a:prstGeom prst="rect">
            <a:avLst/>
          </a:prstGeom>
        </p:spPr>
        <p:txBody>
          <a:bodyPr wrap="square">
            <a:spAutoFit/>
          </a:bodyPr>
          <a:lstStyle/>
          <a:p>
            <a:r>
              <a:rPr lang="zh-CN" altLang="en-US" dirty="0">
                <a:solidFill>
                  <a:srgbClr val="FF0000"/>
                </a:solidFill>
              </a:rPr>
              <a:t>神经网络天然不是深度学习，但深度学习天然是神经网络。</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1.6 </a:t>
            </a:r>
            <a:r>
              <a:rPr lang="zh-CN" altLang="en-US"/>
              <a:t>神经网络发展史</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神经网络发展史</a:t>
            </a:r>
            <a:endParaRPr lang="zh-CN" altLang="en-US" dirty="0"/>
          </a:p>
        </p:txBody>
      </p:sp>
      <p:sp>
        <p:nvSpPr>
          <p:cNvPr id="3" name="内容占位符 2"/>
          <p:cNvSpPr>
            <a:spLocks noGrp="1"/>
          </p:cNvSpPr>
          <p:nvPr>
            <p:ph idx="1"/>
          </p:nvPr>
        </p:nvSpPr>
        <p:spPr/>
        <p:txBody>
          <a:bodyPr/>
          <a:lstStyle/>
          <a:p>
            <a:r>
              <a:rPr lang="zh-CN" altLang="en-US" dirty="0"/>
              <a:t>神经网络的发展大致经过五个阶段。</a:t>
            </a:r>
            <a:endParaRPr lang="en-US" altLang="zh-CN" dirty="0"/>
          </a:p>
          <a:p>
            <a:r>
              <a:rPr lang="zh-CN" altLang="en-US" dirty="0"/>
              <a:t>第一阶段：模型提出</a:t>
            </a:r>
            <a:endParaRPr lang="en-US" altLang="zh-CN" dirty="0"/>
          </a:p>
          <a:p>
            <a:pPr lvl="1"/>
            <a:r>
              <a:rPr lang="zh-CN" altLang="en-US" dirty="0"/>
              <a:t>在</a:t>
            </a:r>
            <a:r>
              <a:rPr lang="en-US" altLang="zh-CN" dirty="0"/>
              <a:t>1943</a:t>
            </a:r>
            <a:r>
              <a:rPr lang="zh-CN" altLang="en-US" dirty="0"/>
              <a:t>年，心理学家</a:t>
            </a:r>
            <a:r>
              <a:rPr lang="en-US" altLang="zh-CN" dirty="0"/>
              <a:t>Warren McCulloch</a:t>
            </a:r>
            <a:r>
              <a:rPr lang="zh-CN" altLang="en-US" dirty="0"/>
              <a:t>和数学家</a:t>
            </a:r>
            <a:r>
              <a:rPr lang="en-US" altLang="zh-CN" dirty="0"/>
              <a:t>Walter Pitts</a:t>
            </a:r>
            <a:r>
              <a:rPr lang="zh-CN" altLang="en-US" dirty="0"/>
              <a:t>和最早描述了一种理想化的人工神经网络，并构建了一种基于简单逻辑运算的计算机制。他们提出的神经网络模型称为</a:t>
            </a:r>
            <a:r>
              <a:rPr lang="en-US" altLang="zh-CN" u="sng" dirty="0"/>
              <a:t>MP</a:t>
            </a:r>
            <a:r>
              <a:rPr lang="zh-CN" altLang="en-US" u="sng" dirty="0"/>
              <a:t>模型</a:t>
            </a:r>
            <a:r>
              <a:rPr lang="zh-CN" altLang="en-US" dirty="0"/>
              <a:t>。</a:t>
            </a:r>
            <a:endParaRPr lang="en-US" altLang="zh-CN" dirty="0"/>
          </a:p>
          <a:p>
            <a:pPr lvl="1"/>
            <a:r>
              <a:rPr lang="zh-CN" altLang="en-US" dirty="0"/>
              <a:t>阿兰</a:t>
            </a:r>
            <a:r>
              <a:rPr lang="en-US" altLang="zh-CN" dirty="0"/>
              <a:t>·</a:t>
            </a:r>
            <a:r>
              <a:rPr lang="zh-CN" altLang="en-US" dirty="0"/>
              <a:t>图灵在</a:t>
            </a:r>
            <a:r>
              <a:rPr lang="en-US" altLang="zh-CN" dirty="0"/>
              <a:t>1948</a:t>
            </a:r>
            <a:r>
              <a:rPr lang="zh-CN" altLang="en-US" dirty="0"/>
              <a:t>年的论文中描述了一种“</a:t>
            </a:r>
            <a:r>
              <a:rPr lang="en-US" altLang="zh-CN" dirty="0"/>
              <a:t>B</a:t>
            </a:r>
            <a:r>
              <a:rPr lang="zh-CN" altLang="en-US" dirty="0"/>
              <a:t>型图灵机”。</a:t>
            </a:r>
            <a:r>
              <a:rPr lang="en-US" altLang="zh-CN" dirty="0"/>
              <a:t>(</a:t>
            </a:r>
            <a:r>
              <a:rPr lang="zh-CN" altLang="en-US" dirty="0"/>
              <a:t>赫布型学习</a:t>
            </a:r>
            <a:r>
              <a:rPr lang="en-US" altLang="zh-CN" dirty="0"/>
              <a:t>)</a:t>
            </a:r>
          </a:p>
          <a:p>
            <a:pPr lvl="1"/>
            <a:r>
              <a:rPr lang="en-US" altLang="zh-CN" dirty="0"/>
              <a:t>1951</a:t>
            </a:r>
            <a:r>
              <a:rPr lang="zh-CN" altLang="en-US" dirty="0"/>
              <a:t>年，</a:t>
            </a:r>
            <a:r>
              <a:rPr lang="en-US" altLang="zh-CN" dirty="0"/>
              <a:t>McCulloch</a:t>
            </a:r>
            <a:r>
              <a:rPr lang="zh-CN" altLang="en-US" dirty="0"/>
              <a:t>和</a:t>
            </a:r>
            <a:r>
              <a:rPr lang="en-US" altLang="zh-CN" dirty="0"/>
              <a:t>Pitts</a:t>
            </a:r>
            <a:r>
              <a:rPr lang="zh-CN" altLang="en-US" dirty="0"/>
              <a:t>的学生</a:t>
            </a:r>
            <a:r>
              <a:rPr lang="en-US" altLang="zh-CN" dirty="0"/>
              <a:t>Marvin Minsky</a:t>
            </a:r>
            <a:r>
              <a:rPr lang="zh-CN" altLang="en-US" dirty="0"/>
              <a:t>建造了第一台神经网络机，称为</a:t>
            </a:r>
            <a:r>
              <a:rPr lang="en-US" altLang="zh-CN" dirty="0"/>
              <a:t>SNARC</a:t>
            </a:r>
            <a:r>
              <a:rPr lang="zh-CN" altLang="en-US" dirty="0"/>
              <a:t>。</a:t>
            </a:r>
            <a:endParaRPr lang="en-US" altLang="zh-CN" dirty="0"/>
          </a:p>
          <a:p>
            <a:pPr lvl="1"/>
            <a:r>
              <a:rPr lang="en-US" altLang="zh-CN" dirty="0"/>
              <a:t>Rosenblatt [1958]</a:t>
            </a:r>
            <a:r>
              <a:rPr lang="zh-CN" altLang="en-US" dirty="0"/>
              <a:t>最早提出可以模拟人类感知能力的神经网络模型，并称之为</a:t>
            </a:r>
            <a:r>
              <a:rPr lang="zh-CN" altLang="en-US" u="sng" dirty="0">
                <a:solidFill>
                  <a:srgbClr val="FF0000"/>
                </a:solidFill>
              </a:rPr>
              <a:t>感知器</a:t>
            </a:r>
            <a:r>
              <a:rPr lang="zh-CN" altLang="en-US" u="sng" dirty="0"/>
              <a:t>（</a:t>
            </a:r>
            <a:r>
              <a:rPr lang="en-US" altLang="zh-CN" u="sng" dirty="0"/>
              <a:t>Perceptron</a:t>
            </a:r>
            <a:r>
              <a:rPr lang="zh-CN" altLang="en-US" u="sng" dirty="0"/>
              <a:t>）</a:t>
            </a:r>
            <a:r>
              <a:rPr lang="zh-CN" altLang="en-US" dirty="0"/>
              <a:t>，并提出了一种接近于人类学习过程（迭代、试错）的学习算法。</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神经网络发展史</a:t>
            </a:r>
            <a:endParaRPr lang="zh-CN" altLang="en-US" dirty="0"/>
          </a:p>
        </p:txBody>
      </p:sp>
      <p:sp>
        <p:nvSpPr>
          <p:cNvPr id="3" name="内容占位符 2"/>
          <p:cNvSpPr>
            <a:spLocks noGrp="1"/>
          </p:cNvSpPr>
          <p:nvPr>
            <p:ph idx="1"/>
          </p:nvPr>
        </p:nvSpPr>
        <p:spPr/>
        <p:txBody>
          <a:bodyPr/>
          <a:lstStyle/>
          <a:p>
            <a:r>
              <a:rPr lang="zh-CN" altLang="en-US" dirty="0"/>
              <a:t>第二阶段：冰河期</a:t>
            </a:r>
            <a:endParaRPr lang="en-US" altLang="zh-CN" dirty="0"/>
          </a:p>
          <a:p>
            <a:pPr lvl="1"/>
            <a:r>
              <a:rPr lang="en-US" altLang="zh-CN" dirty="0"/>
              <a:t>1969</a:t>
            </a:r>
            <a:r>
              <a:rPr lang="zh-CN" altLang="en-US" dirty="0"/>
              <a:t>年，</a:t>
            </a:r>
            <a:r>
              <a:rPr lang="en-US" altLang="zh-CN" dirty="0"/>
              <a:t>Marvin Minsky</a:t>
            </a:r>
            <a:r>
              <a:rPr lang="zh-CN" altLang="en-US" dirty="0"/>
              <a:t>出版</a:t>
            </a:r>
            <a:r>
              <a:rPr lang="en-US" altLang="zh-CN" dirty="0"/>
              <a:t>《</a:t>
            </a:r>
            <a:r>
              <a:rPr lang="zh-CN" altLang="en-US" dirty="0"/>
              <a:t>感知器</a:t>
            </a:r>
            <a:r>
              <a:rPr lang="en-US" altLang="zh-CN" dirty="0"/>
              <a:t>》</a:t>
            </a:r>
            <a:r>
              <a:rPr lang="zh-CN" altLang="en-US" dirty="0"/>
              <a:t>一书，书中论断直接将神经网络打入冷宫，导致神经网络十多年的“冰河期”。他们发现了神经网络的两个关键问题：</a:t>
            </a:r>
            <a:endParaRPr lang="en-US" altLang="zh-CN" dirty="0"/>
          </a:p>
          <a:p>
            <a:pPr lvl="2"/>
            <a:r>
              <a:rPr lang="en-US" altLang="zh-CN" dirty="0"/>
              <a:t>1</a:t>
            </a:r>
            <a:r>
              <a:rPr lang="zh-CN" altLang="en-US" dirty="0"/>
              <a:t>）基本感知器无法处理异或回路。</a:t>
            </a:r>
            <a:endParaRPr lang="en-US" altLang="zh-CN" dirty="0"/>
          </a:p>
          <a:p>
            <a:pPr lvl="2"/>
            <a:r>
              <a:rPr lang="en-US" altLang="zh-CN" dirty="0"/>
              <a:t>2</a:t>
            </a:r>
            <a:r>
              <a:rPr lang="zh-CN" altLang="en-US" dirty="0"/>
              <a:t>）电脑没有足够的能力来处理大型神经网络所需要的很长的计算时间。</a:t>
            </a:r>
            <a:endParaRPr lang="en-US" altLang="zh-CN" dirty="0"/>
          </a:p>
          <a:p>
            <a:pPr lvl="1"/>
            <a:r>
              <a:rPr lang="en-US" altLang="zh-CN" dirty="0"/>
              <a:t>1974</a:t>
            </a:r>
            <a:r>
              <a:rPr lang="zh-CN" altLang="en-US" dirty="0"/>
              <a:t>年，哈佛大学的</a:t>
            </a:r>
            <a:r>
              <a:rPr lang="en-US" altLang="zh-CN" dirty="0"/>
              <a:t>Paul </a:t>
            </a:r>
            <a:r>
              <a:rPr lang="en-US" altLang="zh-CN" dirty="0" err="1"/>
              <a:t>Webos</a:t>
            </a:r>
            <a:r>
              <a:rPr lang="zh-CN" altLang="en-US" dirty="0"/>
              <a:t>发明</a:t>
            </a:r>
            <a:r>
              <a:rPr lang="zh-CN" altLang="en-US" u="sng" dirty="0"/>
              <a:t>反向传播算法</a:t>
            </a:r>
            <a:r>
              <a:rPr lang="zh-CN" altLang="en-US" dirty="0"/>
              <a:t>，但当时未受到应有的重视。</a:t>
            </a:r>
            <a:endParaRPr lang="en-US" altLang="zh-CN" dirty="0"/>
          </a:p>
          <a:p>
            <a:pPr lvl="1"/>
            <a:r>
              <a:rPr lang="en-US" altLang="zh-CN" dirty="0"/>
              <a:t>1980</a:t>
            </a:r>
            <a:r>
              <a:rPr lang="zh-CN" altLang="en-US" dirty="0"/>
              <a:t>年，</a:t>
            </a:r>
            <a:r>
              <a:rPr lang="en-US" altLang="zh-CN" dirty="0" err="1"/>
              <a:t>Kunihiko</a:t>
            </a:r>
            <a:r>
              <a:rPr lang="en-US" altLang="zh-CN" dirty="0"/>
              <a:t> Fukushima</a:t>
            </a:r>
            <a:r>
              <a:rPr lang="zh-CN" altLang="en-US" dirty="0"/>
              <a:t>（福岛邦彦）提出了一种带卷积和子采样操作的多层神经网络：</a:t>
            </a:r>
            <a:r>
              <a:rPr lang="zh-CN" altLang="en-US" u="sng" dirty="0"/>
              <a:t>新知机（</a:t>
            </a:r>
            <a:r>
              <a:rPr lang="en-US" altLang="zh-CN" u="sng" dirty="0" err="1"/>
              <a:t>Neocognitron</a:t>
            </a:r>
            <a:r>
              <a:rPr lang="zh-CN" altLang="en-US" u="sng"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神经网络发展史</a:t>
            </a:r>
            <a:endParaRPr lang="zh-CN" altLang="en-US" dirty="0"/>
          </a:p>
        </p:txBody>
      </p:sp>
      <p:sp>
        <p:nvSpPr>
          <p:cNvPr id="3" name="内容占位符 2"/>
          <p:cNvSpPr>
            <a:spLocks noGrp="1"/>
          </p:cNvSpPr>
          <p:nvPr>
            <p:ph idx="1"/>
          </p:nvPr>
        </p:nvSpPr>
        <p:spPr/>
        <p:txBody>
          <a:bodyPr/>
          <a:lstStyle/>
          <a:p>
            <a:r>
              <a:rPr lang="zh-CN" altLang="en-US" dirty="0"/>
              <a:t>第三阶段：反向传播算法引起的复兴</a:t>
            </a:r>
            <a:endParaRPr lang="en-US" altLang="zh-CN" dirty="0"/>
          </a:p>
          <a:p>
            <a:pPr lvl="1"/>
            <a:r>
              <a:rPr lang="en-US" altLang="zh-CN" dirty="0"/>
              <a:t>1983</a:t>
            </a:r>
            <a:r>
              <a:rPr lang="zh-CN" altLang="en-US" dirty="0"/>
              <a:t>年，物理学家</a:t>
            </a:r>
            <a:r>
              <a:rPr lang="en-US" altLang="zh-CN" dirty="0"/>
              <a:t>John Hopfield</a:t>
            </a:r>
            <a:r>
              <a:rPr lang="zh-CN" altLang="en-US" dirty="0"/>
              <a:t>对神经网络引入能量函数的概念，并提出了用于联想记忆和优化计算的网络（称为</a:t>
            </a:r>
            <a:r>
              <a:rPr lang="en-US" altLang="zh-CN" u="sng" dirty="0"/>
              <a:t>Hopfield</a:t>
            </a:r>
            <a:r>
              <a:rPr lang="zh-CN" altLang="en-US" u="sng" dirty="0"/>
              <a:t>网络</a:t>
            </a:r>
            <a:r>
              <a:rPr lang="zh-CN" altLang="en-US" dirty="0"/>
              <a:t>），在旅行商问题上获得当时最好结果，引起轰动。</a:t>
            </a:r>
            <a:endParaRPr lang="en-US" altLang="zh-CN" dirty="0"/>
          </a:p>
          <a:p>
            <a:pPr lvl="1"/>
            <a:r>
              <a:rPr lang="en-US" altLang="zh-CN" dirty="0"/>
              <a:t>1984</a:t>
            </a:r>
            <a:r>
              <a:rPr lang="zh-CN" altLang="en-US" dirty="0"/>
              <a:t>年，</a:t>
            </a:r>
            <a:r>
              <a:rPr lang="en-US" altLang="zh-CN" dirty="0"/>
              <a:t>Geoffrey Hinton</a:t>
            </a:r>
            <a:r>
              <a:rPr lang="zh-CN" altLang="en-US" dirty="0"/>
              <a:t>提出一种随机化版本的</a:t>
            </a:r>
            <a:r>
              <a:rPr lang="en-US" altLang="zh-CN" dirty="0"/>
              <a:t>Hopfield</a:t>
            </a:r>
            <a:r>
              <a:rPr lang="zh-CN" altLang="en-US" dirty="0"/>
              <a:t>网络，即玻尔兹曼机。</a:t>
            </a:r>
            <a:endParaRPr lang="en-US" altLang="zh-CN" dirty="0"/>
          </a:p>
          <a:p>
            <a:pPr lvl="1"/>
            <a:r>
              <a:rPr lang="en-US" altLang="zh-CN" dirty="0"/>
              <a:t>1986</a:t>
            </a:r>
            <a:r>
              <a:rPr lang="zh-CN" altLang="en-US" dirty="0"/>
              <a:t>年， </a:t>
            </a:r>
            <a:r>
              <a:rPr lang="en-US" altLang="zh-CN" dirty="0"/>
              <a:t>David </a:t>
            </a:r>
            <a:r>
              <a:rPr lang="en-US" altLang="zh-CN" dirty="0" err="1"/>
              <a:t>Rumelhart</a:t>
            </a:r>
            <a:r>
              <a:rPr lang="zh-CN" altLang="en-US" dirty="0"/>
              <a:t>和</a:t>
            </a:r>
            <a:r>
              <a:rPr lang="en-US" altLang="zh-CN" dirty="0"/>
              <a:t>James McClelland</a:t>
            </a:r>
            <a:r>
              <a:rPr lang="zh-CN" altLang="en-US" dirty="0"/>
              <a:t>对于联结主义在计算机模拟神经活动中的应用提供了全面的论述，并重新发明了反向传播算法。</a:t>
            </a:r>
            <a:endParaRPr lang="en-US" altLang="zh-CN" dirty="0"/>
          </a:p>
          <a:p>
            <a:pPr lvl="1"/>
            <a:r>
              <a:rPr lang="en-US" altLang="zh-CN" dirty="0"/>
              <a:t>1986</a:t>
            </a:r>
            <a:r>
              <a:rPr lang="zh-CN" altLang="en-US" dirty="0"/>
              <a:t>年，</a:t>
            </a:r>
            <a:r>
              <a:rPr lang="en-US" altLang="zh-CN" dirty="0"/>
              <a:t>Geoffrey Hinton</a:t>
            </a:r>
            <a:r>
              <a:rPr lang="zh-CN" altLang="en-US" dirty="0"/>
              <a:t>等人将引入反向传播算法到多层感知器</a:t>
            </a:r>
            <a:endParaRPr lang="en-US" altLang="zh-CN" dirty="0"/>
          </a:p>
          <a:p>
            <a:pPr lvl="1"/>
            <a:r>
              <a:rPr lang="en-US" altLang="zh-CN" dirty="0"/>
              <a:t>1989 </a:t>
            </a:r>
            <a:r>
              <a:rPr lang="zh-CN" altLang="en-US" dirty="0"/>
              <a:t>年，</a:t>
            </a:r>
            <a:r>
              <a:rPr lang="en-US" altLang="zh-CN" dirty="0" err="1"/>
              <a:t>LeCun</a:t>
            </a:r>
            <a:r>
              <a:rPr lang="zh-CN" altLang="en-US" dirty="0"/>
              <a:t>等人将反向传播算法引入了卷积神经网络，并在手写体数字识别上取得了很大的成功。</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神经网络发展史</a:t>
            </a:r>
            <a:endParaRPr lang="zh-CN" altLang="en-US" dirty="0"/>
          </a:p>
        </p:txBody>
      </p:sp>
      <p:sp>
        <p:nvSpPr>
          <p:cNvPr id="3" name="内容占位符 2"/>
          <p:cNvSpPr>
            <a:spLocks noGrp="1"/>
          </p:cNvSpPr>
          <p:nvPr>
            <p:ph idx="1"/>
          </p:nvPr>
        </p:nvSpPr>
        <p:spPr/>
        <p:txBody>
          <a:bodyPr/>
          <a:lstStyle/>
          <a:p>
            <a:r>
              <a:rPr lang="zh-CN" altLang="en-US"/>
              <a:t>第四阶段：流行度降低</a:t>
            </a:r>
            <a:endParaRPr lang="en-US" altLang="zh-CN"/>
          </a:p>
          <a:p>
            <a:pPr lvl="1"/>
            <a:r>
              <a:rPr lang="zh-CN" altLang="en-US"/>
              <a:t>在</a:t>
            </a:r>
            <a:r>
              <a:rPr lang="en-US" altLang="zh-CN"/>
              <a:t>20</a:t>
            </a:r>
            <a:r>
              <a:rPr lang="zh-CN" altLang="en-US"/>
              <a:t>世纪</a:t>
            </a:r>
            <a:r>
              <a:rPr lang="en-US" altLang="zh-CN"/>
              <a:t>90</a:t>
            </a:r>
            <a:r>
              <a:rPr lang="zh-CN" altLang="en-US"/>
              <a:t>年代中期，统计学习理论和以支持向量机为代表的机器学习模型开始兴起。</a:t>
            </a:r>
            <a:endParaRPr lang="en-US" altLang="zh-CN"/>
          </a:p>
          <a:p>
            <a:pPr lvl="1"/>
            <a:r>
              <a:rPr lang="zh-CN" altLang="en-US"/>
              <a:t>相比之下，神经网络的理论基础不清晰、优化困难、可解释性差等缺点更加凸显，神经网络的研究又一次陷入低潮。</a:t>
            </a:r>
            <a:endParaRPr lang="en-US" altLang="zh-C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神经网络发展史</a:t>
            </a:r>
            <a:endParaRPr lang="zh-CN" altLang="en-US" dirty="0"/>
          </a:p>
        </p:txBody>
      </p:sp>
      <p:sp>
        <p:nvSpPr>
          <p:cNvPr id="3" name="内容占位符 2"/>
          <p:cNvSpPr>
            <a:spLocks noGrp="1"/>
          </p:cNvSpPr>
          <p:nvPr>
            <p:ph idx="1"/>
          </p:nvPr>
        </p:nvSpPr>
        <p:spPr/>
        <p:txBody>
          <a:bodyPr/>
          <a:lstStyle/>
          <a:p>
            <a:r>
              <a:rPr lang="zh-CN" altLang="en-US" dirty="0"/>
              <a:t>第五阶段：深度学习的崛起</a:t>
            </a:r>
            <a:endParaRPr lang="en-US" altLang="zh-CN" dirty="0"/>
          </a:p>
          <a:p>
            <a:pPr lvl="1"/>
            <a:r>
              <a:rPr lang="zh-CN" altLang="en-US" dirty="0"/>
              <a:t> </a:t>
            </a:r>
            <a:r>
              <a:rPr lang="en-US" altLang="zh-CN" dirty="0"/>
              <a:t>2006</a:t>
            </a:r>
            <a:r>
              <a:rPr lang="zh-CN" altLang="en-US" dirty="0"/>
              <a:t>年，</a:t>
            </a:r>
            <a:r>
              <a:rPr lang="en-US" altLang="zh-CN" dirty="0"/>
              <a:t>Hinton</a:t>
            </a:r>
            <a:r>
              <a:rPr lang="zh-CN" altLang="en-US" dirty="0"/>
              <a:t>等人发现多层前馈神经网络可以先通过逐层预训练，再用反向传播算法进行精调的方式进行有效学习。</a:t>
            </a:r>
            <a:endParaRPr lang="en-US" altLang="zh-CN" dirty="0"/>
          </a:p>
          <a:p>
            <a:pPr lvl="2"/>
            <a:r>
              <a:rPr lang="zh-CN" altLang="en-US" dirty="0"/>
              <a:t>深度神经网络在语音识别和图像分类等任务上的巨大成功。</a:t>
            </a:r>
            <a:endParaRPr lang="en-US" altLang="zh-CN" dirty="0"/>
          </a:p>
          <a:p>
            <a:pPr lvl="1"/>
            <a:r>
              <a:rPr lang="en-US" altLang="zh-CN" dirty="0"/>
              <a:t>2013</a:t>
            </a:r>
            <a:r>
              <a:rPr lang="zh-CN" altLang="en-US" dirty="0"/>
              <a:t>年，</a:t>
            </a:r>
            <a:r>
              <a:rPr lang="en-US" altLang="zh-CN" dirty="0" err="1"/>
              <a:t>AlexNet</a:t>
            </a:r>
            <a:r>
              <a:rPr lang="zh-CN" altLang="en-US" dirty="0"/>
              <a:t>：第一个现代深度卷积网络模型，是深度学习技术在图像分类上取得真正突破的开端。</a:t>
            </a:r>
            <a:endParaRPr lang="en-US" altLang="zh-CN" dirty="0"/>
          </a:p>
          <a:p>
            <a:pPr lvl="2"/>
            <a:r>
              <a:rPr lang="en-US" altLang="zh-CN" dirty="0" err="1"/>
              <a:t>AlexNet</a:t>
            </a:r>
            <a:r>
              <a:rPr lang="zh-CN" altLang="en-US" dirty="0"/>
              <a:t>不用预训练和逐层训练，首次使用了很多现代深度网络的技术</a:t>
            </a:r>
            <a:endParaRPr lang="en-US" altLang="zh-CN" dirty="0"/>
          </a:p>
          <a:p>
            <a:pPr lvl="1"/>
            <a:endParaRPr lang="en-US" altLang="zh-CN" dirty="0"/>
          </a:p>
          <a:p>
            <a:pPr lvl="1"/>
            <a:r>
              <a:rPr lang="zh-CN" altLang="en-US" dirty="0"/>
              <a:t>随着大规模并行计算以及</a:t>
            </a:r>
            <a:r>
              <a:rPr lang="en-US" altLang="zh-CN" dirty="0"/>
              <a:t>GPU</a:t>
            </a:r>
            <a:r>
              <a:rPr lang="zh-CN" altLang="en-US" dirty="0"/>
              <a:t>设备的普及，计算机的计算能力得以大幅提高。此外，可供机器学习的数据规模也越来越大。在计算能力和数据规模的支持下，计算机已经可以训练大规模的人工神经网络。</a:t>
            </a:r>
            <a:endParaRPr lang="en-US"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深度学习革命</a:t>
            </a:r>
            <a:endParaRPr lang="zh-CN" altLang="en-US" dirty="0"/>
          </a:p>
        </p:txBody>
      </p:sp>
      <p:sp>
        <p:nvSpPr>
          <p:cNvPr id="3" name="内容占位符 2"/>
          <p:cNvSpPr>
            <a:spLocks noGrp="1"/>
          </p:cNvSpPr>
          <p:nvPr>
            <p:ph idx="1"/>
          </p:nvPr>
        </p:nvSpPr>
        <p:spPr/>
        <p:txBody>
          <a:bodyPr/>
          <a:lstStyle/>
          <a:p>
            <a:r>
              <a:rPr lang="en-US" altLang="zh-CN"/>
              <a:t>AI</a:t>
            </a:r>
            <a:r>
              <a:rPr lang="zh-CN" altLang="en-US"/>
              <a:t>领域</a:t>
            </a:r>
            <a:endParaRPr lang="en-US" altLang="zh-CN"/>
          </a:p>
          <a:p>
            <a:pPr lvl="1"/>
            <a:r>
              <a:rPr lang="zh-CN" altLang="en-US"/>
              <a:t>语音识别：可以使得词错误率从</a:t>
            </a:r>
            <a:r>
              <a:rPr lang="en-US" altLang="zh-CN"/>
              <a:t>1/4</a:t>
            </a:r>
            <a:r>
              <a:rPr lang="zh-CN" altLang="en-US"/>
              <a:t>下降到</a:t>
            </a:r>
            <a:r>
              <a:rPr lang="en-US" altLang="zh-CN"/>
              <a:t>1/8</a:t>
            </a:r>
          </a:p>
          <a:p>
            <a:pPr lvl="1"/>
            <a:r>
              <a:rPr lang="zh-CN" altLang="en-US"/>
              <a:t>计算机视觉：目标识别、图像分类等</a:t>
            </a:r>
          </a:p>
          <a:p>
            <a:pPr lvl="1"/>
            <a:r>
              <a:rPr lang="zh-CN" altLang="en-US"/>
              <a:t>自然语言处理：分布式表示、机器翻译、问题回答等</a:t>
            </a:r>
            <a:endParaRPr lang="en-US" altLang="zh-CN"/>
          </a:p>
          <a:p>
            <a:pPr lvl="1"/>
            <a:r>
              <a:rPr lang="zh-CN" altLang="en-US"/>
              <a:t>信息检索、社会化网络</a:t>
            </a:r>
          </a:p>
          <a:p>
            <a:endParaRPr lang="en-US" altLang="zh-CN"/>
          </a:p>
          <a:p>
            <a:r>
              <a:rPr lang="zh-CN" altLang="en-US"/>
              <a:t>三个</a:t>
            </a:r>
            <a:r>
              <a:rPr lang="en-US" altLang="zh-CN"/>
              <a:t>Deep</a:t>
            </a:r>
            <a:r>
              <a:rPr lang="zh-CN" altLang="en-US"/>
              <a:t>：</a:t>
            </a:r>
            <a:endParaRPr lang="en-US" altLang="zh-CN"/>
          </a:p>
          <a:p>
            <a:pPr lvl="1"/>
            <a:r>
              <a:rPr lang="en-US" altLang="zh-CN"/>
              <a:t>Deep Blue</a:t>
            </a:r>
          </a:p>
          <a:p>
            <a:pPr lvl="1"/>
            <a:r>
              <a:rPr lang="en-US" altLang="zh-CN"/>
              <a:t>Deep QA</a:t>
            </a:r>
          </a:p>
          <a:p>
            <a:pPr lvl="1"/>
            <a:r>
              <a:rPr lang="en-US" altLang="zh-CN"/>
              <a:t>Deep Learning</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a:t>Toronto </a:t>
            </a:r>
            <a:r>
              <a:rPr lang="zh-CN" altLang="en-US"/>
              <a:t>大学</a:t>
            </a:r>
            <a:endParaRPr lang="en-US" altLang="zh-CN"/>
          </a:p>
          <a:p>
            <a:pPr lvl="1"/>
            <a:r>
              <a:rPr lang="zh-CN" altLang="en-US"/>
              <a:t> </a:t>
            </a:r>
            <a:r>
              <a:rPr lang="en-US" altLang="zh-CN"/>
              <a:t>Hinton 75 </a:t>
            </a:r>
            <a:r>
              <a:rPr lang="zh-CN" altLang="en-US"/>
              <a:t>年 </a:t>
            </a:r>
            <a:r>
              <a:rPr lang="en-US" altLang="zh-CN"/>
              <a:t>Edinburgh </a:t>
            </a:r>
            <a:r>
              <a:rPr lang="zh-CN" altLang="en-US"/>
              <a:t>大学博士</a:t>
            </a:r>
          </a:p>
          <a:p>
            <a:r>
              <a:rPr lang="en-US" altLang="zh-CN"/>
              <a:t>NYU </a:t>
            </a:r>
          </a:p>
          <a:p>
            <a:pPr lvl="1"/>
            <a:r>
              <a:rPr lang="en-US" altLang="zh-CN"/>
              <a:t>Lecun (Now Facebook) 87 </a:t>
            </a:r>
            <a:r>
              <a:rPr lang="zh-CN" altLang="en-US"/>
              <a:t>年 </a:t>
            </a:r>
            <a:r>
              <a:rPr lang="en-US" altLang="zh-CN"/>
              <a:t>Hinton </a:t>
            </a:r>
            <a:r>
              <a:rPr lang="zh-CN" altLang="en-US"/>
              <a:t>博士后</a:t>
            </a:r>
          </a:p>
          <a:p>
            <a:r>
              <a:rPr lang="en-US" altLang="zh-CN"/>
              <a:t>Montreal</a:t>
            </a:r>
            <a:r>
              <a:rPr lang="zh-CN" altLang="en-US"/>
              <a:t>大学</a:t>
            </a:r>
            <a:endParaRPr lang="en-US" altLang="zh-CN"/>
          </a:p>
          <a:p>
            <a:pPr lvl="1"/>
            <a:r>
              <a:rPr lang="zh-CN" altLang="en-US"/>
              <a:t> </a:t>
            </a:r>
            <a:r>
              <a:rPr lang="en-US" altLang="zh-CN"/>
              <a:t>Bengio 91 </a:t>
            </a:r>
            <a:r>
              <a:rPr lang="zh-CN" altLang="en-US"/>
              <a:t>年 </a:t>
            </a:r>
            <a:r>
              <a:rPr lang="en-US" altLang="zh-CN"/>
              <a:t>M. Jordan </a:t>
            </a:r>
            <a:r>
              <a:rPr lang="zh-CN" altLang="en-US"/>
              <a:t>博士后</a:t>
            </a:r>
          </a:p>
          <a:p>
            <a:r>
              <a:rPr lang="en-US" altLang="zh-CN"/>
              <a:t>IDSIA </a:t>
            </a:r>
          </a:p>
          <a:p>
            <a:pPr lvl="1"/>
            <a:r>
              <a:rPr lang="en-US" altLang="zh-CN"/>
              <a:t>Jürgen Schmidhuber</a:t>
            </a:r>
            <a:endParaRPr lang="zh-CN" altLang="en-US" dirty="0"/>
          </a:p>
        </p:txBody>
      </p:sp>
      <p:sp>
        <p:nvSpPr>
          <p:cNvPr id="2" name="标题 1"/>
          <p:cNvSpPr>
            <a:spLocks noGrp="1"/>
          </p:cNvSpPr>
          <p:nvPr>
            <p:ph type="title"/>
          </p:nvPr>
        </p:nvSpPr>
        <p:spPr/>
        <p:txBody>
          <a:bodyPr/>
          <a:lstStyle/>
          <a:p>
            <a:r>
              <a:rPr lang="zh-CN" altLang="en-US"/>
              <a:t>早期的学术机构</a:t>
            </a:r>
            <a:endParaRPr lang="zh-CN" altLang="en-US" dirty="0"/>
          </a:p>
        </p:txBody>
      </p:sp>
      <p:sp>
        <p:nvSpPr>
          <p:cNvPr id="7" name="矩形 6"/>
          <p:cNvSpPr/>
          <p:nvPr/>
        </p:nvSpPr>
        <p:spPr>
          <a:xfrm>
            <a:off x="8229600" y="5105400"/>
            <a:ext cx="2082621" cy="369332"/>
          </a:xfrm>
          <a:prstGeom prst="rect">
            <a:avLst/>
          </a:prstGeom>
        </p:spPr>
        <p:txBody>
          <a:bodyPr wrap="none">
            <a:spAutoFit/>
          </a:bodyPr>
          <a:lstStyle/>
          <a:p>
            <a:r>
              <a:rPr lang="en-US" altLang="zh-CN" dirty="0"/>
              <a:t>2018</a:t>
            </a:r>
            <a:r>
              <a:rPr lang="zh-CN" altLang="en-US" dirty="0"/>
              <a:t>图灵奖获得者</a:t>
            </a:r>
          </a:p>
        </p:txBody>
      </p:sp>
      <p:sp>
        <p:nvSpPr>
          <p:cNvPr id="8" name="AutoShape 2" descr="“2018 turing award”的图片搜索结果"/>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052" name="Picture 4" descr="“2018 turing award aaai”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2057400"/>
            <a:ext cx="4724400" cy="265902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018 turing award aaai”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52438"/>
            <a:ext cx="12192000" cy="595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课后作业（自学）</a:t>
            </a:r>
          </a:p>
        </p:txBody>
      </p:sp>
      <p:sp>
        <p:nvSpPr>
          <p:cNvPr id="4" name="内容占位符 3"/>
          <p:cNvSpPr>
            <a:spLocks noGrp="1"/>
          </p:cNvSpPr>
          <p:nvPr>
            <p:ph idx="1"/>
          </p:nvPr>
        </p:nvSpPr>
        <p:spPr/>
        <p:txBody>
          <a:bodyPr/>
          <a:lstStyle/>
          <a:p>
            <a:r>
              <a:rPr lang="zh-CN" altLang="en-US" dirty="0"/>
              <a:t>复习数学知识</a:t>
            </a:r>
            <a:endParaRPr lang="en-US" altLang="zh-CN" dirty="0"/>
          </a:p>
          <a:p>
            <a:pPr lvl="1"/>
            <a:r>
              <a:rPr lang="zh-CN" altLang="en-US" dirty="0">
                <a:hlinkClick r:id="rId2"/>
              </a:rPr>
              <a:t>https://nndl.github.io/</a:t>
            </a:r>
            <a:r>
              <a:rPr lang="zh-CN" altLang="en-US" dirty="0"/>
              <a:t> 附录</a:t>
            </a:r>
            <a:r>
              <a:rPr lang="en-US" altLang="zh-CN" dirty="0"/>
              <a:t>《</a:t>
            </a:r>
            <a:r>
              <a:rPr lang="zh-CN" altLang="en-US" dirty="0"/>
              <a:t>数学基础</a:t>
            </a:r>
            <a:r>
              <a:rPr lang="en-US" altLang="zh-CN" dirty="0"/>
              <a:t>》</a:t>
            </a:r>
          </a:p>
          <a:p>
            <a:r>
              <a:rPr lang="zh-CN" altLang="en-US" dirty="0"/>
              <a:t>编程练习</a:t>
            </a:r>
            <a:endParaRPr lang="en-US" altLang="zh-CN" dirty="0"/>
          </a:p>
          <a:p>
            <a:pPr lvl="1"/>
            <a:r>
              <a:rPr lang="zh-CN" altLang="en-US" dirty="0"/>
              <a:t>熟悉基本的</a:t>
            </a:r>
            <a:r>
              <a:rPr lang="en-US" altLang="zh-CN" dirty="0" err="1"/>
              <a:t>numpy</a:t>
            </a:r>
            <a:r>
              <a:rPr lang="en-US" altLang="zh-CN" dirty="0"/>
              <a:t>, python, </a:t>
            </a:r>
            <a:r>
              <a:rPr lang="en-US" altLang="zh-CN" dirty="0" err="1"/>
              <a:t>pytorch</a:t>
            </a:r>
            <a:r>
              <a:rPr lang="zh-CN" altLang="en-US"/>
              <a:t>基本操作</a:t>
            </a:r>
            <a:endParaRPr lang="en-US" altLang="zh-CN" dirty="0"/>
          </a:p>
          <a:p>
            <a:pPr lvl="1"/>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NlZDM5OGFiMTg5MjU5NDBkZjM3Yjc4MGM4YTY5MT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IMING" val="|0.4"/>
</p:tagLst>
</file>

<file path=ppt/tags/tag5.xml><?xml version="1.0" encoding="utf-8"?>
<p:tagLst xmlns:a="http://schemas.openxmlformats.org/drawingml/2006/main" xmlns:r="http://schemas.openxmlformats.org/officeDocument/2006/relationships" xmlns:p="http://schemas.openxmlformats.org/presentationml/2006/main">
  <p:tag name="TIMING" val="|51.2"/>
</p:tagLst>
</file>

<file path=ppt/tags/tag6.xml><?xml version="1.0" encoding="utf-8"?>
<p:tagLst xmlns:a="http://schemas.openxmlformats.org/drawingml/2006/main" xmlns:r="http://schemas.openxmlformats.org/officeDocument/2006/relationships" xmlns:p="http://schemas.openxmlformats.org/presentationml/2006/main">
  <p:tag name="TIMING" val="|50.9|30.5"/>
</p:tagLst>
</file>

<file path=ppt/tags/tag7.xml><?xml version="1.0" encoding="utf-8"?>
<p:tagLst xmlns:a="http://schemas.openxmlformats.org/drawingml/2006/main" xmlns:r="http://schemas.openxmlformats.org/officeDocument/2006/relationships" xmlns:p="http://schemas.openxmlformats.org/presentationml/2006/main">
  <p:tag name="TIMING" val="|8.1|7.5|16.3|7.2|1|15.7|3|24.9|1.4|0.5|0.3|8.7|6.9"/>
</p:tagLst>
</file>

<file path=ppt/tags/tag8.xml><?xml version="1.0" encoding="utf-8"?>
<p:tagLst xmlns:a="http://schemas.openxmlformats.org/drawingml/2006/main" xmlns:r="http://schemas.openxmlformats.org/officeDocument/2006/relationships" xmlns:p="http://schemas.openxmlformats.org/presentationml/2006/main">
  <p:tag name="TIMING" val="|91.2|33"/>
</p:tagLst>
</file>

<file path=ppt/tags/tag9.xml><?xml version="1.0" encoding="utf-8"?>
<p:tagLst xmlns:a="http://schemas.openxmlformats.org/drawingml/2006/main" xmlns:r="http://schemas.openxmlformats.org/officeDocument/2006/relationships" xmlns:p="http://schemas.openxmlformats.org/presentationml/2006/main">
  <p:tag name="TIMING" val="|22.1|2.3|1.5"/>
</p:tagLst>
</file>

<file path=ppt/tags/tag10.xml><?xml version="1.0" encoding="utf-8"?>
<p:tagLst xmlns:a="http://schemas.openxmlformats.org/drawingml/2006/main" xmlns:r="http://schemas.openxmlformats.org/officeDocument/2006/relationships" xmlns:p="http://schemas.openxmlformats.org/presentationml/2006/main">
  <p:tag name="TIMING" val="|20.9|30.3|4.9"/>
</p:tagLst>
</file>

<file path=ppt/tags/tag11.xml><?xml version="1.0" encoding="utf-8"?>
<p:tagLst xmlns:a="http://schemas.openxmlformats.org/drawingml/2006/main" xmlns:r="http://schemas.openxmlformats.org/officeDocument/2006/relationships" xmlns:p="http://schemas.openxmlformats.org/presentationml/2006/main">
  <p:tag name="TIMING" val="|15.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TIMING" val="|7.8|28.2|10.5|1.7|81.6"/>
</p:tagLst>
</file>

<file path=ppt/tags/tag15.xml><?xml version="1.0" encoding="utf-8"?>
<p:tagLst xmlns:a="http://schemas.openxmlformats.org/drawingml/2006/main" xmlns:r="http://schemas.openxmlformats.org/officeDocument/2006/relationships" xmlns:p="http://schemas.openxmlformats.org/presentationml/2006/main">
  <p:tag name="TIMING" val="|29.1"/>
</p:tagLst>
</file>

<file path=ppt/tags/tag16.xml><?xml version="1.0" encoding="utf-8"?>
<p:tagLst xmlns:a="http://schemas.openxmlformats.org/drawingml/2006/main" xmlns:r="http://schemas.openxmlformats.org/officeDocument/2006/relationships" xmlns:p="http://schemas.openxmlformats.org/presentationml/2006/main">
  <p:tag name="TIMING" val="|54.6"/>
</p:tagLst>
</file>

<file path=ppt/tags/tag17.xml><?xml version="1.0" encoding="utf-8"?>
<p:tagLst xmlns:a="http://schemas.openxmlformats.org/drawingml/2006/main" xmlns:r="http://schemas.openxmlformats.org/officeDocument/2006/relationships" xmlns:p="http://schemas.openxmlformats.org/presentationml/2006/main">
  <p:tag name="TIMING" val="|60.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emplate>
  <TotalTime>27</TotalTime>
  <Words>8057</Words>
  <Application>Microsoft Office PowerPoint</Application>
  <PresentationFormat>宽屏</PresentationFormat>
  <Paragraphs>640</Paragraphs>
  <Slides>61</Slides>
  <Notes>50</Notes>
  <HiddenSlides>4</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77" baseType="lpstr">
      <vt:lpstr>等线</vt:lpstr>
      <vt:lpstr>黑体</vt:lpstr>
      <vt:lpstr>华文楷体</vt:lpstr>
      <vt:lpstr>KaiTi</vt:lpstr>
      <vt:lpstr>宋体</vt:lpstr>
      <vt:lpstr>Arial</vt:lpstr>
      <vt:lpstr>Calibri</vt:lpstr>
      <vt:lpstr>Cambria</vt:lpstr>
      <vt:lpstr>Cambria Math</vt:lpstr>
      <vt:lpstr>Helvetica</vt:lpstr>
      <vt:lpstr>Times New Roman</vt:lpstr>
      <vt:lpstr>Times New Roman Bold</vt:lpstr>
      <vt:lpstr>Wingdings</vt:lpstr>
      <vt:lpstr>Wingdings 3</vt:lpstr>
      <vt:lpstr>my</vt:lpstr>
      <vt:lpstr>方程式</vt:lpstr>
      <vt:lpstr>1. 绪论</vt:lpstr>
      <vt:lpstr>授课老师介绍</vt:lpstr>
      <vt:lpstr>关于本课程</vt:lpstr>
      <vt:lpstr>更详细的课程概括</vt:lpstr>
      <vt:lpstr>路线图</vt:lpstr>
      <vt:lpstr>课程大纲</vt:lpstr>
      <vt:lpstr>预备知识</vt:lpstr>
      <vt:lpstr>理论课推荐教材</vt:lpstr>
      <vt:lpstr>实践推荐教材</vt:lpstr>
      <vt:lpstr>其他参考资料</vt:lpstr>
      <vt:lpstr>其他参考资料</vt:lpstr>
      <vt:lpstr>顶会论文</vt:lpstr>
      <vt:lpstr>常用的深度学习框架</vt:lpstr>
      <vt:lpstr>理论+实践课程教学说明</vt:lpstr>
      <vt:lpstr>成绩考核</vt:lpstr>
      <vt:lpstr>1.1 人工智能</vt:lpstr>
      <vt:lpstr>图灵测试</vt:lpstr>
      <vt:lpstr>人工智能</vt:lpstr>
      <vt:lpstr>人工智能的研究领域</vt:lpstr>
      <vt:lpstr>发展历史</vt:lpstr>
      <vt:lpstr>1.2 如何开发一个人工智能系统</vt:lpstr>
      <vt:lpstr>如何开发一个人工智能系统？</vt:lpstr>
      <vt:lpstr>What is the Rule?</vt:lpstr>
      <vt:lpstr>机器学习 ≈ 构建一个映射函数</vt:lpstr>
      <vt:lpstr>芒果机器学习</vt:lpstr>
      <vt:lpstr>芒果机器学习</vt:lpstr>
      <vt:lpstr>如何开发一个人工智能系统？</vt:lpstr>
      <vt:lpstr>1.3 表示学习</vt:lpstr>
      <vt:lpstr>机器学习</vt:lpstr>
      <vt:lpstr>语义鸿沟：人工智能的挑战之一</vt:lpstr>
      <vt:lpstr>什么是好的数据表示？</vt:lpstr>
      <vt:lpstr>表示形式</vt:lpstr>
      <vt:lpstr>一个生活中的例子：颜色</vt:lpstr>
      <vt:lpstr>语义表示</vt:lpstr>
      <vt:lpstr>词嵌入（Word Embeddings）</vt:lpstr>
      <vt:lpstr>表示学习</vt:lpstr>
      <vt:lpstr>传统的特征提取 VS 表示学习</vt:lpstr>
      <vt:lpstr>1.4 深度学习</vt:lpstr>
      <vt:lpstr>表示学习与深度学习</vt:lpstr>
      <vt:lpstr>深度学习（Deep Learning）</vt:lpstr>
      <vt:lpstr>深度学习</vt:lpstr>
      <vt:lpstr>深度学习的数学描述</vt:lpstr>
      <vt:lpstr>1.5 神经网络</vt:lpstr>
      <vt:lpstr>生物神经元</vt:lpstr>
      <vt:lpstr>神经网络如何学习？</vt:lpstr>
      <vt:lpstr>人工神经元</vt:lpstr>
      <vt:lpstr>人工神经网络</vt:lpstr>
      <vt:lpstr>人工神经网络</vt:lpstr>
      <vt:lpstr>神经网络</vt:lpstr>
      <vt:lpstr>如果解决贡献度分配问题？</vt:lpstr>
      <vt:lpstr>1.6 神经网络发展史</vt:lpstr>
      <vt:lpstr>神经网络发展史</vt:lpstr>
      <vt:lpstr>神经网络发展史</vt:lpstr>
      <vt:lpstr>神经网络发展史</vt:lpstr>
      <vt:lpstr>神经网络发展史</vt:lpstr>
      <vt:lpstr>神经网络发展史</vt:lpstr>
      <vt:lpstr>深度学习革命</vt:lpstr>
      <vt:lpstr>早期的学术机构</vt:lpstr>
      <vt:lpstr>PowerPoint 演示文稿</vt:lpstr>
      <vt:lpstr>PowerPoint 演示文稿</vt:lpstr>
      <vt:lpstr>课后作业（自学）</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袁</cp:lastModifiedBy>
  <cp:revision>2344</cp:revision>
  <dcterms:created xsi:type="dcterms:W3CDTF">2024-09-05T16:05:45Z</dcterms:created>
  <dcterms:modified xsi:type="dcterms:W3CDTF">2025-09-04T13:12:07Z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AC645D6F61CDD2CF206AD9666720AD9F_42</vt:lpwstr>
  </property>
  <property fmtid="{D5CDD505-2E9C-101B-9397-08002B2CF9AE}" pid="3" name="KSOProductBuildVer">
    <vt:lpwstr>2052-6.10.1.8873</vt:lpwstr>
  </property>
</Properties>
</file>