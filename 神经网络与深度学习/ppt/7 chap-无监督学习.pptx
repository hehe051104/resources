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4" r:id="rId1"/>
  </p:sldMasterIdLst>
  <p:notesMasterIdLst>
    <p:notesMasterId r:id="rId49"/>
  </p:notesMasterIdLst>
  <p:sldIdLst>
    <p:sldId id="256" r:id="rId2"/>
    <p:sldId id="473" r:id="rId3"/>
    <p:sldId id="499" r:id="rId4"/>
    <p:sldId id="450" r:id="rId5"/>
    <p:sldId id="500" r:id="rId6"/>
    <p:sldId id="501" r:id="rId7"/>
    <p:sldId id="452" r:id="rId8"/>
    <p:sldId id="502" r:id="rId9"/>
    <p:sldId id="503" r:id="rId10"/>
    <p:sldId id="504" r:id="rId11"/>
    <p:sldId id="505" r:id="rId12"/>
    <p:sldId id="506" r:id="rId13"/>
    <p:sldId id="507" r:id="rId14"/>
    <p:sldId id="508" r:id="rId15"/>
    <p:sldId id="509" r:id="rId16"/>
    <p:sldId id="510" r:id="rId17"/>
    <p:sldId id="511" r:id="rId18"/>
    <p:sldId id="518" r:id="rId19"/>
    <p:sldId id="512" r:id="rId20"/>
    <p:sldId id="513" r:id="rId21"/>
    <p:sldId id="453" r:id="rId22"/>
    <p:sldId id="520" r:id="rId23"/>
    <p:sldId id="521" r:id="rId24"/>
    <p:sldId id="484" r:id="rId25"/>
    <p:sldId id="490" r:id="rId26"/>
    <p:sldId id="488" r:id="rId27"/>
    <p:sldId id="460" r:id="rId28"/>
    <p:sldId id="449" r:id="rId29"/>
    <p:sldId id="522" r:id="rId30"/>
    <p:sldId id="523" r:id="rId31"/>
    <p:sldId id="524" r:id="rId32"/>
    <p:sldId id="461" r:id="rId33"/>
    <p:sldId id="475" r:id="rId34"/>
    <p:sldId id="476" r:id="rId35"/>
    <p:sldId id="464" r:id="rId36"/>
    <p:sldId id="467" r:id="rId37"/>
    <p:sldId id="469" r:id="rId38"/>
    <p:sldId id="470" r:id="rId39"/>
    <p:sldId id="472" r:id="rId40"/>
    <p:sldId id="493" r:id="rId41"/>
    <p:sldId id="494" r:id="rId42"/>
    <p:sldId id="496" r:id="rId43"/>
    <p:sldId id="358" r:id="rId44"/>
    <p:sldId id="525" r:id="rId45"/>
    <p:sldId id="526" r:id="rId46"/>
    <p:sldId id="483" r:id="rId47"/>
    <p:sldId id="447" r:id="rId4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74" autoAdjust="0"/>
    <p:restoredTop sz="80433" autoAdjust="0"/>
  </p:normalViewPr>
  <p:slideViewPr>
    <p:cSldViewPr>
      <p:cViewPr varScale="1">
        <p:scale>
          <a:sx n="128" d="100"/>
          <a:sy n="128" d="100"/>
        </p:scale>
        <p:origin x="1816" y="64"/>
      </p:cViewPr>
      <p:guideLst>
        <p:guide orient="horz" pos="2160"/>
        <p:guide pos="384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683E5292-C197-4B29-8ABD-C7AEB5E0B154}" type="datetimeFigureOut">
              <a:rPr lang="en-US" altLang="zh-CN"/>
              <a:pPr>
                <a:defRPr/>
              </a:pPr>
              <a:t>11/6/2025</a:t>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B4C119E0-CEE4-4FF8-83B2-DC856A2C17CC}" type="slidenum">
              <a:rPr lang="en-US" altLang="zh-CN"/>
              <a:pPr>
                <a:defRPr/>
              </a:pPr>
              <a:t>‹#›</a:t>
            </a:fld>
            <a:endParaRPr lang="en-US" altLang="zh-CN"/>
          </a:p>
        </p:txBody>
      </p:sp>
    </p:spTree>
    <p:extLst>
      <p:ext uri="{BB962C8B-B14F-4D97-AF65-F5344CB8AC3E}">
        <p14:creationId xmlns:p14="http://schemas.microsoft.com/office/powerpoint/2010/main" val="6448963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1</a:t>
            </a:fld>
            <a:endParaRPr lang="en-US" altLang="zh-CN"/>
          </a:p>
        </p:txBody>
      </p:sp>
    </p:spTree>
    <p:extLst>
      <p:ext uri="{BB962C8B-B14F-4D97-AF65-F5344CB8AC3E}">
        <p14:creationId xmlns:p14="http://schemas.microsoft.com/office/powerpoint/2010/main" val="909393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4</a:t>
            </a:fld>
            <a:endParaRPr lang="en-US" altLang="zh-CN"/>
          </a:p>
        </p:txBody>
      </p:sp>
    </p:spTree>
    <p:extLst>
      <p:ext uri="{BB962C8B-B14F-4D97-AF65-F5344CB8AC3E}">
        <p14:creationId xmlns:p14="http://schemas.microsoft.com/office/powerpoint/2010/main" val="920272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7</a:t>
            </a:fld>
            <a:endParaRPr lang="en-US" altLang="zh-CN"/>
          </a:p>
        </p:txBody>
      </p:sp>
    </p:spTree>
    <p:extLst>
      <p:ext uri="{BB962C8B-B14F-4D97-AF65-F5344CB8AC3E}">
        <p14:creationId xmlns:p14="http://schemas.microsoft.com/office/powerpoint/2010/main" val="602966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曼哈顿举例：</a:t>
            </a:r>
            <a:r>
              <a:rPr lang="zh-CN" altLang="en-US" b="0" i="0" dirty="0">
                <a:effectLst/>
                <a:latin typeface="PingFang SC"/>
              </a:rPr>
              <a:t>计算棋盘上两个位置的移动步数（车只能横向或纵向走）。</a:t>
            </a:r>
            <a:endParaRPr lang="en-US" altLang="zh-CN" b="0" i="0" dirty="0">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10</a:t>
            </a:fld>
            <a:endParaRPr lang="en-US" altLang="zh-CN"/>
          </a:p>
        </p:txBody>
      </p:sp>
    </p:spTree>
    <p:extLst>
      <p:ext uri="{BB962C8B-B14F-4D97-AF65-F5344CB8AC3E}">
        <p14:creationId xmlns:p14="http://schemas.microsoft.com/office/powerpoint/2010/main" val="4254670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K=?</a:t>
            </a:r>
          </a:p>
          <a:p>
            <a:r>
              <a:rPr kumimoji="1" lang="en-US" altLang="zh-CN" dirty="0"/>
              <a:t>Similarity?</a:t>
            </a:r>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12</a:t>
            </a:fld>
            <a:endParaRPr lang="en-US" altLang="zh-CN"/>
          </a:p>
        </p:txBody>
      </p:sp>
    </p:spTree>
    <p:extLst>
      <p:ext uri="{BB962C8B-B14F-4D97-AF65-F5344CB8AC3E}">
        <p14:creationId xmlns:p14="http://schemas.microsoft.com/office/powerpoint/2010/main" val="1132566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17</a:t>
            </a:fld>
            <a:endParaRPr lang="en-US" altLang="zh-CN"/>
          </a:p>
        </p:txBody>
      </p:sp>
    </p:spTree>
    <p:extLst>
      <p:ext uri="{BB962C8B-B14F-4D97-AF65-F5344CB8AC3E}">
        <p14:creationId xmlns:p14="http://schemas.microsoft.com/office/powerpoint/2010/main" val="2055175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effectLst/>
                <a:latin typeface="PingFang SC"/>
              </a:rPr>
              <a:t>​</a:t>
            </a:r>
            <a:r>
              <a:rPr lang="zh-CN" altLang="en-US" b="1" i="0" dirty="0">
                <a:effectLst/>
                <a:latin typeface="PingFang SC"/>
              </a:rPr>
              <a:t>​维度灾难（</a:t>
            </a:r>
            <a:r>
              <a:rPr lang="en-US" altLang="zh-CN" b="1" i="0" dirty="0">
                <a:effectLst/>
                <a:latin typeface="PingFang SC"/>
              </a:rPr>
              <a:t>Curse of Dimensionality</a:t>
            </a:r>
            <a:r>
              <a:rPr lang="zh-CN" altLang="en-US" b="1" i="0" dirty="0">
                <a:effectLst/>
                <a:latin typeface="PingFang SC"/>
              </a:rPr>
              <a:t>）​</a:t>
            </a:r>
            <a:r>
              <a:rPr lang="zh-CN" altLang="en-US" b="0" i="0" dirty="0">
                <a:effectLst/>
                <a:latin typeface="PingFang SC"/>
              </a:rPr>
              <a:t>​是机器学习中描述高维数据带来的诸多挑战的术语，由理查德</a:t>
            </a:r>
            <a:r>
              <a:rPr lang="en-US" altLang="zh-CN" b="0" i="0" dirty="0">
                <a:effectLst/>
                <a:latin typeface="PingFang SC"/>
              </a:rPr>
              <a:t>·</a:t>
            </a:r>
            <a:r>
              <a:rPr lang="zh-CN" altLang="en-US" b="0" i="0" dirty="0">
                <a:effectLst/>
                <a:latin typeface="PingFang SC"/>
              </a:rPr>
              <a:t>贝尔曼（</a:t>
            </a:r>
            <a:r>
              <a:rPr lang="en-US" altLang="zh-CN" b="0" i="0" dirty="0">
                <a:effectLst/>
                <a:latin typeface="PingFang SC"/>
              </a:rPr>
              <a:t>Richard Bellman</a:t>
            </a:r>
            <a:r>
              <a:rPr lang="zh-CN" altLang="en-US" b="0" i="0" dirty="0">
                <a:effectLst/>
                <a:latin typeface="PingFang SC"/>
              </a:rPr>
              <a:t>）提出。随着数据维度的增加，数据分布和算法性能会出现一系列反直觉的问题。</a:t>
            </a:r>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24</a:t>
            </a:fld>
            <a:endParaRPr lang="en-US" altLang="zh-CN"/>
          </a:p>
        </p:txBody>
      </p:sp>
    </p:spTree>
    <p:extLst>
      <p:ext uri="{BB962C8B-B14F-4D97-AF65-F5344CB8AC3E}">
        <p14:creationId xmlns:p14="http://schemas.microsoft.com/office/powerpoint/2010/main" val="1783769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25</a:t>
            </a:fld>
            <a:endParaRPr lang="en-US" altLang="zh-CN"/>
          </a:p>
        </p:txBody>
      </p:sp>
    </p:spTree>
    <p:extLst>
      <p:ext uri="{BB962C8B-B14F-4D97-AF65-F5344CB8AC3E}">
        <p14:creationId xmlns:p14="http://schemas.microsoft.com/office/powerpoint/2010/main" val="3933389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000000"/>
                </a:solidFill>
                <a:effectLst/>
                <a:latin typeface="-apple-system"/>
              </a:rPr>
              <a:t>大部分神经元（特征）的输出都是“</a:t>
            </a:r>
            <a:r>
              <a:rPr lang="en-US" altLang="zh-CN" b="0" i="0" dirty="0">
                <a:solidFill>
                  <a:srgbClr val="000000"/>
                </a:solidFill>
                <a:effectLst/>
                <a:latin typeface="-apple-system"/>
              </a:rPr>
              <a:t>0”</a:t>
            </a:r>
            <a:r>
              <a:rPr lang="zh-CN" altLang="en-US" b="0" i="0" dirty="0">
                <a:solidFill>
                  <a:srgbClr val="000000"/>
                </a:solidFill>
                <a:effectLst/>
                <a:latin typeface="-apple-system"/>
              </a:rPr>
              <a:t>或者接近</a:t>
            </a:r>
            <a:r>
              <a:rPr lang="en-US" altLang="zh-CN" b="0" i="0" dirty="0">
                <a:solidFill>
                  <a:srgbClr val="000000"/>
                </a:solidFill>
                <a:effectLst/>
                <a:latin typeface="-apple-system"/>
              </a:rPr>
              <a:t>0</a:t>
            </a:r>
            <a:r>
              <a:rPr lang="zh-CN" altLang="en-US" b="0" i="0" dirty="0">
                <a:solidFill>
                  <a:srgbClr val="000000"/>
                </a:solidFill>
                <a:effectLst/>
                <a:latin typeface="-apple-system"/>
              </a:rPr>
              <a:t>，整个系统看起来非常“稀疏”</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27</a:t>
            </a:fld>
            <a:endParaRPr lang="en-US" altLang="zh-CN"/>
          </a:p>
        </p:txBody>
      </p:sp>
    </p:spTree>
    <p:extLst>
      <p:ext uri="{BB962C8B-B14F-4D97-AF65-F5344CB8AC3E}">
        <p14:creationId xmlns:p14="http://schemas.microsoft.com/office/powerpoint/2010/main" val="2506834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191B1F"/>
              </a:solidFill>
              <a:effectLst/>
              <a:highlight>
                <a:srgbClr val="FFFFFF"/>
              </a:highlight>
              <a:latin typeface="-apple-system"/>
            </a:endParaRP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28</a:t>
            </a:fld>
            <a:endParaRPr lang="en-US" altLang="zh-CN"/>
          </a:p>
        </p:txBody>
      </p:sp>
    </p:spTree>
    <p:extLst>
      <p:ext uri="{BB962C8B-B14F-4D97-AF65-F5344CB8AC3E}">
        <p14:creationId xmlns:p14="http://schemas.microsoft.com/office/powerpoint/2010/main" val="185051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29</a:t>
            </a:fld>
            <a:endParaRPr lang="en-US" altLang="zh-CN"/>
          </a:p>
        </p:txBody>
      </p:sp>
    </p:spTree>
    <p:extLst>
      <p:ext uri="{BB962C8B-B14F-4D97-AF65-F5344CB8AC3E}">
        <p14:creationId xmlns:p14="http://schemas.microsoft.com/office/powerpoint/2010/main" val="1243150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effectLst/>
                <a:latin typeface="SourceHanSerifCN-Light-Identity-H"/>
              </a:rPr>
              <a:t>从某个未知分布中独立抽取的</a:t>
            </a:r>
            <a:r>
              <a:rPr lang="zh-CN" altLang="en-US" sz="1800" dirty="0">
                <a:effectLst/>
                <a:latin typeface="STIXTwoMath-Identity-H"/>
              </a:rPr>
              <a:t>𝑁</a:t>
            </a:r>
            <a:r>
              <a:rPr lang="zh-CN" altLang="en-US" sz="1800" dirty="0">
                <a:effectLst/>
                <a:latin typeface="SourceHanSerifCN-Light-Identity-H"/>
              </a:rPr>
              <a:t>个训练样本</a:t>
            </a:r>
            <a:r>
              <a:rPr lang="zh-CN" altLang="en-US" sz="1800" dirty="0">
                <a:effectLst/>
                <a:latin typeface="FZSSJW--GB1-0"/>
              </a:rPr>
              <a:t>，</a:t>
            </a:r>
            <a:r>
              <a:rPr lang="zh-CN" altLang="en-US" sz="1800" dirty="0">
                <a:effectLst/>
                <a:latin typeface="SourceHanSerifCN-Light-Identity-H"/>
              </a:rPr>
              <a:t>假设这些样本服从一个概率分布函数 </a:t>
            </a:r>
            <a:r>
              <a:rPr lang="zh-CN" altLang="en-US" sz="1800" dirty="0">
                <a:effectLst/>
                <a:latin typeface="STIXTwoMath-Identity-H"/>
              </a:rPr>
              <a:t>𝑝</a:t>
            </a:r>
            <a:r>
              <a:rPr lang="en-US" altLang="zh-CN" sz="1800" dirty="0">
                <a:effectLst/>
                <a:latin typeface="STIXTwoMath-Identity-H"/>
              </a:rPr>
              <a:t>(𝒙; 𝜃)</a:t>
            </a:r>
            <a:r>
              <a:rPr lang="zh-CN" altLang="en-US" sz="1800" dirty="0">
                <a:effectLst/>
                <a:latin typeface="FZSSJW--GB1-0"/>
              </a:rPr>
              <a:t>，</a:t>
            </a:r>
            <a:r>
              <a:rPr lang="zh-CN" altLang="en-US" sz="1800" dirty="0">
                <a:effectLst/>
                <a:latin typeface="SourceHanSerifCN-Light-Identity-H"/>
              </a:rPr>
              <a:t>其对数似然函数为</a:t>
            </a:r>
            <a:r>
              <a:rPr lang="en-US" altLang="zh-CN" sz="1800" dirty="0">
                <a:effectLst/>
                <a:latin typeface="SourceHanSerifCN-Light-Identity-H"/>
              </a:rPr>
              <a:t>:…</a:t>
            </a: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800" dirty="0">
                <a:effectLst/>
                <a:latin typeface="SourceHanSerifCN-Light-Identity-H"/>
              </a:rPr>
              <a:t>使用</a:t>
            </a:r>
            <a:r>
              <a:rPr lang="zh-CN" altLang="en-US" sz="1800" u="sng" dirty="0">
                <a:solidFill>
                  <a:srgbClr val="C93333"/>
                </a:solidFill>
                <a:effectLst/>
                <a:latin typeface="SourceHanSerifCN-Light-Identity-H"/>
              </a:rPr>
              <a:t>最大似然估计</a:t>
            </a:r>
            <a:r>
              <a:rPr lang="zh-CN" altLang="en-US" sz="1800" b="1" u="sng" dirty="0">
                <a:effectLst/>
                <a:latin typeface="SourceHanSerifCN-Light-Identity-H"/>
              </a:rPr>
              <a:t>来寻找参数</a:t>
            </a:r>
            <a:r>
              <a:rPr lang="zh-CN" altLang="en-US" sz="1800" b="1" u="sng" dirty="0">
                <a:effectLst/>
                <a:latin typeface="STIXTwoMath-Identity-H"/>
              </a:rPr>
              <a:t>𝜃 </a:t>
            </a:r>
            <a:r>
              <a:rPr lang="zh-CN" altLang="en-US" sz="1800" dirty="0">
                <a:effectLst/>
                <a:latin typeface="SourceHanSerifCN-Light-Identity-H"/>
              </a:rPr>
              <a:t>使得</a:t>
            </a:r>
            <a:r>
              <a:rPr lang="en-US" altLang="zh-CN" sz="1800" dirty="0">
                <a:effectLst/>
                <a:latin typeface="STIXTwoText-Identity-H"/>
              </a:rPr>
              <a:t>log</a:t>
            </a:r>
            <a:r>
              <a:rPr lang="en-US" altLang="zh-CN" sz="1800" dirty="0">
                <a:effectLst/>
                <a:latin typeface="STIXTwoMath-Identity-H"/>
              </a:rPr>
              <a:t>𝑝(𝒟;𝜃)</a:t>
            </a:r>
            <a:r>
              <a:rPr lang="zh-CN" altLang="en-US" sz="1800" dirty="0">
                <a:effectLst/>
                <a:latin typeface="SourceHanSerifCN-Light-Identity-H"/>
              </a:rPr>
              <a:t>最大</a:t>
            </a:r>
            <a:r>
              <a:rPr lang="en-US" altLang="zh-CN" sz="1800" dirty="0">
                <a:effectLst/>
                <a:latin typeface="FZSSJW--GB1-0"/>
              </a:rPr>
              <a:t>.</a:t>
            </a:r>
            <a:r>
              <a:rPr lang="zh-CN" altLang="en-US" sz="1800" dirty="0">
                <a:effectLst/>
                <a:latin typeface="SourceHanSerifCN-Light-Identity-H"/>
              </a:rPr>
              <a:t>这样参数估计问题就转化为</a:t>
            </a:r>
            <a:r>
              <a:rPr lang="zh-CN" altLang="en-US" sz="1800" u="sng" dirty="0">
                <a:effectLst/>
                <a:latin typeface="SourceHanSerifCN-Light-Identity-H"/>
              </a:rPr>
              <a:t>最优化</a:t>
            </a:r>
            <a:r>
              <a:rPr lang="zh-CN" altLang="en-US" sz="1800" dirty="0">
                <a:effectLst/>
                <a:latin typeface="SourceHanSerifCN-Light-Identity-H"/>
              </a:rPr>
              <a:t>问题</a:t>
            </a:r>
            <a:r>
              <a:rPr lang="en-US" altLang="zh-CN" sz="1800" dirty="0">
                <a:effectLst/>
                <a:latin typeface="FZSSJW--GB1-0"/>
              </a:rPr>
              <a: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800" dirty="0">
              <a:effectLst/>
              <a:latin typeface="FZSSJW--GB1-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28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28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33</a:t>
            </a:fld>
            <a:endParaRPr lang="en-US" altLang="zh-CN"/>
          </a:p>
        </p:txBody>
      </p:sp>
    </p:spTree>
    <p:extLst>
      <p:ext uri="{BB962C8B-B14F-4D97-AF65-F5344CB8AC3E}">
        <p14:creationId xmlns:p14="http://schemas.microsoft.com/office/powerpoint/2010/main" val="609291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34</a:t>
            </a:fld>
            <a:endParaRPr lang="en-US" altLang="zh-CN"/>
          </a:p>
        </p:txBody>
      </p:sp>
    </p:spTree>
    <p:extLst>
      <p:ext uri="{BB962C8B-B14F-4D97-AF65-F5344CB8AC3E}">
        <p14:creationId xmlns:p14="http://schemas.microsoft.com/office/powerpoint/2010/main" val="36431857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M</a:t>
            </a:r>
            <a:r>
              <a:rPr kumimoji="1" lang="zh-CN" altLang="en-US" dirty="0"/>
              <a:t>取多大</a:t>
            </a:r>
            <a:r>
              <a:rPr kumimoji="1" lang="en-US" altLang="zh-CN" dirty="0"/>
              <a:t>?</a:t>
            </a:r>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37</a:t>
            </a:fld>
            <a:endParaRPr lang="en-US" altLang="zh-CN"/>
          </a:p>
        </p:txBody>
      </p:sp>
    </p:spTree>
    <p:extLst>
      <p:ext uri="{BB962C8B-B14F-4D97-AF65-F5344CB8AC3E}">
        <p14:creationId xmlns:p14="http://schemas.microsoft.com/office/powerpoint/2010/main" val="1725441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38</a:t>
            </a:fld>
            <a:endParaRPr lang="en-US" altLang="zh-CN"/>
          </a:p>
        </p:txBody>
      </p:sp>
    </p:spTree>
    <p:extLst>
      <p:ext uri="{BB962C8B-B14F-4D97-AF65-F5344CB8AC3E}">
        <p14:creationId xmlns:p14="http://schemas.microsoft.com/office/powerpoint/2010/main" val="1828135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1" i="0" dirty="0">
              <a:solidFill>
                <a:srgbClr val="191B1F"/>
              </a:solidFill>
              <a:effectLst/>
              <a:highlight>
                <a:srgbClr val="FFFFFF"/>
              </a:highlight>
              <a:latin typeface="-apple-system"/>
            </a:endParaRP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40</a:t>
            </a:fld>
            <a:endParaRPr lang="en-US" altLang="zh-CN"/>
          </a:p>
        </p:txBody>
      </p:sp>
    </p:spTree>
    <p:extLst>
      <p:ext uri="{BB962C8B-B14F-4D97-AF65-F5344CB8AC3E}">
        <p14:creationId xmlns:p14="http://schemas.microsoft.com/office/powerpoint/2010/main" val="9745570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91B1F"/>
                </a:solidFill>
                <a:effectLst/>
                <a:highlight>
                  <a:srgbClr val="FFFFFF"/>
                </a:highlight>
                <a:latin typeface="-apple-system"/>
              </a:rPr>
              <a:t>图中有俩类，一个是</a:t>
            </a:r>
            <a:r>
              <a:rPr lang="zh-CN" altLang="en-US" b="1" i="0" dirty="0">
                <a:solidFill>
                  <a:srgbClr val="191B1F"/>
                </a:solidFill>
                <a:effectLst/>
                <a:highlight>
                  <a:srgbClr val="FFFFFF"/>
                </a:highlight>
                <a:latin typeface="-apple-system"/>
              </a:rPr>
              <a:t>黑色的圆点</a:t>
            </a:r>
            <a:r>
              <a:rPr lang="zh-CN" altLang="en-US" b="0" i="0" dirty="0">
                <a:solidFill>
                  <a:srgbClr val="191B1F"/>
                </a:solidFill>
                <a:effectLst/>
                <a:highlight>
                  <a:srgbClr val="FFFFFF"/>
                </a:highlight>
                <a:latin typeface="-apple-system"/>
              </a:rPr>
              <a:t>，一个是</a:t>
            </a:r>
            <a:r>
              <a:rPr lang="zh-CN" altLang="en-US" b="1" i="0" dirty="0">
                <a:solidFill>
                  <a:srgbClr val="191B1F"/>
                </a:solidFill>
                <a:effectLst/>
                <a:highlight>
                  <a:srgbClr val="FFFFFF"/>
                </a:highlight>
                <a:latin typeface="-apple-system"/>
              </a:rPr>
              <a:t>蓝色的长方形</a:t>
            </a:r>
            <a:r>
              <a:rPr lang="zh-CN" altLang="en-US" b="0" i="0" dirty="0">
                <a:solidFill>
                  <a:srgbClr val="191B1F"/>
                </a:solidFill>
                <a:effectLst/>
                <a:highlight>
                  <a:srgbClr val="FFFFFF"/>
                </a:highlight>
                <a:latin typeface="-apple-system"/>
              </a:rPr>
              <a:t>，现在我们的待分类点是</a:t>
            </a:r>
            <a:r>
              <a:rPr lang="zh-CN" altLang="en-US" b="1" i="0" dirty="0">
                <a:solidFill>
                  <a:srgbClr val="191B1F"/>
                </a:solidFill>
                <a:effectLst/>
                <a:highlight>
                  <a:srgbClr val="FFFFFF"/>
                </a:highlight>
                <a:latin typeface="-apple-system"/>
              </a:rPr>
              <a:t>红色的五边形。</a:t>
            </a:r>
            <a:endParaRPr lang="en-US" altLang="zh-CN" b="1" i="0" dirty="0">
              <a:solidFill>
                <a:srgbClr val="191B1F"/>
              </a:solidFill>
              <a:effectLst/>
              <a:highlight>
                <a:srgbClr val="FFFFFF"/>
              </a:highlight>
              <a:latin typeface="-apple-system"/>
            </a:endParaRPr>
          </a:p>
          <a:p>
            <a:r>
              <a:rPr lang="zh-CN" altLang="en-US" b="0" i="0" dirty="0">
                <a:solidFill>
                  <a:srgbClr val="191B1F"/>
                </a:solidFill>
                <a:effectLst/>
                <a:highlight>
                  <a:srgbClr val="FFFFFF"/>
                </a:highlight>
                <a:latin typeface="-apple-system"/>
              </a:rPr>
              <a:t>如果</a:t>
            </a:r>
            <a:r>
              <a:rPr lang="en-US" altLang="zh-CN" b="0" i="0" dirty="0">
                <a:solidFill>
                  <a:srgbClr val="191B1F"/>
                </a:solidFill>
                <a:effectLst/>
                <a:highlight>
                  <a:srgbClr val="FFFFFF"/>
                </a:highlight>
                <a:latin typeface="-apple-system"/>
              </a:rPr>
              <a:t>k</a:t>
            </a:r>
            <a:r>
              <a:rPr lang="zh-CN" altLang="en-US" b="0" i="0" dirty="0">
                <a:solidFill>
                  <a:srgbClr val="191B1F"/>
                </a:solidFill>
                <a:effectLst/>
                <a:highlight>
                  <a:srgbClr val="FFFFFF"/>
                </a:highlight>
                <a:latin typeface="-apple-system"/>
              </a:rPr>
              <a:t>太小了，比如等于</a:t>
            </a:r>
            <a:r>
              <a:rPr lang="en-US" altLang="zh-CN" b="0" i="0" dirty="0">
                <a:solidFill>
                  <a:srgbClr val="191B1F"/>
                </a:solidFill>
                <a:effectLst/>
                <a:highlight>
                  <a:srgbClr val="FFFFFF"/>
                </a:highlight>
                <a:latin typeface="-apple-system"/>
              </a:rPr>
              <a:t>1</a:t>
            </a:r>
            <a:r>
              <a:rPr lang="zh-CN" altLang="en-US" b="0" i="0" dirty="0">
                <a:solidFill>
                  <a:srgbClr val="191B1F"/>
                </a:solidFill>
                <a:effectLst/>
                <a:highlight>
                  <a:srgbClr val="FFFFFF"/>
                </a:highlight>
                <a:latin typeface="-apple-system"/>
              </a:rPr>
              <a:t>，那么模型就太复杂了，</a:t>
            </a:r>
            <a:r>
              <a:rPr lang="zh-CN" altLang="en-US" b="1" i="0" dirty="0">
                <a:solidFill>
                  <a:srgbClr val="191B1F"/>
                </a:solidFill>
                <a:effectLst/>
                <a:highlight>
                  <a:srgbClr val="FFFFFF"/>
                </a:highlight>
                <a:latin typeface="-apple-system"/>
              </a:rPr>
              <a:t>我们很容易学习到噪声</a:t>
            </a:r>
            <a:r>
              <a:rPr lang="zh-CN" altLang="en-US" b="0" i="0" dirty="0">
                <a:solidFill>
                  <a:srgbClr val="191B1F"/>
                </a:solidFill>
                <a:effectLst/>
                <a:highlight>
                  <a:srgbClr val="FFFFFF"/>
                </a:highlight>
                <a:latin typeface="-apple-system"/>
              </a:rPr>
              <a:t>，也就非常容易判定为噪声类别，而在上图，如果，</a:t>
            </a:r>
            <a:r>
              <a:rPr lang="en-US" altLang="zh-CN" b="0" i="0" dirty="0">
                <a:solidFill>
                  <a:srgbClr val="191B1F"/>
                </a:solidFill>
                <a:effectLst/>
                <a:highlight>
                  <a:srgbClr val="FFFFFF"/>
                </a:highlight>
                <a:latin typeface="-apple-system"/>
              </a:rPr>
              <a:t>k</a:t>
            </a:r>
            <a:r>
              <a:rPr lang="zh-CN" altLang="en-US" b="0" i="0" dirty="0">
                <a:solidFill>
                  <a:srgbClr val="191B1F"/>
                </a:solidFill>
                <a:effectLst/>
                <a:highlight>
                  <a:srgbClr val="FFFFFF"/>
                </a:highlight>
                <a:latin typeface="-apple-system"/>
              </a:rPr>
              <a:t>大一点，</a:t>
            </a:r>
            <a:r>
              <a:rPr lang="en-US" altLang="zh-CN" b="0" i="0" dirty="0">
                <a:solidFill>
                  <a:srgbClr val="191B1F"/>
                </a:solidFill>
                <a:effectLst/>
                <a:highlight>
                  <a:srgbClr val="FFFFFF"/>
                </a:highlight>
                <a:latin typeface="-apple-system"/>
              </a:rPr>
              <a:t>k</a:t>
            </a:r>
            <a:r>
              <a:rPr lang="zh-CN" altLang="en-US" b="0" i="0" dirty="0">
                <a:solidFill>
                  <a:srgbClr val="191B1F"/>
                </a:solidFill>
                <a:effectLst/>
                <a:highlight>
                  <a:srgbClr val="FFFFFF"/>
                </a:highlight>
                <a:latin typeface="-apple-system"/>
              </a:rPr>
              <a:t>等于</a:t>
            </a:r>
            <a:r>
              <a:rPr lang="en-US" altLang="zh-CN" b="0" i="0" dirty="0">
                <a:solidFill>
                  <a:srgbClr val="191B1F"/>
                </a:solidFill>
                <a:effectLst/>
                <a:highlight>
                  <a:srgbClr val="FFFFFF"/>
                </a:highlight>
                <a:latin typeface="-apple-system"/>
              </a:rPr>
              <a:t>8</a:t>
            </a:r>
            <a:r>
              <a:rPr lang="zh-CN" altLang="en-US" b="0" i="0" dirty="0">
                <a:solidFill>
                  <a:srgbClr val="191B1F"/>
                </a:solidFill>
                <a:effectLst/>
                <a:highlight>
                  <a:srgbClr val="FFFFFF"/>
                </a:highlight>
                <a:latin typeface="-apple-system"/>
              </a:rPr>
              <a:t>，</a:t>
            </a:r>
            <a:r>
              <a:rPr lang="zh-CN" altLang="en-US" b="1" i="0" dirty="0">
                <a:solidFill>
                  <a:srgbClr val="191B1F"/>
                </a:solidFill>
                <a:effectLst/>
                <a:highlight>
                  <a:srgbClr val="FFFFFF"/>
                </a:highlight>
                <a:latin typeface="-apple-system"/>
              </a:rPr>
              <a:t>把长方形都包括进来</a:t>
            </a:r>
            <a:r>
              <a:rPr lang="zh-CN" altLang="en-US" b="0" i="0" dirty="0">
                <a:solidFill>
                  <a:srgbClr val="191B1F"/>
                </a:solidFill>
                <a:effectLst/>
                <a:highlight>
                  <a:srgbClr val="FFFFFF"/>
                </a:highlight>
                <a:latin typeface="-apple-system"/>
              </a:rPr>
              <a:t>，我们很容易得到我们正确的分类应该是蓝色的长方形！</a:t>
            </a:r>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41</a:t>
            </a:fld>
            <a:endParaRPr lang="en-US" altLang="zh-CN"/>
          </a:p>
        </p:txBody>
      </p:sp>
    </p:spTree>
    <p:extLst>
      <p:ext uri="{BB962C8B-B14F-4D97-AF65-F5344CB8AC3E}">
        <p14:creationId xmlns:p14="http://schemas.microsoft.com/office/powerpoint/2010/main" val="1553721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91B1F"/>
                </a:solidFill>
                <a:effectLst/>
                <a:highlight>
                  <a:srgbClr val="FFFFFF"/>
                </a:highlight>
                <a:latin typeface="-apple-system"/>
              </a:rPr>
              <a:t>很容易看到第一维身高特征是第二维脚码特征的</a:t>
            </a:r>
            <a:r>
              <a:rPr lang="en-US" altLang="zh-CN" b="0" i="0" dirty="0">
                <a:solidFill>
                  <a:srgbClr val="191B1F"/>
                </a:solidFill>
                <a:effectLst/>
                <a:highlight>
                  <a:srgbClr val="FFFFFF"/>
                </a:highlight>
                <a:latin typeface="-apple-system"/>
              </a:rPr>
              <a:t>4</a:t>
            </a:r>
            <a:r>
              <a:rPr lang="zh-CN" altLang="en-US" b="0" i="0" dirty="0">
                <a:solidFill>
                  <a:srgbClr val="191B1F"/>
                </a:solidFill>
                <a:effectLst/>
                <a:highlight>
                  <a:srgbClr val="FFFFFF"/>
                </a:highlight>
                <a:latin typeface="-apple-system"/>
              </a:rPr>
              <a:t>倍左右，那么在进行距离度量的时候，</a:t>
            </a:r>
            <a:r>
              <a:rPr lang="zh-CN" altLang="en-US" b="1" i="0" dirty="0">
                <a:solidFill>
                  <a:srgbClr val="191B1F"/>
                </a:solidFill>
                <a:effectLst/>
                <a:highlight>
                  <a:srgbClr val="FFFFFF"/>
                </a:highlight>
                <a:latin typeface="-apple-system"/>
              </a:rPr>
              <a:t>我们就会偏向于第一维特征。</a:t>
            </a:r>
            <a:r>
              <a:rPr lang="zh-CN" altLang="en-US" b="0" i="0" dirty="0">
                <a:solidFill>
                  <a:srgbClr val="191B1F"/>
                </a:solidFill>
                <a:effectLst/>
                <a:highlight>
                  <a:srgbClr val="FFFFFF"/>
                </a:highlight>
                <a:latin typeface="-apple-system"/>
              </a:rPr>
              <a:t>这样造成两个特征并不是等价重要的，最终可能会导致距离计算错误，从而导致预测错误。</a:t>
            </a:r>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42</a:t>
            </a:fld>
            <a:endParaRPr lang="en-US" altLang="zh-CN"/>
          </a:p>
        </p:txBody>
      </p:sp>
    </p:spTree>
    <p:extLst>
      <p:ext uri="{BB962C8B-B14F-4D97-AF65-F5344CB8AC3E}">
        <p14:creationId xmlns:p14="http://schemas.microsoft.com/office/powerpoint/2010/main" val="1027527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966F891-39E4-4949-84B5-293BD1F65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4" name="Rectangle 10"/>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5" name="Rectangle 11"/>
          <p:cNvSpPr/>
          <p:nvPr/>
        </p:nvSpPr>
        <p:spPr>
          <a:xfrm>
            <a:off x="304800" y="673897"/>
            <a:ext cx="6117446" cy="719623"/>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700">
              <a:solidFill>
                <a:srgbClr val="FFFFFF"/>
              </a:solidFill>
            </a:endParaRPr>
          </a:p>
        </p:txBody>
      </p:sp>
      <p:sp>
        <p:nvSpPr>
          <p:cNvPr id="6" name="Rectangle 14"/>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7" name="Rectangle 15"/>
          <p:cNvSpPr/>
          <p:nvPr/>
        </p:nvSpPr>
        <p:spPr>
          <a:xfrm>
            <a:off x="359807" y="665099"/>
            <a:ext cx="187820" cy="73123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dirty="0">
              <a:solidFill>
                <a:srgbClr val="FFFFFF"/>
              </a:solidFill>
            </a:endParaRPr>
          </a:p>
        </p:txBody>
      </p:sp>
      <p:sp>
        <p:nvSpPr>
          <p:cNvPr id="8" name="Title 7"/>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726666"/>
            <a:ext cx="5812317" cy="568735"/>
          </a:xfrm>
          <a:prstGeom prst="rect">
            <a:avLst/>
          </a:prstGeom>
        </p:spPr>
        <p:txBody>
          <a:bodyPr anchor="ctr"/>
          <a:lstStyle>
            <a:lvl1pPr marL="0" indent="0" algn="ctr">
              <a:buNone/>
              <a:defRPr sz="2400" baseline="0">
                <a:solidFill>
                  <a:schemeClr val="tx2"/>
                </a:solidFill>
                <a:latin typeface="+mn-lt"/>
                <a:ea typeface="+mn-ea"/>
                <a:cs typeface="+mj-cs"/>
              </a:defRPr>
            </a:lvl1pPr>
            <a:lvl2pPr marL="257175" indent="0" algn="ctr">
              <a:buNone/>
            </a:lvl2pPr>
            <a:lvl3pPr marL="514350" indent="0" algn="ctr">
              <a:buNone/>
            </a:lvl3pPr>
            <a:lvl4pPr marL="771525" indent="0" algn="ctr">
              <a:buNone/>
            </a:lvl4pPr>
            <a:lvl5pPr marL="1028700" indent="0" algn="ctr">
              <a:buNone/>
            </a:lvl5pPr>
            <a:lvl6pPr marL="1285875" indent="0" algn="ctr">
              <a:buNone/>
            </a:lvl6pPr>
            <a:lvl7pPr marL="1543050" indent="0" algn="ctr">
              <a:buNone/>
            </a:lvl7pPr>
            <a:lvl8pPr marL="1800225" indent="0" algn="ctr">
              <a:buNone/>
            </a:lvl8pPr>
            <a:lvl9pPr marL="2057400" indent="0" algn="ctr">
              <a:buNone/>
            </a:lvl9pPr>
          </a:lstStyle>
          <a:p>
            <a:r>
              <a:rPr lang="zh-CN" altLang="en-US"/>
              <a:t>单击此处编辑母版副标题样式</a:t>
            </a:r>
            <a:endParaRPr lang="en-US" dirty="0"/>
          </a:p>
        </p:txBody>
      </p:sp>
      <p:sp>
        <p:nvSpPr>
          <p:cNvPr id="25" name="Text Placeholder 24"/>
          <p:cNvSpPr>
            <a:spLocks noGrp="1"/>
          </p:cNvSpPr>
          <p:nvPr>
            <p:ph type="body" sz="quarter" idx="10"/>
          </p:nvPr>
        </p:nvSpPr>
        <p:spPr>
          <a:xfrm>
            <a:off x="5280025" y="5550204"/>
            <a:ext cx="4273554" cy="790860"/>
          </a:xfrm>
          <a:prstGeom prst="rect">
            <a:avLst/>
          </a:prstGeom>
        </p:spPr>
        <p:txBody>
          <a:bodyPr/>
          <a:lstStyle>
            <a:lvl1pPr marL="0" indent="0" algn="ctr">
              <a:buNone/>
              <a:defRPr sz="2400" baseline="0">
                <a:solidFill>
                  <a:schemeClr val="accent1">
                    <a:lumMod val="60000"/>
                    <a:lumOff val="40000"/>
                  </a:schemeClr>
                </a:solidFill>
                <a:latin typeface="+mn-lt"/>
                <a:ea typeface="+mn-ea"/>
              </a:defRPr>
            </a:lvl1pPr>
          </a:lstStyle>
          <a:p>
            <a:pPr lvl="0"/>
            <a:r>
              <a:rPr lang="zh-CN" altLang="en-US"/>
              <a:t>编辑母版文本样式</a:t>
            </a:r>
          </a:p>
        </p:txBody>
      </p:sp>
    </p:spTree>
    <p:extLst>
      <p:ext uri="{BB962C8B-B14F-4D97-AF65-F5344CB8AC3E}">
        <p14:creationId xmlns:p14="http://schemas.microsoft.com/office/powerpoint/2010/main" val="156067607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ubsection">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2BBD6FA-A54A-485F-87D9-C9652F586C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16" name="Rectangle 10">
            <a:extLst>
              <a:ext uri="{FF2B5EF4-FFF2-40B4-BE49-F238E27FC236}">
                <a16:creationId xmlns:a16="http://schemas.microsoft.com/office/drawing/2014/main" id="{80B6937C-32A7-4CC7-BE4A-AB7A564C7186}"/>
              </a:ext>
            </a:extLst>
          </p:cNvPr>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7" name="Rectangle 14">
            <a:extLst>
              <a:ext uri="{FF2B5EF4-FFF2-40B4-BE49-F238E27FC236}">
                <a16:creationId xmlns:a16="http://schemas.microsoft.com/office/drawing/2014/main" id="{EDC16F34-8BA1-4A4E-B0D4-81397E1E7CD0}"/>
              </a:ext>
            </a:extLst>
          </p:cNvPr>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8" name="Title 7">
            <a:extLst>
              <a:ext uri="{FF2B5EF4-FFF2-40B4-BE49-F238E27FC236}">
                <a16:creationId xmlns:a16="http://schemas.microsoft.com/office/drawing/2014/main" id="{66A552C8-61F4-43FC-A974-9DE54534BA38}"/>
              </a:ext>
            </a:extLst>
          </p:cNvPr>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Tree>
    <p:extLst>
      <p:ext uri="{BB962C8B-B14F-4D97-AF65-F5344CB8AC3E}">
        <p14:creationId xmlns:p14="http://schemas.microsoft.com/office/powerpoint/2010/main" val="547241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5050A8B-65E7-4672-9976-F9678ACCF210}"/>
              </a:ext>
            </a:extLst>
          </p:cNvPr>
          <p:cNvSpPr>
            <a:spLocks noGrp="1"/>
          </p:cNvSpPr>
          <p:nvPr>
            <p:ph type="title"/>
          </p:nvPr>
        </p:nvSpPr>
        <p:spPr/>
        <p:txBody>
          <a:bodyPr/>
          <a:lstStyle/>
          <a:p>
            <a:r>
              <a:rPr lang="zh-CN" altLang="en-US"/>
              <a:t>单击此处编辑母版标题样式</a:t>
            </a:r>
          </a:p>
        </p:txBody>
      </p:sp>
      <p:sp>
        <p:nvSpPr>
          <p:cNvPr id="8" name="Text Placeholder 12">
            <a:extLst>
              <a:ext uri="{FF2B5EF4-FFF2-40B4-BE49-F238E27FC236}">
                <a16:creationId xmlns:a16="http://schemas.microsoft.com/office/drawing/2014/main" id="{B69B4C9B-667A-475B-923C-B441E63112E2}"/>
              </a:ext>
            </a:extLst>
          </p:cNvPr>
          <p:cNvSpPr>
            <a:spLocks noGrp="1"/>
          </p:cNvSpPr>
          <p:nvPr>
            <p:ph idx="1"/>
          </p:nvPr>
        </p:nvSpPr>
        <p:spPr bwMode="auto">
          <a:xfrm>
            <a:off x="609600" y="990600"/>
            <a:ext cx="10972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3850746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Just 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3B309-5F91-4EC3-B303-AAA2C66728F2}"/>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420193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82554C09-2158-4702-9B4A-E0C68913C689}"/>
              </a:ext>
            </a:extLst>
          </p:cNvPr>
          <p:cNvSpPr>
            <a:spLocks noGrp="1"/>
          </p:cNvSpPr>
          <p:nvPr>
            <p:ph idx="1"/>
          </p:nvPr>
        </p:nvSpPr>
        <p:spPr bwMode="auto">
          <a:xfrm>
            <a:off x="609600" y="1066799"/>
            <a:ext cx="5486400" cy="518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8" name="Text Placeholder 12">
            <a:extLst>
              <a:ext uri="{FF2B5EF4-FFF2-40B4-BE49-F238E27FC236}">
                <a16:creationId xmlns:a16="http://schemas.microsoft.com/office/drawing/2014/main" id="{6DDB8618-EAD8-4F6C-91B0-8D6B79685A8E}"/>
              </a:ext>
            </a:extLst>
          </p:cNvPr>
          <p:cNvSpPr>
            <a:spLocks noGrp="1"/>
          </p:cNvSpPr>
          <p:nvPr>
            <p:ph idx="10"/>
          </p:nvPr>
        </p:nvSpPr>
        <p:spPr bwMode="auto">
          <a:xfrm>
            <a:off x="6248400" y="1066800"/>
            <a:ext cx="5334000" cy="518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3" name="标题 2">
            <a:extLst>
              <a:ext uri="{FF2B5EF4-FFF2-40B4-BE49-F238E27FC236}">
                <a16:creationId xmlns:a16="http://schemas.microsoft.com/office/drawing/2014/main" id="{63866493-C33C-47CF-99CE-6E19EE056D71}"/>
              </a:ext>
            </a:extLst>
          </p:cNvPr>
          <p:cNvSpPr>
            <a:spLocks noGrp="1"/>
          </p:cNvSpPr>
          <p:nvPr>
            <p:ph type="title"/>
          </p:nvPr>
        </p:nvSpPr>
        <p:spPr/>
        <p:txBody>
          <a:bodyPr/>
          <a:lstStyle/>
          <a:p>
            <a:r>
              <a:rPr lang="zh-CN" altLang="en-US"/>
              <a:t>单击此处编辑母版标题样式</a:t>
            </a:r>
            <a:endParaRPr lang="zh-CN" altLang="en-US" dirty="0"/>
          </a:p>
        </p:txBody>
      </p:sp>
      <p:cxnSp>
        <p:nvCxnSpPr>
          <p:cNvPr id="6" name="直接连接符 5">
            <a:extLst>
              <a:ext uri="{FF2B5EF4-FFF2-40B4-BE49-F238E27FC236}">
                <a16:creationId xmlns:a16="http://schemas.microsoft.com/office/drawing/2014/main" id="{8BBF6941-949E-4A04-9A27-6C5758225CF1}"/>
              </a:ext>
            </a:extLst>
          </p:cNvPr>
          <p:cNvCxnSpPr/>
          <p:nvPr/>
        </p:nvCxnSpPr>
        <p:spPr>
          <a:xfrm>
            <a:off x="6172200" y="1066800"/>
            <a:ext cx="0" cy="51816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44577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Text_IMG">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82554C09-2158-4702-9B4A-E0C68913C689}"/>
              </a:ext>
            </a:extLst>
          </p:cNvPr>
          <p:cNvSpPr>
            <a:spLocks noGrp="1"/>
          </p:cNvSpPr>
          <p:nvPr>
            <p:ph idx="1"/>
          </p:nvPr>
        </p:nvSpPr>
        <p:spPr bwMode="auto">
          <a:xfrm>
            <a:off x="609599" y="990600"/>
            <a:ext cx="5885794"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3" name="标题 2">
            <a:extLst>
              <a:ext uri="{FF2B5EF4-FFF2-40B4-BE49-F238E27FC236}">
                <a16:creationId xmlns:a16="http://schemas.microsoft.com/office/drawing/2014/main" id="{63866493-C33C-47CF-99CE-6E19EE056D71}"/>
              </a:ext>
            </a:extLst>
          </p:cNvPr>
          <p:cNvSpPr>
            <a:spLocks noGrp="1"/>
          </p:cNvSpPr>
          <p:nvPr>
            <p:ph type="title"/>
          </p:nvPr>
        </p:nvSpPr>
        <p:spPr/>
        <p:txBody>
          <a:bodyPr/>
          <a:lstStyle/>
          <a:p>
            <a:r>
              <a:rPr lang="zh-CN" altLang="en-US"/>
              <a:t>单击此处编辑母版标题样式</a:t>
            </a:r>
          </a:p>
        </p:txBody>
      </p:sp>
      <p:cxnSp>
        <p:nvCxnSpPr>
          <p:cNvPr id="4" name="直接连接符 3">
            <a:extLst>
              <a:ext uri="{FF2B5EF4-FFF2-40B4-BE49-F238E27FC236}">
                <a16:creationId xmlns:a16="http://schemas.microsoft.com/office/drawing/2014/main" id="{F4E9E31A-5EEF-4165-B7AF-A4322917E67F}"/>
              </a:ext>
            </a:extLst>
          </p:cNvPr>
          <p:cNvCxnSpPr>
            <a:cxnSpLocks/>
          </p:cNvCxnSpPr>
          <p:nvPr/>
        </p:nvCxnSpPr>
        <p:spPr>
          <a:xfrm>
            <a:off x="6553200" y="1066800"/>
            <a:ext cx="0" cy="5334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299042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8209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End">
    <p:spTree>
      <p:nvGrpSpPr>
        <p:cNvPr id="1" name=""/>
        <p:cNvGrpSpPr/>
        <p:nvPr/>
      </p:nvGrpSpPr>
      <p:grpSpPr>
        <a:xfrm>
          <a:off x="0" y="0"/>
          <a:ext cx="0" cy="0"/>
          <a:chOff x="0" y="0"/>
          <a:chExt cx="0" cy="0"/>
        </a:xfrm>
      </p:grpSpPr>
      <p:sp>
        <p:nvSpPr>
          <p:cNvPr id="4" name="Rectangle 3"/>
          <p:cNvSpPr/>
          <p:nvPr userDrawn="1"/>
        </p:nvSpPr>
        <p:spPr>
          <a:xfrm>
            <a:off x="4876800" y="3048003"/>
            <a:ext cx="3048000" cy="646331"/>
          </a:xfrm>
          <a:prstGeom prst="rect">
            <a:avLst/>
          </a:prstGeom>
        </p:spPr>
        <p:txBody>
          <a:bodyPr wrap="square">
            <a:spAutoFit/>
          </a:bodyPr>
          <a:lstStyle/>
          <a:p>
            <a:r>
              <a:rPr lang="zh-CN" altLang="en-US" sz="3600" dirty="0">
                <a:latin typeface="华文楷体" panose="02010600040101010101" pitchFamily="2" charset="-122"/>
                <a:ea typeface="华文楷体" panose="02010600040101010101" pitchFamily="2" charset="-122"/>
              </a:rPr>
              <a:t>谢  谢</a:t>
            </a:r>
            <a:endParaRPr lang="en-US" altLang="zh-CN" sz="36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41942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8" name="Content Placeholder 7"/>
          <p:cNvSpPr>
            <a:spLocks noGrp="1"/>
          </p:cNvSpPr>
          <p:nvPr>
            <p:ph sz="quarter" idx="1"/>
          </p:nvPr>
        </p:nvSpPr>
        <p:spPr>
          <a:xfrm>
            <a:off x="609600" y="1219200"/>
            <a:ext cx="10972800" cy="4937760"/>
          </a:xfrm>
        </p:spPr>
        <p:txBody>
          <a:bodyPr/>
          <a:lstStyle>
            <a:lvl1pPr>
              <a:defRPr>
                <a:solidFill>
                  <a:schemeClr val="accent2"/>
                </a:solidFill>
                <a:latin typeface="+mn-lt"/>
                <a:ea typeface="华文楷体" panose="02010600040101010101" pitchFamily="2" charset="-122"/>
              </a:defRPr>
            </a:lvl1pPr>
            <a:lvl2pPr>
              <a:defRPr sz="2400">
                <a:latin typeface="+mn-lt"/>
                <a:ea typeface="华文楷体" panose="02010600040101010101" pitchFamily="2" charset="-122"/>
              </a:defRPr>
            </a:lvl2pPr>
            <a:lvl3pPr>
              <a:defRPr sz="2400">
                <a:latin typeface="+mn-lt"/>
                <a:ea typeface="华文楷体" panose="02010600040101010101" pitchFamily="2" charset="-122"/>
              </a:defRPr>
            </a:lvl3pPr>
            <a:lvl4pPr>
              <a:defRPr sz="1800">
                <a:latin typeface="+mn-lt"/>
                <a:ea typeface="华文楷体" panose="02010600040101010101" pitchFamily="2" charset="-122"/>
              </a:defRPr>
            </a:lvl4pPr>
            <a:lvl5pPr>
              <a:defRPr sz="1600">
                <a:latin typeface="+mn-lt"/>
                <a:ea typeface="华文楷体" panose="02010600040101010101" pitchFamily="2"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90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1"/>
            <a:ext cx="10972800" cy="733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027" name="Text Placeholder 12"/>
          <p:cNvSpPr>
            <a:spLocks noGrp="1"/>
          </p:cNvSpPr>
          <p:nvPr>
            <p:ph type="body" idx="1"/>
          </p:nvPr>
        </p:nvSpPr>
        <p:spPr bwMode="auto">
          <a:xfrm>
            <a:off x="609600" y="990599"/>
            <a:ext cx="10972800" cy="541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编辑母版文本样式</a:t>
            </a:r>
          </a:p>
          <a:p>
            <a:pPr lvl="1"/>
            <a:r>
              <a:rPr lang="zh-CN" altLang="en-US" dirty="0"/>
              <a:t>第二级</a:t>
            </a:r>
          </a:p>
          <a:p>
            <a:pPr lvl="2"/>
            <a:r>
              <a:rPr lang="zh-CN" altLang="en-US" dirty="0"/>
              <a:t>第三级</a:t>
            </a:r>
            <a:endParaRPr lang="en-US" altLang="zh-CN" dirty="0"/>
          </a:p>
        </p:txBody>
      </p:sp>
      <p:sp>
        <p:nvSpPr>
          <p:cNvPr id="1032" name="Straight Connector 28"/>
          <p:cNvSpPr>
            <a:spLocks noChangeShapeType="1"/>
          </p:cNvSpPr>
          <p:nvPr userDrawn="1"/>
        </p:nvSpPr>
        <p:spPr bwMode="auto">
          <a:xfrm>
            <a:off x="609600" y="898949"/>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Footer Placeholder 2">
            <a:extLst>
              <a:ext uri="{FF2B5EF4-FFF2-40B4-BE49-F238E27FC236}">
                <a16:creationId xmlns:a16="http://schemas.microsoft.com/office/drawing/2014/main" id="{B4DA9BC6-43CA-408A-BEB7-8746EA49C870}"/>
              </a:ext>
            </a:extLst>
          </p:cNvPr>
          <p:cNvSpPr txBox="1">
            <a:spLocks/>
          </p:cNvSpPr>
          <p:nvPr userDrawn="1"/>
        </p:nvSpPr>
        <p:spPr>
          <a:xfrm>
            <a:off x="4114800" y="6492875"/>
            <a:ext cx="3962400" cy="365125"/>
          </a:xfrm>
          <a:prstGeom prst="rect">
            <a:avLst/>
          </a:prstGeom>
        </p:spPr>
        <p:txBody>
          <a:bodyPr vert="horz" wrap="square" lIns="0" tIns="0" rIns="0" bIns="0" numCol="1" anchor="ctr"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2"/>
                </a:solidFill>
                <a:latin typeface="Cambria" panose="02040503050406030204" pitchFamily="18"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r>
              <a:rPr lang="en-US" altLang="zh-CN" sz="1400" dirty="0">
                <a:latin typeface="+mn-ea"/>
                <a:ea typeface="+mn-ea"/>
              </a:rPr>
              <a:t>《</a:t>
            </a:r>
            <a:r>
              <a:rPr lang="zh-CN" altLang="en-US" sz="1400" dirty="0">
                <a:latin typeface="+mn-ea"/>
                <a:ea typeface="+mn-ea"/>
              </a:rPr>
              <a:t>神经网络与深度学习</a:t>
            </a:r>
            <a:r>
              <a:rPr lang="en-US" altLang="zh-CN" sz="1400" dirty="0">
                <a:latin typeface="+mn-ea"/>
                <a:ea typeface="+mn-ea"/>
              </a:rPr>
              <a:t>》</a:t>
            </a:r>
            <a:endParaRPr lang="zh-CN" altLang="zh-CN" sz="1400" dirty="0">
              <a:latin typeface="+mn-ea"/>
              <a:ea typeface="+mn-ea"/>
            </a:endParaRPr>
          </a:p>
        </p:txBody>
      </p:sp>
      <p:sp>
        <p:nvSpPr>
          <p:cNvPr id="13" name="Rectangle 17">
            <a:extLst>
              <a:ext uri="{FF2B5EF4-FFF2-40B4-BE49-F238E27FC236}">
                <a16:creationId xmlns:a16="http://schemas.microsoft.com/office/drawing/2014/main" id="{5ED38AFC-6FCA-41F0-B286-064BF4E13FFB}"/>
              </a:ext>
            </a:extLst>
          </p:cNvPr>
          <p:cNvSpPr/>
          <p:nvPr/>
        </p:nvSpPr>
        <p:spPr>
          <a:xfrm>
            <a:off x="10972800" y="6521549"/>
            <a:ext cx="375424" cy="307777"/>
          </a:xfrm>
          <a:prstGeom prst="rect">
            <a:avLst/>
          </a:prstGeom>
        </p:spPr>
        <p:txBody>
          <a:bodyPr wrap="none" anchor="ctr">
            <a:spAutoFit/>
          </a:bodyPr>
          <a:lstStyle/>
          <a:p>
            <a:pPr>
              <a:defRPr/>
            </a:pPr>
            <a:fld id="{7A0AC270-0923-4589-A51D-6091E7C5371F}" type="slidenum">
              <a:rPr lang="zh-CN" altLang="en-US" sz="1400" kern="1200" smtClean="0">
                <a:solidFill>
                  <a:schemeClr val="tx2"/>
                </a:solidFill>
                <a:latin typeface="+mn-ea"/>
                <a:ea typeface="+mn-ea"/>
                <a:cs typeface="Arial" panose="020B0604020202020204" pitchFamily="34" charset="0"/>
              </a:rPr>
              <a:pPr>
                <a:defRPr/>
              </a:pPr>
              <a:t>‹#›</a:t>
            </a:fld>
            <a:endParaRPr lang="en-US" altLang="zh-CN" sz="1400" kern="1200" dirty="0">
              <a:solidFill>
                <a:schemeClr val="tx2"/>
              </a:solidFill>
              <a:latin typeface="+mn-ea"/>
              <a:ea typeface="+mn-ea"/>
              <a:cs typeface="Arial" panose="020B0604020202020204" pitchFamily="34" charset="0"/>
            </a:endParaRPr>
          </a:p>
        </p:txBody>
      </p:sp>
      <p:sp>
        <p:nvSpPr>
          <p:cNvPr id="12" name="Straight Connector 27">
            <a:extLst>
              <a:ext uri="{FF2B5EF4-FFF2-40B4-BE49-F238E27FC236}">
                <a16:creationId xmlns:a16="http://schemas.microsoft.com/office/drawing/2014/main" id="{D59285DE-C1F6-4B21-8CFE-2BDB4A08D1BB}"/>
              </a:ext>
            </a:extLst>
          </p:cNvPr>
          <p:cNvSpPr>
            <a:spLocks noChangeShapeType="1"/>
          </p:cNvSpPr>
          <p:nvPr/>
        </p:nvSpPr>
        <p:spPr bwMode="auto">
          <a:xfrm>
            <a:off x="609600" y="6477000"/>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sz="1400">
              <a:latin typeface="+mn-ea"/>
              <a:ea typeface="+mn-ea"/>
            </a:endParaRPr>
          </a:p>
        </p:txBody>
      </p:sp>
    </p:spTree>
    <p:extLst>
      <p:ext uri="{BB962C8B-B14F-4D97-AF65-F5344CB8AC3E}">
        <p14:creationId xmlns:p14="http://schemas.microsoft.com/office/powerpoint/2010/main" val="2314911757"/>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3" r:id="rId8"/>
    <p:sldLayoutId id="2147483843" r:id="rId9"/>
  </p:sldLayoutIdLst>
  <p:hf hdr="0" ftr="0" dt="0"/>
  <p:txStyles>
    <p:titleStyle>
      <a:lvl1pPr algn="l" rtl="0" eaLnBrk="1" fontAlgn="base" hangingPunct="1">
        <a:spcBef>
          <a:spcPct val="0"/>
        </a:spcBef>
        <a:spcAft>
          <a:spcPct val="0"/>
        </a:spcAft>
        <a:defRPr sz="3200" kern="1200">
          <a:solidFill>
            <a:srgbClr val="000000"/>
          </a:solidFill>
          <a:latin typeface="+mj-lt"/>
          <a:ea typeface="+mj-ea"/>
          <a:cs typeface="+mj-cs"/>
        </a:defRPr>
      </a:lvl1pPr>
      <a:lvl2pPr algn="l" rtl="0" eaLnBrk="1" fontAlgn="base" hangingPunct="1">
        <a:spcBef>
          <a:spcPct val="0"/>
        </a:spcBef>
        <a:spcAft>
          <a:spcPct val="0"/>
        </a:spcAft>
        <a:defRPr sz="2025">
          <a:solidFill>
            <a:schemeClr val="tx2"/>
          </a:solidFill>
          <a:latin typeface="Calibri" panose="020F0502020204030204" pitchFamily="34" charset="0"/>
        </a:defRPr>
      </a:lvl2pPr>
      <a:lvl3pPr algn="l" rtl="0" eaLnBrk="1" fontAlgn="base" hangingPunct="1">
        <a:spcBef>
          <a:spcPct val="0"/>
        </a:spcBef>
        <a:spcAft>
          <a:spcPct val="0"/>
        </a:spcAft>
        <a:defRPr sz="2025">
          <a:solidFill>
            <a:schemeClr val="tx2"/>
          </a:solidFill>
          <a:latin typeface="Calibri" panose="020F0502020204030204" pitchFamily="34" charset="0"/>
        </a:defRPr>
      </a:lvl3pPr>
      <a:lvl4pPr algn="l" rtl="0" eaLnBrk="1" fontAlgn="base" hangingPunct="1">
        <a:spcBef>
          <a:spcPct val="0"/>
        </a:spcBef>
        <a:spcAft>
          <a:spcPct val="0"/>
        </a:spcAft>
        <a:defRPr sz="2025">
          <a:solidFill>
            <a:schemeClr val="tx2"/>
          </a:solidFill>
          <a:latin typeface="Calibri" panose="020F0502020204030204" pitchFamily="34" charset="0"/>
        </a:defRPr>
      </a:lvl4pPr>
      <a:lvl5pPr algn="l" rtl="0" eaLnBrk="1" fontAlgn="base" hangingPunct="1">
        <a:spcBef>
          <a:spcPct val="0"/>
        </a:spcBef>
        <a:spcAft>
          <a:spcPct val="0"/>
        </a:spcAft>
        <a:defRPr sz="2025">
          <a:solidFill>
            <a:schemeClr val="tx2"/>
          </a:solidFill>
          <a:latin typeface="Calibri" panose="020F0502020204030204" pitchFamily="34" charset="0"/>
        </a:defRPr>
      </a:lvl5pPr>
      <a:lvl6pPr marL="257175" algn="l" rtl="0" eaLnBrk="1" fontAlgn="base" hangingPunct="1">
        <a:spcBef>
          <a:spcPct val="0"/>
        </a:spcBef>
        <a:spcAft>
          <a:spcPct val="0"/>
        </a:spcAft>
        <a:defRPr sz="1800">
          <a:solidFill>
            <a:schemeClr val="tx2"/>
          </a:solidFill>
          <a:latin typeface="Calibri" panose="020F0502020204030204" pitchFamily="34" charset="0"/>
        </a:defRPr>
      </a:lvl6pPr>
      <a:lvl7pPr marL="514350" algn="l" rtl="0" eaLnBrk="1" fontAlgn="base" hangingPunct="1">
        <a:spcBef>
          <a:spcPct val="0"/>
        </a:spcBef>
        <a:spcAft>
          <a:spcPct val="0"/>
        </a:spcAft>
        <a:defRPr sz="1800">
          <a:solidFill>
            <a:schemeClr val="tx2"/>
          </a:solidFill>
          <a:latin typeface="Calibri" panose="020F0502020204030204" pitchFamily="34" charset="0"/>
        </a:defRPr>
      </a:lvl7pPr>
      <a:lvl8pPr marL="771525" algn="l" rtl="0" eaLnBrk="1" fontAlgn="base" hangingPunct="1">
        <a:spcBef>
          <a:spcPct val="0"/>
        </a:spcBef>
        <a:spcAft>
          <a:spcPct val="0"/>
        </a:spcAft>
        <a:defRPr sz="1800">
          <a:solidFill>
            <a:schemeClr val="tx2"/>
          </a:solidFill>
          <a:latin typeface="Calibri" panose="020F0502020204030204" pitchFamily="34" charset="0"/>
        </a:defRPr>
      </a:lvl8pPr>
      <a:lvl9pPr marL="1028700" algn="l" rtl="0" eaLnBrk="1" fontAlgn="base" hangingPunct="1">
        <a:spcBef>
          <a:spcPct val="0"/>
        </a:spcBef>
        <a:spcAft>
          <a:spcPct val="0"/>
        </a:spcAft>
        <a:defRPr sz="1800">
          <a:solidFill>
            <a:schemeClr val="tx2"/>
          </a:solidFill>
          <a:latin typeface="Calibri" panose="020F0502020204030204" pitchFamily="34" charset="0"/>
        </a:defRPr>
      </a:lvl9pPr>
    </p:titleStyle>
    <p:body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57175" algn="l" rtl="0" eaLnBrk="1" latinLnBrk="0" hangingPunct="1">
        <a:defRPr kumimoji="0" kern="1200">
          <a:solidFill>
            <a:schemeClr val="tx1"/>
          </a:solidFill>
          <a:latin typeface="+mn-lt"/>
          <a:ea typeface="+mn-ea"/>
          <a:cs typeface="+mn-cs"/>
        </a:defRPr>
      </a:lvl2pPr>
      <a:lvl3pPr marL="514350" algn="l" rtl="0" eaLnBrk="1" latinLnBrk="0" hangingPunct="1">
        <a:defRPr kumimoji="0" kern="1200">
          <a:solidFill>
            <a:schemeClr val="tx1"/>
          </a:solidFill>
          <a:latin typeface="+mn-lt"/>
          <a:ea typeface="+mn-ea"/>
          <a:cs typeface="+mn-cs"/>
        </a:defRPr>
      </a:lvl3pPr>
      <a:lvl4pPr marL="771525" algn="l" rtl="0" eaLnBrk="1" latinLnBrk="0" hangingPunct="1">
        <a:defRPr kumimoji="0" kern="1200">
          <a:solidFill>
            <a:schemeClr val="tx1"/>
          </a:solidFill>
          <a:latin typeface="+mn-lt"/>
          <a:ea typeface="+mn-ea"/>
          <a:cs typeface="+mn-cs"/>
        </a:defRPr>
      </a:lvl4pPr>
      <a:lvl5pPr marL="1028700" algn="l" rtl="0" eaLnBrk="1" latinLnBrk="0" hangingPunct="1">
        <a:defRPr kumimoji="0" kern="1200">
          <a:solidFill>
            <a:schemeClr val="tx1"/>
          </a:solidFill>
          <a:latin typeface="+mn-lt"/>
          <a:ea typeface="+mn-ea"/>
          <a:cs typeface="+mn-cs"/>
        </a:defRPr>
      </a:lvl5pPr>
      <a:lvl6pPr marL="1285875" algn="l" rtl="0" eaLnBrk="1" latinLnBrk="0" hangingPunct="1">
        <a:defRPr kumimoji="0" kern="1200">
          <a:solidFill>
            <a:schemeClr val="tx1"/>
          </a:solidFill>
          <a:latin typeface="+mn-lt"/>
          <a:ea typeface="+mn-ea"/>
          <a:cs typeface="+mn-cs"/>
        </a:defRPr>
      </a:lvl6pPr>
      <a:lvl7pPr marL="1543050" algn="l" rtl="0" eaLnBrk="1" latinLnBrk="0" hangingPunct="1">
        <a:defRPr kumimoji="0" kern="1200">
          <a:solidFill>
            <a:schemeClr val="tx1"/>
          </a:solidFill>
          <a:latin typeface="+mn-lt"/>
          <a:ea typeface="+mn-ea"/>
          <a:cs typeface="+mn-cs"/>
        </a:defRPr>
      </a:lvl7pPr>
      <a:lvl8pPr marL="1800225" algn="l" rtl="0" eaLnBrk="1" latinLnBrk="0" hangingPunct="1">
        <a:defRPr kumimoji="0" kern="1200">
          <a:solidFill>
            <a:schemeClr val="tx1"/>
          </a:solidFill>
          <a:latin typeface="+mn-lt"/>
          <a:ea typeface="+mn-ea"/>
          <a:cs typeface="+mn-cs"/>
        </a:defRPr>
      </a:lvl8pPr>
      <a:lvl9pPr marL="20574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hao910904@suda.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31.tmp"/><Relationship Id="rId4" Type="http://schemas.openxmlformats.org/officeDocument/2006/relationships/image" Target="../media/image30.tm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33.tmp"/><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4.tmp"/></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tmp"/><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1.tmp"/><Relationship Id="rId7" Type="http://schemas.openxmlformats.org/officeDocument/2006/relationships/image" Target="../media/image45.tmp"/><Relationship Id="rId2" Type="http://schemas.openxmlformats.org/officeDocument/2006/relationships/image" Target="../media/image230.png"/><Relationship Id="rId1" Type="http://schemas.openxmlformats.org/officeDocument/2006/relationships/slideLayout" Target="../slideLayouts/slideLayout5.xml"/><Relationship Id="rId6" Type="http://schemas.openxmlformats.org/officeDocument/2006/relationships/image" Target="../media/image44.tmp"/><Relationship Id="rId5" Type="http://schemas.openxmlformats.org/officeDocument/2006/relationships/image" Target="../media/image43.tmp"/><Relationship Id="rId4" Type="http://schemas.openxmlformats.org/officeDocument/2006/relationships/image" Target="../media/image42.tmp"/></Relationships>
</file>

<file path=ppt/slides/_rels/slide37.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47.tmp"/></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50.png"/><Relationship Id="rId2" Type="http://schemas.openxmlformats.org/officeDocument/2006/relationships/slideLayout" Target="../slideLayouts/slideLayout3.xml"/><Relationship Id="rId1" Type="http://schemas.openxmlformats.org/officeDocument/2006/relationships/tags" Target="../tags/tag1.xml"/><Relationship Id="rId6" Type="http://schemas.openxmlformats.org/officeDocument/2006/relationships/image" Target="../media/image49.tmp"/><Relationship Id="rId5" Type="http://schemas.openxmlformats.org/officeDocument/2006/relationships/image" Target="../media/image48.tmp"/><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p:txBody>
          <a:bodyPr/>
          <a:lstStyle/>
          <a:p>
            <a:r>
              <a:rPr lang="zh-CN" altLang="en-US" dirty="0"/>
              <a:t>无监督学习</a:t>
            </a:r>
          </a:p>
        </p:txBody>
      </p:sp>
      <p:sp>
        <p:nvSpPr>
          <p:cNvPr id="6" name="副标题 5"/>
          <p:cNvSpPr>
            <a:spLocks noGrp="1"/>
          </p:cNvSpPr>
          <p:nvPr>
            <p:ph type="subTitle" idx="1"/>
          </p:nvPr>
        </p:nvSpPr>
        <p:spPr/>
        <p:txBody>
          <a:bodyPr/>
          <a:lstStyle/>
          <a:p>
            <a:r>
              <a:rPr lang="en-US" altLang="zh-CN" dirty="0"/>
              <a:t>《</a:t>
            </a:r>
            <a:r>
              <a:rPr lang="zh-CN" altLang="en-US" dirty="0"/>
              <a:t>神经网络与深度学习</a:t>
            </a:r>
            <a:r>
              <a:rPr lang="en-US" altLang="zh-CN" dirty="0"/>
              <a:t>》</a:t>
            </a:r>
            <a:endParaRPr lang="zh-CN" altLang="en-US" dirty="0"/>
          </a:p>
        </p:txBody>
      </p:sp>
      <p:sp>
        <p:nvSpPr>
          <p:cNvPr id="15" name="Text Placeholder 14"/>
          <p:cNvSpPr>
            <a:spLocks noGrp="1"/>
          </p:cNvSpPr>
          <p:nvPr>
            <p:ph type="body" sz="quarter" idx="10"/>
          </p:nvPr>
        </p:nvSpPr>
        <p:spPr/>
        <p:txBody>
          <a:bodyPr/>
          <a:lstStyle/>
          <a:p>
            <a:r>
              <a:rPr lang="zh-CN" altLang="en-US" dirty="0"/>
              <a:t>袁亚超</a:t>
            </a:r>
            <a:endParaRPr lang="en-US" altLang="zh-CN" dirty="0"/>
          </a:p>
          <a:p>
            <a:r>
              <a:rPr lang="en-US" altLang="zh-CN" dirty="0">
                <a:hlinkClick r:id="rId3"/>
              </a:rPr>
              <a:t>chao910904@suda.edu.cn</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E417E4-97CD-4C5E-A4C0-342B76463C62}"/>
              </a:ext>
            </a:extLst>
          </p:cNvPr>
          <p:cNvSpPr>
            <a:spLocks noGrp="1"/>
          </p:cNvSpPr>
          <p:nvPr>
            <p:ph type="title"/>
          </p:nvPr>
        </p:nvSpPr>
        <p:spPr/>
        <p:txBody>
          <a:bodyPr/>
          <a:lstStyle/>
          <a:p>
            <a:r>
              <a:rPr lang="zh-CN" altLang="en-US"/>
              <a:t>内容</a:t>
            </a:r>
            <a:endParaRPr lang="zh-CN" altLang="en-US" dirty="0"/>
          </a:p>
        </p:txBody>
      </p:sp>
      <p:sp>
        <p:nvSpPr>
          <p:cNvPr id="3" name="内容占位符 2">
            <a:extLst>
              <a:ext uri="{FF2B5EF4-FFF2-40B4-BE49-F238E27FC236}">
                <a16:creationId xmlns:a16="http://schemas.microsoft.com/office/drawing/2014/main" id="{5FFAACD3-0929-4F7C-841D-EFC4F60AFCD9}"/>
              </a:ext>
            </a:extLst>
          </p:cNvPr>
          <p:cNvSpPr>
            <a:spLocks noGrp="1"/>
          </p:cNvSpPr>
          <p:nvPr>
            <p:ph idx="1"/>
          </p:nvPr>
        </p:nvSpPr>
        <p:spPr/>
        <p:txBody>
          <a:bodyPr/>
          <a:lstStyle/>
          <a:p>
            <a:r>
              <a:rPr lang="zh-CN" altLang="en-US" dirty="0"/>
              <a:t>无监督学习</a:t>
            </a:r>
            <a:endParaRPr lang="en-US" altLang="zh-CN" dirty="0"/>
          </a:p>
          <a:p>
            <a:pPr lvl="1"/>
            <a:r>
              <a:rPr lang="zh-CN" altLang="en-US" dirty="0"/>
              <a:t>聚类</a:t>
            </a:r>
            <a:endParaRPr lang="en-US" altLang="zh-CN" dirty="0"/>
          </a:p>
          <a:p>
            <a:pPr lvl="2"/>
            <a:r>
              <a:rPr lang="en-US" altLang="zh-CN" dirty="0"/>
              <a:t>K</a:t>
            </a:r>
            <a:r>
              <a:rPr lang="zh-CN" altLang="en-US" dirty="0"/>
              <a:t>均值聚类</a:t>
            </a:r>
            <a:endParaRPr lang="en-US" altLang="zh-CN" dirty="0"/>
          </a:p>
          <a:p>
            <a:pPr lvl="1"/>
            <a:r>
              <a:rPr lang="zh-CN" altLang="en-US" dirty="0"/>
              <a:t>无监督特征学习</a:t>
            </a:r>
            <a:endParaRPr lang="en-US" altLang="zh-CN" dirty="0"/>
          </a:p>
          <a:p>
            <a:pPr lvl="2"/>
            <a:r>
              <a:rPr lang="zh-CN" altLang="en-US" dirty="0"/>
              <a:t>主成分分析（</a:t>
            </a:r>
            <a:r>
              <a:rPr lang="en-US" altLang="zh-CN" dirty="0"/>
              <a:t>PCA</a:t>
            </a:r>
            <a:r>
              <a:rPr lang="zh-CN" altLang="en-US" dirty="0"/>
              <a:t>降维）</a:t>
            </a:r>
            <a:endParaRPr lang="en-US" altLang="zh-CN" dirty="0"/>
          </a:p>
          <a:p>
            <a:pPr lvl="2"/>
            <a:r>
              <a:rPr lang="zh-CN" altLang="en-US" dirty="0"/>
              <a:t>自编码器</a:t>
            </a:r>
            <a:endParaRPr lang="en-US" altLang="zh-CN" dirty="0"/>
          </a:p>
          <a:p>
            <a:pPr lvl="2"/>
            <a:r>
              <a:rPr lang="zh-CN" altLang="en-US" dirty="0"/>
              <a:t>自监督学习</a:t>
            </a:r>
            <a:endParaRPr lang="en-US" altLang="zh-CN" dirty="0"/>
          </a:p>
          <a:p>
            <a:pPr lvl="1"/>
            <a:r>
              <a:rPr lang="zh-CN" altLang="en-US" dirty="0"/>
              <a:t>概率密度估计</a:t>
            </a:r>
            <a:endParaRPr lang="en-US" altLang="zh-CN" dirty="0"/>
          </a:p>
          <a:p>
            <a:pPr lvl="2"/>
            <a:r>
              <a:rPr lang="zh-CN" altLang="en-US" dirty="0"/>
              <a:t>参数密度估计</a:t>
            </a:r>
            <a:endParaRPr lang="en-US" altLang="zh-CN" dirty="0"/>
          </a:p>
          <a:p>
            <a:pPr lvl="2"/>
            <a:r>
              <a:rPr lang="zh-CN" altLang="en-US" dirty="0"/>
              <a:t>非参数密度估计</a:t>
            </a:r>
            <a:endParaRPr lang="en-US" altLang="zh-CN" dirty="0"/>
          </a:p>
          <a:p>
            <a:pPr lvl="1"/>
            <a:r>
              <a:rPr lang="zh-CN" altLang="en-US" dirty="0"/>
              <a:t>半监督学习</a:t>
            </a:r>
            <a:endParaRPr lang="en-US" altLang="zh-CN" dirty="0"/>
          </a:p>
        </p:txBody>
      </p:sp>
    </p:spTree>
    <p:extLst>
      <p:ext uri="{BB962C8B-B14F-4D97-AF65-F5344CB8AC3E}">
        <p14:creationId xmlns:p14="http://schemas.microsoft.com/office/powerpoint/2010/main" val="3712184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6376C0-2F70-0F48-8D2A-DFFDCA9E81C3}"/>
              </a:ext>
            </a:extLst>
          </p:cNvPr>
          <p:cNvSpPr>
            <a:spLocks noGrp="1"/>
          </p:cNvSpPr>
          <p:nvPr>
            <p:ph type="title"/>
          </p:nvPr>
        </p:nvSpPr>
        <p:spPr/>
        <p:txBody>
          <a:bodyPr/>
          <a:lstStyle/>
          <a:p>
            <a:r>
              <a:rPr kumimoji="1" lang="zh-CN" altLang="en-US" dirty="0"/>
              <a:t>参考资料</a:t>
            </a:r>
          </a:p>
        </p:txBody>
      </p:sp>
      <p:sp>
        <p:nvSpPr>
          <p:cNvPr id="3" name="内容占位符 2">
            <a:extLst>
              <a:ext uri="{FF2B5EF4-FFF2-40B4-BE49-F238E27FC236}">
                <a16:creationId xmlns:a16="http://schemas.microsoft.com/office/drawing/2014/main" id="{E0416436-ACB8-FD42-83D3-23F277BAB80A}"/>
              </a:ext>
            </a:extLst>
          </p:cNvPr>
          <p:cNvSpPr>
            <a:spLocks noGrp="1"/>
          </p:cNvSpPr>
          <p:nvPr>
            <p:ph idx="1"/>
          </p:nvPr>
        </p:nvSpPr>
        <p:spPr/>
        <p:txBody>
          <a:bodyPr/>
          <a:lstStyle/>
          <a:p>
            <a:r>
              <a:rPr lang="zh-CN" altLang="en-US" sz="3200" dirty="0"/>
              <a:t>邱锡鹏，</a:t>
            </a:r>
            <a:r>
              <a:rPr lang="en-US" altLang="zh-CN" sz="3200" dirty="0"/>
              <a:t>《</a:t>
            </a:r>
            <a:r>
              <a:rPr lang="zh-CN" altLang="en-US" sz="3200" dirty="0"/>
              <a:t>神经网络与深度学习</a:t>
            </a:r>
            <a:r>
              <a:rPr lang="en-US" altLang="zh-CN" sz="3200" dirty="0"/>
              <a:t>》</a:t>
            </a:r>
            <a:r>
              <a:rPr lang="zh-CN" altLang="en-US" sz="3200" dirty="0"/>
              <a:t>，机械工业出版社，</a:t>
            </a:r>
            <a:r>
              <a:rPr lang="en-US" altLang="zh-CN" sz="3200" dirty="0"/>
              <a:t>2020</a:t>
            </a:r>
          </a:p>
          <a:p>
            <a:pPr lvl="1"/>
            <a:r>
              <a:rPr lang="zh-CN" altLang="en-US" dirty="0"/>
              <a:t>第</a:t>
            </a:r>
            <a:r>
              <a:rPr lang="en-US" altLang="zh-CN" dirty="0"/>
              <a:t>9</a:t>
            </a:r>
            <a:r>
              <a:rPr lang="zh-CN" altLang="en-US" dirty="0"/>
              <a:t>章 无监督学习</a:t>
            </a:r>
            <a:endParaRPr lang="en-US" altLang="zh-CN" dirty="0"/>
          </a:p>
          <a:p>
            <a:r>
              <a:rPr lang="en-US" altLang="zh-CN" sz="3200" dirty="0"/>
              <a:t>《</a:t>
            </a:r>
            <a:r>
              <a:rPr lang="zh-CN" altLang="en-US" sz="3200" dirty="0"/>
              <a:t>统计学习方法</a:t>
            </a:r>
            <a:r>
              <a:rPr lang="en-US" altLang="zh-CN" sz="3200" dirty="0"/>
              <a:t>-</a:t>
            </a:r>
            <a:r>
              <a:rPr lang="zh-CN" altLang="en-US" sz="3200" dirty="0"/>
              <a:t>第二版</a:t>
            </a:r>
            <a:r>
              <a:rPr lang="en-US" altLang="zh-CN" sz="3200" dirty="0"/>
              <a:t>》</a:t>
            </a:r>
            <a:r>
              <a:rPr lang="zh-CN" altLang="en-US" sz="3200" dirty="0"/>
              <a:t>李航</a:t>
            </a:r>
            <a:endParaRPr lang="en-US" altLang="zh-CN" sz="3200" dirty="0"/>
          </a:p>
          <a:p>
            <a:pPr lvl="1"/>
            <a:r>
              <a:rPr lang="zh-CN" altLang="en-US" dirty="0"/>
              <a:t>第</a:t>
            </a:r>
            <a:r>
              <a:rPr lang="en-US" altLang="zh-CN" dirty="0"/>
              <a:t>2</a:t>
            </a:r>
            <a:r>
              <a:rPr lang="zh-CN" altLang="en-US" dirty="0"/>
              <a:t>篇 无监督学习</a:t>
            </a:r>
            <a:endParaRPr lang="en-US" altLang="zh-CN" dirty="0"/>
          </a:p>
          <a:p>
            <a:r>
              <a:rPr lang="en-US" altLang="zh-CN" sz="3200" dirty="0"/>
              <a:t>Bishop, C.M. (2006). 《Pattern recognition and Machine Learning》. Springer. ISBN 9780387310732.</a:t>
            </a:r>
          </a:p>
          <a:p>
            <a:pPr lvl="1"/>
            <a:r>
              <a:rPr lang="en-US" altLang="zh-CN" dirty="0"/>
              <a:t>Chapter 2</a:t>
            </a:r>
          </a:p>
          <a:p>
            <a:r>
              <a:rPr lang="en-US" altLang="zh-CN" dirty="0"/>
              <a:t>Introduction to Data Minding, 2</a:t>
            </a:r>
            <a:r>
              <a:rPr lang="en-US" altLang="zh-CN" baseline="30000" dirty="0"/>
              <a:t>nd</a:t>
            </a:r>
            <a:r>
              <a:rPr lang="en-US" altLang="zh-CN" dirty="0"/>
              <a:t>, Tan, Steinbach, Kumar</a:t>
            </a:r>
          </a:p>
          <a:p>
            <a:pPr lvl="1"/>
            <a:r>
              <a:rPr lang="en-US" altLang="zh-CN" dirty="0"/>
              <a:t>Chapter 7</a:t>
            </a:r>
          </a:p>
          <a:p>
            <a:endParaRPr kumimoji="1" lang="zh-CN" altLang="en-US" dirty="0"/>
          </a:p>
        </p:txBody>
      </p:sp>
    </p:spTree>
    <p:extLst>
      <p:ext uri="{BB962C8B-B14F-4D97-AF65-F5344CB8AC3E}">
        <p14:creationId xmlns:p14="http://schemas.microsoft.com/office/powerpoint/2010/main" val="3537817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19B84E-C7DB-4CA6-803F-103546BABD8E}"/>
              </a:ext>
            </a:extLst>
          </p:cNvPr>
          <p:cNvSpPr>
            <a:spLocks noGrp="1"/>
          </p:cNvSpPr>
          <p:nvPr>
            <p:ph type="title"/>
          </p:nvPr>
        </p:nvSpPr>
        <p:spPr/>
        <p:txBody>
          <a:bodyPr/>
          <a:lstStyle/>
          <a:p>
            <a:r>
              <a:rPr lang="zh-CN" altLang="en-US" sz="3200" dirty="0"/>
              <a:t>无监督学习（</a:t>
            </a:r>
            <a:r>
              <a:rPr lang="en-US" altLang="zh-CN" sz="3200" dirty="0"/>
              <a:t> Unsupervised Learning </a:t>
            </a:r>
            <a:r>
              <a:rPr lang="zh-CN" altLang="en-US" sz="3200" dirty="0"/>
              <a:t>）</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2943ADE-6938-48DD-A37E-89FB3F7436D5}"/>
                  </a:ext>
                </a:extLst>
              </p:cNvPr>
              <p:cNvSpPr>
                <a:spLocks noGrp="1"/>
              </p:cNvSpPr>
              <p:nvPr>
                <p:ph idx="1"/>
              </p:nvPr>
            </p:nvSpPr>
            <p:spPr/>
            <p:txBody>
              <a:bodyPr/>
              <a:lstStyle/>
              <a:p>
                <a:r>
                  <a:rPr lang="zh-CN" altLang="en-US" dirty="0"/>
                  <a:t>监督学习（有标签）</a:t>
                </a:r>
                <a:endParaRPr lang="en-US" altLang="zh-CN" dirty="0"/>
              </a:p>
              <a:p>
                <a:pPr lvl="1"/>
                <a:r>
                  <a:rPr lang="zh-CN" altLang="en-US" dirty="0"/>
                  <a:t>建立映射关系 </a:t>
                </a:r>
                <a14:m>
                  <m:oMath xmlns:m="http://schemas.openxmlformats.org/officeDocument/2006/math">
                    <m:r>
                      <a:rPr lang="en-US" altLang="zh-CN" i="1" dirty="0">
                        <a:latin typeface="Cambria Math" panose="02040503050406030204" pitchFamily="18" charset="0"/>
                      </a:rPr>
                      <m:t>𝑓</m:t>
                    </m:r>
                    <m:r>
                      <a:rPr lang="en-US" altLang="zh-CN" i="1" dirty="0">
                        <a:latin typeface="Cambria Math" panose="02040503050406030204" pitchFamily="18" charset="0"/>
                      </a:rPr>
                      <m:t>: </m:t>
                    </m:r>
                    <m:r>
                      <a:rPr lang="en-US" altLang="zh-CN" i="1" dirty="0">
                        <a:latin typeface="Cambria Math" panose="02040503050406030204" pitchFamily="18" charset="0"/>
                      </a:rPr>
                      <m:t>𝑥</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𝑦</m:t>
                    </m:r>
                  </m:oMath>
                </a14:m>
                <a:endParaRPr lang="en-US" altLang="zh-CN" dirty="0"/>
              </a:p>
              <a:p>
                <a:r>
                  <a:rPr lang="zh-CN" altLang="en-US" dirty="0"/>
                  <a:t>无监督学习（无标签）</a:t>
                </a:r>
                <a:endParaRPr lang="en-US" altLang="zh-CN" dirty="0"/>
              </a:p>
              <a:p>
                <a:pPr lvl="1"/>
                <a:r>
                  <a:rPr lang="zh-CN" altLang="en-US" dirty="0"/>
                  <a:t>指从</a:t>
                </a:r>
                <a:r>
                  <a:rPr lang="zh-CN" altLang="en-US" b="1" u="sng" dirty="0"/>
                  <a:t>无标签</a:t>
                </a:r>
                <a:r>
                  <a:rPr lang="zh-CN" altLang="en-US" dirty="0"/>
                  <a:t>的数据中学习出一些有用的模式。</a:t>
                </a:r>
                <a:endParaRPr lang="en-US" altLang="zh-CN" dirty="0"/>
              </a:p>
              <a:p>
                <a:pPr lvl="1"/>
                <a:endParaRPr lang="en-US" altLang="zh-CN" dirty="0"/>
              </a:p>
            </p:txBody>
          </p:sp>
        </mc:Choice>
        <mc:Fallback xmlns="">
          <p:sp>
            <p:nvSpPr>
              <p:cNvPr id="3" name="内容占位符 2">
                <a:extLst>
                  <a:ext uri="{FF2B5EF4-FFF2-40B4-BE49-F238E27FC236}">
                    <a16:creationId xmlns:a16="http://schemas.microsoft.com/office/drawing/2014/main" id="{F2943ADE-6938-48DD-A37E-89FB3F7436D5}"/>
                  </a:ext>
                </a:extLst>
              </p:cNvPr>
              <p:cNvSpPr>
                <a:spLocks noGrp="1" noRot="1" noChangeAspect="1" noMove="1" noResize="1" noEditPoints="1" noAdjustHandles="1" noChangeArrowheads="1" noChangeShapeType="1" noTextEdit="1"/>
              </p:cNvSpPr>
              <p:nvPr>
                <p:ph idx="1"/>
              </p:nvPr>
            </p:nvSpPr>
            <p:spPr>
              <a:blipFill>
                <a:blip r:embed="rId3"/>
                <a:stretch>
                  <a:fillRect l="-925" t="-1874"/>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2851D688-A9A1-554B-9501-4D7DCD7324DB}"/>
              </a:ext>
            </a:extLst>
          </p:cNvPr>
          <p:cNvPicPr>
            <a:picLocks noChangeAspect="1"/>
          </p:cNvPicPr>
          <p:nvPr/>
        </p:nvPicPr>
        <p:blipFill>
          <a:blip r:embed="rId4"/>
          <a:stretch>
            <a:fillRect/>
          </a:stretch>
        </p:blipFill>
        <p:spPr>
          <a:xfrm>
            <a:off x="2422114" y="3581400"/>
            <a:ext cx="3258497" cy="2286000"/>
          </a:xfrm>
          <a:prstGeom prst="rect">
            <a:avLst/>
          </a:prstGeom>
        </p:spPr>
      </p:pic>
      <p:pic>
        <p:nvPicPr>
          <p:cNvPr id="5" name="图片 4">
            <a:extLst>
              <a:ext uri="{FF2B5EF4-FFF2-40B4-BE49-F238E27FC236}">
                <a16:creationId xmlns:a16="http://schemas.microsoft.com/office/drawing/2014/main" id="{F1A38CA5-E0E1-9C47-8620-C8381FCD2A58}"/>
              </a:ext>
            </a:extLst>
          </p:cNvPr>
          <p:cNvPicPr>
            <a:picLocks noChangeAspect="1"/>
          </p:cNvPicPr>
          <p:nvPr/>
        </p:nvPicPr>
        <p:blipFill>
          <a:blip r:embed="rId5"/>
          <a:stretch>
            <a:fillRect/>
          </a:stretch>
        </p:blipFill>
        <p:spPr>
          <a:xfrm>
            <a:off x="6548546" y="3628209"/>
            <a:ext cx="3223517" cy="2286000"/>
          </a:xfrm>
          <a:prstGeom prst="rect">
            <a:avLst/>
          </a:prstGeom>
        </p:spPr>
      </p:pic>
    </p:spTree>
    <p:extLst>
      <p:ext uri="{BB962C8B-B14F-4D97-AF65-F5344CB8AC3E}">
        <p14:creationId xmlns:p14="http://schemas.microsoft.com/office/powerpoint/2010/main" val="548052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71AC90-E487-0F4C-B1E5-E2CE98730655}"/>
              </a:ext>
            </a:extLst>
          </p:cNvPr>
          <p:cNvSpPr>
            <a:spLocks noGrp="1"/>
          </p:cNvSpPr>
          <p:nvPr>
            <p:ph type="title"/>
          </p:nvPr>
        </p:nvSpPr>
        <p:spPr/>
        <p:txBody>
          <a:bodyPr/>
          <a:lstStyle/>
          <a:p>
            <a:r>
              <a:rPr lang="zh-CN" altLang="en-US" dirty="0"/>
              <a:t>典型的无监督学习问题</a:t>
            </a:r>
            <a:r>
              <a:rPr lang="en-US" altLang="zh-CN" dirty="0"/>
              <a:t>1/3</a:t>
            </a:r>
            <a:endParaRPr kumimoji="1" lang="zh-CN" altLang="en-US" dirty="0"/>
          </a:p>
        </p:txBody>
      </p:sp>
      <p:pic>
        <p:nvPicPr>
          <p:cNvPr id="3" name="图片 2">
            <a:extLst>
              <a:ext uri="{FF2B5EF4-FFF2-40B4-BE49-F238E27FC236}">
                <a16:creationId xmlns:a16="http://schemas.microsoft.com/office/drawing/2014/main" id="{59E3D3A1-040B-B542-995B-245B45AA0C82}"/>
              </a:ext>
            </a:extLst>
          </p:cNvPr>
          <p:cNvPicPr>
            <a:picLocks noChangeAspect="1"/>
          </p:cNvPicPr>
          <p:nvPr/>
        </p:nvPicPr>
        <p:blipFill>
          <a:blip r:embed="rId2"/>
          <a:stretch>
            <a:fillRect/>
          </a:stretch>
        </p:blipFill>
        <p:spPr>
          <a:xfrm>
            <a:off x="1866752" y="1447800"/>
            <a:ext cx="3828605" cy="4625885"/>
          </a:xfrm>
          <a:prstGeom prst="rect">
            <a:avLst/>
          </a:prstGeom>
        </p:spPr>
      </p:pic>
      <p:pic>
        <p:nvPicPr>
          <p:cNvPr id="4" name="图片 3">
            <a:extLst>
              <a:ext uri="{FF2B5EF4-FFF2-40B4-BE49-F238E27FC236}">
                <a16:creationId xmlns:a16="http://schemas.microsoft.com/office/drawing/2014/main" id="{227BDE5D-E9C2-EB4A-A015-0E5AB9EB06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87009" y="2253821"/>
            <a:ext cx="2266542" cy="1923497"/>
          </a:xfrm>
          <a:prstGeom prst="rect">
            <a:avLst/>
          </a:prstGeom>
        </p:spPr>
      </p:pic>
      <p:sp>
        <p:nvSpPr>
          <p:cNvPr id="5" name="矩形 4">
            <a:extLst>
              <a:ext uri="{FF2B5EF4-FFF2-40B4-BE49-F238E27FC236}">
                <a16:creationId xmlns:a16="http://schemas.microsoft.com/office/drawing/2014/main" id="{1A2547E9-44A4-BC48-AF3A-4F4A7C39EDED}"/>
              </a:ext>
            </a:extLst>
          </p:cNvPr>
          <p:cNvSpPr/>
          <p:nvPr/>
        </p:nvSpPr>
        <p:spPr>
          <a:xfrm>
            <a:off x="8686801" y="4800601"/>
            <a:ext cx="1066959" cy="461665"/>
          </a:xfrm>
          <a:prstGeom prst="rect">
            <a:avLst/>
          </a:prstGeom>
        </p:spPr>
        <p:txBody>
          <a:bodyPr wrap="square">
            <a:spAutoFit/>
          </a:bodyPr>
          <a:lstStyle/>
          <a:p>
            <a:pPr algn="ctr"/>
            <a:r>
              <a:rPr lang="zh-CN" altLang="en-US" sz="2400" dirty="0"/>
              <a:t>聚类</a:t>
            </a:r>
          </a:p>
        </p:txBody>
      </p:sp>
    </p:spTree>
    <p:extLst>
      <p:ext uri="{BB962C8B-B14F-4D97-AF65-F5344CB8AC3E}">
        <p14:creationId xmlns:p14="http://schemas.microsoft.com/office/powerpoint/2010/main" val="2989647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71AC90-E487-0F4C-B1E5-E2CE98730655}"/>
              </a:ext>
            </a:extLst>
          </p:cNvPr>
          <p:cNvSpPr>
            <a:spLocks noGrp="1"/>
          </p:cNvSpPr>
          <p:nvPr>
            <p:ph type="title"/>
          </p:nvPr>
        </p:nvSpPr>
        <p:spPr/>
        <p:txBody>
          <a:bodyPr/>
          <a:lstStyle/>
          <a:p>
            <a:r>
              <a:rPr lang="zh-CN" altLang="en-US" dirty="0"/>
              <a:t>典型的无监督学习问题</a:t>
            </a:r>
            <a:r>
              <a:rPr lang="en-US" altLang="zh-CN" dirty="0"/>
              <a:t>2/3</a:t>
            </a:r>
            <a:endParaRPr kumimoji="1" lang="zh-CN" altLang="en-US" dirty="0"/>
          </a:p>
        </p:txBody>
      </p:sp>
      <p:pic>
        <p:nvPicPr>
          <p:cNvPr id="3" name="图片 2">
            <a:extLst>
              <a:ext uri="{FF2B5EF4-FFF2-40B4-BE49-F238E27FC236}">
                <a16:creationId xmlns:a16="http://schemas.microsoft.com/office/drawing/2014/main" id="{59E3D3A1-040B-B542-995B-245B45AA0C82}"/>
              </a:ext>
            </a:extLst>
          </p:cNvPr>
          <p:cNvPicPr>
            <a:picLocks noChangeAspect="1"/>
          </p:cNvPicPr>
          <p:nvPr/>
        </p:nvPicPr>
        <p:blipFill>
          <a:blip r:embed="rId2"/>
          <a:stretch>
            <a:fillRect/>
          </a:stretch>
        </p:blipFill>
        <p:spPr>
          <a:xfrm>
            <a:off x="1866752" y="1447800"/>
            <a:ext cx="3828605" cy="4625885"/>
          </a:xfrm>
          <a:prstGeom prst="rect">
            <a:avLst/>
          </a:prstGeom>
        </p:spPr>
      </p:pic>
      <p:sp>
        <p:nvSpPr>
          <p:cNvPr id="6" name="矩形 5">
            <a:extLst>
              <a:ext uri="{FF2B5EF4-FFF2-40B4-BE49-F238E27FC236}">
                <a16:creationId xmlns:a16="http://schemas.microsoft.com/office/drawing/2014/main" id="{7DD1EE81-1038-4744-8BF7-E254739D5AFF}"/>
              </a:ext>
            </a:extLst>
          </p:cNvPr>
          <p:cNvSpPr/>
          <p:nvPr/>
        </p:nvSpPr>
        <p:spPr>
          <a:xfrm>
            <a:off x="7198559" y="4415133"/>
            <a:ext cx="2438400" cy="461665"/>
          </a:xfrm>
          <a:prstGeom prst="rect">
            <a:avLst/>
          </a:prstGeom>
        </p:spPr>
        <p:txBody>
          <a:bodyPr wrap="square">
            <a:spAutoFit/>
          </a:bodyPr>
          <a:lstStyle/>
          <a:p>
            <a:pPr algn="ctr"/>
            <a:r>
              <a:rPr lang="zh-CN" altLang="en-US" sz="2400" dirty="0"/>
              <a:t>无监督特征学习</a:t>
            </a:r>
            <a:endParaRPr lang="en-US" altLang="zh-CN" sz="2400" dirty="0"/>
          </a:p>
        </p:txBody>
      </p:sp>
      <p:pic>
        <p:nvPicPr>
          <p:cNvPr id="7" name="图片 6">
            <a:extLst>
              <a:ext uri="{FF2B5EF4-FFF2-40B4-BE49-F238E27FC236}">
                <a16:creationId xmlns:a16="http://schemas.microsoft.com/office/drawing/2014/main" id="{9291E032-5432-F04A-857C-F4904273B8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62800" y="1752600"/>
            <a:ext cx="2758321" cy="2155004"/>
          </a:xfrm>
          <a:prstGeom prst="rect">
            <a:avLst/>
          </a:prstGeom>
        </p:spPr>
      </p:pic>
    </p:spTree>
    <p:extLst>
      <p:ext uri="{BB962C8B-B14F-4D97-AF65-F5344CB8AC3E}">
        <p14:creationId xmlns:p14="http://schemas.microsoft.com/office/powerpoint/2010/main" val="1034142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8AC022-531F-4EA0-B8D6-DBBE4BD49D40}"/>
              </a:ext>
            </a:extLst>
          </p:cNvPr>
          <p:cNvSpPr>
            <a:spLocks noGrp="1"/>
          </p:cNvSpPr>
          <p:nvPr>
            <p:ph type="title"/>
          </p:nvPr>
        </p:nvSpPr>
        <p:spPr/>
        <p:txBody>
          <a:bodyPr/>
          <a:lstStyle/>
          <a:p>
            <a:r>
              <a:rPr lang="zh-CN" altLang="en-US" dirty="0"/>
              <a:t>典型的无监督学习问题</a:t>
            </a:r>
            <a:r>
              <a:rPr lang="en-US" altLang="zh-CN" dirty="0"/>
              <a:t>3/3</a:t>
            </a:r>
            <a:endParaRPr lang="zh-CN" altLang="en-US" dirty="0"/>
          </a:p>
        </p:txBody>
      </p:sp>
      <p:sp>
        <p:nvSpPr>
          <p:cNvPr id="8" name="矩形 7">
            <a:extLst>
              <a:ext uri="{FF2B5EF4-FFF2-40B4-BE49-F238E27FC236}">
                <a16:creationId xmlns:a16="http://schemas.microsoft.com/office/drawing/2014/main" id="{5B77A7D5-095B-408F-A5C7-BDF6C1EA622A}"/>
              </a:ext>
            </a:extLst>
          </p:cNvPr>
          <p:cNvSpPr/>
          <p:nvPr/>
        </p:nvSpPr>
        <p:spPr>
          <a:xfrm>
            <a:off x="7258458" y="4800601"/>
            <a:ext cx="1887696" cy="461665"/>
          </a:xfrm>
          <a:prstGeom prst="rect">
            <a:avLst/>
          </a:prstGeom>
        </p:spPr>
        <p:txBody>
          <a:bodyPr wrap="square">
            <a:spAutoFit/>
          </a:bodyPr>
          <a:lstStyle/>
          <a:p>
            <a:pPr algn="ctr"/>
            <a:r>
              <a:rPr lang="zh-CN" altLang="en-US" sz="2400" dirty="0"/>
              <a:t>密度估计</a:t>
            </a:r>
            <a:endParaRPr lang="en-US" altLang="zh-CN" sz="2400" dirty="0"/>
          </a:p>
        </p:txBody>
      </p:sp>
      <p:pic>
        <p:nvPicPr>
          <p:cNvPr id="10" name="图片 9">
            <a:extLst>
              <a:ext uri="{FF2B5EF4-FFF2-40B4-BE49-F238E27FC236}">
                <a16:creationId xmlns:a16="http://schemas.microsoft.com/office/drawing/2014/main" id="{464790F5-059E-4721-B641-73086FFF7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8458" y="2013497"/>
            <a:ext cx="2266542" cy="2219969"/>
          </a:xfrm>
          <a:prstGeom prst="rect">
            <a:avLst/>
          </a:prstGeom>
        </p:spPr>
      </p:pic>
      <p:pic>
        <p:nvPicPr>
          <p:cNvPr id="9" name="图片 8">
            <a:extLst>
              <a:ext uri="{FF2B5EF4-FFF2-40B4-BE49-F238E27FC236}">
                <a16:creationId xmlns:a16="http://schemas.microsoft.com/office/drawing/2014/main" id="{22131E50-D4CA-9044-854A-25BCD91C5E51}"/>
              </a:ext>
            </a:extLst>
          </p:cNvPr>
          <p:cNvPicPr>
            <a:picLocks noChangeAspect="1"/>
          </p:cNvPicPr>
          <p:nvPr/>
        </p:nvPicPr>
        <p:blipFill>
          <a:blip r:embed="rId4"/>
          <a:stretch>
            <a:fillRect/>
          </a:stretch>
        </p:blipFill>
        <p:spPr>
          <a:xfrm>
            <a:off x="1866752" y="1447800"/>
            <a:ext cx="3828605" cy="4625885"/>
          </a:xfrm>
          <a:prstGeom prst="rect">
            <a:avLst/>
          </a:prstGeom>
        </p:spPr>
      </p:pic>
      <p:sp>
        <p:nvSpPr>
          <p:cNvPr id="7" name="文本框 6">
            <a:extLst>
              <a:ext uri="{FF2B5EF4-FFF2-40B4-BE49-F238E27FC236}">
                <a16:creationId xmlns:a16="http://schemas.microsoft.com/office/drawing/2014/main" id="{A86070A9-D5F4-4A36-883D-B50748E87CEF}"/>
              </a:ext>
            </a:extLst>
          </p:cNvPr>
          <p:cNvSpPr txBox="1"/>
          <p:nvPr/>
        </p:nvSpPr>
        <p:spPr>
          <a:xfrm>
            <a:off x="5867400" y="1134069"/>
            <a:ext cx="6095170" cy="923330"/>
          </a:xfrm>
          <a:prstGeom prst="rect">
            <a:avLst/>
          </a:prstGeom>
          <a:noFill/>
        </p:spPr>
        <p:txBody>
          <a:bodyPr wrap="square">
            <a:spAutoFit/>
          </a:bodyPr>
          <a:lstStyle/>
          <a:p>
            <a:r>
              <a:rPr lang="zh-CN" altLang="en-US" b="0" i="0" dirty="0">
                <a:effectLst/>
                <a:latin typeface="PingFang SC"/>
              </a:rPr>
              <a:t>无监督学习中的​</a:t>
            </a:r>
            <a:r>
              <a:rPr lang="zh-CN" altLang="en-US" b="1" i="0" dirty="0">
                <a:effectLst/>
                <a:latin typeface="PingFang SC"/>
              </a:rPr>
              <a:t>​密度估计​</a:t>
            </a:r>
            <a:r>
              <a:rPr lang="zh-CN" altLang="en-US" b="0" i="0" dirty="0">
                <a:effectLst/>
                <a:latin typeface="PingFang SC"/>
              </a:rPr>
              <a:t>​（</a:t>
            </a:r>
            <a:r>
              <a:rPr lang="en-US" altLang="zh-CN" b="0" i="0" dirty="0">
                <a:effectLst/>
                <a:latin typeface="PingFang SC"/>
              </a:rPr>
              <a:t>Density Estimation</a:t>
            </a:r>
            <a:r>
              <a:rPr lang="zh-CN" altLang="en-US" b="0" i="0" dirty="0">
                <a:effectLst/>
                <a:latin typeface="PingFang SC"/>
              </a:rPr>
              <a:t>）旨在从无标签数据中推断其潜在的概率分布，从而量化数据点在特征空间中的分布密度。</a:t>
            </a:r>
            <a:endParaRPr kumimoji="1" lang="zh-CN" altLang="en-US" dirty="0"/>
          </a:p>
        </p:txBody>
      </p:sp>
    </p:spTree>
    <p:extLst>
      <p:ext uri="{BB962C8B-B14F-4D97-AF65-F5344CB8AC3E}">
        <p14:creationId xmlns:p14="http://schemas.microsoft.com/office/powerpoint/2010/main" val="325381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1CBC1-EE68-4D9F-AA78-C28D7010DDA9}"/>
              </a:ext>
            </a:extLst>
          </p:cNvPr>
          <p:cNvSpPr>
            <a:spLocks noGrp="1"/>
          </p:cNvSpPr>
          <p:nvPr>
            <p:ph type="ctrTitle"/>
          </p:nvPr>
        </p:nvSpPr>
        <p:spPr/>
        <p:txBody>
          <a:bodyPr/>
          <a:lstStyle/>
          <a:p>
            <a:r>
              <a:rPr lang="zh-CN" altLang="en-US" dirty="0"/>
              <a:t>聚类</a:t>
            </a:r>
          </a:p>
        </p:txBody>
      </p:sp>
    </p:spTree>
    <p:extLst>
      <p:ext uri="{BB962C8B-B14F-4D97-AF65-F5344CB8AC3E}">
        <p14:creationId xmlns:p14="http://schemas.microsoft.com/office/powerpoint/2010/main" val="1564042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E1F2BA-93DB-8F4A-BED4-9FAC063EF795}"/>
              </a:ext>
            </a:extLst>
          </p:cNvPr>
          <p:cNvSpPr>
            <a:spLocks noGrp="1"/>
          </p:cNvSpPr>
          <p:nvPr>
            <p:ph type="title"/>
          </p:nvPr>
        </p:nvSpPr>
        <p:spPr/>
        <p:txBody>
          <a:bodyPr/>
          <a:lstStyle/>
          <a:p>
            <a:r>
              <a:rPr kumimoji="1" lang="zh-CN" altLang="en-US" dirty="0"/>
              <a:t>聚类</a:t>
            </a:r>
          </a:p>
        </p:txBody>
      </p:sp>
      <p:sp>
        <p:nvSpPr>
          <p:cNvPr id="3" name="内容占位符 2">
            <a:extLst>
              <a:ext uri="{FF2B5EF4-FFF2-40B4-BE49-F238E27FC236}">
                <a16:creationId xmlns:a16="http://schemas.microsoft.com/office/drawing/2014/main" id="{58189509-9DDB-884E-94B0-8C2216C6A6DC}"/>
              </a:ext>
            </a:extLst>
          </p:cNvPr>
          <p:cNvSpPr>
            <a:spLocks noGrp="1"/>
          </p:cNvSpPr>
          <p:nvPr>
            <p:ph idx="1"/>
          </p:nvPr>
        </p:nvSpPr>
        <p:spPr/>
        <p:txBody>
          <a:bodyPr/>
          <a:lstStyle/>
          <a:p>
            <a:r>
              <a:rPr kumimoji="1" lang="zh-CN" altLang="en-US" dirty="0"/>
              <a:t>聚类（</a:t>
            </a:r>
            <a:r>
              <a:rPr kumimoji="1" lang="en-US" altLang="zh-CN" dirty="0"/>
              <a:t>Clustering</a:t>
            </a:r>
            <a:r>
              <a:rPr kumimoji="1" lang="zh-CN" altLang="en-US" dirty="0"/>
              <a:t>）</a:t>
            </a:r>
            <a:endParaRPr kumimoji="1" lang="en-US" altLang="zh-CN" dirty="0"/>
          </a:p>
          <a:p>
            <a:pPr lvl="1"/>
            <a:r>
              <a:rPr kumimoji="1" lang="zh-CN" altLang="en-US" dirty="0"/>
              <a:t>将样本集合中相似的样本分配到相同的类簇</a:t>
            </a:r>
            <a:r>
              <a:rPr kumimoji="1" lang="en-US" altLang="zh-CN" dirty="0"/>
              <a:t>(cluster)</a:t>
            </a:r>
            <a:r>
              <a:rPr kumimoji="1" lang="zh-CN" altLang="en-US" dirty="0"/>
              <a:t>不相似的样本分配到不同的类</a:t>
            </a:r>
            <a:r>
              <a:rPr kumimoji="1" lang="en-US" altLang="zh-CN" dirty="0"/>
              <a:t>/</a:t>
            </a:r>
            <a:r>
              <a:rPr kumimoji="1" lang="zh-CN" altLang="en-US" dirty="0"/>
              <a:t>簇，使得</a:t>
            </a:r>
            <a:r>
              <a:rPr kumimoji="1" lang="zh-CN" altLang="en-US" b="1" dirty="0"/>
              <a:t>类内样本间距较小</a:t>
            </a:r>
            <a:r>
              <a:rPr kumimoji="1" lang="zh-CN" altLang="en-US" dirty="0"/>
              <a:t>而</a:t>
            </a:r>
            <a:r>
              <a:rPr kumimoji="1" lang="zh-CN" altLang="en-US" b="1" dirty="0"/>
              <a:t>类间样本间距较大</a:t>
            </a:r>
          </a:p>
          <a:p>
            <a:pPr lvl="1"/>
            <a:endParaRPr kumimoji="1" lang="zh-CN" altLang="en-US" dirty="0"/>
          </a:p>
        </p:txBody>
      </p:sp>
      <p:pic>
        <p:nvPicPr>
          <p:cNvPr id="4" name="图片 3">
            <a:extLst>
              <a:ext uri="{FF2B5EF4-FFF2-40B4-BE49-F238E27FC236}">
                <a16:creationId xmlns:a16="http://schemas.microsoft.com/office/drawing/2014/main" id="{E0B722D3-4CB4-204F-AAD1-69700653A5CC}"/>
              </a:ext>
            </a:extLst>
          </p:cNvPr>
          <p:cNvPicPr>
            <a:picLocks noChangeAspect="1"/>
          </p:cNvPicPr>
          <p:nvPr/>
        </p:nvPicPr>
        <p:blipFill>
          <a:blip r:embed="rId2"/>
          <a:stretch>
            <a:fillRect/>
          </a:stretch>
        </p:blipFill>
        <p:spPr>
          <a:xfrm>
            <a:off x="3276600" y="3098346"/>
            <a:ext cx="5029200" cy="2769054"/>
          </a:xfrm>
          <a:prstGeom prst="rect">
            <a:avLst/>
          </a:prstGeom>
        </p:spPr>
      </p:pic>
    </p:spTree>
    <p:extLst>
      <p:ext uri="{BB962C8B-B14F-4D97-AF65-F5344CB8AC3E}">
        <p14:creationId xmlns:p14="http://schemas.microsoft.com/office/powerpoint/2010/main" val="2839825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2FD285-2616-2847-886D-93B316FD97E2}"/>
              </a:ext>
            </a:extLst>
          </p:cNvPr>
          <p:cNvSpPr>
            <a:spLocks noGrp="1"/>
          </p:cNvSpPr>
          <p:nvPr>
            <p:ph type="title"/>
          </p:nvPr>
        </p:nvSpPr>
        <p:spPr/>
        <p:txBody>
          <a:bodyPr/>
          <a:lstStyle/>
          <a:p>
            <a:r>
              <a:rPr kumimoji="1" lang="zh-CN" altLang="en-US" dirty="0"/>
              <a:t>核心概念</a:t>
            </a:r>
          </a:p>
        </p:txBody>
      </p:sp>
      <p:sp>
        <p:nvSpPr>
          <p:cNvPr id="3" name="内容占位符 2">
            <a:extLst>
              <a:ext uri="{FF2B5EF4-FFF2-40B4-BE49-F238E27FC236}">
                <a16:creationId xmlns:a16="http://schemas.microsoft.com/office/drawing/2014/main" id="{799EFFC4-C7D7-3F43-915F-AF01B9F0960D}"/>
              </a:ext>
            </a:extLst>
          </p:cNvPr>
          <p:cNvSpPr>
            <a:spLocks noGrp="1"/>
          </p:cNvSpPr>
          <p:nvPr>
            <p:ph idx="1"/>
          </p:nvPr>
        </p:nvSpPr>
        <p:spPr/>
        <p:txBody>
          <a:bodyPr/>
          <a:lstStyle/>
          <a:p>
            <a:r>
              <a:rPr kumimoji="1" lang="zh-CN" altLang="en-US" dirty="0"/>
              <a:t>样本间的距离</a:t>
            </a:r>
            <a:r>
              <a:rPr kumimoji="1" lang="en-US" altLang="zh-CN" dirty="0"/>
              <a:t>/</a:t>
            </a:r>
            <a:r>
              <a:rPr kumimoji="1" lang="zh-CN" altLang="en-US" dirty="0"/>
              <a:t>相似性</a:t>
            </a:r>
            <a:endParaRPr kumimoji="1" lang="en-US" altLang="zh-CN" dirty="0"/>
          </a:p>
          <a:p>
            <a:pPr lvl="1"/>
            <a:r>
              <a:rPr kumimoji="1" lang="en-US" altLang="zh-CN" dirty="0"/>
              <a:t>L1</a:t>
            </a:r>
            <a:r>
              <a:rPr kumimoji="1" lang="zh-CN" altLang="en-US" dirty="0"/>
              <a:t>、</a:t>
            </a:r>
            <a:r>
              <a:rPr kumimoji="1" lang="en-US" altLang="zh-CN" dirty="0"/>
              <a:t>L2</a:t>
            </a:r>
            <a:r>
              <a:rPr kumimoji="1" lang="zh-CN" altLang="en-US" dirty="0"/>
              <a:t>距离</a:t>
            </a:r>
            <a:endParaRPr kumimoji="1" lang="en-US" altLang="zh-CN" dirty="0"/>
          </a:p>
          <a:p>
            <a:pPr lvl="1"/>
            <a:r>
              <a:rPr kumimoji="1" lang="zh-CN" altLang="en-US" dirty="0"/>
              <a:t>余弦距离</a:t>
            </a:r>
            <a:endParaRPr kumimoji="1" lang="en-US" altLang="zh-CN" dirty="0"/>
          </a:p>
          <a:p>
            <a:pPr lvl="1"/>
            <a:r>
              <a:rPr kumimoji="1" lang="zh-CN" altLang="en-US" dirty="0"/>
              <a:t>相关系数</a:t>
            </a:r>
            <a:endParaRPr kumimoji="1" lang="en-US" altLang="zh-CN" dirty="0"/>
          </a:p>
          <a:p>
            <a:pPr lvl="1"/>
            <a:r>
              <a:rPr kumimoji="1" lang="zh-CN" altLang="en-US" dirty="0"/>
              <a:t>汉明距离</a:t>
            </a:r>
          </a:p>
        </p:txBody>
      </p:sp>
      <p:pic>
        <p:nvPicPr>
          <p:cNvPr id="5" name="图片 4">
            <a:extLst>
              <a:ext uri="{FF2B5EF4-FFF2-40B4-BE49-F238E27FC236}">
                <a16:creationId xmlns:a16="http://schemas.microsoft.com/office/drawing/2014/main" id="{18F6DD32-156A-DA45-B4B0-5434898A5C44}"/>
              </a:ext>
            </a:extLst>
          </p:cNvPr>
          <p:cNvPicPr>
            <a:picLocks noChangeAspect="1"/>
          </p:cNvPicPr>
          <p:nvPr/>
        </p:nvPicPr>
        <p:blipFill>
          <a:blip r:embed="rId3"/>
          <a:stretch>
            <a:fillRect/>
          </a:stretch>
        </p:blipFill>
        <p:spPr>
          <a:xfrm>
            <a:off x="4495800" y="1828800"/>
            <a:ext cx="6492719" cy="4311650"/>
          </a:xfrm>
          <a:prstGeom prst="rect">
            <a:avLst/>
          </a:prstGeom>
        </p:spPr>
      </p:pic>
    </p:spTree>
    <p:extLst>
      <p:ext uri="{BB962C8B-B14F-4D97-AF65-F5344CB8AC3E}">
        <p14:creationId xmlns:p14="http://schemas.microsoft.com/office/powerpoint/2010/main" val="328665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3AC44D-58CB-3240-A8E4-E05DFA7D199D}"/>
              </a:ext>
            </a:extLst>
          </p:cNvPr>
          <p:cNvSpPr>
            <a:spLocks noGrp="1"/>
          </p:cNvSpPr>
          <p:nvPr>
            <p:ph type="title"/>
          </p:nvPr>
        </p:nvSpPr>
        <p:spPr/>
        <p:txBody>
          <a:bodyPr/>
          <a:lstStyle/>
          <a:p>
            <a:r>
              <a:rPr kumimoji="1" lang="zh-CN" altLang="en-US" dirty="0"/>
              <a:t>聚类任务</a:t>
            </a:r>
          </a:p>
        </p:txBody>
      </p:sp>
      <p:sp>
        <p:nvSpPr>
          <p:cNvPr id="3" name="内容占位符 2">
            <a:extLst>
              <a:ext uri="{FF2B5EF4-FFF2-40B4-BE49-F238E27FC236}">
                <a16:creationId xmlns:a16="http://schemas.microsoft.com/office/drawing/2014/main" id="{874BAE49-48C6-E046-94C6-6A5CEBD1A312}"/>
              </a:ext>
            </a:extLst>
          </p:cNvPr>
          <p:cNvSpPr>
            <a:spLocks noGrp="1"/>
          </p:cNvSpPr>
          <p:nvPr>
            <p:ph idx="1"/>
          </p:nvPr>
        </p:nvSpPr>
        <p:spPr/>
        <p:txBody>
          <a:bodyPr/>
          <a:lstStyle/>
          <a:p>
            <a:r>
              <a:rPr kumimoji="1" lang="zh-CN" altLang="en-US" dirty="0"/>
              <a:t>常见的聚类任务</a:t>
            </a:r>
            <a:endParaRPr kumimoji="1" lang="en-US" altLang="zh-CN" dirty="0"/>
          </a:p>
          <a:p>
            <a:pPr lvl="1"/>
            <a:r>
              <a:rPr kumimoji="1" lang="zh-CN" altLang="en-US" dirty="0"/>
              <a:t>图像分割</a:t>
            </a:r>
            <a:endParaRPr kumimoji="1" lang="en-US" altLang="zh-CN" dirty="0"/>
          </a:p>
          <a:p>
            <a:pPr lvl="1"/>
            <a:r>
              <a:rPr kumimoji="1" lang="zh-CN" altLang="en-US" dirty="0"/>
              <a:t>文本聚类</a:t>
            </a:r>
            <a:endParaRPr kumimoji="1" lang="en-US" altLang="zh-CN" dirty="0"/>
          </a:p>
          <a:p>
            <a:pPr lvl="1"/>
            <a:r>
              <a:rPr kumimoji="1" lang="zh-CN" altLang="en-US" dirty="0"/>
              <a:t>社交网络分析</a:t>
            </a:r>
            <a:endParaRPr kumimoji="1" lang="en-US" altLang="zh-CN" dirty="0"/>
          </a:p>
          <a:p>
            <a:pPr lvl="1"/>
            <a:r>
              <a:rPr kumimoji="1" lang="en-US" altLang="zh-CN" dirty="0"/>
              <a:t>….</a:t>
            </a:r>
            <a:endParaRPr kumimoji="1" lang="zh-CN" altLang="en-US" dirty="0"/>
          </a:p>
        </p:txBody>
      </p:sp>
      <p:pic>
        <p:nvPicPr>
          <p:cNvPr id="4" name="图片 3">
            <a:extLst>
              <a:ext uri="{FF2B5EF4-FFF2-40B4-BE49-F238E27FC236}">
                <a16:creationId xmlns:a16="http://schemas.microsoft.com/office/drawing/2014/main" id="{37A53DCD-86C9-714B-A556-B6D9B269BB13}"/>
              </a:ext>
            </a:extLst>
          </p:cNvPr>
          <p:cNvPicPr>
            <a:picLocks noChangeAspect="1"/>
          </p:cNvPicPr>
          <p:nvPr/>
        </p:nvPicPr>
        <p:blipFill>
          <a:blip r:embed="rId2"/>
          <a:stretch>
            <a:fillRect/>
          </a:stretch>
        </p:blipFill>
        <p:spPr>
          <a:xfrm>
            <a:off x="5022487" y="1012371"/>
            <a:ext cx="6546850" cy="2329554"/>
          </a:xfrm>
          <a:prstGeom prst="rect">
            <a:avLst/>
          </a:prstGeom>
        </p:spPr>
      </p:pic>
      <p:pic>
        <p:nvPicPr>
          <p:cNvPr id="5" name="图片 4">
            <a:extLst>
              <a:ext uri="{FF2B5EF4-FFF2-40B4-BE49-F238E27FC236}">
                <a16:creationId xmlns:a16="http://schemas.microsoft.com/office/drawing/2014/main" id="{14904568-A172-6A43-BB5F-99F3F76D8BF6}"/>
              </a:ext>
            </a:extLst>
          </p:cNvPr>
          <p:cNvPicPr>
            <a:picLocks noChangeAspect="1"/>
          </p:cNvPicPr>
          <p:nvPr/>
        </p:nvPicPr>
        <p:blipFill>
          <a:blip r:embed="rId3"/>
          <a:stretch>
            <a:fillRect/>
          </a:stretch>
        </p:blipFill>
        <p:spPr>
          <a:xfrm>
            <a:off x="1132154" y="3706585"/>
            <a:ext cx="4963846" cy="2329554"/>
          </a:xfrm>
          <a:prstGeom prst="rect">
            <a:avLst/>
          </a:prstGeom>
        </p:spPr>
      </p:pic>
      <p:pic>
        <p:nvPicPr>
          <p:cNvPr id="6" name="图片 5">
            <a:extLst>
              <a:ext uri="{FF2B5EF4-FFF2-40B4-BE49-F238E27FC236}">
                <a16:creationId xmlns:a16="http://schemas.microsoft.com/office/drawing/2014/main" id="{9C0B508B-C8A0-904E-834B-B0B429EA6CBF}"/>
              </a:ext>
            </a:extLst>
          </p:cNvPr>
          <p:cNvPicPr>
            <a:picLocks noChangeAspect="1"/>
          </p:cNvPicPr>
          <p:nvPr/>
        </p:nvPicPr>
        <p:blipFill>
          <a:blip r:embed="rId4"/>
          <a:stretch>
            <a:fillRect/>
          </a:stretch>
        </p:blipFill>
        <p:spPr>
          <a:xfrm>
            <a:off x="7086600" y="3652392"/>
            <a:ext cx="3135046" cy="2495524"/>
          </a:xfrm>
          <a:prstGeom prst="rect">
            <a:avLst/>
          </a:prstGeom>
        </p:spPr>
      </p:pic>
    </p:spTree>
    <p:extLst>
      <p:ext uri="{BB962C8B-B14F-4D97-AF65-F5344CB8AC3E}">
        <p14:creationId xmlns:p14="http://schemas.microsoft.com/office/powerpoint/2010/main" val="1460692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2A7D6-251E-8C45-8342-F360BC2FD242}"/>
              </a:ext>
            </a:extLst>
          </p:cNvPr>
          <p:cNvSpPr>
            <a:spLocks noGrp="1"/>
          </p:cNvSpPr>
          <p:nvPr>
            <p:ph type="title"/>
          </p:nvPr>
        </p:nvSpPr>
        <p:spPr/>
        <p:txBody>
          <a:bodyPr/>
          <a:lstStyle/>
          <a:p>
            <a:r>
              <a:rPr kumimoji="1" lang="zh-CN" altLang="en-US" dirty="0"/>
              <a:t>核心概念</a:t>
            </a:r>
          </a:p>
        </p:txBody>
      </p:sp>
      <p:sp>
        <p:nvSpPr>
          <p:cNvPr id="3" name="内容占位符 2">
            <a:extLst>
              <a:ext uri="{FF2B5EF4-FFF2-40B4-BE49-F238E27FC236}">
                <a16:creationId xmlns:a16="http://schemas.microsoft.com/office/drawing/2014/main" id="{B59B854F-6ABC-B94F-81D9-845DB1FF99BE}"/>
              </a:ext>
            </a:extLst>
          </p:cNvPr>
          <p:cNvSpPr>
            <a:spLocks noGrp="1"/>
          </p:cNvSpPr>
          <p:nvPr>
            <p:ph idx="1"/>
          </p:nvPr>
        </p:nvSpPr>
        <p:spPr/>
        <p:txBody>
          <a:bodyPr/>
          <a:lstStyle/>
          <a:p>
            <a:r>
              <a:rPr kumimoji="1" lang="zh-CN" altLang="en-US" dirty="0"/>
              <a:t>类</a:t>
            </a:r>
            <a:r>
              <a:rPr kumimoji="1" lang="en-US" altLang="zh-CN" dirty="0"/>
              <a:t>/</a:t>
            </a:r>
            <a:r>
              <a:rPr kumimoji="1" lang="zh-CN" altLang="en-US" dirty="0"/>
              <a:t>簇（</a:t>
            </a:r>
            <a:r>
              <a:rPr kumimoji="1" lang="en-US" altLang="zh-CN" dirty="0"/>
              <a:t>cluster</a:t>
            </a:r>
            <a:r>
              <a:rPr kumimoji="1" lang="zh-CN" altLang="en-US" dirty="0"/>
              <a:t>）</a:t>
            </a:r>
            <a:endParaRPr kumimoji="1" lang="en-US" altLang="zh-CN" dirty="0"/>
          </a:p>
          <a:p>
            <a:pPr lvl="1"/>
            <a:r>
              <a:rPr kumimoji="1" lang="zh-CN" altLang="en-US" dirty="0"/>
              <a:t>没有严格的定义，可以理解为一组相似的样本</a:t>
            </a:r>
          </a:p>
        </p:txBody>
      </p:sp>
      <p:pic>
        <p:nvPicPr>
          <p:cNvPr id="4" name="图片 3">
            <a:extLst>
              <a:ext uri="{FF2B5EF4-FFF2-40B4-BE49-F238E27FC236}">
                <a16:creationId xmlns:a16="http://schemas.microsoft.com/office/drawing/2014/main" id="{663AC1C4-BB4F-F649-A32F-441B0B360EBF}"/>
              </a:ext>
            </a:extLst>
          </p:cNvPr>
          <p:cNvPicPr>
            <a:picLocks noChangeAspect="1"/>
          </p:cNvPicPr>
          <p:nvPr/>
        </p:nvPicPr>
        <p:blipFill>
          <a:blip r:embed="rId3"/>
          <a:stretch>
            <a:fillRect/>
          </a:stretch>
        </p:blipFill>
        <p:spPr>
          <a:xfrm>
            <a:off x="3695700" y="2520950"/>
            <a:ext cx="4800600" cy="1816100"/>
          </a:xfrm>
          <a:prstGeom prst="rect">
            <a:avLst/>
          </a:prstGeom>
        </p:spPr>
      </p:pic>
      <p:pic>
        <p:nvPicPr>
          <p:cNvPr id="5" name="图片 4">
            <a:extLst>
              <a:ext uri="{FF2B5EF4-FFF2-40B4-BE49-F238E27FC236}">
                <a16:creationId xmlns:a16="http://schemas.microsoft.com/office/drawing/2014/main" id="{3BA44D51-83CF-EF4A-B580-C93A1BD40DAC}"/>
              </a:ext>
            </a:extLst>
          </p:cNvPr>
          <p:cNvPicPr>
            <a:picLocks noChangeAspect="1"/>
          </p:cNvPicPr>
          <p:nvPr/>
        </p:nvPicPr>
        <p:blipFill>
          <a:blip r:embed="rId4"/>
          <a:stretch>
            <a:fillRect/>
          </a:stretch>
        </p:blipFill>
        <p:spPr>
          <a:xfrm>
            <a:off x="3958771" y="4441839"/>
            <a:ext cx="4559300" cy="1282700"/>
          </a:xfrm>
          <a:prstGeom prst="rect">
            <a:avLst/>
          </a:prstGeom>
        </p:spPr>
      </p:pic>
    </p:spTree>
    <p:extLst>
      <p:ext uri="{BB962C8B-B14F-4D97-AF65-F5344CB8AC3E}">
        <p14:creationId xmlns:p14="http://schemas.microsoft.com/office/powerpoint/2010/main" val="1329399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FB807A-264B-0646-9737-8E229B46DC16}"/>
              </a:ext>
            </a:extLst>
          </p:cNvPr>
          <p:cNvSpPr>
            <a:spLocks noGrp="1"/>
          </p:cNvSpPr>
          <p:nvPr>
            <p:ph type="title"/>
          </p:nvPr>
        </p:nvSpPr>
        <p:spPr/>
        <p:txBody>
          <a:bodyPr/>
          <a:lstStyle/>
          <a:p>
            <a:r>
              <a:rPr kumimoji="1" lang="zh-CN" altLang="en-US" dirty="0"/>
              <a:t>核心概念</a:t>
            </a:r>
          </a:p>
        </p:txBody>
      </p:sp>
      <p:sp>
        <p:nvSpPr>
          <p:cNvPr id="3" name="内容占位符 2">
            <a:extLst>
              <a:ext uri="{FF2B5EF4-FFF2-40B4-BE49-F238E27FC236}">
                <a16:creationId xmlns:a16="http://schemas.microsoft.com/office/drawing/2014/main" id="{FDD1E354-5031-9B49-8883-2F49FB27B2C3}"/>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99C10BCF-9234-2446-94CF-A781F0ABD26B}"/>
              </a:ext>
            </a:extLst>
          </p:cNvPr>
          <p:cNvPicPr>
            <a:picLocks noChangeAspect="1"/>
          </p:cNvPicPr>
          <p:nvPr/>
        </p:nvPicPr>
        <p:blipFill>
          <a:blip r:embed="rId2"/>
          <a:stretch>
            <a:fillRect/>
          </a:stretch>
        </p:blipFill>
        <p:spPr>
          <a:xfrm>
            <a:off x="722811" y="1028909"/>
            <a:ext cx="7639055" cy="4914691"/>
          </a:xfrm>
          <a:prstGeom prst="rect">
            <a:avLst/>
          </a:prstGeom>
        </p:spPr>
      </p:pic>
    </p:spTree>
    <p:extLst>
      <p:ext uri="{BB962C8B-B14F-4D97-AF65-F5344CB8AC3E}">
        <p14:creationId xmlns:p14="http://schemas.microsoft.com/office/powerpoint/2010/main" val="1761028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AFD011-7DE9-6445-85B8-86E2254D8523}"/>
              </a:ext>
            </a:extLst>
          </p:cNvPr>
          <p:cNvSpPr>
            <a:spLocks noGrp="1"/>
          </p:cNvSpPr>
          <p:nvPr>
            <p:ph type="title"/>
          </p:nvPr>
        </p:nvSpPr>
        <p:spPr/>
        <p:txBody>
          <a:bodyPr/>
          <a:lstStyle/>
          <a:p>
            <a:r>
              <a:rPr kumimoji="1" lang="zh-CN" altLang="en-US" dirty="0"/>
              <a:t>聚类方法</a:t>
            </a:r>
          </a:p>
        </p:txBody>
      </p:sp>
      <p:sp>
        <p:nvSpPr>
          <p:cNvPr id="3" name="内容占位符 2">
            <a:extLst>
              <a:ext uri="{FF2B5EF4-FFF2-40B4-BE49-F238E27FC236}">
                <a16:creationId xmlns:a16="http://schemas.microsoft.com/office/drawing/2014/main" id="{BCB0D00C-D633-3E41-996D-145AFA076CD1}"/>
              </a:ext>
            </a:extLst>
          </p:cNvPr>
          <p:cNvSpPr>
            <a:spLocks noGrp="1"/>
          </p:cNvSpPr>
          <p:nvPr>
            <p:ph idx="1"/>
          </p:nvPr>
        </p:nvSpPr>
        <p:spPr/>
        <p:txBody>
          <a:bodyPr/>
          <a:lstStyle/>
          <a:p>
            <a:r>
              <a:rPr kumimoji="1" lang="zh-CN" altLang="en-US" dirty="0"/>
              <a:t>常见的聚类方法</a:t>
            </a:r>
            <a:endParaRPr kumimoji="1" lang="en-US" altLang="zh-CN" dirty="0"/>
          </a:p>
          <a:p>
            <a:pPr lvl="1"/>
            <a:r>
              <a:rPr kumimoji="1" lang="en-US" altLang="zh-CN" u="sng" dirty="0"/>
              <a:t>K</a:t>
            </a:r>
            <a:r>
              <a:rPr kumimoji="1" lang="zh-CN" altLang="en-US" u="sng" dirty="0"/>
              <a:t>均值聚类</a:t>
            </a:r>
            <a:endParaRPr kumimoji="1" lang="en-US" altLang="zh-CN" u="sng" dirty="0"/>
          </a:p>
          <a:p>
            <a:pPr lvl="1"/>
            <a:r>
              <a:rPr kumimoji="1" lang="zh-CN" altLang="en-US" dirty="0"/>
              <a:t>层次聚类</a:t>
            </a:r>
            <a:endParaRPr kumimoji="1" lang="en-US" altLang="zh-CN" dirty="0"/>
          </a:p>
          <a:p>
            <a:pPr lvl="1"/>
            <a:r>
              <a:rPr kumimoji="1" lang="zh-CN" altLang="en-US" dirty="0"/>
              <a:t>密度聚类</a:t>
            </a:r>
            <a:endParaRPr kumimoji="1" lang="en-US" altLang="zh-CN" dirty="0"/>
          </a:p>
          <a:p>
            <a:pPr lvl="1"/>
            <a:r>
              <a:rPr kumimoji="1" lang="zh-CN" altLang="en-US" dirty="0"/>
              <a:t>谱聚类</a:t>
            </a:r>
            <a:endParaRPr kumimoji="1" lang="en-US" altLang="zh-CN" dirty="0"/>
          </a:p>
          <a:p>
            <a:pPr lvl="1"/>
            <a:r>
              <a:rPr kumimoji="1" lang="en-US" altLang="zh-CN" dirty="0"/>
              <a:t>…</a:t>
            </a:r>
            <a:endParaRPr kumimoji="1" lang="zh-CN" altLang="en-US" dirty="0"/>
          </a:p>
        </p:txBody>
      </p:sp>
    </p:spTree>
    <p:extLst>
      <p:ext uri="{BB962C8B-B14F-4D97-AF65-F5344CB8AC3E}">
        <p14:creationId xmlns:p14="http://schemas.microsoft.com/office/powerpoint/2010/main" val="1394421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753F00-FAFE-1740-96EE-191F59EBDC48}"/>
              </a:ext>
            </a:extLst>
          </p:cNvPr>
          <p:cNvSpPr>
            <a:spLocks noGrp="1"/>
          </p:cNvSpPr>
          <p:nvPr>
            <p:ph type="title"/>
          </p:nvPr>
        </p:nvSpPr>
        <p:spPr/>
        <p:txBody>
          <a:bodyPr/>
          <a:lstStyle/>
          <a:p>
            <a:r>
              <a:rPr kumimoji="1" lang="zh-CN" altLang="en-US" dirty="0"/>
              <a:t>聚类效果评估</a:t>
            </a:r>
          </a:p>
        </p:txBody>
      </p:sp>
      <p:sp>
        <p:nvSpPr>
          <p:cNvPr id="3" name="内容占位符 2">
            <a:extLst>
              <a:ext uri="{FF2B5EF4-FFF2-40B4-BE49-F238E27FC236}">
                <a16:creationId xmlns:a16="http://schemas.microsoft.com/office/drawing/2014/main" id="{D94FA8A1-CA75-A443-AAC9-004285196E38}"/>
              </a:ext>
            </a:extLst>
          </p:cNvPr>
          <p:cNvSpPr>
            <a:spLocks noGrp="1"/>
          </p:cNvSpPr>
          <p:nvPr>
            <p:ph idx="1"/>
          </p:nvPr>
        </p:nvSpPr>
        <p:spPr/>
        <p:txBody>
          <a:bodyPr/>
          <a:lstStyle/>
          <a:p>
            <a:r>
              <a:rPr kumimoji="1" lang="zh-CN" altLang="en-US" dirty="0"/>
              <a:t>外部指标（</a:t>
            </a:r>
            <a:r>
              <a:rPr kumimoji="1" lang="en-US" altLang="zh-CN" dirty="0"/>
              <a:t>external index</a:t>
            </a:r>
            <a:r>
              <a:rPr kumimoji="1" lang="zh-CN" altLang="en-US" dirty="0"/>
              <a:t>）</a:t>
            </a:r>
            <a:endParaRPr kumimoji="1" lang="en-US" altLang="zh-CN" dirty="0"/>
          </a:p>
          <a:p>
            <a:pPr lvl="1"/>
            <a:r>
              <a:rPr kumimoji="1" lang="zh-CN" altLang="en-US" dirty="0"/>
              <a:t>有外部参考聚类结果（同类</a:t>
            </a:r>
            <a:r>
              <a:rPr kumimoji="1" lang="en-US" altLang="zh-CN" dirty="0"/>
              <a:t>/</a:t>
            </a:r>
            <a:r>
              <a:rPr kumimoji="1" lang="zh-CN" altLang="en-US" dirty="0"/>
              <a:t>不同类）</a:t>
            </a:r>
            <a:endParaRPr kumimoji="1" lang="en-US" altLang="zh-CN" dirty="0"/>
          </a:p>
          <a:p>
            <a:pPr lvl="2"/>
            <a:r>
              <a:rPr kumimoji="1" lang="en-US" altLang="zh-CN" u="sng" dirty="0"/>
              <a:t>Jaccard</a:t>
            </a:r>
            <a:r>
              <a:rPr kumimoji="1" lang="zh-CN" altLang="en-US" u="sng" dirty="0"/>
              <a:t>系数</a:t>
            </a:r>
            <a:r>
              <a:rPr kumimoji="1" lang="en-US" altLang="zh-CN" u="sng" dirty="0"/>
              <a:t> (Jaccard Coefficient)</a:t>
            </a:r>
          </a:p>
          <a:p>
            <a:pPr lvl="2"/>
            <a:r>
              <a:rPr kumimoji="1" lang="en-US" altLang="zh-CN" dirty="0"/>
              <a:t>FM</a:t>
            </a:r>
            <a:r>
              <a:rPr kumimoji="1" lang="zh-CN" altLang="en-US" dirty="0"/>
              <a:t>指数</a:t>
            </a:r>
            <a:r>
              <a:rPr kumimoji="1" lang="en-US" altLang="zh-CN" dirty="0"/>
              <a:t> (Fowlkes and Mallows Index)</a:t>
            </a:r>
          </a:p>
          <a:p>
            <a:pPr lvl="2"/>
            <a:r>
              <a:rPr kumimoji="1" lang="en-US" altLang="zh-CN" dirty="0"/>
              <a:t>Rand</a:t>
            </a:r>
            <a:r>
              <a:rPr kumimoji="1" lang="zh-CN" altLang="en-US" dirty="0"/>
              <a:t>指数 </a:t>
            </a:r>
            <a:r>
              <a:rPr kumimoji="1" lang="en-US" altLang="zh-CN" dirty="0"/>
              <a:t>(Rand Index)</a:t>
            </a:r>
          </a:p>
          <a:p>
            <a:endParaRPr kumimoji="1" lang="zh-CN" altLang="en-US" dirty="0"/>
          </a:p>
        </p:txBody>
      </p:sp>
      <p:pic>
        <p:nvPicPr>
          <p:cNvPr id="4" name="图片 3">
            <a:extLst>
              <a:ext uri="{FF2B5EF4-FFF2-40B4-BE49-F238E27FC236}">
                <a16:creationId xmlns:a16="http://schemas.microsoft.com/office/drawing/2014/main" id="{A8026EF3-A6F2-754B-A97E-B6DAD37CE192}"/>
              </a:ext>
            </a:extLst>
          </p:cNvPr>
          <p:cNvPicPr>
            <a:picLocks noChangeAspect="1"/>
          </p:cNvPicPr>
          <p:nvPr/>
        </p:nvPicPr>
        <p:blipFill>
          <a:blip r:embed="rId2"/>
          <a:stretch>
            <a:fillRect/>
          </a:stretch>
        </p:blipFill>
        <p:spPr>
          <a:xfrm>
            <a:off x="594360" y="3429000"/>
            <a:ext cx="5810250" cy="2615021"/>
          </a:xfrm>
          <a:prstGeom prst="rect">
            <a:avLst/>
          </a:prstGeom>
        </p:spPr>
      </p:pic>
      <p:pic>
        <p:nvPicPr>
          <p:cNvPr id="5" name="图片 4">
            <a:extLst>
              <a:ext uri="{FF2B5EF4-FFF2-40B4-BE49-F238E27FC236}">
                <a16:creationId xmlns:a16="http://schemas.microsoft.com/office/drawing/2014/main" id="{CC414F91-B065-024F-B668-1E97F3B62A46}"/>
              </a:ext>
            </a:extLst>
          </p:cNvPr>
          <p:cNvPicPr>
            <a:picLocks noChangeAspect="1"/>
          </p:cNvPicPr>
          <p:nvPr/>
        </p:nvPicPr>
        <p:blipFill rotWithShape="1">
          <a:blip r:embed="rId3"/>
          <a:srcRect t="58030"/>
          <a:stretch/>
        </p:blipFill>
        <p:spPr>
          <a:xfrm>
            <a:off x="6781800" y="3423271"/>
            <a:ext cx="4107085" cy="1432920"/>
          </a:xfrm>
          <a:prstGeom prst="rect">
            <a:avLst/>
          </a:prstGeom>
        </p:spPr>
      </p:pic>
    </p:spTree>
    <p:extLst>
      <p:ext uri="{BB962C8B-B14F-4D97-AF65-F5344CB8AC3E}">
        <p14:creationId xmlns:p14="http://schemas.microsoft.com/office/powerpoint/2010/main" val="3185941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753F00-FAFE-1740-96EE-191F59EBDC48}"/>
              </a:ext>
            </a:extLst>
          </p:cNvPr>
          <p:cNvSpPr>
            <a:spLocks noGrp="1"/>
          </p:cNvSpPr>
          <p:nvPr>
            <p:ph type="title"/>
          </p:nvPr>
        </p:nvSpPr>
        <p:spPr/>
        <p:txBody>
          <a:bodyPr/>
          <a:lstStyle/>
          <a:p>
            <a:r>
              <a:rPr kumimoji="1" lang="zh-CN" altLang="en-US" dirty="0"/>
              <a:t>聚类效果评估</a:t>
            </a:r>
          </a:p>
        </p:txBody>
      </p:sp>
      <p:sp>
        <p:nvSpPr>
          <p:cNvPr id="3" name="内容占位符 2">
            <a:extLst>
              <a:ext uri="{FF2B5EF4-FFF2-40B4-BE49-F238E27FC236}">
                <a16:creationId xmlns:a16="http://schemas.microsoft.com/office/drawing/2014/main" id="{D94FA8A1-CA75-A443-AAC9-004285196E38}"/>
              </a:ext>
            </a:extLst>
          </p:cNvPr>
          <p:cNvSpPr>
            <a:spLocks noGrp="1"/>
          </p:cNvSpPr>
          <p:nvPr>
            <p:ph idx="1"/>
          </p:nvPr>
        </p:nvSpPr>
        <p:spPr/>
        <p:txBody>
          <a:bodyPr/>
          <a:lstStyle/>
          <a:p>
            <a:r>
              <a:rPr kumimoji="1" lang="zh-CN" altLang="en-US" dirty="0"/>
              <a:t>外部指标（</a:t>
            </a:r>
            <a:r>
              <a:rPr kumimoji="1" lang="en-US" altLang="zh-CN" dirty="0"/>
              <a:t>internal index</a:t>
            </a:r>
            <a:r>
              <a:rPr kumimoji="1" lang="zh-CN" altLang="en-US" dirty="0"/>
              <a:t>）</a:t>
            </a:r>
            <a:endParaRPr kumimoji="1" lang="en-US" altLang="zh-CN" dirty="0"/>
          </a:p>
          <a:p>
            <a:pPr lvl="1"/>
            <a:r>
              <a:rPr kumimoji="1" lang="zh-CN" altLang="en-US" dirty="0"/>
              <a:t>无外部参考聚类结果</a:t>
            </a:r>
            <a:endParaRPr kumimoji="1" lang="en-US" altLang="zh-CN" dirty="0"/>
          </a:p>
          <a:p>
            <a:pPr lvl="2"/>
            <a:r>
              <a:rPr kumimoji="1" lang="en-US" altLang="zh-CN" u="sng" dirty="0"/>
              <a:t>DB</a:t>
            </a:r>
            <a:r>
              <a:rPr kumimoji="1" lang="zh-CN" altLang="en-US" u="sng" dirty="0"/>
              <a:t>指数 </a:t>
            </a:r>
            <a:r>
              <a:rPr kumimoji="1" lang="en-US" altLang="zh-CN" u="sng" dirty="0"/>
              <a:t>(Davies-Bouldin Index)</a:t>
            </a:r>
          </a:p>
          <a:p>
            <a:pPr lvl="2"/>
            <a:r>
              <a:rPr kumimoji="1" lang="en-US" altLang="zh-CN" dirty="0"/>
              <a:t>Dunn</a:t>
            </a:r>
            <a:r>
              <a:rPr kumimoji="1" lang="zh-CN" altLang="en-US" dirty="0"/>
              <a:t>指数 </a:t>
            </a:r>
            <a:r>
              <a:rPr kumimoji="1" lang="en-US" altLang="zh-CN" dirty="0"/>
              <a:t>(Dunn Index)</a:t>
            </a:r>
          </a:p>
        </p:txBody>
      </p:sp>
      <p:pic>
        <p:nvPicPr>
          <p:cNvPr id="6" name="图片 5">
            <a:extLst>
              <a:ext uri="{FF2B5EF4-FFF2-40B4-BE49-F238E27FC236}">
                <a16:creationId xmlns:a16="http://schemas.microsoft.com/office/drawing/2014/main" id="{76262FAA-126C-F04B-A19C-8A3044440228}"/>
              </a:ext>
            </a:extLst>
          </p:cNvPr>
          <p:cNvPicPr>
            <a:picLocks noChangeAspect="1"/>
          </p:cNvPicPr>
          <p:nvPr/>
        </p:nvPicPr>
        <p:blipFill>
          <a:blip r:embed="rId2"/>
          <a:stretch>
            <a:fillRect/>
          </a:stretch>
        </p:blipFill>
        <p:spPr>
          <a:xfrm>
            <a:off x="6781800" y="1193800"/>
            <a:ext cx="3427691" cy="2235200"/>
          </a:xfrm>
          <a:prstGeom prst="rect">
            <a:avLst/>
          </a:prstGeom>
        </p:spPr>
      </p:pic>
      <p:pic>
        <p:nvPicPr>
          <p:cNvPr id="7" name="图片 6">
            <a:extLst>
              <a:ext uri="{FF2B5EF4-FFF2-40B4-BE49-F238E27FC236}">
                <a16:creationId xmlns:a16="http://schemas.microsoft.com/office/drawing/2014/main" id="{C77EA817-8662-5F43-A3A3-67912B3EBD4F}"/>
              </a:ext>
            </a:extLst>
          </p:cNvPr>
          <p:cNvPicPr>
            <a:picLocks noChangeAspect="1"/>
          </p:cNvPicPr>
          <p:nvPr/>
        </p:nvPicPr>
        <p:blipFill>
          <a:blip r:embed="rId3"/>
          <a:stretch>
            <a:fillRect/>
          </a:stretch>
        </p:blipFill>
        <p:spPr>
          <a:xfrm>
            <a:off x="3733800" y="3840617"/>
            <a:ext cx="4238664" cy="2148565"/>
          </a:xfrm>
          <a:prstGeom prst="rect">
            <a:avLst/>
          </a:prstGeom>
        </p:spPr>
      </p:pic>
      <p:sp>
        <p:nvSpPr>
          <p:cNvPr id="8" name="文本框 7">
            <a:extLst>
              <a:ext uri="{FF2B5EF4-FFF2-40B4-BE49-F238E27FC236}">
                <a16:creationId xmlns:a16="http://schemas.microsoft.com/office/drawing/2014/main" id="{DB9F6F17-D1F3-8F4C-9437-9CB463CD6520}"/>
              </a:ext>
            </a:extLst>
          </p:cNvPr>
          <p:cNvSpPr txBox="1"/>
          <p:nvPr/>
        </p:nvSpPr>
        <p:spPr>
          <a:xfrm>
            <a:off x="8467426" y="5867400"/>
            <a:ext cx="3698448" cy="369332"/>
          </a:xfrm>
          <a:prstGeom prst="rect">
            <a:avLst/>
          </a:prstGeom>
          <a:noFill/>
        </p:spPr>
        <p:txBody>
          <a:bodyPr wrap="none" rtlCol="0">
            <a:spAutoFit/>
          </a:bodyPr>
          <a:lstStyle/>
          <a:p>
            <a:r>
              <a:rPr kumimoji="1" lang="zh-CN" altLang="en-US" dirty="0"/>
              <a:t>（更多详见</a:t>
            </a:r>
            <a:r>
              <a:rPr kumimoji="1" lang="en-US" altLang="zh-CN" dirty="0"/>
              <a:t>《</a:t>
            </a:r>
            <a:r>
              <a:rPr kumimoji="1" lang="zh-CN" altLang="en-US" dirty="0"/>
              <a:t>机器学习</a:t>
            </a:r>
            <a:r>
              <a:rPr kumimoji="1" lang="en-US" altLang="zh-CN" dirty="0"/>
              <a:t>》Chap 9</a:t>
            </a:r>
            <a:r>
              <a:rPr kumimoji="1" lang="zh-CN" altLang="en-US" dirty="0"/>
              <a:t>）</a:t>
            </a:r>
          </a:p>
        </p:txBody>
      </p:sp>
    </p:spTree>
    <p:extLst>
      <p:ext uri="{BB962C8B-B14F-4D97-AF65-F5344CB8AC3E}">
        <p14:creationId xmlns:p14="http://schemas.microsoft.com/office/powerpoint/2010/main" val="952330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8F2F26-15B9-E547-8250-BA412DFDDE46}"/>
              </a:ext>
            </a:extLst>
          </p:cNvPr>
          <p:cNvSpPr>
            <a:spLocks noGrp="1"/>
          </p:cNvSpPr>
          <p:nvPr>
            <p:ph type="title"/>
          </p:nvPr>
        </p:nvSpPr>
        <p:spPr/>
        <p:txBody>
          <a:bodyPr/>
          <a:lstStyle/>
          <a:p>
            <a:r>
              <a:rPr kumimoji="1" lang="zh-CN" altLang="en-US" dirty="0"/>
              <a:t>一种典型的聚类方法</a:t>
            </a:r>
            <a:r>
              <a:rPr kumimoji="1" lang="en-US" altLang="zh-CN" dirty="0"/>
              <a:t>– K</a:t>
            </a:r>
            <a:r>
              <a:rPr kumimoji="1" lang="zh-CN" altLang="en-US" dirty="0"/>
              <a:t>均值方法（</a:t>
            </a:r>
            <a:r>
              <a:rPr kumimoji="1" lang="en-US" altLang="zh-CN" dirty="0"/>
              <a:t>K- means</a:t>
            </a:r>
            <a:r>
              <a:rPr kumimoji="1" lang="zh-CN" altLang="en-US" dirty="0"/>
              <a:t>）</a:t>
            </a:r>
          </a:p>
        </p:txBody>
      </p:sp>
      <p:sp>
        <p:nvSpPr>
          <p:cNvPr id="3" name="内容占位符 2">
            <a:extLst>
              <a:ext uri="{FF2B5EF4-FFF2-40B4-BE49-F238E27FC236}">
                <a16:creationId xmlns:a16="http://schemas.microsoft.com/office/drawing/2014/main" id="{C3FDFC31-1808-D841-8422-5931D5F3947E}"/>
              </a:ext>
            </a:extLst>
          </p:cNvPr>
          <p:cNvSpPr>
            <a:spLocks noGrp="1"/>
          </p:cNvSpPr>
          <p:nvPr>
            <p:ph idx="1"/>
          </p:nvPr>
        </p:nvSpPr>
        <p:spPr/>
        <p:txBody>
          <a:bodyPr/>
          <a:lstStyle/>
          <a:p>
            <a:r>
              <a:rPr kumimoji="1" lang="zh-CN" altLang="en-US" dirty="0"/>
              <a:t>聚类过程</a:t>
            </a:r>
            <a:endParaRPr kumimoji="1" lang="en-US" altLang="zh-CN" dirty="0"/>
          </a:p>
          <a:p>
            <a:pPr lvl="1"/>
            <a:r>
              <a:rPr kumimoji="1" lang="en-US" altLang="zh-CN" dirty="0"/>
              <a:t>1</a:t>
            </a:r>
            <a:r>
              <a:rPr kumimoji="1" lang="zh-CN" altLang="en-US" dirty="0"/>
              <a:t>）选择</a:t>
            </a:r>
            <a:r>
              <a:rPr kumimoji="1" lang="en-US" altLang="zh-CN" dirty="0"/>
              <a:t>K</a:t>
            </a:r>
            <a:r>
              <a:rPr kumimoji="1" lang="zh-CN" altLang="en-US" dirty="0"/>
              <a:t>个点作为聚类中心</a:t>
            </a:r>
            <a:endParaRPr kumimoji="1" lang="en-US" altLang="zh-CN" dirty="0"/>
          </a:p>
          <a:p>
            <a:pPr lvl="2"/>
            <a:r>
              <a:rPr kumimoji="1" lang="en-US" altLang="zh-CN" dirty="0"/>
              <a:t>a)</a:t>
            </a:r>
            <a:r>
              <a:rPr kumimoji="1" lang="zh-CN" altLang="en-US" dirty="0"/>
              <a:t> 根据与聚类中心的</a:t>
            </a:r>
            <a:r>
              <a:rPr kumimoji="1" lang="zh-CN" altLang="en-US" b="1" dirty="0"/>
              <a:t>距离</a:t>
            </a:r>
            <a:r>
              <a:rPr kumimoji="1" lang="zh-CN" altLang="en-US" dirty="0"/>
              <a:t>对每个样本点进行聚类</a:t>
            </a:r>
          </a:p>
          <a:p>
            <a:pPr lvl="2"/>
            <a:r>
              <a:rPr kumimoji="1" lang="en-US" altLang="zh-CN" dirty="0"/>
              <a:t>b)</a:t>
            </a:r>
            <a:r>
              <a:rPr kumimoji="1" lang="zh-CN" altLang="en-US" dirty="0"/>
              <a:t>求每类样本的</a:t>
            </a:r>
            <a:r>
              <a:rPr kumimoji="1" lang="zh-CN" altLang="en-US" b="1" dirty="0"/>
              <a:t>平均值</a:t>
            </a:r>
            <a:r>
              <a:rPr kumimoji="1" lang="zh-CN" altLang="en-US" dirty="0"/>
              <a:t>作为该类别的新的聚类中心</a:t>
            </a:r>
            <a:endParaRPr kumimoji="1" lang="en-US" altLang="zh-CN" dirty="0"/>
          </a:p>
          <a:p>
            <a:pPr lvl="1"/>
            <a:r>
              <a:rPr kumimoji="1" lang="en-US" altLang="zh-CN" dirty="0"/>
              <a:t>2</a:t>
            </a:r>
            <a:r>
              <a:rPr kumimoji="1" lang="zh-CN" altLang="en-US" dirty="0"/>
              <a:t>）不断迭代</a:t>
            </a:r>
            <a:r>
              <a:rPr kumimoji="1" lang="en-US" altLang="zh-CN" dirty="0"/>
              <a:t>a)</a:t>
            </a:r>
            <a:r>
              <a:rPr kumimoji="1" lang="zh-CN" altLang="en-US" dirty="0"/>
              <a:t>、</a:t>
            </a:r>
            <a:r>
              <a:rPr kumimoji="1" lang="en-US" altLang="zh-CN" dirty="0"/>
              <a:t>b)</a:t>
            </a:r>
            <a:r>
              <a:rPr kumimoji="1" lang="zh-CN" altLang="en-US" dirty="0"/>
              <a:t>步直至收敛（比如，每个样本的类别不再改变）</a:t>
            </a:r>
          </a:p>
          <a:p>
            <a:endParaRPr kumimoji="1" lang="zh-CN" altLang="en-US" dirty="0"/>
          </a:p>
        </p:txBody>
      </p:sp>
      <p:pic>
        <p:nvPicPr>
          <p:cNvPr id="1026" name="Picture 2" descr="聚类方法总结——统计学习方法 - 知乎">
            <a:extLst>
              <a:ext uri="{FF2B5EF4-FFF2-40B4-BE49-F238E27FC236}">
                <a16:creationId xmlns:a16="http://schemas.microsoft.com/office/drawing/2014/main" id="{921213C3-FD76-B243-BD4F-1114CE2794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199" y="3352800"/>
            <a:ext cx="31369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3602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0E5A64-BFE1-274E-8F09-72DB895C1614}"/>
              </a:ext>
            </a:extLst>
          </p:cNvPr>
          <p:cNvSpPr>
            <a:spLocks noGrp="1"/>
          </p:cNvSpPr>
          <p:nvPr>
            <p:ph type="title"/>
          </p:nvPr>
        </p:nvSpPr>
        <p:spPr/>
        <p:txBody>
          <a:bodyPr/>
          <a:lstStyle/>
          <a:p>
            <a:r>
              <a:rPr kumimoji="1" lang="zh-CN" altLang="en-US" dirty="0"/>
              <a:t>一种典型的聚类方法</a:t>
            </a:r>
            <a:r>
              <a:rPr kumimoji="1" lang="en-US" altLang="zh-CN" dirty="0"/>
              <a:t>– K</a:t>
            </a:r>
            <a:r>
              <a:rPr kumimoji="1" lang="zh-CN" altLang="en-US" dirty="0"/>
              <a:t>均值方法（</a:t>
            </a:r>
            <a:r>
              <a:rPr kumimoji="1" lang="en-US" altLang="zh-CN" dirty="0"/>
              <a:t>K- means</a:t>
            </a:r>
            <a:r>
              <a:rPr kumimoji="1" lang="zh-CN" altLang="en-US" dirty="0"/>
              <a:t>）</a:t>
            </a:r>
          </a:p>
        </p:txBody>
      </p:sp>
      <p:sp>
        <p:nvSpPr>
          <p:cNvPr id="3" name="内容占位符 2">
            <a:extLst>
              <a:ext uri="{FF2B5EF4-FFF2-40B4-BE49-F238E27FC236}">
                <a16:creationId xmlns:a16="http://schemas.microsoft.com/office/drawing/2014/main" id="{A8AD6688-1148-7642-B22C-7B0892834A04}"/>
              </a:ext>
            </a:extLst>
          </p:cNvPr>
          <p:cNvSpPr>
            <a:spLocks noGrp="1"/>
          </p:cNvSpPr>
          <p:nvPr>
            <p:ph idx="1"/>
          </p:nvPr>
        </p:nvSpPr>
        <p:spPr/>
        <p:txBody>
          <a:bodyPr/>
          <a:lstStyle/>
          <a:p>
            <a:endParaRPr kumimoji="1" lang="zh-CN" altLang="en-US" dirty="0"/>
          </a:p>
        </p:txBody>
      </p:sp>
      <p:pic>
        <p:nvPicPr>
          <p:cNvPr id="4" name="图片 3">
            <a:extLst>
              <a:ext uri="{FF2B5EF4-FFF2-40B4-BE49-F238E27FC236}">
                <a16:creationId xmlns:a16="http://schemas.microsoft.com/office/drawing/2014/main" id="{019CA1FC-DEAC-E34C-AEFB-7B2F9C6D1BCC}"/>
              </a:ext>
            </a:extLst>
          </p:cNvPr>
          <p:cNvPicPr>
            <a:picLocks noChangeAspect="1"/>
          </p:cNvPicPr>
          <p:nvPr/>
        </p:nvPicPr>
        <p:blipFill rotWithShape="1">
          <a:blip r:embed="rId2"/>
          <a:srcRect b="44190"/>
          <a:stretch/>
        </p:blipFill>
        <p:spPr>
          <a:xfrm>
            <a:off x="609600" y="922822"/>
            <a:ext cx="7865864" cy="2887178"/>
          </a:xfrm>
          <a:prstGeom prst="rect">
            <a:avLst/>
          </a:prstGeom>
        </p:spPr>
      </p:pic>
    </p:spTree>
    <p:extLst>
      <p:ext uri="{BB962C8B-B14F-4D97-AF65-F5344CB8AC3E}">
        <p14:creationId xmlns:p14="http://schemas.microsoft.com/office/powerpoint/2010/main" val="1497143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05952F-8907-7D47-97A5-81712E2F855D}"/>
              </a:ext>
            </a:extLst>
          </p:cNvPr>
          <p:cNvSpPr>
            <a:spLocks noGrp="1"/>
          </p:cNvSpPr>
          <p:nvPr>
            <p:ph type="title"/>
          </p:nvPr>
        </p:nvSpPr>
        <p:spPr/>
        <p:txBody>
          <a:bodyPr/>
          <a:lstStyle/>
          <a:p>
            <a:r>
              <a:rPr kumimoji="1" lang="zh-CN" altLang="en-US" dirty="0"/>
              <a:t>一种典型的聚类方法</a:t>
            </a:r>
            <a:r>
              <a:rPr kumimoji="1" lang="en-US" altLang="zh-CN" dirty="0"/>
              <a:t>– K</a:t>
            </a:r>
            <a:r>
              <a:rPr kumimoji="1" lang="zh-CN" altLang="en-US" dirty="0"/>
              <a:t>均值方法（</a:t>
            </a:r>
            <a:r>
              <a:rPr kumimoji="1" lang="en-US" altLang="zh-CN" dirty="0"/>
              <a:t>K- means</a:t>
            </a:r>
            <a:r>
              <a:rPr kumimoji="1" lang="zh-CN" altLang="en-US" dirty="0"/>
              <a:t>）</a:t>
            </a:r>
          </a:p>
        </p:txBody>
      </p:sp>
      <p:sp>
        <p:nvSpPr>
          <p:cNvPr id="3" name="内容占位符 2">
            <a:extLst>
              <a:ext uri="{FF2B5EF4-FFF2-40B4-BE49-F238E27FC236}">
                <a16:creationId xmlns:a16="http://schemas.microsoft.com/office/drawing/2014/main" id="{EBD5F11C-B325-8343-A1B8-419FAB49855E}"/>
              </a:ext>
            </a:extLst>
          </p:cNvPr>
          <p:cNvSpPr>
            <a:spLocks noGrp="1"/>
          </p:cNvSpPr>
          <p:nvPr>
            <p:ph idx="1"/>
          </p:nvPr>
        </p:nvSpPr>
        <p:spPr/>
        <p:txBody>
          <a:bodyPr/>
          <a:lstStyle/>
          <a:p>
            <a:r>
              <a:rPr kumimoji="1" lang="en-US" altLang="zh-CN" dirty="0"/>
              <a:t>K</a:t>
            </a:r>
            <a:r>
              <a:rPr kumimoji="1" lang="zh-CN" altLang="en-US" dirty="0"/>
              <a:t>的选择</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类中心初始化</a:t>
            </a:r>
            <a:endParaRPr kumimoji="1" lang="en-US" altLang="zh-CN" dirty="0"/>
          </a:p>
          <a:p>
            <a:pPr lvl="1"/>
            <a:r>
              <a:rPr kumimoji="1" lang="zh-CN" altLang="en-US" dirty="0"/>
              <a:t>大于最小间距的随机点</a:t>
            </a:r>
            <a:r>
              <a:rPr kumimoji="1" lang="en-US" altLang="zh-CN" dirty="0"/>
              <a:t>/</a:t>
            </a:r>
            <a:r>
              <a:rPr kumimoji="1" lang="zh-CN" altLang="en-US" dirty="0"/>
              <a:t>样本点</a:t>
            </a:r>
            <a:endParaRPr kumimoji="1" lang="en-US" altLang="zh-CN" dirty="0"/>
          </a:p>
          <a:p>
            <a:pPr lvl="1"/>
            <a:r>
              <a:rPr kumimoji="1" lang="en-US" altLang="zh-CN" dirty="0"/>
              <a:t>K</a:t>
            </a:r>
            <a:r>
              <a:rPr kumimoji="1" lang="zh-CN" altLang="en-US" dirty="0"/>
              <a:t>个相互距离最远的样本点</a:t>
            </a:r>
            <a:endParaRPr kumimoji="1" lang="en-US" altLang="zh-CN" dirty="0"/>
          </a:p>
          <a:p>
            <a:pPr lvl="1"/>
            <a:r>
              <a:rPr kumimoji="1" lang="en-US" altLang="zh-CN" dirty="0"/>
              <a:t>K</a:t>
            </a:r>
            <a:r>
              <a:rPr kumimoji="1" lang="zh-CN" altLang="en-US" dirty="0"/>
              <a:t>个等距网格点</a:t>
            </a:r>
            <a:endParaRPr kumimoji="1" lang="en-US" altLang="zh-CN" dirty="0"/>
          </a:p>
          <a:p>
            <a:endParaRPr kumimoji="1" lang="zh-CN" altLang="en-US" dirty="0"/>
          </a:p>
        </p:txBody>
      </p:sp>
      <p:pic>
        <p:nvPicPr>
          <p:cNvPr id="4" name="图片 3">
            <a:extLst>
              <a:ext uri="{FF2B5EF4-FFF2-40B4-BE49-F238E27FC236}">
                <a16:creationId xmlns:a16="http://schemas.microsoft.com/office/drawing/2014/main" id="{DB5E99A9-3A41-A542-9918-D01EEBE1B575}"/>
              </a:ext>
            </a:extLst>
          </p:cNvPr>
          <p:cNvPicPr>
            <a:picLocks noChangeAspect="1"/>
          </p:cNvPicPr>
          <p:nvPr/>
        </p:nvPicPr>
        <p:blipFill>
          <a:blip r:embed="rId2"/>
          <a:stretch>
            <a:fillRect/>
          </a:stretch>
        </p:blipFill>
        <p:spPr>
          <a:xfrm>
            <a:off x="5334000" y="1295400"/>
            <a:ext cx="4546600" cy="2980883"/>
          </a:xfrm>
          <a:prstGeom prst="rect">
            <a:avLst/>
          </a:prstGeom>
        </p:spPr>
      </p:pic>
    </p:spTree>
    <p:extLst>
      <p:ext uri="{BB962C8B-B14F-4D97-AF65-F5344CB8AC3E}">
        <p14:creationId xmlns:p14="http://schemas.microsoft.com/office/powerpoint/2010/main" val="2654776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79D8AD-31F2-AC46-81D3-3FDF1DAA0A28}"/>
              </a:ext>
            </a:extLst>
          </p:cNvPr>
          <p:cNvSpPr>
            <a:spLocks noGrp="1"/>
          </p:cNvSpPr>
          <p:nvPr>
            <p:ph type="title"/>
          </p:nvPr>
        </p:nvSpPr>
        <p:spPr/>
        <p:txBody>
          <a:bodyPr/>
          <a:lstStyle/>
          <a:p>
            <a:r>
              <a:rPr kumimoji="1" lang="zh-CN" altLang="en-US" dirty="0"/>
              <a:t>一种典型的聚类方法</a:t>
            </a:r>
            <a:r>
              <a:rPr kumimoji="1" lang="en-US" altLang="zh-CN" dirty="0"/>
              <a:t>– K</a:t>
            </a:r>
            <a:r>
              <a:rPr kumimoji="1" lang="zh-CN" altLang="en-US" dirty="0"/>
              <a:t>均值方法（</a:t>
            </a:r>
            <a:r>
              <a:rPr kumimoji="1" lang="en-US" altLang="zh-CN" dirty="0"/>
              <a:t>K- means</a:t>
            </a:r>
            <a:r>
              <a:rPr kumimoji="1" lang="zh-CN" altLang="en-US" dirty="0"/>
              <a:t>）</a:t>
            </a:r>
          </a:p>
        </p:txBody>
      </p:sp>
      <p:sp>
        <p:nvSpPr>
          <p:cNvPr id="3" name="内容占位符 2">
            <a:extLst>
              <a:ext uri="{FF2B5EF4-FFF2-40B4-BE49-F238E27FC236}">
                <a16:creationId xmlns:a16="http://schemas.microsoft.com/office/drawing/2014/main" id="{CB4FAEEA-4A14-B847-8706-F95D0EFE0073}"/>
              </a:ext>
            </a:extLst>
          </p:cNvPr>
          <p:cNvSpPr>
            <a:spLocks noGrp="1"/>
          </p:cNvSpPr>
          <p:nvPr>
            <p:ph idx="1"/>
          </p:nvPr>
        </p:nvSpPr>
        <p:spPr/>
        <p:txBody>
          <a:bodyPr/>
          <a:lstStyle/>
          <a:p>
            <a:r>
              <a:rPr kumimoji="1" lang="zh-CN" altLang="en-US" dirty="0"/>
              <a:t>优点</a:t>
            </a:r>
            <a:endParaRPr kumimoji="1" lang="en-US" altLang="zh-CN" dirty="0"/>
          </a:p>
          <a:p>
            <a:pPr lvl="1"/>
            <a:r>
              <a:rPr kumimoji="1" lang="zh-CN" altLang="en-US" dirty="0"/>
              <a:t>实现简单</a:t>
            </a:r>
            <a:endParaRPr kumimoji="1" lang="en-US" altLang="zh-CN" dirty="0"/>
          </a:p>
          <a:p>
            <a:pPr lvl="1"/>
            <a:r>
              <a:rPr kumimoji="1" lang="zh-CN" altLang="en-US" dirty="0"/>
              <a:t>时间复杂度低</a:t>
            </a:r>
            <a:r>
              <a:rPr kumimoji="1" lang="en-US" altLang="zh-CN" dirty="0"/>
              <a:t>O(N)</a:t>
            </a:r>
          </a:p>
          <a:p>
            <a:r>
              <a:rPr kumimoji="1" lang="zh-CN" altLang="en-US" dirty="0"/>
              <a:t>缺点</a:t>
            </a:r>
            <a:endParaRPr kumimoji="1" lang="en-US" altLang="zh-CN" dirty="0"/>
          </a:p>
          <a:p>
            <a:pPr lvl="1"/>
            <a:r>
              <a:rPr kumimoji="1" lang="en-US" altLang="zh-CN" dirty="0"/>
              <a:t>K</a:t>
            </a:r>
            <a:r>
              <a:rPr kumimoji="1" lang="zh-CN" altLang="en-US" dirty="0"/>
              <a:t>值选择</a:t>
            </a:r>
            <a:endParaRPr kumimoji="1" lang="en-US" altLang="zh-CN" dirty="0"/>
          </a:p>
          <a:p>
            <a:pPr lvl="1"/>
            <a:r>
              <a:rPr kumimoji="1" lang="zh-CN" altLang="en-US" dirty="0"/>
              <a:t>初始值影响较大</a:t>
            </a:r>
          </a:p>
          <a:p>
            <a:endParaRPr kumimoji="1" lang="zh-CN" altLang="en-US" dirty="0"/>
          </a:p>
        </p:txBody>
      </p:sp>
    </p:spTree>
    <p:extLst>
      <p:ext uri="{BB962C8B-B14F-4D97-AF65-F5344CB8AC3E}">
        <p14:creationId xmlns:p14="http://schemas.microsoft.com/office/powerpoint/2010/main" val="2899519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1CBC1-EE68-4D9F-AA78-C28D7010DDA9}"/>
              </a:ext>
            </a:extLst>
          </p:cNvPr>
          <p:cNvSpPr>
            <a:spLocks noGrp="1"/>
          </p:cNvSpPr>
          <p:nvPr>
            <p:ph type="ctrTitle"/>
          </p:nvPr>
        </p:nvSpPr>
        <p:spPr/>
        <p:txBody>
          <a:bodyPr/>
          <a:lstStyle/>
          <a:p>
            <a:r>
              <a:rPr lang="zh-CN" altLang="en-US" dirty="0"/>
              <a:t>无监督特征学习</a:t>
            </a:r>
          </a:p>
        </p:txBody>
      </p:sp>
    </p:spTree>
    <p:extLst>
      <p:ext uri="{BB962C8B-B14F-4D97-AF65-F5344CB8AC3E}">
        <p14:creationId xmlns:p14="http://schemas.microsoft.com/office/powerpoint/2010/main" val="120676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C0CFF7-5E46-A843-A65D-799B2705F0E7}"/>
              </a:ext>
            </a:extLst>
          </p:cNvPr>
          <p:cNvSpPr>
            <a:spLocks noGrp="1"/>
          </p:cNvSpPr>
          <p:nvPr>
            <p:ph type="title"/>
          </p:nvPr>
        </p:nvSpPr>
        <p:spPr/>
        <p:txBody>
          <a:bodyPr/>
          <a:lstStyle/>
          <a:p>
            <a:r>
              <a:rPr kumimoji="1" lang="zh-CN" altLang="en-US" dirty="0"/>
              <a:t>（无监督）特征学习</a:t>
            </a:r>
            <a:r>
              <a:rPr kumimoji="1" lang="en-US" altLang="zh-CN" dirty="0"/>
              <a:t>/</a:t>
            </a:r>
            <a:r>
              <a:rPr kumimoji="1" lang="zh-CN" altLang="en-US" dirty="0"/>
              <a:t>编码</a:t>
            </a:r>
          </a:p>
        </p:txBody>
      </p:sp>
      <p:sp>
        <p:nvSpPr>
          <p:cNvPr id="3" name="内容占位符 2">
            <a:extLst>
              <a:ext uri="{FF2B5EF4-FFF2-40B4-BE49-F238E27FC236}">
                <a16:creationId xmlns:a16="http://schemas.microsoft.com/office/drawing/2014/main" id="{33BD672B-803E-604E-AA3C-AD1CBD079BCE}"/>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F86AB92C-8955-994B-90CD-D0FB759C77CF}"/>
              </a:ext>
            </a:extLst>
          </p:cNvPr>
          <p:cNvPicPr>
            <a:picLocks noChangeAspect="1"/>
          </p:cNvPicPr>
          <p:nvPr/>
        </p:nvPicPr>
        <p:blipFill>
          <a:blip r:embed="rId2"/>
          <a:stretch>
            <a:fillRect/>
          </a:stretch>
        </p:blipFill>
        <p:spPr>
          <a:xfrm>
            <a:off x="2355850" y="1816826"/>
            <a:ext cx="7480300" cy="4076700"/>
          </a:xfrm>
          <a:prstGeom prst="rect">
            <a:avLst/>
          </a:prstGeom>
        </p:spPr>
      </p:pic>
    </p:spTree>
    <p:extLst>
      <p:ext uri="{BB962C8B-B14F-4D97-AF65-F5344CB8AC3E}">
        <p14:creationId xmlns:p14="http://schemas.microsoft.com/office/powerpoint/2010/main" val="2166049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43AE1D-FE86-B547-9264-60CD26740F8C}"/>
              </a:ext>
            </a:extLst>
          </p:cNvPr>
          <p:cNvSpPr>
            <a:spLocks noGrp="1"/>
          </p:cNvSpPr>
          <p:nvPr>
            <p:ph type="title"/>
          </p:nvPr>
        </p:nvSpPr>
        <p:spPr/>
        <p:txBody>
          <a:bodyPr/>
          <a:lstStyle/>
          <a:p>
            <a:r>
              <a:rPr kumimoji="1" lang="zh-CN" altLang="en-US" dirty="0"/>
              <a:t>应用</a:t>
            </a:r>
          </a:p>
        </p:txBody>
      </p:sp>
      <p:sp>
        <p:nvSpPr>
          <p:cNvPr id="3" name="内容占位符 2">
            <a:extLst>
              <a:ext uri="{FF2B5EF4-FFF2-40B4-BE49-F238E27FC236}">
                <a16:creationId xmlns:a16="http://schemas.microsoft.com/office/drawing/2014/main" id="{E4DBBB69-5F00-6046-905B-3DCD157147F9}"/>
              </a:ext>
            </a:extLst>
          </p:cNvPr>
          <p:cNvSpPr>
            <a:spLocks noGrp="1"/>
          </p:cNvSpPr>
          <p:nvPr>
            <p:ph idx="1"/>
          </p:nvPr>
        </p:nvSpPr>
        <p:spPr/>
        <p:txBody>
          <a:bodyPr/>
          <a:lstStyle/>
          <a:p>
            <a:r>
              <a:rPr kumimoji="1" lang="zh-CN" altLang="en-US" dirty="0"/>
              <a:t>目的</a:t>
            </a:r>
            <a:r>
              <a:rPr kumimoji="1" lang="en-US" altLang="zh-CN" dirty="0"/>
              <a:t>:</a:t>
            </a:r>
            <a:r>
              <a:rPr kumimoji="1" lang="zh-CN" altLang="en-US" dirty="0"/>
              <a:t>特征提取、去噪、降维、数据可视化</a:t>
            </a:r>
          </a:p>
          <a:p>
            <a:pPr lvl="1"/>
            <a:r>
              <a:rPr kumimoji="1" lang="zh-CN" altLang="en-US" dirty="0"/>
              <a:t>降维</a:t>
            </a:r>
            <a:r>
              <a:rPr kumimoji="1" lang="en-US" altLang="zh-CN" dirty="0"/>
              <a:t>/</a:t>
            </a:r>
            <a:r>
              <a:rPr kumimoji="1" lang="zh-CN" altLang="en-US" dirty="0"/>
              <a:t>可视化</a:t>
            </a:r>
            <a:endParaRPr kumimoji="1" lang="en-US" altLang="zh-CN" dirty="0"/>
          </a:p>
          <a:p>
            <a:pPr lvl="1"/>
            <a:endParaRPr kumimoji="1" lang="en-US" altLang="zh-CN" dirty="0"/>
          </a:p>
          <a:p>
            <a:pPr lvl="1"/>
            <a:endParaRPr kumimoji="1" lang="en-US" altLang="zh-CN" dirty="0"/>
          </a:p>
          <a:p>
            <a:pPr lvl="1"/>
            <a:endParaRPr kumimoji="1" lang="en-US" altLang="zh-CN" dirty="0"/>
          </a:p>
        </p:txBody>
      </p:sp>
      <p:pic>
        <p:nvPicPr>
          <p:cNvPr id="4" name="图片 3">
            <a:extLst>
              <a:ext uri="{FF2B5EF4-FFF2-40B4-BE49-F238E27FC236}">
                <a16:creationId xmlns:a16="http://schemas.microsoft.com/office/drawing/2014/main" id="{79F775DE-3B9D-E34F-AD90-76CAFFB3FA95}"/>
              </a:ext>
            </a:extLst>
          </p:cNvPr>
          <p:cNvPicPr>
            <a:picLocks noChangeAspect="1"/>
          </p:cNvPicPr>
          <p:nvPr/>
        </p:nvPicPr>
        <p:blipFill>
          <a:blip r:embed="rId2"/>
          <a:stretch>
            <a:fillRect/>
          </a:stretch>
        </p:blipFill>
        <p:spPr>
          <a:xfrm>
            <a:off x="3962400" y="2819400"/>
            <a:ext cx="5680502" cy="2343557"/>
          </a:xfrm>
          <a:prstGeom prst="rect">
            <a:avLst/>
          </a:prstGeom>
        </p:spPr>
      </p:pic>
    </p:spTree>
    <p:extLst>
      <p:ext uri="{BB962C8B-B14F-4D97-AF65-F5344CB8AC3E}">
        <p14:creationId xmlns:p14="http://schemas.microsoft.com/office/powerpoint/2010/main" val="3168958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8934BEAC-D1D8-7447-991D-3D98C2245777}"/>
              </a:ext>
            </a:extLst>
          </p:cNvPr>
          <p:cNvSpPr txBox="1">
            <a:spLocks/>
          </p:cNvSpPr>
          <p:nvPr/>
        </p:nvSpPr>
        <p:spPr bwMode="auto">
          <a:xfrm>
            <a:off x="609600" y="2803842"/>
            <a:ext cx="5486400" cy="79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endParaRPr lang="en-US" altLang="zh-CN" sz="2400" dirty="0"/>
          </a:p>
          <a:p>
            <a:r>
              <a:rPr lang="zh-CN" altLang="en-US" sz="2400" dirty="0"/>
              <a:t>一种最常用的</a:t>
            </a:r>
            <a:r>
              <a:rPr lang="zh-CN" altLang="en-US" sz="2400" b="1" u="sng" dirty="0"/>
              <a:t>数据降维</a:t>
            </a:r>
            <a:r>
              <a:rPr lang="zh-CN" altLang="en-US" sz="2400" dirty="0"/>
              <a:t>方法：</a:t>
            </a:r>
            <a:endParaRPr lang="en-US" altLang="zh-CN" sz="2400" dirty="0"/>
          </a:p>
          <a:p>
            <a:endParaRPr lang="zh-CN" altLang="en-US" sz="2400" dirty="0"/>
          </a:p>
          <a:p>
            <a:pPr lvl="1"/>
            <a:r>
              <a:rPr lang="zh-CN" altLang="en-US" sz="2000" dirty="0"/>
              <a:t>线性投影</a:t>
            </a:r>
            <a:endParaRPr lang="en-US" altLang="zh-CN" sz="2000" dirty="0"/>
          </a:p>
          <a:p>
            <a:pPr lvl="1"/>
            <a:endParaRPr lang="en-US" altLang="zh-CN" sz="2000" dirty="0"/>
          </a:p>
          <a:p>
            <a:pPr lvl="1"/>
            <a:r>
              <a:rPr lang="zh-CN" altLang="en-US" sz="2000" dirty="0"/>
              <a:t>并满足：</a:t>
            </a:r>
            <a:endParaRPr lang="en-US" altLang="zh-CN" sz="2000" dirty="0"/>
          </a:p>
          <a:p>
            <a:pPr lvl="1"/>
            <a:endParaRPr lang="en-US" altLang="zh-CN" sz="2000" dirty="0"/>
          </a:p>
          <a:p>
            <a:pPr marL="154484" lvl="1" indent="0">
              <a:buNone/>
            </a:pPr>
            <a:r>
              <a:rPr lang="zh-CN" altLang="en-US" sz="2000" dirty="0"/>
              <a:t>即（</a:t>
            </a:r>
            <a:r>
              <a:rPr lang="en-US" altLang="zh-CN" sz="2000" dirty="0"/>
              <a:t>w</a:t>
            </a:r>
            <a:r>
              <a:rPr lang="zh-CN" altLang="en-US" sz="2000" dirty="0"/>
              <a:t>是正交阵）</a:t>
            </a:r>
          </a:p>
          <a:p>
            <a:pPr lvl="1"/>
            <a:endParaRPr lang="zh-CN" altLang="en-US" sz="2000" dirty="0"/>
          </a:p>
        </p:txBody>
      </p:sp>
      <p:sp>
        <p:nvSpPr>
          <p:cNvPr id="3" name="内容占位符 2">
            <a:extLst>
              <a:ext uri="{FF2B5EF4-FFF2-40B4-BE49-F238E27FC236}">
                <a16:creationId xmlns:a16="http://schemas.microsoft.com/office/drawing/2014/main" id="{95453A35-41F7-4AB7-9E07-57942DD46250}"/>
              </a:ext>
            </a:extLst>
          </p:cNvPr>
          <p:cNvSpPr>
            <a:spLocks noGrp="1"/>
          </p:cNvSpPr>
          <p:nvPr>
            <p:ph idx="1"/>
          </p:nvPr>
        </p:nvSpPr>
        <p:spPr>
          <a:xfrm>
            <a:off x="609600" y="1066799"/>
            <a:ext cx="5486400" cy="1986835"/>
          </a:xfrm>
        </p:spPr>
        <p:txBody>
          <a:bodyPr/>
          <a:lstStyle/>
          <a:p>
            <a:r>
              <a:rPr lang="zh-CN" altLang="en-US" sz="2400" dirty="0"/>
              <a:t>数据的原始特征可能存在的问题</a:t>
            </a:r>
            <a:r>
              <a:rPr lang="en-US" altLang="zh-CN" sz="2400" dirty="0"/>
              <a:t>:</a:t>
            </a:r>
          </a:p>
          <a:p>
            <a:pPr lvl="1"/>
            <a:r>
              <a:rPr lang="zh-CN" altLang="en-US" sz="2000" dirty="0"/>
              <a:t>高维→维度灾难、过拟合</a:t>
            </a:r>
            <a:endParaRPr lang="en-US" altLang="zh-CN" sz="2000" dirty="0"/>
          </a:p>
          <a:p>
            <a:pPr lvl="1"/>
            <a:r>
              <a:rPr lang="zh-CN" altLang="en-US" sz="2000" dirty="0"/>
              <a:t>冗余性→学习效果差</a:t>
            </a:r>
            <a:endParaRPr lang="en-US" altLang="zh-CN" sz="2000" dirty="0"/>
          </a:p>
          <a:p>
            <a:pPr lvl="1"/>
            <a:r>
              <a:rPr lang="zh-CN" altLang="en-US" sz="2000" dirty="0"/>
              <a:t>解决方法：降维</a:t>
            </a:r>
          </a:p>
        </p:txBody>
      </p:sp>
      <p:sp>
        <p:nvSpPr>
          <p:cNvPr id="2" name="标题 1">
            <a:extLst>
              <a:ext uri="{FF2B5EF4-FFF2-40B4-BE49-F238E27FC236}">
                <a16:creationId xmlns:a16="http://schemas.microsoft.com/office/drawing/2014/main" id="{7727367A-E351-4CD0-9349-5D7592A3F70B}"/>
              </a:ext>
            </a:extLst>
          </p:cNvPr>
          <p:cNvSpPr>
            <a:spLocks noGrp="1"/>
          </p:cNvSpPr>
          <p:nvPr>
            <p:ph type="title"/>
          </p:nvPr>
        </p:nvSpPr>
        <p:spPr/>
        <p:txBody>
          <a:bodyPr/>
          <a:lstStyle/>
          <a:p>
            <a:r>
              <a:rPr lang="zh-CN" altLang="fr-FR" dirty="0"/>
              <a:t>主成份分析（</a:t>
            </a:r>
            <a:r>
              <a:rPr lang="fr-FR" altLang="zh-CN" dirty="0"/>
              <a:t>Principal Component </a:t>
            </a:r>
            <a:r>
              <a:rPr lang="fr-FR" altLang="zh-CN" dirty="0" err="1"/>
              <a:t>Analysis</a:t>
            </a:r>
            <a:r>
              <a:rPr lang="zh-CN" altLang="fr-FR" dirty="0"/>
              <a:t>，</a:t>
            </a:r>
            <a:r>
              <a:rPr lang="fr-FR" altLang="zh-CN" dirty="0"/>
              <a:t>PCA</a:t>
            </a:r>
            <a:r>
              <a:rPr lang="zh-CN" altLang="fr-FR" dirty="0"/>
              <a:t>）</a:t>
            </a:r>
            <a:endParaRPr lang="zh-CN" altLang="en-US" dirty="0"/>
          </a:p>
        </p:txBody>
      </p:sp>
      <p:pic>
        <p:nvPicPr>
          <p:cNvPr id="6" name="图片 5">
            <a:extLst>
              <a:ext uri="{FF2B5EF4-FFF2-40B4-BE49-F238E27FC236}">
                <a16:creationId xmlns:a16="http://schemas.microsoft.com/office/drawing/2014/main" id="{E82033F5-43AC-4EAD-B555-10A41B4BD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4114800"/>
            <a:ext cx="1545812" cy="566072"/>
          </a:xfrm>
          <a:prstGeom prst="rect">
            <a:avLst/>
          </a:prstGeom>
        </p:spPr>
      </p:pic>
      <p:pic>
        <p:nvPicPr>
          <p:cNvPr id="10" name="图片 9">
            <a:extLst>
              <a:ext uri="{FF2B5EF4-FFF2-40B4-BE49-F238E27FC236}">
                <a16:creationId xmlns:a16="http://schemas.microsoft.com/office/drawing/2014/main" id="{BACC1AAD-1BBD-45E6-A0E0-59DA5779C30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23435" y="2362200"/>
            <a:ext cx="3925565" cy="3066941"/>
          </a:xfrm>
          <a:prstGeom prst="rect">
            <a:avLst/>
          </a:prstGeom>
        </p:spPr>
      </p:pic>
      <p:pic>
        <p:nvPicPr>
          <p:cNvPr id="5" name="图片 4">
            <a:extLst>
              <a:ext uri="{FF2B5EF4-FFF2-40B4-BE49-F238E27FC236}">
                <a16:creationId xmlns:a16="http://schemas.microsoft.com/office/drawing/2014/main" id="{A7FAE878-8286-514D-A0E5-9DC2369AD104}"/>
              </a:ext>
            </a:extLst>
          </p:cNvPr>
          <p:cNvPicPr>
            <a:picLocks noChangeAspect="1"/>
          </p:cNvPicPr>
          <p:nvPr/>
        </p:nvPicPr>
        <p:blipFill>
          <a:blip r:embed="rId5"/>
          <a:stretch>
            <a:fillRect/>
          </a:stretch>
        </p:blipFill>
        <p:spPr>
          <a:xfrm>
            <a:off x="2244316" y="5029200"/>
            <a:ext cx="1156084" cy="257832"/>
          </a:xfrm>
          <a:prstGeom prst="rect">
            <a:avLst/>
          </a:prstGeom>
        </p:spPr>
      </p:pic>
      <p:sp>
        <p:nvSpPr>
          <p:cNvPr id="11" name="内容占位符 2">
            <a:extLst>
              <a:ext uri="{FF2B5EF4-FFF2-40B4-BE49-F238E27FC236}">
                <a16:creationId xmlns:a16="http://schemas.microsoft.com/office/drawing/2014/main" id="{D1E95F52-C467-D542-BE63-29AF153770B2}"/>
              </a:ext>
            </a:extLst>
          </p:cNvPr>
          <p:cNvSpPr txBox="1">
            <a:spLocks/>
          </p:cNvSpPr>
          <p:nvPr/>
        </p:nvSpPr>
        <p:spPr bwMode="auto">
          <a:xfrm>
            <a:off x="6484511" y="1053141"/>
            <a:ext cx="5486400" cy="1461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sz="2000" dirty="0"/>
              <a:t>优化准则</a:t>
            </a:r>
            <a:endParaRPr lang="en-US" altLang="zh-CN" sz="2000" dirty="0"/>
          </a:p>
          <a:p>
            <a:pPr lvl="1"/>
            <a:r>
              <a:rPr lang="zh-CN" altLang="en-US" sz="1600" dirty="0"/>
              <a:t>最大投影方差：使得</a:t>
            </a:r>
            <a:r>
              <a:rPr lang="zh-CN" altLang="en-US" sz="1600" b="1" dirty="0"/>
              <a:t>在转换后的空间中数据的方差最大</a:t>
            </a:r>
            <a:r>
              <a:rPr lang="zh-CN" altLang="en-US" sz="1600" dirty="0"/>
              <a:t>，</a:t>
            </a:r>
            <a:r>
              <a:rPr lang="zh-CN" altLang="en-US" sz="1600" b="1" dirty="0"/>
              <a:t>尽可能多地保留原数据的信息</a:t>
            </a:r>
            <a:endParaRPr lang="en-US" altLang="zh-CN" sz="1600" b="1" dirty="0"/>
          </a:p>
        </p:txBody>
      </p:sp>
    </p:spTree>
    <p:extLst>
      <p:ext uri="{BB962C8B-B14F-4D97-AF65-F5344CB8AC3E}">
        <p14:creationId xmlns:p14="http://schemas.microsoft.com/office/powerpoint/2010/main" val="313465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build="p"/>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编码器（</a:t>
            </a:r>
            <a:r>
              <a:rPr lang="en-US" altLang="zh-CN" dirty="0"/>
              <a:t>Encoder</a:t>
            </a:r>
            <a:r>
              <a:rPr lang="zh-CN" altLang="en-US" dirty="0"/>
              <a:t>）</a:t>
            </a:r>
            <a:endParaRPr lang="en-US" altLang="zh-CN" dirty="0"/>
          </a:p>
          <a:p>
            <a:pPr lvl="1"/>
            <a:r>
              <a:rPr lang="zh-CN" altLang="en-US" dirty="0"/>
              <a:t>高</a:t>
            </a:r>
            <a:r>
              <a:rPr lang="en-US" altLang="zh-CN" dirty="0">
                <a:sym typeface="Wingdings" pitchFamily="2" charset="2"/>
              </a:rPr>
              <a:t></a:t>
            </a:r>
            <a:r>
              <a:rPr lang="zh-CN" altLang="en-US" dirty="0"/>
              <a:t>低维</a:t>
            </a:r>
            <a:endParaRPr lang="en-US" altLang="zh-CN" dirty="0"/>
          </a:p>
          <a:p>
            <a:r>
              <a:rPr lang="zh-CN" altLang="en-US" dirty="0"/>
              <a:t>解码器（</a:t>
            </a:r>
            <a:r>
              <a:rPr lang="en-US" altLang="zh-CN" dirty="0"/>
              <a:t>Decoder</a:t>
            </a:r>
            <a:r>
              <a:rPr lang="zh-CN" altLang="en-US" dirty="0"/>
              <a:t>）</a:t>
            </a:r>
            <a:endParaRPr lang="en-US" altLang="zh-CN" dirty="0"/>
          </a:p>
          <a:p>
            <a:pPr lvl="1"/>
            <a:r>
              <a:rPr lang="zh-CN" altLang="en-US" dirty="0">
                <a:sym typeface="Wingdings" pitchFamily="2" charset="2"/>
              </a:rPr>
              <a:t>低</a:t>
            </a:r>
            <a:r>
              <a:rPr lang="en-US" altLang="zh-CN" dirty="0">
                <a:sym typeface="Wingdings" pitchFamily="2" charset="2"/>
              </a:rPr>
              <a:t></a:t>
            </a:r>
            <a:r>
              <a:rPr lang="zh-CN" altLang="en-US" dirty="0">
                <a:sym typeface="Wingdings" pitchFamily="2" charset="2"/>
              </a:rPr>
              <a:t>高</a:t>
            </a:r>
            <a:r>
              <a:rPr lang="zh-CN" altLang="en-US" dirty="0"/>
              <a:t>维</a:t>
            </a:r>
            <a:endParaRPr lang="en-US" altLang="zh-CN" dirty="0"/>
          </a:p>
          <a:p>
            <a:pPr marL="0" indent="0">
              <a:buNone/>
            </a:pPr>
            <a:endParaRPr lang="en-US" altLang="zh-CN" dirty="0"/>
          </a:p>
          <a:p>
            <a:r>
              <a:rPr lang="zh-CN" altLang="en-US" dirty="0"/>
              <a:t>目标函数：重构错误（</a:t>
            </a:r>
            <a:r>
              <a:rPr lang="en-US" altLang="zh-CN" dirty="0"/>
              <a:t>Reconstruction error</a:t>
            </a:r>
            <a:r>
              <a:rPr lang="zh-CN" altLang="en-US" dirty="0"/>
              <a:t>）</a:t>
            </a:r>
          </a:p>
        </p:txBody>
      </p:sp>
      <p:sp>
        <p:nvSpPr>
          <p:cNvPr id="14" name="内容占位符 13">
            <a:extLst>
              <a:ext uri="{FF2B5EF4-FFF2-40B4-BE49-F238E27FC236}">
                <a16:creationId xmlns:a16="http://schemas.microsoft.com/office/drawing/2014/main" id="{878260FA-F1FB-4686-ABE6-C68F94E2D2E1}"/>
              </a:ext>
            </a:extLst>
          </p:cNvPr>
          <p:cNvSpPr>
            <a:spLocks noGrp="1"/>
          </p:cNvSpPr>
          <p:nvPr>
            <p:ph idx="10"/>
          </p:nvPr>
        </p:nvSpPr>
        <p:spPr/>
        <p:txBody>
          <a:bodyPr/>
          <a:lstStyle/>
          <a:p>
            <a:r>
              <a:rPr lang="zh-CN" altLang="en-US" dirty="0"/>
              <a:t>两层网络结构的自编码器</a:t>
            </a:r>
          </a:p>
        </p:txBody>
      </p:sp>
      <p:sp>
        <p:nvSpPr>
          <p:cNvPr id="2" name="标题 1"/>
          <p:cNvSpPr>
            <a:spLocks noGrp="1"/>
          </p:cNvSpPr>
          <p:nvPr>
            <p:ph type="title"/>
          </p:nvPr>
        </p:nvSpPr>
        <p:spPr/>
        <p:txBody>
          <a:bodyPr/>
          <a:lstStyle/>
          <a:p>
            <a:r>
              <a:rPr lang="zh-CN" altLang="en-US" dirty="0"/>
              <a:t>自编码器（</a:t>
            </a:r>
            <a:r>
              <a:rPr lang="en-US" altLang="zh-CN" dirty="0"/>
              <a:t>Auto-Encoder</a:t>
            </a:r>
            <a:r>
              <a:rPr lang="zh-CN" altLang="en-US" dirty="0"/>
              <a:t>，</a:t>
            </a:r>
            <a:r>
              <a:rPr lang="en-US" altLang="zh-CN" dirty="0"/>
              <a:t>AE</a:t>
            </a:r>
            <a:r>
              <a:rPr lang="zh-CN" altLang="en-US" dirty="0"/>
              <a:t>）</a:t>
            </a:r>
          </a:p>
        </p:txBody>
      </p:sp>
      <p:pic>
        <p:nvPicPr>
          <p:cNvPr id="5" name="图片 4">
            <a:extLst>
              <a:ext uri="{FF2B5EF4-FFF2-40B4-BE49-F238E27FC236}">
                <a16:creationId xmlns:a16="http://schemas.microsoft.com/office/drawing/2014/main" id="{E1CC8254-3C5F-4F5E-9D09-00F334480A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8600" y="1296281"/>
            <a:ext cx="1905000" cy="1018953"/>
          </a:xfrm>
          <a:prstGeom prst="rect">
            <a:avLst/>
          </a:prstGeom>
        </p:spPr>
      </p:pic>
      <p:pic>
        <p:nvPicPr>
          <p:cNvPr id="7" name="图片 6">
            <a:extLst>
              <a:ext uri="{FF2B5EF4-FFF2-40B4-BE49-F238E27FC236}">
                <a16:creationId xmlns:a16="http://schemas.microsoft.com/office/drawing/2014/main" id="{A22442C2-D5AA-4C43-9215-3ED1A843B9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619680"/>
            <a:ext cx="2936473" cy="1604009"/>
          </a:xfrm>
          <a:prstGeom prst="rect">
            <a:avLst/>
          </a:prstGeom>
        </p:spPr>
      </p:pic>
      <p:pic>
        <p:nvPicPr>
          <p:cNvPr id="12" name="图片 11">
            <a:extLst>
              <a:ext uri="{FF2B5EF4-FFF2-40B4-BE49-F238E27FC236}">
                <a16:creationId xmlns:a16="http://schemas.microsoft.com/office/drawing/2014/main" id="{BE8C4E73-DE56-4204-8C4B-132817D0A4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39000" y="2209800"/>
            <a:ext cx="3048000" cy="2809342"/>
          </a:xfrm>
          <a:prstGeom prst="rect">
            <a:avLst/>
          </a:prstGeom>
        </p:spPr>
      </p:pic>
    </p:spTree>
    <p:extLst>
      <p:ext uri="{BB962C8B-B14F-4D97-AF65-F5344CB8AC3E}">
        <p14:creationId xmlns:p14="http://schemas.microsoft.com/office/powerpoint/2010/main" val="1196207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E417E4-97CD-4C5E-A4C0-342B76463C62}"/>
              </a:ext>
            </a:extLst>
          </p:cNvPr>
          <p:cNvSpPr>
            <a:spLocks noGrp="1"/>
          </p:cNvSpPr>
          <p:nvPr>
            <p:ph type="title"/>
          </p:nvPr>
        </p:nvSpPr>
        <p:spPr/>
        <p:txBody>
          <a:bodyPr/>
          <a:lstStyle/>
          <a:p>
            <a:r>
              <a:rPr lang="zh-CN" altLang="en-US" dirty="0"/>
              <a:t>自编码器</a:t>
            </a:r>
          </a:p>
        </p:txBody>
      </p:sp>
      <p:sp>
        <p:nvSpPr>
          <p:cNvPr id="86" name="内容占位符 2"/>
          <p:cNvSpPr>
            <a:spLocks noGrp="1"/>
          </p:cNvSpPr>
          <p:nvPr>
            <p:ph idx="1"/>
          </p:nvPr>
        </p:nvSpPr>
        <p:spPr>
          <a:xfrm>
            <a:off x="533400" y="1066800"/>
            <a:ext cx="11049000" cy="5062538"/>
          </a:xfrm>
        </p:spPr>
        <p:txBody>
          <a:bodyPr/>
          <a:lstStyle/>
          <a:p>
            <a:r>
              <a:rPr lang="zh-CN" altLang="en-US" dirty="0"/>
              <a:t>自动编码器可以用做</a:t>
            </a:r>
            <a:r>
              <a:rPr lang="zh-CN" altLang="en-US" u="sng" dirty="0"/>
              <a:t>数据压缩</a:t>
            </a:r>
            <a:r>
              <a:rPr lang="zh-CN" altLang="en-US" dirty="0"/>
              <a:t>算法</a:t>
            </a:r>
            <a:r>
              <a:rPr lang="en-US" altLang="zh-CN" dirty="0"/>
              <a:t>, </a:t>
            </a:r>
            <a:r>
              <a:rPr lang="zh-CN" altLang="en-US" dirty="0"/>
              <a:t>其中数据的编码函数和解码缩函数是数据相关的、</a:t>
            </a:r>
            <a:r>
              <a:rPr lang="zh-CN" altLang="en-US" b="1" dirty="0"/>
              <a:t>有损</a:t>
            </a:r>
            <a:r>
              <a:rPr lang="zh-CN" altLang="en-US" dirty="0"/>
              <a:t>的、从样本中自动学习的</a:t>
            </a:r>
            <a:r>
              <a:rPr lang="en-US" altLang="zh-CN" dirty="0"/>
              <a:t>.</a:t>
            </a:r>
          </a:p>
          <a:p>
            <a:pPr marL="0" indent="0">
              <a:buNone/>
            </a:pPr>
            <a:endParaRPr lang="en-US" altLang="zh-CN" sz="1800" dirty="0"/>
          </a:p>
          <a:p>
            <a:r>
              <a:rPr lang="zh-CN" altLang="en-US" dirty="0"/>
              <a:t>构建一个自动编码器需要下面三项工作</a:t>
            </a:r>
            <a:r>
              <a:rPr lang="en-US" altLang="zh-CN" dirty="0"/>
              <a:t>:</a:t>
            </a:r>
          </a:p>
          <a:p>
            <a:pPr lvl="1"/>
            <a:r>
              <a:rPr lang="zh-CN" altLang="en-US" dirty="0"/>
              <a:t>构建编码器</a:t>
            </a:r>
            <a:r>
              <a:rPr lang="en-US" altLang="zh-CN" dirty="0"/>
              <a:t>;</a:t>
            </a:r>
          </a:p>
          <a:p>
            <a:pPr lvl="1"/>
            <a:r>
              <a:rPr lang="zh-CN" altLang="en-US" dirty="0"/>
              <a:t>构建解码器</a:t>
            </a:r>
            <a:r>
              <a:rPr lang="en-US" altLang="zh-CN" dirty="0"/>
              <a:t>;</a:t>
            </a:r>
          </a:p>
          <a:p>
            <a:pPr lvl="1"/>
            <a:r>
              <a:rPr lang="zh-CN" altLang="en-US" dirty="0"/>
              <a:t>设定一个损失函数，用以衡量由于压缩而损失掉的信息</a:t>
            </a:r>
            <a:r>
              <a:rPr lang="en-US" altLang="zh-CN" dirty="0"/>
              <a:t>.</a:t>
            </a:r>
            <a:endParaRPr lang="zh-CN" altLang="en-US" dirty="0"/>
          </a:p>
        </p:txBody>
      </p:sp>
      <p:sp>
        <p:nvSpPr>
          <p:cNvPr id="4" name="内容占位符 2">
            <a:extLst>
              <a:ext uri="{FF2B5EF4-FFF2-40B4-BE49-F238E27FC236}">
                <a16:creationId xmlns:a16="http://schemas.microsoft.com/office/drawing/2014/main" id="{73D1CF4B-186B-AC47-8FC4-1D5982774A5F}"/>
              </a:ext>
            </a:extLst>
          </p:cNvPr>
          <p:cNvSpPr txBox="1">
            <a:spLocks/>
          </p:cNvSpPr>
          <p:nvPr/>
        </p:nvSpPr>
        <p:spPr bwMode="auto">
          <a:xfrm>
            <a:off x="381000" y="4724400"/>
            <a:ext cx="11430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kumimoji="1" lang="zh-CN" altLang="en-US" dirty="0"/>
              <a:t>优点：泛化性强，无监督</a:t>
            </a:r>
            <a:r>
              <a:rPr kumimoji="1" lang="zh-CN" altLang="en-US" b="1" dirty="0"/>
              <a:t>不需要数据标注</a:t>
            </a:r>
          </a:p>
          <a:p>
            <a:r>
              <a:rPr kumimoji="1" lang="zh-CN" altLang="en-US" dirty="0"/>
              <a:t>缺点：容易过拟合、对噪声敏感（鲁棒性差）​、隐空间解释性差​​等</a:t>
            </a:r>
          </a:p>
        </p:txBody>
      </p:sp>
    </p:spTree>
    <p:extLst>
      <p:ext uri="{BB962C8B-B14F-4D97-AF65-F5344CB8AC3E}">
        <p14:creationId xmlns:p14="http://schemas.microsoft.com/office/powerpoint/2010/main" val="2389621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5EC9A1C-A212-4C91-9A8C-1EBC6D8BBD20}"/>
                  </a:ext>
                </a:extLst>
              </p:cNvPr>
              <p:cNvSpPr>
                <a:spLocks noGrp="1"/>
              </p:cNvSpPr>
              <p:nvPr>
                <p:ph idx="1"/>
              </p:nvPr>
            </p:nvSpPr>
            <p:spPr/>
            <p:txBody>
              <a:bodyPr/>
              <a:lstStyle/>
              <a:p>
                <a:r>
                  <a:rPr lang="zh-CN" altLang="en-US" dirty="0"/>
                  <a:t>通过给自编码器中隐藏层单元</a:t>
                </a:r>
                <a:r>
                  <a:rPr lang="en-US" altLang="zh-CN" dirty="0"/>
                  <a:t>z</a:t>
                </a:r>
                <a:r>
                  <a:rPr lang="zh-CN" altLang="en-US" b="1" u="sng" dirty="0"/>
                  <a:t>加上稀疏约束</a:t>
                </a:r>
                <a:r>
                  <a:rPr lang="zh-CN" altLang="en-US" dirty="0"/>
                  <a:t>，自编码器可以学习到数据中一些有用的结构。</a:t>
                </a:r>
                <a:endParaRPr lang="en-US" altLang="zh-CN" dirty="0"/>
              </a:p>
              <a:p>
                <a:endParaRPr lang="en-US" altLang="zh-CN" dirty="0"/>
              </a:p>
              <a:p>
                <a:r>
                  <a:rPr lang="zh-CN" altLang="en-US" dirty="0"/>
                  <a:t>目标函数</a:t>
                </a:r>
                <a:endParaRPr lang="en-US" altLang="zh-CN" dirty="0"/>
              </a:p>
              <a:p>
                <a:endParaRPr lang="en-US" altLang="zh-CN" dirty="0"/>
              </a:p>
              <a:p>
                <a:endParaRPr lang="en-US" altLang="zh-CN" dirty="0"/>
              </a:p>
              <a:p>
                <a:endParaRPr lang="en-US" altLang="zh-CN" dirty="0"/>
              </a:p>
              <a:p>
                <a:pPr lvl="1"/>
                <a14:m>
                  <m:oMath xmlns:m="http://schemas.openxmlformats.org/officeDocument/2006/math">
                    <m:r>
                      <a:rPr lang="en-US" altLang="zh-CN" b="1" i="1" dirty="0" smtClean="0">
                        <a:latin typeface="Cambria Math" panose="02040503050406030204" pitchFamily="18" charset="0"/>
                      </a:rPr>
                      <m:t>𝑾</m:t>
                    </m:r>
                  </m:oMath>
                </a14:m>
                <a:r>
                  <a:rPr lang="zh-CN" altLang="en-US" dirty="0"/>
                  <a:t>表示自编码器中的参数</a:t>
                </a:r>
                <a:endParaRPr lang="en-US" altLang="zh-CN" dirty="0"/>
              </a:p>
              <a:p>
                <a:pPr lvl="1"/>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C5EC9A1C-A212-4C91-9A8C-1EBC6D8BBD20}"/>
                  </a:ext>
                </a:extLst>
              </p:cNvPr>
              <p:cNvSpPr>
                <a:spLocks noGrp="1" noRot="1" noChangeAspect="1" noMove="1" noResize="1" noEditPoints="1" noAdjustHandles="1" noChangeArrowheads="1" noChangeShapeType="1" noTextEdit="1"/>
              </p:cNvSpPr>
              <p:nvPr>
                <p:ph idx="1"/>
              </p:nvPr>
            </p:nvSpPr>
            <p:spPr>
              <a:blipFill>
                <a:blip r:embed="rId3"/>
                <a:stretch>
                  <a:fillRect l="-1848" t="-1711" r="-1848" b="-1956"/>
                </a:stretch>
              </a:blipFill>
            </p:spPr>
            <p:txBody>
              <a:bodyPr/>
              <a:lstStyle/>
              <a:p>
                <a:r>
                  <a:rPr lang="zh-CN" altLang="en-US">
                    <a:noFill/>
                  </a:rPr>
                  <a:t> </a:t>
                </a:r>
              </a:p>
            </p:txBody>
          </p:sp>
        </mc:Fallback>
      </mc:AlternateContent>
      <p:sp>
        <p:nvSpPr>
          <p:cNvPr id="7" name="内容占位符 6">
            <a:extLst>
              <a:ext uri="{FF2B5EF4-FFF2-40B4-BE49-F238E27FC236}">
                <a16:creationId xmlns:a16="http://schemas.microsoft.com/office/drawing/2014/main" id="{394E7F1D-0815-45AF-B8AC-F5B6A0758312}"/>
              </a:ext>
            </a:extLst>
          </p:cNvPr>
          <p:cNvSpPr>
            <a:spLocks noGrp="1"/>
          </p:cNvSpPr>
          <p:nvPr>
            <p:ph idx="10"/>
          </p:nvPr>
        </p:nvSpPr>
        <p:spPr/>
        <p:txBody>
          <a:bodyPr/>
          <a:lstStyle/>
          <a:p>
            <a:r>
              <a:rPr lang="zh-CN" altLang="en-US"/>
              <a:t>稀疏自编码器的优点是</a:t>
            </a:r>
            <a:r>
              <a:rPr lang="zh-CN" altLang="en-US" b="1"/>
              <a:t>有很高的可解释性</a:t>
            </a:r>
            <a:r>
              <a:rPr lang="zh-CN" altLang="en-US"/>
              <a:t>，并同时进行了隐式的特征选择．</a:t>
            </a:r>
            <a:endParaRPr lang="en-US" altLang="zh-CN"/>
          </a:p>
          <a:p>
            <a:endParaRPr lang="zh-CN" altLang="en-US" dirty="0"/>
          </a:p>
        </p:txBody>
      </p:sp>
      <p:sp>
        <p:nvSpPr>
          <p:cNvPr id="2" name="标题 1">
            <a:extLst>
              <a:ext uri="{FF2B5EF4-FFF2-40B4-BE49-F238E27FC236}">
                <a16:creationId xmlns:a16="http://schemas.microsoft.com/office/drawing/2014/main" id="{60CF966A-ADF3-48DE-8571-652F3C59A9A7}"/>
              </a:ext>
            </a:extLst>
          </p:cNvPr>
          <p:cNvSpPr>
            <a:spLocks noGrp="1"/>
          </p:cNvSpPr>
          <p:nvPr>
            <p:ph type="title"/>
          </p:nvPr>
        </p:nvSpPr>
        <p:spPr/>
        <p:txBody>
          <a:bodyPr/>
          <a:lstStyle/>
          <a:p>
            <a:r>
              <a:rPr lang="zh-CN" altLang="en-US" dirty="0"/>
              <a:t>稀疏自编码器</a:t>
            </a:r>
          </a:p>
        </p:txBody>
      </p:sp>
      <p:pic>
        <p:nvPicPr>
          <p:cNvPr id="2050" name="Picture 2" descr="Dimension Reduction - Autoencoders">
            <a:extLst>
              <a:ext uri="{FF2B5EF4-FFF2-40B4-BE49-F238E27FC236}">
                <a16:creationId xmlns:a16="http://schemas.microsoft.com/office/drawing/2014/main" id="{B7EFEEC0-B456-48FC-8FFB-669DF7C55B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2893062"/>
            <a:ext cx="2975462" cy="290067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51739D35-0799-40E6-AB03-3AD3F9C708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7636" y="4343400"/>
            <a:ext cx="4350327" cy="838200"/>
          </a:xfrm>
          <a:prstGeom prst="rect">
            <a:avLst/>
          </a:prstGeom>
        </p:spPr>
      </p:pic>
    </p:spTree>
    <p:extLst>
      <p:ext uri="{BB962C8B-B14F-4D97-AF65-F5344CB8AC3E}">
        <p14:creationId xmlns:p14="http://schemas.microsoft.com/office/powerpoint/2010/main" val="909291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降噪自编码器</a:t>
            </a: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2CDA7B4D-E994-46F9-B1E2-84EC519B1BC1}"/>
                  </a:ext>
                </a:extLst>
              </p:cNvPr>
              <p:cNvSpPr>
                <a:spLocks noGrp="1"/>
              </p:cNvSpPr>
              <p:nvPr>
                <p:ph idx="1"/>
              </p:nvPr>
            </p:nvSpPr>
            <p:spPr/>
            <p:txBody>
              <a:bodyPr/>
              <a:lstStyle/>
              <a:p>
                <a:r>
                  <a:rPr lang="zh-CN" altLang="en-US" dirty="0"/>
                  <a:t>通过</a:t>
                </a:r>
                <a:r>
                  <a:rPr lang="zh-CN" altLang="en-US" u="sng" dirty="0"/>
                  <a:t>引入噪声</a:t>
                </a:r>
                <a:r>
                  <a:rPr lang="zh-CN" altLang="en-US" dirty="0"/>
                  <a:t>来增加编码</a:t>
                </a:r>
                <a:r>
                  <a:rPr lang="zh-CN" altLang="en-US" b="1" dirty="0"/>
                  <a:t>鲁棒性</a:t>
                </a:r>
                <a:r>
                  <a:rPr lang="zh-CN" altLang="en-US" dirty="0"/>
                  <a:t>的自编码器</a:t>
                </a:r>
                <a:endParaRPr lang="en-US" altLang="zh-CN" dirty="0"/>
              </a:p>
              <a:p>
                <a:pPr lvl="1"/>
                <a:r>
                  <a:rPr lang="zh-CN" altLang="en-US" dirty="0"/>
                  <a:t>对于一个向量</a:t>
                </a:r>
                <a14:m>
                  <m:oMath xmlns:m="http://schemas.openxmlformats.org/officeDocument/2006/math">
                    <m:r>
                      <a:rPr lang="en-US" altLang="zh-CN" b="1" i="1" dirty="0" smtClean="0">
                        <a:latin typeface="Cambria Math" panose="02040503050406030204" pitchFamily="18" charset="0"/>
                      </a:rPr>
                      <m:t>𝒙</m:t>
                    </m:r>
                  </m:oMath>
                </a14:m>
                <a:r>
                  <a:rPr lang="zh-CN" altLang="en-US" dirty="0"/>
                  <a:t>，我们首先根据一个比例</a:t>
                </a:r>
                <a:r>
                  <a:rPr lang="en-US" altLang="zh-CN" dirty="0"/>
                  <a:t>µ</a:t>
                </a:r>
                <a:r>
                  <a:rPr lang="zh-CN" altLang="en-US" dirty="0"/>
                  <a:t>随机将</a:t>
                </a:r>
                <a14:m>
                  <m:oMath xmlns:m="http://schemas.openxmlformats.org/officeDocument/2006/math">
                    <m:r>
                      <a:rPr lang="en-US" altLang="zh-CN" b="1" i="1" dirty="0">
                        <a:latin typeface="Cambria Math" panose="02040503050406030204" pitchFamily="18" charset="0"/>
                      </a:rPr>
                      <m:t>𝒙</m:t>
                    </m:r>
                  </m:oMath>
                </a14:m>
                <a:r>
                  <a:rPr lang="zh-CN" altLang="en-US" dirty="0"/>
                  <a:t>的一些维度的值设置为</a:t>
                </a:r>
                <a:r>
                  <a:rPr lang="en-US" altLang="zh-CN" dirty="0"/>
                  <a:t>0</a:t>
                </a:r>
                <a:r>
                  <a:rPr lang="zh-CN" altLang="en-US" dirty="0"/>
                  <a:t>，得到一个被损坏的向量</a:t>
                </a:r>
                <a14:m>
                  <m:oMath xmlns:m="http://schemas.openxmlformats.org/officeDocument/2006/math">
                    <m:acc>
                      <m:accPr>
                        <m:chr m:val="̃"/>
                        <m:ctrlPr>
                          <a:rPr lang="en-US" altLang="zh-CN" i="1" dirty="0" smtClean="0">
                            <a:latin typeface="Cambria Math" panose="02040503050406030204" pitchFamily="18" charset="0"/>
                          </a:rPr>
                        </m:ctrlPr>
                      </m:accPr>
                      <m:e>
                        <m:r>
                          <a:rPr lang="en-US" altLang="zh-CN" b="1" i="1" dirty="0" smtClean="0">
                            <a:latin typeface="Cambria Math" panose="02040503050406030204" pitchFamily="18" charset="0"/>
                          </a:rPr>
                          <m:t>𝒙</m:t>
                        </m:r>
                      </m:e>
                    </m:acc>
                  </m:oMath>
                </a14:m>
                <a:r>
                  <a:rPr lang="zh-CN" altLang="en-US" dirty="0"/>
                  <a:t>。</a:t>
                </a:r>
                <a:endParaRPr lang="en-US" altLang="zh-CN" dirty="0"/>
              </a:p>
              <a:p>
                <a:pPr lvl="1"/>
                <a:r>
                  <a:rPr lang="zh-CN" altLang="en-US" dirty="0"/>
                  <a:t>然后将被损坏的向量</a:t>
                </a:r>
                <a14:m>
                  <m:oMath xmlns:m="http://schemas.openxmlformats.org/officeDocument/2006/math">
                    <m:acc>
                      <m:accPr>
                        <m:chr m:val="̃"/>
                        <m:ctrlPr>
                          <a:rPr lang="en-US" altLang="zh-CN" i="1" dirty="0">
                            <a:latin typeface="Cambria Math" panose="02040503050406030204" pitchFamily="18" charset="0"/>
                          </a:rPr>
                        </m:ctrlPr>
                      </m:accPr>
                      <m:e>
                        <m:r>
                          <a:rPr lang="en-US" altLang="zh-CN" b="1" i="1" dirty="0">
                            <a:latin typeface="Cambria Math" panose="02040503050406030204" pitchFamily="18" charset="0"/>
                          </a:rPr>
                          <m:t>𝒙</m:t>
                        </m:r>
                      </m:e>
                    </m:acc>
                  </m:oMath>
                </a14:m>
                <a:r>
                  <a:rPr lang="zh-CN" altLang="en-US" dirty="0"/>
                  <a:t>输入给自编码器得到编码</a:t>
                </a:r>
                <a14:m>
                  <m:oMath xmlns:m="http://schemas.openxmlformats.org/officeDocument/2006/math">
                    <m:r>
                      <a:rPr lang="en-US" altLang="zh-CN" b="1" i="1" dirty="0" smtClean="0">
                        <a:latin typeface="Cambria Math" panose="02040503050406030204" pitchFamily="18" charset="0"/>
                      </a:rPr>
                      <m:t>𝒛</m:t>
                    </m:r>
                  </m:oMath>
                </a14:m>
                <a:r>
                  <a:rPr lang="zh-CN" altLang="en-US" dirty="0"/>
                  <a:t>，并重构出原始的无损输入</a:t>
                </a:r>
                <a14:m>
                  <m:oMath xmlns:m="http://schemas.openxmlformats.org/officeDocument/2006/math">
                    <m:r>
                      <a:rPr lang="en-US" altLang="zh-CN" b="1" i="1" dirty="0">
                        <a:latin typeface="Cambria Math" panose="02040503050406030204" pitchFamily="18" charset="0"/>
                      </a:rPr>
                      <m:t>𝒙</m:t>
                    </m:r>
                    <m:r>
                      <a:rPr lang="en-US" altLang="zh-CN" b="1" i="1" dirty="0">
                        <a:latin typeface="Cambria Math" panose="02040503050406030204" pitchFamily="18" charset="0"/>
                      </a:rPr>
                      <m:t> </m:t>
                    </m:r>
                  </m:oMath>
                </a14:m>
                <a:r>
                  <a:rPr lang="zh-CN" altLang="en-US" dirty="0"/>
                  <a:t>。</a:t>
                </a:r>
              </a:p>
            </p:txBody>
          </p:sp>
        </mc:Choice>
        <mc:Fallback xmlns="">
          <p:sp>
            <p:nvSpPr>
              <p:cNvPr id="5" name="内容占位符 4">
                <a:extLst>
                  <a:ext uri="{FF2B5EF4-FFF2-40B4-BE49-F238E27FC236}">
                    <a16:creationId xmlns:a16="http://schemas.microsoft.com/office/drawing/2014/main" id="{2CDA7B4D-E994-46F9-B1E2-84EC519B1BC1}"/>
                  </a:ext>
                </a:extLst>
              </p:cNvPr>
              <p:cNvSpPr>
                <a:spLocks noGrp="1" noRot="1" noChangeAspect="1" noMove="1" noResize="1" noEditPoints="1" noAdjustHandles="1" noChangeArrowheads="1" noChangeShapeType="1" noTextEdit="1"/>
              </p:cNvSpPr>
              <p:nvPr>
                <p:ph idx="1"/>
              </p:nvPr>
            </p:nvSpPr>
            <p:spPr>
              <a:blipFill>
                <a:blip r:embed="rId3"/>
                <a:stretch>
                  <a:fillRect l="-925" t="-1874"/>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4EB64ABF-5085-45BE-ABE5-1EFC2124EB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7158" y="3124200"/>
            <a:ext cx="5377684" cy="2541881"/>
          </a:xfrm>
          <a:prstGeom prst="rect">
            <a:avLst/>
          </a:prstGeom>
        </p:spPr>
      </p:pic>
    </p:spTree>
    <p:extLst>
      <p:ext uri="{BB962C8B-B14F-4D97-AF65-F5344CB8AC3E}">
        <p14:creationId xmlns:p14="http://schemas.microsoft.com/office/powerpoint/2010/main" val="2878645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1C7702-E3C8-D240-9B64-4E5665E288A5}"/>
              </a:ext>
            </a:extLst>
          </p:cNvPr>
          <p:cNvSpPr>
            <a:spLocks noGrp="1"/>
          </p:cNvSpPr>
          <p:nvPr>
            <p:ph type="title"/>
          </p:nvPr>
        </p:nvSpPr>
        <p:spPr/>
        <p:txBody>
          <a:bodyPr/>
          <a:lstStyle/>
          <a:p>
            <a:r>
              <a:rPr kumimoji="1" lang="zh-CN" altLang="en-US" dirty="0"/>
              <a:t>自监督学习（</a:t>
            </a:r>
            <a:r>
              <a:rPr kumimoji="1" lang="en-US" altLang="zh-CN" dirty="0"/>
              <a:t>self-supervised learning</a:t>
            </a:r>
            <a:r>
              <a:rPr kumimoji="1" lang="zh-CN" altLang="en-US" dirty="0"/>
              <a:t>）</a:t>
            </a:r>
          </a:p>
        </p:txBody>
      </p:sp>
      <p:sp>
        <p:nvSpPr>
          <p:cNvPr id="3" name="内容占位符 2">
            <a:extLst>
              <a:ext uri="{FF2B5EF4-FFF2-40B4-BE49-F238E27FC236}">
                <a16:creationId xmlns:a16="http://schemas.microsoft.com/office/drawing/2014/main" id="{9021C186-A2E7-7143-8818-DECB6DBA5826}"/>
              </a:ext>
            </a:extLst>
          </p:cNvPr>
          <p:cNvSpPr>
            <a:spLocks noGrp="1"/>
          </p:cNvSpPr>
          <p:nvPr>
            <p:ph idx="1"/>
          </p:nvPr>
        </p:nvSpPr>
        <p:spPr/>
        <p:txBody>
          <a:bodyPr/>
          <a:lstStyle/>
          <a:p>
            <a:r>
              <a:rPr kumimoji="1" lang="zh-CN" altLang="en-US" dirty="0"/>
              <a:t>不再只是以输入重构作为目标，在无标签样本自身寻找更多样的“目标”</a:t>
            </a:r>
          </a:p>
          <a:p>
            <a:endParaRPr kumimoji="1" lang="zh-CN" altLang="en-US" dirty="0"/>
          </a:p>
        </p:txBody>
      </p:sp>
      <p:pic>
        <p:nvPicPr>
          <p:cNvPr id="4" name="图片 3">
            <a:extLst>
              <a:ext uri="{FF2B5EF4-FFF2-40B4-BE49-F238E27FC236}">
                <a16:creationId xmlns:a16="http://schemas.microsoft.com/office/drawing/2014/main" id="{29EC6E29-1363-FB4B-A7F7-E7757188BCD8}"/>
              </a:ext>
            </a:extLst>
          </p:cNvPr>
          <p:cNvPicPr>
            <a:picLocks noChangeAspect="1"/>
          </p:cNvPicPr>
          <p:nvPr/>
        </p:nvPicPr>
        <p:blipFill>
          <a:blip r:embed="rId3"/>
          <a:stretch>
            <a:fillRect/>
          </a:stretch>
        </p:blipFill>
        <p:spPr>
          <a:xfrm>
            <a:off x="1926944" y="2209800"/>
            <a:ext cx="8338112" cy="3962400"/>
          </a:xfrm>
          <a:prstGeom prst="rect">
            <a:avLst/>
          </a:prstGeom>
        </p:spPr>
      </p:pic>
      <p:sp>
        <p:nvSpPr>
          <p:cNvPr id="6" name="文本框 5">
            <a:extLst>
              <a:ext uri="{FF2B5EF4-FFF2-40B4-BE49-F238E27FC236}">
                <a16:creationId xmlns:a16="http://schemas.microsoft.com/office/drawing/2014/main" id="{48CBDDC4-007E-E746-B378-BECE54AF5A84}"/>
              </a:ext>
            </a:extLst>
          </p:cNvPr>
          <p:cNvSpPr txBox="1"/>
          <p:nvPr/>
        </p:nvSpPr>
        <p:spPr>
          <a:xfrm>
            <a:off x="6091646" y="6101834"/>
            <a:ext cx="6100354" cy="369332"/>
          </a:xfrm>
          <a:prstGeom prst="rect">
            <a:avLst/>
          </a:prstGeom>
          <a:noFill/>
        </p:spPr>
        <p:txBody>
          <a:bodyPr wrap="square">
            <a:spAutoFit/>
          </a:bodyPr>
          <a:lstStyle/>
          <a:p>
            <a:r>
              <a:rPr lang="zh-CN" altLang="en-US" dirty="0"/>
              <a:t>https://www.youtube.comwatch?v=710Qt7GALVk</a:t>
            </a:r>
          </a:p>
        </p:txBody>
      </p:sp>
    </p:spTree>
    <p:extLst>
      <p:ext uri="{BB962C8B-B14F-4D97-AF65-F5344CB8AC3E}">
        <p14:creationId xmlns:p14="http://schemas.microsoft.com/office/powerpoint/2010/main" val="1443101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266A81-BE3E-D14D-B0D0-225953F049BF}"/>
              </a:ext>
            </a:extLst>
          </p:cNvPr>
          <p:cNvSpPr>
            <a:spLocks noGrp="1"/>
          </p:cNvSpPr>
          <p:nvPr>
            <p:ph type="title"/>
          </p:nvPr>
        </p:nvSpPr>
        <p:spPr/>
        <p:txBody>
          <a:bodyPr/>
          <a:lstStyle/>
          <a:p>
            <a:r>
              <a:rPr kumimoji="1" lang="zh-CN" altLang="en-US" dirty="0"/>
              <a:t>自监督学习（</a:t>
            </a:r>
            <a:r>
              <a:rPr kumimoji="1" lang="en-US" altLang="zh-CN" dirty="0"/>
              <a:t>self-supervised learning</a:t>
            </a:r>
            <a:r>
              <a:rPr kumimoji="1" lang="zh-CN" altLang="en-US" dirty="0"/>
              <a:t>）</a:t>
            </a:r>
          </a:p>
        </p:txBody>
      </p:sp>
      <p:sp>
        <p:nvSpPr>
          <p:cNvPr id="3" name="内容占位符 2">
            <a:extLst>
              <a:ext uri="{FF2B5EF4-FFF2-40B4-BE49-F238E27FC236}">
                <a16:creationId xmlns:a16="http://schemas.microsoft.com/office/drawing/2014/main" id="{1A3335B5-6257-5B4B-BA41-0506A80CC19E}"/>
              </a:ext>
            </a:extLst>
          </p:cNvPr>
          <p:cNvSpPr>
            <a:spLocks noGrp="1"/>
          </p:cNvSpPr>
          <p:nvPr>
            <p:ph idx="1"/>
          </p:nvPr>
        </p:nvSpPr>
        <p:spPr/>
        <p:txBody>
          <a:bodyPr/>
          <a:lstStyle/>
          <a:p>
            <a:r>
              <a:rPr kumimoji="1" lang="zh-CN" altLang="en-US" dirty="0"/>
              <a:t>图像任务：旋转角度预测</a:t>
            </a:r>
          </a:p>
        </p:txBody>
      </p:sp>
      <p:pic>
        <p:nvPicPr>
          <p:cNvPr id="4" name="图片 3">
            <a:extLst>
              <a:ext uri="{FF2B5EF4-FFF2-40B4-BE49-F238E27FC236}">
                <a16:creationId xmlns:a16="http://schemas.microsoft.com/office/drawing/2014/main" id="{14F52905-F2C5-C943-9206-B5A6F4F90241}"/>
              </a:ext>
            </a:extLst>
          </p:cNvPr>
          <p:cNvPicPr>
            <a:picLocks noChangeAspect="1"/>
          </p:cNvPicPr>
          <p:nvPr/>
        </p:nvPicPr>
        <p:blipFill>
          <a:blip r:embed="rId2"/>
          <a:stretch>
            <a:fillRect/>
          </a:stretch>
        </p:blipFill>
        <p:spPr>
          <a:xfrm>
            <a:off x="2743200" y="1575566"/>
            <a:ext cx="7416800" cy="4291834"/>
          </a:xfrm>
          <a:prstGeom prst="rect">
            <a:avLst/>
          </a:prstGeom>
        </p:spPr>
      </p:pic>
    </p:spTree>
    <p:extLst>
      <p:ext uri="{BB962C8B-B14F-4D97-AF65-F5344CB8AC3E}">
        <p14:creationId xmlns:p14="http://schemas.microsoft.com/office/powerpoint/2010/main" val="1746037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7DD41-C3BF-4D42-B356-C25CB3063FD0}"/>
              </a:ext>
            </a:extLst>
          </p:cNvPr>
          <p:cNvSpPr>
            <a:spLocks noGrp="1"/>
          </p:cNvSpPr>
          <p:nvPr>
            <p:ph type="title"/>
          </p:nvPr>
        </p:nvSpPr>
        <p:spPr/>
        <p:txBody>
          <a:bodyPr/>
          <a:lstStyle/>
          <a:p>
            <a:r>
              <a:rPr kumimoji="1" lang="zh-CN" altLang="en-US" dirty="0"/>
              <a:t>自监督学习（</a:t>
            </a:r>
            <a:r>
              <a:rPr kumimoji="1" lang="en-US" altLang="zh-CN" dirty="0"/>
              <a:t>self-supervised learning</a:t>
            </a:r>
            <a:r>
              <a:rPr kumimoji="1" lang="zh-CN" altLang="en-US" dirty="0"/>
              <a:t>）</a:t>
            </a:r>
          </a:p>
        </p:txBody>
      </p:sp>
      <p:sp>
        <p:nvSpPr>
          <p:cNvPr id="3" name="内容占位符 2">
            <a:extLst>
              <a:ext uri="{FF2B5EF4-FFF2-40B4-BE49-F238E27FC236}">
                <a16:creationId xmlns:a16="http://schemas.microsoft.com/office/drawing/2014/main" id="{2AF56C11-C390-1648-A023-9F4E892C9996}"/>
              </a:ext>
            </a:extLst>
          </p:cNvPr>
          <p:cNvSpPr>
            <a:spLocks noGrp="1"/>
          </p:cNvSpPr>
          <p:nvPr>
            <p:ph idx="1"/>
          </p:nvPr>
        </p:nvSpPr>
        <p:spPr/>
        <p:txBody>
          <a:bodyPr/>
          <a:lstStyle/>
          <a:p>
            <a:r>
              <a:rPr kumimoji="1" lang="zh-CN" altLang="en-US" dirty="0"/>
              <a:t>文本任务：掩码语言模型（</a:t>
            </a:r>
            <a:r>
              <a:rPr kumimoji="1" lang="en-US" altLang="zh-CN" dirty="0"/>
              <a:t>Masked Language Model</a:t>
            </a:r>
            <a:r>
              <a:rPr kumimoji="1" lang="zh-CN" altLang="en-US" dirty="0"/>
              <a:t>）</a:t>
            </a:r>
          </a:p>
        </p:txBody>
      </p:sp>
      <p:pic>
        <p:nvPicPr>
          <p:cNvPr id="4" name="图片 3">
            <a:extLst>
              <a:ext uri="{FF2B5EF4-FFF2-40B4-BE49-F238E27FC236}">
                <a16:creationId xmlns:a16="http://schemas.microsoft.com/office/drawing/2014/main" id="{6A9FB4E2-304E-6540-B9C3-9CFB508E3302}"/>
              </a:ext>
            </a:extLst>
          </p:cNvPr>
          <p:cNvPicPr>
            <a:picLocks noChangeAspect="1"/>
          </p:cNvPicPr>
          <p:nvPr/>
        </p:nvPicPr>
        <p:blipFill>
          <a:blip r:embed="rId2"/>
          <a:stretch>
            <a:fillRect/>
          </a:stretch>
        </p:blipFill>
        <p:spPr>
          <a:xfrm>
            <a:off x="1487776" y="1701800"/>
            <a:ext cx="9216448" cy="4699000"/>
          </a:xfrm>
          <a:prstGeom prst="rect">
            <a:avLst/>
          </a:prstGeom>
        </p:spPr>
      </p:pic>
    </p:spTree>
    <p:extLst>
      <p:ext uri="{BB962C8B-B14F-4D97-AF65-F5344CB8AC3E}">
        <p14:creationId xmlns:p14="http://schemas.microsoft.com/office/powerpoint/2010/main" val="1039383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96D23D-D033-472E-A7DB-7ACE4953D5F8}"/>
              </a:ext>
            </a:extLst>
          </p:cNvPr>
          <p:cNvSpPr>
            <a:spLocks noGrp="1"/>
          </p:cNvSpPr>
          <p:nvPr>
            <p:ph type="ctrTitle"/>
          </p:nvPr>
        </p:nvSpPr>
        <p:spPr/>
        <p:txBody>
          <a:bodyPr/>
          <a:lstStyle/>
          <a:p>
            <a:r>
              <a:rPr lang="zh-CN" altLang="en-US" dirty="0"/>
              <a:t>概率密度估计</a:t>
            </a:r>
          </a:p>
        </p:txBody>
      </p:sp>
    </p:spTree>
    <p:extLst>
      <p:ext uri="{BB962C8B-B14F-4D97-AF65-F5344CB8AC3E}">
        <p14:creationId xmlns:p14="http://schemas.microsoft.com/office/powerpoint/2010/main" val="3168576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83A7D-7A09-4B27-93A1-7E2B67968E50}"/>
              </a:ext>
            </a:extLst>
          </p:cNvPr>
          <p:cNvSpPr>
            <a:spLocks noGrp="1"/>
          </p:cNvSpPr>
          <p:nvPr>
            <p:ph type="title"/>
          </p:nvPr>
        </p:nvSpPr>
        <p:spPr/>
        <p:txBody>
          <a:bodyPr/>
          <a:lstStyle/>
          <a:p>
            <a:r>
              <a:rPr lang="zh-CN" altLang="en-US" dirty="0"/>
              <a:t>概率密度估计</a:t>
            </a:r>
          </a:p>
        </p:txBody>
      </p:sp>
      <p:sp>
        <p:nvSpPr>
          <p:cNvPr id="3" name="内容占位符 2">
            <a:extLst>
              <a:ext uri="{FF2B5EF4-FFF2-40B4-BE49-F238E27FC236}">
                <a16:creationId xmlns:a16="http://schemas.microsoft.com/office/drawing/2014/main" id="{C4B6D067-6667-44FD-856E-656116081F0E}"/>
              </a:ext>
            </a:extLst>
          </p:cNvPr>
          <p:cNvSpPr>
            <a:spLocks noGrp="1"/>
          </p:cNvSpPr>
          <p:nvPr>
            <p:ph idx="1"/>
          </p:nvPr>
        </p:nvSpPr>
        <p:spPr/>
        <p:txBody>
          <a:bodyPr/>
          <a:lstStyle/>
          <a:p>
            <a:r>
              <a:rPr lang="zh-CN" altLang="en-US" dirty="0"/>
              <a:t>参数密度估计（</a:t>
            </a:r>
            <a:r>
              <a:rPr lang="en-US" altLang="zh-CN" dirty="0"/>
              <a:t>Parametric Density Estimation</a:t>
            </a:r>
            <a:r>
              <a:rPr lang="zh-CN" altLang="en-US" dirty="0"/>
              <a:t>）</a:t>
            </a:r>
            <a:endParaRPr lang="en-US" altLang="zh-CN" dirty="0"/>
          </a:p>
          <a:p>
            <a:pPr lvl="1"/>
            <a:r>
              <a:rPr lang="zh-CN" altLang="en-US" dirty="0"/>
              <a:t>根据先验知识</a:t>
            </a:r>
            <a:r>
              <a:rPr lang="zh-CN" altLang="en-US" u="sng" dirty="0"/>
              <a:t>假设随机变量服从某种分布</a:t>
            </a:r>
            <a:r>
              <a:rPr lang="zh-CN" altLang="en-US" dirty="0"/>
              <a:t>，然后通过训练样本来估计分布的参数．</a:t>
            </a:r>
            <a:endParaRPr lang="en-US" altLang="zh-CN" dirty="0"/>
          </a:p>
          <a:p>
            <a:pPr lvl="1"/>
            <a:r>
              <a:rPr lang="zh-CN" altLang="en-US" dirty="0"/>
              <a:t>估计方法：</a:t>
            </a:r>
            <a:r>
              <a:rPr lang="zh-CN" altLang="en-US" u="sng" dirty="0"/>
              <a:t>最大似然估计 </a:t>
            </a:r>
            <a:r>
              <a:rPr lang="en-US" altLang="zh-CN" u="sng" dirty="0"/>
              <a:t>(Maximum Likelihood Estimation</a:t>
            </a:r>
            <a:r>
              <a:rPr lang="zh-CN" altLang="en-US" u="sng" dirty="0"/>
              <a:t>，</a:t>
            </a:r>
            <a:r>
              <a:rPr lang="en-US" altLang="zh-CN" u="sng" dirty="0"/>
              <a:t>MLE) </a:t>
            </a:r>
          </a:p>
          <a:p>
            <a:pPr lvl="1"/>
            <a:endParaRPr lang="en-US" altLang="zh-CN" dirty="0"/>
          </a:p>
          <a:p>
            <a:pPr lvl="1"/>
            <a:endParaRPr lang="en-US" altLang="zh-CN" dirty="0"/>
          </a:p>
          <a:p>
            <a:pPr marL="0" indent="0">
              <a:buNone/>
            </a:pPr>
            <a:endParaRPr lang="en-US" altLang="zh-CN" dirty="0"/>
          </a:p>
          <a:p>
            <a:r>
              <a:rPr lang="zh-CN" altLang="en-US" dirty="0"/>
              <a:t>非参数密度估计（</a:t>
            </a:r>
            <a:r>
              <a:rPr lang="en-US" altLang="zh-CN" dirty="0"/>
              <a:t>Nonparametric Density Estimation</a:t>
            </a:r>
            <a:r>
              <a:rPr lang="zh-CN" altLang="en-US" dirty="0"/>
              <a:t>）</a:t>
            </a:r>
            <a:endParaRPr lang="en-US" altLang="zh-CN" dirty="0"/>
          </a:p>
          <a:p>
            <a:pPr lvl="1"/>
            <a:r>
              <a:rPr lang="zh-CN" altLang="en-US" u="sng" dirty="0"/>
              <a:t>不假设数据服从某种分布</a:t>
            </a:r>
            <a:r>
              <a:rPr lang="zh-CN" altLang="en-US" dirty="0"/>
              <a:t>，通过将样本空间划分为不同的区域并估计每个区域的概率来近似数据的概率密度函数。</a:t>
            </a:r>
          </a:p>
          <a:p>
            <a:pPr lvl="1"/>
            <a:endParaRPr lang="zh-CN" altLang="en-US" dirty="0"/>
          </a:p>
        </p:txBody>
      </p:sp>
      <p:pic>
        <p:nvPicPr>
          <p:cNvPr id="5" name="图片 4">
            <a:extLst>
              <a:ext uri="{FF2B5EF4-FFF2-40B4-BE49-F238E27FC236}">
                <a16:creationId xmlns:a16="http://schemas.microsoft.com/office/drawing/2014/main" id="{E00F5C83-4149-41D6-AB6D-8FF1E1E140B9}"/>
              </a:ext>
            </a:extLst>
          </p:cNvPr>
          <p:cNvPicPr>
            <a:picLocks noChangeAspect="1"/>
          </p:cNvPicPr>
          <p:nvPr/>
        </p:nvPicPr>
        <p:blipFill>
          <a:blip r:embed="rId3"/>
          <a:stretch>
            <a:fillRect/>
          </a:stretch>
        </p:blipFill>
        <p:spPr>
          <a:xfrm>
            <a:off x="1828800" y="3257550"/>
            <a:ext cx="3577344" cy="986400"/>
          </a:xfrm>
          <a:prstGeom prst="rect">
            <a:avLst/>
          </a:prstGeom>
        </p:spPr>
      </p:pic>
      <p:pic>
        <p:nvPicPr>
          <p:cNvPr id="4" name="图片 3">
            <a:extLst>
              <a:ext uri="{FF2B5EF4-FFF2-40B4-BE49-F238E27FC236}">
                <a16:creationId xmlns:a16="http://schemas.microsoft.com/office/drawing/2014/main" id="{80D9536C-4D2C-BDE5-F30B-9379EE393E72}"/>
              </a:ext>
            </a:extLst>
          </p:cNvPr>
          <p:cNvPicPr>
            <a:picLocks noChangeAspect="1"/>
          </p:cNvPicPr>
          <p:nvPr/>
        </p:nvPicPr>
        <p:blipFill>
          <a:blip r:embed="rId4"/>
          <a:stretch>
            <a:fillRect/>
          </a:stretch>
        </p:blipFill>
        <p:spPr>
          <a:xfrm>
            <a:off x="6400800" y="3404755"/>
            <a:ext cx="3068047" cy="814950"/>
          </a:xfrm>
          <a:prstGeom prst="rect">
            <a:avLst/>
          </a:prstGeom>
        </p:spPr>
      </p:pic>
    </p:spTree>
    <p:extLst>
      <p:ext uri="{BB962C8B-B14F-4D97-AF65-F5344CB8AC3E}">
        <p14:creationId xmlns:p14="http://schemas.microsoft.com/office/powerpoint/2010/main" val="3064940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2B5916-740D-4CC5-A649-93F73C8BBE16}"/>
              </a:ext>
            </a:extLst>
          </p:cNvPr>
          <p:cNvSpPr>
            <a:spLocks noGrp="1"/>
          </p:cNvSpPr>
          <p:nvPr>
            <p:ph type="title"/>
          </p:nvPr>
        </p:nvSpPr>
        <p:spPr/>
        <p:txBody>
          <a:bodyPr/>
          <a:lstStyle/>
          <a:p>
            <a:r>
              <a:rPr lang="zh-CN" altLang="en-US"/>
              <a:t>参数密度估计</a:t>
            </a:r>
            <a:endParaRPr lang="zh-CN" altLang="en-US" dirty="0"/>
          </a:p>
        </p:txBody>
      </p:sp>
      <p:sp>
        <p:nvSpPr>
          <p:cNvPr id="3" name="内容占位符 2">
            <a:extLst>
              <a:ext uri="{FF2B5EF4-FFF2-40B4-BE49-F238E27FC236}">
                <a16:creationId xmlns:a16="http://schemas.microsoft.com/office/drawing/2014/main" id="{51952127-876D-4748-93F5-F3B7F3A99A33}"/>
              </a:ext>
            </a:extLst>
          </p:cNvPr>
          <p:cNvSpPr>
            <a:spLocks noGrp="1"/>
          </p:cNvSpPr>
          <p:nvPr>
            <p:ph idx="1"/>
          </p:nvPr>
        </p:nvSpPr>
        <p:spPr/>
        <p:txBody>
          <a:bodyPr/>
          <a:lstStyle/>
          <a:p>
            <a:r>
              <a:rPr lang="zh-CN" altLang="en-US" dirty="0"/>
              <a:t>正态分布</a:t>
            </a:r>
          </a:p>
        </p:txBody>
      </p:sp>
      <p:pic>
        <p:nvPicPr>
          <p:cNvPr id="7" name="图片 6">
            <a:extLst>
              <a:ext uri="{FF2B5EF4-FFF2-40B4-BE49-F238E27FC236}">
                <a16:creationId xmlns:a16="http://schemas.microsoft.com/office/drawing/2014/main" id="{C836A1EE-B224-4767-82F3-19F55145F36B}"/>
              </a:ext>
            </a:extLst>
          </p:cNvPr>
          <p:cNvPicPr>
            <a:picLocks noChangeAspect="1"/>
          </p:cNvPicPr>
          <p:nvPr/>
        </p:nvPicPr>
        <p:blipFill>
          <a:blip r:embed="rId3"/>
          <a:stretch>
            <a:fillRect/>
          </a:stretch>
        </p:blipFill>
        <p:spPr>
          <a:xfrm>
            <a:off x="3086903" y="1521072"/>
            <a:ext cx="6018194" cy="4311692"/>
          </a:xfrm>
          <a:prstGeom prst="rect">
            <a:avLst/>
          </a:prstGeom>
        </p:spPr>
      </p:pic>
    </p:spTree>
    <p:extLst>
      <p:ext uri="{BB962C8B-B14F-4D97-AF65-F5344CB8AC3E}">
        <p14:creationId xmlns:p14="http://schemas.microsoft.com/office/powerpoint/2010/main" val="4270402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EADFC-5006-474C-B043-F434D4ED93B8}"/>
              </a:ext>
            </a:extLst>
          </p:cNvPr>
          <p:cNvSpPr>
            <a:spLocks noGrp="1"/>
          </p:cNvSpPr>
          <p:nvPr>
            <p:ph type="title"/>
          </p:nvPr>
        </p:nvSpPr>
        <p:spPr/>
        <p:txBody>
          <a:bodyPr/>
          <a:lstStyle/>
          <a:p>
            <a:r>
              <a:rPr lang="zh-CN" altLang="en-US" dirty="0"/>
              <a:t>参数密度估计一般存在以下问题</a:t>
            </a:r>
          </a:p>
        </p:txBody>
      </p:sp>
      <p:sp>
        <p:nvSpPr>
          <p:cNvPr id="3" name="内容占位符 2">
            <a:extLst>
              <a:ext uri="{FF2B5EF4-FFF2-40B4-BE49-F238E27FC236}">
                <a16:creationId xmlns:a16="http://schemas.microsoft.com/office/drawing/2014/main" id="{7767D147-B88E-431D-95D8-EB2371919B82}"/>
              </a:ext>
            </a:extLst>
          </p:cNvPr>
          <p:cNvSpPr>
            <a:spLocks noGrp="1"/>
          </p:cNvSpPr>
          <p:nvPr>
            <p:ph idx="1"/>
          </p:nvPr>
        </p:nvSpPr>
        <p:spPr/>
        <p:txBody>
          <a:bodyPr/>
          <a:lstStyle/>
          <a:p>
            <a:r>
              <a:rPr lang="zh-CN" altLang="en-US" dirty="0"/>
              <a:t>模型选择问题</a:t>
            </a:r>
            <a:endParaRPr lang="en-US" altLang="zh-CN" dirty="0"/>
          </a:p>
          <a:p>
            <a:pPr lvl="1"/>
            <a:r>
              <a:rPr lang="zh-CN" altLang="en-US" dirty="0"/>
              <a:t>如何选择数据分布的密度函数？</a:t>
            </a:r>
            <a:endParaRPr lang="en-US" altLang="zh-CN" dirty="0"/>
          </a:p>
          <a:p>
            <a:pPr lvl="1"/>
            <a:r>
              <a:rPr lang="zh-CN" altLang="en-US" u="sng" dirty="0"/>
              <a:t>实际数据的分布往往是非常复杂的</a:t>
            </a:r>
            <a:r>
              <a:rPr lang="zh-CN" altLang="en-US" dirty="0"/>
              <a:t>，而不是简单的正态分布或多项分布。</a:t>
            </a:r>
            <a:endParaRPr lang="en-US" altLang="zh-CN" dirty="0"/>
          </a:p>
          <a:p>
            <a:r>
              <a:rPr lang="zh-CN" altLang="en-US" u="sng" dirty="0"/>
              <a:t>不可观测</a:t>
            </a:r>
            <a:r>
              <a:rPr lang="zh-CN" altLang="en-US" dirty="0"/>
              <a:t>变量问题</a:t>
            </a:r>
            <a:endParaRPr lang="en-US" altLang="zh-CN" dirty="0"/>
          </a:p>
          <a:p>
            <a:pPr lvl="1"/>
            <a:r>
              <a:rPr lang="zh-CN" altLang="en-US" dirty="0"/>
              <a:t>即我们用来训练的样本只包含部分的可观测变量，还有一些非常关键的变量是无法观测的，这导致我们很难准确估计数据的真实分布。</a:t>
            </a:r>
            <a:endParaRPr lang="en-US" altLang="zh-CN" dirty="0"/>
          </a:p>
          <a:p>
            <a:r>
              <a:rPr lang="zh-CN" altLang="en-US" dirty="0"/>
              <a:t>维度灾难问题</a:t>
            </a:r>
            <a:endParaRPr lang="en-US" altLang="zh-CN" dirty="0"/>
          </a:p>
          <a:p>
            <a:pPr lvl="1"/>
            <a:r>
              <a:rPr lang="zh-CN" altLang="en-US" u="sng" dirty="0"/>
              <a:t>高维数据</a:t>
            </a:r>
            <a:r>
              <a:rPr lang="zh-CN" altLang="en-US" dirty="0"/>
              <a:t>的参数估计十分困难</a:t>
            </a:r>
            <a:endParaRPr lang="en-US" altLang="zh-CN" dirty="0"/>
          </a:p>
          <a:p>
            <a:pPr lvl="1"/>
            <a:r>
              <a:rPr lang="zh-CN" altLang="en-US" dirty="0"/>
              <a:t>随着维度的增加，</a:t>
            </a:r>
            <a:r>
              <a:rPr lang="zh-CN" altLang="en-US" u="sng" dirty="0"/>
              <a:t>估计参数所需要的样本数量指数增加</a:t>
            </a:r>
            <a:r>
              <a:rPr lang="zh-CN" altLang="en-US" dirty="0"/>
              <a:t>。在样本不足时会出现</a:t>
            </a:r>
            <a:r>
              <a:rPr lang="zh-CN" altLang="en-US" u="sng" dirty="0"/>
              <a:t>过拟合</a:t>
            </a:r>
            <a:r>
              <a:rPr lang="zh-CN" altLang="en-US" dirty="0"/>
              <a:t>。</a:t>
            </a:r>
          </a:p>
        </p:txBody>
      </p:sp>
    </p:spTree>
    <p:extLst>
      <p:ext uri="{BB962C8B-B14F-4D97-AF65-F5344CB8AC3E}">
        <p14:creationId xmlns:p14="http://schemas.microsoft.com/office/powerpoint/2010/main" val="16805846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DA3E8EE-F23C-4925-9458-88A7EE9FFEBA}"/>
                  </a:ext>
                </a:extLst>
              </p:cNvPr>
              <p:cNvSpPr>
                <a:spLocks noGrp="1"/>
              </p:cNvSpPr>
              <p:nvPr>
                <p:ph idx="1"/>
              </p:nvPr>
            </p:nvSpPr>
            <p:spPr/>
            <p:txBody>
              <a:bodyPr/>
              <a:lstStyle/>
              <a:p>
                <a:r>
                  <a:rPr lang="zh-CN" altLang="en-US" sz="2400" dirty="0"/>
                  <a:t>对于高维空间中的一个随机向量</a:t>
                </a:r>
                <a14:m>
                  <m:oMath xmlns:m="http://schemas.openxmlformats.org/officeDocument/2006/math">
                    <m:r>
                      <a:rPr lang="en-US" altLang="zh-CN" sz="2400" b="1" i="1" dirty="0">
                        <a:latin typeface="Cambria Math" panose="02040503050406030204" pitchFamily="18" charset="0"/>
                      </a:rPr>
                      <m:t>𝒙</m:t>
                    </m:r>
                    <m:r>
                      <a:rPr lang="en-US" altLang="zh-CN" sz="2400" b="1" i="1" dirty="0">
                        <a:latin typeface="Cambria Math" panose="02040503050406030204" pitchFamily="18" charset="0"/>
                      </a:rPr>
                      <m:t> </m:t>
                    </m:r>
                  </m:oMath>
                </a14:m>
                <a:r>
                  <a:rPr lang="zh-CN" altLang="en-US" sz="2400" dirty="0"/>
                  <a:t>，假设其服从一个</a:t>
                </a:r>
                <a:r>
                  <a:rPr lang="zh-CN" altLang="en-US" sz="2400" u="sng" dirty="0"/>
                  <a:t>未知分布</a:t>
                </a:r>
                <a14:m>
                  <m:oMath xmlns:m="http://schemas.openxmlformats.org/officeDocument/2006/math">
                    <m:r>
                      <a:rPr lang="en-US" altLang="zh-CN" sz="2400" i="1" u="sng" dirty="0">
                        <a:latin typeface="Cambria Math" panose="02040503050406030204" pitchFamily="18" charset="0"/>
                      </a:rPr>
                      <m:t>𝑝</m:t>
                    </m:r>
                    <m:r>
                      <a:rPr lang="en-US" altLang="zh-CN" sz="2400" i="1" u="sng" dirty="0">
                        <a:latin typeface="Cambria Math" panose="02040503050406030204" pitchFamily="18" charset="0"/>
                      </a:rPr>
                      <m:t>(</m:t>
                    </m:r>
                    <m:r>
                      <a:rPr lang="en-US" altLang="zh-CN" sz="2400" b="1" i="1" u="sng" dirty="0" err="1">
                        <a:latin typeface="Cambria Math" panose="02040503050406030204" pitchFamily="18" charset="0"/>
                      </a:rPr>
                      <m:t>𝒙</m:t>
                    </m:r>
                    <m:r>
                      <a:rPr lang="en-US" altLang="zh-CN" sz="2400" i="1" u="sng" dirty="0">
                        <a:latin typeface="Cambria Math" panose="02040503050406030204" pitchFamily="18" charset="0"/>
                      </a:rPr>
                      <m:t>) </m:t>
                    </m:r>
                  </m:oMath>
                </a14:m>
                <a:r>
                  <a:rPr lang="zh-CN" altLang="en-US" sz="2400" dirty="0"/>
                  <a:t>，则</a:t>
                </a:r>
                <a14:m>
                  <m:oMath xmlns:m="http://schemas.openxmlformats.org/officeDocument/2006/math">
                    <m:r>
                      <a:rPr lang="en-US" altLang="zh-CN" sz="2400" b="1" i="1" dirty="0">
                        <a:latin typeface="Cambria Math" panose="02040503050406030204" pitchFamily="18" charset="0"/>
                      </a:rPr>
                      <m:t>𝒙</m:t>
                    </m:r>
                  </m:oMath>
                </a14:m>
                <a:r>
                  <a:rPr lang="zh-CN" altLang="en-US" sz="2400" dirty="0"/>
                  <a:t>落入空间中的</a:t>
                </a:r>
                <a:r>
                  <a:rPr lang="zh-CN" altLang="en-US" sz="2400" u="sng" dirty="0"/>
                  <a:t>小区域</a:t>
                </a:r>
                <a14:m>
                  <m:oMath xmlns:m="http://schemas.openxmlformats.org/officeDocument/2006/math">
                    <m:r>
                      <a:rPr lang="en-US" altLang="zh-CN" sz="2400" b="1" i="1" u="sng" dirty="0" smtClean="0">
                        <a:latin typeface="Cambria Math" panose="02040503050406030204" pitchFamily="18" charset="0"/>
                        <a:ea typeface="Cambria Math" panose="02040503050406030204" pitchFamily="18" charset="0"/>
                      </a:rPr>
                      <m:t>ℛ</m:t>
                    </m:r>
                    <m:r>
                      <a:rPr lang="en-US" altLang="zh-CN" sz="2400" b="1" i="1" u="sng" dirty="0">
                        <a:latin typeface="Cambria Math" panose="02040503050406030204" pitchFamily="18" charset="0"/>
                      </a:rPr>
                      <m:t> </m:t>
                    </m:r>
                  </m:oMath>
                </a14:m>
                <a:r>
                  <a:rPr lang="zh-CN" altLang="en-US" sz="2400" dirty="0"/>
                  <a:t>的概率为</a:t>
                </a:r>
                <a:endParaRPr lang="en-US" altLang="zh-CN" sz="2400" dirty="0"/>
              </a:p>
              <a:p>
                <a:endParaRPr lang="en-US" altLang="zh-CN" sz="2400" dirty="0"/>
              </a:p>
              <a:p>
                <a:endParaRPr lang="en-US" altLang="zh-CN" sz="2400" dirty="0"/>
              </a:p>
              <a:p>
                <a:endParaRPr lang="en-US" altLang="zh-CN" sz="2400" dirty="0"/>
              </a:p>
              <a:p>
                <a:r>
                  <a:rPr lang="zh-CN" altLang="en-US" sz="2400" dirty="0"/>
                  <a:t>给定</a:t>
                </a:r>
                <a14:m>
                  <m:oMath xmlns:m="http://schemas.openxmlformats.org/officeDocument/2006/math">
                    <m:r>
                      <a:rPr lang="en-US" altLang="zh-CN" sz="2400" i="1" dirty="0">
                        <a:latin typeface="Cambria Math" panose="02040503050406030204" pitchFamily="18" charset="0"/>
                      </a:rPr>
                      <m:t>𝑁</m:t>
                    </m:r>
                  </m:oMath>
                </a14:m>
                <a:r>
                  <a:rPr lang="en-US" altLang="zh-CN" sz="2400" dirty="0"/>
                  <a:t> </a:t>
                </a:r>
                <a:r>
                  <a:rPr lang="zh-CN" altLang="en-US" sz="2400" dirty="0"/>
                  <a:t>个训练样本</a:t>
                </a:r>
                <a14:m>
                  <m:oMath xmlns:m="http://schemas.openxmlformats.org/officeDocument/2006/math">
                    <m:r>
                      <a:rPr lang="en-US" altLang="zh-CN" sz="2400" i="1" dirty="0">
                        <a:latin typeface="Cambria Math" panose="02040503050406030204" pitchFamily="18" charset="0"/>
                      </a:rPr>
                      <m:t>𝐷</m:t>
                    </m:r>
                    <m:r>
                      <a:rPr lang="en-US" altLang="zh-CN" sz="2400" i="1" dirty="0">
                        <a:latin typeface="Cambria Math" panose="02040503050406030204" pitchFamily="18" charset="0"/>
                      </a:rPr>
                      <m:t>= </m:t>
                    </m:r>
                    <m:sSubSup>
                      <m:sSubSupPr>
                        <m:ctrlPr>
                          <a:rPr lang="en-US" altLang="zh-CN" sz="2400" i="1" dirty="0">
                            <a:latin typeface="Cambria Math" panose="02040503050406030204" pitchFamily="18" charset="0"/>
                          </a:rPr>
                        </m:ctrlPr>
                      </m:sSubSupPr>
                      <m:e>
                        <m:d>
                          <m:dPr>
                            <m:begChr m:val="{"/>
                            <m:endChr m:val="}"/>
                            <m:ctrlPr>
                              <a:rPr lang="en-US" altLang="zh-CN" sz="2400" i="1" dirty="0">
                                <a:latin typeface="Cambria Math" panose="02040503050406030204" pitchFamily="18" charset="0"/>
                              </a:rPr>
                            </m:ctrlPr>
                          </m:dPr>
                          <m:e>
                            <m:sSup>
                              <m:sSupPr>
                                <m:ctrlPr>
                                  <a:rPr lang="en-US" altLang="zh-CN" sz="2400" i="1" dirty="0">
                                    <a:latin typeface="Cambria Math" panose="02040503050406030204" pitchFamily="18" charset="0"/>
                                  </a:rPr>
                                </m:ctrlPr>
                              </m:sSupPr>
                              <m:e>
                                <m:r>
                                  <a:rPr lang="en-US" altLang="zh-CN" sz="2400" b="1" i="1" dirty="0">
                                    <a:latin typeface="Cambria Math" panose="02040503050406030204" pitchFamily="18" charset="0"/>
                                  </a:rPr>
                                  <m:t>𝒙</m:t>
                                </m:r>
                              </m:e>
                              <m:sup>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sup>
                            </m:sSup>
                          </m:e>
                        </m:d>
                      </m:e>
                      <m:sub>
                        <m:r>
                          <a:rPr lang="en-US" altLang="zh-CN" sz="2400" b="0" i="1" dirty="0" smtClean="0">
                            <a:latin typeface="Cambria Math" panose="02040503050406030204" pitchFamily="18" charset="0"/>
                          </a:rPr>
                          <m:t>𝑛</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𝑁</m:t>
                        </m:r>
                      </m:sup>
                    </m:sSubSup>
                  </m:oMath>
                </a14:m>
                <a:r>
                  <a:rPr lang="en-US" altLang="zh-CN" sz="2400" dirty="0"/>
                  <a:t>,</a:t>
                </a:r>
                <a:r>
                  <a:rPr lang="zh-CN" altLang="en-US" sz="2400" dirty="0"/>
                  <a:t>落入区域</a:t>
                </a:r>
                <a:r>
                  <a:rPr lang="en-US" altLang="zh-CN" sz="2400" dirty="0"/>
                  <a:t>R</a:t>
                </a:r>
                <a:r>
                  <a:rPr lang="zh-CN" altLang="en-US" sz="2400" dirty="0"/>
                  <a:t>的样本数量</a:t>
                </a:r>
                <a:r>
                  <a:rPr lang="en-US" altLang="zh-CN" sz="2400" dirty="0"/>
                  <a:t>K</a:t>
                </a:r>
                <a:r>
                  <a:rPr lang="zh-CN" altLang="en-US" sz="2400" dirty="0"/>
                  <a:t>服从二项分布</a:t>
                </a:r>
                <a:endParaRPr lang="en-US" altLang="zh-CN" sz="2400" dirty="0"/>
              </a:p>
              <a:p>
                <a:endParaRPr lang="zh-CN" altLang="en-US" sz="2400" dirty="0"/>
              </a:p>
            </p:txBody>
          </p:sp>
        </mc:Choice>
        <mc:Fallback xmlns="">
          <p:sp>
            <p:nvSpPr>
              <p:cNvPr id="3" name="内容占位符 2">
                <a:extLst>
                  <a:ext uri="{FF2B5EF4-FFF2-40B4-BE49-F238E27FC236}">
                    <a16:creationId xmlns:a16="http://schemas.microsoft.com/office/drawing/2014/main" id="{FDA3E8EE-F23C-4925-9458-88A7EE9FFEBA}"/>
                  </a:ext>
                </a:extLst>
              </p:cNvPr>
              <p:cNvSpPr>
                <a:spLocks noGrp="1" noRot="1" noChangeAspect="1" noMove="1" noResize="1" noEditPoints="1" noAdjustHandles="1" noChangeArrowheads="1" noChangeShapeType="1" noTextEdit="1"/>
              </p:cNvSpPr>
              <p:nvPr>
                <p:ph idx="1"/>
              </p:nvPr>
            </p:nvSpPr>
            <p:spPr>
              <a:blipFill>
                <a:blip r:embed="rId2"/>
                <a:stretch>
                  <a:fillRect l="-924" t="-1222" r="-1155"/>
                </a:stretch>
              </a:blipFill>
            </p:spPr>
            <p:txBody>
              <a:bodyPr/>
              <a:lstStyle/>
              <a:p>
                <a:r>
                  <a:rPr lang="zh-CN" altLang="en-US">
                    <a:noFill/>
                  </a:rPr>
                  <a:t> </a:t>
                </a:r>
              </a:p>
            </p:txBody>
          </p:sp>
        </mc:Fallback>
      </mc:AlternateContent>
      <p:sp>
        <p:nvSpPr>
          <p:cNvPr id="10" name="内容占位符 9">
            <a:extLst>
              <a:ext uri="{FF2B5EF4-FFF2-40B4-BE49-F238E27FC236}">
                <a16:creationId xmlns:a16="http://schemas.microsoft.com/office/drawing/2014/main" id="{50AC4021-BBA0-4BCE-BCE6-48A5A81EFA30}"/>
              </a:ext>
            </a:extLst>
          </p:cNvPr>
          <p:cNvSpPr>
            <a:spLocks noGrp="1"/>
          </p:cNvSpPr>
          <p:nvPr>
            <p:ph idx="10"/>
          </p:nvPr>
        </p:nvSpPr>
        <p:spPr/>
        <p:txBody>
          <a:bodyPr/>
          <a:lstStyle/>
          <a:p>
            <a:r>
              <a:rPr lang="zh-CN" altLang="en-US" sz="2400" dirty="0"/>
              <a:t>当</a:t>
            </a:r>
            <a:r>
              <a:rPr lang="en-US" altLang="zh-CN" sz="2400" dirty="0"/>
              <a:t>N </a:t>
            </a:r>
            <a:r>
              <a:rPr lang="zh-CN" altLang="en-US" sz="2400" dirty="0"/>
              <a:t>非常大时，我们可以近似认为</a:t>
            </a:r>
            <a:endParaRPr lang="en-US" altLang="zh-CN" sz="2400" dirty="0"/>
          </a:p>
          <a:p>
            <a:endParaRPr lang="en-US" altLang="zh-CN" sz="2400" dirty="0"/>
          </a:p>
          <a:p>
            <a:endParaRPr lang="en-US" altLang="zh-CN" sz="2400" dirty="0"/>
          </a:p>
          <a:p>
            <a:r>
              <a:rPr lang="zh-CN" altLang="en-US" sz="2400" dirty="0"/>
              <a:t>假设区域</a:t>
            </a:r>
            <a:r>
              <a:rPr lang="en-US" altLang="zh-CN" sz="2400" dirty="0"/>
              <a:t>R</a:t>
            </a:r>
            <a:r>
              <a:rPr lang="zh-CN" altLang="en-US" sz="2400" dirty="0"/>
              <a:t>足够小，其内部的概率密度是相同的，则有</a:t>
            </a:r>
            <a:endParaRPr lang="en-US" altLang="zh-CN" sz="2400" dirty="0"/>
          </a:p>
          <a:p>
            <a:endParaRPr lang="en-US" altLang="zh-CN" sz="2400" dirty="0"/>
          </a:p>
          <a:p>
            <a:endParaRPr lang="en-US" altLang="zh-CN" sz="2400" dirty="0"/>
          </a:p>
          <a:p>
            <a:r>
              <a:rPr lang="zh-CN" altLang="en-US" sz="2400" dirty="0"/>
              <a:t>结合上述两个公式，得到</a:t>
            </a:r>
            <a:endParaRPr lang="en-US" altLang="zh-CN" sz="2400" dirty="0"/>
          </a:p>
          <a:p>
            <a:endParaRPr lang="en-US" altLang="zh-CN" sz="2400" dirty="0"/>
          </a:p>
          <a:p>
            <a:endParaRPr lang="en-US" altLang="zh-CN" sz="2400" dirty="0"/>
          </a:p>
          <a:p>
            <a:endParaRPr lang="zh-CN" altLang="en-US" sz="2400" dirty="0"/>
          </a:p>
        </p:txBody>
      </p:sp>
      <p:sp>
        <p:nvSpPr>
          <p:cNvPr id="2" name="标题 1">
            <a:extLst>
              <a:ext uri="{FF2B5EF4-FFF2-40B4-BE49-F238E27FC236}">
                <a16:creationId xmlns:a16="http://schemas.microsoft.com/office/drawing/2014/main" id="{502C12AA-1658-4C0B-832D-8A8A4C8EA2FE}"/>
              </a:ext>
            </a:extLst>
          </p:cNvPr>
          <p:cNvSpPr>
            <a:spLocks noGrp="1"/>
          </p:cNvSpPr>
          <p:nvPr>
            <p:ph type="title"/>
          </p:nvPr>
        </p:nvSpPr>
        <p:spPr/>
        <p:txBody>
          <a:bodyPr/>
          <a:lstStyle/>
          <a:p>
            <a:r>
              <a:rPr lang="zh-CN" altLang="en-US" dirty="0"/>
              <a:t>非参数密度估计</a:t>
            </a:r>
          </a:p>
        </p:txBody>
      </p:sp>
      <p:pic>
        <p:nvPicPr>
          <p:cNvPr id="6" name="图片 5">
            <a:extLst>
              <a:ext uri="{FF2B5EF4-FFF2-40B4-BE49-F238E27FC236}">
                <a16:creationId xmlns:a16="http://schemas.microsoft.com/office/drawing/2014/main" id="{3CED1E71-D82C-4DBD-9562-7665006D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2039" y="2514600"/>
            <a:ext cx="1819301" cy="796401"/>
          </a:xfrm>
          <a:prstGeom prst="rect">
            <a:avLst/>
          </a:prstGeom>
        </p:spPr>
      </p:pic>
      <p:pic>
        <p:nvPicPr>
          <p:cNvPr id="9" name="图片 8">
            <a:extLst>
              <a:ext uri="{FF2B5EF4-FFF2-40B4-BE49-F238E27FC236}">
                <a16:creationId xmlns:a16="http://schemas.microsoft.com/office/drawing/2014/main" id="{9D18CBB6-C642-437C-992B-0A4E75F3C9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7400" y="4800600"/>
            <a:ext cx="2581955" cy="838200"/>
          </a:xfrm>
          <a:prstGeom prst="rect">
            <a:avLst/>
          </a:prstGeom>
        </p:spPr>
      </p:pic>
      <p:pic>
        <p:nvPicPr>
          <p:cNvPr id="12" name="图片 11">
            <a:extLst>
              <a:ext uri="{FF2B5EF4-FFF2-40B4-BE49-F238E27FC236}">
                <a16:creationId xmlns:a16="http://schemas.microsoft.com/office/drawing/2014/main" id="{AB9C8233-C443-4BBA-A1A2-DEB58A1FFC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29600" y="1524000"/>
            <a:ext cx="914400" cy="835269"/>
          </a:xfrm>
          <a:prstGeom prst="rect">
            <a:avLst/>
          </a:prstGeom>
        </p:spPr>
      </p:pic>
      <p:pic>
        <p:nvPicPr>
          <p:cNvPr id="14" name="图片 13">
            <a:extLst>
              <a:ext uri="{FF2B5EF4-FFF2-40B4-BE49-F238E27FC236}">
                <a16:creationId xmlns:a16="http://schemas.microsoft.com/office/drawing/2014/main" id="{7FF1F428-CFD9-4E4A-8976-BCEEB05E89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94189" y="3132998"/>
            <a:ext cx="1192007" cy="592003"/>
          </a:xfrm>
          <a:prstGeom prst="rect">
            <a:avLst/>
          </a:prstGeom>
        </p:spPr>
      </p:pic>
      <p:pic>
        <p:nvPicPr>
          <p:cNvPr id="16" name="图片 15">
            <a:extLst>
              <a:ext uri="{FF2B5EF4-FFF2-40B4-BE49-F238E27FC236}">
                <a16:creationId xmlns:a16="http://schemas.microsoft.com/office/drawing/2014/main" id="{032CA76F-BF27-41A1-93E4-223512A617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59282" y="4648200"/>
            <a:ext cx="1383329" cy="814721"/>
          </a:xfrm>
          <a:prstGeom prst="rect">
            <a:avLst/>
          </a:prstGeom>
        </p:spPr>
      </p:pic>
    </p:spTree>
    <p:extLst>
      <p:ext uri="{BB962C8B-B14F-4D97-AF65-F5344CB8AC3E}">
        <p14:creationId xmlns:p14="http://schemas.microsoft.com/office/powerpoint/2010/main" val="1420168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8283BC-A549-42AC-88D2-0D3AFCE6C57F}"/>
              </a:ext>
            </a:extLst>
          </p:cNvPr>
          <p:cNvSpPr>
            <a:spLocks noGrp="1"/>
          </p:cNvSpPr>
          <p:nvPr>
            <p:ph type="title"/>
          </p:nvPr>
        </p:nvSpPr>
        <p:spPr/>
        <p:txBody>
          <a:bodyPr/>
          <a:lstStyle/>
          <a:p>
            <a:r>
              <a:rPr lang="zh-CN" altLang="en-US" dirty="0"/>
              <a:t>直方图方法（</a:t>
            </a:r>
            <a:r>
              <a:rPr lang="en-US" altLang="zh-CN" dirty="0"/>
              <a:t>Histogram Method</a:t>
            </a:r>
            <a:r>
              <a:rPr lang="zh-CN" altLang="en-US" dirty="0"/>
              <a:t>）</a:t>
            </a:r>
          </a:p>
        </p:txBody>
      </p:sp>
      <p:sp>
        <p:nvSpPr>
          <p:cNvPr id="3" name="内容占位符 2">
            <a:extLst>
              <a:ext uri="{FF2B5EF4-FFF2-40B4-BE49-F238E27FC236}">
                <a16:creationId xmlns:a16="http://schemas.microsoft.com/office/drawing/2014/main" id="{367F0424-AE85-4C85-BC07-E1009F12391E}"/>
              </a:ext>
            </a:extLst>
          </p:cNvPr>
          <p:cNvSpPr>
            <a:spLocks noGrp="1"/>
          </p:cNvSpPr>
          <p:nvPr>
            <p:ph idx="1"/>
          </p:nvPr>
        </p:nvSpPr>
        <p:spPr/>
        <p:txBody>
          <a:bodyPr/>
          <a:lstStyle/>
          <a:p>
            <a:r>
              <a:rPr lang="zh-CN" altLang="en-US" dirty="0"/>
              <a:t>一种非常直观的估计连续变量密度函数的方法，可以表示为一种柱状图。</a:t>
            </a:r>
          </a:p>
        </p:txBody>
      </p:sp>
      <p:pic>
        <p:nvPicPr>
          <p:cNvPr id="7" name="图片 6">
            <a:extLst>
              <a:ext uri="{FF2B5EF4-FFF2-40B4-BE49-F238E27FC236}">
                <a16:creationId xmlns:a16="http://schemas.microsoft.com/office/drawing/2014/main" id="{FDD0642C-83C4-4959-BEC1-4530827C84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1400" y="3598069"/>
            <a:ext cx="5211908" cy="1732501"/>
          </a:xfrm>
          <a:prstGeom prst="rect">
            <a:avLst/>
          </a:prstGeom>
        </p:spPr>
      </p:pic>
      <p:pic>
        <p:nvPicPr>
          <p:cNvPr id="9" name="图片 8">
            <a:extLst>
              <a:ext uri="{FF2B5EF4-FFF2-40B4-BE49-F238E27FC236}">
                <a16:creationId xmlns:a16="http://schemas.microsoft.com/office/drawing/2014/main" id="{7994F216-2664-410A-A47D-11402FA83146}"/>
              </a:ext>
            </a:extLst>
          </p:cNvPr>
          <p:cNvPicPr>
            <a:picLocks noChangeAspect="1"/>
          </p:cNvPicPr>
          <p:nvPr/>
        </p:nvPicPr>
        <p:blipFill>
          <a:blip r:embed="rId4"/>
          <a:stretch>
            <a:fillRect/>
          </a:stretch>
        </p:blipFill>
        <p:spPr>
          <a:xfrm>
            <a:off x="2286000" y="2362200"/>
            <a:ext cx="6954011" cy="990600"/>
          </a:xfrm>
          <a:prstGeom prst="rect">
            <a:avLst/>
          </a:prstGeom>
        </p:spPr>
      </p:pic>
      <p:sp>
        <p:nvSpPr>
          <p:cNvPr id="4" name="文本框 3">
            <a:extLst>
              <a:ext uri="{FF2B5EF4-FFF2-40B4-BE49-F238E27FC236}">
                <a16:creationId xmlns:a16="http://schemas.microsoft.com/office/drawing/2014/main" id="{5B69F9C8-BBA8-ACA9-44D6-4BFA5E4801E8}"/>
              </a:ext>
            </a:extLst>
          </p:cNvPr>
          <p:cNvSpPr txBox="1"/>
          <p:nvPr/>
        </p:nvSpPr>
        <p:spPr>
          <a:xfrm>
            <a:off x="1371600" y="5638800"/>
            <a:ext cx="9372600" cy="646331"/>
          </a:xfrm>
          <a:prstGeom prst="rect">
            <a:avLst/>
          </a:prstGeom>
          <a:noFill/>
        </p:spPr>
        <p:txBody>
          <a:bodyPr wrap="square" rtlCol="0">
            <a:spAutoFit/>
          </a:bodyPr>
          <a:lstStyle/>
          <a:p>
            <a:r>
              <a:rPr lang="zh-CN" altLang="en-US" sz="1800" dirty="0">
                <a:effectLst/>
                <a:latin typeface="SourceHanSerifCN-Light-Identity-H"/>
              </a:rPr>
              <a:t>直方图通常用来处理低维变量</a:t>
            </a:r>
            <a:r>
              <a:rPr lang="zh-CN" altLang="en-US" sz="1800" dirty="0">
                <a:effectLst/>
                <a:latin typeface="FZSSJW--GB1-0"/>
              </a:rPr>
              <a:t>，</a:t>
            </a:r>
            <a:r>
              <a:rPr lang="zh-CN" altLang="en-US" sz="1800" dirty="0">
                <a:effectLst/>
                <a:latin typeface="SourceHanSerifCN-Light-Identity-H"/>
              </a:rPr>
              <a:t>可以非常快速地对数据的分布进行可视化</a:t>
            </a:r>
            <a:r>
              <a:rPr lang="zh-CN" altLang="en-US" sz="1800" dirty="0">
                <a:effectLst/>
                <a:latin typeface="FZSSJW--GB1-0"/>
              </a:rPr>
              <a:t>， </a:t>
            </a:r>
            <a:r>
              <a:rPr lang="zh-CN" altLang="en-US" sz="1800" dirty="0">
                <a:effectLst/>
                <a:latin typeface="SourceHanSerifCN-Light-Identity-H"/>
              </a:rPr>
              <a:t>但其缺点是很难扩展到高维变量</a:t>
            </a:r>
            <a:r>
              <a:rPr lang="en-US" altLang="zh-CN" sz="1800" dirty="0">
                <a:effectLst/>
                <a:latin typeface="FZSSJW--GB1-0"/>
              </a:rPr>
              <a:t>. </a:t>
            </a:r>
            <a:endParaRPr lang="zh-CN" altLang="en-US" dirty="0"/>
          </a:p>
        </p:txBody>
      </p:sp>
    </p:spTree>
    <p:extLst>
      <p:ext uri="{BB962C8B-B14F-4D97-AF65-F5344CB8AC3E}">
        <p14:creationId xmlns:p14="http://schemas.microsoft.com/office/powerpoint/2010/main" val="19286369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32C071-369D-4749-8542-636788085312}"/>
              </a:ext>
            </a:extLst>
          </p:cNvPr>
          <p:cNvSpPr>
            <a:spLocks noGrp="1"/>
          </p:cNvSpPr>
          <p:nvPr>
            <p:ph type="title"/>
          </p:nvPr>
        </p:nvSpPr>
        <p:spPr/>
        <p:txBody>
          <a:bodyPr/>
          <a:lstStyle/>
          <a:p>
            <a:r>
              <a:rPr lang="zh-CN" altLang="en-US" dirty="0"/>
              <a:t>核密度估计（</a:t>
            </a:r>
            <a:r>
              <a:rPr lang="en-US" altLang="zh-CN" dirty="0"/>
              <a:t>Kernel Density Estimation</a:t>
            </a:r>
            <a:r>
              <a:rPr lang="zh-CN" altLang="en-US" dirty="0"/>
              <a:t>）</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E7D4A74-FBE8-4608-913C-C2B24B1D1C6E}"/>
                  </a:ext>
                </a:extLst>
              </p:cNvPr>
              <p:cNvSpPr>
                <a:spLocks noGrp="1"/>
              </p:cNvSpPr>
              <p:nvPr>
                <p:ph idx="1"/>
              </p:nvPr>
            </p:nvSpPr>
            <p:spPr/>
            <p:txBody>
              <a:bodyPr/>
              <a:lstStyle/>
              <a:p>
                <a:r>
                  <a:rPr lang="zh-CN" altLang="en-US" dirty="0"/>
                  <a:t>核密度估计是一种直方图方法的改进。</a:t>
                </a:r>
                <a:endParaRPr lang="en-US" altLang="zh-CN" dirty="0"/>
              </a:p>
              <a:p>
                <a:pPr lvl="1"/>
                <a:r>
                  <a:rPr lang="zh-CN" altLang="en-US" dirty="0"/>
                  <a:t>也叫</a:t>
                </a:r>
                <a:r>
                  <a:rPr lang="en-US" altLang="zh-CN" dirty="0" err="1"/>
                  <a:t>Parzen</a:t>
                </a:r>
                <a:r>
                  <a:rPr lang="zh-CN" altLang="en-US" dirty="0"/>
                  <a:t>窗方法</a:t>
                </a:r>
                <a:endParaRPr lang="en-US" altLang="zh-CN" dirty="0"/>
              </a:p>
              <a:p>
                <a:endParaRPr lang="en-US" altLang="zh-CN" dirty="0"/>
              </a:p>
              <a:p>
                <a:endParaRPr lang="en-US" altLang="zh-CN" dirty="0"/>
              </a:p>
              <a:p>
                <a:r>
                  <a:rPr lang="zh-CN" altLang="en-US" dirty="0"/>
                  <a:t>假设</a:t>
                </a:r>
                <a14:m>
                  <m:oMath xmlns:m="http://schemas.openxmlformats.org/officeDocument/2006/math">
                    <m:r>
                      <a:rPr lang="en-US" altLang="zh-CN" b="1" i="1" u="sng" dirty="0">
                        <a:latin typeface="Cambria Math" panose="02040503050406030204" pitchFamily="18" charset="0"/>
                        <a:ea typeface="Cambria Math" panose="02040503050406030204" pitchFamily="18" charset="0"/>
                      </a:rPr>
                      <m:t>ℛ</m:t>
                    </m:r>
                  </m:oMath>
                </a14:m>
                <a:r>
                  <a:rPr lang="zh-CN" altLang="en-US" u="sng" dirty="0"/>
                  <a:t>为</a:t>
                </a:r>
                <a:r>
                  <a:rPr lang="en-US" altLang="zh-CN" u="sng" dirty="0"/>
                  <a:t>d</a:t>
                </a:r>
                <a:r>
                  <a:rPr lang="zh-CN" altLang="en-US" u="sng" dirty="0"/>
                  <a:t>维空间中的一个以点</a:t>
                </a:r>
                <a14:m>
                  <m:oMath xmlns:m="http://schemas.openxmlformats.org/officeDocument/2006/math">
                    <m:r>
                      <a:rPr lang="en-US" altLang="zh-CN" b="1" i="1" u="sng" dirty="0">
                        <a:latin typeface="Cambria Math" panose="02040503050406030204" pitchFamily="18" charset="0"/>
                      </a:rPr>
                      <m:t>𝒙</m:t>
                    </m:r>
                  </m:oMath>
                </a14:m>
                <a:r>
                  <a:rPr lang="zh-CN" altLang="en-US" u="sng" dirty="0"/>
                  <a:t>为中心的“超立方体”</a:t>
                </a:r>
                <a:r>
                  <a:rPr lang="zh-CN" altLang="en-US" dirty="0"/>
                  <a:t>，</a:t>
                </a:r>
                <a:r>
                  <a:rPr lang="zh-CN" altLang="en-US" u="sng" dirty="0"/>
                  <a:t>并定义</a:t>
                </a:r>
                <a:r>
                  <a:rPr lang="zh-CN" altLang="en-US" u="sng" dirty="0">
                    <a:solidFill>
                      <a:srgbClr val="FF0000"/>
                    </a:solidFill>
                  </a:rPr>
                  <a:t>核函数</a:t>
                </a:r>
                <a:r>
                  <a:rPr lang="zh-CN" altLang="en-US" u="sng" dirty="0"/>
                  <a:t>来表示一个样本</a:t>
                </a:r>
                <a14:m>
                  <m:oMath xmlns:m="http://schemas.openxmlformats.org/officeDocument/2006/math">
                    <m:r>
                      <a:rPr lang="en-US" altLang="zh-CN" b="1" i="1" u="sng" dirty="0" smtClean="0">
                        <a:latin typeface="Cambria Math" panose="02040503050406030204" pitchFamily="18" charset="0"/>
                      </a:rPr>
                      <m:t>𝒛</m:t>
                    </m:r>
                  </m:oMath>
                </a14:m>
                <a:r>
                  <a:rPr lang="zh-CN" altLang="en-US" u="sng" dirty="0"/>
                  <a:t>是否落入该超立方体中</a:t>
                </a:r>
                <a:endParaRPr lang="en-US" altLang="zh-CN" u="sng" dirty="0"/>
              </a:p>
              <a:p>
                <a:endParaRPr lang="en-US" altLang="zh-CN" dirty="0"/>
              </a:p>
              <a:p>
                <a:endParaRPr lang="en-US" altLang="zh-CN" dirty="0"/>
              </a:p>
              <a:p>
                <a:endParaRPr lang="en-US" altLang="zh-CN" dirty="0"/>
              </a:p>
              <a:p>
                <a:r>
                  <a:rPr lang="zh-CN" altLang="en-US" dirty="0"/>
                  <a:t>点 </a:t>
                </a:r>
                <a:r>
                  <a:rPr lang="en-US" altLang="zh-CN" b="1" i="1" dirty="0"/>
                  <a:t>x</a:t>
                </a:r>
                <a:r>
                  <a:rPr lang="zh-CN" altLang="en-US" dirty="0"/>
                  <a:t> 的密度估计为</a:t>
                </a:r>
              </a:p>
            </p:txBody>
          </p:sp>
        </mc:Choice>
        <mc:Fallback xmlns="">
          <p:sp>
            <p:nvSpPr>
              <p:cNvPr id="3" name="内容占位符 2">
                <a:extLst>
                  <a:ext uri="{FF2B5EF4-FFF2-40B4-BE49-F238E27FC236}">
                    <a16:creationId xmlns:a16="http://schemas.microsoft.com/office/drawing/2014/main" id="{8E7D4A74-FBE8-4608-913C-C2B24B1D1C6E}"/>
                  </a:ext>
                </a:extLst>
              </p:cNvPr>
              <p:cNvSpPr>
                <a:spLocks noGrp="1" noRot="1" noChangeAspect="1" noMove="1" noResize="1" noEditPoints="1" noAdjustHandles="1" noChangeArrowheads="1" noChangeShapeType="1" noTextEdit="1"/>
              </p:cNvSpPr>
              <p:nvPr>
                <p:ph idx="1"/>
              </p:nvPr>
            </p:nvSpPr>
            <p:spPr>
              <a:blipFill>
                <a:blip r:embed="rId4"/>
                <a:stretch>
                  <a:fillRect l="-778" t="-1466" r="-444"/>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660A0D29-A16C-4952-8362-6126FD389277}"/>
              </a:ext>
            </a:extLst>
          </p:cNvPr>
          <p:cNvPicPr>
            <a:picLocks noChangeAspect="1"/>
          </p:cNvPicPr>
          <p:nvPr/>
        </p:nvPicPr>
        <p:blipFill>
          <a:blip r:embed="rId5"/>
          <a:stretch>
            <a:fillRect/>
          </a:stretch>
        </p:blipFill>
        <p:spPr>
          <a:xfrm>
            <a:off x="3733800" y="4191000"/>
            <a:ext cx="4875728" cy="1066800"/>
          </a:xfrm>
          <a:prstGeom prst="rect">
            <a:avLst/>
          </a:prstGeom>
        </p:spPr>
      </p:pic>
      <p:pic>
        <p:nvPicPr>
          <p:cNvPr id="8" name="图片 7">
            <a:extLst>
              <a:ext uri="{FF2B5EF4-FFF2-40B4-BE49-F238E27FC236}">
                <a16:creationId xmlns:a16="http://schemas.microsoft.com/office/drawing/2014/main" id="{297A22B3-AF87-496F-8590-C81CBB47D192}"/>
              </a:ext>
            </a:extLst>
          </p:cNvPr>
          <p:cNvPicPr>
            <a:picLocks noChangeAspect="1"/>
          </p:cNvPicPr>
          <p:nvPr/>
        </p:nvPicPr>
        <p:blipFill>
          <a:blip r:embed="rId6"/>
          <a:stretch>
            <a:fillRect/>
          </a:stretch>
        </p:blipFill>
        <p:spPr>
          <a:xfrm>
            <a:off x="4572000" y="5442136"/>
            <a:ext cx="3765586" cy="850528"/>
          </a:xfrm>
          <a:prstGeom prst="rect">
            <a:avLst/>
          </a:prstGeom>
        </p:spPr>
      </p:pic>
      <p:pic>
        <p:nvPicPr>
          <p:cNvPr id="3074" name="Picture 2" descr="Kernel Density—Help | ArcGIS for Desktop">
            <a:extLst>
              <a:ext uri="{FF2B5EF4-FFF2-40B4-BE49-F238E27FC236}">
                <a16:creationId xmlns:a16="http://schemas.microsoft.com/office/drawing/2014/main" id="{63F13445-324F-47B9-9566-F7FFC746B6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10400" y="1668760"/>
            <a:ext cx="4129324" cy="132755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4868459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4E4E1C-C40B-4D1E-8E21-CCFBF2CCB5BA}"/>
              </a:ext>
            </a:extLst>
          </p:cNvPr>
          <p:cNvSpPr>
            <a:spLocks noGrp="1"/>
          </p:cNvSpPr>
          <p:nvPr>
            <p:ph type="title"/>
          </p:nvPr>
        </p:nvSpPr>
        <p:spPr/>
        <p:txBody>
          <a:bodyPr/>
          <a:lstStyle/>
          <a:p>
            <a:r>
              <a:rPr lang="en-US" altLang="zh-CN" dirty="0"/>
              <a:t>K</a:t>
            </a:r>
            <a:r>
              <a:rPr lang="zh-CN" altLang="en-US" dirty="0"/>
              <a:t>近邻方法</a:t>
            </a:r>
          </a:p>
        </p:txBody>
      </p:sp>
      <p:sp>
        <p:nvSpPr>
          <p:cNvPr id="3" name="内容占位符 2">
            <a:extLst>
              <a:ext uri="{FF2B5EF4-FFF2-40B4-BE49-F238E27FC236}">
                <a16:creationId xmlns:a16="http://schemas.microsoft.com/office/drawing/2014/main" id="{62B6A816-8279-4570-A51F-C0688BA7CCB1}"/>
              </a:ext>
            </a:extLst>
          </p:cNvPr>
          <p:cNvSpPr>
            <a:spLocks noGrp="1"/>
          </p:cNvSpPr>
          <p:nvPr>
            <p:ph idx="1"/>
          </p:nvPr>
        </p:nvSpPr>
        <p:spPr/>
        <p:txBody>
          <a:bodyPr/>
          <a:lstStyle/>
          <a:p>
            <a:r>
              <a:rPr lang="zh-CN" altLang="en-US" dirty="0"/>
              <a:t>核密度估计方法中的</a:t>
            </a:r>
            <a:r>
              <a:rPr lang="zh-CN" altLang="en-US" u="sng" dirty="0"/>
              <a:t>核宽度是</a:t>
            </a:r>
            <a:r>
              <a:rPr lang="zh-CN" altLang="en-US" b="1" u="sng" dirty="0"/>
              <a:t>固定</a:t>
            </a:r>
            <a:r>
              <a:rPr lang="zh-CN" altLang="en-US" dirty="0"/>
              <a:t>的，因此同一个宽度可能对高密度的区域过大，而对低密度区域过小。</a:t>
            </a:r>
            <a:endParaRPr lang="en-US" altLang="zh-CN" dirty="0"/>
          </a:p>
          <a:p>
            <a:r>
              <a:rPr lang="zh-CN" altLang="en-US" dirty="0"/>
              <a:t>一种更灵活的方式是设置一种</a:t>
            </a:r>
            <a:r>
              <a:rPr lang="zh-CN" altLang="en-US" b="1" u="sng" dirty="0"/>
              <a:t>可变宽度</a:t>
            </a:r>
            <a:r>
              <a:rPr lang="zh-CN" altLang="en-US" dirty="0"/>
              <a:t>的区域，并使得落入每个区域中</a:t>
            </a:r>
            <a:r>
              <a:rPr lang="zh-CN" altLang="en-US" b="1" u="sng" dirty="0"/>
              <a:t>样本数量为固定的</a:t>
            </a:r>
            <a:r>
              <a:rPr lang="en-US" altLang="zh-CN" b="1" u="sng" dirty="0"/>
              <a:t>K</a:t>
            </a:r>
            <a:r>
              <a:rPr lang="zh-CN" altLang="en-US" dirty="0"/>
              <a:t>。</a:t>
            </a:r>
            <a:endParaRPr lang="en-US" altLang="zh-CN" dirty="0"/>
          </a:p>
          <a:p>
            <a:r>
              <a:rPr lang="zh-CN" altLang="en-US" dirty="0"/>
              <a:t>要估计点</a:t>
            </a:r>
            <a:r>
              <a:rPr lang="en-US" altLang="zh-CN" dirty="0"/>
              <a:t>x</a:t>
            </a:r>
            <a:r>
              <a:rPr lang="zh-CN" altLang="en-US" dirty="0"/>
              <a:t>的密度，首先找到一个以</a:t>
            </a:r>
            <a:r>
              <a:rPr lang="en-US" altLang="zh-CN" dirty="0"/>
              <a:t>x</a:t>
            </a:r>
            <a:r>
              <a:rPr lang="zh-CN" altLang="en-US" dirty="0"/>
              <a:t>为中心的球体，使得落入球体的样本数量为</a:t>
            </a:r>
            <a:r>
              <a:rPr lang="en-US" altLang="zh-CN" dirty="0"/>
              <a:t>K</a:t>
            </a:r>
            <a:r>
              <a:rPr lang="zh-CN" altLang="en-US" dirty="0"/>
              <a:t>，就可以计算出点</a:t>
            </a:r>
            <a:r>
              <a:rPr lang="en-US" altLang="zh-CN" dirty="0"/>
              <a:t>x</a:t>
            </a:r>
            <a:r>
              <a:rPr lang="zh-CN" altLang="en-US" dirty="0"/>
              <a:t>的密度。</a:t>
            </a:r>
          </a:p>
        </p:txBody>
      </p:sp>
    </p:spTree>
    <p:extLst>
      <p:ext uri="{BB962C8B-B14F-4D97-AF65-F5344CB8AC3E}">
        <p14:creationId xmlns:p14="http://schemas.microsoft.com/office/powerpoint/2010/main" val="41306667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5F1806-ED54-B689-809C-B61ACEC6639B}"/>
              </a:ext>
            </a:extLst>
          </p:cNvPr>
          <p:cNvSpPr>
            <a:spLocks noGrp="1"/>
          </p:cNvSpPr>
          <p:nvPr>
            <p:ph type="title"/>
          </p:nvPr>
        </p:nvSpPr>
        <p:spPr/>
        <p:txBody>
          <a:bodyPr/>
          <a:lstStyle/>
          <a:p>
            <a:r>
              <a:rPr lang="en-US" altLang="zh-CN" dirty="0"/>
              <a:t>K</a:t>
            </a:r>
            <a:r>
              <a:rPr lang="zh-CN" altLang="en-US" dirty="0"/>
              <a:t>近邻方法</a:t>
            </a:r>
            <a:endParaRPr kumimoji="1" lang="zh-CN" altLang="en-US" dirty="0"/>
          </a:p>
        </p:txBody>
      </p:sp>
      <p:sp>
        <p:nvSpPr>
          <p:cNvPr id="3" name="内容占位符 2">
            <a:extLst>
              <a:ext uri="{FF2B5EF4-FFF2-40B4-BE49-F238E27FC236}">
                <a16:creationId xmlns:a16="http://schemas.microsoft.com/office/drawing/2014/main" id="{C50B8B1C-3201-8074-64C2-C1872158F5F3}"/>
              </a:ext>
            </a:extLst>
          </p:cNvPr>
          <p:cNvSpPr>
            <a:spLocks noGrp="1"/>
          </p:cNvSpPr>
          <p:nvPr>
            <p:ph idx="1"/>
          </p:nvPr>
        </p:nvSpPr>
        <p:spPr/>
        <p:txBody>
          <a:bodyPr/>
          <a:lstStyle/>
          <a:p>
            <a:r>
              <a:rPr lang="en-US" altLang="zh-CN" dirty="0"/>
              <a:t>K</a:t>
            </a:r>
            <a:r>
              <a:rPr lang="zh-CN" altLang="en-US" dirty="0"/>
              <a:t>近邻算法，即是给定一个训练数据集，对新的输入实例，在训练数据集中找到与该实例</a:t>
            </a:r>
            <a:r>
              <a:rPr lang="zh-CN" altLang="en-US" u="sng" dirty="0"/>
              <a:t>最邻近的</a:t>
            </a:r>
            <a:r>
              <a:rPr lang="en-US" altLang="zh-CN" u="sng" dirty="0"/>
              <a:t>K</a:t>
            </a:r>
            <a:r>
              <a:rPr lang="zh-CN" altLang="en-US" u="sng" dirty="0"/>
              <a:t>个实例</a:t>
            </a:r>
            <a:r>
              <a:rPr lang="zh-CN" altLang="en-US" dirty="0"/>
              <a:t>，如果这</a:t>
            </a:r>
            <a:r>
              <a:rPr lang="en-US" altLang="zh-CN" dirty="0"/>
              <a:t>K</a:t>
            </a:r>
            <a:r>
              <a:rPr lang="zh-CN" altLang="en-US" dirty="0"/>
              <a:t>个实例的多数属于某个类，就把该输入实例分类到这个类中。</a:t>
            </a:r>
          </a:p>
        </p:txBody>
      </p:sp>
      <p:pic>
        <p:nvPicPr>
          <p:cNvPr id="1026" name="Picture 2">
            <a:extLst>
              <a:ext uri="{FF2B5EF4-FFF2-40B4-BE49-F238E27FC236}">
                <a16:creationId xmlns:a16="http://schemas.microsoft.com/office/drawing/2014/main" id="{9BBC48A8-3CB4-402A-C546-5D44FDFE7B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2850" y="2438400"/>
            <a:ext cx="4686300" cy="36703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53034AD4-1961-CF11-E8E3-CD75D715CF91}"/>
              </a:ext>
            </a:extLst>
          </p:cNvPr>
          <p:cNvSpPr txBox="1"/>
          <p:nvPr/>
        </p:nvSpPr>
        <p:spPr>
          <a:xfrm>
            <a:off x="4352925" y="6031468"/>
            <a:ext cx="3486150" cy="369332"/>
          </a:xfrm>
          <a:prstGeom prst="rect">
            <a:avLst/>
          </a:prstGeom>
          <a:noFill/>
        </p:spPr>
        <p:txBody>
          <a:bodyPr wrap="square" rtlCol="0">
            <a:spAutoFit/>
          </a:bodyPr>
          <a:lstStyle/>
          <a:p>
            <a:r>
              <a:rPr kumimoji="1" lang="zh-CN" altLang="en-US" dirty="0"/>
              <a:t>图片来源：维基百科</a:t>
            </a:r>
            <a:r>
              <a:rPr kumimoji="1" lang="en-US" altLang="zh-CN" dirty="0"/>
              <a:t>K</a:t>
            </a:r>
            <a:r>
              <a:rPr kumimoji="1" lang="zh-CN" altLang="en-US" dirty="0"/>
              <a:t>近邻方法</a:t>
            </a:r>
          </a:p>
        </p:txBody>
      </p:sp>
      <p:sp>
        <p:nvSpPr>
          <p:cNvPr id="4" name="文本框 3">
            <a:extLst>
              <a:ext uri="{FF2B5EF4-FFF2-40B4-BE49-F238E27FC236}">
                <a16:creationId xmlns:a16="http://schemas.microsoft.com/office/drawing/2014/main" id="{6B569F0E-5C2B-41F1-B449-9020E12E919E}"/>
              </a:ext>
            </a:extLst>
          </p:cNvPr>
          <p:cNvSpPr txBox="1"/>
          <p:nvPr/>
        </p:nvSpPr>
        <p:spPr>
          <a:xfrm>
            <a:off x="8458200" y="3810000"/>
            <a:ext cx="2743200" cy="1200329"/>
          </a:xfrm>
          <a:prstGeom prst="rect">
            <a:avLst/>
          </a:prstGeom>
          <a:noFill/>
        </p:spPr>
        <p:txBody>
          <a:bodyPr wrap="square" rtlCol="0">
            <a:spAutoFit/>
          </a:bodyPr>
          <a:lstStyle/>
          <a:p>
            <a:r>
              <a:rPr lang="en-US" altLang="zh-CN" dirty="0"/>
              <a:t>K=3, </a:t>
            </a:r>
            <a:r>
              <a:rPr lang="zh-CN" altLang="en-US" dirty="0"/>
              <a:t>属于红色类别；</a:t>
            </a:r>
            <a:endParaRPr lang="en-US" altLang="zh-CN" dirty="0"/>
          </a:p>
          <a:p>
            <a:r>
              <a:rPr lang="en-US" altLang="zh-CN" dirty="0"/>
              <a:t>K=5, </a:t>
            </a:r>
            <a:r>
              <a:rPr lang="zh-CN" altLang="en-US" dirty="0"/>
              <a:t>属于蓝色；</a:t>
            </a:r>
            <a:endParaRPr lang="en-US" altLang="zh-CN" dirty="0"/>
          </a:p>
          <a:p>
            <a:endParaRPr lang="en-US" altLang="zh-CN" dirty="0"/>
          </a:p>
          <a:p>
            <a:r>
              <a:rPr lang="en-US" altLang="zh-CN" dirty="0"/>
              <a:t>K=?</a:t>
            </a:r>
            <a:endParaRPr lang="zh-CN" altLang="en-US" dirty="0"/>
          </a:p>
        </p:txBody>
      </p:sp>
    </p:spTree>
    <p:extLst>
      <p:ext uri="{BB962C8B-B14F-4D97-AF65-F5344CB8AC3E}">
        <p14:creationId xmlns:p14="http://schemas.microsoft.com/office/powerpoint/2010/main" val="4083873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E55756-FFF5-1AF8-B898-A40DBEDBACD1}"/>
              </a:ext>
            </a:extLst>
          </p:cNvPr>
          <p:cNvSpPr>
            <a:spLocks noGrp="1"/>
          </p:cNvSpPr>
          <p:nvPr>
            <p:ph type="title"/>
          </p:nvPr>
        </p:nvSpPr>
        <p:spPr/>
        <p:txBody>
          <a:bodyPr/>
          <a:lstStyle/>
          <a:p>
            <a:r>
              <a:rPr lang="en-US" altLang="zh-CN" dirty="0"/>
              <a:t>K</a:t>
            </a:r>
            <a:r>
              <a:rPr lang="zh-CN" altLang="en-US" dirty="0"/>
              <a:t>近邻方法</a:t>
            </a:r>
            <a:endParaRPr kumimoji="1" lang="zh-CN" altLang="en-US" dirty="0"/>
          </a:p>
        </p:txBody>
      </p:sp>
      <p:sp>
        <p:nvSpPr>
          <p:cNvPr id="3" name="内容占位符 2">
            <a:extLst>
              <a:ext uri="{FF2B5EF4-FFF2-40B4-BE49-F238E27FC236}">
                <a16:creationId xmlns:a16="http://schemas.microsoft.com/office/drawing/2014/main" id="{E9898D0B-9275-7E1B-2A38-615656DAFE6D}"/>
              </a:ext>
            </a:extLst>
          </p:cNvPr>
          <p:cNvSpPr>
            <a:spLocks noGrp="1"/>
          </p:cNvSpPr>
          <p:nvPr>
            <p:ph idx="1"/>
          </p:nvPr>
        </p:nvSpPr>
        <p:spPr/>
        <p:txBody>
          <a:bodyPr/>
          <a:lstStyle/>
          <a:p>
            <a:r>
              <a:rPr kumimoji="1" lang="zh-CN" altLang="en-US" dirty="0"/>
              <a:t>选取</a:t>
            </a:r>
            <a:r>
              <a:rPr kumimoji="1" lang="en-US" altLang="zh-CN" dirty="0"/>
              <a:t>k</a:t>
            </a:r>
            <a:r>
              <a:rPr kumimoji="1" lang="zh-CN" altLang="en-US" dirty="0"/>
              <a:t>值以及它的影响</a:t>
            </a:r>
          </a:p>
          <a:p>
            <a:pPr lvl="1"/>
            <a:r>
              <a:rPr kumimoji="1" lang="zh-CN" altLang="en-US" dirty="0"/>
              <a:t>太小</a:t>
            </a:r>
            <a:r>
              <a:rPr kumimoji="1" lang="en-US" altLang="zh-CN" dirty="0"/>
              <a:t>K</a:t>
            </a:r>
            <a:r>
              <a:rPr kumimoji="1" lang="en-US" altLang="zh-CN" dirty="0">
                <a:sym typeface="Wingdings" pitchFamily="2" charset="2"/>
              </a:rPr>
              <a:t></a:t>
            </a:r>
            <a:r>
              <a:rPr kumimoji="1" lang="zh-CN" altLang="en-US" dirty="0">
                <a:sym typeface="Wingdings" pitchFamily="2" charset="2"/>
              </a:rPr>
              <a:t>模型复杂</a:t>
            </a:r>
            <a:r>
              <a:rPr kumimoji="1" lang="en-US" altLang="zh-CN" dirty="0">
                <a:sym typeface="Wingdings" pitchFamily="2" charset="2"/>
              </a:rPr>
              <a:t></a:t>
            </a:r>
            <a:r>
              <a:rPr kumimoji="1" lang="zh-CN" altLang="en-US" dirty="0">
                <a:sym typeface="Wingdings" pitchFamily="2" charset="2"/>
              </a:rPr>
              <a:t>过拟合</a:t>
            </a:r>
            <a:endParaRPr kumimoji="1" lang="en-US" altLang="zh-CN" dirty="0">
              <a:sym typeface="Wingdings" pitchFamily="2" charset="2"/>
            </a:endParaRPr>
          </a:p>
          <a:p>
            <a:pPr lvl="1"/>
            <a:r>
              <a:rPr kumimoji="1" lang="zh-CN" altLang="en-US" dirty="0">
                <a:sym typeface="Wingdings" pitchFamily="2" charset="2"/>
              </a:rPr>
              <a:t>太大</a:t>
            </a:r>
            <a:r>
              <a:rPr kumimoji="1" lang="en-US" altLang="zh-CN" dirty="0">
                <a:sym typeface="Wingdings" pitchFamily="2" charset="2"/>
              </a:rPr>
              <a:t>K</a:t>
            </a:r>
            <a:r>
              <a:rPr kumimoji="1" lang="zh-CN" altLang="en-US" dirty="0">
                <a:sym typeface="Wingdings" pitchFamily="2" charset="2"/>
              </a:rPr>
              <a:t>无法分类</a:t>
            </a:r>
            <a:endParaRPr kumimoji="1" lang="zh-CN" altLang="en-US" dirty="0"/>
          </a:p>
        </p:txBody>
      </p:sp>
      <p:sp>
        <p:nvSpPr>
          <p:cNvPr id="5" name="文本框 4">
            <a:extLst>
              <a:ext uri="{FF2B5EF4-FFF2-40B4-BE49-F238E27FC236}">
                <a16:creationId xmlns:a16="http://schemas.microsoft.com/office/drawing/2014/main" id="{C230A6F5-9507-EAA4-E9EA-22E90D63C8C1}"/>
              </a:ext>
            </a:extLst>
          </p:cNvPr>
          <p:cNvSpPr txBox="1"/>
          <p:nvPr/>
        </p:nvSpPr>
        <p:spPr>
          <a:xfrm>
            <a:off x="7457052" y="272534"/>
            <a:ext cx="6099462" cy="369332"/>
          </a:xfrm>
          <a:prstGeom prst="rect">
            <a:avLst/>
          </a:prstGeom>
          <a:noFill/>
        </p:spPr>
        <p:txBody>
          <a:bodyPr wrap="square">
            <a:spAutoFit/>
          </a:bodyPr>
          <a:lstStyle/>
          <a:p>
            <a:r>
              <a:rPr lang="zh-CN" altLang="en-US" dirty="0"/>
              <a:t>https://zhuanlan.zhihu.com/p/25994179</a:t>
            </a:r>
          </a:p>
        </p:txBody>
      </p:sp>
      <p:pic>
        <p:nvPicPr>
          <p:cNvPr id="2050" name="Picture 2">
            <a:extLst>
              <a:ext uri="{FF2B5EF4-FFF2-40B4-BE49-F238E27FC236}">
                <a16:creationId xmlns:a16="http://schemas.microsoft.com/office/drawing/2014/main" id="{C1485AE8-84EB-56D4-0DD7-BBE5F59EE1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251" y="2662614"/>
            <a:ext cx="4042939" cy="371869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B6CD93B-CF27-171D-A5CF-1C6D61AF47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1548" y="2643121"/>
            <a:ext cx="3933252" cy="368618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2F0ED93F-C50C-373F-3CDC-373132A613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2911" y="2538332"/>
            <a:ext cx="4268946" cy="3522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8708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9E8C07-C754-7DF1-9418-9FABC5916761}"/>
              </a:ext>
            </a:extLst>
          </p:cNvPr>
          <p:cNvSpPr>
            <a:spLocks noGrp="1"/>
          </p:cNvSpPr>
          <p:nvPr>
            <p:ph type="title"/>
          </p:nvPr>
        </p:nvSpPr>
        <p:spPr/>
        <p:txBody>
          <a:bodyPr/>
          <a:lstStyle/>
          <a:p>
            <a:r>
              <a:rPr lang="en-US" altLang="zh-CN" dirty="0"/>
              <a:t>K</a:t>
            </a:r>
            <a:r>
              <a:rPr lang="zh-CN" altLang="en-US" dirty="0"/>
              <a:t>近邻方法</a:t>
            </a:r>
            <a:endParaRPr kumimoji="1" lang="zh-CN" altLang="en-US" dirty="0"/>
          </a:p>
        </p:txBody>
      </p:sp>
      <p:sp>
        <p:nvSpPr>
          <p:cNvPr id="3" name="内容占位符 2">
            <a:extLst>
              <a:ext uri="{FF2B5EF4-FFF2-40B4-BE49-F238E27FC236}">
                <a16:creationId xmlns:a16="http://schemas.microsoft.com/office/drawing/2014/main" id="{26A43F94-7E11-4A5C-CDA5-AF0A32A0F21C}"/>
              </a:ext>
            </a:extLst>
          </p:cNvPr>
          <p:cNvSpPr>
            <a:spLocks noGrp="1"/>
          </p:cNvSpPr>
          <p:nvPr>
            <p:ph idx="1"/>
          </p:nvPr>
        </p:nvSpPr>
        <p:spPr>
          <a:xfrm>
            <a:off x="609600" y="990600"/>
            <a:ext cx="10972800" cy="3429000"/>
          </a:xfrm>
        </p:spPr>
        <p:txBody>
          <a:bodyPr/>
          <a:lstStyle/>
          <a:p>
            <a:r>
              <a:rPr kumimoji="1" lang="zh-CN" altLang="en-US" dirty="0"/>
              <a:t>特征归一化的必要性</a:t>
            </a:r>
            <a:endParaRPr kumimoji="1" lang="en-US" altLang="zh-CN" dirty="0"/>
          </a:p>
          <a:p>
            <a:pPr lvl="1"/>
            <a:r>
              <a:rPr kumimoji="1" lang="zh-CN" altLang="en-US" dirty="0"/>
              <a:t>首先举例如下，用一个人身高</a:t>
            </a:r>
            <a:r>
              <a:rPr kumimoji="1" lang="en-US" altLang="zh-CN" dirty="0"/>
              <a:t>(cm)</a:t>
            </a:r>
            <a:r>
              <a:rPr kumimoji="1" lang="zh-CN" altLang="en-US" dirty="0"/>
              <a:t>与脚码（尺码）大小来作为特征值，类别为男性或者女性。我们现在如果有</a:t>
            </a:r>
            <a:r>
              <a:rPr kumimoji="1" lang="en-US" altLang="zh-CN" dirty="0"/>
              <a:t>5</a:t>
            </a:r>
            <a:r>
              <a:rPr kumimoji="1" lang="zh-CN" altLang="en-US" dirty="0"/>
              <a:t>个训练样本，分布如下：</a:t>
            </a:r>
          </a:p>
          <a:p>
            <a:pPr lvl="2"/>
            <a:r>
              <a:rPr kumimoji="1" lang="en-US" altLang="zh-CN" dirty="0"/>
              <a:t>A [(179,42),</a:t>
            </a:r>
            <a:r>
              <a:rPr kumimoji="1" lang="zh-CN" altLang="en-US" dirty="0"/>
              <a:t>男</a:t>
            </a:r>
            <a:r>
              <a:rPr kumimoji="1" lang="en-US" altLang="zh-CN" dirty="0"/>
              <a:t>] B [(178,43),</a:t>
            </a:r>
            <a:r>
              <a:rPr kumimoji="1" lang="zh-CN" altLang="en-US" dirty="0"/>
              <a:t>男</a:t>
            </a:r>
            <a:r>
              <a:rPr kumimoji="1" lang="en-US" altLang="zh-CN" dirty="0"/>
              <a:t>] C [(165,36)</a:t>
            </a:r>
            <a:r>
              <a:rPr kumimoji="1" lang="zh-CN" altLang="en-US" dirty="0"/>
              <a:t>女</a:t>
            </a:r>
            <a:r>
              <a:rPr kumimoji="1" lang="en-US" altLang="zh-CN" dirty="0"/>
              <a:t>] D [(177,42),</a:t>
            </a:r>
            <a:r>
              <a:rPr kumimoji="1" lang="zh-CN" altLang="en-US" dirty="0"/>
              <a:t>男</a:t>
            </a:r>
            <a:r>
              <a:rPr kumimoji="1" lang="en-US" altLang="zh-CN" dirty="0"/>
              <a:t>] E [(160,35),</a:t>
            </a:r>
            <a:r>
              <a:rPr kumimoji="1" lang="zh-CN" altLang="en-US" dirty="0"/>
              <a:t>女</a:t>
            </a:r>
            <a:r>
              <a:rPr kumimoji="1" lang="en-US" altLang="zh-CN" dirty="0"/>
              <a:t>]</a:t>
            </a:r>
          </a:p>
          <a:p>
            <a:pPr lvl="1"/>
            <a:endParaRPr kumimoji="1" lang="en-US" altLang="zh-CN" dirty="0"/>
          </a:p>
          <a:p>
            <a:pPr lvl="1"/>
            <a:r>
              <a:rPr kumimoji="1" lang="zh-CN" altLang="en-US" dirty="0"/>
              <a:t>通过上述训练样本，我们看出问题了吗？</a:t>
            </a:r>
            <a:endParaRPr kumimoji="1" lang="en-US" altLang="zh-CN" dirty="0"/>
          </a:p>
        </p:txBody>
      </p:sp>
      <p:sp>
        <p:nvSpPr>
          <p:cNvPr id="4" name="文本框 3">
            <a:extLst>
              <a:ext uri="{FF2B5EF4-FFF2-40B4-BE49-F238E27FC236}">
                <a16:creationId xmlns:a16="http://schemas.microsoft.com/office/drawing/2014/main" id="{75643C3E-C79F-BCF2-2533-8923FB1ED134}"/>
              </a:ext>
            </a:extLst>
          </p:cNvPr>
          <p:cNvSpPr txBox="1"/>
          <p:nvPr/>
        </p:nvSpPr>
        <p:spPr>
          <a:xfrm>
            <a:off x="7848600" y="334440"/>
            <a:ext cx="6099462" cy="369332"/>
          </a:xfrm>
          <a:prstGeom prst="rect">
            <a:avLst/>
          </a:prstGeom>
          <a:noFill/>
        </p:spPr>
        <p:txBody>
          <a:bodyPr wrap="square">
            <a:spAutoFit/>
          </a:bodyPr>
          <a:lstStyle/>
          <a:p>
            <a:r>
              <a:rPr lang="zh-CN" altLang="en-US" dirty="0"/>
              <a:t>https://zhuanlan.zhihu.com/p/25994179</a:t>
            </a:r>
          </a:p>
        </p:txBody>
      </p:sp>
      <p:sp>
        <p:nvSpPr>
          <p:cNvPr id="9" name="文本框 8">
            <a:extLst>
              <a:ext uri="{FF2B5EF4-FFF2-40B4-BE49-F238E27FC236}">
                <a16:creationId xmlns:a16="http://schemas.microsoft.com/office/drawing/2014/main" id="{8E3413BA-E241-6B8E-F63B-F8EAC7FE4808}"/>
              </a:ext>
            </a:extLst>
          </p:cNvPr>
          <p:cNvSpPr txBox="1"/>
          <p:nvPr/>
        </p:nvSpPr>
        <p:spPr>
          <a:xfrm>
            <a:off x="990600" y="4419600"/>
            <a:ext cx="7162800" cy="1323439"/>
          </a:xfrm>
          <a:prstGeom prst="rect">
            <a:avLst/>
          </a:prstGeom>
          <a:noFill/>
        </p:spPr>
        <p:txBody>
          <a:bodyPr wrap="square" rtlCol="0">
            <a:spAutoFit/>
          </a:bodyPr>
          <a:lstStyle/>
          <a:p>
            <a:r>
              <a:rPr kumimoji="1" lang="zh-CN" altLang="en-US" sz="2000" dirty="0">
                <a:solidFill>
                  <a:srgbClr val="FF0000"/>
                </a:solidFill>
              </a:rPr>
              <a:t>很容易看到第一维身高特征是第二维脚码特征的</a:t>
            </a:r>
            <a:r>
              <a:rPr kumimoji="1" lang="en-US" altLang="zh-CN" sz="2000" dirty="0">
                <a:solidFill>
                  <a:srgbClr val="FF0000"/>
                </a:solidFill>
              </a:rPr>
              <a:t>4</a:t>
            </a:r>
            <a:r>
              <a:rPr kumimoji="1" lang="zh-CN" altLang="en-US" sz="2000" dirty="0">
                <a:solidFill>
                  <a:srgbClr val="FF0000"/>
                </a:solidFill>
              </a:rPr>
              <a:t>倍左右，那么在进行距离度量的时候，就会</a:t>
            </a:r>
            <a:r>
              <a:rPr kumimoji="1" lang="zh-CN" altLang="en-US" sz="2000" u="sng" dirty="0">
                <a:solidFill>
                  <a:srgbClr val="FF0000"/>
                </a:solidFill>
              </a:rPr>
              <a:t>偏向于第一维特征</a:t>
            </a:r>
            <a:r>
              <a:rPr kumimoji="1" lang="zh-CN" altLang="en-US" sz="2000" dirty="0">
                <a:solidFill>
                  <a:srgbClr val="FF0000"/>
                </a:solidFill>
              </a:rPr>
              <a:t>。这样造成两个特征并不是等价重要的，最终可能会导致距离计算错误，从而导致预测错误。</a:t>
            </a:r>
          </a:p>
        </p:txBody>
      </p:sp>
    </p:spTree>
    <p:extLst>
      <p:ext uri="{BB962C8B-B14F-4D97-AF65-F5344CB8AC3E}">
        <p14:creationId xmlns:p14="http://schemas.microsoft.com/office/powerpoint/2010/main" val="49970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1D0172FD-316E-4EED-855E-475E874788F2}"/>
              </a:ext>
            </a:extLst>
          </p:cNvPr>
          <p:cNvSpPr>
            <a:spLocks noGrp="1"/>
          </p:cNvSpPr>
          <p:nvPr>
            <p:ph type="title"/>
          </p:nvPr>
        </p:nvSpPr>
        <p:spPr/>
        <p:txBody>
          <a:bodyPr/>
          <a:lstStyle/>
          <a:p>
            <a:r>
              <a:rPr lang="zh-CN" altLang="en-US" dirty="0"/>
              <a:t>非参数密度估计</a:t>
            </a:r>
            <a:endParaRPr lang="en-GB" altLang="zh-CN" dirty="0"/>
          </a:p>
        </p:txBody>
      </p:sp>
      <p:sp>
        <p:nvSpPr>
          <p:cNvPr id="92163" name="Content Placeholder 2">
            <a:extLst>
              <a:ext uri="{FF2B5EF4-FFF2-40B4-BE49-F238E27FC236}">
                <a16:creationId xmlns:a16="http://schemas.microsoft.com/office/drawing/2014/main" id="{B728392C-DEB1-4BB8-892F-D05A7D41F03D}"/>
              </a:ext>
            </a:extLst>
          </p:cNvPr>
          <p:cNvSpPr>
            <a:spLocks noGrp="1"/>
          </p:cNvSpPr>
          <p:nvPr>
            <p:ph idx="1"/>
          </p:nvPr>
        </p:nvSpPr>
        <p:spPr/>
        <p:txBody>
          <a:bodyPr/>
          <a:lstStyle/>
          <a:p>
            <a:r>
              <a:rPr lang="zh-CN" altLang="en-US" dirty="0"/>
              <a:t>非参数密度估计</a:t>
            </a:r>
            <a:r>
              <a:rPr lang="en-GB" altLang="zh-CN" dirty="0"/>
              <a:t>(</a:t>
            </a:r>
            <a:r>
              <a:rPr lang="zh-CN" altLang="en-US" dirty="0"/>
              <a:t>直方图方法除外</a:t>
            </a:r>
            <a:r>
              <a:rPr lang="en-GB" altLang="zh-CN" dirty="0"/>
              <a:t>)</a:t>
            </a:r>
            <a:r>
              <a:rPr lang="zh-CN" altLang="en-US" u="sng" dirty="0"/>
              <a:t>需要保留整个训练集</a:t>
            </a:r>
            <a:r>
              <a:rPr lang="zh-CN" altLang="en-US" dirty="0"/>
              <a:t>。</a:t>
            </a:r>
            <a:endParaRPr lang="en-GB" altLang="zh-CN" dirty="0"/>
          </a:p>
          <a:p>
            <a:r>
              <a:rPr lang="zh-CN" altLang="en-US" dirty="0"/>
              <a:t>而参数密度估计不需要保留整个训练集，因此在</a:t>
            </a:r>
            <a:r>
              <a:rPr lang="zh-CN" altLang="en-US" u="sng" dirty="0"/>
              <a:t>存储和计算上更加高效。</a:t>
            </a:r>
            <a:endParaRPr lang="en-GB" altLang="zh-CN" u="sng"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E93715-7895-1547-8477-F987E4A411D4}"/>
              </a:ext>
            </a:extLst>
          </p:cNvPr>
          <p:cNvSpPr>
            <a:spLocks noGrp="1"/>
          </p:cNvSpPr>
          <p:nvPr>
            <p:ph type="title"/>
          </p:nvPr>
        </p:nvSpPr>
        <p:spPr/>
        <p:txBody>
          <a:bodyPr/>
          <a:lstStyle/>
          <a:p>
            <a:r>
              <a:rPr kumimoji="1" lang="zh-CN" altLang="en-US" dirty="0"/>
              <a:t>半监督学习（</a:t>
            </a:r>
            <a:r>
              <a:rPr kumimoji="1" lang="en-US" altLang="zh-CN" dirty="0"/>
              <a:t>semi-supervised learning</a:t>
            </a:r>
            <a:r>
              <a:rPr kumimoji="1" lang="zh-CN" altLang="en-US" dirty="0"/>
              <a:t>）</a:t>
            </a:r>
          </a:p>
        </p:txBody>
      </p:sp>
      <p:sp>
        <p:nvSpPr>
          <p:cNvPr id="3" name="内容占位符 2">
            <a:extLst>
              <a:ext uri="{FF2B5EF4-FFF2-40B4-BE49-F238E27FC236}">
                <a16:creationId xmlns:a16="http://schemas.microsoft.com/office/drawing/2014/main" id="{A2DF436F-BBDC-1046-90D3-81713F87EB73}"/>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3A0BA733-F2A5-0A4C-B2C0-EB766B9FECB3}"/>
              </a:ext>
            </a:extLst>
          </p:cNvPr>
          <p:cNvPicPr>
            <a:picLocks noChangeAspect="1"/>
          </p:cNvPicPr>
          <p:nvPr/>
        </p:nvPicPr>
        <p:blipFill>
          <a:blip r:embed="rId2"/>
          <a:stretch>
            <a:fillRect/>
          </a:stretch>
        </p:blipFill>
        <p:spPr>
          <a:xfrm>
            <a:off x="627529" y="1066800"/>
            <a:ext cx="11169462" cy="4724400"/>
          </a:xfrm>
          <a:prstGeom prst="rect">
            <a:avLst/>
          </a:prstGeom>
        </p:spPr>
      </p:pic>
    </p:spTree>
    <p:extLst>
      <p:ext uri="{BB962C8B-B14F-4D97-AF65-F5344CB8AC3E}">
        <p14:creationId xmlns:p14="http://schemas.microsoft.com/office/powerpoint/2010/main" val="17421739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A3BE1E-6F69-4648-8CB3-1291E3A98603}"/>
              </a:ext>
            </a:extLst>
          </p:cNvPr>
          <p:cNvSpPr>
            <a:spLocks noGrp="1"/>
          </p:cNvSpPr>
          <p:nvPr>
            <p:ph type="title"/>
          </p:nvPr>
        </p:nvSpPr>
        <p:spPr/>
        <p:txBody>
          <a:bodyPr/>
          <a:lstStyle/>
          <a:p>
            <a:r>
              <a:rPr kumimoji="1" lang="zh-CN" altLang="en-US" dirty="0"/>
              <a:t>半监督学习（</a:t>
            </a:r>
            <a:r>
              <a:rPr kumimoji="1" lang="en-US" altLang="zh-CN" dirty="0"/>
              <a:t>semi-supervised learning</a:t>
            </a:r>
            <a:r>
              <a:rPr kumimoji="1" lang="zh-CN" altLang="en-US" dirty="0"/>
              <a:t>）</a:t>
            </a:r>
          </a:p>
        </p:txBody>
      </p:sp>
      <p:sp>
        <p:nvSpPr>
          <p:cNvPr id="3" name="内容占位符 2">
            <a:extLst>
              <a:ext uri="{FF2B5EF4-FFF2-40B4-BE49-F238E27FC236}">
                <a16:creationId xmlns:a16="http://schemas.microsoft.com/office/drawing/2014/main" id="{9E178377-DA12-9A47-927E-6D0A165D0C12}"/>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688E66BF-EC46-474F-A87C-BD32C937076A}"/>
              </a:ext>
            </a:extLst>
          </p:cNvPr>
          <p:cNvPicPr>
            <a:picLocks noChangeAspect="1"/>
          </p:cNvPicPr>
          <p:nvPr/>
        </p:nvPicPr>
        <p:blipFill>
          <a:blip r:embed="rId2"/>
          <a:stretch>
            <a:fillRect/>
          </a:stretch>
        </p:blipFill>
        <p:spPr>
          <a:xfrm>
            <a:off x="609600" y="990600"/>
            <a:ext cx="11118023" cy="5398260"/>
          </a:xfrm>
          <a:prstGeom prst="rect">
            <a:avLst/>
          </a:prstGeom>
        </p:spPr>
      </p:pic>
    </p:spTree>
    <p:extLst>
      <p:ext uri="{BB962C8B-B14F-4D97-AF65-F5344CB8AC3E}">
        <p14:creationId xmlns:p14="http://schemas.microsoft.com/office/powerpoint/2010/main" val="5810923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E417E4-97CD-4C5E-A4C0-342B76463C62}"/>
              </a:ext>
            </a:extLst>
          </p:cNvPr>
          <p:cNvSpPr>
            <a:spLocks noGrp="1"/>
          </p:cNvSpPr>
          <p:nvPr>
            <p:ph type="title"/>
          </p:nvPr>
        </p:nvSpPr>
        <p:spPr/>
        <p:txBody>
          <a:bodyPr/>
          <a:lstStyle/>
          <a:p>
            <a:r>
              <a:rPr lang="zh-CN" altLang="en-US" dirty="0"/>
              <a:t>知识点</a:t>
            </a:r>
          </a:p>
        </p:txBody>
      </p:sp>
      <p:sp>
        <p:nvSpPr>
          <p:cNvPr id="3" name="内容占位符 2">
            <a:extLst>
              <a:ext uri="{FF2B5EF4-FFF2-40B4-BE49-F238E27FC236}">
                <a16:creationId xmlns:a16="http://schemas.microsoft.com/office/drawing/2014/main" id="{5FFAACD3-0929-4F7C-841D-EFC4F60AFCD9}"/>
              </a:ext>
            </a:extLst>
          </p:cNvPr>
          <p:cNvSpPr>
            <a:spLocks noGrp="1"/>
          </p:cNvSpPr>
          <p:nvPr>
            <p:ph idx="1"/>
          </p:nvPr>
        </p:nvSpPr>
        <p:spPr/>
        <p:txBody>
          <a:bodyPr/>
          <a:lstStyle/>
          <a:p>
            <a:r>
              <a:rPr lang="zh-CN" altLang="en-US" dirty="0"/>
              <a:t>无监督学习</a:t>
            </a:r>
            <a:endParaRPr lang="en-US" altLang="zh-CN" dirty="0"/>
          </a:p>
          <a:p>
            <a:pPr lvl="1"/>
            <a:r>
              <a:rPr lang="zh-CN" altLang="en-US" dirty="0"/>
              <a:t>聚类</a:t>
            </a:r>
            <a:endParaRPr lang="en-US" altLang="zh-CN" dirty="0"/>
          </a:p>
          <a:p>
            <a:pPr lvl="2"/>
            <a:r>
              <a:rPr lang="en-US" altLang="zh-CN" dirty="0"/>
              <a:t>K</a:t>
            </a:r>
            <a:r>
              <a:rPr lang="zh-CN" altLang="en-US" dirty="0"/>
              <a:t>均值聚类</a:t>
            </a:r>
            <a:endParaRPr lang="en-US" altLang="zh-CN" dirty="0"/>
          </a:p>
          <a:p>
            <a:pPr lvl="1"/>
            <a:r>
              <a:rPr lang="zh-CN" altLang="en-US" dirty="0"/>
              <a:t>无监督特征学习</a:t>
            </a:r>
            <a:endParaRPr lang="en-US" altLang="zh-CN" dirty="0"/>
          </a:p>
          <a:p>
            <a:pPr lvl="2"/>
            <a:r>
              <a:rPr lang="zh-CN" altLang="en-US" dirty="0"/>
              <a:t>主成分分析（</a:t>
            </a:r>
            <a:r>
              <a:rPr lang="en-US" altLang="zh-CN" dirty="0"/>
              <a:t>PCA</a:t>
            </a:r>
            <a:r>
              <a:rPr lang="zh-CN" altLang="en-US" dirty="0"/>
              <a:t>降维）</a:t>
            </a:r>
            <a:endParaRPr lang="en-US" altLang="zh-CN" dirty="0"/>
          </a:p>
          <a:p>
            <a:pPr lvl="2"/>
            <a:r>
              <a:rPr lang="zh-CN" altLang="en-US" dirty="0"/>
              <a:t>自编码器</a:t>
            </a:r>
            <a:endParaRPr lang="en-US" altLang="zh-CN" dirty="0"/>
          </a:p>
          <a:p>
            <a:pPr lvl="2"/>
            <a:r>
              <a:rPr lang="zh-CN" altLang="en-US" dirty="0"/>
              <a:t>自监督学习</a:t>
            </a:r>
            <a:endParaRPr lang="en-US" altLang="zh-CN" dirty="0"/>
          </a:p>
          <a:p>
            <a:pPr lvl="1"/>
            <a:r>
              <a:rPr lang="zh-CN" altLang="en-US" dirty="0"/>
              <a:t>概率密度估计</a:t>
            </a:r>
            <a:endParaRPr lang="en-US" altLang="zh-CN" dirty="0"/>
          </a:p>
          <a:p>
            <a:pPr lvl="2"/>
            <a:r>
              <a:rPr lang="zh-CN" altLang="en-US" dirty="0"/>
              <a:t>参数密度估计</a:t>
            </a:r>
            <a:endParaRPr lang="en-US" altLang="zh-CN" dirty="0"/>
          </a:p>
          <a:p>
            <a:pPr lvl="2"/>
            <a:r>
              <a:rPr lang="zh-CN" altLang="en-US" dirty="0"/>
              <a:t>非参数密度估计</a:t>
            </a:r>
            <a:endParaRPr lang="en-US" altLang="zh-CN" dirty="0"/>
          </a:p>
          <a:p>
            <a:pPr lvl="1"/>
            <a:r>
              <a:rPr lang="zh-CN" altLang="en-US" dirty="0"/>
              <a:t>半监督学习</a:t>
            </a:r>
            <a:endParaRPr lang="en-US" altLang="zh-CN" dirty="0"/>
          </a:p>
        </p:txBody>
      </p:sp>
    </p:spTree>
    <p:extLst>
      <p:ext uri="{BB962C8B-B14F-4D97-AF65-F5344CB8AC3E}">
        <p14:creationId xmlns:p14="http://schemas.microsoft.com/office/powerpoint/2010/main" val="21035214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49974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01.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
  <a:themeElements>
    <a:clrScheme name="qxp">
      <a:dk1>
        <a:srgbClr val="2A4A75"/>
      </a:dk1>
      <a:lt1>
        <a:sysClr val="window" lastClr="FFFFFF"/>
      </a:lt1>
      <a:dk2>
        <a:srgbClr val="2A4A75"/>
      </a:dk2>
      <a:lt2>
        <a:srgbClr val="DEF5FA"/>
      </a:lt2>
      <a:accent1>
        <a:srgbClr val="1C314E"/>
      </a:accent1>
      <a:accent2>
        <a:srgbClr val="EB641B"/>
      </a:accent2>
      <a:accent3>
        <a:srgbClr val="DA1F28"/>
      </a:accent3>
      <a:accent4>
        <a:srgbClr val="39639D"/>
      </a:accent4>
      <a:accent5>
        <a:srgbClr val="474B78"/>
      </a:accent5>
      <a:accent6>
        <a:srgbClr val="7D3C4A"/>
      </a:accent6>
      <a:hlink>
        <a:srgbClr val="FF8119"/>
      </a:hlink>
      <a:folHlink>
        <a:srgbClr val="44B9E8"/>
      </a:folHlink>
    </a:clrScheme>
    <a:fontScheme name="myfont">
      <a:majorFont>
        <a:latin typeface="Helvetica"/>
        <a:ea typeface="微软雅黑"/>
        <a:cs typeface=""/>
      </a:majorFont>
      <a:minorFont>
        <a:latin typeface="Times New Roman"/>
        <a:ea typeface="华文楷体"/>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wrap="none">
        <a:spAutoFit/>
      </a:bodyPr>
      <a:lstStyle>
        <a:defPPr>
          <a:defRPr sz="2400" dirty="0"/>
        </a:defPPr>
      </a:lstStyle>
    </a:spDef>
  </a:objectDefaults>
  <a:extraClrSchemeLst/>
  <a:extLst>
    <a:ext uri="{05A4C25C-085E-4340-85A3-A5531E510DB2}">
      <thm15:themeFamily xmlns:thm15="http://schemas.microsoft.com/office/thememl/2012/main" name="my" id="{5DDFF489-810C-4640-A13F-DDD18827279A}" vid="{1ADADE9B-649E-4437-BF06-95F7A2A146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my</Template>
  <TotalTime>21090</TotalTime>
  <Words>2179</Words>
  <Application>Microsoft Office PowerPoint</Application>
  <PresentationFormat>宽屏</PresentationFormat>
  <Paragraphs>282</Paragraphs>
  <Slides>47</Slides>
  <Notes>18</Notes>
  <HiddenSlides>9</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47</vt:i4>
      </vt:variant>
    </vt:vector>
  </HeadingPairs>
  <TitlesOfParts>
    <vt:vector size="64" baseType="lpstr">
      <vt:lpstr>-apple-system</vt:lpstr>
      <vt:lpstr>FZSSJW--GB1-0</vt:lpstr>
      <vt:lpstr>PingFang SC</vt:lpstr>
      <vt:lpstr>SourceHanSerifCN-Light-Identity-H</vt:lpstr>
      <vt:lpstr>STIXTwoMath-Identity-H</vt:lpstr>
      <vt:lpstr>STIXTwoText-Identity-H</vt:lpstr>
      <vt:lpstr>华文楷体</vt:lpstr>
      <vt:lpstr>微软雅黑</vt:lpstr>
      <vt:lpstr>Arial</vt:lpstr>
      <vt:lpstr>Calibri</vt:lpstr>
      <vt:lpstr>Cambria</vt:lpstr>
      <vt:lpstr>Cambria Math</vt:lpstr>
      <vt:lpstr>Helvetica</vt:lpstr>
      <vt:lpstr>Times New Roman</vt:lpstr>
      <vt:lpstr>Wingdings</vt:lpstr>
      <vt:lpstr>Wingdings 3</vt:lpstr>
      <vt:lpstr>my</vt:lpstr>
      <vt:lpstr>无监督学习</vt:lpstr>
      <vt:lpstr>内容</vt:lpstr>
      <vt:lpstr>参考资料</vt:lpstr>
      <vt:lpstr>无监督学习（ Unsupervised Learning ）</vt:lpstr>
      <vt:lpstr>典型的无监督学习问题1/3</vt:lpstr>
      <vt:lpstr>典型的无监督学习问题2/3</vt:lpstr>
      <vt:lpstr>典型的无监督学习问题3/3</vt:lpstr>
      <vt:lpstr>聚类</vt:lpstr>
      <vt:lpstr>聚类</vt:lpstr>
      <vt:lpstr>核心概念</vt:lpstr>
      <vt:lpstr>聚类任务</vt:lpstr>
      <vt:lpstr>核心概念</vt:lpstr>
      <vt:lpstr>核心概念</vt:lpstr>
      <vt:lpstr>聚类方法</vt:lpstr>
      <vt:lpstr>聚类效果评估</vt:lpstr>
      <vt:lpstr>聚类效果评估</vt:lpstr>
      <vt:lpstr>一种典型的聚类方法– K均值方法（K- means）</vt:lpstr>
      <vt:lpstr>一种典型的聚类方法– K均值方法（K- means）</vt:lpstr>
      <vt:lpstr>一种典型的聚类方法– K均值方法（K- means）</vt:lpstr>
      <vt:lpstr>一种典型的聚类方法– K均值方法（K- means）</vt:lpstr>
      <vt:lpstr>无监督特征学习</vt:lpstr>
      <vt:lpstr>（无监督）特征学习/编码</vt:lpstr>
      <vt:lpstr>应用</vt:lpstr>
      <vt:lpstr>主成份分析（Principal Component Analysis，PCA）</vt:lpstr>
      <vt:lpstr>自编码器（Auto-Encoder，AE）</vt:lpstr>
      <vt:lpstr>自编码器</vt:lpstr>
      <vt:lpstr>稀疏自编码器</vt:lpstr>
      <vt:lpstr>降噪自编码器</vt:lpstr>
      <vt:lpstr>自监督学习（self-supervised learning）</vt:lpstr>
      <vt:lpstr>自监督学习（self-supervised learning）</vt:lpstr>
      <vt:lpstr>自监督学习（self-supervised learning）</vt:lpstr>
      <vt:lpstr>概率密度估计</vt:lpstr>
      <vt:lpstr>概率密度估计</vt:lpstr>
      <vt:lpstr>参数密度估计</vt:lpstr>
      <vt:lpstr>参数密度估计一般存在以下问题</vt:lpstr>
      <vt:lpstr>非参数密度估计</vt:lpstr>
      <vt:lpstr>直方图方法（Histogram Method）</vt:lpstr>
      <vt:lpstr>核密度估计（Kernel Density Estimation）</vt:lpstr>
      <vt:lpstr>K近邻方法</vt:lpstr>
      <vt:lpstr>K近邻方法</vt:lpstr>
      <vt:lpstr>K近邻方法</vt:lpstr>
      <vt:lpstr>K近邻方法</vt:lpstr>
      <vt:lpstr>非参数密度估计</vt:lpstr>
      <vt:lpstr>半监督学习（semi-supervised learning）</vt:lpstr>
      <vt:lpstr>半监督学习（semi-supervised learning）</vt:lpstr>
      <vt:lpstr>知识点</vt:lpstr>
      <vt:lpstr>PowerPoint 演示文稿</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Yuanyuan Dang</cp:lastModifiedBy>
  <cp:revision>2249</cp:revision>
  <dcterms:created xsi:type="dcterms:W3CDTF">2009-03-19T21:17:53Z</dcterms:created>
  <dcterms:modified xsi:type="dcterms:W3CDTF">2025-11-06T13:19:28Z</dcterms:modified>
</cp:coreProperties>
</file>