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3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1"/>
  </p:sldMasterIdLst>
  <p:notesMasterIdLst>
    <p:notesMasterId r:id="rId54"/>
  </p:notesMasterIdLst>
  <p:sldIdLst>
    <p:sldId id="256" r:id="rId2"/>
    <p:sldId id="813" r:id="rId3"/>
    <p:sldId id="1269" r:id="rId4"/>
    <p:sldId id="448" r:id="rId5"/>
    <p:sldId id="815" r:id="rId6"/>
    <p:sldId id="1273" r:id="rId7"/>
    <p:sldId id="450" r:id="rId8"/>
    <p:sldId id="800" r:id="rId9"/>
    <p:sldId id="451" r:id="rId10"/>
    <p:sldId id="487" r:id="rId11"/>
    <p:sldId id="452" r:id="rId12"/>
    <p:sldId id="1240" r:id="rId13"/>
    <p:sldId id="453" r:id="rId14"/>
    <p:sldId id="786" r:id="rId15"/>
    <p:sldId id="455" r:id="rId16"/>
    <p:sldId id="799" r:id="rId17"/>
    <p:sldId id="755" r:id="rId18"/>
    <p:sldId id="456" r:id="rId19"/>
    <p:sldId id="457" r:id="rId20"/>
    <p:sldId id="458" r:id="rId21"/>
    <p:sldId id="1271" r:id="rId22"/>
    <p:sldId id="459" r:id="rId23"/>
    <p:sldId id="463" r:id="rId24"/>
    <p:sldId id="1252" r:id="rId25"/>
    <p:sldId id="1253" r:id="rId26"/>
    <p:sldId id="1254" r:id="rId27"/>
    <p:sldId id="1255" r:id="rId28"/>
    <p:sldId id="1256" r:id="rId29"/>
    <p:sldId id="1257" r:id="rId30"/>
    <p:sldId id="1258" r:id="rId31"/>
    <p:sldId id="1259" r:id="rId32"/>
    <p:sldId id="1265" r:id="rId33"/>
    <p:sldId id="1266" r:id="rId34"/>
    <p:sldId id="1260" r:id="rId35"/>
    <p:sldId id="1241" r:id="rId36"/>
    <p:sldId id="468" r:id="rId37"/>
    <p:sldId id="469" r:id="rId38"/>
    <p:sldId id="1270" r:id="rId39"/>
    <p:sldId id="473" r:id="rId40"/>
    <p:sldId id="496" r:id="rId41"/>
    <p:sldId id="801" r:id="rId42"/>
    <p:sldId id="478" r:id="rId43"/>
    <p:sldId id="479" r:id="rId44"/>
    <p:sldId id="480" r:id="rId45"/>
    <p:sldId id="474" r:id="rId46"/>
    <p:sldId id="475" r:id="rId47"/>
    <p:sldId id="476" r:id="rId48"/>
    <p:sldId id="477" r:id="rId49"/>
    <p:sldId id="292" r:id="rId50"/>
    <p:sldId id="481" r:id="rId51"/>
    <p:sldId id="809" r:id="rId52"/>
    <p:sldId id="1267" r:id="rId5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 autoAdjust="0"/>
    <p:restoredTop sz="71905" autoAdjust="0"/>
  </p:normalViewPr>
  <p:slideViewPr>
    <p:cSldViewPr>
      <p:cViewPr varScale="1">
        <p:scale>
          <a:sx n="114" d="100"/>
          <a:sy n="114" d="100"/>
        </p:scale>
        <p:origin x="1864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83E5292-C197-4B29-8ABD-C7AEB5E0B154}" type="datetimeFigureOut">
              <a:rPr lang="en-US" altLang="zh-CN"/>
              <a:pPr>
                <a:defRPr/>
              </a:pPr>
              <a:t>10/13/2025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4C119E0-CEE4-4FF8-83B2-DC856A2C17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8963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9393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1609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单向连接，层内无连接。有向无环图。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3520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下雨的例子。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6566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循环边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5854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即深又浅的，时间维度上深（梯度消失的问题），非时间维度是很浅的（需要增加它的深度）。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16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一般是</a:t>
            </a:r>
            <a:r>
              <a:rPr lang="en-US" altLang="zh-CN" dirty="0"/>
              <a:t>Logistic</a:t>
            </a:r>
            <a:r>
              <a:rPr lang="zh-CN" altLang="en-US" dirty="0"/>
              <a:t>激活函数。</a:t>
            </a:r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 err="1"/>
              <a:t>h_t</a:t>
            </a:r>
            <a:r>
              <a:rPr lang="zh-CN" altLang="en-US" dirty="0"/>
              <a:t>和</a:t>
            </a:r>
            <a:r>
              <a:rPr lang="en-US" altLang="zh-CN" dirty="0"/>
              <a:t>h_t-1</a:t>
            </a:r>
            <a:r>
              <a:rPr lang="zh-CN" altLang="en-US" dirty="0"/>
              <a:t>之间如果是完全连接的话，我们可以把它看作是。。。</a:t>
            </a:r>
            <a:endParaRPr lang="en-US" altLang="zh-CN" dirty="0"/>
          </a:p>
          <a:p>
            <a:r>
              <a:rPr lang="zh-CN" altLang="en-US" dirty="0"/>
              <a:t>。。。</a:t>
            </a:r>
            <a:endParaRPr lang="en-US" altLang="zh-CN" dirty="0"/>
          </a:p>
          <a:p>
            <a:r>
              <a:rPr lang="zh-CN" altLang="en-US" dirty="0"/>
              <a:t>它的能力是非常强的。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4102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RNN</a:t>
            </a:r>
            <a:r>
              <a:rPr kumimoji="1" lang="zh-CN" altLang="en-US" dirty="0"/>
              <a:t>可以近似认为是图灵完备的。</a:t>
            </a:r>
            <a:endParaRPr kumimoji="1" lang="en-US" altLang="zh-CN" dirty="0"/>
          </a:p>
          <a:p>
            <a:r>
              <a:rPr kumimoji="1" lang="zh-CN" altLang="en-US" dirty="0"/>
              <a:t>。。。</a:t>
            </a:r>
            <a:endParaRPr kumimoji="1" lang="en-US" altLang="zh-CN" dirty="0"/>
          </a:p>
          <a:p>
            <a:r>
              <a:rPr kumimoji="1" lang="zh-CN" altLang="en-US" dirty="0"/>
              <a:t>图灵机是用来描述所有的可计算问题。</a:t>
            </a:r>
            <a:endParaRPr kumimoji="1" lang="en-US" altLang="zh-CN" dirty="0"/>
          </a:p>
          <a:p>
            <a:r>
              <a:rPr kumimoji="1" lang="zh-CN" altLang="en-US" dirty="0"/>
              <a:t>。。。</a:t>
            </a:r>
            <a:endParaRPr kumimoji="1" lang="en-US" altLang="zh-CN" dirty="0"/>
          </a:p>
          <a:p>
            <a:r>
              <a:rPr kumimoji="1" lang="zh-CN" altLang="en-US" dirty="0"/>
              <a:t>一般来说，我们认为前馈</a:t>
            </a:r>
            <a:r>
              <a:rPr kumimoji="1" lang="en-US" altLang="zh-CN" dirty="0"/>
              <a:t>NN</a:t>
            </a:r>
            <a:r>
              <a:rPr kumimoji="1" lang="zh-CN" altLang="en-US" dirty="0"/>
              <a:t>可以模拟任意函数，</a:t>
            </a:r>
            <a:r>
              <a:rPr kumimoji="1" lang="en-US" altLang="zh-CN" dirty="0"/>
              <a:t>RNN</a:t>
            </a:r>
            <a:r>
              <a:rPr kumimoji="1" lang="zh-CN" altLang="en-US" dirty="0"/>
              <a:t>可以模拟任意程序。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4935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具有记忆能力，用途更广。</a:t>
            </a:r>
            <a:endParaRPr kumimoji="1" lang="en-US" altLang="zh-CN" dirty="0"/>
          </a:p>
          <a:p>
            <a:r>
              <a:rPr kumimoji="1" lang="zh-CN" altLang="en-US" dirty="0"/>
              <a:t>比如，</a:t>
            </a:r>
            <a:r>
              <a:rPr kumimoji="1" lang="en-US" altLang="zh-CN" dirty="0"/>
              <a:t>Hopfield</a:t>
            </a:r>
            <a:r>
              <a:rPr kumimoji="1" lang="zh-CN" altLang="en-US" dirty="0"/>
              <a:t>模型。书中第</a:t>
            </a:r>
            <a:r>
              <a:rPr kumimoji="1" lang="en-US" altLang="zh-CN" dirty="0"/>
              <a:t>8-9</a:t>
            </a:r>
            <a:r>
              <a:rPr kumimoji="1" lang="zh-CN" altLang="en-US" dirty="0"/>
              <a:t>章。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798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World</a:t>
            </a:r>
            <a:r>
              <a:rPr lang="zh-CN" altLang="en-US" dirty="0"/>
              <a:t> </a:t>
            </a:r>
            <a:r>
              <a:rPr lang="en-US" altLang="zh-CN" dirty="0"/>
              <a:t>embedding.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688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中翻英 英翻中 沒有哪一個一定比較長或比較短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430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baseline="0" dirty="0"/>
          </a:p>
          <a:p>
            <a:endParaRPr lang="en-US" altLang="zh-TW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841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8390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每一步生成一个字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5742-51E4-418D-8157-79EC9C21EBA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208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以同步的序列到序列到任务为例，来讲解一下如何学习循环神经网络的参数。</a:t>
            </a:r>
            <a:endParaRPr kumimoji="1" lang="en-US" altLang="zh-CN" dirty="0"/>
          </a:p>
          <a:p>
            <a:r>
              <a:rPr kumimoji="1" lang="zh-CN" altLang="en-US" dirty="0"/>
              <a:t>同步的序列到序列，每一个时刻都有一个预测，这个预测都有一个标准答案，我们就可以知道每个时刻它的损失。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1914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权重衰减：降一降，计算的时候梯度不要太大。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相对比较容易解决。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门控机制：控制信息的累积速度，包括有选择地加入新的信息，并有选择地遗忘之前累积的信息。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4687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RNN</a:t>
            </a:r>
            <a:r>
              <a:rPr kumimoji="1" lang="zh-CN" altLang="en-US" dirty="0"/>
              <a:t>：能够把</a:t>
            </a:r>
            <a:r>
              <a:rPr kumimoji="1" lang="zh-CN" altLang="en-US" b="1" dirty="0"/>
              <a:t>先前的信息与当前任务联系起来</a:t>
            </a:r>
            <a:r>
              <a:rPr kumimoji="1" lang="zh-CN" altLang="en-US" dirty="0"/>
              <a:t>，例如使用以前的视频帧可能会为理解当前帧提供信息。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有时，我们只需要查看</a:t>
            </a:r>
            <a:r>
              <a:rPr kumimoji="1" lang="zh-CN" altLang="en-US" b="1" u="sng" dirty="0"/>
              <a:t>最近的信息</a:t>
            </a:r>
            <a:r>
              <a:rPr kumimoji="1" lang="zh-CN" altLang="en-US" dirty="0"/>
              <a:t>即可执行当前任务。例如，考虑一个语言模型，它试图</a:t>
            </a:r>
            <a:r>
              <a:rPr kumimoji="1" lang="zh-CN" altLang="en-US" u="sng" dirty="0"/>
              <a:t>根据前一个单词来预测下一个单词</a:t>
            </a:r>
            <a:r>
              <a:rPr kumimoji="1" lang="zh-CN" altLang="en-US" dirty="0"/>
              <a:t>。如果我们试图预测“云在天空中”中的最后一个词，我们不需要任何进一步的上下文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很明显下一个词将是天空。在这种情况下，相关信息与需要信息的地方之间的差距很小，</a:t>
            </a:r>
            <a:r>
              <a:rPr kumimoji="1" lang="en-US" altLang="zh-CN" dirty="0"/>
              <a:t>RNN </a:t>
            </a:r>
            <a:r>
              <a:rPr kumimoji="1" lang="zh-CN" altLang="en-US" dirty="0"/>
              <a:t>可以学习使用过去的信息。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但在某些情况下，我们需要更多的背景信息。不妨试着预测下文中的最后一个字：“我在苏州长大</a:t>
            </a:r>
            <a:r>
              <a:rPr kumimoji="1" lang="en-US" altLang="zh-CN" dirty="0"/>
              <a:t>… … </a:t>
            </a:r>
            <a:r>
              <a:rPr kumimoji="1" lang="zh-CN" altLang="en-US" dirty="0"/>
              <a:t>我会说流利的</a:t>
            </a:r>
            <a:r>
              <a:rPr kumimoji="1" lang="zh-CN" altLang="en-US" u="sng" dirty="0"/>
              <a:t>姑苏话”</a:t>
            </a:r>
            <a:r>
              <a:rPr kumimoji="1" lang="zh-CN" altLang="en-US" dirty="0"/>
              <a:t>。最近的信息表明，下一个词可能是一种语言的名称，但如果我们想缩小哪种语言的范围，我们需要从更远的地方开始了解法国的背景。相关信息与需要信息的点之间的差距完全有可能变得非常大。</a:t>
            </a:r>
          </a:p>
          <a:p>
            <a:endParaRPr kumimoji="1" lang="zh-CN" altLang="en-US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877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从理论上讲，</a:t>
            </a:r>
            <a:r>
              <a:rPr kumimoji="1" lang="en-US" altLang="zh-CN" dirty="0"/>
              <a:t>RNN</a:t>
            </a:r>
            <a:r>
              <a:rPr kumimoji="1" lang="zh-CN" altLang="en-US" dirty="0"/>
              <a:t>绝对有能力处理这种“长期依赖关系”。人类可以仔细选择参数来解决这种形式的问题。可悲的是，在实践中，</a:t>
            </a:r>
            <a:r>
              <a:rPr kumimoji="1" lang="en-US" altLang="zh-CN" dirty="0"/>
              <a:t>RNN </a:t>
            </a:r>
            <a:r>
              <a:rPr kumimoji="1" lang="zh-CN" altLang="en-US" dirty="0"/>
              <a:t>似乎无法学习它们。</a:t>
            </a:r>
            <a:r>
              <a:rPr kumimoji="1" lang="en-US" altLang="zh-CN" dirty="0" err="1"/>
              <a:t>Hochreiter</a:t>
            </a:r>
            <a:r>
              <a:rPr kumimoji="1" lang="en-US" altLang="zh-CN" dirty="0"/>
              <a:t> </a:t>
            </a:r>
            <a:r>
              <a:rPr kumimoji="1" lang="zh-CN" altLang="en-US" dirty="0"/>
              <a:t>（</a:t>
            </a:r>
            <a:r>
              <a:rPr kumimoji="1" lang="en-US" altLang="zh-CN" dirty="0"/>
              <a:t>1991</a:t>
            </a:r>
            <a:r>
              <a:rPr kumimoji="1" lang="zh-CN" altLang="en-US" dirty="0"/>
              <a:t>） </a:t>
            </a:r>
            <a:r>
              <a:rPr kumimoji="1" lang="en-US" altLang="zh-CN" dirty="0"/>
              <a:t>[German] </a:t>
            </a:r>
            <a:r>
              <a:rPr kumimoji="1" lang="zh-CN" altLang="en-US" dirty="0"/>
              <a:t>和 </a:t>
            </a:r>
            <a:r>
              <a:rPr kumimoji="1" lang="en-US" altLang="zh-CN" dirty="0" err="1"/>
              <a:t>Bengio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et al. </a:t>
            </a:r>
            <a:r>
              <a:rPr kumimoji="1" lang="zh-CN" altLang="en-US" dirty="0"/>
              <a:t>（</a:t>
            </a:r>
            <a:r>
              <a:rPr kumimoji="1" lang="en-US" altLang="zh-CN" dirty="0"/>
              <a:t>1994</a:t>
            </a:r>
            <a:r>
              <a:rPr kumimoji="1" lang="zh-CN" altLang="en-US" dirty="0"/>
              <a:t>） 深入探讨了这个问题，他们发现了一些非常困难的根本原因。</a:t>
            </a:r>
            <a:endParaRPr kumimoji="1" lang="en-US" altLang="zh-CN" dirty="0"/>
          </a:p>
          <a:p>
            <a:r>
              <a:rPr kumimoji="1" lang="zh-CN" altLang="en-US" dirty="0"/>
              <a:t>值得庆幸的是，</a:t>
            </a:r>
            <a:r>
              <a:rPr kumimoji="1" lang="en-US" altLang="zh-CN" dirty="0"/>
              <a:t>LSTM </a:t>
            </a:r>
            <a:r>
              <a:rPr kumimoji="1" lang="zh-CN" altLang="en-US" dirty="0"/>
              <a:t>没有这个问题！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5252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在图中，每条线都带有一个完整的向量，从一个节点的输出到其他节点的输入。粉红色的圆圈代表逐点运算，如向量加法，而黄色框是学习的神经网络层。合并的行表示串联，而分叉的行表示正在复制其内容并将副本发送到不同的位置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3945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LSTM </a:t>
            </a:r>
            <a:r>
              <a:rPr kumimoji="1" lang="zh-CN" altLang="en-US" dirty="0"/>
              <a:t>的关键是单元状态，即贯穿图表顶部的水平线。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细胞状态就像一个传送带，它将上一层的状态值仅经过少量的线性操作就传入下一层。尽可能保留上一层的信息。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246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选择性的让一些信息通过。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6603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同样的，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表示全部保留，</a:t>
            </a:r>
            <a:r>
              <a:rPr kumimoji="1" lang="en-US" altLang="zh-CN" dirty="0"/>
              <a:t>0</a:t>
            </a:r>
            <a:r>
              <a:rPr kumimoji="1" lang="zh-CN" altLang="en-US" dirty="0"/>
              <a:t>表示全部丢弃。</a:t>
            </a:r>
            <a:endParaRPr kumimoji="1" lang="en-US" altLang="zh-CN" dirty="0"/>
          </a:p>
          <a:p>
            <a:r>
              <a:rPr kumimoji="1" lang="zh-CN" altLang="en-US" dirty="0"/>
              <a:t>比如，我们前面提到的用前面的单词预测后面的单词例子，隐藏状态中可能包含要预测的单词的词性，有了这个信息之后，在生成下一个单词的时候就可以选择正确的名词。当出现新的名词的的时候，我们可能会希望模型把之前看到的名词忘记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37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比如刚才例子中，我们希望添加一个新的单词的词性到细胞状态中，来替换掉之前遗忘掉的。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722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通过将遗忘门得到的输出</a:t>
            </a:r>
            <a:r>
              <a:rPr kumimoji="1" lang="en-US" altLang="zh-CN" dirty="0" err="1"/>
              <a:t>f_t</a:t>
            </a:r>
            <a:r>
              <a:rPr kumimoji="1" lang="zh-CN" altLang="en-US" dirty="0"/>
              <a:t>与上一层细胞状态</a:t>
            </a:r>
            <a:r>
              <a:rPr kumimoji="1" lang="en-US" altLang="zh-CN" dirty="0"/>
              <a:t>C_{t-1}</a:t>
            </a:r>
            <a:r>
              <a:rPr kumimoji="1" lang="zh-CN" altLang="en-US" dirty="0"/>
              <a:t>相乘，加上输入门得到的</a:t>
            </a:r>
            <a:r>
              <a:rPr kumimoji="1" lang="en-US" altLang="zh-CN" dirty="0" err="1"/>
              <a:t>i_t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`</a:t>
            </a:r>
            <a:r>
              <a:rPr kumimoji="1" lang="en-US" altLang="zh-CN" dirty="0" err="1"/>
              <a:t>C_t</a:t>
            </a:r>
            <a:r>
              <a:rPr kumimoji="1" lang="zh-CN" altLang="en-US" dirty="0"/>
              <a:t>的乘积，就得到了新的细胞状态。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573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379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stacked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91460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好处：当前时刻的表示既隐含了左边的信息，有隐含了右边的信息，在做决策的时候，会更准确。</a:t>
            </a:r>
            <a:endParaRPr kumimoji="1" lang="en-US" altLang="zh-CN" dirty="0"/>
          </a:p>
          <a:p>
            <a:r>
              <a:rPr kumimoji="1" lang="zh-CN" altLang="en-US" dirty="0"/>
              <a:t>已经成为语音识别、机器翻译的标配模型了。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491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引入记忆，不同时刻可以隐含历史信息。因为长程依赖问题，所以它这里是短期记忆。</a:t>
            </a:r>
            <a:endParaRPr kumimoji="1" lang="en-US" altLang="zh-CN" dirty="0"/>
          </a:p>
          <a:p>
            <a:r>
              <a:rPr kumimoji="1" lang="zh-CN" altLang="en-US" dirty="0"/>
              <a:t>图灵完备：通用近似定理，可近似任意可计算问题。万能程序。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记忆是在一个向量里，维数有限，记忆容量有限，所以引入遗忘门之类的东西。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H_t</a:t>
            </a:r>
            <a:r>
              <a:rPr kumimoji="1" lang="zh-CN" altLang="en-US" dirty="0"/>
              <a:t>依赖于</a:t>
            </a:r>
            <a:r>
              <a:rPr kumimoji="1" lang="en-US" altLang="zh-CN" dirty="0"/>
              <a:t>h_{t-1}</a:t>
            </a:r>
            <a:r>
              <a:rPr kumimoji="1" lang="zh-CN" altLang="en-US" dirty="0"/>
              <a:t>的，只能一个一个算。比</a:t>
            </a:r>
            <a:r>
              <a:rPr kumimoji="1" lang="en-US" altLang="zh-CN" dirty="0"/>
              <a:t>CNN</a:t>
            </a:r>
            <a:r>
              <a:rPr kumimoji="1" lang="zh-CN" altLang="en-US" dirty="0"/>
              <a:t>慢很多。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652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070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模仿笔迹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381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66F891-39E4-4949-84B5-293BD1F6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07" y="1524000"/>
            <a:ext cx="6117446" cy="4684464"/>
          </a:xfrm>
          <a:prstGeom prst="rect">
            <a:avLst/>
          </a:prstGeom>
        </p:spPr>
      </p:pic>
      <p:sp>
        <p:nvSpPr>
          <p:cNvPr id="4" name="Rectangle 10"/>
          <p:cNvSpPr/>
          <p:nvPr/>
        </p:nvSpPr>
        <p:spPr>
          <a:xfrm>
            <a:off x="4038600" y="3657600"/>
            <a:ext cx="6637866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304800" y="673897"/>
            <a:ext cx="6117446" cy="719623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 sz="2700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4038600" y="3657600"/>
            <a:ext cx="3048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359807" y="665099"/>
            <a:ext cx="187820" cy="73123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 dirty="0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343400" y="3827594"/>
            <a:ext cx="6142566" cy="1280888"/>
          </a:xfrm>
        </p:spPr>
        <p:txBody>
          <a:bodyPr anchor="ctr"/>
          <a:lstStyle>
            <a:lvl1pPr algn="ctr">
              <a:defRPr sz="28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63006" y="726666"/>
            <a:ext cx="5812317" cy="56873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aseline="0">
                <a:solidFill>
                  <a:schemeClr val="tx2"/>
                </a:solidFill>
                <a:latin typeface="+mn-lt"/>
                <a:ea typeface="+mn-ea"/>
                <a:cs typeface="+mj-cs"/>
              </a:defRPr>
            </a:lvl1pPr>
            <a:lvl2pPr marL="257175" indent="0" algn="ctr">
              <a:buNone/>
            </a:lvl2pPr>
            <a:lvl3pPr marL="514350" indent="0" algn="ctr">
              <a:buNone/>
            </a:lvl3pPr>
            <a:lvl4pPr marL="771525" indent="0" algn="ctr">
              <a:buNone/>
            </a:lvl4pPr>
            <a:lvl5pPr marL="1028700" indent="0" algn="ctr">
              <a:buNone/>
            </a:lvl5pPr>
            <a:lvl6pPr marL="1285875" indent="0" algn="ctr">
              <a:buNone/>
            </a:lvl6pPr>
            <a:lvl7pPr marL="1543050" indent="0" algn="ctr">
              <a:buNone/>
            </a:lvl7pPr>
            <a:lvl8pPr marL="1800225" indent="0" algn="ctr">
              <a:buNone/>
            </a:lvl8pPr>
            <a:lvl9pPr marL="20574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5280025" y="5550204"/>
            <a:ext cx="4273554" cy="790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494217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2BBD6FA-A54A-485F-87D9-C9652F586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07" y="1524000"/>
            <a:ext cx="6117446" cy="4684464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id="{80B6937C-32A7-4CC7-BE4A-AB7A564C7186}"/>
              </a:ext>
            </a:extLst>
          </p:cNvPr>
          <p:cNvSpPr/>
          <p:nvPr/>
        </p:nvSpPr>
        <p:spPr>
          <a:xfrm>
            <a:off x="4038600" y="3657600"/>
            <a:ext cx="6637866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EDC16F34-8BA1-4A4E-B0D4-81397E1E7CD0}"/>
              </a:ext>
            </a:extLst>
          </p:cNvPr>
          <p:cNvSpPr/>
          <p:nvPr/>
        </p:nvSpPr>
        <p:spPr>
          <a:xfrm>
            <a:off x="4038600" y="3657600"/>
            <a:ext cx="3048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id="{66A552C8-61F4-43FC-A974-9DE54534B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3400" y="3827594"/>
            <a:ext cx="6142566" cy="1280888"/>
          </a:xfrm>
        </p:spPr>
        <p:txBody>
          <a:bodyPr anchor="ctr"/>
          <a:lstStyle>
            <a:lvl1pPr algn="ctr">
              <a:defRPr sz="28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1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5050A8B-65E7-4672-9976-F9678ACC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69B4C9B-667A-475B-923C-B441E63112E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600" y="990600"/>
            <a:ext cx="10972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204581540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3B309-5F91-4EC3-B303-AAA2C667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5467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600" y="1066799"/>
            <a:ext cx="5486400" cy="518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6DDB8618-EAD8-4F6C-91B0-8D6B79685A8E}"/>
              </a:ext>
            </a:extLst>
          </p:cNvPr>
          <p:cNvSpPr>
            <a:spLocks noGrp="1"/>
          </p:cNvSpPr>
          <p:nvPr>
            <p:ph idx="10"/>
          </p:nvPr>
        </p:nvSpPr>
        <p:spPr bwMode="auto">
          <a:xfrm>
            <a:off x="6248400" y="1066800"/>
            <a:ext cx="5334000" cy="518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BBF6941-949E-4A04-9A27-6C5758225CF1}"/>
              </a:ext>
            </a:extLst>
          </p:cNvPr>
          <p:cNvCxnSpPr/>
          <p:nvPr/>
        </p:nvCxnSpPr>
        <p:spPr>
          <a:xfrm>
            <a:off x="6172200" y="10668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5A69A22-3F25-4F3C-9609-7E2AB324C787}"/>
              </a:ext>
            </a:extLst>
          </p:cNvPr>
          <p:cNvCxnSpPr/>
          <p:nvPr userDrawn="1"/>
        </p:nvCxnSpPr>
        <p:spPr>
          <a:xfrm>
            <a:off x="6172200" y="10668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1504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Te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09599" y="990600"/>
            <a:ext cx="5885794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4E9E31A-5EEF-4165-B7AF-A4322917E67F}"/>
              </a:ext>
            </a:extLst>
          </p:cNvPr>
          <p:cNvCxnSpPr>
            <a:cxnSpLocks/>
          </p:cNvCxnSpPr>
          <p:nvPr/>
        </p:nvCxnSpPr>
        <p:spPr>
          <a:xfrm>
            <a:off x="6553200" y="10668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4070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877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152401"/>
            <a:ext cx="10972800" cy="733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990599"/>
            <a:ext cx="10972800" cy="541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</p:txBody>
      </p:sp>
      <p:sp>
        <p:nvSpPr>
          <p:cNvPr id="1032" name="Straight Connector 28"/>
          <p:cNvSpPr>
            <a:spLocks noChangeShapeType="1"/>
          </p:cNvSpPr>
          <p:nvPr/>
        </p:nvSpPr>
        <p:spPr bwMode="auto">
          <a:xfrm>
            <a:off x="609600" y="898949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4DA9BC6-43CA-408A-BEB7-8746EA49C870}"/>
              </a:ext>
            </a:extLst>
          </p:cNvPr>
          <p:cNvSpPr txBox="1">
            <a:spLocks/>
          </p:cNvSpPr>
          <p:nvPr/>
        </p:nvSpPr>
        <p:spPr>
          <a:xfrm>
            <a:off x="4114800" y="6492875"/>
            <a:ext cx="3962400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2"/>
                </a:solidFill>
                <a:latin typeface="Cambria" panose="020405030504060302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zh-CN" sz="1400" dirty="0">
                <a:latin typeface="+mn-ea"/>
                <a:ea typeface="+mn-ea"/>
              </a:rPr>
              <a:t>《</a:t>
            </a:r>
            <a:r>
              <a:rPr lang="zh-CN" altLang="en-US" sz="1400" dirty="0">
                <a:latin typeface="+mn-ea"/>
                <a:ea typeface="+mn-ea"/>
              </a:rPr>
              <a:t>神经网络与深度学习</a:t>
            </a:r>
            <a:r>
              <a:rPr lang="en-US" altLang="zh-CN" sz="1400" dirty="0">
                <a:latin typeface="+mn-ea"/>
                <a:ea typeface="+mn-ea"/>
              </a:rPr>
              <a:t>》</a:t>
            </a:r>
            <a:endParaRPr lang="zh-CN" altLang="zh-CN" sz="1400" dirty="0">
              <a:latin typeface="+mn-ea"/>
              <a:ea typeface="+mn-ea"/>
            </a:endParaRP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5ED38AFC-6FCA-41F0-B286-064BF4E13FFB}"/>
              </a:ext>
            </a:extLst>
          </p:cNvPr>
          <p:cNvSpPr/>
          <p:nvPr/>
        </p:nvSpPr>
        <p:spPr>
          <a:xfrm>
            <a:off x="10972800" y="6521549"/>
            <a:ext cx="375424" cy="30777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defRPr/>
            </a:pPr>
            <a:fld id="{7A0AC270-0923-4589-A51D-6091E7C5371F}" type="slidenum">
              <a:rPr lang="zh-CN" altLang="en-US" sz="1400" kern="1200" smtClean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 sz="1400" kern="1200" dirty="0">
              <a:solidFill>
                <a:schemeClr val="tx2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traight Connector 27">
            <a:extLst>
              <a:ext uri="{FF2B5EF4-FFF2-40B4-BE49-F238E27FC236}">
                <a16:creationId xmlns:a16="http://schemas.microsoft.com/office/drawing/2014/main" id="{D59285DE-C1F6-4B21-8CFE-2BDB4A08D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4770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sz="14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5131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5pPr>
      <a:lvl6pPr marL="257175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6pPr>
      <a:lvl7pPr marL="514350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7pPr>
      <a:lvl8pPr marL="771525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8pPr>
      <a:lvl9pPr marL="1028700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153591" indent="-153591" algn="l" rtl="0" eaLnBrk="1" fontAlgn="base" hangingPunct="1">
        <a:spcBef>
          <a:spcPts val="338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defRPr lang="en-US" altLang="zh-CN" sz="3200" kern="1200" baseline="0" dirty="0" smtClean="0">
          <a:solidFill>
            <a:srgbClr val="C00000"/>
          </a:solidFill>
          <a:latin typeface="+mn-lt"/>
          <a:ea typeface="+mn-ea"/>
          <a:cs typeface="Arial" panose="020B0604020202020204" pitchFamily="34" charset="0"/>
        </a:defRPr>
      </a:lvl1pPr>
      <a:lvl2pPr marL="308075" indent="-153591" algn="l" rtl="0" eaLnBrk="1" fontAlgn="base" hangingPunct="1">
        <a:spcBef>
          <a:spcPts val="28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defRPr sz="2800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462558" indent="-128588" algn="l" rtl="0" eaLnBrk="1" fontAlgn="base" hangingPunct="1">
        <a:spcBef>
          <a:spcPts val="28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617042" indent="-128588" algn="l" rtl="0" eaLnBrk="1" fontAlgn="base" hangingPunct="1">
        <a:spcBef>
          <a:spcPts val="225"/>
        </a:spcBef>
        <a:spcAft>
          <a:spcPct val="0"/>
        </a:spcAft>
        <a:buClr>
          <a:srgbClr val="CF5716"/>
        </a:buClr>
        <a:buSzPct val="70000"/>
        <a:buFont typeface="Wingdings" panose="05000000000000000000" pitchFamily="2" charset="2"/>
        <a:buChar char="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128588" algn="l" rtl="0" eaLnBrk="1" fontAlgn="base" hangingPunct="1">
        <a:spcBef>
          <a:spcPts val="169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350" kern="1200" baseline="0">
          <a:solidFill>
            <a:schemeClr val="tx1"/>
          </a:solidFill>
          <a:latin typeface="+mn-ea"/>
          <a:ea typeface="+mn-ea"/>
          <a:cs typeface="+mn-cs"/>
        </a:defRPr>
      </a:lvl5pPr>
      <a:lvl6pPr marL="925830" indent="-102870" algn="l" rtl="0" eaLnBrk="1" latinLnBrk="0" hangingPunct="1">
        <a:spcBef>
          <a:spcPts val="169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028700" indent="-102870" algn="l" rtl="0" eaLnBrk="1" latinLnBrk="0" hangingPunct="1">
        <a:spcBef>
          <a:spcPts val="169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788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102870" algn="l" rtl="0" eaLnBrk="1" latinLnBrk="0" hangingPunct="1">
        <a:spcBef>
          <a:spcPts val="169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788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02870" algn="l" rtl="0" eaLnBrk="1" latinLnBrk="0" hangingPunct="1">
        <a:spcBef>
          <a:spcPts val="169"/>
        </a:spcBef>
        <a:buClr>
          <a:srgbClr val="9FB8CD"/>
        </a:buClr>
        <a:buSzPct val="75000"/>
        <a:buFont typeface="Wingdings 3"/>
        <a:buChar char=""/>
        <a:defRPr kumimoji="0" lang="en-US" sz="675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hao910904@suda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ndl.github.io/" TargetMode="External"/><Relationship Id="rId7" Type="http://schemas.openxmlformats.org/officeDocument/2006/relationships/hyperlink" Target="https://web.stanford.edu/class/cs224n/index.html#coursewor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olah.github.io/posts/2015-08-Understanding-LSTMs/" TargetMode="External"/><Relationship Id="rId5" Type="http://schemas.openxmlformats.org/officeDocument/2006/relationships/hyperlink" Target="https://towardsdatascience.com/recurrent-neural-networks-d4642c9bc7ce" TargetMode="External"/><Relationship Id="rId4" Type="http://schemas.openxmlformats.org/officeDocument/2006/relationships/hyperlink" Target="https://medium.com/explore-artificial-intelligence/an-introduction-to-recurrent-neural-networks-72c97bf091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tm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34.png"/><Relationship Id="rId5" Type="http://schemas.openxmlformats.org/officeDocument/2006/relationships/image" Target="../media/image102.png"/><Relationship Id="rId9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138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://visualqa.csail.mit.edu/" TargetMode="Externa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kalabs/cakechat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循环神经网络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神经网络与深度学习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1905000" y="5410200"/>
            <a:ext cx="9982200" cy="1280888"/>
          </a:xfrm>
        </p:spPr>
        <p:txBody>
          <a:bodyPr/>
          <a:lstStyle/>
          <a:p>
            <a:r>
              <a:rPr lang="zh-CN" altLang="en-US" dirty="0"/>
              <a:t>袁亚超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chao910904@suda.edu.cn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25DAE-11C3-4E1A-BC5D-C959BABB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参考资料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1BB1EF-AC63-40AB-A7E5-A025FD85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神经网络与深度学习</a:t>
            </a:r>
            <a:r>
              <a:rPr lang="en-US" altLang="zh-CN" dirty="0"/>
              <a:t>》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https://nndl.github.io/</a:t>
            </a:r>
            <a:endParaRPr lang="en-US" altLang="zh-CN" dirty="0"/>
          </a:p>
          <a:p>
            <a:r>
              <a:rPr lang="zh-CN" altLang="en-US" dirty="0"/>
              <a:t>网络资料</a:t>
            </a:r>
            <a:endParaRPr lang="en-US" altLang="zh-CN" dirty="0">
              <a:hlinkClick r:id="rId4"/>
            </a:endParaRPr>
          </a:p>
          <a:p>
            <a:pPr lvl="1"/>
            <a:r>
              <a:rPr lang="en-US" altLang="zh-CN" dirty="0"/>
              <a:t>An Introduction to Recurrent Neural Networks</a:t>
            </a:r>
          </a:p>
          <a:p>
            <a:pPr lvl="2"/>
            <a:r>
              <a:rPr lang="en-US" altLang="zh-CN" dirty="0">
                <a:hlinkClick r:id="rId4"/>
              </a:rPr>
              <a:t>https://medium.com/explore-artificial-intelligence/an-introduction-to-recurrent-neural-networks-72c97bf0912</a:t>
            </a:r>
            <a:endParaRPr lang="en-US" altLang="zh-CN" dirty="0"/>
          </a:p>
          <a:p>
            <a:pPr lvl="1"/>
            <a:r>
              <a:rPr lang="en-US" altLang="zh-CN" dirty="0"/>
              <a:t>Recurrent Neural Networks</a:t>
            </a:r>
          </a:p>
          <a:p>
            <a:pPr lvl="2"/>
            <a:r>
              <a:rPr lang="en-US" altLang="zh-CN" dirty="0">
                <a:hlinkClick r:id="rId5"/>
              </a:rPr>
              <a:t>https://towardsdatascience.com/recurrent-neural-networks-d4642c9bc7ce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>
                <a:hlinkClick r:id="rId6"/>
              </a:rPr>
              <a:t>https://colah.github.io/posts/2015-08-Understanding-LSTMs/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lvl="1"/>
            <a:r>
              <a:rPr lang="en-US" altLang="zh-CN" dirty="0">
                <a:hlinkClick r:id="rId7"/>
              </a:rPr>
              <a:t>https://web.stanford.edu/class/cs224n/index.html#coursework</a:t>
            </a:r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2083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06D31-4921-7341-A7AC-06AE4802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49D27A-08DF-4242-81B9-37B94A91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/>
              <a:t>模型</a:t>
            </a:r>
            <a:endParaRPr kumimoji="1" lang="en-US" altLang="zh-CN" sz="2800" dirty="0"/>
          </a:p>
          <a:p>
            <a:pPr lvl="1"/>
            <a:r>
              <a:rPr kumimoji="1" lang="en-US" altLang="zh-CN" sz="2400" dirty="0"/>
              <a:t>4.1</a:t>
            </a:r>
            <a:r>
              <a:rPr kumimoji="1" lang="zh-CN" altLang="en-US" sz="2400" dirty="0"/>
              <a:t>循环神经网络</a:t>
            </a:r>
            <a:endParaRPr kumimoji="1" lang="en-US" altLang="zh-CN" sz="2400" dirty="0"/>
          </a:p>
          <a:p>
            <a:r>
              <a:rPr kumimoji="1" lang="zh-CN" altLang="en-US" sz="2800" dirty="0"/>
              <a:t>学习</a:t>
            </a:r>
            <a:r>
              <a:rPr kumimoji="1" lang="en-US" altLang="zh-CN" sz="2800" dirty="0"/>
              <a:t>	</a:t>
            </a:r>
          </a:p>
          <a:p>
            <a:pPr lvl="1"/>
            <a:r>
              <a:rPr kumimoji="1" lang="en-US" altLang="zh-CN" sz="2400" dirty="0"/>
              <a:t>4.2</a:t>
            </a:r>
            <a:r>
              <a:rPr kumimoji="1" lang="zh-CN" altLang="en-US" sz="2400" dirty="0"/>
              <a:t>应用到机器学习</a:t>
            </a:r>
            <a:endParaRPr kumimoji="1" lang="en-US" altLang="zh-CN" sz="2400" dirty="0"/>
          </a:p>
          <a:p>
            <a:pPr lvl="1"/>
            <a:r>
              <a:rPr kumimoji="1" lang="en-US" altLang="zh-CN" sz="2400" dirty="0"/>
              <a:t>4.3</a:t>
            </a:r>
            <a:r>
              <a:rPr kumimoji="1" lang="zh-CN" altLang="en-US" sz="2400" dirty="0"/>
              <a:t>参数学习与长程依赖问题</a:t>
            </a:r>
            <a:endParaRPr kumimoji="1" lang="en-US" altLang="zh-CN" sz="2400" dirty="0"/>
          </a:p>
          <a:p>
            <a:r>
              <a:rPr kumimoji="1" lang="zh-CN" altLang="en-US" sz="2800" dirty="0"/>
              <a:t>模型改进</a:t>
            </a:r>
            <a:endParaRPr kumimoji="1" lang="en-US" altLang="zh-CN" sz="2800" dirty="0"/>
          </a:p>
          <a:p>
            <a:pPr lvl="1"/>
            <a:r>
              <a:rPr kumimoji="1" lang="en-US" altLang="zh-CN" sz="2400" dirty="0"/>
              <a:t>4.4</a:t>
            </a:r>
            <a:r>
              <a:rPr kumimoji="1" lang="zh-CN" altLang="en-US" sz="2400" dirty="0"/>
              <a:t>深层循环神经网络</a:t>
            </a:r>
            <a:endParaRPr kumimoji="1" lang="en-US" altLang="zh-CN" sz="2400" dirty="0"/>
          </a:p>
          <a:p>
            <a:r>
              <a:rPr kumimoji="1" lang="zh-CN" altLang="en-US" sz="2800" dirty="0"/>
              <a:t>应用</a:t>
            </a:r>
            <a:endParaRPr kumimoji="1" lang="en-US" altLang="zh-CN" sz="2800" dirty="0"/>
          </a:p>
          <a:p>
            <a:pPr lvl="1"/>
            <a:r>
              <a:rPr kumimoji="1" lang="en-US" altLang="zh-CN" sz="2400" dirty="0"/>
              <a:t>4.5</a:t>
            </a:r>
            <a:r>
              <a:rPr kumimoji="1" lang="zh-CN" altLang="en-US" sz="2400" dirty="0"/>
              <a:t>循环网络应用</a:t>
            </a:r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3145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前馈网络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连接存在层与层之间，每层的节点之间是无连接的。（无循环）</a:t>
            </a:r>
            <a:endParaRPr lang="en-US" altLang="zh-CN" dirty="0"/>
          </a:p>
          <a:p>
            <a:pPr lvl="1"/>
            <a:r>
              <a:rPr lang="zh-CN" altLang="en-US" dirty="0"/>
              <a:t>输入和输出的维数都是固定的，不能任意改变。</a:t>
            </a:r>
            <a:r>
              <a:rPr lang="zh-CN" altLang="en-US" u="sng" dirty="0"/>
              <a:t>无法处理变长的序列数据。</a:t>
            </a:r>
            <a:endParaRPr lang="en-US" altLang="zh-CN" u="sng" dirty="0"/>
          </a:p>
          <a:p>
            <a:pPr lvl="1"/>
            <a:endParaRPr lang="en-US" altLang="zh-CN" dirty="0"/>
          </a:p>
        </p:txBody>
      </p:sp>
      <p:pic>
        <p:nvPicPr>
          <p:cNvPr id="4" name="图片 3" descr="屏幕剪辑">
            <a:extLst>
              <a:ext uri="{FF2B5EF4-FFF2-40B4-BE49-F238E27FC236}">
                <a16:creationId xmlns:a16="http://schemas.microsoft.com/office/drawing/2014/main" id="{056EFBD9-FB6F-4FA8-B921-EC23A6C28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90800"/>
            <a:ext cx="3581400" cy="336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1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6B8E9-6EE8-4474-8DF0-D71EC81D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前馈网络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E7FCD-420B-4308-BA4C-7A0B23F8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假设每次输入都是独立的，也就是说每次网络的输出</a:t>
            </a:r>
            <a:r>
              <a:rPr lang="zh-CN" altLang="en-US" u="sng" dirty="0"/>
              <a:t>只依赖于当前的输入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 descr="https://cdn-images-1.medium.com/max/1000/1*QBnzO3f80JZrHPlSFdjwpg.png">
            <a:extLst>
              <a:ext uri="{FF2B5EF4-FFF2-40B4-BE49-F238E27FC236}">
                <a16:creationId xmlns:a16="http://schemas.microsoft.com/office/drawing/2014/main" id="{869CB651-5B15-45D4-9100-37310E076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62200"/>
            <a:ext cx="6705600" cy="309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5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sz="2800" dirty="0"/>
              <a:t>4.1</a:t>
            </a:r>
            <a:r>
              <a:rPr kumimoji="1" lang="zh-CN" altLang="en-US" sz="2800" dirty="0"/>
              <a:t>循环神经网络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6881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循环神经网络（ </a:t>
            </a:r>
            <a:r>
              <a:rPr lang="en-US" altLang="zh-CN" dirty="0"/>
              <a:t>Recurrent Neural Network </a:t>
            </a:r>
            <a:r>
              <a:rPr lang="zh-CN" altLang="en-US" dirty="0"/>
              <a:t>，</a:t>
            </a:r>
            <a:r>
              <a:rPr lang="en-US" altLang="zh-CN" dirty="0"/>
              <a:t>RNN 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13">
            <a:extLst>
              <a:ext uri="{FF2B5EF4-FFF2-40B4-BE49-F238E27FC236}">
                <a16:creationId xmlns:a16="http://schemas.microsoft.com/office/drawing/2014/main" id="{AF5206A4-43E4-4284-9028-C0C8FF5E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循环神经网络通过使用带自反馈的神经元，能够</a:t>
            </a:r>
            <a:r>
              <a:rPr lang="zh-CN" altLang="en-US" u="sng" dirty="0"/>
              <a:t>处理任意长度的时序数据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循环神经网络比前馈神经网络更加符合生物神经网络的结构。</a:t>
            </a:r>
            <a:endParaRPr lang="en-US" altLang="zh-CN" dirty="0"/>
          </a:p>
          <a:p>
            <a:pPr lvl="1"/>
            <a:r>
              <a:rPr lang="zh-CN" altLang="en-US" dirty="0"/>
              <a:t>循环神经网络已经被广泛应用在语音识别、语言模型以及自然语言生成等任务上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A055C89-D457-4F19-B699-BEAA30228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11" y="2133600"/>
            <a:ext cx="3723012" cy="237859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96D8C9-97D5-440D-B5A1-C5DB4B14F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835" y="2438400"/>
            <a:ext cx="1981200" cy="580152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729F043-1E80-4757-953B-9FB9DF161AC0}"/>
              </a:ext>
            </a:extLst>
          </p:cNvPr>
          <p:cNvSpPr/>
          <p:nvPr/>
        </p:nvSpPr>
        <p:spPr>
          <a:xfrm>
            <a:off x="1905000" y="3037283"/>
            <a:ext cx="9541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AD470F"/>
                </a:solidFill>
                <a:latin typeface="+mn-lt"/>
              </a:rPr>
              <a:t>活性值</a:t>
            </a:r>
            <a:endParaRPr lang="en-US" altLang="zh-CN" sz="2000" dirty="0">
              <a:solidFill>
                <a:srgbClr val="AD470F"/>
              </a:solidFill>
              <a:latin typeface="+mn-lt"/>
            </a:endParaRPr>
          </a:p>
          <a:p>
            <a:pPr algn="ctr"/>
            <a:r>
              <a:rPr lang="zh-CN" altLang="en-US" sz="2000" dirty="0">
                <a:solidFill>
                  <a:srgbClr val="AD470F"/>
                </a:solidFill>
                <a:latin typeface="+mn-lt"/>
              </a:rPr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319217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按时间展开</a:t>
            </a:r>
            <a:endParaRPr lang="zh-CN" alt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EFFE760-7AD7-4800-991E-8E9AEA2187FF}"/>
              </a:ext>
            </a:extLst>
          </p:cNvPr>
          <p:cNvCxnSpPr/>
          <p:nvPr/>
        </p:nvCxnSpPr>
        <p:spPr>
          <a:xfrm>
            <a:off x="4648200" y="1447800"/>
            <a:ext cx="0" cy="426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8F752DF6-CDE6-4E68-8DCF-665BD19DF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67" y="2819400"/>
            <a:ext cx="3313233" cy="21167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E99AC4F-56F0-4C0C-A7B7-7484397EA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1" y="2895600"/>
            <a:ext cx="6586029" cy="160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99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简单循环网络（</a:t>
            </a:r>
            <a:r>
              <a:rPr lang="en-US" altLang="zh-CN" dirty="0"/>
              <a:t>Simple Recurrent Network</a:t>
            </a:r>
            <a:r>
              <a:rPr lang="zh-CN" altLang="en-US" dirty="0"/>
              <a:t>， </a:t>
            </a:r>
            <a:r>
              <a:rPr lang="en-US" altLang="zh-CN" dirty="0"/>
              <a:t>SRN 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状态更新：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一个完全连接的循环网络是任何非线性动力系统的近似器 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E4DBC5-40C4-4182-8A12-277A2A0A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447800"/>
            <a:ext cx="3048000" cy="5896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F0643C-3A30-4098-B88F-57AECF56D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3505200"/>
            <a:ext cx="5376840" cy="242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90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图灵完备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图灵完备（</a:t>
            </a:r>
            <a:r>
              <a:rPr lang="en-US" altLang="zh-CN" dirty="0"/>
              <a:t>Turing Completeness</a:t>
            </a:r>
            <a:r>
              <a:rPr lang="zh-CN" altLang="en-US" dirty="0"/>
              <a:t>）是指一种数据操作规则，比如一种计算机编程语言，</a:t>
            </a:r>
            <a:r>
              <a:rPr lang="zh-CN" altLang="en-US" u="sng" dirty="0"/>
              <a:t>可以实现图灵机的所有功能，解决所有的可计算问题。</a:t>
            </a:r>
            <a:endParaRPr lang="en-US" altLang="zh-CN" u="sng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一个完全连接的循环神经网络可以近似解决所有的可计算问题。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56B5CC-F633-441E-A7D2-1516134C9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819400"/>
            <a:ext cx="7120928" cy="153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2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作用</a:t>
            </a:r>
            <a:endParaRPr lang="en-US" altLang="zh-CN" dirty="0"/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-</a:t>
            </a:r>
            <a:r>
              <a:rPr lang="zh-CN" altLang="en-US" dirty="0"/>
              <a:t>输出映射</a:t>
            </a:r>
            <a:endParaRPr lang="en-US" altLang="zh-CN" dirty="0"/>
          </a:p>
          <a:p>
            <a:pPr lvl="2"/>
            <a:r>
              <a:rPr lang="zh-CN" altLang="en-US" dirty="0"/>
              <a:t>机器学习模型（本节主要关注这种情况）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3736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2A3AB-E1C5-49D2-B39C-234E56E133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4.3</a:t>
            </a:r>
            <a:r>
              <a:rPr lang="zh-CN" altLang="en-US" dirty="0"/>
              <a:t>如何将</a:t>
            </a:r>
            <a:r>
              <a:rPr lang="en-US" altLang="zh-CN" dirty="0"/>
              <a:t>RNN</a:t>
            </a:r>
            <a:r>
              <a:rPr lang="zh-CN" altLang="en-US" dirty="0"/>
              <a:t>应用到机器学习</a:t>
            </a:r>
          </a:p>
        </p:txBody>
      </p:sp>
    </p:spTree>
    <p:extLst>
      <p:ext uri="{BB962C8B-B14F-4D97-AF65-F5344CB8AC3E}">
        <p14:creationId xmlns:p14="http://schemas.microsoft.com/office/powerpoint/2010/main" val="3156670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应用到机器学习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序列到类别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C0EEE7-0BE4-42D1-8C92-CF59E082C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07" y="2209801"/>
            <a:ext cx="8039986" cy="252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3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序列到类别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情感分类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778755" y="4609362"/>
            <a:ext cx="461666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737680" y="4609362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799825" y="4612137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7762236" y="4612137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724647" y="4612137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4" name="直線單箭頭接點 33"/>
          <p:cNvCxnSpPr>
            <a:cxnSpLocks/>
            <a:endCxn id="80" idx="3"/>
          </p:cNvCxnSpPr>
          <p:nvPr/>
        </p:nvCxnSpPr>
        <p:spPr>
          <a:xfrm flipH="1" flipV="1">
            <a:off x="6096000" y="3450125"/>
            <a:ext cx="2851176" cy="1151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直線單箭頭接點 34"/>
          <p:cNvCxnSpPr>
            <a:endCxn id="19" idx="1"/>
          </p:cNvCxnSpPr>
          <p:nvPr/>
        </p:nvCxnSpPr>
        <p:spPr>
          <a:xfrm>
            <a:off x="3258721" y="5059362"/>
            <a:ext cx="47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4209142" y="5062137"/>
            <a:ext cx="47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7275922" y="5067687"/>
            <a:ext cx="47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8226336" y="5070462"/>
            <a:ext cx="47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6320866" y="5062137"/>
            <a:ext cx="47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3030359" y="550936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3985711" y="550936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文字方塊 41"/>
          <p:cNvSpPr txBox="1"/>
          <p:nvPr/>
        </p:nvSpPr>
        <p:spPr>
          <a:xfrm>
            <a:off x="5430992" y="4717725"/>
            <a:ext cx="1103085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…</a:t>
            </a:r>
            <a:endParaRPr lang="zh-TW" altLang="en-US" sz="2800" dirty="0">
              <a:solidFill>
                <a:srgbClr val="00B050"/>
              </a:solidFill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7039862" y="550936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8011839" y="550936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8977044" y="550936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矩形 45"/>
          <p:cNvSpPr/>
          <p:nvPr/>
        </p:nvSpPr>
        <p:spPr>
          <a:xfrm>
            <a:off x="2778756" y="582407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我</a:t>
            </a:r>
            <a:endParaRPr lang="en-US" altLang="zh-TW" sz="2400" dirty="0"/>
          </a:p>
        </p:txBody>
      </p:sp>
      <p:sp>
        <p:nvSpPr>
          <p:cNvPr id="47" name="矩形 46"/>
          <p:cNvSpPr/>
          <p:nvPr/>
        </p:nvSpPr>
        <p:spPr>
          <a:xfrm>
            <a:off x="4721348" y="4612137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5192810" y="5064912"/>
            <a:ext cx="478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4969379" y="551213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矩形 49"/>
          <p:cNvSpPr/>
          <p:nvPr/>
        </p:nvSpPr>
        <p:spPr>
          <a:xfrm>
            <a:off x="3738882" y="5810359"/>
            <a:ext cx="4924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觉</a:t>
            </a:r>
            <a:endParaRPr lang="en-US" altLang="zh-TW" sz="2400" dirty="0"/>
          </a:p>
        </p:txBody>
      </p:sp>
      <p:sp>
        <p:nvSpPr>
          <p:cNvPr id="51" name="矩形 50"/>
          <p:cNvSpPr/>
          <p:nvPr/>
        </p:nvSpPr>
        <p:spPr>
          <a:xfrm>
            <a:off x="6799825" y="586293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太</a:t>
            </a:r>
            <a:endParaRPr lang="en-US" altLang="zh-TW" sz="2400" dirty="0"/>
          </a:p>
        </p:txBody>
      </p:sp>
      <p:sp>
        <p:nvSpPr>
          <p:cNvPr id="52" name="矩形 51"/>
          <p:cNvSpPr/>
          <p:nvPr/>
        </p:nvSpPr>
        <p:spPr>
          <a:xfrm>
            <a:off x="4723158" y="5833663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得</a:t>
            </a:r>
            <a:endParaRPr lang="en-US" altLang="zh-TW" sz="2400" dirty="0"/>
          </a:p>
        </p:txBody>
      </p:sp>
      <p:sp>
        <p:nvSpPr>
          <p:cNvPr id="53" name="矩形 52"/>
          <p:cNvSpPr/>
          <p:nvPr/>
        </p:nvSpPr>
        <p:spPr>
          <a:xfrm>
            <a:off x="7769138" y="586704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好</a:t>
            </a:r>
            <a:endParaRPr lang="en-US" altLang="zh-TW" sz="2400" dirty="0"/>
          </a:p>
        </p:txBody>
      </p:sp>
      <p:sp>
        <p:nvSpPr>
          <p:cNvPr id="54" name="矩形 53"/>
          <p:cNvSpPr/>
          <p:nvPr/>
        </p:nvSpPr>
        <p:spPr>
          <a:xfrm>
            <a:off x="8743552" y="584290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了</a:t>
            </a:r>
            <a:endParaRPr lang="en-US" altLang="zh-TW" sz="2400" dirty="0"/>
          </a:p>
        </p:txBody>
      </p:sp>
      <p:grpSp>
        <p:nvGrpSpPr>
          <p:cNvPr id="11" name="群組 10"/>
          <p:cNvGrpSpPr/>
          <p:nvPr/>
        </p:nvGrpSpPr>
        <p:grpSpPr>
          <a:xfrm>
            <a:off x="15198266" y="2300693"/>
            <a:ext cx="465153" cy="2256614"/>
            <a:chOff x="6774969" y="2139801"/>
            <a:chExt cx="465153" cy="2256614"/>
          </a:xfrm>
        </p:grpSpPr>
        <p:sp>
          <p:nvSpPr>
            <p:cNvPr id="26" name="矩形 25"/>
            <p:cNvSpPr/>
            <p:nvPr/>
          </p:nvSpPr>
          <p:spPr>
            <a:xfrm>
              <a:off x="6774969" y="2139801"/>
              <a:ext cx="465153" cy="225661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" name="橢圓 3"/>
            <p:cNvSpPr/>
            <p:nvPr/>
          </p:nvSpPr>
          <p:spPr>
            <a:xfrm>
              <a:off x="6816791" y="2587914"/>
              <a:ext cx="381507" cy="3815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6816791" y="3499459"/>
              <a:ext cx="381507" cy="38150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橢圓 55"/>
            <p:cNvSpPr/>
            <p:nvPr/>
          </p:nvSpPr>
          <p:spPr>
            <a:xfrm>
              <a:off x="6816791" y="3037957"/>
              <a:ext cx="381507" cy="38150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橢圓 56"/>
            <p:cNvSpPr/>
            <p:nvPr/>
          </p:nvSpPr>
          <p:spPr>
            <a:xfrm>
              <a:off x="6818786" y="3934184"/>
              <a:ext cx="381507" cy="381507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橢圓 57"/>
            <p:cNvSpPr/>
            <p:nvPr/>
          </p:nvSpPr>
          <p:spPr>
            <a:xfrm>
              <a:off x="6816791" y="2156426"/>
              <a:ext cx="381507" cy="3815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60" name="矩形 59"/>
          <p:cNvSpPr/>
          <p:nvPr/>
        </p:nvSpPr>
        <p:spPr>
          <a:xfrm>
            <a:off x="13703909" y="2659705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正</a:t>
            </a:r>
            <a:r>
              <a:rPr lang="zh-TW" altLang="en-US" sz="2400" dirty="0">
                <a:solidFill>
                  <a:srgbClr val="FF0000"/>
                </a:solidFill>
              </a:rPr>
              <a:t>面</a:t>
            </a:r>
            <a:endParaRPr lang="zh-TW" altLang="en-US" sz="2400" dirty="0"/>
          </a:p>
        </p:txBody>
      </p:sp>
      <p:sp>
        <p:nvSpPr>
          <p:cNvPr id="61" name="矩形 60"/>
          <p:cNvSpPr/>
          <p:nvPr/>
        </p:nvSpPr>
        <p:spPr>
          <a:xfrm>
            <a:off x="13690220" y="309166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</a:rPr>
              <a:t>中性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3697064" y="356914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负</a:t>
            </a:r>
            <a:r>
              <a:rPr lang="zh-TW" altLang="en-US" sz="2400" dirty="0">
                <a:solidFill>
                  <a:srgbClr val="0000FF"/>
                </a:solidFill>
              </a:rPr>
              <a:t>面</a:t>
            </a:r>
            <a:endParaRPr lang="zh-TW" altLang="en-US" sz="2400" dirty="0"/>
          </a:p>
        </p:txBody>
      </p:sp>
      <p:sp>
        <p:nvSpPr>
          <p:cNvPr id="64" name="摺角紙張 63"/>
          <p:cNvSpPr/>
          <p:nvPr/>
        </p:nvSpPr>
        <p:spPr>
          <a:xfrm>
            <a:off x="4284296" y="1252934"/>
            <a:ext cx="1828800" cy="889098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带着愉悦的心情</a:t>
            </a:r>
            <a:r>
              <a:rPr lang="zh-TW" altLang="en-US" dirty="0"/>
              <a:t>看了</a:t>
            </a:r>
            <a:r>
              <a:rPr lang="zh-CN" altLang="en-US" dirty="0"/>
              <a:t>这部电影</a:t>
            </a:r>
            <a:endParaRPr lang="zh-TW" altLang="en-US" dirty="0"/>
          </a:p>
        </p:txBody>
      </p:sp>
      <p:sp>
        <p:nvSpPr>
          <p:cNvPr id="65" name="摺角紙張 64"/>
          <p:cNvSpPr/>
          <p:nvPr/>
        </p:nvSpPr>
        <p:spPr>
          <a:xfrm>
            <a:off x="6377867" y="1269368"/>
            <a:ext cx="1828800" cy="889098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这部电影</a:t>
            </a:r>
            <a:r>
              <a:rPr lang="zh-TW" altLang="en-US" dirty="0"/>
              <a:t>太糟</a:t>
            </a:r>
            <a:r>
              <a:rPr lang="zh-CN" altLang="en-US" dirty="0"/>
              <a:t>了</a:t>
            </a:r>
            <a:endParaRPr lang="en-US" altLang="zh-TW" dirty="0"/>
          </a:p>
        </p:txBody>
      </p:sp>
      <p:sp>
        <p:nvSpPr>
          <p:cNvPr id="66" name="摺角紙張 65"/>
          <p:cNvSpPr/>
          <p:nvPr/>
        </p:nvSpPr>
        <p:spPr>
          <a:xfrm>
            <a:off x="8482315" y="1252934"/>
            <a:ext cx="1828800" cy="889098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这部电影</a:t>
            </a:r>
            <a:r>
              <a:rPr lang="zh-TW" altLang="en-US" dirty="0"/>
              <a:t>很棒</a:t>
            </a:r>
          </a:p>
        </p:txBody>
      </p:sp>
      <p:sp>
        <p:nvSpPr>
          <p:cNvPr id="67" name="文字方塊 66"/>
          <p:cNvSpPr txBox="1"/>
          <p:nvPr/>
        </p:nvSpPr>
        <p:spPr>
          <a:xfrm>
            <a:off x="4170425" y="2166589"/>
            <a:ext cx="2149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Positive (</a:t>
            </a:r>
            <a:r>
              <a:rPr lang="zh-TW" altLang="en-US" sz="2000" dirty="0">
                <a:solidFill>
                  <a:srgbClr val="FF0000"/>
                </a:solidFill>
              </a:rPr>
              <a:t>正面</a:t>
            </a:r>
            <a:r>
              <a:rPr lang="en-US" altLang="zh-TW" sz="2000" dirty="0">
                <a:solidFill>
                  <a:srgbClr val="FF0000"/>
                </a:solidFill>
              </a:rPr>
              <a:t>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248191" y="2166588"/>
            <a:ext cx="2149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0000FF"/>
                </a:solidFill>
              </a:rPr>
              <a:t>Negative (</a:t>
            </a:r>
            <a:r>
              <a:rPr lang="zh-CN" altLang="en-US" sz="2000" dirty="0">
                <a:solidFill>
                  <a:srgbClr val="0000FF"/>
                </a:solidFill>
              </a:rPr>
              <a:t>负</a:t>
            </a:r>
            <a:r>
              <a:rPr lang="zh-TW" altLang="en-US" sz="2000" dirty="0">
                <a:solidFill>
                  <a:srgbClr val="0000FF"/>
                </a:solidFill>
              </a:rPr>
              <a:t>面</a:t>
            </a:r>
            <a:r>
              <a:rPr lang="en-US" altLang="zh-TW" sz="2000" dirty="0">
                <a:solidFill>
                  <a:srgbClr val="0000FF"/>
                </a:solidFill>
              </a:rPr>
              <a:t>)</a:t>
            </a:r>
            <a:endParaRPr lang="zh-TW" altLang="en-US" sz="2000" dirty="0">
              <a:solidFill>
                <a:srgbClr val="0000FF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8482315" y="2169754"/>
            <a:ext cx="2149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Positive (</a:t>
            </a:r>
            <a:r>
              <a:rPr lang="zh-TW" altLang="en-US" sz="2000" dirty="0">
                <a:solidFill>
                  <a:srgbClr val="FF0000"/>
                </a:solidFill>
              </a:rPr>
              <a:t>正面</a:t>
            </a:r>
            <a:r>
              <a:rPr lang="en-US" altLang="zh-TW" sz="2000" dirty="0">
                <a:solidFill>
                  <a:srgbClr val="FF0000"/>
                </a:solidFill>
              </a:rPr>
              <a:t>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5422154" y="5730167"/>
            <a:ext cx="1103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</a:t>
            </a:r>
            <a:endParaRPr lang="zh-TW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918EF2A-F532-4BDF-B297-2A34AAED2D77}"/>
              </a:ext>
            </a:extLst>
          </p:cNvPr>
          <p:cNvGrpSpPr/>
          <p:nvPr/>
        </p:nvGrpSpPr>
        <p:grpSpPr>
          <a:xfrm rot="5400000">
            <a:off x="5863424" y="2462000"/>
            <a:ext cx="465153" cy="1511096"/>
            <a:chOff x="8549167" y="2300693"/>
            <a:chExt cx="465153" cy="1511096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465BDFF-02B9-49DD-812F-F716078069A3}"/>
                </a:ext>
              </a:extLst>
            </p:cNvPr>
            <p:cNvSpPr/>
            <p:nvPr/>
          </p:nvSpPr>
          <p:spPr>
            <a:xfrm>
              <a:off x="8549167" y="2300693"/>
              <a:ext cx="465153" cy="1511096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1" name="橢圓 3">
              <a:extLst>
                <a:ext uri="{FF2B5EF4-FFF2-40B4-BE49-F238E27FC236}">
                  <a16:creationId xmlns:a16="http://schemas.microsoft.com/office/drawing/2014/main" id="{4B6E89DC-12BB-4ECD-965E-F249350CAEE2}"/>
                </a:ext>
              </a:extLst>
            </p:cNvPr>
            <p:cNvSpPr/>
            <p:nvPr/>
          </p:nvSpPr>
          <p:spPr>
            <a:xfrm>
              <a:off x="8590989" y="2423283"/>
              <a:ext cx="381507" cy="38150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54">
              <a:extLst>
                <a:ext uri="{FF2B5EF4-FFF2-40B4-BE49-F238E27FC236}">
                  <a16:creationId xmlns:a16="http://schemas.microsoft.com/office/drawing/2014/main" id="{1C69E935-6848-49B5-B554-838AF1E0B40B}"/>
                </a:ext>
              </a:extLst>
            </p:cNvPr>
            <p:cNvSpPr/>
            <p:nvPr/>
          </p:nvSpPr>
          <p:spPr>
            <a:xfrm>
              <a:off x="8590989" y="3334828"/>
              <a:ext cx="381507" cy="381507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3" name="橢圓 55">
              <a:extLst>
                <a:ext uri="{FF2B5EF4-FFF2-40B4-BE49-F238E27FC236}">
                  <a16:creationId xmlns:a16="http://schemas.microsoft.com/office/drawing/2014/main" id="{A7D00D6A-307E-4ABA-BFE2-A839ED6CEB51}"/>
                </a:ext>
              </a:extLst>
            </p:cNvPr>
            <p:cNvSpPr/>
            <p:nvPr/>
          </p:nvSpPr>
          <p:spPr>
            <a:xfrm>
              <a:off x="8590989" y="2873326"/>
              <a:ext cx="381507" cy="381507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86" name="直線單箭頭接點 33">
            <a:extLst>
              <a:ext uri="{FF2B5EF4-FFF2-40B4-BE49-F238E27FC236}">
                <a16:creationId xmlns:a16="http://schemas.microsoft.com/office/drawing/2014/main" id="{B2218B5F-3E94-490D-8745-2D7125F223EB}"/>
              </a:ext>
            </a:extLst>
          </p:cNvPr>
          <p:cNvCxnSpPr>
            <a:cxnSpLocks/>
            <a:stCxn id="18" idx="0"/>
            <a:endCxn id="80" idx="3"/>
          </p:cNvCxnSpPr>
          <p:nvPr/>
        </p:nvCxnSpPr>
        <p:spPr>
          <a:xfrm flipV="1">
            <a:off x="3009588" y="3450126"/>
            <a:ext cx="3086412" cy="1159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直線單箭頭接點 33">
            <a:extLst>
              <a:ext uri="{FF2B5EF4-FFF2-40B4-BE49-F238E27FC236}">
                <a16:creationId xmlns:a16="http://schemas.microsoft.com/office/drawing/2014/main" id="{EB9CCFB1-FF50-4F1C-8FF3-7F135BA88D41}"/>
              </a:ext>
            </a:extLst>
          </p:cNvPr>
          <p:cNvCxnSpPr>
            <a:cxnSpLocks/>
            <a:stCxn id="19" idx="0"/>
            <a:endCxn id="80" idx="3"/>
          </p:cNvCxnSpPr>
          <p:nvPr/>
        </p:nvCxnSpPr>
        <p:spPr>
          <a:xfrm flipV="1">
            <a:off x="3970256" y="3450126"/>
            <a:ext cx="2125744" cy="1159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直線單箭頭接點 33">
            <a:extLst>
              <a:ext uri="{FF2B5EF4-FFF2-40B4-BE49-F238E27FC236}">
                <a16:creationId xmlns:a16="http://schemas.microsoft.com/office/drawing/2014/main" id="{4477D55D-E3BD-4AEB-8439-9B7475F2FE13}"/>
              </a:ext>
            </a:extLst>
          </p:cNvPr>
          <p:cNvCxnSpPr>
            <a:cxnSpLocks/>
            <a:stCxn id="47" idx="0"/>
            <a:endCxn id="80" idx="3"/>
          </p:cNvCxnSpPr>
          <p:nvPr/>
        </p:nvCxnSpPr>
        <p:spPr>
          <a:xfrm flipV="1">
            <a:off x="4953924" y="3450125"/>
            <a:ext cx="1142076" cy="1162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直線單箭頭接點 33">
            <a:extLst>
              <a:ext uri="{FF2B5EF4-FFF2-40B4-BE49-F238E27FC236}">
                <a16:creationId xmlns:a16="http://schemas.microsoft.com/office/drawing/2014/main" id="{6F05E001-230E-44CF-84F6-B2A8835360E7}"/>
              </a:ext>
            </a:extLst>
          </p:cNvPr>
          <p:cNvCxnSpPr>
            <a:cxnSpLocks/>
            <a:endCxn id="83" idx="6"/>
          </p:cNvCxnSpPr>
          <p:nvPr/>
        </p:nvCxnSpPr>
        <p:spPr>
          <a:xfrm flipH="1" flipV="1">
            <a:off x="6088161" y="3408301"/>
            <a:ext cx="1081130" cy="1201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直線單箭頭接點 33">
            <a:extLst>
              <a:ext uri="{FF2B5EF4-FFF2-40B4-BE49-F238E27FC236}">
                <a16:creationId xmlns:a16="http://schemas.microsoft.com/office/drawing/2014/main" id="{3637B499-34A8-449D-9CC2-73B184E66545}"/>
              </a:ext>
            </a:extLst>
          </p:cNvPr>
          <p:cNvCxnSpPr>
            <a:cxnSpLocks/>
            <a:stCxn id="21" idx="0"/>
            <a:endCxn id="80" idx="3"/>
          </p:cNvCxnSpPr>
          <p:nvPr/>
        </p:nvCxnSpPr>
        <p:spPr>
          <a:xfrm flipH="1" flipV="1">
            <a:off x="6096000" y="3450125"/>
            <a:ext cx="1898812" cy="1162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34917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应用到机器学习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同步的序列到序列模式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B45C5C-A6CF-4C0A-85B8-16537459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712" y="2438400"/>
            <a:ext cx="5460576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46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同步的序列到序列模式</a:t>
            </a:r>
            <a:endParaRPr lang="zh-CN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中文分词</a:t>
            </a:r>
            <a:endParaRPr lang="zh-TW" altLang="en-US"/>
          </a:p>
          <a:p>
            <a:endParaRPr lang="zh-TW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87E6A0D-9A00-465F-BF24-E5DB3F3E57C2}"/>
              </a:ext>
            </a:extLst>
          </p:cNvPr>
          <p:cNvSpPr/>
          <p:nvPr/>
        </p:nvSpPr>
        <p:spPr>
          <a:xfrm>
            <a:off x="2697647" y="3902728"/>
            <a:ext cx="461666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7B59785-904C-4028-934E-2BD9E42531B5}"/>
              </a:ext>
            </a:extLst>
          </p:cNvPr>
          <p:cNvSpPr/>
          <p:nvPr/>
        </p:nvSpPr>
        <p:spPr>
          <a:xfrm>
            <a:off x="3685724" y="3902728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EFEF2B5-6C6C-4606-BAEE-83F40F00AC34}"/>
              </a:ext>
            </a:extLst>
          </p:cNvPr>
          <p:cNvSpPr/>
          <p:nvPr/>
        </p:nvSpPr>
        <p:spPr>
          <a:xfrm>
            <a:off x="6660413" y="3902728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25A10ABE-B964-49CE-BDA8-E0DB7B80C47B}"/>
              </a:ext>
            </a:extLst>
          </p:cNvPr>
          <p:cNvSpPr/>
          <p:nvPr/>
        </p:nvSpPr>
        <p:spPr>
          <a:xfrm>
            <a:off x="7651976" y="3902728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927004F-26C4-4A7A-8E33-27DD5139CA17}"/>
              </a:ext>
            </a:extLst>
          </p:cNvPr>
          <p:cNvSpPr/>
          <p:nvPr/>
        </p:nvSpPr>
        <p:spPr>
          <a:xfrm>
            <a:off x="8643539" y="3902728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5" name="直線單箭頭接點 34">
            <a:extLst>
              <a:ext uri="{FF2B5EF4-FFF2-40B4-BE49-F238E27FC236}">
                <a16:creationId xmlns:a16="http://schemas.microsoft.com/office/drawing/2014/main" id="{3D41C926-67F8-45AC-9188-159CFBD84E42}"/>
              </a:ext>
            </a:extLst>
          </p:cNvPr>
          <p:cNvCxnSpPr>
            <a:cxnSpLocks/>
            <a:stCxn id="110" idx="3"/>
            <a:endCxn id="111" idx="1"/>
          </p:cNvCxnSpPr>
          <p:nvPr/>
        </p:nvCxnSpPr>
        <p:spPr>
          <a:xfrm>
            <a:off x="3159313" y="4352728"/>
            <a:ext cx="52641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直線單箭頭接點 35">
            <a:extLst>
              <a:ext uri="{FF2B5EF4-FFF2-40B4-BE49-F238E27FC236}">
                <a16:creationId xmlns:a16="http://schemas.microsoft.com/office/drawing/2014/main" id="{BB96B614-F496-40D8-849C-D35231617FAD}"/>
              </a:ext>
            </a:extLst>
          </p:cNvPr>
          <p:cNvCxnSpPr>
            <a:cxnSpLocks/>
            <a:stCxn id="111" idx="3"/>
            <a:endCxn id="127" idx="1"/>
          </p:cNvCxnSpPr>
          <p:nvPr/>
        </p:nvCxnSpPr>
        <p:spPr>
          <a:xfrm>
            <a:off x="4150876" y="4352728"/>
            <a:ext cx="52641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直線單箭頭接點 36">
            <a:extLst>
              <a:ext uri="{FF2B5EF4-FFF2-40B4-BE49-F238E27FC236}">
                <a16:creationId xmlns:a16="http://schemas.microsoft.com/office/drawing/2014/main" id="{DB524B61-8702-4D32-97E5-6915F1C4A748}"/>
              </a:ext>
            </a:extLst>
          </p:cNvPr>
          <p:cNvCxnSpPr>
            <a:cxnSpLocks/>
            <a:stCxn id="112" idx="3"/>
            <a:endCxn id="113" idx="1"/>
          </p:cNvCxnSpPr>
          <p:nvPr/>
        </p:nvCxnSpPr>
        <p:spPr>
          <a:xfrm>
            <a:off x="7125565" y="4352728"/>
            <a:ext cx="52641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直線單箭頭接點 37">
            <a:extLst>
              <a:ext uri="{FF2B5EF4-FFF2-40B4-BE49-F238E27FC236}">
                <a16:creationId xmlns:a16="http://schemas.microsoft.com/office/drawing/2014/main" id="{80381143-7C78-48C1-8498-390CC870B573}"/>
              </a:ext>
            </a:extLst>
          </p:cNvPr>
          <p:cNvCxnSpPr>
            <a:cxnSpLocks/>
            <a:stCxn id="113" idx="3"/>
            <a:endCxn id="114" idx="1"/>
          </p:cNvCxnSpPr>
          <p:nvPr/>
        </p:nvCxnSpPr>
        <p:spPr>
          <a:xfrm>
            <a:off x="8117128" y="4352728"/>
            <a:ext cx="52641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直線單箭頭接點 38">
            <a:extLst>
              <a:ext uri="{FF2B5EF4-FFF2-40B4-BE49-F238E27FC236}">
                <a16:creationId xmlns:a16="http://schemas.microsoft.com/office/drawing/2014/main" id="{0E60867A-6ACA-4EF6-A1BC-FAC6D9E10FA5}"/>
              </a:ext>
            </a:extLst>
          </p:cNvPr>
          <p:cNvCxnSpPr>
            <a:cxnSpLocks/>
            <a:stCxn id="136" idx="3"/>
            <a:endCxn id="112" idx="1"/>
          </p:cNvCxnSpPr>
          <p:nvPr/>
        </p:nvCxnSpPr>
        <p:spPr>
          <a:xfrm>
            <a:off x="6134002" y="4352728"/>
            <a:ext cx="52641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直線單箭頭接點 39">
            <a:extLst>
              <a:ext uri="{FF2B5EF4-FFF2-40B4-BE49-F238E27FC236}">
                <a16:creationId xmlns:a16="http://schemas.microsoft.com/office/drawing/2014/main" id="{28554FC0-C230-442F-BD2F-C91E6E0D77E9}"/>
              </a:ext>
            </a:extLst>
          </p:cNvPr>
          <p:cNvCxnSpPr/>
          <p:nvPr/>
        </p:nvCxnSpPr>
        <p:spPr>
          <a:xfrm flipV="1">
            <a:off x="2949251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直線單箭頭接點 40">
            <a:extLst>
              <a:ext uri="{FF2B5EF4-FFF2-40B4-BE49-F238E27FC236}">
                <a16:creationId xmlns:a16="http://schemas.microsoft.com/office/drawing/2014/main" id="{205009DC-6818-4CF0-B3A5-5F3ED40EAC13}"/>
              </a:ext>
            </a:extLst>
          </p:cNvPr>
          <p:cNvCxnSpPr/>
          <p:nvPr/>
        </p:nvCxnSpPr>
        <p:spPr>
          <a:xfrm flipV="1">
            <a:off x="3940365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直線單箭頭接點 42">
            <a:extLst>
              <a:ext uri="{FF2B5EF4-FFF2-40B4-BE49-F238E27FC236}">
                <a16:creationId xmlns:a16="http://schemas.microsoft.com/office/drawing/2014/main" id="{A62346F1-AAAC-4548-AEC0-61D2DB07291B}"/>
              </a:ext>
            </a:extLst>
          </p:cNvPr>
          <p:cNvCxnSpPr/>
          <p:nvPr/>
        </p:nvCxnSpPr>
        <p:spPr>
          <a:xfrm flipV="1">
            <a:off x="6913707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4" name="直線單箭頭接點 43">
            <a:extLst>
              <a:ext uri="{FF2B5EF4-FFF2-40B4-BE49-F238E27FC236}">
                <a16:creationId xmlns:a16="http://schemas.microsoft.com/office/drawing/2014/main" id="{1C26E78E-7A0F-49EF-AC2A-AA7E983B9C27}"/>
              </a:ext>
            </a:extLst>
          </p:cNvPr>
          <p:cNvCxnSpPr/>
          <p:nvPr/>
        </p:nvCxnSpPr>
        <p:spPr>
          <a:xfrm flipV="1">
            <a:off x="7904821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直線單箭頭接點 44">
            <a:extLst>
              <a:ext uri="{FF2B5EF4-FFF2-40B4-BE49-F238E27FC236}">
                <a16:creationId xmlns:a16="http://schemas.microsoft.com/office/drawing/2014/main" id="{7E37AB61-91D3-40D9-8775-F07114A6CF50}"/>
              </a:ext>
            </a:extLst>
          </p:cNvPr>
          <p:cNvCxnSpPr/>
          <p:nvPr/>
        </p:nvCxnSpPr>
        <p:spPr>
          <a:xfrm flipV="1">
            <a:off x="8895936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矩形 125">
            <a:extLst>
              <a:ext uri="{FF2B5EF4-FFF2-40B4-BE49-F238E27FC236}">
                <a16:creationId xmlns:a16="http://schemas.microsoft.com/office/drawing/2014/main" id="{90EB414C-E1BE-433C-A3A5-E8EC59D98984}"/>
              </a:ext>
            </a:extLst>
          </p:cNvPr>
          <p:cNvSpPr/>
          <p:nvPr/>
        </p:nvSpPr>
        <p:spPr>
          <a:xfrm>
            <a:off x="2697648" y="525333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他</a:t>
            </a:r>
            <a:endParaRPr lang="en-US" altLang="zh-TW" sz="2400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D4309337-25F8-4FEB-97A4-22E3E875ED61}"/>
              </a:ext>
            </a:extLst>
          </p:cNvPr>
          <p:cNvSpPr/>
          <p:nvPr/>
        </p:nvSpPr>
        <p:spPr>
          <a:xfrm>
            <a:off x="4677287" y="3902728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8" name="直線單箭頭接點 47">
            <a:extLst>
              <a:ext uri="{FF2B5EF4-FFF2-40B4-BE49-F238E27FC236}">
                <a16:creationId xmlns:a16="http://schemas.microsoft.com/office/drawing/2014/main" id="{8679D53A-ECB9-4165-95FA-8647B707F013}"/>
              </a:ext>
            </a:extLst>
          </p:cNvPr>
          <p:cNvCxnSpPr>
            <a:cxnSpLocks/>
            <a:stCxn id="127" idx="3"/>
            <a:endCxn id="136" idx="1"/>
          </p:cNvCxnSpPr>
          <p:nvPr/>
        </p:nvCxnSpPr>
        <p:spPr>
          <a:xfrm>
            <a:off x="5142439" y="4352728"/>
            <a:ext cx="52641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" name="直線單箭頭接點 48">
            <a:extLst>
              <a:ext uri="{FF2B5EF4-FFF2-40B4-BE49-F238E27FC236}">
                <a16:creationId xmlns:a16="http://schemas.microsoft.com/office/drawing/2014/main" id="{68DB73FB-E865-4E42-921F-223E5C1AA47D}"/>
              </a:ext>
            </a:extLst>
          </p:cNvPr>
          <p:cNvCxnSpPr/>
          <p:nvPr/>
        </p:nvCxnSpPr>
        <p:spPr>
          <a:xfrm flipV="1">
            <a:off x="4931479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D89CC863-1799-43EA-B008-E56E3410A984}"/>
              </a:ext>
            </a:extLst>
          </p:cNvPr>
          <p:cNvSpPr/>
          <p:nvPr/>
        </p:nvSpPr>
        <p:spPr>
          <a:xfrm>
            <a:off x="3691781" y="5253336"/>
            <a:ext cx="4924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说</a:t>
            </a:r>
            <a:endParaRPr lang="en-US" altLang="zh-TW" sz="2400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BF123B4F-648A-4671-BE44-CBB063EBDD2D}"/>
              </a:ext>
            </a:extLst>
          </p:cNvPr>
          <p:cNvSpPr/>
          <p:nvPr/>
        </p:nvSpPr>
        <p:spPr>
          <a:xfrm>
            <a:off x="6674180" y="525333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实</a:t>
            </a:r>
            <a:endParaRPr lang="en-US" altLang="zh-TW" sz="2400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256BAB1-2637-4308-BDC1-FDD760394B75}"/>
              </a:ext>
            </a:extLst>
          </p:cNvPr>
          <p:cNvSpPr/>
          <p:nvPr/>
        </p:nvSpPr>
        <p:spPr>
          <a:xfrm>
            <a:off x="4685914" y="525333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的</a:t>
            </a:r>
            <a:endParaRPr lang="en-US" altLang="zh-TW" sz="2400" dirty="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A92F2368-E7E9-4439-8BB2-83C7E16E3D2E}"/>
              </a:ext>
            </a:extLst>
          </p:cNvPr>
          <p:cNvSpPr/>
          <p:nvPr/>
        </p:nvSpPr>
        <p:spPr>
          <a:xfrm>
            <a:off x="7668313" y="525333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在</a:t>
            </a:r>
            <a:endParaRPr lang="en-US" altLang="zh-TW" sz="2400" dirty="0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9A9AD2BA-600E-4729-B376-4BF79839854F}"/>
              </a:ext>
            </a:extLst>
          </p:cNvPr>
          <p:cNvSpPr/>
          <p:nvPr/>
        </p:nvSpPr>
        <p:spPr>
          <a:xfrm>
            <a:off x="8662444" y="525333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理</a:t>
            </a:r>
            <a:endParaRPr lang="en-US" altLang="zh-TW" sz="2400" dirty="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A87C9EF-E858-4CA3-BF98-FE6950308D02}"/>
              </a:ext>
            </a:extLst>
          </p:cNvPr>
          <p:cNvSpPr/>
          <p:nvPr/>
        </p:nvSpPr>
        <p:spPr>
          <a:xfrm>
            <a:off x="5668850" y="3902728"/>
            <a:ext cx="465153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50" name="直線單箭頭接點 48">
            <a:extLst>
              <a:ext uri="{FF2B5EF4-FFF2-40B4-BE49-F238E27FC236}">
                <a16:creationId xmlns:a16="http://schemas.microsoft.com/office/drawing/2014/main" id="{36E137C2-407D-4E6C-89D4-2522AFDE8CFC}"/>
              </a:ext>
            </a:extLst>
          </p:cNvPr>
          <p:cNvCxnSpPr/>
          <p:nvPr/>
        </p:nvCxnSpPr>
        <p:spPr>
          <a:xfrm flipV="1">
            <a:off x="5922593" y="4938777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2A7A1AB9-CEC8-418B-AEA3-A99017A1FC87}"/>
              </a:ext>
            </a:extLst>
          </p:cNvPr>
          <p:cNvSpPr/>
          <p:nvPr/>
        </p:nvSpPr>
        <p:spPr>
          <a:xfrm>
            <a:off x="5680047" y="525333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确</a:t>
            </a:r>
            <a:endParaRPr lang="en-US" altLang="zh-TW" sz="2400" dirty="0"/>
          </a:p>
        </p:txBody>
      </p:sp>
      <p:cxnSp>
        <p:nvCxnSpPr>
          <p:cNvPr id="165" name="直線單箭頭接點 39">
            <a:extLst>
              <a:ext uri="{FF2B5EF4-FFF2-40B4-BE49-F238E27FC236}">
                <a16:creationId xmlns:a16="http://schemas.microsoft.com/office/drawing/2014/main" id="{DA55D255-DA51-436D-8F53-5EE9D6001ED1}"/>
              </a:ext>
            </a:extLst>
          </p:cNvPr>
          <p:cNvCxnSpPr/>
          <p:nvPr/>
        </p:nvCxnSpPr>
        <p:spPr>
          <a:xfrm flipV="1">
            <a:off x="2918604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直線單箭頭接點 40">
            <a:extLst>
              <a:ext uri="{FF2B5EF4-FFF2-40B4-BE49-F238E27FC236}">
                <a16:creationId xmlns:a16="http://schemas.microsoft.com/office/drawing/2014/main" id="{72ABA553-F11A-4E66-90F5-31A13F2779E6}"/>
              </a:ext>
            </a:extLst>
          </p:cNvPr>
          <p:cNvCxnSpPr/>
          <p:nvPr/>
        </p:nvCxnSpPr>
        <p:spPr>
          <a:xfrm flipV="1">
            <a:off x="3909718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直線單箭頭接點 42">
            <a:extLst>
              <a:ext uri="{FF2B5EF4-FFF2-40B4-BE49-F238E27FC236}">
                <a16:creationId xmlns:a16="http://schemas.microsoft.com/office/drawing/2014/main" id="{F019B93F-C7C5-49B6-850D-E9F82491498B}"/>
              </a:ext>
            </a:extLst>
          </p:cNvPr>
          <p:cNvCxnSpPr/>
          <p:nvPr/>
        </p:nvCxnSpPr>
        <p:spPr>
          <a:xfrm flipV="1">
            <a:off x="6883060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8" name="直線單箭頭接點 43">
            <a:extLst>
              <a:ext uri="{FF2B5EF4-FFF2-40B4-BE49-F238E27FC236}">
                <a16:creationId xmlns:a16="http://schemas.microsoft.com/office/drawing/2014/main" id="{F19E525E-53CB-40B3-8ABD-AD3F2B446A67}"/>
              </a:ext>
            </a:extLst>
          </p:cNvPr>
          <p:cNvCxnSpPr/>
          <p:nvPr/>
        </p:nvCxnSpPr>
        <p:spPr>
          <a:xfrm flipV="1">
            <a:off x="7874174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9" name="直線單箭頭接點 44">
            <a:extLst>
              <a:ext uri="{FF2B5EF4-FFF2-40B4-BE49-F238E27FC236}">
                <a16:creationId xmlns:a16="http://schemas.microsoft.com/office/drawing/2014/main" id="{85C13230-CD21-49F3-8073-293C9F49C94B}"/>
              </a:ext>
            </a:extLst>
          </p:cNvPr>
          <p:cNvCxnSpPr/>
          <p:nvPr/>
        </p:nvCxnSpPr>
        <p:spPr>
          <a:xfrm flipV="1">
            <a:off x="8865289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483AA07C-A17F-4CEB-A2D1-3D0EE842E702}"/>
              </a:ext>
            </a:extLst>
          </p:cNvPr>
          <p:cNvSpPr/>
          <p:nvPr/>
        </p:nvSpPr>
        <p:spPr>
          <a:xfrm>
            <a:off x="2713154" y="29673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S</a:t>
            </a:r>
            <a:endParaRPr lang="en-US" altLang="zh-TW" sz="2400" dirty="0"/>
          </a:p>
        </p:txBody>
      </p:sp>
      <p:cxnSp>
        <p:nvCxnSpPr>
          <p:cNvPr id="171" name="直線單箭頭接點 48">
            <a:extLst>
              <a:ext uri="{FF2B5EF4-FFF2-40B4-BE49-F238E27FC236}">
                <a16:creationId xmlns:a16="http://schemas.microsoft.com/office/drawing/2014/main" id="{93F45E08-9DAD-4741-A706-5A59DDE465BB}"/>
              </a:ext>
            </a:extLst>
          </p:cNvPr>
          <p:cNvCxnSpPr/>
          <p:nvPr/>
        </p:nvCxnSpPr>
        <p:spPr>
          <a:xfrm flipV="1">
            <a:off x="4900832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D98B749D-3002-402D-AFC0-635DAC0F2FB1}"/>
              </a:ext>
            </a:extLst>
          </p:cNvPr>
          <p:cNvSpPr/>
          <p:nvPr/>
        </p:nvSpPr>
        <p:spPr>
          <a:xfrm>
            <a:off x="3707288" y="2967336"/>
            <a:ext cx="4924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</a:t>
            </a:r>
            <a:endParaRPr lang="en-US" altLang="zh-TW" sz="2400" dirty="0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2C2B5725-93EA-4312-B965-BD888779E9B3}"/>
              </a:ext>
            </a:extLst>
          </p:cNvPr>
          <p:cNvSpPr/>
          <p:nvPr/>
        </p:nvSpPr>
        <p:spPr>
          <a:xfrm>
            <a:off x="6689686" y="29673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E</a:t>
            </a:r>
            <a:endParaRPr lang="en-US" altLang="zh-TW" sz="2400" dirty="0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EBF7A939-759D-4343-81D2-A68D51517303}"/>
              </a:ext>
            </a:extLst>
          </p:cNvPr>
          <p:cNvSpPr/>
          <p:nvPr/>
        </p:nvSpPr>
        <p:spPr>
          <a:xfrm>
            <a:off x="4701420" y="29673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S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6B609CA-D6CE-4F1D-AC23-B53459750220}"/>
              </a:ext>
            </a:extLst>
          </p:cNvPr>
          <p:cNvSpPr/>
          <p:nvPr/>
        </p:nvSpPr>
        <p:spPr>
          <a:xfrm>
            <a:off x="7683819" y="29673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B</a:t>
            </a:r>
            <a:endParaRPr lang="en-US" altLang="zh-TW" sz="2400" dirty="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ABF6A5F9-C6D7-45D1-AE3B-F51087880C66}"/>
              </a:ext>
            </a:extLst>
          </p:cNvPr>
          <p:cNvSpPr/>
          <p:nvPr/>
        </p:nvSpPr>
        <p:spPr>
          <a:xfrm>
            <a:off x="8677950" y="29673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E</a:t>
            </a:r>
            <a:endParaRPr lang="en-US" altLang="zh-TW" sz="2400" dirty="0"/>
          </a:p>
        </p:txBody>
      </p:sp>
      <p:cxnSp>
        <p:nvCxnSpPr>
          <p:cNvPr id="177" name="直線單箭頭接點 48">
            <a:extLst>
              <a:ext uri="{FF2B5EF4-FFF2-40B4-BE49-F238E27FC236}">
                <a16:creationId xmlns:a16="http://schemas.microsoft.com/office/drawing/2014/main" id="{946965DB-B4EB-4D52-A95E-BB65D88A9D5A}"/>
              </a:ext>
            </a:extLst>
          </p:cNvPr>
          <p:cNvCxnSpPr/>
          <p:nvPr/>
        </p:nvCxnSpPr>
        <p:spPr>
          <a:xfrm flipV="1">
            <a:off x="5891946" y="3497292"/>
            <a:ext cx="0" cy="31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8" name="矩形 177">
            <a:extLst>
              <a:ext uri="{FF2B5EF4-FFF2-40B4-BE49-F238E27FC236}">
                <a16:creationId xmlns:a16="http://schemas.microsoft.com/office/drawing/2014/main" id="{CD41FA0A-9B53-4FE2-8EEE-D63691C9A480}"/>
              </a:ext>
            </a:extLst>
          </p:cNvPr>
          <p:cNvSpPr/>
          <p:nvPr/>
        </p:nvSpPr>
        <p:spPr>
          <a:xfrm>
            <a:off x="5695553" y="296733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B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817254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同步的序列到序列模式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信息抽取</a:t>
            </a:r>
            <a:r>
              <a:rPr lang="en-US" altLang="zh-CN" dirty="0"/>
              <a:t>(Information Extraction</a:t>
            </a:r>
            <a:r>
              <a:rPr lang="zh-CN" altLang="en-US" dirty="0"/>
              <a:t>，</a:t>
            </a:r>
            <a:r>
              <a:rPr lang="en-US" altLang="zh-CN" dirty="0"/>
              <a:t>IE)</a:t>
            </a:r>
          </a:p>
          <a:p>
            <a:pPr lvl="1"/>
            <a:r>
              <a:rPr lang="zh-CN" altLang="en-US" dirty="0"/>
              <a:t>从无结构的文本中抽取结构化的信息，形成知识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209800" y="2590801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小米</a:t>
            </a:r>
            <a:r>
              <a:rPr lang="zh-CN" altLang="en-US" dirty="0"/>
              <a:t>创始人</a:t>
            </a:r>
            <a:r>
              <a:rPr lang="zh-CN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雷军</a:t>
            </a:r>
            <a:r>
              <a:rPr lang="zh-CN" altLang="en-US" dirty="0"/>
              <a:t>表示，该公司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2015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年</a:t>
            </a:r>
            <a:r>
              <a:rPr lang="zh-CN" altLang="en-US" dirty="0"/>
              <a:t>营收达到</a:t>
            </a:r>
            <a:r>
              <a:rPr lang="en-US" altLang="zh-CN" dirty="0">
                <a:solidFill>
                  <a:srgbClr val="FFC000"/>
                </a:solidFill>
              </a:rPr>
              <a:t>780</a:t>
            </a:r>
            <a:r>
              <a:rPr lang="zh-CN" altLang="en-US" dirty="0">
                <a:solidFill>
                  <a:srgbClr val="FFC000"/>
                </a:solidFill>
              </a:rPr>
              <a:t>亿</a:t>
            </a:r>
            <a:r>
              <a:rPr lang="zh-CN" altLang="en-US" dirty="0"/>
              <a:t>元人民币，较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2014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年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FFC000"/>
                </a:solidFill>
              </a:rPr>
              <a:t>743</a:t>
            </a:r>
            <a:r>
              <a:rPr lang="zh-CN" altLang="en-US" dirty="0">
                <a:solidFill>
                  <a:srgbClr val="FFC000"/>
                </a:solidFill>
              </a:rPr>
              <a:t>亿</a:t>
            </a:r>
            <a:r>
              <a:rPr lang="zh-CN" altLang="en-US" dirty="0"/>
              <a:t>元人民币增长了</a:t>
            </a:r>
            <a:r>
              <a:rPr lang="en-US" altLang="zh-CN" dirty="0">
                <a:solidFill>
                  <a:srgbClr val="FFC000"/>
                </a:solidFill>
              </a:rPr>
              <a:t>5%</a:t>
            </a:r>
            <a:r>
              <a:rPr lang="zh-CN" altLang="en-US" dirty="0"/>
              <a:t>。</a:t>
            </a:r>
          </a:p>
        </p:txBody>
      </p:sp>
      <p:pic>
        <p:nvPicPr>
          <p:cNvPr id="1026" name="Picture 2" descr="“bilstm crf”的图片搜索结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3849470"/>
            <a:ext cx="46482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95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同步的序列到序列模式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dirty="0"/>
              <a:t>Connectionist Temporal Classification</a:t>
            </a:r>
            <a:r>
              <a:rPr lang="zh-TW" altLang="en-US" dirty="0"/>
              <a:t> </a:t>
            </a:r>
            <a:r>
              <a:rPr lang="en-US" altLang="zh-TW" dirty="0"/>
              <a:t>(CTC) [Alex Graves, ICML’06][Alex Graves, ICML’14][</a:t>
            </a:r>
            <a:r>
              <a:rPr lang="en-US" altLang="zh-TW" dirty="0" err="1"/>
              <a:t>Haşim</a:t>
            </a:r>
            <a:r>
              <a:rPr lang="en-US" altLang="zh-TW" dirty="0"/>
              <a:t> </a:t>
            </a:r>
            <a:r>
              <a:rPr lang="en-US" altLang="zh-TW" dirty="0" err="1"/>
              <a:t>Sak</a:t>
            </a:r>
            <a:r>
              <a:rPr lang="en-US" altLang="zh-TW" dirty="0"/>
              <a:t>, Interspeech’15][</a:t>
            </a:r>
            <a:r>
              <a:rPr lang="en-US" altLang="zh-TW" dirty="0" err="1"/>
              <a:t>Jie</a:t>
            </a:r>
            <a:r>
              <a:rPr lang="en-US" altLang="zh-TW" dirty="0"/>
              <a:t> Li, Interspeech’15][Andrew Senior, ASRU’15]</a:t>
            </a:r>
          </a:p>
          <a:p>
            <a:endParaRPr lang="en-US" altLang="zh-TW" dirty="0"/>
          </a:p>
        </p:txBody>
      </p:sp>
      <p:grpSp>
        <p:nvGrpSpPr>
          <p:cNvPr id="21" name="群組 20"/>
          <p:cNvGrpSpPr/>
          <p:nvPr/>
        </p:nvGrpSpPr>
        <p:grpSpPr>
          <a:xfrm>
            <a:off x="1955370" y="3759967"/>
            <a:ext cx="3421870" cy="461665"/>
            <a:chOff x="855154" y="4239504"/>
            <a:chExt cx="3421870" cy="461665"/>
          </a:xfrm>
        </p:grpSpPr>
        <p:sp>
          <p:nvSpPr>
            <p:cNvPr id="5" name="文字方塊 4"/>
            <p:cNvSpPr txBox="1"/>
            <p:nvPr/>
          </p:nvSpPr>
          <p:spPr>
            <a:xfrm>
              <a:off x="855154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/>
                <a:t>好</a:t>
              </a:r>
              <a:endParaRPr lang="zh-TW" altLang="en-US" sz="2400" baseline="30000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1272023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688892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105761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/>
                <a:t>棒</a:t>
              </a:r>
              <a:endParaRPr lang="zh-TW" altLang="en-US" sz="2400" baseline="30000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2522630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39499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356368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773237" y="4239504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949370" y="3767014"/>
            <a:ext cx="3421870" cy="461665"/>
            <a:chOff x="855154" y="5208233"/>
            <a:chExt cx="3421870" cy="461665"/>
          </a:xfrm>
        </p:grpSpPr>
        <p:sp>
          <p:nvSpPr>
            <p:cNvPr id="13" name="文字方塊 12"/>
            <p:cNvSpPr txBox="1"/>
            <p:nvPr/>
          </p:nvSpPr>
          <p:spPr>
            <a:xfrm>
              <a:off x="855154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/>
                <a:t>好</a:t>
              </a:r>
              <a:endParaRPr lang="zh-TW" altLang="en-US" sz="2400" baseline="300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1272023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1688892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2105761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/>
                <a:t>棒</a:t>
              </a:r>
              <a:endParaRPr lang="zh-TW" altLang="en-US" sz="2400" baseline="30000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2522630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2939499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/>
                <a:t>棒</a:t>
              </a:r>
              <a:endParaRPr lang="zh-TW" altLang="en-US" sz="2400" baseline="30000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356368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773237" y="5208233"/>
              <a:ext cx="5037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altLang="zh-TW" sz="2400" dirty="0"/>
                <a:t>φ</a:t>
              </a:r>
              <a:endParaRPr lang="zh-TW" altLang="en-US" sz="2400" baseline="30000" dirty="0"/>
            </a:p>
          </p:txBody>
        </p:sp>
      </p:grpSp>
      <p:sp>
        <p:nvSpPr>
          <p:cNvPr id="28" name="矩形 27"/>
          <p:cNvSpPr/>
          <p:nvPr/>
        </p:nvSpPr>
        <p:spPr>
          <a:xfrm>
            <a:off x="2062543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2483392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2904241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3325090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3745939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4166788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4587637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5008489" y="4730804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2183775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2607181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3030587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3453993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3877399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V="1">
            <a:off x="4300805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V="1">
            <a:off x="4724211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5147615" y="4287370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7071633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7492482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7913331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8334180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8755029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9175878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9596727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10017579" y="4739580"/>
            <a:ext cx="231894" cy="6698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單箭頭接點 66"/>
          <p:cNvCxnSpPr/>
          <p:nvPr/>
        </p:nvCxnSpPr>
        <p:spPr>
          <a:xfrm flipV="1">
            <a:off x="7192865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7616271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V="1">
            <a:off x="8039677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8463083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8886489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9309895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9733301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V="1">
            <a:off x="10156705" y="4296146"/>
            <a:ext cx="0" cy="40856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/>
          <p:cNvSpPr txBox="1"/>
          <p:nvPr/>
        </p:nvSpPr>
        <p:spPr>
          <a:xfrm>
            <a:off x="2887936" y="2796177"/>
            <a:ext cx="1385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“</a:t>
            </a:r>
            <a:r>
              <a:rPr lang="zh-TW" altLang="en-US" sz="2400" dirty="0"/>
              <a:t>好棒</a:t>
            </a:r>
            <a:r>
              <a:rPr lang="en-US" altLang="zh-TW" sz="2400" dirty="0"/>
              <a:t>”</a:t>
            </a:r>
            <a:endParaRPr lang="zh-TW" altLang="en-US" sz="2400" dirty="0"/>
          </a:p>
        </p:txBody>
      </p:sp>
      <p:sp>
        <p:nvSpPr>
          <p:cNvPr id="90" name="向下箭號 89"/>
          <p:cNvSpPr/>
          <p:nvPr/>
        </p:nvSpPr>
        <p:spPr>
          <a:xfrm flipV="1">
            <a:off x="3341834" y="3311643"/>
            <a:ext cx="477301" cy="455371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文字方塊 90"/>
          <p:cNvSpPr txBox="1"/>
          <p:nvPr/>
        </p:nvSpPr>
        <p:spPr>
          <a:xfrm>
            <a:off x="7955291" y="2743201"/>
            <a:ext cx="1385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“</a:t>
            </a:r>
            <a:r>
              <a:rPr lang="zh-TW" altLang="en-US" sz="2400" dirty="0"/>
              <a:t>好棒棒</a:t>
            </a:r>
            <a:r>
              <a:rPr lang="en-US" altLang="zh-TW" sz="2400" dirty="0"/>
              <a:t>”</a:t>
            </a:r>
            <a:endParaRPr lang="zh-TW" altLang="en-US" sz="2400" dirty="0"/>
          </a:p>
        </p:txBody>
      </p:sp>
      <p:sp>
        <p:nvSpPr>
          <p:cNvPr id="92" name="向下箭號 91"/>
          <p:cNvSpPr/>
          <p:nvPr/>
        </p:nvSpPr>
        <p:spPr>
          <a:xfrm flipV="1">
            <a:off x="8409189" y="3258666"/>
            <a:ext cx="477301" cy="45443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3" name="直線接點 92"/>
          <p:cNvCxnSpPr/>
          <p:nvPr/>
        </p:nvCxnSpPr>
        <p:spPr>
          <a:xfrm>
            <a:off x="2483393" y="4010520"/>
            <a:ext cx="681369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3730961" y="4029525"/>
            <a:ext cx="152307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7480137" y="4038301"/>
            <a:ext cx="665089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8720217" y="4062664"/>
            <a:ext cx="33254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644509" y="4062664"/>
            <a:ext cx="665089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群組 106"/>
          <p:cNvGrpSpPr>
            <a:grpSpLocks/>
          </p:cNvGrpSpPr>
          <p:nvPr/>
        </p:nvGrpSpPr>
        <p:grpSpPr bwMode="auto">
          <a:xfrm>
            <a:off x="2159230" y="5594027"/>
            <a:ext cx="3173419" cy="457065"/>
            <a:chOff x="467932" y="3914400"/>
            <a:chExt cx="2909888" cy="576263"/>
          </a:xfrm>
        </p:grpSpPr>
        <p:pic>
          <p:nvPicPr>
            <p:cNvPr id="76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932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807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" name="群組 106"/>
          <p:cNvGrpSpPr>
            <a:grpSpLocks/>
          </p:cNvGrpSpPr>
          <p:nvPr/>
        </p:nvGrpSpPr>
        <p:grpSpPr bwMode="auto">
          <a:xfrm>
            <a:off x="7056718" y="5573887"/>
            <a:ext cx="3173419" cy="457065"/>
            <a:chOff x="467932" y="3914400"/>
            <a:chExt cx="2909888" cy="576263"/>
          </a:xfrm>
        </p:grpSpPr>
        <p:pic>
          <p:nvPicPr>
            <p:cNvPr id="79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932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807" y="3914400"/>
              <a:ext cx="1624013" cy="57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文本框 3"/>
          <p:cNvSpPr txBox="1"/>
          <p:nvPr/>
        </p:nvSpPr>
        <p:spPr>
          <a:xfrm>
            <a:off x="5254032" y="279617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语音识别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07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89" grpId="0"/>
      <p:bldP spid="90" grpId="0" animBg="1"/>
      <p:bldP spid="91" grpId="0"/>
      <p:bldP spid="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应用到机器学习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异步的序列到序列模式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8339D1-DBF6-4ABF-91DB-541845D4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743200"/>
            <a:ext cx="6647229" cy="152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05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4131806" y="4570755"/>
            <a:ext cx="461665" cy="1413164"/>
            <a:chOff x="2700170" y="5157068"/>
            <a:chExt cx="461665" cy="1413164"/>
          </a:xfrm>
        </p:grpSpPr>
        <p:sp>
          <p:nvSpPr>
            <p:cNvPr id="11" name="矩形 10"/>
            <p:cNvSpPr/>
            <p:nvPr/>
          </p:nvSpPr>
          <p:spPr>
            <a:xfrm>
              <a:off x="2750045" y="5231884"/>
              <a:ext cx="299260" cy="12718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 rot="5400000">
              <a:off x="2224421" y="5632817"/>
              <a:ext cx="1413164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learning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异步的序列到序列模式</a:t>
            </a:r>
            <a:r>
              <a:rPr lang="en-US" altLang="zh-CN" dirty="0"/>
              <a:t>-</a:t>
            </a:r>
            <a:r>
              <a:rPr lang="zh-CN" altLang="en-US" dirty="0"/>
              <a:t>案例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机器翻译</a:t>
            </a:r>
            <a:endParaRPr lang="zh-TW" altLang="en-US"/>
          </a:p>
          <a:p>
            <a:endParaRPr lang="zh-TW" altLang="en-US" dirty="0"/>
          </a:p>
        </p:txBody>
      </p:sp>
      <p:grpSp>
        <p:nvGrpSpPr>
          <p:cNvPr id="8" name="群組 7"/>
          <p:cNvGrpSpPr/>
          <p:nvPr/>
        </p:nvGrpSpPr>
        <p:grpSpPr>
          <a:xfrm>
            <a:off x="3164750" y="4570756"/>
            <a:ext cx="461665" cy="1413164"/>
            <a:chOff x="1417239" y="5157069"/>
            <a:chExt cx="461665" cy="1413164"/>
          </a:xfrm>
        </p:grpSpPr>
        <p:sp>
          <p:nvSpPr>
            <p:cNvPr id="5" name="矩形 4"/>
            <p:cNvSpPr/>
            <p:nvPr/>
          </p:nvSpPr>
          <p:spPr>
            <a:xfrm>
              <a:off x="1467114" y="5231885"/>
              <a:ext cx="299260" cy="12718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 rot="5400000">
              <a:off x="941490" y="5632818"/>
              <a:ext cx="1413164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chemeClr val="tx1"/>
                  </a:solidFill>
                </a:rPr>
                <a:t>machine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3164749" y="3662152"/>
            <a:ext cx="461666" cy="6058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123674" y="3662151"/>
            <a:ext cx="465153" cy="6058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086085" y="3662151"/>
            <a:ext cx="465153" cy="6058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048496" y="3662151"/>
            <a:ext cx="465153" cy="6058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0907" y="3662151"/>
            <a:ext cx="465153" cy="6058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137807" y="2626532"/>
            <a:ext cx="465153" cy="6654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7005586" y="2613967"/>
            <a:ext cx="465153" cy="6775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056057" y="2730092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机</a:t>
            </a:r>
            <a:endParaRPr lang="zh-TW" altLang="en-US" sz="24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6910544" y="2729641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习</a:t>
            </a:r>
            <a:endParaRPr lang="zh-TW" altLang="en-US" sz="2400" dirty="0"/>
          </a:p>
        </p:txBody>
      </p:sp>
      <p:cxnSp>
        <p:nvCxnSpPr>
          <p:cNvPr id="2048" name="直線單箭頭接點 2047"/>
          <p:cNvCxnSpPr/>
          <p:nvPr/>
        </p:nvCxnSpPr>
        <p:spPr>
          <a:xfrm flipV="1">
            <a:off x="3410984" y="4258046"/>
            <a:ext cx="0" cy="3127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flipV="1">
            <a:off x="4366336" y="4258046"/>
            <a:ext cx="0" cy="3127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4375776" y="3330828"/>
            <a:ext cx="0" cy="312708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4984659" y="2632514"/>
            <a:ext cx="628650" cy="1029120"/>
            <a:chOff x="3859511" y="3051365"/>
            <a:chExt cx="628650" cy="1029120"/>
          </a:xfrm>
        </p:grpSpPr>
        <p:sp>
          <p:nvSpPr>
            <p:cNvPr id="40" name="矩形 39"/>
            <p:cNvSpPr/>
            <p:nvPr/>
          </p:nvSpPr>
          <p:spPr>
            <a:xfrm>
              <a:off x="3941260" y="3051365"/>
              <a:ext cx="465153" cy="67759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3859511" y="3171950"/>
              <a:ext cx="628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dirty="0"/>
                <a:t>器</a:t>
              </a:r>
            </a:p>
          </p:txBody>
        </p:sp>
        <p:cxnSp>
          <p:nvCxnSpPr>
            <p:cNvPr id="53" name="直線單箭頭接點 52"/>
            <p:cNvCxnSpPr/>
            <p:nvPr/>
          </p:nvCxnSpPr>
          <p:spPr>
            <a:xfrm flipV="1">
              <a:off x="4179230" y="3767777"/>
              <a:ext cx="0" cy="312708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5940260" y="2594165"/>
            <a:ext cx="628650" cy="1012422"/>
            <a:chOff x="4815276" y="3051365"/>
            <a:chExt cx="628650" cy="1012422"/>
          </a:xfrm>
        </p:grpSpPr>
        <p:sp>
          <p:nvSpPr>
            <p:cNvPr id="41" name="矩形 40"/>
            <p:cNvSpPr/>
            <p:nvPr/>
          </p:nvSpPr>
          <p:spPr>
            <a:xfrm>
              <a:off x="4903671" y="3051365"/>
              <a:ext cx="465153" cy="67759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4815276" y="3167039"/>
              <a:ext cx="628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学</a:t>
              </a:r>
              <a:endParaRPr lang="zh-TW" altLang="en-US" sz="2400" dirty="0"/>
            </a:p>
          </p:txBody>
        </p:sp>
        <p:cxnSp>
          <p:nvCxnSpPr>
            <p:cNvPr id="54" name="直線單箭頭接點 53"/>
            <p:cNvCxnSpPr/>
            <p:nvPr/>
          </p:nvCxnSpPr>
          <p:spPr>
            <a:xfrm flipV="1">
              <a:off x="5141641" y="3751079"/>
              <a:ext cx="0" cy="312708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直線單箭頭接點 54"/>
          <p:cNvCxnSpPr/>
          <p:nvPr/>
        </p:nvCxnSpPr>
        <p:spPr>
          <a:xfrm flipV="1">
            <a:off x="7256408" y="3330379"/>
            <a:ext cx="0" cy="312708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3644715" y="3948592"/>
            <a:ext cx="478958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4595136" y="3951367"/>
            <a:ext cx="47895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5562182" y="3954142"/>
            <a:ext cx="47895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512596" y="3956917"/>
            <a:ext cx="47895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8001888" y="3662151"/>
            <a:ext cx="465153" cy="6058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967071" y="2626083"/>
            <a:ext cx="465153" cy="6654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7872029" y="2729641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。</a:t>
            </a:r>
            <a:endParaRPr lang="zh-TW" altLang="en-US" sz="2400" dirty="0"/>
          </a:p>
        </p:txBody>
      </p:sp>
      <p:cxnSp>
        <p:nvCxnSpPr>
          <p:cNvPr id="48" name="直線單箭頭接點 47"/>
          <p:cNvCxnSpPr/>
          <p:nvPr/>
        </p:nvCxnSpPr>
        <p:spPr>
          <a:xfrm flipV="1">
            <a:off x="8205040" y="3313681"/>
            <a:ext cx="0" cy="312708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7503577" y="3956917"/>
            <a:ext cx="478958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手繪多邊形 6"/>
          <p:cNvSpPr/>
          <p:nvPr/>
        </p:nvSpPr>
        <p:spPr>
          <a:xfrm>
            <a:off x="4572000" y="2971800"/>
            <a:ext cx="742950" cy="1853860"/>
          </a:xfrm>
          <a:custGeom>
            <a:avLst/>
            <a:gdLst>
              <a:gd name="connsiteX0" fmla="*/ 0 w 742950"/>
              <a:gd name="connsiteY0" fmla="*/ 0 h 1853860"/>
              <a:gd name="connsiteX1" fmla="*/ 247650 w 742950"/>
              <a:gd name="connsiteY1" fmla="*/ 438150 h 1853860"/>
              <a:gd name="connsiteX2" fmla="*/ 285750 w 742950"/>
              <a:gd name="connsiteY2" fmla="*/ 1638300 h 1853860"/>
              <a:gd name="connsiteX3" fmla="*/ 552450 w 742950"/>
              <a:gd name="connsiteY3" fmla="*/ 1828800 h 1853860"/>
              <a:gd name="connsiteX4" fmla="*/ 742950 w 742950"/>
              <a:gd name="connsiteY4" fmla="*/ 1333500 h 185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1853860">
                <a:moveTo>
                  <a:pt x="0" y="0"/>
                </a:moveTo>
                <a:cubicBezTo>
                  <a:pt x="100012" y="82550"/>
                  <a:pt x="200025" y="165100"/>
                  <a:pt x="247650" y="438150"/>
                </a:cubicBezTo>
                <a:cubicBezTo>
                  <a:pt x="295275" y="711200"/>
                  <a:pt x="234950" y="1406525"/>
                  <a:pt x="285750" y="1638300"/>
                </a:cubicBezTo>
                <a:cubicBezTo>
                  <a:pt x="336550" y="1870075"/>
                  <a:pt x="476250" y="1879600"/>
                  <a:pt x="552450" y="1828800"/>
                </a:cubicBezTo>
                <a:cubicBezTo>
                  <a:pt x="628650" y="1778000"/>
                  <a:pt x="685800" y="1555750"/>
                  <a:pt x="742950" y="13335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手繪多邊形 88"/>
          <p:cNvSpPr/>
          <p:nvPr/>
        </p:nvSpPr>
        <p:spPr>
          <a:xfrm>
            <a:off x="5542078" y="2952762"/>
            <a:ext cx="742950" cy="1853860"/>
          </a:xfrm>
          <a:custGeom>
            <a:avLst/>
            <a:gdLst>
              <a:gd name="connsiteX0" fmla="*/ 0 w 742950"/>
              <a:gd name="connsiteY0" fmla="*/ 0 h 1853860"/>
              <a:gd name="connsiteX1" fmla="*/ 247650 w 742950"/>
              <a:gd name="connsiteY1" fmla="*/ 438150 h 1853860"/>
              <a:gd name="connsiteX2" fmla="*/ 285750 w 742950"/>
              <a:gd name="connsiteY2" fmla="*/ 1638300 h 1853860"/>
              <a:gd name="connsiteX3" fmla="*/ 552450 w 742950"/>
              <a:gd name="connsiteY3" fmla="*/ 1828800 h 1853860"/>
              <a:gd name="connsiteX4" fmla="*/ 742950 w 742950"/>
              <a:gd name="connsiteY4" fmla="*/ 1333500 h 185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1853860">
                <a:moveTo>
                  <a:pt x="0" y="0"/>
                </a:moveTo>
                <a:cubicBezTo>
                  <a:pt x="100012" y="82550"/>
                  <a:pt x="200025" y="165100"/>
                  <a:pt x="247650" y="438150"/>
                </a:cubicBezTo>
                <a:cubicBezTo>
                  <a:pt x="295275" y="711200"/>
                  <a:pt x="234950" y="1406525"/>
                  <a:pt x="285750" y="1638300"/>
                </a:cubicBezTo>
                <a:cubicBezTo>
                  <a:pt x="336550" y="1870075"/>
                  <a:pt x="476250" y="1879600"/>
                  <a:pt x="552450" y="1828800"/>
                </a:cubicBezTo>
                <a:cubicBezTo>
                  <a:pt x="628650" y="1778000"/>
                  <a:pt x="685800" y="1555750"/>
                  <a:pt x="742950" y="13335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手繪多邊形 89"/>
          <p:cNvSpPr/>
          <p:nvPr/>
        </p:nvSpPr>
        <p:spPr>
          <a:xfrm>
            <a:off x="6513458" y="2971800"/>
            <a:ext cx="742950" cy="1853860"/>
          </a:xfrm>
          <a:custGeom>
            <a:avLst/>
            <a:gdLst>
              <a:gd name="connsiteX0" fmla="*/ 0 w 742950"/>
              <a:gd name="connsiteY0" fmla="*/ 0 h 1853860"/>
              <a:gd name="connsiteX1" fmla="*/ 247650 w 742950"/>
              <a:gd name="connsiteY1" fmla="*/ 438150 h 1853860"/>
              <a:gd name="connsiteX2" fmla="*/ 285750 w 742950"/>
              <a:gd name="connsiteY2" fmla="*/ 1638300 h 1853860"/>
              <a:gd name="connsiteX3" fmla="*/ 552450 w 742950"/>
              <a:gd name="connsiteY3" fmla="*/ 1828800 h 1853860"/>
              <a:gd name="connsiteX4" fmla="*/ 742950 w 742950"/>
              <a:gd name="connsiteY4" fmla="*/ 1333500 h 185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1853860">
                <a:moveTo>
                  <a:pt x="0" y="0"/>
                </a:moveTo>
                <a:cubicBezTo>
                  <a:pt x="100012" y="82550"/>
                  <a:pt x="200025" y="165100"/>
                  <a:pt x="247650" y="438150"/>
                </a:cubicBezTo>
                <a:cubicBezTo>
                  <a:pt x="295275" y="711200"/>
                  <a:pt x="234950" y="1406525"/>
                  <a:pt x="285750" y="1638300"/>
                </a:cubicBezTo>
                <a:cubicBezTo>
                  <a:pt x="336550" y="1870075"/>
                  <a:pt x="476250" y="1879600"/>
                  <a:pt x="552450" y="1828800"/>
                </a:cubicBezTo>
                <a:cubicBezTo>
                  <a:pt x="628650" y="1778000"/>
                  <a:pt x="685800" y="1555750"/>
                  <a:pt x="742950" y="13335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手繪多邊形 90"/>
          <p:cNvSpPr/>
          <p:nvPr/>
        </p:nvSpPr>
        <p:spPr>
          <a:xfrm>
            <a:off x="7484924" y="2929420"/>
            <a:ext cx="742950" cy="1853860"/>
          </a:xfrm>
          <a:custGeom>
            <a:avLst/>
            <a:gdLst>
              <a:gd name="connsiteX0" fmla="*/ 0 w 742950"/>
              <a:gd name="connsiteY0" fmla="*/ 0 h 1853860"/>
              <a:gd name="connsiteX1" fmla="*/ 247650 w 742950"/>
              <a:gd name="connsiteY1" fmla="*/ 438150 h 1853860"/>
              <a:gd name="connsiteX2" fmla="*/ 285750 w 742950"/>
              <a:gd name="connsiteY2" fmla="*/ 1638300 h 1853860"/>
              <a:gd name="connsiteX3" fmla="*/ 552450 w 742950"/>
              <a:gd name="connsiteY3" fmla="*/ 1828800 h 1853860"/>
              <a:gd name="connsiteX4" fmla="*/ 742950 w 742950"/>
              <a:gd name="connsiteY4" fmla="*/ 1333500 h 185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2950" h="1853860">
                <a:moveTo>
                  <a:pt x="0" y="0"/>
                </a:moveTo>
                <a:cubicBezTo>
                  <a:pt x="100012" y="82550"/>
                  <a:pt x="200025" y="165100"/>
                  <a:pt x="247650" y="438150"/>
                </a:cubicBezTo>
                <a:cubicBezTo>
                  <a:pt x="295275" y="711200"/>
                  <a:pt x="234950" y="1406525"/>
                  <a:pt x="285750" y="1638300"/>
                </a:cubicBezTo>
                <a:cubicBezTo>
                  <a:pt x="336550" y="1870075"/>
                  <a:pt x="476250" y="1879600"/>
                  <a:pt x="552450" y="1828800"/>
                </a:cubicBezTo>
                <a:cubicBezTo>
                  <a:pt x="628650" y="1778000"/>
                  <a:pt x="685800" y="1555750"/>
                  <a:pt x="742950" y="133350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13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39" grpId="0" animBg="1"/>
      <p:bldP spid="42" grpId="0" animBg="1"/>
      <p:bldP spid="22" grpId="0"/>
      <p:bldP spid="47" grpId="0"/>
      <p:bldP spid="38" grpId="0" animBg="1"/>
      <p:bldP spid="43" grpId="0" animBg="1"/>
      <p:bldP spid="44" grpId="0"/>
      <p:bldP spid="7" grpId="0" animBg="1"/>
      <p:bldP spid="89" grpId="0" animBg="1"/>
      <p:bldP spid="90" grpId="0" animBg="1"/>
      <p:bldP spid="9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4.4</a:t>
            </a:r>
            <a:r>
              <a:rPr lang="zh-CN" altLang="en-US" dirty="0"/>
              <a:t>参数学习与长程依赖问题</a:t>
            </a:r>
          </a:p>
        </p:txBody>
      </p:sp>
    </p:spTree>
    <p:extLst>
      <p:ext uri="{BB962C8B-B14F-4D97-AF65-F5344CB8AC3E}">
        <p14:creationId xmlns:p14="http://schemas.microsoft.com/office/powerpoint/2010/main" val="288395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endParaRPr lang="en-US" altLang="zh-CN" dirty="0"/>
          </a:p>
          <a:p>
            <a:pPr lvl="1"/>
            <a:r>
              <a:rPr lang="zh-CN" altLang="en-US" dirty="0"/>
              <a:t>给定一个训练样本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，其中</a:t>
            </a:r>
            <a:endParaRPr lang="en-US" altLang="zh-CN" dirty="0"/>
          </a:p>
          <a:p>
            <a:pPr lvl="2"/>
            <a:r>
              <a:rPr lang="en-US" altLang="zh-CN" dirty="0"/>
              <a:t>x = (x1 ,… ,</a:t>
            </a:r>
            <a:r>
              <a:rPr lang="en-US" altLang="zh-CN" dirty="0" err="1"/>
              <a:t>xT</a:t>
            </a:r>
            <a:r>
              <a:rPr lang="en-US" altLang="zh-CN" dirty="0"/>
              <a:t> )</a:t>
            </a:r>
            <a:r>
              <a:rPr lang="zh-CN" altLang="en-US" dirty="0"/>
              <a:t>为长度是</a:t>
            </a:r>
            <a:r>
              <a:rPr lang="en-US" altLang="zh-CN" dirty="0"/>
              <a:t>T </a:t>
            </a:r>
            <a:r>
              <a:rPr lang="zh-CN" altLang="en-US" dirty="0"/>
              <a:t>的输入序列，</a:t>
            </a:r>
            <a:endParaRPr lang="en-US" altLang="zh-CN" dirty="0"/>
          </a:p>
          <a:p>
            <a:pPr lvl="2"/>
            <a:r>
              <a:rPr lang="en-US" altLang="zh-CN" dirty="0"/>
              <a:t>y = (y1 ,… ,</a:t>
            </a:r>
            <a:r>
              <a:rPr lang="en-US" altLang="zh-CN" dirty="0" err="1"/>
              <a:t>yT</a:t>
            </a:r>
            <a:r>
              <a:rPr lang="en-US" altLang="zh-CN" dirty="0"/>
              <a:t> )</a:t>
            </a:r>
            <a:r>
              <a:rPr lang="zh-CN" altLang="en-US" dirty="0"/>
              <a:t>是长度为</a:t>
            </a:r>
            <a:r>
              <a:rPr lang="en-US" altLang="zh-CN" dirty="0"/>
              <a:t>T </a:t>
            </a:r>
            <a:r>
              <a:rPr lang="zh-CN" altLang="en-US" dirty="0"/>
              <a:t>的标签序列。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时刻</a:t>
            </a:r>
            <a:r>
              <a:rPr lang="en-US" altLang="zh-CN" dirty="0"/>
              <a:t>t</a:t>
            </a:r>
            <a:r>
              <a:rPr lang="zh-CN" altLang="en-US" dirty="0"/>
              <a:t>的瞬时损失函数为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总损失函数</a:t>
            </a:r>
          </a:p>
        </p:txBody>
      </p:sp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717" y="4638667"/>
            <a:ext cx="1400370" cy="781159"/>
          </a:xfrm>
          <a:prstGeom prst="rect">
            <a:avLst/>
          </a:prstGeom>
        </p:spPr>
      </p:pic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319235"/>
            <a:ext cx="2724605" cy="5576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CCA777-187D-CF41-855C-51ABA7043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205" y="1144459"/>
            <a:ext cx="49784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50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长程依赖问题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循环神经网络</a:t>
            </a:r>
            <a:r>
              <a:rPr lang="zh-CN" altLang="en-US" u="sng" dirty="0"/>
              <a:t>在时间维度上非常深</a:t>
            </a:r>
            <a:r>
              <a:rPr lang="zh-CN" altLang="en-US" dirty="0"/>
              <a:t>！</a:t>
            </a:r>
            <a:endParaRPr lang="en-US" altLang="zh-CN" dirty="0"/>
          </a:p>
          <a:p>
            <a:pPr lvl="1"/>
            <a:r>
              <a:rPr lang="zh-CN" altLang="en-US" dirty="0"/>
              <a:t>梯度消失或梯度爆炸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如何改进？</a:t>
            </a:r>
            <a:endParaRPr lang="en-US" altLang="zh-CN" dirty="0"/>
          </a:p>
          <a:p>
            <a:pPr lvl="1"/>
            <a:r>
              <a:rPr lang="zh-CN" altLang="en-US" dirty="0"/>
              <a:t>梯度爆炸问题</a:t>
            </a:r>
            <a:endParaRPr lang="en-US" altLang="zh-CN" dirty="0"/>
          </a:p>
          <a:p>
            <a:pPr lvl="2"/>
            <a:r>
              <a:rPr lang="zh-CN" altLang="en-US" dirty="0"/>
              <a:t>权重衰减</a:t>
            </a:r>
            <a:endParaRPr lang="en-US" altLang="zh-CN" dirty="0"/>
          </a:p>
          <a:p>
            <a:pPr lvl="2"/>
            <a:r>
              <a:rPr lang="zh-CN" altLang="en-US" dirty="0"/>
              <a:t>梯度截断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梯度消失问题</a:t>
            </a:r>
            <a:endParaRPr lang="en-US" altLang="zh-CN" dirty="0"/>
          </a:p>
          <a:p>
            <a:pPr lvl="2"/>
            <a:r>
              <a:rPr lang="zh-CN" altLang="en-US" dirty="0"/>
              <a:t>改进模型：门控机制</a:t>
            </a:r>
            <a:endParaRPr lang="en-US" altLang="zh-CN" dirty="0"/>
          </a:p>
          <a:p>
            <a:pPr lvl="3"/>
            <a:r>
              <a:rPr lang="en-US" altLang="zh-CN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3269600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10AFF-0F98-38D0-1B0F-B5423456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 VS. RNN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BA8B2-15D4-5B84-D751-CCB65F921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1353800" cy="5410200"/>
          </a:xfrm>
        </p:spPr>
        <p:txBody>
          <a:bodyPr/>
          <a:lstStyle/>
          <a:p>
            <a:r>
              <a:rPr kumimoji="1" lang="en-US" altLang="zh-CN" dirty="0"/>
              <a:t>RNN</a:t>
            </a:r>
            <a:r>
              <a:rPr kumimoji="1" lang="zh-CN" altLang="en-US" dirty="0"/>
              <a:t>对于需要查看前面信息来执行当前任务的情况表现良好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例如，如果我们试图预测 “</a:t>
            </a:r>
            <a:r>
              <a:rPr kumimoji="1" lang="en-US" altLang="zh-CN" dirty="0"/>
              <a:t>There are clouds in the </a:t>
            </a:r>
            <a:r>
              <a:rPr kumimoji="1" lang="en-US" altLang="zh-CN" u="sng" dirty="0"/>
              <a:t>sky</a:t>
            </a:r>
            <a:r>
              <a:rPr kumimoji="1" lang="en-US" altLang="zh-CN" dirty="0"/>
              <a:t>” </a:t>
            </a:r>
            <a:r>
              <a:rPr kumimoji="1" lang="zh-CN" altLang="en-US" dirty="0"/>
              <a:t>中的最后一个词 </a:t>
            </a:r>
            <a:r>
              <a:rPr kumimoji="1" lang="en-US" altLang="zh-CN" dirty="0"/>
              <a:t>– </a:t>
            </a:r>
            <a:r>
              <a:rPr kumimoji="1" lang="zh-CN" altLang="en-US" dirty="0"/>
              <a:t>很明显下一个词将是</a:t>
            </a:r>
            <a:r>
              <a:rPr kumimoji="1" lang="en-US" altLang="zh-CN" dirty="0"/>
              <a:t>sky</a:t>
            </a:r>
          </a:p>
          <a:p>
            <a:r>
              <a:rPr kumimoji="1" lang="zh-CN" altLang="en-US" dirty="0"/>
              <a:t>但是，有时候这种“距离”是非常远的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 “</a:t>
            </a:r>
            <a:r>
              <a:rPr kumimoji="1" lang="zh-CN" altLang="en-US" dirty="0"/>
              <a:t>我在苏州长大</a:t>
            </a:r>
            <a:r>
              <a:rPr kumimoji="1" lang="en-US" altLang="zh-CN" dirty="0"/>
              <a:t>… … </a:t>
            </a:r>
            <a:r>
              <a:rPr kumimoji="1" lang="zh-CN" altLang="en-US" dirty="0"/>
              <a:t>我会说流利的</a:t>
            </a:r>
            <a:r>
              <a:rPr kumimoji="1" lang="zh-CN" altLang="en-US" u="sng" dirty="0"/>
              <a:t>姑苏话</a:t>
            </a:r>
            <a:r>
              <a:rPr kumimoji="1" lang="en-US" altLang="zh-CN" dirty="0"/>
              <a:t>.”</a:t>
            </a:r>
            <a:endParaRPr kumimoji="1"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AC42E4-703A-124F-D088-A785D0FB4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114800"/>
            <a:ext cx="4400226" cy="202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34FA6BE-D46E-DD80-02E3-90F51AD936DD}"/>
              </a:ext>
            </a:extLst>
          </p:cNvPr>
          <p:cNvSpPr txBox="1"/>
          <p:nvPr/>
        </p:nvSpPr>
        <p:spPr>
          <a:xfrm>
            <a:off x="7086600" y="4285260"/>
            <a:ext cx="26704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随着这个“距离”的增加，循环神经网络变得无法学习连接信息！</a:t>
            </a:r>
          </a:p>
        </p:txBody>
      </p:sp>
    </p:spTree>
    <p:extLst>
      <p:ext uri="{BB962C8B-B14F-4D97-AF65-F5344CB8AC3E}">
        <p14:creationId xmlns:p14="http://schemas.microsoft.com/office/powerpoint/2010/main" val="510565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A8C8F-DBA6-1AF7-05C2-5E586232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 VS. RNN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C0587-C53D-4304-17A3-1EA00CACB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理论上来讲，</a:t>
            </a:r>
            <a:r>
              <a:rPr kumimoji="1" lang="en-US" altLang="zh-CN" dirty="0"/>
              <a:t>RNN</a:t>
            </a:r>
            <a:r>
              <a:rPr kumimoji="1" lang="zh-CN" altLang="en-US" dirty="0"/>
              <a:t>有能力处理这种长距离依赖关系（</a:t>
            </a:r>
            <a:r>
              <a:rPr kumimoji="1" lang="en-US" altLang="zh-CN" dirty="0"/>
              <a:t>“long-term dependencies”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很遗憾，在实践中，循环神经网络似乎无法学习这些参数。这个问题被</a:t>
            </a:r>
            <a:r>
              <a:rPr kumimoji="1" lang="en-US" altLang="zh-CN" dirty="0" err="1"/>
              <a:t>Hochreiter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1991</a:t>
            </a:r>
            <a:r>
              <a:rPr kumimoji="1" lang="zh-CN" altLang="en-US" dirty="0"/>
              <a:t>）和</a:t>
            </a:r>
            <a:r>
              <a:rPr kumimoji="1" lang="en-US" altLang="zh-CN" dirty="0" err="1"/>
              <a:t>Bengio</a:t>
            </a:r>
            <a:r>
              <a:rPr kumimoji="1" lang="zh-CN" altLang="en-US" dirty="0"/>
              <a:t>等人（</a:t>
            </a:r>
            <a:r>
              <a:rPr kumimoji="1" lang="en-US" altLang="zh-CN" dirty="0"/>
              <a:t>1994</a:t>
            </a:r>
            <a:r>
              <a:rPr kumimoji="1" lang="zh-CN" altLang="en-US" dirty="0"/>
              <a:t>）进行了深入研究。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幸运的是，</a:t>
            </a:r>
            <a:r>
              <a:rPr kumimoji="1" lang="en-US" altLang="zh-CN" dirty="0"/>
              <a:t>LSTM</a:t>
            </a:r>
            <a:r>
              <a:rPr kumimoji="1" lang="zh-CN" altLang="en-US" dirty="0"/>
              <a:t>不存在这个问题！</a:t>
            </a:r>
          </a:p>
        </p:txBody>
      </p:sp>
    </p:spTree>
    <p:extLst>
      <p:ext uri="{BB962C8B-B14F-4D97-AF65-F5344CB8AC3E}">
        <p14:creationId xmlns:p14="http://schemas.microsoft.com/office/powerpoint/2010/main" val="974865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BC22-D2EF-393B-66CC-C7A981EC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</a:t>
            </a:r>
            <a:r>
              <a:rPr kumimoji="1" lang="zh-CN" altLang="en-US" dirty="0"/>
              <a:t>（</a:t>
            </a:r>
            <a:r>
              <a:rPr kumimoji="1" lang="en-US" altLang="zh-CN" dirty="0"/>
              <a:t>Long Short Term Memory networks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9A4DC-F1F0-0C43-A51F-4B00F0920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LSTM</a:t>
            </a:r>
            <a:r>
              <a:rPr kumimoji="1" lang="zh-CN" altLang="en-US" dirty="0"/>
              <a:t>，由</a:t>
            </a:r>
            <a:r>
              <a:rPr kumimoji="1" lang="en-US" altLang="zh-CN" dirty="0" err="1"/>
              <a:t>Hochreiter</a:t>
            </a:r>
            <a:r>
              <a:rPr kumimoji="1" lang="en-US" altLang="zh-CN" dirty="0"/>
              <a:t> &amp; </a:t>
            </a:r>
            <a:r>
              <a:rPr kumimoji="1" lang="en-US" altLang="zh-CN" dirty="0" err="1"/>
              <a:t>Schmidhuber</a:t>
            </a:r>
            <a:r>
              <a:rPr kumimoji="1" lang="en-US" altLang="zh-CN" dirty="0"/>
              <a:t> (1997)</a:t>
            </a:r>
            <a:r>
              <a:rPr kumimoji="1" lang="zh-CN" altLang="en-US" dirty="0"/>
              <a:t>提出，是一种特殊的</a:t>
            </a:r>
            <a:r>
              <a:rPr kumimoji="1" lang="en-US" altLang="zh-CN" dirty="0"/>
              <a:t>RNN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能够处理长距离依赖问题</a:t>
            </a:r>
            <a:endParaRPr kumimoji="1" lang="en-US" altLang="zh-CN" dirty="0"/>
          </a:p>
          <a:p>
            <a:r>
              <a:rPr kumimoji="1" lang="zh-CN" altLang="en-US" dirty="0"/>
              <a:t>与</a:t>
            </a:r>
            <a:r>
              <a:rPr kumimoji="1" lang="en-US" altLang="zh-CN" dirty="0"/>
              <a:t>RNNs</a:t>
            </a:r>
            <a:r>
              <a:rPr kumimoji="1" lang="zh-CN" altLang="en-US" dirty="0"/>
              <a:t>类似</a:t>
            </a:r>
            <a:r>
              <a:rPr kumimoji="1" lang="en-US" altLang="zh-CN" dirty="0"/>
              <a:t>, </a:t>
            </a:r>
            <a:r>
              <a:rPr kumimoji="1" lang="zh-CN" altLang="en-US" dirty="0"/>
              <a:t>它们也是由一系列重复的模块组成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B913546-03F7-869F-1EF9-B16FCD28B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3124200"/>
            <a:ext cx="6477000" cy="242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5E50B36-4C95-9192-5E27-D1E465341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5548015"/>
            <a:ext cx="72644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33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70DDF0E-9AD4-0C48-A958-C685989A21DF}"/>
              </a:ext>
            </a:extLst>
          </p:cNvPr>
          <p:cNvSpPr txBox="1">
            <a:spLocks/>
          </p:cNvSpPr>
          <p:nvPr/>
        </p:nvSpPr>
        <p:spPr bwMode="auto">
          <a:xfrm>
            <a:off x="609600" y="990600"/>
            <a:ext cx="10972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53591" indent="-153591" algn="l" rtl="0" eaLnBrk="1" fontAlgn="base" hangingPunct="1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lang="en-US" altLang="zh-CN" sz="3200" kern="1200" baseline="0">
                <a:solidFill>
                  <a:srgbClr val="C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08075" indent="-153591" algn="l" rtl="0" eaLnBrk="1" fontAlgn="base" hangingPunct="1"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sz="2800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62558" indent="-128588" algn="l" rtl="0" eaLnBrk="1" fontAlgn="base" hangingPunct="1"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17042" indent="-128588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1525" indent="-128588" algn="l" rtl="0" eaLnBrk="1" fontAlgn="base" hangingPunct="1">
              <a:spcBef>
                <a:spcPts val="169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25830" indent="-102870" algn="l" rtl="0" eaLnBrk="1" latinLnBrk="0" hangingPunct="1">
              <a:spcBef>
                <a:spcPts val="169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8700" indent="-102870" algn="l" rtl="0" eaLnBrk="1" latinLnBrk="0" hangingPunct="1">
              <a:spcBef>
                <a:spcPts val="169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788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1570" indent="-102870" algn="l" rtl="0" eaLnBrk="1" latinLnBrk="0" hangingPunct="1">
              <a:spcBef>
                <a:spcPts val="169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788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34440" indent="-102870" algn="l" rtl="0" eaLnBrk="1" latinLnBrk="0" hangingPunct="1">
              <a:spcBef>
                <a:spcPts val="169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67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与</a:t>
            </a:r>
            <a:r>
              <a:rPr kumimoji="1" lang="en-US" altLang="zh-CN" dirty="0"/>
              <a:t>RNN</a:t>
            </a:r>
            <a:r>
              <a:rPr kumimoji="1" lang="zh-CN" altLang="en-US" dirty="0"/>
              <a:t>不同的是，它不是由单一的神经网络层组成，而是由四个层，以一种非常特殊的方式连接组成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923DFA6-1711-6727-B4CD-00E10A4F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</a:t>
            </a:r>
            <a:endParaRPr kumimoji="1"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1740AC8-E9D4-73F4-2884-0D673BF74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6800" y="5090886"/>
            <a:ext cx="7645400" cy="381000"/>
          </a:xfrm>
          <a:prstGeom prst="rect">
            <a:avLst/>
          </a:prstGeom>
        </p:spPr>
      </p:pic>
      <p:pic>
        <p:nvPicPr>
          <p:cNvPr id="7170" name="Picture 2" descr="A LSTM neural network.">
            <a:extLst>
              <a:ext uri="{FF2B5EF4-FFF2-40B4-BE49-F238E27FC236}">
                <a16:creationId xmlns:a16="http://schemas.microsoft.com/office/drawing/2014/main" id="{B0983F07-3A07-AAC5-2F8B-FE29A2183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2132499"/>
            <a:ext cx="7505700" cy="282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5F1D04-4B5D-0A48-5386-3E921C897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750" y="5548086"/>
            <a:ext cx="4762500" cy="85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89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02751-139F-9048-2652-437A5884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</a:t>
            </a:r>
            <a:r>
              <a:rPr kumimoji="1" lang="zh-CN" altLang="en-US" dirty="0"/>
              <a:t>核心思想</a:t>
            </a:r>
            <a:r>
              <a:rPr kumimoji="1" lang="en-US" altLang="zh-CN" dirty="0"/>
              <a:t>1/2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0BF1B-F2E3-BFA2-48D1-468C905CD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b="1" u="sng" dirty="0"/>
              <a:t>状态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cell state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允许信息仅经过少量更改就传递下去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F08326F-B77B-B005-9FE2-8063EDDFA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8" t="10443" r="27660" b="6890"/>
          <a:stretch/>
        </p:blipFill>
        <p:spPr bwMode="auto">
          <a:xfrm>
            <a:off x="3595687" y="2743200"/>
            <a:ext cx="50006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528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378D3-567B-C8E8-CCF8-E59ABF2F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</a:t>
            </a:r>
            <a:r>
              <a:rPr kumimoji="1" lang="zh-CN" altLang="en-US" dirty="0"/>
              <a:t>核心思想</a:t>
            </a:r>
            <a:r>
              <a:rPr kumimoji="1" lang="en-US" altLang="zh-CN" dirty="0"/>
              <a:t>2/2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3DC3E0-1D8D-7FBC-8204-450B4BB9A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u="sng" dirty="0"/>
              <a:t>门控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Gate</a:t>
            </a:r>
            <a:r>
              <a:rPr kumimoji="1" lang="zh-CN" altLang="en-US" dirty="0"/>
              <a:t>）：通过它向状态</a:t>
            </a:r>
            <a:r>
              <a:rPr kumimoji="1" lang="en-US" altLang="zh-CN" dirty="0"/>
              <a:t>C</a:t>
            </a:r>
            <a:r>
              <a:rPr kumimoji="1" lang="zh-CN" altLang="en-US" dirty="0"/>
              <a:t>中添加或删除信息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包含：</a:t>
            </a:r>
            <a:r>
              <a:rPr kumimoji="1" lang="en-US" altLang="zh-CN" dirty="0"/>
              <a:t> </a:t>
            </a:r>
            <a:r>
              <a:rPr kumimoji="1" lang="zh-CN" altLang="en-US" dirty="0"/>
              <a:t>一个</a:t>
            </a:r>
            <a:r>
              <a:rPr kumimoji="1" lang="en-US" altLang="zh-CN" u="sng" dirty="0"/>
              <a:t>sigmoid </a:t>
            </a:r>
            <a:r>
              <a:rPr kumimoji="1" lang="zh-CN" altLang="en-US" u="sng" dirty="0"/>
              <a:t>网络层和一个逐点乘法运算（</a:t>
            </a:r>
            <a:r>
              <a:rPr kumimoji="1" lang="en-US" altLang="zh-CN" u="sng" dirty="0"/>
              <a:t>pointwise multiplication</a:t>
            </a:r>
            <a:r>
              <a:rPr kumimoji="1" lang="zh-CN" altLang="en-US" u="sng" dirty="0"/>
              <a:t>）</a:t>
            </a:r>
            <a:endParaRPr kumimoji="1" lang="en-US" altLang="zh-C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092FC54-8997-65B6-5AC7-54170312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29000"/>
            <a:ext cx="952500" cy="116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2FEA409-23EB-DE34-B681-3EA371B8D03B}"/>
              </a:ext>
            </a:extLst>
          </p:cNvPr>
          <p:cNvSpPr txBox="1"/>
          <p:nvPr/>
        </p:nvSpPr>
        <p:spPr>
          <a:xfrm>
            <a:off x="4648200" y="32004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sigmoid </a:t>
            </a:r>
            <a:r>
              <a:rPr lang="zh-CN" altLang="en-US" dirty="0"/>
              <a:t>层输出介于 </a:t>
            </a:r>
            <a:r>
              <a:rPr lang="en-US" altLang="zh-CN" dirty="0"/>
              <a:t>0 </a:t>
            </a:r>
            <a:r>
              <a:rPr lang="zh-CN" altLang="en-US" dirty="0"/>
              <a:t>和 </a:t>
            </a:r>
            <a:r>
              <a:rPr lang="en-US" altLang="zh-CN" dirty="0"/>
              <a:t>1 </a:t>
            </a:r>
            <a:r>
              <a:rPr lang="zh-CN" altLang="en-US" dirty="0"/>
              <a:t>之间的数字，描述每个组件应允许多少通过。</a:t>
            </a:r>
            <a:r>
              <a:rPr lang="en-US" altLang="zh-CN" dirty="0"/>
              <a:t>0 </a:t>
            </a:r>
            <a:r>
              <a:rPr lang="zh-CN" altLang="en-US" dirty="0"/>
              <a:t>表示“不让任何内容通过”，而 </a:t>
            </a:r>
            <a:r>
              <a:rPr lang="en-US" altLang="zh-CN" dirty="0"/>
              <a:t>1 </a:t>
            </a:r>
            <a:r>
              <a:rPr lang="zh-CN" altLang="en-US" dirty="0"/>
              <a:t>表示“让所有内容通过！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LSTM </a:t>
            </a:r>
            <a:r>
              <a:rPr lang="zh-CN" altLang="en-US" dirty="0"/>
              <a:t>具有其中三个门，用于保护和控制细胞状态。</a:t>
            </a:r>
          </a:p>
        </p:txBody>
      </p:sp>
    </p:spTree>
    <p:extLst>
      <p:ext uri="{BB962C8B-B14F-4D97-AF65-F5344CB8AC3E}">
        <p14:creationId xmlns:p14="http://schemas.microsoft.com/office/powerpoint/2010/main" val="4222214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6F0B3-E9EF-2521-F186-CB953B78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Step-by-Step LSTM Walk-through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 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E8A42D-75C9-0DF4-CCEC-3102E2280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遗忘门</a:t>
            </a:r>
            <a:r>
              <a:rPr kumimoji="1" lang="en-US" altLang="zh-CN" dirty="0"/>
              <a:t>(forget gate layer</a:t>
            </a:r>
            <a:r>
              <a:rPr kumimoji="1" lang="zh-CN" altLang="en-US" dirty="0"/>
              <a:t>）：一个</a:t>
            </a:r>
            <a:r>
              <a:rPr kumimoji="1" lang="en-US" altLang="zh-CN" dirty="0"/>
              <a:t>sigmoid</a:t>
            </a:r>
            <a:r>
              <a:rPr kumimoji="1" lang="zh-CN" altLang="en-US" dirty="0"/>
              <a:t>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来决定我们要从上一层输出和新的输入中丢弃哪些信息</a:t>
            </a:r>
            <a:endParaRPr kumimoji="1" lang="en-US" altLang="zh-CN" dirty="0"/>
          </a:p>
          <a:p>
            <a:pPr marL="333970" lvl="2" indent="0">
              <a:buNone/>
            </a:pPr>
            <a:endParaRPr kumimoji="1" lang="en-US" altLang="zh-C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6D67910-651E-F6BE-0B32-EF6084892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86" y="2743200"/>
            <a:ext cx="7839027" cy="242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664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C2611-E081-0B56-69A4-837EFAE3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Step-by-Step LSTM Walk Through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 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F3C90-D0DE-D5C2-6202-6660DC44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输入门（</a:t>
            </a:r>
            <a:r>
              <a:rPr kumimoji="1" lang="en-US" altLang="zh-CN" dirty="0"/>
              <a:t>input gate layer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来决定我们要在</a:t>
            </a:r>
            <a:r>
              <a:rPr kumimoji="1" lang="en-US" altLang="zh-CN" dirty="0"/>
              <a:t>cell state</a:t>
            </a:r>
            <a:r>
              <a:rPr kumimoji="1" lang="zh-CN" altLang="en-US" dirty="0"/>
              <a:t>中存储哪些新信息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包括：一个</a:t>
            </a:r>
            <a:r>
              <a:rPr kumimoji="1" lang="en-US" altLang="zh-CN" dirty="0"/>
              <a:t>sigmoid</a:t>
            </a:r>
            <a:r>
              <a:rPr kumimoji="1" lang="zh-CN" altLang="en-US" dirty="0"/>
              <a:t>层（决定要更新哪些值），一个</a:t>
            </a:r>
            <a:r>
              <a:rPr kumimoji="1" lang="en-US" altLang="zh-CN" dirty="0"/>
              <a:t>tanh</a:t>
            </a:r>
            <a:r>
              <a:rPr kumimoji="1" lang="zh-CN" altLang="en-US" dirty="0"/>
              <a:t>层（生成一个新的值）；二者相乘，添加到</a:t>
            </a:r>
            <a:r>
              <a:rPr kumimoji="1" lang="en-US" altLang="zh-CN" dirty="0"/>
              <a:t>cell state</a:t>
            </a:r>
            <a:r>
              <a:rPr kumimoji="1" lang="zh-CN" altLang="en-US" dirty="0"/>
              <a:t>中</a:t>
            </a:r>
            <a:endParaRPr kumimoji="1" lang="en-US" altLang="zh-C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34F3946-E6ED-C025-43AF-B1CB8802B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352800"/>
            <a:ext cx="7010400" cy="216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993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C2611-E081-0B56-69A4-837EFAE3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Step-by-Step LSTM Walk Through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 3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F3C90-D0DE-D5C2-6202-6660DC44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更新细胞状态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DDAF13D-619D-F87D-DFC8-7F0173464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362200"/>
            <a:ext cx="9092857" cy="280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081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C2611-E081-0B56-69A4-837EFAE3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Step-by-Step LSTM Walk Through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 4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5F3C90-D0DE-D5C2-6202-6660DC44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输出门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包括：一个</a:t>
            </a:r>
            <a:r>
              <a:rPr kumimoji="1" lang="en-US" altLang="zh-CN" dirty="0"/>
              <a:t>sigmoid</a:t>
            </a:r>
            <a:r>
              <a:rPr kumimoji="1" lang="zh-CN" altLang="en-US" dirty="0"/>
              <a:t>层（前一层保留的状态信息），一个</a:t>
            </a:r>
            <a:r>
              <a:rPr kumimoji="1" lang="en-US" altLang="zh-CN" dirty="0"/>
              <a:t>tanh</a:t>
            </a:r>
            <a:r>
              <a:rPr kumimoji="1" lang="zh-CN" altLang="en-US" dirty="0"/>
              <a:t>层（将本层的细胞状态值挤压到</a:t>
            </a:r>
            <a:r>
              <a:rPr kumimoji="1" lang="en-US" altLang="zh-CN" dirty="0"/>
              <a:t>-1</a:t>
            </a:r>
            <a:r>
              <a:rPr kumimoji="1" lang="zh-CN" altLang="en-US" dirty="0"/>
              <a:t>到</a:t>
            </a:r>
            <a:r>
              <a:rPr kumimoji="1" lang="en-US" altLang="zh-CN" dirty="0"/>
              <a:t>1</a:t>
            </a:r>
            <a:r>
              <a:rPr kumimoji="1" lang="zh-CN" altLang="en-US" dirty="0"/>
              <a:t>之间）</a:t>
            </a:r>
            <a:endParaRPr kumimoji="1" lang="en-US" altLang="zh-CN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E00BCC7-87FC-9371-2FDF-8AF33E31E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048000"/>
            <a:ext cx="764827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406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C9341-7501-1E27-6E78-B34E1457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LSTM</a:t>
            </a:r>
            <a:r>
              <a:rPr kumimoji="1" lang="zh-CN" altLang="en-US" dirty="0"/>
              <a:t>变体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DE9B10-45EA-D597-DE42-3A5E14E60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比如，</a:t>
            </a:r>
            <a:r>
              <a:rPr kumimoji="1" lang="en-US" altLang="zh-CN" dirty="0"/>
              <a:t>Gated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RNNs by Yao, et al. (2015), Clockwork RNNs by </a:t>
            </a:r>
            <a:r>
              <a:rPr kumimoji="1" lang="en-US" altLang="zh-CN" dirty="0" err="1"/>
              <a:t>Koutnik</a:t>
            </a:r>
            <a:r>
              <a:rPr kumimoji="1" lang="en-US" altLang="zh-CN" dirty="0"/>
              <a:t>, et al. (2014)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r>
              <a:rPr kumimoji="1" lang="zh-CN" altLang="en-US" dirty="0"/>
              <a:t>还有人研究哪种变体更好，比如</a:t>
            </a:r>
            <a:r>
              <a:rPr kumimoji="1" lang="en-US" altLang="zh-CN" dirty="0" err="1"/>
              <a:t>Greff</a:t>
            </a:r>
            <a:r>
              <a:rPr kumimoji="1" lang="en-US" altLang="zh-CN" dirty="0"/>
              <a:t>, et al. (2015)</a:t>
            </a:r>
            <a:r>
              <a:rPr kumimoji="1" lang="zh-CN" altLang="en-US" dirty="0"/>
              <a:t>研究了</a:t>
            </a:r>
            <a:r>
              <a:rPr kumimoji="1" lang="en-US" altLang="zh-CN" dirty="0"/>
              <a:t>1</a:t>
            </a:r>
            <a:r>
              <a:rPr kumimoji="1" lang="zh-CN" altLang="en-US" dirty="0"/>
              <a:t>万多种</a:t>
            </a:r>
            <a:r>
              <a:rPr kumimoji="1" lang="en-US" altLang="zh-CN" dirty="0"/>
              <a:t>RNN</a:t>
            </a:r>
            <a:r>
              <a:rPr kumimoji="1" lang="zh-CN" altLang="en-US" dirty="0"/>
              <a:t>变种，但是发现它们基本一样，具体任务上一些比另一些好。</a:t>
            </a:r>
          </a:p>
        </p:txBody>
      </p:sp>
    </p:spTree>
    <p:extLst>
      <p:ext uri="{BB962C8B-B14F-4D97-AF65-F5344CB8AC3E}">
        <p14:creationId xmlns:p14="http://schemas.microsoft.com/office/powerpoint/2010/main" val="271302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C55CE-1CB8-4803-9833-3F584BDD3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4.5</a:t>
            </a:r>
            <a:r>
              <a:rPr kumimoji="1" lang="zh-CN" altLang="en-US" sz="2800" dirty="0"/>
              <a:t>深层循环神经网络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3528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堆叠循环神经网络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899005-4ABE-4F41-BECF-113F7BE93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192553"/>
            <a:ext cx="5815754" cy="247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08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双向循环神经网络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DE3618-E09F-4416-9130-5EEC9EAE2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209800"/>
            <a:ext cx="6021356" cy="256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41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6AF46-2243-5A44-A829-172E9AC2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循环神经网络小结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B27ADF-428A-B044-8EFB-F93B080A5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15" y="990600"/>
            <a:ext cx="10746074" cy="523077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46134DC-FA50-CB49-A39B-42F1959213FB}"/>
              </a:ext>
            </a:extLst>
          </p:cNvPr>
          <p:cNvSpPr txBox="1"/>
          <p:nvPr/>
        </p:nvSpPr>
        <p:spPr>
          <a:xfrm>
            <a:off x="6781800" y="419100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思考：如何增加循环神经网络的并行能力？</a:t>
            </a:r>
          </a:p>
        </p:txBody>
      </p:sp>
    </p:spTree>
    <p:extLst>
      <p:ext uri="{BB962C8B-B14F-4D97-AF65-F5344CB8AC3E}">
        <p14:creationId xmlns:p14="http://schemas.microsoft.com/office/powerpoint/2010/main" val="2567956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sz="2800" dirty="0"/>
              <a:t>4.6</a:t>
            </a:r>
            <a:r>
              <a:rPr kumimoji="1" lang="zh-CN" altLang="en-US" sz="2800" dirty="0"/>
              <a:t>循环网络应用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758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自然语言理解 → 一个句子的可能性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合理性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！在报那猫告做只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那只猫在作报告！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那个人在作报告！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一切都是概率</a:t>
                </a:r>
                <a:r>
                  <a:rPr lang="en-US" altLang="zh-CN" dirty="0"/>
                  <a:t>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389" t="-10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0183" y="1752600"/>
            <a:ext cx="260759" cy="2607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8052" y="2104267"/>
            <a:ext cx="265021" cy="2650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400" y="2513035"/>
            <a:ext cx="274320" cy="2743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6200" y="2252275"/>
            <a:ext cx="2955172" cy="19594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5521" y="5338163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元语言模型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53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A8D4E-BA47-4220-B66A-C8CA396F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语言模型</a:t>
            </a:r>
            <a:endParaRPr lang="zh-CN" altLang="en-US" dirty="0"/>
          </a:p>
        </p:txBody>
      </p:sp>
      <p:pic>
        <p:nvPicPr>
          <p:cNvPr id="1026" name="Picture 2" descr="Image result for rnn language model">
            <a:extLst>
              <a:ext uri="{FF2B5EF4-FFF2-40B4-BE49-F238E27FC236}">
                <a16:creationId xmlns:a16="http://schemas.microsoft.com/office/drawing/2014/main" id="{33024CCE-EB04-40AE-9B73-69AEEE553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1447801"/>
            <a:ext cx="6934200" cy="4783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566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</a:t>
            </a:r>
            <a:r>
              <a:rPr lang="en-US" altLang="zh-CN"/>
              <a:t>LINUX</a:t>
            </a:r>
            <a:r>
              <a:rPr lang="zh-CN" altLang="en-US"/>
              <a:t>内核代码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16" y="990600"/>
            <a:ext cx="6385967" cy="5410200"/>
          </a:xfrm>
        </p:spPr>
      </p:pic>
    </p:spTree>
    <p:extLst>
      <p:ext uri="{BB962C8B-B14F-4D97-AF65-F5344CB8AC3E}">
        <p14:creationId xmlns:p14="http://schemas.microsoft.com/office/powerpoint/2010/main" val="1548488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作词机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RNN</a:t>
            </a:r>
            <a:r>
              <a:rPr lang="zh-CN" altLang="en-US" dirty="0"/>
              <a:t>在“学习”过汪峰全部作品后自动生成的歌词</a:t>
            </a:r>
            <a:endParaRPr lang="en-US" altLang="zh-CN" dirty="0"/>
          </a:p>
          <a:p>
            <a:pPr lvl="1"/>
            <a:r>
              <a:rPr lang="en-US" altLang="zh-CN" dirty="0"/>
              <a:t>https://github.com/phunterlau/wangfeng-rnn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0C480B-AE73-4923-A6E3-7462B7E25DA1}"/>
              </a:ext>
            </a:extLst>
          </p:cNvPr>
          <p:cNvSpPr/>
          <p:nvPr/>
        </p:nvSpPr>
        <p:spPr>
          <a:xfrm>
            <a:off x="3276600" y="3200400"/>
            <a:ext cx="525780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zh-CN" altLang="en-US" sz="2400" dirty="0"/>
              <a:t>我在这里中的夜里</a:t>
            </a:r>
            <a:endParaRPr lang="en-US" altLang="zh-CN" sz="2400" dirty="0"/>
          </a:p>
          <a:p>
            <a:pPr lvl="1"/>
            <a:r>
              <a:rPr lang="zh-CN" altLang="en-US" sz="2400" dirty="0"/>
              <a:t>就像一场是一种生命的意旪</a:t>
            </a:r>
            <a:endParaRPr lang="en-US" altLang="zh-CN" sz="2400" dirty="0"/>
          </a:p>
          <a:p>
            <a:pPr lvl="1"/>
            <a:r>
              <a:rPr lang="zh-CN" altLang="en-US" sz="2400" dirty="0"/>
              <a:t>就像我的生活变得在我一样</a:t>
            </a:r>
            <a:endParaRPr lang="en-US" altLang="zh-CN" sz="2400" dirty="0"/>
          </a:p>
          <a:p>
            <a:pPr lvl="1"/>
            <a:r>
              <a:rPr lang="zh-CN" altLang="en-US" sz="2400" dirty="0"/>
              <a:t>可我们这是一个知道</a:t>
            </a:r>
          </a:p>
          <a:p>
            <a:pPr lvl="1"/>
            <a:r>
              <a:rPr lang="zh-CN" altLang="en-US" sz="2400" dirty="0"/>
              <a:t>我只是一天你会怎吗</a:t>
            </a:r>
          </a:p>
          <a:p>
            <a:pPr lvl="1"/>
            <a:r>
              <a:rPr lang="zh-CN" altLang="en-US" sz="2400" dirty="0"/>
              <a:t>可我们这是我们的是不要为你</a:t>
            </a:r>
          </a:p>
          <a:p>
            <a:pPr lvl="1"/>
            <a:r>
              <a:rPr lang="zh-CN" altLang="en-US" sz="2400" dirty="0"/>
              <a:t>我们想这有一种生活的时候</a:t>
            </a:r>
          </a:p>
        </p:txBody>
      </p:sp>
    </p:spTree>
    <p:extLst>
      <p:ext uri="{BB962C8B-B14F-4D97-AF65-F5344CB8AC3E}">
        <p14:creationId xmlns:p14="http://schemas.microsoft.com/office/powerpoint/2010/main" val="2168951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作诗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915" y="2257224"/>
            <a:ext cx="8564170" cy="2876951"/>
          </a:xfrm>
        </p:spPr>
      </p:pic>
    </p:spTree>
    <p:extLst>
      <p:ext uri="{BB962C8B-B14F-4D97-AF65-F5344CB8AC3E}">
        <p14:creationId xmlns:p14="http://schemas.microsoft.com/office/powerpoint/2010/main" val="7478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传统统计机器翻译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源语言：</a:t>
                </a:r>
                <a:r>
                  <a:rPr lang="en-US" altLang="zh-CN" dirty="0"/>
                  <a:t>f</a:t>
                </a:r>
              </a:p>
              <a:p>
                <a:r>
                  <a:rPr lang="zh-CN" altLang="en-US" dirty="0"/>
                  <a:t>目标语言：</a:t>
                </a:r>
                <a:r>
                  <a:rPr lang="en-US" altLang="zh-CN" dirty="0"/>
                  <a:t>e</a:t>
                </a:r>
              </a:p>
              <a:p>
                <a:pPr lvl="1"/>
                <a:r>
                  <a:rPr lang="zh-CN" altLang="en-US" dirty="0"/>
                  <a:t>模型：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zh-CN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p(</a:t>
                </a:r>
                <a:r>
                  <a:rPr lang="en-US" altLang="zh-CN" dirty="0" err="1"/>
                  <a:t>f|e</a:t>
                </a:r>
                <a:r>
                  <a:rPr lang="en-US" altLang="zh-CN" dirty="0"/>
                  <a:t>): </a:t>
                </a:r>
                <a:r>
                  <a:rPr lang="zh-CN" altLang="en-US" dirty="0"/>
                  <a:t>翻译模型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p(e) : </a:t>
                </a:r>
                <a:r>
                  <a:rPr lang="zh-CN" altLang="en-US" dirty="0"/>
                  <a:t>语言模型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1037" t="-17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110" y="4059064"/>
            <a:ext cx="9144000" cy="209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30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基于序列到序列的机器翻译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一个</a:t>
            </a:r>
            <a:r>
              <a:rPr lang="en-US" altLang="zh-CN"/>
              <a:t>RNN</a:t>
            </a:r>
            <a:r>
              <a:rPr lang="zh-CN" altLang="en-US"/>
              <a:t>用来编码</a:t>
            </a:r>
            <a:endParaRPr lang="en-US" altLang="zh-CN"/>
          </a:p>
          <a:p>
            <a:r>
              <a:rPr lang="zh-CN" altLang="en-US"/>
              <a:t>另一个</a:t>
            </a:r>
            <a:r>
              <a:rPr lang="en-US" altLang="zh-CN"/>
              <a:t>RNN</a:t>
            </a:r>
            <a:r>
              <a:rPr lang="zh-CN" altLang="en-US"/>
              <a:t>用来解码</a:t>
            </a:r>
            <a:endParaRPr lang="zh-CN" altLang="en-US" dirty="0"/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680" y="2594102"/>
            <a:ext cx="6744641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69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看图说话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440" y="1652302"/>
            <a:ext cx="9631119" cy="4086795"/>
          </a:xfrm>
        </p:spPr>
      </p:pic>
    </p:spTree>
    <p:extLst>
      <p:ext uri="{BB962C8B-B14F-4D97-AF65-F5344CB8AC3E}">
        <p14:creationId xmlns:p14="http://schemas.microsoft.com/office/powerpoint/2010/main" val="3046642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看图说话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716" y="990600"/>
            <a:ext cx="8172568" cy="5410200"/>
          </a:xfrm>
        </p:spPr>
      </p:pic>
    </p:spTree>
    <p:extLst>
      <p:ext uri="{BB962C8B-B14F-4D97-AF65-F5344CB8AC3E}">
        <p14:creationId xmlns:p14="http://schemas.microsoft.com/office/powerpoint/2010/main" val="36763358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86741" y="1690690"/>
            <a:ext cx="22469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altLang="zh-CN" sz="1350" dirty="0"/>
              <a:t> </a:t>
            </a:r>
            <a:r>
              <a:rPr lang="en-HK" altLang="zh-CN" sz="2400" dirty="0">
                <a:hlinkClick r:id="rId2"/>
              </a:rPr>
              <a:t>Demo Website</a:t>
            </a:r>
            <a:endParaRPr lang="zh-CN" altLang="en-US" sz="2400" dirty="0"/>
          </a:p>
        </p:txBody>
      </p:sp>
      <p:pic>
        <p:nvPicPr>
          <p:cNvPr id="2050" name="Picture 2" descr="Visual Q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42" y="3631288"/>
            <a:ext cx="6724411" cy="244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2386742" y="2152355"/>
            <a:ext cx="7200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VQA: Given an image and a natural language question about the image, the task is to provide an accurate natural language answer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altLang="zh-CN"/>
              <a:t>Visual Question Answering (VQA)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629400" y="5715001"/>
            <a:ext cx="3301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Picture from (</a:t>
            </a:r>
            <a:r>
              <a:rPr lang="en-US" altLang="zh-CN" sz="1200" dirty="0" err="1"/>
              <a:t>Antol</a:t>
            </a:r>
            <a:r>
              <a:rPr lang="en-US" altLang="zh-CN" sz="1200" dirty="0"/>
              <a:t> et al., 2015)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712389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写字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/>
              <a:t>把一个字母的书写轨迹看作是一连串的点。一个字母的“写法”其实是每一个点相对于前一个点的偏移量，记为</a:t>
            </a:r>
            <a:r>
              <a:rPr lang="en-US" altLang="zh-CN"/>
              <a:t>(offset x, offset y)</a:t>
            </a:r>
            <a:r>
              <a:rPr lang="zh-CN" altLang="en-US"/>
              <a:t>。再增加一维取值为</a:t>
            </a:r>
            <a:r>
              <a:rPr lang="en-US" altLang="zh-CN"/>
              <a:t>0</a:t>
            </a:r>
            <a:r>
              <a:rPr lang="zh-CN" altLang="en-US"/>
              <a:t>或</a:t>
            </a:r>
            <a:r>
              <a:rPr lang="en-US" altLang="zh-CN"/>
              <a:t>1</a:t>
            </a:r>
            <a:r>
              <a:rPr lang="zh-CN" altLang="en-US"/>
              <a:t>来记录是否应该“提笔”。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895600"/>
            <a:ext cx="914400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51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D25C1-1A95-492A-AC8A-4FEF473D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对话系统</a:t>
            </a:r>
            <a:endParaRPr lang="zh-CN" altLang="en-US" dirty="0"/>
          </a:p>
        </p:txBody>
      </p:sp>
      <p:pic>
        <p:nvPicPr>
          <p:cNvPr id="4098" name="Picture 2" descr="Image result for rnn dialogue">
            <a:extLst>
              <a:ext uri="{FF2B5EF4-FFF2-40B4-BE49-F238E27FC236}">
                <a16:creationId xmlns:a16="http://schemas.microsoft.com/office/drawing/2014/main" id="{B4EEB737-0F1C-4F08-AE61-CFACC93D1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47801"/>
            <a:ext cx="8610600" cy="48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633ABEA-06E7-4234-8ED8-87004F4365E5}"/>
              </a:ext>
            </a:extLst>
          </p:cNvPr>
          <p:cNvSpPr/>
          <p:nvPr/>
        </p:nvSpPr>
        <p:spPr>
          <a:xfrm>
            <a:off x="6477001" y="1263135"/>
            <a:ext cx="30700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hlinkClick r:id="rId3"/>
              </a:rPr>
              <a:t>https://github.com/lukalabs/cakechat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425561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FB1215-AA6E-3F42-86FA-78631C0F7F1F}"/>
              </a:ext>
            </a:extLst>
          </p:cNvPr>
          <p:cNvSpPr txBox="1"/>
          <p:nvPr/>
        </p:nvSpPr>
        <p:spPr>
          <a:xfrm>
            <a:off x="5562600" y="343409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谢 谢</a:t>
            </a:r>
          </a:p>
        </p:txBody>
      </p:sp>
    </p:spTree>
    <p:extLst>
      <p:ext uri="{BB962C8B-B14F-4D97-AF65-F5344CB8AC3E}">
        <p14:creationId xmlns:p14="http://schemas.microsoft.com/office/powerpoint/2010/main" val="41423282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3.8|19.5|0.8|0.8|0.5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5.2|1.3|1.4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7|10.2|12.9|35.3|29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y">
  <a:themeElements>
    <a:clrScheme name="qxp">
      <a:dk1>
        <a:srgbClr val="2A4A75"/>
      </a:dk1>
      <a:lt1>
        <a:sysClr val="window" lastClr="FFFFFF"/>
      </a:lt1>
      <a:dk2>
        <a:srgbClr val="2A4A75"/>
      </a:dk2>
      <a:lt2>
        <a:srgbClr val="DEF5FA"/>
      </a:lt2>
      <a:accent1>
        <a:srgbClr val="1C314E"/>
      </a:accent1>
      <a:accent2>
        <a:srgbClr val="EB641B"/>
      </a:accent2>
      <a:accent3>
        <a:srgbClr val="DA1F28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yfont">
      <a:majorFont>
        <a:latin typeface="Helvetica"/>
        <a:ea typeface="微软雅黑"/>
        <a:cs typeface=""/>
      </a:majorFont>
      <a:minorFont>
        <a:latin typeface="Times New Roman"/>
        <a:ea typeface="华文楷体"/>
        <a:cs typeface="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my" id="{5DDFF489-810C-4640-A13F-DDD18827279A}" vid="{1ADADE9B-649E-4437-BF06-95F7A2A146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my</Template>
  <TotalTime>23327</TotalTime>
  <Words>2614</Words>
  <Application>Microsoft Office PowerPoint</Application>
  <PresentationFormat>宽屏</PresentationFormat>
  <Paragraphs>341</Paragraphs>
  <Slides>52</Slides>
  <Notes>30</Notes>
  <HiddenSlides>5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华文楷体</vt:lpstr>
      <vt:lpstr>Arial</vt:lpstr>
      <vt:lpstr>Calibri</vt:lpstr>
      <vt:lpstr>Cambria</vt:lpstr>
      <vt:lpstr>Cambria Math</vt:lpstr>
      <vt:lpstr>Helvetica</vt:lpstr>
      <vt:lpstr>Times New Roman</vt:lpstr>
      <vt:lpstr>Wingdings</vt:lpstr>
      <vt:lpstr>Wingdings 3</vt:lpstr>
      <vt:lpstr>my</vt:lpstr>
      <vt:lpstr>循环神经网络</vt:lpstr>
      <vt:lpstr>参考资料</vt:lpstr>
      <vt:lpstr>内容</vt:lpstr>
      <vt:lpstr>前馈网络</vt:lpstr>
      <vt:lpstr>前馈网络</vt:lpstr>
      <vt:lpstr>4.1循环神经网络</vt:lpstr>
      <vt:lpstr>循环神经网络（ Recurrent Neural Network ，RNN ）</vt:lpstr>
      <vt:lpstr>按时间展开</vt:lpstr>
      <vt:lpstr>简单循环网络（Simple Recurrent Network， SRN ）</vt:lpstr>
      <vt:lpstr>图灵完备</vt:lpstr>
      <vt:lpstr>循环神经网络</vt:lpstr>
      <vt:lpstr>4.3如何将RNN应用到机器学习</vt:lpstr>
      <vt:lpstr>应用到机器学习</vt:lpstr>
      <vt:lpstr>序列到类别</vt:lpstr>
      <vt:lpstr>应用到机器学习</vt:lpstr>
      <vt:lpstr>同步的序列到序列模式</vt:lpstr>
      <vt:lpstr>同步的序列到序列模式</vt:lpstr>
      <vt:lpstr>同步的序列到序列模式</vt:lpstr>
      <vt:lpstr>应用到机器学习</vt:lpstr>
      <vt:lpstr>异步的序列到序列模式-案例</vt:lpstr>
      <vt:lpstr>4.4参数学习与长程依赖问题</vt:lpstr>
      <vt:lpstr>参数学习</vt:lpstr>
      <vt:lpstr>长程依赖问题</vt:lpstr>
      <vt:lpstr>LSTM VS. RNN</vt:lpstr>
      <vt:lpstr>LSTM VS. RNN</vt:lpstr>
      <vt:lpstr>LSTM（Long Short Term Memory networks）</vt:lpstr>
      <vt:lpstr>LSTM</vt:lpstr>
      <vt:lpstr>LSTM核心思想1/2</vt:lpstr>
      <vt:lpstr>LSTM核心思想2/2</vt:lpstr>
      <vt:lpstr>A Step-by-Step LSTM Walk-through – Step 1</vt:lpstr>
      <vt:lpstr>Step-by-Step LSTM Walk Through – Step 2</vt:lpstr>
      <vt:lpstr>Step-by-Step LSTM Walk Through – Step 3</vt:lpstr>
      <vt:lpstr>Step-by-Step LSTM Walk Through – Step 4</vt:lpstr>
      <vt:lpstr>LSTM变体</vt:lpstr>
      <vt:lpstr>4.5深层循环神经网络</vt:lpstr>
      <vt:lpstr>堆叠循环神经网络</vt:lpstr>
      <vt:lpstr>双向循环神经网络</vt:lpstr>
      <vt:lpstr>循环神经网络小结</vt:lpstr>
      <vt:lpstr>4.6循环网络应用</vt:lpstr>
      <vt:lpstr>语言模型</vt:lpstr>
      <vt:lpstr>语言模型</vt:lpstr>
      <vt:lpstr>生成LINUX内核代码</vt:lpstr>
      <vt:lpstr>作词机</vt:lpstr>
      <vt:lpstr>作诗</vt:lpstr>
      <vt:lpstr>传统统计机器翻译</vt:lpstr>
      <vt:lpstr>基于序列到序列的机器翻译</vt:lpstr>
      <vt:lpstr>看图说话</vt:lpstr>
      <vt:lpstr>看图说话</vt:lpstr>
      <vt:lpstr>Visual Question Answering (VQA)</vt:lpstr>
      <vt:lpstr>写字</vt:lpstr>
      <vt:lpstr>对话系统</vt:lpstr>
      <vt:lpstr>PowerPoint 演示文稿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Branding Roadmap Template</dc:title>
  <dc:creator>Xipeng Qiu</dc:creator>
  <cp:lastModifiedBy>Yuanyuan Dang</cp:lastModifiedBy>
  <cp:revision>2374</cp:revision>
  <dcterms:created xsi:type="dcterms:W3CDTF">2009-03-19T21:17:53Z</dcterms:created>
  <dcterms:modified xsi:type="dcterms:W3CDTF">2025-10-13T03:46:18Z</dcterms:modified>
</cp:coreProperties>
</file>