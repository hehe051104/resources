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3" r:id="rId1"/>
  </p:sldMasterIdLst>
  <p:notesMasterIdLst>
    <p:notesMasterId r:id="rId33"/>
  </p:notesMasterIdLst>
  <p:sldIdLst>
    <p:sldId id="256" r:id="rId2"/>
    <p:sldId id="449" r:id="rId3"/>
    <p:sldId id="450" r:id="rId4"/>
    <p:sldId id="451" r:id="rId5"/>
    <p:sldId id="453" r:id="rId6"/>
    <p:sldId id="921" r:id="rId7"/>
    <p:sldId id="452" r:id="rId8"/>
    <p:sldId id="931" r:id="rId9"/>
    <p:sldId id="932" r:id="rId10"/>
    <p:sldId id="933" r:id="rId11"/>
    <p:sldId id="934" r:id="rId12"/>
    <p:sldId id="928" r:id="rId13"/>
    <p:sldId id="917" r:id="rId14"/>
    <p:sldId id="922" r:id="rId15"/>
    <p:sldId id="454" r:id="rId16"/>
    <p:sldId id="456" r:id="rId17"/>
    <p:sldId id="923" r:id="rId18"/>
    <p:sldId id="916" r:id="rId19"/>
    <p:sldId id="918" r:id="rId20"/>
    <p:sldId id="920" r:id="rId21"/>
    <p:sldId id="935" r:id="rId22"/>
    <p:sldId id="925" r:id="rId23"/>
    <p:sldId id="926" r:id="rId24"/>
    <p:sldId id="927" r:id="rId25"/>
    <p:sldId id="936" r:id="rId26"/>
    <p:sldId id="929" r:id="rId27"/>
    <p:sldId id="455" r:id="rId28"/>
    <p:sldId id="930" r:id="rId29"/>
    <p:sldId id="924" r:id="rId30"/>
    <p:sldId id="937" r:id="rId31"/>
    <p:sldId id="447" r:id="rId32"/>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708" autoAdjust="0"/>
    <p:restoredTop sz="78980" autoAdjust="0"/>
  </p:normalViewPr>
  <p:slideViewPr>
    <p:cSldViewPr>
      <p:cViewPr varScale="1">
        <p:scale>
          <a:sx n="126" d="100"/>
          <a:sy n="126" d="100"/>
        </p:scale>
        <p:origin x="1440" y="68"/>
      </p:cViewPr>
      <p:guideLst>
        <p:guide orient="horz" pos="2160"/>
        <p:guide pos="3840"/>
      </p:guideLst>
    </p:cSldViewPr>
  </p:slideViewPr>
  <p:notesTextViewPr>
    <p:cViewPr>
      <p:scale>
        <a:sx n="3" d="2"/>
        <a:sy n="3" d="2"/>
      </p:scale>
      <p:origin x="0" y="0"/>
    </p:cViewPr>
  </p:notesTextViewPr>
  <p:sorterViewPr>
    <p:cViewPr>
      <p:scale>
        <a:sx n="66" d="100"/>
        <a:sy n="66" d="100"/>
      </p:scale>
      <p:origin x="0" y="0"/>
    </p:cViewPr>
  </p:sorterViewPr>
  <p:notesViewPr>
    <p:cSldViewPr>
      <p:cViewPr varScale="1">
        <p:scale>
          <a:sx n="55" d="100"/>
          <a:sy n="55" d="100"/>
        </p:scale>
        <p:origin x="2880" y="9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3" name="Date Placeholder 2"/>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Calibri" panose="020F0502020204030204" pitchFamily="34" charset="0"/>
              </a:defRPr>
            </a:lvl1pPr>
          </a:lstStyle>
          <a:p>
            <a:pPr>
              <a:defRPr/>
            </a:pPr>
            <a:fld id="{683E5292-C197-4B29-8ABD-C7AEB5E0B154}" type="datetimeFigureOut">
              <a:rPr lang="en-US" altLang="zh-CN"/>
              <a:pPr>
                <a:defRPr/>
              </a:pPr>
              <a:t>11/13/2025</a:t>
            </a:fld>
            <a:endParaRPr lang="en-US" altLang="zh-C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pPr lvl="0"/>
            <a:endParaRPr lang="en-US" noProof="0"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atin typeface="Calibri" panose="020F0502020204030204" pitchFamily="34" charset="0"/>
              </a:defRPr>
            </a:lvl1pPr>
          </a:lstStyle>
          <a:p>
            <a:pPr>
              <a:defRPr/>
            </a:pPr>
            <a:endParaRPr lang="zh-CN" altLang="zh-C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pPr>
              <a:defRPr/>
            </a:pPr>
            <a:fld id="{B4C119E0-CEE4-4FF8-83B2-DC856A2C17CC}" type="slidenum">
              <a:rPr lang="en-US" altLang="zh-CN"/>
              <a:pPr>
                <a:defRPr/>
              </a:pPr>
              <a:t>‹#›</a:t>
            </a:fld>
            <a:endParaRPr lang="en-US" altLang="zh-CN"/>
          </a:p>
        </p:txBody>
      </p:sp>
    </p:spTree>
    <p:extLst>
      <p:ext uri="{BB962C8B-B14F-4D97-AF65-F5344CB8AC3E}">
        <p14:creationId xmlns:p14="http://schemas.microsoft.com/office/powerpoint/2010/main" val="64489637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B4C119E0-CEE4-4FF8-83B2-DC856A2C17CC}" type="slidenum">
              <a:rPr lang="en-US" altLang="zh-CN" smtClean="0"/>
              <a:pPr>
                <a:defRPr/>
              </a:pPr>
              <a:t>1</a:t>
            </a:fld>
            <a:endParaRPr lang="en-US" altLang="zh-CN"/>
          </a:p>
        </p:txBody>
      </p:sp>
    </p:spTree>
    <p:extLst>
      <p:ext uri="{BB962C8B-B14F-4D97-AF65-F5344CB8AC3E}">
        <p14:creationId xmlns:p14="http://schemas.microsoft.com/office/powerpoint/2010/main" val="9093931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3</a:t>
            </a:fld>
            <a:endParaRPr lang="en-US" altLang="zh-CN"/>
          </a:p>
        </p:txBody>
      </p:sp>
    </p:spTree>
    <p:extLst>
      <p:ext uri="{BB962C8B-B14F-4D97-AF65-F5344CB8AC3E}">
        <p14:creationId xmlns:p14="http://schemas.microsoft.com/office/powerpoint/2010/main" val="25748792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为了增加模型之间的差异性，可以采取</a:t>
            </a:r>
            <a:r>
              <a:rPr lang="en-US" altLang="zh-CN" dirty="0"/>
              <a:t>Bagging</a:t>
            </a:r>
            <a:r>
              <a:rPr lang="zh-CN" altLang="en-US" dirty="0"/>
              <a:t>和</a:t>
            </a:r>
            <a:r>
              <a:rPr lang="en-US" altLang="zh-CN" dirty="0"/>
              <a:t>Boosting</a:t>
            </a:r>
            <a:r>
              <a:rPr lang="zh-CN" altLang="en-US" dirty="0"/>
              <a:t>这两类方法。</a:t>
            </a:r>
            <a:endParaRPr lang="en-US" altLang="zh-CN"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4</a:t>
            </a:fld>
            <a:endParaRPr lang="en-US" altLang="zh-CN"/>
          </a:p>
        </p:txBody>
      </p:sp>
    </p:spTree>
    <p:extLst>
      <p:ext uri="{BB962C8B-B14F-4D97-AF65-F5344CB8AC3E}">
        <p14:creationId xmlns:p14="http://schemas.microsoft.com/office/powerpoint/2010/main" val="34793009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b="0" i="0" dirty="0">
                <a:solidFill>
                  <a:srgbClr val="111111"/>
                </a:solidFill>
                <a:effectLst/>
                <a:latin typeface="Arial" panose="020B0604020202020204" pitchFamily="34" charset="0"/>
              </a:rPr>
              <a:t>通过多次交叉验证得到不同决策树个数下模型的平均误差，从而选择最优的决策树个数</a:t>
            </a:r>
            <a:endParaRPr lang="zh-CN" altLang="en-US" b="0" i="0" dirty="0">
              <a:solidFill>
                <a:srgbClr val="374151"/>
              </a:solidFill>
              <a:effectLst/>
              <a:latin typeface="Microsoft YaHei" panose="020B0503020204020204" pitchFamily="34" charset="-122"/>
              <a:ea typeface="Microsoft YaHei" panose="020B0503020204020204" pitchFamily="34" charset="-122"/>
            </a:endParaRP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5</a:t>
            </a:fld>
            <a:endParaRPr lang="en-US" altLang="zh-CN"/>
          </a:p>
        </p:txBody>
      </p:sp>
    </p:spTree>
    <p:extLst>
      <p:ext uri="{BB962C8B-B14F-4D97-AF65-F5344CB8AC3E}">
        <p14:creationId xmlns:p14="http://schemas.microsoft.com/office/powerpoint/2010/main" val="2340599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7</a:t>
            </a:fld>
            <a:endParaRPr lang="en-US" altLang="zh-CN"/>
          </a:p>
        </p:txBody>
      </p:sp>
    </p:spTree>
    <p:extLst>
      <p:ext uri="{BB962C8B-B14F-4D97-AF65-F5344CB8AC3E}">
        <p14:creationId xmlns:p14="http://schemas.microsoft.com/office/powerpoint/2010/main" val="18880105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12</a:t>
            </a:fld>
            <a:endParaRPr lang="en-US" altLang="zh-CN"/>
          </a:p>
        </p:txBody>
      </p:sp>
    </p:spTree>
    <p:extLst>
      <p:ext uri="{BB962C8B-B14F-4D97-AF65-F5344CB8AC3E}">
        <p14:creationId xmlns:p14="http://schemas.microsoft.com/office/powerpoint/2010/main" val="19216094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13</a:t>
            </a:fld>
            <a:endParaRPr lang="en-US" altLang="zh-CN"/>
          </a:p>
        </p:txBody>
      </p:sp>
    </p:spTree>
    <p:extLst>
      <p:ext uri="{BB962C8B-B14F-4D97-AF65-F5344CB8AC3E}">
        <p14:creationId xmlns:p14="http://schemas.microsoft.com/office/powerpoint/2010/main" val="152702850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14</a:t>
            </a:fld>
            <a:endParaRPr lang="en-US" altLang="zh-CN"/>
          </a:p>
        </p:txBody>
      </p:sp>
    </p:spTree>
    <p:extLst>
      <p:ext uri="{BB962C8B-B14F-4D97-AF65-F5344CB8AC3E}">
        <p14:creationId xmlns:p14="http://schemas.microsoft.com/office/powerpoint/2010/main" val="14351383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这四种常见的共享模式分别为： （</a:t>
            </a:r>
            <a:r>
              <a:rPr lang="en-US" altLang="zh-CN" dirty="0"/>
              <a:t>1</a:t>
            </a:r>
            <a:r>
              <a:rPr lang="zh-CN" altLang="en-US" dirty="0"/>
              <a:t>） 硬共享模式：让不同任务的神经网络模型共同使用一些共享模块（一 般是低层）来提取一些通用特征，然后再针对每个不同的任务设置一些私有模 块（一般是高层）来提取一些任务特定的特征． </a:t>
            </a:r>
            <a:endParaRPr lang="en-US" altLang="zh-CN" dirty="0"/>
          </a:p>
          <a:p>
            <a:r>
              <a:rPr lang="zh-CN" altLang="en-US" dirty="0"/>
              <a:t>（</a:t>
            </a:r>
            <a:r>
              <a:rPr lang="en-US" altLang="zh-CN" dirty="0"/>
              <a:t>2</a:t>
            </a:r>
            <a:r>
              <a:rPr lang="zh-CN" altLang="en-US" dirty="0"/>
              <a:t>） 软共享模式：不显式地设置共享模块，但每个任务都可以从其他任务 中“窃取”一些信息来提高自己的能力．窃取的方式包括直接复制使用其他任务的隐状态，或使用注意力机制来主动选取有用的信息． </a:t>
            </a:r>
            <a:endParaRPr lang="en-US" altLang="zh-CN" dirty="0"/>
          </a:p>
          <a:p>
            <a:r>
              <a:rPr lang="zh-CN" altLang="en-US" dirty="0"/>
              <a:t>（</a:t>
            </a:r>
            <a:r>
              <a:rPr lang="en-US" altLang="zh-CN" dirty="0"/>
              <a:t>3</a:t>
            </a:r>
            <a:r>
              <a:rPr lang="zh-CN" altLang="en-US" dirty="0"/>
              <a:t>） 层次共享模式：一般神经网络中不同层抽取的特征类型不同，低层一 般抽取一些低级的局部特征，高层抽取一些高级的抽象语义特征．因此如果多任务学习中不同任务也有级别高低之分，那么一个合理的共享模式是让低级任务在低层输出，高级任务在高层输出． </a:t>
            </a:r>
            <a:endParaRPr lang="en-US" altLang="zh-CN" dirty="0"/>
          </a:p>
          <a:p>
            <a:r>
              <a:rPr lang="zh-CN" altLang="en-US" dirty="0"/>
              <a:t>（</a:t>
            </a:r>
            <a:r>
              <a:rPr lang="en-US" altLang="zh-CN" dirty="0"/>
              <a:t>4</a:t>
            </a:r>
            <a:r>
              <a:rPr lang="zh-CN" altLang="en-US" dirty="0"/>
              <a:t>） 共享</a:t>
            </a:r>
            <a:r>
              <a:rPr lang="en-US" altLang="zh-CN" dirty="0"/>
              <a:t>-</a:t>
            </a:r>
            <a:r>
              <a:rPr lang="zh-CN" altLang="en-US" dirty="0"/>
              <a:t>私有模式：一个更加分工明确的方式是将共享模块和任务特定 （私有）模块的责任分开．共享模块捕捉一些跨任务的共享特征，而私有模块只捕捉和特定任务相关的特征．最终的表示由共享特征和私有特征共同构成．</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16</a:t>
            </a:fld>
            <a:endParaRPr lang="en-US" altLang="zh-CN"/>
          </a:p>
        </p:txBody>
      </p:sp>
    </p:spTree>
    <p:extLst>
      <p:ext uri="{BB962C8B-B14F-4D97-AF65-F5344CB8AC3E}">
        <p14:creationId xmlns:p14="http://schemas.microsoft.com/office/powerpoint/2010/main" val="238847081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20</a:t>
            </a:fld>
            <a:endParaRPr lang="en-US" altLang="zh-CN"/>
          </a:p>
        </p:txBody>
      </p:sp>
    </p:spTree>
    <p:extLst>
      <p:ext uri="{BB962C8B-B14F-4D97-AF65-F5344CB8AC3E}">
        <p14:creationId xmlns:p14="http://schemas.microsoft.com/office/powerpoint/2010/main" val="39191377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23</a:t>
            </a:fld>
            <a:endParaRPr lang="en-US" altLang="zh-CN"/>
          </a:p>
        </p:txBody>
      </p:sp>
    </p:spTree>
    <p:extLst>
      <p:ext uri="{BB962C8B-B14F-4D97-AF65-F5344CB8AC3E}">
        <p14:creationId xmlns:p14="http://schemas.microsoft.com/office/powerpoint/2010/main" val="14276211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这里𝜃</a:t>
            </a:r>
            <a:r>
              <a:rPr lang="en-US" altLang="zh-CN" dirty="0"/>
              <a:t>′</a:t>
            </a:r>
            <a:r>
              <a:rPr lang="zh-CN" altLang="en-US" dirty="0"/>
              <a:t>𝑚可以理解为关于𝜃的函数，而不是真正的参数更新．</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24</a:t>
            </a:fld>
            <a:endParaRPr lang="en-US" altLang="zh-CN"/>
          </a:p>
        </p:txBody>
      </p:sp>
    </p:spTree>
    <p:extLst>
      <p:ext uri="{BB962C8B-B14F-4D97-AF65-F5344CB8AC3E}">
        <p14:creationId xmlns:p14="http://schemas.microsoft.com/office/powerpoint/2010/main" val="305786895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这里𝜃</a:t>
            </a:r>
            <a:r>
              <a:rPr lang="en-US" altLang="zh-CN" dirty="0"/>
              <a:t>′</a:t>
            </a:r>
            <a:r>
              <a:rPr lang="zh-CN" altLang="en-US" dirty="0"/>
              <a:t>𝑚可以理解为关于𝜃的函数，而不是真正的参数更新．</a:t>
            </a:r>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26</a:t>
            </a:fld>
            <a:endParaRPr lang="en-US" altLang="zh-CN"/>
          </a:p>
        </p:txBody>
      </p:sp>
    </p:spTree>
    <p:extLst>
      <p:ext uri="{BB962C8B-B14F-4D97-AF65-F5344CB8AC3E}">
        <p14:creationId xmlns:p14="http://schemas.microsoft.com/office/powerpoint/2010/main" val="17517730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dirty="0">
                <a:effectLst/>
                <a:latin typeface="PingFang SC"/>
              </a:rPr>
              <a:t>比如 在围棋任务上训练的</a:t>
            </a:r>
            <a:r>
              <a:rPr lang="en-US" altLang="zh-CN" sz="1200" b="0" i="0" dirty="0">
                <a:effectLst/>
                <a:latin typeface="PingFang SC"/>
              </a:rPr>
              <a:t>AlphaGo</a:t>
            </a:r>
            <a:r>
              <a:rPr lang="zh-CN" altLang="en-US" sz="1200" b="0" i="0" dirty="0">
                <a:effectLst/>
                <a:latin typeface="PingFang SC"/>
              </a:rPr>
              <a:t>只会下围棋，对象棋一窍不通．如果让</a:t>
            </a:r>
            <a:r>
              <a:rPr lang="en-US" altLang="zh-CN" sz="1200" b="0" i="0" dirty="0">
                <a:effectLst/>
                <a:latin typeface="PingFang SC"/>
              </a:rPr>
              <a:t>AlphaGo </a:t>
            </a:r>
            <a:r>
              <a:rPr lang="zh-CN" altLang="en-US" sz="1200" b="0" i="0" dirty="0">
                <a:effectLst/>
                <a:latin typeface="PingFang SC"/>
              </a:rPr>
              <a:t>去学习下象棋，可能会损害其下围棋的能力，这显然不符合人类的学习过程．我们在学会了下围棋之后，再去学下象棋，并不会忘记下围棋的下法．</a:t>
            </a:r>
          </a:p>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27</a:t>
            </a:fld>
            <a:endParaRPr lang="en-US" altLang="zh-CN"/>
          </a:p>
        </p:txBody>
      </p:sp>
    </p:spTree>
    <p:extLst>
      <p:ext uri="{BB962C8B-B14F-4D97-AF65-F5344CB8AC3E}">
        <p14:creationId xmlns:p14="http://schemas.microsoft.com/office/powerpoint/2010/main" val="1971899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28</a:t>
            </a:fld>
            <a:endParaRPr lang="en-US" altLang="zh-CN"/>
          </a:p>
        </p:txBody>
      </p:sp>
    </p:spTree>
    <p:extLst>
      <p:ext uri="{BB962C8B-B14F-4D97-AF65-F5344CB8AC3E}">
        <p14:creationId xmlns:p14="http://schemas.microsoft.com/office/powerpoint/2010/main" val="27900618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B4C119E0-CEE4-4FF8-83B2-DC856A2C17CC}" type="slidenum">
              <a:rPr lang="en-US" altLang="zh-CN" smtClean="0"/>
              <a:pPr>
                <a:defRPr/>
              </a:pPr>
              <a:t>29</a:t>
            </a:fld>
            <a:endParaRPr lang="en-US" altLang="zh-CN"/>
          </a:p>
        </p:txBody>
      </p:sp>
    </p:spTree>
    <p:extLst>
      <p:ext uri="{BB962C8B-B14F-4D97-AF65-F5344CB8AC3E}">
        <p14:creationId xmlns:p14="http://schemas.microsoft.com/office/powerpoint/2010/main" val="5537415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2966F891-39E4-4949-84B5-293BD1F65E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4" name="Rectangle 10"/>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5" name="Rectangle 11"/>
          <p:cNvSpPr/>
          <p:nvPr/>
        </p:nvSpPr>
        <p:spPr>
          <a:xfrm>
            <a:off x="304800" y="673897"/>
            <a:ext cx="6117446" cy="719623"/>
          </a:xfrm>
          <a:prstGeom prst="rect">
            <a:avLst/>
          </a:prstGeom>
          <a:noFill/>
          <a:ln w="6350" cap="rnd" cmpd="sng" algn="ctr">
            <a:solidFill>
              <a:schemeClr val="accent2"/>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sz="2700">
              <a:solidFill>
                <a:srgbClr val="FFFFFF"/>
              </a:solidFill>
            </a:endParaRPr>
          </a:p>
        </p:txBody>
      </p:sp>
      <p:sp>
        <p:nvSpPr>
          <p:cNvPr id="6" name="Rectangle 14"/>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7" name="Rectangle 15"/>
          <p:cNvSpPr/>
          <p:nvPr/>
        </p:nvSpPr>
        <p:spPr>
          <a:xfrm>
            <a:off x="359807" y="665099"/>
            <a:ext cx="187820" cy="731230"/>
          </a:xfrm>
          <a:prstGeom prst="rect">
            <a:avLst/>
          </a:prstGeom>
          <a:solidFill>
            <a:schemeClr val="accent2"/>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dirty="0">
              <a:solidFill>
                <a:srgbClr val="FFFFFF"/>
              </a:solidFill>
            </a:endParaRPr>
          </a:p>
        </p:txBody>
      </p:sp>
      <p:sp>
        <p:nvSpPr>
          <p:cNvPr id="8" name="Title 7"/>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
        <p:nvSpPr>
          <p:cNvPr id="9" name="Subtitle 8"/>
          <p:cNvSpPr>
            <a:spLocks noGrp="1"/>
          </p:cNvSpPr>
          <p:nvPr>
            <p:ph type="subTitle" idx="1"/>
          </p:nvPr>
        </p:nvSpPr>
        <p:spPr>
          <a:xfrm>
            <a:off x="563006" y="726666"/>
            <a:ext cx="5812317" cy="568735"/>
          </a:xfrm>
          <a:prstGeom prst="rect">
            <a:avLst/>
          </a:prstGeom>
        </p:spPr>
        <p:txBody>
          <a:bodyPr anchor="ctr"/>
          <a:lstStyle>
            <a:lvl1pPr marL="0" indent="0" algn="ctr">
              <a:buNone/>
              <a:defRPr sz="2400" baseline="0">
                <a:solidFill>
                  <a:schemeClr val="tx2"/>
                </a:solidFill>
                <a:latin typeface="+mn-lt"/>
                <a:ea typeface="+mn-ea"/>
                <a:cs typeface="+mj-cs"/>
              </a:defRPr>
            </a:lvl1pPr>
            <a:lvl2pPr marL="257175" indent="0" algn="ctr">
              <a:buNone/>
            </a:lvl2pPr>
            <a:lvl3pPr marL="514350" indent="0" algn="ctr">
              <a:buNone/>
            </a:lvl3pPr>
            <a:lvl4pPr marL="771525" indent="0" algn="ctr">
              <a:buNone/>
            </a:lvl4pPr>
            <a:lvl5pPr marL="1028700" indent="0" algn="ctr">
              <a:buNone/>
            </a:lvl5pPr>
            <a:lvl6pPr marL="1285875" indent="0" algn="ctr">
              <a:buNone/>
            </a:lvl6pPr>
            <a:lvl7pPr marL="1543050" indent="0" algn="ctr">
              <a:buNone/>
            </a:lvl7pPr>
            <a:lvl8pPr marL="1800225" indent="0" algn="ctr">
              <a:buNone/>
            </a:lvl8pPr>
            <a:lvl9pPr marL="2057400" indent="0" algn="ctr">
              <a:buNone/>
            </a:lvl9pPr>
          </a:lstStyle>
          <a:p>
            <a:r>
              <a:rPr lang="zh-CN" altLang="en-US"/>
              <a:t>单击此处编辑母版副标题样式</a:t>
            </a:r>
            <a:endParaRPr lang="en-US" dirty="0"/>
          </a:p>
        </p:txBody>
      </p:sp>
      <p:sp>
        <p:nvSpPr>
          <p:cNvPr id="25" name="Text Placeholder 24"/>
          <p:cNvSpPr>
            <a:spLocks noGrp="1"/>
          </p:cNvSpPr>
          <p:nvPr>
            <p:ph type="body" sz="quarter" idx="10"/>
          </p:nvPr>
        </p:nvSpPr>
        <p:spPr>
          <a:xfrm>
            <a:off x="5280025" y="5550204"/>
            <a:ext cx="4273554" cy="790860"/>
          </a:xfrm>
          <a:prstGeom prst="rect">
            <a:avLst/>
          </a:prstGeom>
        </p:spPr>
        <p:txBody>
          <a:bodyPr/>
          <a:lstStyle>
            <a:lvl1pPr marL="0" indent="0" algn="ctr">
              <a:buNone/>
              <a:defRPr sz="2400" baseline="0">
                <a:solidFill>
                  <a:schemeClr val="accent1">
                    <a:lumMod val="60000"/>
                    <a:lumOff val="40000"/>
                  </a:schemeClr>
                </a:solidFill>
                <a:latin typeface="+mn-lt"/>
                <a:ea typeface="+mn-ea"/>
              </a:defRPr>
            </a:lvl1pPr>
          </a:lstStyle>
          <a:p>
            <a:pPr lvl="0"/>
            <a:r>
              <a:rPr lang="zh-CN" altLang="en-US"/>
              <a:t>编辑母版文本样式</a:t>
            </a:r>
          </a:p>
        </p:txBody>
      </p:sp>
    </p:spTree>
    <p:extLst>
      <p:ext uri="{BB962C8B-B14F-4D97-AF65-F5344CB8AC3E}">
        <p14:creationId xmlns:p14="http://schemas.microsoft.com/office/powerpoint/2010/main" val="16165971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ubsection">
    <p:spTree>
      <p:nvGrpSpPr>
        <p:cNvPr id="1" name=""/>
        <p:cNvGrpSpPr/>
        <p:nvPr/>
      </p:nvGrpSpPr>
      <p:grpSpPr>
        <a:xfrm>
          <a:off x="0" y="0"/>
          <a:ext cx="0" cy="0"/>
          <a:chOff x="0" y="0"/>
          <a:chExt cx="0" cy="0"/>
        </a:xfrm>
      </p:grpSpPr>
      <p:pic>
        <p:nvPicPr>
          <p:cNvPr id="12" name="图片 11">
            <a:extLst>
              <a:ext uri="{FF2B5EF4-FFF2-40B4-BE49-F238E27FC236}">
                <a16:creationId xmlns:a16="http://schemas.microsoft.com/office/drawing/2014/main" id="{22BBD6FA-A54A-485F-87D9-C9652F586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807" y="1524000"/>
            <a:ext cx="6117446" cy="4684464"/>
          </a:xfrm>
          <a:prstGeom prst="rect">
            <a:avLst/>
          </a:prstGeom>
        </p:spPr>
      </p:pic>
      <p:sp>
        <p:nvSpPr>
          <p:cNvPr id="16" name="Rectangle 10">
            <a:extLst>
              <a:ext uri="{FF2B5EF4-FFF2-40B4-BE49-F238E27FC236}">
                <a16:creationId xmlns:a16="http://schemas.microsoft.com/office/drawing/2014/main" id="{80B6937C-32A7-4CC7-BE4A-AB7A564C7186}"/>
              </a:ext>
            </a:extLst>
          </p:cNvPr>
          <p:cNvSpPr/>
          <p:nvPr/>
        </p:nvSpPr>
        <p:spPr>
          <a:xfrm>
            <a:off x="4038600" y="3657600"/>
            <a:ext cx="6637866" cy="1654481"/>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7" name="Rectangle 14">
            <a:extLst>
              <a:ext uri="{FF2B5EF4-FFF2-40B4-BE49-F238E27FC236}">
                <a16:creationId xmlns:a16="http://schemas.microsoft.com/office/drawing/2014/main" id="{EDC16F34-8BA1-4A4E-B0D4-81397E1E7CD0}"/>
              </a:ext>
            </a:extLst>
          </p:cNvPr>
          <p:cNvSpPr/>
          <p:nvPr/>
        </p:nvSpPr>
        <p:spPr>
          <a:xfrm>
            <a:off x="4038600" y="3657600"/>
            <a:ext cx="304800" cy="1654481"/>
          </a:xfrm>
          <a:prstGeom prst="rect">
            <a:avLst/>
          </a:prstGeom>
          <a:solidFill>
            <a:srgbClr val="EB641B"/>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lvl1pPr>
              <a:defRPr>
                <a:solidFill>
                  <a:schemeClr val="tx1"/>
                </a:solidFill>
                <a:latin typeface="Cambria" panose="02040503050406030204" pitchFamily="18" charset="0"/>
              </a:defRPr>
            </a:lvl1pPr>
            <a:lvl2pPr marL="742950" indent="-285750">
              <a:defRPr>
                <a:solidFill>
                  <a:schemeClr val="tx1"/>
                </a:solidFill>
                <a:latin typeface="Cambria" panose="02040503050406030204" pitchFamily="18" charset="0"/>
              </a:defRPr>
            </a:lvl2pPr>
            <a:lvl3pPr marL="1143000" indent="-228600">
              <a:defRPr>
                <a:solidFill>
                  <a:schemeClr val="tx1"/>
                </a:solidFill>
                <a:latin typeface="Cambria" panose="02040503050406030204" pitchFamily="18" charset="0"/>
              </a:defRPr>
            </a:lvl3pPr>
            <a:lvl4pPr marL="1600200" indent="-228600">
              <a:defRPr>
                <a:solidFill>
                  <a:schemeClr val="tx1"/>
                </a:solidFill>
                <a:latin typeface="Cambria" panose="02040503050406030204" pitchFamily="18" charset="0"/>
              </a:defRPr>
            </a:lvl4pPr>
            <a:lvl5pPr marL="2057400" indent="-228600">
              <a:defRPr>
                <a:solidFill>
                  <a:schemeClr val="tx1"/>
                </a:solidFill>
                <a:latin typeface="Cambria" panose="02040503050406030204" pitchFamily="18" charset="0"/>
              </a:defRPr>
            </a:lvl5pPr>
            <a:lvl6pPr marL="2514600" indent="-228600" fontAlgn="base">
              <a:spcBef>
                <a:spcPct val="0"/>
              </a:spcBef>
              <a:spcAft>
                <a:spcPct val="0"/>
              </a:spcAft>
              <a:defRPr>
                <a:solidFill>
                  <a:schemeClr val="tx1"/>
                </a:solidFill>
                <a:latin typeface="Cambria" panose="02040503050406030204" pitchFamily="18" charset="0"/>
              </a:defRPr>
            </a:lvl6pPr>
            <a:lvl7pPr marL="2971800" indent="-228600" fontAlgn="base">
              <a:spcBef>
                <a:spcPct val="0"/>
              </a:spcBef>
              <a:spcAft>
                <a:spcPct val="0"/>
              </a:spcAft>
              <a:defRPr>
                <a:solidFill>
                  <a:schemeClr val="tx1"/>
                </a:solidFill>
                <a:latin typeface="Cambria" panose="02040503050406030204" pitchFamily="18" charset="0"/>
              </a:defRPr>
            </a:lvl7pPr>
            <a:lvl8pPr marL="3429000" indent="-228600" fontAlgn="base">
              <a:spcBef>
                <a:spcPct val="0"/>
              </a:spcBef>
              <a:spcAft>
                <a:spcPct val="0"/>
              </a:spcAft>
              <a:defRPr>
                <a:solidFill>
                  <a:schemeClr val="tx1"/>
                </a:solidFill>
                <a:latin typeface="Cambria" panose="02040503050406030204" pitchFamily="18" charset="0"/>
              </a:defRPr>
            </a:lvl8pPr>
            <a:lvl9pPr marL="3886200" indent="-228600" fontAlgn="base">
              <a:spcBef>
                <a:spcPct val="0"/>
              </a:spcBef>
              <a:spcAft>
                <a:spcPct val="0"/>
              </a:spcAft>
              <a:defRPr>
                <a:solidFill>
                  <a:schemeClr val="tx1"/>
                </a:solidFill>
                <a:latin typeface="Cambria" panose="02040503050406030204" pitchFamily="18" charset="0"/>
              </a:defRPr>
            </a:lvl9pPr>
          </a:lstStyle>
          <a:p>
            <a:pPr algn="ctr" eaLnBrk="1" hangingPunct="1">
              <a:defRPr/>
            </a:pPr>
            <a:endParaRPr lang="zh-CN" altLang="zh-CN">
              <a:solidFill>
                <a:srgbClr val="FFFFFF"/>
              </a:solidFill>
            </a:endParaRPr>
          </a:p>
        </p:txBody>
      </p:sp>
      <p:sp>
        <p:nvSpPr>
          <p:cNvPr id="18" name="Title 7">
            <a:extLst>
              <a:ext uri="{FF2B5EF4-FFF2-40B4-BE49-F238E27FC236}">
                <a16:creationId xmlns:a16="http://schemas.microsoft.com/office/drawing/2014/main" id="{66A552C8-61F4-43FC-A974-9DE54534BA38}"/>
              </a:ext>
            </a:extLst>
          </p:cNvPr>
          <p:cNvSpPr>
            <a:spLocks noGrp="1"/>
          </p:cNvSpPr>
          <p:nvPr>
            <p:ph type="ctrTitle"/>
          </p:nvPr>
        </p:nvSpPr>
        <p:spPr>
          <a:xfrm>
            <a:off x="4343400" y="3827594"/>
            <a:ext cx="6142566" cy="1280888"/>
          </a:xfrm>
        </p:spPr>
        <p:txBody>
          <a:bodyPr anchor="ctr"/>
          <a:lstStyle>
            <a:lvl1pPr algn="ctr">
              <a:defRPr sz="2800" baseline="0">
                <a:solidFill>
                  <a:schemeClr val="tx1"/>
                </a:solidFill>
                <a:latin typeface="+mj-lt"/>
                <a:ea typeface="+mj-ea"/>
              </a:defRPr>
            </a:lvl1pPr>
          </a:lstStyle>
          <a:p>
            <a:r>
              <a:rPr lang="zh-CN" altLang="en-US"/>
              <a:t>单击此处编辑母版标题样式</a:t>
            </a:r>
            <a:endParaRPr lang="en-US" dirty="0"/>
          </a:p>
        </p:txBody>
      </p:sp>
    </p:spTree>
    <p:extLst>
      <p:ext uri="{BB962C8B-B14F-4D97-AF65-F5344CB8AC3E}">
        <p14:creationId xmlns:p14="http://schemas.microsoft.com/office/powerpoint/2010/main" val="1816979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45050A8B-65E7-4672-9976-F9678ACCF210}"/>
              </a:ext>
            </a:extLst>
          </p:cNvPr>
          <p:cNvSpPr>
            <a:spLocks noGrp="1"/>
          </p:cNvSpPr>
          <p:nvPr>
            <p:ph type="title"/>
          </p:nvPr>
        </p:nvSpPr>
        <p:spPr/>
        <p:txBody>
          <a:bodyPr/>
          <a:lstStyle/>
          <a:p>
            <a:r>
              <a:rPr lang="zh-CN" altLang="en-US"/>
              <a:t>单击此处编辑母版标题样式</a:t>
            </a:r>
          </a:p>
        </p:txBody>
      </p:sp>
      <p:sp>
        <p:nvSpPr>
          <p:cNvPr id="8" name="Text Placeholder 12">
            <a:extLst>
              <a:ext uri="{FF2B5EF4-FFF2-40B4-BE49-F238E27FC236}">
                <a16:creationId xmlns:a16="http://schemas.microsoft.com/office/drawing/2014/main" id="{B69B4C9B-667A-475B-923C-B441E63112E2}"/>
              </a:ext>
            </a:extLst>
          </p:cNvPr>
          <p:cNvSpPr>
            <a:spLocks noGrp="1"/>
          </p:cNvSpPr>
          <p:nvPr>
            <p:ph idx="1"/>
          </p:nvPr>
        </p:nvSpPr>
        <p:spPr bwMode="auto">
          <a:xfrm>
            <a:off x="609600" y="990600"/>
            <a:ext cx="10972800"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p:txBody>
      </p:sp>
    </p:spTree>
    <p:extLst>
      <p:ext uri="{BB962C8B-B14F-4D97-AF65-F5344CB8AC3E}">
        <p14:creationId xmlns:p14="http://schemas.microsoft.com/office/powerpoint/2010/main" val="3062667306"/>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Just Title">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A3B309-5F91-4EC3-B303-AAA2C66728F2}"/>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6734188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600" y="1066799"/>
            <a:ext cx="5486400" cy="5181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8" name="Text Placeholder 12">
            <a:extLst>
              <a:ext uri="{FF2B5EF4-FFF2-40B4-BE49-F238E27FC236}">
                <a16:creationId xmlns:a16="http://schemas.microsoft.com/office/drawing/2014/main" id="{6DDB8618-EAD8-4F6C-91B0-8D6B79685A8E}"/>
              </a:ext>
            </a:extLst>
          </p:cNvPr>
          <p:cNvSpPr>
            <a:spLocks noGrp="1"/>
          </p:cNvSpPr>
          <p:nvPr>
            <p:ph idx="10"/>
          </p:nvPr>
        </p:nvSpPr>
        <p:spPr bwMode="auto">
          <a:xfrm>
            <a:off x="6248400" y="1066800"/>
            <a:ext cx="5334000" cy="51815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endParaRPr lang="zh-CN" altLang="en-US" dirty="0"/>
          </a:p>
        </p:txBody>
      </p:sp>
      <p:cxnSp>
        <p:nvCxnSpPr>
          <p:cNvPr id="6" name="直接连接符 5">
            <a:extLst>
              <a:ext uri="{FF2B5EF4-FFF2-40B4-BE49-F238E27FC236}">
                <a16:creationId xmlns:a16="http://schemas.microsoft.com/office/drawing/2014/main" id="{8BBF6941-949E-4A04-9A27-6C5758225CF1}"/>
              </a:ext>
            </a:extLst>
          </p:cNvPr>
          <p:cNvCxnSpPr/>
          <p:nvPr/>
        </p:nvCxnSpPr>
        <p:spPr>
          <a:xfrm>
            <a:off x="6172200" y="1066800"/>
            <a:ext cx="0" cy="51816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5170522"/>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Text_IMG">
    <p:spTree>
      <p:nvGrpSpPr>
        <p:cNvPr id="1" name=""/>
        <p:cNvGrpSpPr/>
        <p:nvPr/>
      </p:nvGrpSpPr>
      <p:grpSpPr>
        <a:xfrm>
          <a:off x="0" y="0"/>
          <a:ext cx="0" cy="0"/>
          <a:chOff x="0" y="0"/>
          <a:chExt cx="0" cy="0"/>
        </a:xfrm>
      </p:grpSpPr>
      <p:sp>
        <p:nvSpPr>
          <p:cNvPr id="7" name="Text Placeholder 12">
            <a:extLst>
              <a:ext uri="{FF2B5EF4-FFF2-40B4-BE49-F238E27FC236}">
                <a16:creationId xmlns:a16="http://schemas.microsoft.com/office/drawing/2014/main" id="{82554C09-2158-4702-9B4A-E0C68913C689}"/>
              </a:ext>
            </a:extLst>
          </p:cNvPr>
          <p:cNvSpPr>
            <a:spLocks noGrp="1"/>
          </p:cNvSpPr>
          <p:nvPr>
            <p:ph idx="1"/>
          </p:nvPr>
        </p:nvSpPr>
        <p:spPr bwMode="auto">
          <a:xfrm>
            <a:off x="609599" y="990600"/>
            <a:ext cx="5885794" cy="541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baseline="0">
                <a:latin typeface="+mn-lt"/>
              </a:defRPr>
            </a:lvl1pPr>
            <a:lvl2pPr>
              <a:defRPr baseline="0">
                <a:latin typeface="+mn-lt"/>
              </a:defRPr>
            </a:lvl2pPr>
            <a:lvl3pPr>
              <a:defRPr baseline="0">
                <a:latin typeface="+mn-lt"/>
              </a:defRPr>
            </a:lvl3pPr>
            <a:lvl4pPr>
              <a:defRPr baseline="0">
                <a:latin typeface="+mn-lt"/>
              </a:defRPr>
            </a:lvl4pPr>
            <a:lvl5pPr>
              <a:defRPr baseline="0">
                <a:latin typeface="+mn-lt"/>
              </a:defRPr>
            </a:lvl5pPr>
          </a:lstStyle>
          <a:p>
            <a:pPr lvl="0"/>
            <a:r>
              <a:rPr lang="zh-CN" altLang="en-US"/>
              <a:t>编辑母版文本样式</a:t>
            </a:r>
          </a:p>
          <a:p>
            <a:pPr lvl="1"/>
            <a:r>
              <a:rPr lang="zh-CN" altLang="en-US"/>
              <a:t>第二级</a:t>
            </a:r>
          </a:p>
          <a:p>
            <a:pPr lvl="2"/>
            <a:r>
              <a:rPr lang="zh-CN" altLang="en-US"/>
              <a:t>第三级</a:t>
            </a:r>
          </a:p>
          <a:p>
            <a:pPr lvl="3"/>
            <a:r>
              <a:rPr lang="zh-CN" altLang="en-US"/>
              <a:t>第四级</a:t>
            </a:r>
          </a:p>
        </p:txBody>
      </p:sp>
      <p:sp>
        <p:nvSpPr>
          <p:cNvPr id="3" name="标题 2">
            <a:extLst>
              <a:ext uri="{FF2B5EF4-FFF2-40B4-BE49-F238E27FC236}">
                <a16:creationId xmlns:a16="http://schemas.microsoft.com/office/drawing/2014/main" id="{63866493-C33C-47CF-99CE-6E19EE056D71}"/>
              </a:ext>
            </a:extLst>
          </p:cNvPr>
          <p:cNvSpPr>
            <a:spLocks noGrp="1"/>
          </p:cNvSpPr>
          <p:nvPr>
            <p:ph type="title"/>
          </p:nvPr>
        </p:nvSpPr>
        <p:spPr/>
        <p:txBody>
          <a:bodyPr/>
          <a:lstStyle/>
          <a:p>
            <a:r>
              <a:rPr lang="zh-CN" altLang="en-US"/>
              <a:t>单击此处编辑母版标题样式</a:t>
            </a:r>
          </a:p>
        </p:txBody>
      </p:sp>
      <p:cxnSp>
        <p:nvCxnSpPr>
          <p:cNvPr id="4" name="直接连接符 3">
            <a:extLst>
              <a:ext uri="{FF2B5EF4-FFF2-40B4-BE49-F238E27FC236}">
                <a16:creationId xmlns:a16="http://schemas.microsoft.com/office/drawing/2014/main" id="{F4E9E31A-5EEF-4165-B7AF-A4322917E67F}"/>
              </a:ext>
            </a:extLst>
          </p:cNvPr>
          <p:cNvCxnSpPr>
            <a:cxnSpLocks/>
          </p:cNvCxnSpPr>
          <p:nvPr/>
        </p:nvCxnSpPr>
        <p:spPr>
          <a:xfrm>
            <a:off x="6553200" y="1066800"/>
            <a:ext cx="0" cy="53340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 name="直接连接符 4">
            <a:extLst>
              <a:ext uri="{FF2B5EF4-FFF2-40B4-BE49-F238E27FC236}">
                <a16:creationId xmlns:a16="http://schemas.microsoft.com/office/drawing/2014/main" id="{A152D07C-3C57-4D3E-A506-3F04761CF3A7}"/>
              </a:ext>
            </a:extLst>
          </p:cNvPr>
          <p:cNvCxnSpPr/>
          <p:nvPr userDrawn="1"/>
        </p:nvCxnSpPr>
        <p:spPr>
          <a:xfrm>
            <a:off x="7112000" y="1219200"/>
            <a:ext cx="0" cy="493776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838960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empty">
    <p:spTree>
      <p:nvGrpSpPr>
        <p:cNvPr id="1" name=""/>
        <p:cNvGrpSpPr/>
        <p:nvPr/>
      </p:nvGrpSpPr>
      <p:grpSpPr>
        <a:xfrm>
          <a:off x="0" y="0"/>
          <a:ext cx="0" cy="0"/>
          <a:chOff x="0" y="0"/>
          <a:chExt cx="0" cy="0"/>
        </a:xfrm>
      </p:grpSpPr>
    </p:spTree>
    <p:extLst>
      <p:ext uri="{BB962C8B-B14F-4D97-AF65-F5344CB8AC3E}">
        <p14:creationId xmlns:p14="http://schemas.microsoft.com/office/powerpoint/2010/main" val="144115345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21"/>
          <p:cNvSpPr>
            <a:spLocks noGrp="1"/>
          </p:cNvSpPr>
          <p:nvPr>
            <p:ph type="title"/>
          </p:nvPr>
        </p:nvSpPr>
        <p:spPr bwMode="auto">
          <a:xfrm>
            <a:off x="609600" y="152401"/>
            <a:ext cx="10972800" cy="7334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dirty="0"/>
              <a:t>单击此处编辑母版标题样式</a:t>
            </a:r>
            <a:endParaRPr lang="en-US" altLang="zh-CN" dirty="0"/>
          </a:p>
        </p:txBody>
      </p:sp>
      <p:sp>
        <p:nvSpPr>
          <p:cNvPr id="1027" name="Text Placeholder 12"/>
          <p:cNvSpPr>
            <a:spLocks noGrp="1"/>
          </p:cNvSpPr>
          <p:nvPr>
            <p:ph type="body" idx="1"/>
          </p:nvPr>
        </p:nvSpPr>
        <p:spPr bwMode="auto">
          <a:xfrm>
            <a:off x="609600" y="990599"/>
            <a:ext cx="10972800" cy="5410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dirty="0"/>
              <a:t>编辑母版文本样式</a:t>
            </a:r>
          </a:p>
          <a:p>
            <a:pPr lvl="1"/>
            <a:r>
              <a:rPr lang="zh-CN" altLang="en-US" dirty="0"/>
              <a:t>第二级</a:t>
            </a:r>
          </a:p>
          <a:p>
            <a:pPr lvl="2"/>
            <a:r>
              <a:rPr lang="zh-CN" altLang="en-US" dirty="0"/>
              <a:t>第三级</a:t>
            </a:r>
            <a:endParaRPr lang="en-US" altLang="zh-CN" dirty="0"/>
          </a:p>
        </p:txBody>
      </p:sp>
      <p:sp>
        <p:nvSpPr>
          <p:cNvPr id="1032" name="Straight Connector 28"/>
          <p:cNvSpPr>
            <a:spLocks noChangeShapeType="1"/>
          </p:cNvSpPr>
          <p:nvPr/>
        </p:nvSpPr>
        <p:spPr bwMode="auto">
          <a:xfrm>
            <a:off x="609600" y="898949"/>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 name="Footer Placeholder 2">
            <a:extLst>
              <a:ext uri="{FF2B5EF4-FFF2-40B4-BE49-F238E27FC236}">
                <a16:creationId xmlns:a16="http://schemas.microsoft.com/office/drawing/2014/main" id="{B4DA9BC6-43CA-408A-BEB7-8746EA49C870}"/>
              </a:ext>
            </a:extLst>
          </p:cNvPr>
          <p:cNvSpPr txBox="1">
            <a:spLocks/>
          </p:cNvSpPr>
          <p:nvPr/>
        </p:nvSpPr>
        <p:spPr>
          <a:xfrm>
            <a:off x="4114800" y="6492875"/>
            <a:ext cx="3962400" cy="365125"/>
          </a:xfrm>
          <a:prstGeom prst="rect">
            <a:avLst/>
          </a:prstGeom>
        </p:spPr>
        <p:txBody>
          <a:bodyPr vert="horz" wrap="square" lIns="0" tIns="0" rIns="0" bIns="0" numCol="1" anchor="ctr" anchorCtr="0" compatLnSpc="1">
            <a:prstTxWarp prst="textNoShape">
              <a:avLst/>
            </a:prstTxWarp>
          </a:bodyPr>
          <a:lstStyle>
            <a:defPPr>
              <a:defRPr lang="en-US"/>
            </a:defPPr>
            <a:lvl1pPr algn="r" rtl="0" eaLnBrk="1" fontAlgn="base" hangingPunct="1">
              <a:spcBef>
                <a:spcPct val="0"/>
              </a:spcBef>
              <a:spcAft>
                <a:spcPct val="0"/>
              </a:spcAft>
              <a:defRPr sz="1400" kern="1200">
                <a:solidFill>
                  <a:schemeClr val="tx2"/>
                </a:solidFill>
                <a:latin typeface="Cambria" panose="02040503050406030204" pitchFamily="18"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ctr">
              <a:defRPr/>
            </a:pPr>
            <a:r>
              <a:rPr lang="en-US" altLang="zh-CN" sz="1400" dirty="0">
                <a:latin typeface="+mn-ea"/>
                <a:ea typeface="+mn-ea"/>
              </a:rPr>
              <a:t>《</a:t>
            </a:r>
            <a:r>
              <a:rPr lang="zh-CN" altLang="en-US" sz="1400" dirty="0">
                <a:latin typeface="+mn-ea"/>
                <a:ea typeface="+mn-ea"/>
              </a:rPr>
              <a:t>神经网络与深度学习</a:t>
            </a:r>
            <a:r>
              <a:rPr lang="en-US" altLang="zh-CN" sz="1400" dirty="0">
                <a:latin typeface="+mn-ea"/>
                <a:ea typeface="+mn-ea"/>
              </a:rPr>
              <a:t>》</a:t>
            </a:r>
            <a:endParaRPr lang="zh-CN" altLang="zh-CN" sz="1400" dirty="0">
              <a:latin typeface="+mn-ea"/>
              <a:ea typeface="+mn-ea"/>
            </a:endParaRPr>
          </a:p>
        </p:txBody>
      </p:sp>
      <p:sp>
        <p:nvSpPr>
          <p:cNvPr id="13" name="Rectangle 17">
            <a:extLst>
              <a:ext uri="{FF2B5EF4-FFF2-40B4-BE49-F238E27FC236}">
                <a16:creationId xmlns:a16="http://schemas.microsoft.com/office/drawing/2014/main" id="{5ED38AFC-6FCA-41F0-B286-064BF4E13FFB}"/>
              </a:ext>
            </a:extLst>
          </p:cNvPr>
          <p:cNvSpPr/>
          <p:nvPr/>
        </p:nvSpPr>
        <p:spPr>
          <a:xfrm>
            <a:off x="10972800" y="6521549"/>
            <a:ext cx="375424" cy="307777"/>
          </a:xfrm>
          <a:prstGeom prst="rect">
            <a:avLst/>
          </a:prstGeom>
        </p:spPr>
        <p:txBody>
          <a:bodyPr wrap="none" anchor="ctr">
            <a:spAutoFit/>
          </a:bodyPr>
          <a:lstStyle/>
          <a:p>
            <a:pPr>
              <a:defRPr/>
            </a:pPr>
            <a:fld id="{7A0AC270-0923-4589-A51D-6091E7C5371F}" type="slidenum">
              <a:rPr lang="zh-CN" altLang="en-US" sz="1400" kern="1200" smtClean="0">
                <a:solidFill>
                  <a:schemeClr val="tx2"/>
                </a:solidFill>
                <a:latin typeface="+mn-ea"/>
                <a:ea typeface="+mn-ea"/>
                <a:cs typeface="Arial" panose="020B0604020202020204" pitchFamily="34" charset="0"/>
              </a:rPr>
              <a:pPr>
                <a:defRPr/>
              </a:pPr>
              <a:t>‹#›</a:t>
            </a:fld>
            <a:endParaRPr lang="en-US" altLang="zh-CN" sz="1400" kern="1200" dirty="0">
              <a:solidFill>
                <a:schemeClr val="tx2"/>
              </a:solidFill>
              <a:latin typeface="+mn-ea"/>
              <a:ea typeface="+mn-ea"/>
              <a:cs typeface="Arial" panose="020B0604020202020204" pitchFamily="34" charset="0"/>
            </a:endParaRPr>
          </a:p>
        </p:txBody>
      </p:sp>
      <p:sp>
        <p:nvSpPr>
          <p:cNvPr id="12" name="Straight Connector 27">
            <a:extLst>
              <a:ext uri="{FF2B5EF4-FFF2-40B4-BE49-F238E27FC236}">
                <a16:creationId xmlns:a16="http://schemas.microsoft.com/office/drawing/2014/main" id="{D59285DE-C1F6-4B21-8CFE-2BDB4A08D1BB}"/>
              </a:ext>
            </a:extLst>
          </p:cNvPr>
          <p:cNvSpPr>
            <a:spLocks noChangeShapeType="1"/>
          </p:cNvSpPr>
          <p:nvPr/>
        </p:nvSpPr>
        <p:spPr bwMode="auto">
          <a:xfrm>
            <a:off x="609600" y="6477000"/>
            <a:ext cx="10972800" cy="0"/>
          </a:xfrm>
          <a:prstGeom prst="line">
            <a:avLst/>
          </a:prstGeom>
          <a:noFill/>
          <a:ln w="9525" algn="ctr">
            <a:solidFill>
              <a:schemeClr val="accent2"/>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sz="1400">
              <a:latin typeface="+mn-ea"/>
              <a:ea typeface="+mn-ea"/>
            </a:endParaRPr>
          </a:p>
        </p:txBody>
      </p:sp>
    </p:spTree>
    <p:extLst>
      <p:ext uri="{BB962C8B-B14F-4D97-AF65-F5344CB8AC3E}">
        <p14:creationId xmlns:p14="http://schemas.microsoft.com/office/powerpoint/2010/main" val="1297738532"/>
      </p:ext>
    </p:extLst>
  </p:cSld>
  <p:clrMap bg1="lt1" tx1="dk1" bg2="lt2" tx2="dk2" accent1="accent1" accent2="accent2" accent3="accent3" accent4="accent4" accent5="accent5" accent6="accent6" hlink="hlink" folHlink="folHlink"/>
  <p:sldLayoutIdLst>
    <p:sldLayoutId id="2147483834" r:id="rId1"/>
    <p:sldLayoutId id="2147483835" r:id="rId2"/>
    <p:sldLayoutId id="2147483836" r:id="rId3"/>
    <p:sldLayoutId id="2147483837" r:id="rId4"/>
    <p:sldLayoutId id="2147483838" r:id="rId5"/>
    <p:sldLayoutId id="2147483839" r:id="rId6"/>
    <p:sldLayoutId id="2147483840" r:id="rId7"/>
  </p:sldLayoutIdLst>
  <p:hf hdr="0" ftr="0" dt="0"/>
  <p:txStyles>
    <p:titleStyle>
      <a:lvl1pPr algn="l" rtl="0" eaLnBrk="1" fontAlgn="base" hangingPunct="1">
        <a:spcBef>
          <a:spcPct val="0"/>
        </a:spcBef>
        <a:spcAft>
          <a:spcPct val="0"/>
        </a:spcAft>
        <a:defRPr sz="3200" kern="1200">
          <a:solidFill>
            <a:srgbClr val="000000"/>
          </a:solidFill>
          <a:latin typeface="+mj-lt"/>
          <a:ea typeface="+mj-ea"/>
          <a:cs typeface="+mj-cs"/>
        </a:defRPr>
      </a:lvl1pPr>
      <a:lvl2pPr algn="l" rtl="0" eaLnBrk="1" fontAlgn="base" hangingPunct="1">
        <a:spcBef>
          <a:spcPct val="0"/>
        </a:spcBef>
        <a:spcAft>
          <a:spcPct val="0"/>
        </a:spcAft>
        <a:defRPr sz="2025">
          <a:solidFill>
            <a:schemeClr val="tx2"/>
          </a:solidFill>
          <a:latin typeface="Calibri" panose="020F0502020204030204" pitchFamily="34" charset="0"/>
        </a:defRPr>
      </a:lvl2pPr>
      <a:lvl3pPr algn="l" rtl="0" eaLnBrk="1" fontAlgn="base" hangingPunct="1">
        <a:spcBef>
          <a:spcPct val="0"/>
        </a:spcBef>
        <a:spcAft>
          <a:spcPct val="0"/>
        </a:spcAft>
        <a:defRPr sz="2025">
          <a:solidFill>
            <a:schemeClr val="tx2"/>
          </a:solidFill>
          <a:latin typeface="Calibri" panose="020F0502020204030204" pitchFamily="34" charset="0"/>
        </a:defRPr>
      </a:lvl3pPr>
      <a:lvl4pPr algn="l" rtl="0" eaLnBrk="1" fontAlgn="base" hangingPunct="1">
        <a:spcBef>
          <a:spcPct val="0"/>
        </a:spcBef>
        <a:spcAft>
          <a:spcPct val="0"/>
        </a:spcAft>
        <a:defRPr sz="2025">
          <a:solidFill>
            <a:schemeClr val="tx2"/>
          </a:solidFill>
          <a:latin typeface="Calibri" panose="020F0502020204030204" pitchFamily="34" charset="0"/>
        </a:defRPr>
      </a:lvl4pPr>
      <a:lvl5pPr algn="l" rtl="0" eaLnBrk="1" fontAlgn="base" hangingPunct="1">
        <a:spcBef>
          <a:spcPct val="0"/>
        </a:spcBef>
        <a:spcAft>
          <a:spcPct val="0"/>
        </a:spcAft>
        <a:defRPr sz="2025">
          <a:solidFill>
            <a:schemeClr val="tx2"/>
          </a:solidFill>
          <a:latin typeface="Calibri" panose="020F0502020204030204" pitchFamily="34" charset="0"/>
        </a:defRPr>
      </a:lvl5pPr>
      <a:lvl6pPr marL="257175" algn="l" rtl="0" eaLnBrk="1" fontAlgn="base" hangingPunct="1">
        <a:spcBef>
          <a:spcPct val="0"/>
        </a:spcBef>
        <a:spcAft>
          <a:spcPct val="0"/>
        </a:spcAft>
        <a:defRPr sz="1800">
          <a:solidFill>
            <a:schemeClr val="tx2"/>
          </a:solidFill>
          <a:latin typeface="Calibri" panose="020F0502020204030204" pitchFamily="34" charset="0"/>
        </a:defRPr>
      </a:lvl6pPr>
      <a:lvl7pPr marL="514350" algn="l" rtl="0" eaLnBrk="1" fontAlgn="base" hangingPunct="1">
        <a:spcBef>
          <a:spcPct val="0"/>
        </a:spcBef>
        <a:spcAft>
          <a:spcPct val="0"/>
        </a:spcAft>
        <a:defRPr sz="1800">
          <a:solidFill>
            <a:schemeClr val="tx2"/>
          </a:solidFill>
          <a:latin typeface="Calibri" panose="020F0502020204030204" pitchFamily="34" charset="0"/>
        </a:defRPr>
      </a:lvl7pPr>
      <a:lvl8pPr marL="771525" algn="l" rtl="0" eaLnBrk="1" fontAlgn="base" hangingPunct="1">
        <a:spcBef>
          <a:spcPct val="0"/>
        </a:spcBef>
        <a:spcAft>
          <a:spcPct val="0"/>
        </a:spcAft>
        <a:defRPr sz="1800">
          <a:solidFill>
            <a:schemeClr val="tx2"/>
          </a:solidFill>
          <a:latin typeface="Calibri" panose="020F0502020204030204" pitchFamily="34" charset="0"/>
        </a:defRPr>
      </a:lvl8pPr>
      <a:lvl9pPr marL="1028700" algn="l" rtl="0" eaLnBrk="1" fontAlgn="base" hangingPunct="1">
        <a:spcBef>
          <a:spcPct val="0"/>
        </a:spcBef>
        <a:spcAft>
          <a:spcPct val="0"/>
        </a:spcAft>
        <a:defRPr sz="1800">
          <a:solidFill>
            <a:schemeClr val="tx2"/>
          </a:solidFill>
          <a:latin typeface="Calibri" panose="020F0502020204030204" pitchFamily="34" charset="0"/>
        </a:defRPr>
      </a:lvl9pPr>
    </p:titleStyle>
    <p:body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57175" algn="l" rtl="0" eaLnBrk="1" latinLnBrk="0" hangingPunct="1">
        <a:defRPr kumimoji="0" kern="1200">
          <a:solidFill>
            <a:schemeClr val="tx1"/>
          </a:solidFill>
          <a:latin typeface="+mn-lt"/>
          <a:ea typeface="+mn-ea"/>
          <a:cs typeface="+mn-cs"/>
        </a:defRPr>
      </a:lvl2pPr>
      <a:lvl3pPr marL="514350" algn="l" rtl="0" eaLnBrk="1" latinLnBrk="0" hangingPunct="1">
        <a:defRPr kumimoji="0" kern="1200">
          <a:solidFill>
            <a:schemeClr val="tx1"/>
          </a:solidFill>
          <a:latin typeface="+mn-lt"/>
          <a:ea typeface="+mn-ea"/>
          <a:cs typeface="+mn-cs"/>
        </a:defRPr>
      </a:lvl3pPr>
      <a:lvl4pPr marL="771525" algn="l" rtl="0" eaLnBrk="1" latinLnBrk="0" hangingPunct="1">
        <a:defRPr kumimoji="0" kern="1200">
          <a:solidFill>
            <a:schemeClr val="tx1"/>
          </a:solidFill>
          <a:latin typeface="+mn-lt"/>
          <a:ea typeface="+mn-ea"/>
          <a:cs typeface="+mn-cs"/>
        </a:defRPr>
      </a:lvl4pPr>
      <a:lvl5pPr marL="1028700" algn="l" rtl="0" eaLnBrk="1" latinLnBrk="0" hangingPunct="1">
        <a:defRPr kumimoji="0" kern="1200">
          <a:solidFill>
            <a:schemeClr val="tx1"/>
          </a:solidFill>
          <a:latin typeface="+mn-lt"/>
          <a:ea typeface="+mn-ea"/>
          <a:cs typeface="+mn-cs"/>
        </a:defRPr>
      </a:lvl5pPr>
      <a:lvl6pPr marL="1285875" algn="l" rtl="0" eaLnBrk="1" latinLnBrk="0" hangingPunct="1">
        <a:defRPr kumimoji="0" kern="1200">
          <a:solidFill>
            <a:schemeClr val="tx1"/>
          </a:solidFill>
          <a:latin typeface="+mn-lt"/>
          <a:ea typeface="+mn-ea"/>
          <a:cs typeface="+mn-cs"/>
        </a:defRPr>
      </a:lvl6pPr>
      <a:lvl7pPr marL="1543050" algn="l" rtl="0" eaLnBrk="1" latinLnBrk="0" hangingPunct="1">
        <a:defRPr kumimoji="0" kern="1200">
          <a:solidFill>
            <a:schemeClr val="tx1"/>
          </a:solidFill>
          <a:latin typeface="+mn-lt"/>
          <a:ea typeface="+mn-ea"/>
          <a:cs typeface="+mn-cs"/>
        </a:defRPr>
      </a:lvl7pPr>
      <a:lvl8pPr marL="1800225" algn="l" rtl="0" eaLnBrk="1" latinLnBrk="0" hangingPunct="1">
        <a:defRPr kumimoji="0" kern="1200">
          <a:solidFill>
            <a:schemeClr val="tx1"/>
          </a:solidFill>
          <a:latin typeface="+mn-lt"/>
          <a:ea typeface="+mn-ea"/>
          <a:cs typeface="+mn-cs"/>
        </a:defRPr>
      </a:lvl8pPr>
      <a:lvl9pPr marL="20574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nndl.github.io/"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2.tmp"/><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image" Target="../media/image23.tmp"/><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4.tmp"/><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4.xml"/><Relationship Id="rId4" Type="http://schemas.openxmlformats.org/officeDocument/2006/relationships/image" Target="../media/image2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ctrTitle"/>
          </p:nvPr>
        </p:nvSpPr>
        <p:spPr/>
        <p:txBody>
          <a:bodyPr/>
          <a:lstStyle/>
          <a:p>
            <a:r>
              <a:rPr lang="zh-CN" altLang="en-US" dirty="0"/>
              <a:t>模型独立的学习方式</a:t>
            </a:r>
          </a:p>
        </p:txBody>
      </p:sp>
      <p:sp>
        <p:nvSpPr>
          <p:cNvPr id="6" name="副标题 5"/>
          <p:cNvSpPr>
            <a:spLocks noGrp="1"/>
          </p:cNvSpPr>
          <p:nvPr>
            <p:ph type="subTitle" idx="1"/>
          </p:nvPr>
        </p:nvSpPr>
        <p:spPr/>
        <p:txBody>
          <a:bodyPr/>
          <a:lstStyle/>
          <a:p>
            <a:r>
              <a:rPr lang="en-US" altLang="zh-CN" dirty="0"/>
              <a:t>《</a:t>
            </a:r>
            <a:r>
              <a:rPr lang="zh-CN" altLang="en-US" dirty="0"/>
              <a:t>神经网络与深度学习</a:t>
            </a:r>
            <a:r>
              <a:rPr lang="en-US" altLang="zh-CN" dirty="0"/>
              <a:t>》</a:t>
            </a:r>
            <a:endParaRPr lang="zh-CN" altLang="en-US" dirty="0"/>
          </a:p>
        </p:txBody>
      </p:sp>
      <p:sp>
        <p:nvSpPr>
          <p:cNvPr id="15" name="Text Placeholder 14"/>
          <p:cNvSpPr>
            <a:spLocks noGrp="1"/>
          </p:cNvSpPr>
          <p:nvPr>
            <p:ph type="body" sz="quarter" idx="10"/>
          </p:nvPr>
        </p:nvSpPr>
        <p:spPr>
          <a:xfrm>
            <a:off x="5280024" y="5550204"/>
            <a:ext cx="5997575" cy="790860"/>
          </a:xfrm>
        </p:spPr>
        <p:txBody>
          <a:bodyPr/>
          <a:lstStyle/>
          <a:p>
            <a:r>
              <a:rPr lang="zh-CN" altLang="en-US" dirty="0">
                <a:hlinkClick r:id="rId3"/>
              </a:rPr>
              <a:t>袁亚超</a:t>
            </a:r>
            <a:endParaRPr lang="en-US" altLang="zh-CN" dirty="0">
              <a:hlinkClick r:id="rId3"/>
            </a:endParaRPr>
          </a:p>
          <a:p>
            <a:r>
              <a:rPr lang="en-US" altLang="zh-CN" dirty="0"/>
              <a:t>chao910904@suda.edu.cn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F2D9059-9B67-4692-B1A5-AAAC7ED01C9C}"/>
              </a:ext>
            </a:extLst>
          </p:cNvPr>
          <p:cNvSpPr>
            <a:spLocks noGrp="1"/>
          </p:cNvSpPr>
          <p:nvPr>
            <p:ph type="title"/>
          </p:nvPr>
        </p:nvSpPr>
        <p:spPr/>
        <p:txBody>
          <a:bodyPr/>
          <a:lstStyle/>
          <a:p>
            <a:r>
              <a:rPr lang="zh-CN" altLang="en-US" dirty="0"/>
              <a:t>内容</a:t>
            </a:r>
          </a:p>
        </p:txBody>
      </p:sp>
      <p:sp>
        <p:nvSpPr>
          <p:cNvPr id="3" name="内容占位符 2">
            <a:extLst>
              <a:ext uri="{FF2B5EF4-FFF2-40B4-BE49-F238E27FC236}">
                <a16:creationId xmlns:a16="http://schemas.microsoft.com/office/drawing/2014/main" id="{7A216EE3-68D2-4698-A7BB-CACC3775473D}"/>
              </a:ext>
            </a:extLst>
          </p:cNvPr>
          <p:cNvSpPr>
            <a:spLocks noGrp="1"/>
          </p:cNvSpPr>
          <p:nvPr>
            <p:ph idx="1"/>
          </p:nvPr>
        </p:nvSpPr>
        <p:spPr/>
        <p:txBody>
          <a:bodyPr/>
          <a:lstStyle/>
          <a:p>
            <a:r>
              <a:rPr lang="zh-CN" altLang="en-US" dirty="0"/>
              <a:t>集成学习</a:t>
            </a:r>
            <a:endParaRPr lang="en-US" altLang="zh-CN" dirty="0"/>
          </a:p>
          <a:p>
            <a:r>
              <a:rPr lang="zh-CN" altLang="en-US" dirty="0"/>
              <a:t>协同学习</a:t>
            </a:r>
            <a:endParaRPr lang="en-US" altLang="zh-CN" dirty="0"/>
          </a:p>
          <a:p>
            <a:r>
              <a:rPr lang="zh-CN" altLang="en-US" dirty="0"/>
              <a:t>多任务学习</a:t>
            </a:r>
            <a:endParaRPr lang="en-US" altLang="zh-CN" dirty="0"/>
          </a:p>
          <a:p>
            <a:r>
              <a:rPr lang="zh-CN" altLang="en-US" dirty="0"/>
              <a:t>迁移学习</a:t>
            </a:r>
            <a:endParaRPr lang="en-US" altLang="zh-CN" dirty="0"/>
          </a:p>
          <a:p>
            <a:r>
              <a:rPr lang="zh-CN" altLang="en-US" dirty="0"/>
              <a:t>元学习</a:t>
            </a:r>
          </a:p>
          <a:p>
            <a:r>
              <a:rPr lang="zh-CN" altLang="en-US" dirty="0"/>
              <a:t>小样本学习</a:t>
            </a:r>
            <a:endParaRPr lang="en-US" altLang="zh-CN" dirty="0"/>
          </a:p>
          <a:p>
            <a:r>
              <a:rPr lang="zh-CN" altLang="en-US" dirty="0"/>
              <a:t>终身学习</a:t>
            </a:r>
            <a:endParaRPr lang="en-US" altLang="zh-CN" dirty="0"/>
          </a:p>
        </p:txBody>
      </p:sp>
    </p:spTree>
    <p:extLst>
      <p:ext uri="{BB962C8B-B14F-4D97-AF65-F5344CB8AC3E}">
        <p14:creationId xmlns:p14="http://schemas.microsoft.com/office/powerpoint/2010/main" val="12923648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D0567C-EF3E-4CF0-9CE5-BA6A4312E5EC}"/>
              </a:ext>
            </a:extLst>
          </p:cNvPr>
          <p:cNvSpPr>
            <a:spLocks noGrp="1"/>
          </p:cNvSpPr>
          <p:nvPr>
            <p:ph type="title"/>
          </p:nvPr>
        </p:nvSpPr>
        <p:spPr/>
        <p:txBody>
          <a:bodyPr/>
          <a:lstStyle/>
          <a:p>
            <a:r>
              <a:rPr lang="zh-CN" altLang="en-US" dirty="0"/>
              <a:t>集成学习（</a:t>
            </a:r>
            <a:r>
              <a:rPr lang="en-US" altLang="zh-CN" dirty="0"/>
              <a:t>Ensemble Learning</a:t>
            </a:r>
            <a:r>
              <a:rPr lang="zh-CN" altLang="en-US" dirty="0"/>
              <a:t>）</a:t>
            </a:r>
          </a:p>
        </p:txBody>
      </p:sp>
      <p:sp>
        <p:nvSpPr>
          <p:cNvPr id="3" name="内容占位符 2">
            <a:extLst>
              <a:ext uri="{FF2B5EF4-FFF2-40B4-BE49-F238E27FC236}">
                <a16:creationId xmlns:a16="http://schemas.microsoft.com/office/drawing/2014/main" id="{4DE5E46A-1933-4DEB-86C4-15A71C90B765}"/>
              </a:ext>
            </a:extLst>
          </p:cNvPr>
          <p:cNvSpPr>
            <a:spLocks noGrp="1"/>
          </p:cNvSpPr>
          <p:nvPr>
            <p:ph idx="1"/>
          </p:nvPr>
        </p:nvSpPr>
        <p:spPr/>
        <p:txBody>
          <a:bodyPr/>
          <a:lstStyle/>
          <a:p>
            <a:r>
              <a:rPr lang="zh-CN" altLang="en-US" dirty="0"/>
              <a:t>“三个臭皮匠赛过诸葛亮”</a:t>
            </a:r>
            <a:endParaRPr lang="en-US" altLang="zh-CN" dirty="0"/>
          </a:p>
          <a:p>
            <a:r>
              <a:rPr lang="zh-CN" altLang="en-US" dirty="0"/>
              <a:t>集成学习就是通过某种策略将多个模型集成起来，通过群体决策来提高决策准确率</a:t>
            </a:r>
            <a:endParaRPr lang="en-US" altLang="zh-CN" dirty="0"/>
          </a:p>
          <a:p>
            <a:pPr lvl="1"/>
            <a:r>
              <a:rPr lang="zh-CN" altLang="en-US" dirty="0"/>
              <a:t>最直接的集成学习策略就是直接平均，即“投票”。基于投票的集成模型𝐹</a:t>
            </a:r>
            <a:r>
              <a:rPr lang="en-US" altLang="zh-CN" dirty="0"/>
              <a:t>(</a:t>
            </a:r>
            <a:r>
              <a:rPr lang="zh-CN" altLang="en-US" dirty="0"/>
              <a:t>𝒙</a:t>
            </a:r>
            <a:r>
              <a:rPr lang="en-US" altLang="zh-CN" dirty="0"/>
              <a:t>) </a:t>
            </a:r>
            <a:r>
              <a:rPr lang="zh-CN" altLang="en-US" dirty="0"/>
              <a:t>为</a:t>
            </a:r>
          </a:p>
        </p:txBody>
      </p:sp>
      <p:pic>
        <p:nvPicPr>
          <p:cNvPr id="6" name="图片 5">
            <a:extLst>
              <a:ext uri="{FF2B5EF4-FFF2-40B4-BE49-F238E27FC236}">
                <a16:creationId xmlns:a16="http://schemas.microsoft.com/office/drawing/2014/main" id="{726B1885-04F0-43AD-9778-1A6E4306CA94}"/>
              </a:ext>
            </a:extLst>
          </p:cNvPr>
          <p:cNvPicPr>
            <a:picLocks noChangeAspect="1"/>
          </p:cNvPicPr>
          <p:nvPr/>
        </p:nvPicPr>
        <p:blipFill>
          <a:blip r:embed="rId3"/>
          <a:stretch>
            <a:fillRect/>
          </a:stretch>
        </p:blipFill>
        <p:spPr>
          <a:xfrm>
            <a:off x="4343400" y="3695700"/>
            <a:ext cx="2895600" cy="1033557"/>
          </a:xfrm>
          <a:prstGeom prst="rect">
            <a:avLst/>
          </a:prstGeom>
        </p:spPr>
      </p:pic>
      <p:sp>
        <p:nvSpPr>
          <p:cNvPr id="10" name="文本框 9">
            <a:extLst>
              <a:ext uri="{FF2B5EF4-FFF2-40B4-BE49-F238E27FC236}">
                <a16:creationId xmlns:a16="http://schemas.microsoft.com/office/drawing/2014/main" id="{3A2886CB-D7C3-4800-A20B-8B42A324BCDA}"/>
              </a:ext>
            </a:extLst>
          </p:cNvPr>
          <p:cNvSpPr txBox="1"/>
          <p:nvPr/>
        </p:nvSpPr>
        <p:spPr>
          <a:xfrm>
            <a:off x="3352800" y="6061885"/>
            <a:ext cx="8610600" cy="369332"/>
          </a:xfrm>
          <a:prstGeom prst="rect">
            <a:avLst/>
          </a:prstGeom>
          <a:noFill/>
        </p:spPr>
        <p:txBody>
          <a:bodyPr wrap="square">
            <a:spAutoFit/>
          </a:bodyPr>
          <a:lstStyle/>
          <a:p>
            <a:r>
              <a:rPr lang="zh-CN" altLang="en-US" dirty="0"/>
              <a:t>思考：为了得到更好的集成效果，每个模型之间的差异性越大越好还是越小越好？</a:t>
            </a:r>
          </a:p>
        </p:txBody>
      </p:sp>
      <p:sp>
        <p:nvSpPr>
          <p:cNvPr id="9" name="文本框 8">
            <a:extLst>
              <a:ext uri="{FF2B5EF4-FFF2-40B4-BE49-F238E27FC236}">
                <a16:creationId xmlns:a16="http://schemas.microsoft.com/office/drawing/2014/main" id="{94AA3401-6359-4DE2-BF5D-1742BD7A17A6}"/>
              </a:ext>
            </a:extLst>
          </p:cNvPr>
          <p:cNvSpPr txBox="1"/>
          <p:nvPr/>
        </p:nvSpPr>
        <p:spPr>
          <a:xfrm>
            <a:off x="2159630" y="4907503"/>
            <a:ext cx="9803770" cy="729430"/>
          </a:xfrm>
          <a:prstGeom prst="rect">
            <a:avLst/>
          </a:prstGeom>
          <a:noFill/>
        </p:spPr>
        <p:txBody>
          <a:bodyPr wrap="square">
            <a:spAutoFit/>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集成学习首要的问题是如何集成多个模型。比较常用的集成策略有直接平均、加权平均等。</a:t>
            </a:r>
            <a:endParaRPr lang="en-US" altLang="zh-CN"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并且随着模型数量的增多，其错误率也会下降，并趋近于</a:t>
            </a:r>
            <a:r>
              <a:rPr lang="en-US" altLang="zh-CN" dirty="0"/>
              <a:t>0</a:t>
            </a:r>
            <a:r>
              <a:rPr lang="zh-CN" altLang="en-US" dirty="0"/>
              <a:t>。</a:t>
            </a:r>
          </a:p>
        </p:txBody>
      </p:sp>
    </p:spTree>
    <p:extLst>
      <p:ext uri="{BB962C8B-B14F-4D97-AF65-F5344CB8AC3E}">
        <p14:creationId xmlns:p14="http://schemas.microsoft.com/office/powerpoint/2010/main" val="40663264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E3C51-6729-4F97-88B1-310CFB3D2524}"/>
              </a:ext>
            </a:extLst>
          </p:cNvPr>
          <p:cNvSpPr>
            <a:spLocks noGrp="1"/>
          </p:cNvSpPr>
          <p:nvPr>
            <p:ph type="title"/>
          </p:nvPr>
        </p:nvSpPr>
        <p:spPr/>
        <p:txBody>
          <a:bodyPr/>
          <a:lstStyle/>
          <a:p>
            <a:r>
              <a:rPr lang="zh-CN" altLang="en-US" dirty="0"/>
              <a:t>集成方式</a:t>
            </a:r>
          </a:p>
        </p:txBody>
      </p:sp>
      <p:sp>
        <p:nvSpPr>
          <p:cNvPr id="3" name="内容占位符 2">
            <a:extLst>
              <a:ext uri="{FF2B5EF4-FFF2-40B4-BE49-F238E27FC236}">
                <a16:creationId xmlns:a16="http://schemas.microsoft.com/office/drawing/2014/main" id="{C7B97499-BCD7-4F02-9C6D-F64821044164}"/>
              </a:ext>
            </a:extLst>
          </p:cNvPr>
          <p:cNvSpPr>
            <a:spLocks noGrp="1"/>
          </p:cNvSpPr>
          <p:nvPr>
            <p:ph idx="1"/>
          </p:nvPr>
        </p:nvSpPr>
        <p:spPr/>
        <p:txBody>
          <a:bodyPr/>
          <a:lstStyle/>
          <a:p>
            <a:r>
              <a:rPr lang="en-US" altLang="zh-CN" dirty="0"/>
              <a:t>Bagging</a:t>
            </a:r>
            <a:r>
              <a:rPr lang="zh-CN" altLang="en-US" dirty="0"/>
              <a:t>类：通过随机构造训练样本、随机选择特征等方法来提高每个基模型的独立性</a:t>
            </a:r>
            <a:endParaRPr lang="en-US" altLang="zh-CN" dirty="0"/>
          </a:p>
          <a:p>
            <a:pPr lvl="1"/>
            <a:r>
              <a:rPr lang="zh-CN" altLang="en-US" dirty="0"/>
              <a:t>代表性方法有</a:t>
            </a:r>
            <a:r>
              <a:rPr lang="en-US" altLang="zh-CN" dirty="0"/>
              <a:t>Bootstrap Aggregating</a:t>
            </a:r>
            <a:r>
              <a:rPr lang="zh-CN" altLang="en-US" dirty="0"/>
              <a:t>和随机森林</a:t>
            </a:r>
            <a:endParaRPr lang="en-US" altLang="zh-CN" dirty="0"/>
          </a:p>
          <a:p>
            <a:pPr lvl="1"/>
            <a:endParaRPr lang="en-US" altLang="zh-CN" dirty="0"/>
          </a:p>
          <a:p>
            <a:pPr lvl="2"/>
            <a:r>
              <a:rPr lang="en-US" altLang="zh-CN" dirty="0"/>
              <a:t>Bootstrap Aggregating</a:t>
            </a:r>
            <a:r>
              <a:rPr lang="zh-CN" altLang="en-US" dirty="0"/>
              <a:t>是一个通过</a:t>
            </a:r>
            <a:r>
              <a:rPr lang="zh-CN" altLang="en-US" b="1" dirty="0"/>
              <a:t>不同模型的训练数据集的独立性</a:t>
            </a:r>
            <a:r>
              <a:rPr lang="zh-CN" altLang="en-US" dirty="0"/>
              <a:t>来提高不同模型之间的独立性</a:t>
            </a:r>
            <a:endParaRPr lang="en-US" altLang="zh-CN" dirty="0"/>
          </a:p>
          <a:p>
            <a:pPr lvl="3"/>
            <a:r>
              <a:rPr lang="zh-CN" altLang="en-US" dirty="0"/>
              <a:t>有放回的随机采样，得到</a:t>
            </a:r>
            <a:r>
              <a:rPr lang="en-US" altLang="zh-CN" dirty="0"/>
              <a:t>M</a:t>
            </a:r>
            <a:r>
              <a:rPr lang="zh-CN" altLang="en-US" dirty="0"/>
              <a:t>个比较小的训练集并训练</a:t>
            </a:r>
            <a:r>
              <a:rPr lang="en-US" altLang="zh-CN" dirty="0"/>
              <a:t>M </a:t>
            </a:r>
            <a:r>
              <a:rPr lang="zh-CN" altLang="en-US" dirty="0"/>
              <a:t>个模型，然后通过投票的方法进行模型集成</a:t>
            </a:r>
            <a:endParaRPr lang="en-US" altLang="zh-CN" dirty="0"/>
          </a:p>
          <a:p>
            <a:pPr lvl="2"/>
            <a:r>
              <a:rPr lang="zh-CN" altLang="en-US" dirty="0"/>
              <a:t>随机森林（</a:t>
            </a:r>
            <a:r>
              <a:rPr lang="en-US" altLang="zh-CN" dirty="0"/>
              <a:t>Random Forest</a:t>
            </a:r>
            <a:r>
              <a:rPr lang="zh-CN" altLang="en-US" dirty="0"/>
              <a:t>）</a:t>
            </a:r>
            <a:endParaRPr lang="en-US" altLang="zh-CN" dirty="0"/>
          </a:p>
          <a:p>
            <a:pPr lvl="3"/>
            <a:r>
              <a:rPr lang="zh-CN" altLang="en-US" dirty="0"/>
              <a:t>在随机森林中，每个基模型都是一棵决策树</a:t>
            </a:r>
            <a:endParaRPr lang="en-US" altLang="zh-CN" dirty="0"/>
          </a:p>
          <a:p>
            <a:pPr lvl="3"/>
            <a:r>
              <a:rPr lang="zh-CN" altLang="en-US" dirty="0"/>
              <a:t>在训练每棵决策树时，不是使用所有特征，而是</a:t>
            </a:r>
            <a:r>
              <a:rPr lang="zh-CN" altLang="en-US" b="1" dirty="0"/>
              <a:t>随机选择一部分特征进行分裂 </a:t>
            </a:r>
            <a:r>
              <a:rPr lang="en-US" altLang="zh-CN" dirty="0">
                <a:sym typeface="Wingdings" panose="05000000000000000000" pitchFamily="2" charset="2"/>
              </a:rPr>
              <a:t> </a:t>
            </a:r>
            <a:r>
              <a:rPr lang="zh-CN" altLang="en-US" dirty="0">
                <a:sym typeface="Wingdings" panose="05000000000000000000" pitchFamily="2" charset="2"/>
              </a:rPr>
              <a:t>减少模型对某些特征的过拟合</a:t>
            </a:r>
            <a:endParaRPr lang="en-US" altLang="zh-CN" dirty="0">
              <a:sym typeface="Wingdings" panose="05000000000000000000" pitchFamily="2" charset="2"/>
            </a:endParaRPr>
          </a:p>
        </p:txBody>
      </p:sp>
    </p:spTree>
    <p:extLst>
      <p:ext uri="{BB962C8B-B14F-4D97-AF65-F5344CB8AC3E}">
        <p14:creationId xmlns:p14="http://schemas.microsoft.com/office/powerpoint/2010/main" val="518141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4D3E38-34B4-474F-8C53-E879B5548D6F}"/>
              </a:ext>
            </a:extLst>
          </p:cNvPr>
          <p:cNvSpPr>
            <a:spLocks noGrp="1"/>
          </p:cNvSpPr>
          <p:nvPr>
            <p:ph type="title"/>
          </p:nvPr>
        </p:nvSpPr>
        <p:spPr/>
        <p:txBody>
          <a:bodyPr/>
          <a:lstStyle/>
          <a:p>
            <a:r>
              <a:rPr lang="zh-CN" altLang="en-US" dirty="0"/>
              <a:t>随机森林</a:t>
            </a:r>
          </a:p>
        </p:txBody>
      </p:sp>
      <p:pic>
        <p:nvPicPr>
          <p:cNvPr id="1026" name="Picture 2" descr="âRandom Forestâçå¾çæç´¢ç»æ">
            <a:extLst>
              <a:ext uri="{FF2B5EF4-FFF2-40B4-BE49-F238E27FC236}">
                <a16:creationId xmlns:a16="http://schemas.microsoft.com/office/drawing/2014/main" id="{50D7E82D-2C39-473D-BB48-6F29110E0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1409700"/>
            <a:ext cx="5638800" cy="4229100"/>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91C300B6-E394-4054-8EDE-D7E44D73C635}"/>
              </a:ext>
            </a:extLst>
          </p:cNvPr>
          <p:cNvSpPr txBox="1"/>
          <p:nvPr/>
        </p:nvSpPr>
        <p:spPr>
          <a:xfrm>
            <a:off x="6051288" y="472252"/>
            <a:ext cx="5562600" cy="338554"/>
          </a:xfrm>
          <a:prstGeom prst="rect">
            <a:avLst/>
          </a:prstGeom>
          <a:noFill/>
        </p:spPr>
        <p:txBody>
          <a:bodyPr wrap="square">
            <a:spAutoFit/>
          </a:bodyPr>
          <a:lstStyle/>
          <a:p>
            <a:r>
              <a:rPr lang="en-US" altLang="zh-CN" sz="1600" dirty="0" err="1">
                <a:latin typeface="+mn-lt"/>
                <a:cs typeface="+mn-cs"/>
              </a:rPr>
              <a:t>Breiman</a:t>
            </a:r>
            <a:r>
              <a:rPr lang="en-US" altLang="zh-CN" sz="1600" dirty="0">
                <a:latin typeface="+mn-lt"/>
                <a:cs typeface="+mn-cs"/>
              </a:rPr>
              <a:t>, L. (2001). Random forests. Machine learning, 45, 5-32.</a:t>
            </a:r>
            <a:endParaRPr lang="zh-CN" altLang="en-US" sz="1600" dirty="0">
              <a:latin typeface="+mn-lt"/>
              <a:cs typeface="+mn-cs"/>
            </a:endParaRPr>
          </a:p>
        </p:txBody>
      </p:sp>
      <p:sp>
        <p:nvSpPr>
          <p:cNvPr id="4" name="文本框 3">
            <a:extLst>
              <a:ext uri="{FF2B5EF4-FFF2-40B4-BE49-F238E27FC236}">
                <a16:creationId xmlns:a16="http://schemas.microsoft.com/office/drawing/2014/main" id="{367F5DF1-D494-4C07-A3FB-FE34F71743C2}"/>
              </a:ext>
            </a:extLst>
          </p:cNvPr>
          <p:cNvSpPr txBox="1"/>
          <p:nvPr/>
        </p:nvSpPr>
        <p:spPr>
          <a:xfrm>
            <a:off x="419100" y="5978023"/>
            <a:ext cx="5410200" cy="369332"/>
          </a:xfrm>
          <a:prstGeom prst="rect">
            <a:avLst/>
          </a:prstGeom>
          <a:noFill/>
        </p:spPr>
        <p:txBody>
          <a:bodyPr wrap="square" rtlCol="0">
            <a:spAutoFit/>
          </a:bodyPr>
          <a:lstStyle/>
          <a:p>
            <a:r>
              <a:rPr lang="zh-CN" altLang="en-US" dirty="0"/>
              <a:t>思考：随机森林的最优决策树个数如何确定？</a:t>
            </a:r>
          </a:p>
        </p:txBody>
      </p:sp>
      <p:sp>
        <p:nvSpPr>
          <p:cNvPr id="7" name="文本框 6">
            <a:extLst>
              <a:ext uri="{FF2B5EF4-FFF2-40B4-BE49-F238E27FC236}">
                <a16:creationId xmlns:a16="http://schemas.microsoft.com/office/drawing/2014/main" id="{E950CC37-2A7D-40B4-940E-6908212AA949}"/>
              </a:ext>
            </a:extLst>
          </p:cNvPr>
          <p:cNvSpPr txBox="1"/>
          <p:nvPr/>
        </p:nvSpPr>
        <p:spPr>
          <a:xfrm>
            <a:off x="6051288" y="2051539"/>
            <a:ext cx="6096000" cy="2945422"/>
          </a:xfrm>
          <a:prstGeom prst="rect">
            <a:avLst/>
          </a:prstGeom>
          <a:noFill/>
        </p:spPr>
        <p:txBody>
          <a:bodyPr wrap="square">
            <a:spAutoFit/>
          </a:bodyPr>
          <a:lstStyle/>
          <a:p>
            <a:pPr algn="l"/>
            <a:r>
              <a:rPr lang="zh-CN" altLang="en-US" b="1" i="0" dirty="0">
                <a:solidFill>
                  <a:srgbClr val="374151"/>
                </a:solidFill>
                <a:effectLst/>
                <a:latin typeface="Microsoft YaHei" panose="020B0503020204020204" pitchFamily="34" charset="-122"/>
                <a:ea typeface="Microsoft YaHei" panose="020B0503020204020204" pitchFamily="34" charset="-122"/>
              </a:rPr>
              <a:t>随机森林学习过程</a:t>
            </a:r>
          </a:p>
          <a:p>
            <a:pPr algn="l">
              <a:buFont typeface="+mj-lt"/>
              <a:buAutoNum type="arabicPeriod"/>
            </a:pPr>
            <a:r>
              <a:rPr lang="zh-CN" altLang="en-US" b="1" i="0" dirty="0">
                <a:solidFill>
                  <a:srgbClr val="374151"/>
                </a:solidFill>
                <a:effectLst/>
                <a:latin typeface="Microsoft YaHei" panose="020B0503020204020204" pitchFamily="34" charset="-122"/>
                <a:ea typeface="Microsoft YaHei" panose="020B0503020204020204" pitchFamily="34" charset="-122"/>
              </a:rPr>
              <a:t>数据抽样</a:t>
            </a:r>
            <a:r>
              <a:rPr lang="zh-CN" altLang="en-US" b="0" i="0" dirty="0">
                <a:solidFill>
                  <a:srgbClr val="374151"/>
                </a:solidFill>
                <a:effectLst/>
                <a:latin typeface="Microsoft YaHei" panose="020B0503020204020204" pitchFamily="34" charset="-122"/>
                <a:ea typeface="Microsoft YaHei" panose="020B0503020204020204" pitchFamily="34" charset="-122"/>
              </a:rPr>
              <a:t>：从原始数据集中有放回地随机抽取多个样本，形成多个训练子集。</a:t>
            </a:r>
          </a:p>
          <a:p>
            <a:pPr algn="l">
              <a:buFont typeface="+mj-lt"/>
              <a:buAutoNum type="arabicPeriod"/>
            </a:pPr>
            <a:r>
              <a:rPr lang="zh-CN" altLang="en-US" b="1" i="0" dirty="0">
                <a:solidFill>
                  <a:srgbClr val="374151"/>
                </a:solidFill>
                <a:effectLst/>
                <a:latin typeface="Microsoft YaHei" panose="020B0503020204020204" pitchFamily="34" charset="-122"/>
                <a:ea typeface="Microsoft YaHei" panose="020B0503020204020204" pitchFamily="34" charset="-122"/>
              </a:rPr>
              <a:t>特征选择</a:t>
            </a:r>
            <a:r>
              <a:rPr lang="zh-CN" altLang="en-US" b="0" i="0" dirty="0">
                <a:solidFill>
                  <a:srgbClr val="374151"/>
                </a:solidFill>
                <a:effectLst/>
                <a:latin typeface="Microsoft YaHei" panose="020B0503020204020204" pitchFamily="34" charset="-122"/>
                <a:ea typeface="Microsoft YaHei" panose="020B0503020204020204" pitchFamily="34" charset="-122"/>
              </a:rPr>
              <a:t>：在每棵树的构建过程中，随机选择部分特征进行分裂，而不是使用全部特征。</a:t>
            </a:r>
          </a:p>
          <a:p>
            <a:pPr algn="l">
              <a:buFont typeface="+mj-lt"/>
              <a:buAutoNum type="arabicPeriod"/>
            </a:pPr>
            <a:r>
              <a:rPr lang="zh-CN" altLang="en-US" b="1" i="0" dirty="0">
                <a:solidFill>
                  <a:srgbClr val="374151"/>
                </a:solidFill>
                <a:effectLst/>
                <a:latin typeface="Microsoft YaHei" panose="020B0503020204020204" pitchFamily="34" charset="-122"/>
                <a:ea typeface="Microsoft YaHei" panose="020B0503020204020204" pitchFamily="34" charset="-122"/>
              </a:rPr>
              <a:t>决策树构建</a:t>
            </a:r>
            <a:r>
              <a:rPr lang="zh-CN" altLang="en-US" b="0" i="0" dirty="0">
                <a:solidFill>
                  <a:srgbClr val="374151"/>
                </a:solidFill>
                <a:effectLst/>
                <a:latin typeface="Microsoft YaHei" panose="020B0503020204020204" pitchFamily="34" charset="-122"/>
                <a:ea typeface="Microsoft YaHei" panose="020B0503020204020204" pitchFamily="34" charset="-122"/>
              </a:rPr>
              <a:t>：使用每个随机样本和对应的随机特征来训练独立的决策树。</a:t>
            </a:r>
            <a:endParaRPr lang="en-US" altLang="zh-CN" b="0" i="0" dirty="0">
              <a:solidFill>
                <a:srgbClr val="374151"/>
              </a:solidFill>
              <a:effectLst/>
              <a:latin typeface="Microsoft YaHei" panose="020B0503020204020204" pitchFamily="34" charset="-122"/>
              <a:ea typeface="Microsoft YaHei" panose="020B0503020204020204" pitchFamily="34" charset="-122"/>
            </a:endParaRPr>
          </a:p>
          <a:p>
            <a:pPr marL="0" marR="0" lvl="0" indent="0" algn="l" defTabSz="914400" rtl="0" eaLnBrk="0" fontAlgn="base" latinLnBrk="0" hangingPunct="0">
              <a:lnSpc>
                <a:spcPct val="100000"/>
              </a:lnSpc>
              <a:spcBef>
                <a:spcPct val="30000"/>
              </a:spcBef>
              <a:spcAft>
                <a:spcPct val="0"/>
              </a:spcAft>
              <a:buClrTx/>
              <a:buSzTx/>
              <a:buFont typeface="+mj-lt"/>
              <a:buAutoNum type="arabicPeriod"/>
              <a:tabLst/>
              <a:defRPr/>
            </a:pPr>
            <a:r>
              <a:rPr lang="zh-CN" altLang="en-US" b="1" i="0" dirty="0">
                <a:solidFill>
                  <a:srgbClr val="374151"/>
                </a:solidFill>
                <a:effectLst/>
                <a:latin typeface="Microsoft YaHei" panose="020B0503020204020204" pitchFamily="34" charset="-122"/>
                <a:ea typeface="Microsoft YaHei" panose="020B0503020204020204" pitchFamily="34" charset="-122"/>
              </a:rPr>
              <a:t>结果融合</a:t>
            </a:r>
            <a:r>
              <a:rPr lang="en-US" altLang="zh-CN" b="0" i="0" dirty="0">
                <a:solidFill>
                  <a:srgbClr val="374151"/>
                </a:solidFill>
                <a:effectLst/>
                <a:latin typeface="Microsoft YaHei" panose="020B0503020204020204" pitchFamily="34" charset="-122"/>
                <a:ea typeface="Microsoft YaHei" panose="020B0503020204020204" pitchFamily="34" charset="-122"/>
              </a:rPr>
              <a:t>:</a:t>
            </a:r>
            <a:r>
              <a:rPr lang="zh-CN" altLang="en-US" b="0" i="0" dirty="0">
                <a:solidFill>
                  <a:srgbClr val="374151"/>
                </a:solidFill>
                <a:effectLst/>
                <a:latin typeface="Microsoft YaHei" panose="020B0503020204020204" pitchFamily="34" charset="-122"/>
                <a:ea typeface="Microsoft YaHei" panose="020B0503020204020204" pitchFamily="34" charset="-122"/>
              </a:rPr>
              <a:t>通过对所有决策树的预测结果进行投票（对于分类问题）或平均（对于回归问题），得到最终的预测结果。</a:t>
            </a:r>
            <a:endParaRPr lang="en-US" altLang="zh-CN" b="0" i="0" dirty="0">
              <a:solidFill>
                <a:srgbClr val="374151"/>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253575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E96496-7680-432A-99CA-36A3797D4787}"/>
              </a:ext>
            </a:extLst>
          </p:cNvPr>
          <p:cNvSpPr>
            <a:spLocks noGrp="1"/>
          </p:cNvSpPr>
          <p:nvPr>
            <p:ph type="title"/>
          </p:nvPr>
        </p:nvSpPr>
        <p:spPr/>
        <p:txBody>
          <a:bodyPr/>
          <a:lstStyle/>
          <a:p>
            <a:r>
              <a:rPr lang="zh-CN" altLang="en-US" dirty="0"/>
              <a:t>集成方式</a:t>
            </a:r>
          </a:p>
        </p:txBody>
      </p:sp>
      <p:sp>
        <p:nvSpPr>
          <p:cNvPr id="3" name="内容占位符 2">
            <a:extLst>
              <a:ext uri="{FF2B5EF4-FFF2-40B4-BE49-F238E27FC236}">
                <a16:creationId xmlns:a16="http://schemas.microsoft.com/office/drawing/2014/main" id="{57051CF7-339B-4FAF-91C3-99AFF5736DE5}"/>
              </a:ext>
            </a:extLst>
          </p:cNvPr>
          <p:cNvSpPr>
            <a:spLocks noGrp="1"/>
          </p:cNvSpPr>
          <p:nvPr>
            <p:ph idx="1"/>
          </p:nvPr>
        </p:nvSpPr>
        <p:spPr/>
        <p:txBody>
          <a:bodyPr/>
          <a:lstStyle/>
          <a:p>
            <a:r>
              <a:rPr lang="en-US" altLang="zh-CN" dirty="0"/>
              <a:t>Boosting</a:t>
            </a:r>
            <a:r>
              <a:rPr lang="zh-CN" altLang="en-US" dirty="0"/>
              <a:t>类</a:t>
            </a:r>
            <a:r>
              <a:rPr lang="en-US" altLang="zh-CN" dirty="0"/>
              <a:t>:</a:t>
            </a:r>
          </a:p>
          <a:p>
            <a:pPr lvl="1"/>
            <a:r>
              <a:rPr lang="zh-CN" altLang="en-US" dirty="0"/>
              <a:t>通过顺序地训练一系列“弱学习器”，每个弱学习器都专注于学习前一个弱学习器所犯的错误，从而组合成一个强大的“强学习器”。</a:t>
            </a:r>
            <a:endParaRPr lang="en-US" altLang="zh-CN" dirty="0"/>
          </a:p>
          <a:p>
            <a:pPr lvl="1"/>
            <a:r>
              <a:rPr lang="zh-CN" altLang="en-US" dirty="0"/>
              <a:t>为了提高集成的效果，应当尽量使得每个弱分类器的</a:t>
            </a:r>
            <a:r>
              <a:rPr lang="zh-CN" altLang="en-US" b="1" dirty="0"/>
              <a:t>差异尽可能大</a:t>
            </a:r>
            <a:endParaRPr lang="en-US" altLang="zh-CN" b="1" dirty="0"/>
          </a:p>
          <a:p>
            <a:pPr lvl="1"/>
            <a:r>
              <a:rPr lang="zh-CN" altLang="en-US" dirty="0"/>
              <a:t>代表性方法：</a:t>
            </a:r>
            <a:r>
              <a:rPr lang="en-US" altLang="zh-CN" dirty="0"/>
              <a:t>AdaBoost</a:t>
            </a:r>
            <a:r>
              <a:rPr lang="zh-CN" altLang="en-US" dirty="0"/>
              <a:t>（</a:t>
            </a:r>
            <a:r>
              <a:rPr lang="en-US" altLang="zh-CN" dirty="0"/>
              <a:t>Adaptive Boosting</a:t>
            </a:r>
            <a:r>
              <a:rPr lang="zh-CN" altLang="en-US" dirty="0"/>
              <a:t>）算法，</a:t>
            </a:r>
            <a:r>
              <a:rPr lang="en-AU" altLang="zh-CN" dirty="0"/>
              <a:t>Gradient Boosting Machines</a:t>
            </a:r>
            <a:r>
              <a:rPr lang="zh-CN" altLang="en-US" dirty="0"/>
              <a:t>（如</a:t>
            </a:r>
            <a:r>
              <a:rPr lang="en-AU" altLang="zh-CN" dirty="0" err="1"/>
              <a:t>XGBoost</a:t>
            </a:r>
            <a:r>
              <a:rPr lang="en-AU" altLang="zh-CN" dirty="0"/>
              <a:t>, </a:t>
            </a:r>
            <a:r>
              <a:rPr lang="en-AU" altLang="zh-CN" dirty="0" err="1"/>
              <a:t>LightGBM</a:t>
            </a:r>
            <a:r>
              <a:rPr lang="en-AU" altLang="zh-CN" dirty="0"/>
              <a:t>, </a:t>
            </a:r>
            <a:r>
              <a:rPr lang="en-AU" altLang="zh-CN" dirty="0" err="1"/>
              <a:t>CatBoost</a:t>
            </a:r>
            <a:r>
              <a:rPr lang="zh-CN" altLang="en-US" dirty="0"/>
              <a:t>）</a:t>
            </a:r>
          </a:p>
          <a:p>
            <a:pPr marL="154484" lvl="1" indent="0">
              <a:buNone/>
            </a:pPr>
            <a:endParaRPr lang="zh-CN" altLang="en-US" dirty="0"/>
          </a:p>
        </p:txBody>
      </p:sp>
      <p:pic>
        <p:nvPicPr>
          <p:cNvPr id="6" name="Picture 2" descr="âadaboostâçå¾çæç´¢ç»æ">
            <a:extLst>
              <a:ext uri="{FF2B5EF4-FFF2-40B4-BE49-F238E27FC236}">
                <a16:creationId xmlns:a16="http://schemas.microsoft.com/office/drawing/2014/main" id="{8BB69DB5-CD74-477E-93C4-F9EB986722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00" y="4114800"/>
            <a:ext cx="5791200" cy="1778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28280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E3C51-6729-4F97-88B1-310CFB3D2524}"/>
              </a:ext>
            </a:extLst>
          </p:cNvPr>
          <p:cNvSpPr>
            <a:spLocks noGrp="1"/>
          </p:cNvSpPr>
          <p:nvPr>
            <p:ph type="title"/>
          </p:nvPr>
        </p:nvSpPr>
        <p:spPr/>
        <p:txBody>
          <a:bodyPr/>
          <a:lstStyle/>
          <a:p>
            <a:r>
              <a:rPr lang="en-US" altLang="zh-CN" dirty="0" err="1"/>
              <a:t>Adaboost</a:t>
            </a:r>
            <a:endParaRPr lang="zh-CN" altLang="en-US" dirty="0"/>
          </a:p>
        </p:txBody>
      </p:sp>
      <p:sp>
        <p:nvSpPr>
          <p:cNvPr id="3" name="内容占位符 2">
            <a:extLst>
              <a:ext uri="{FF2B5EF4-FFF2-40B4-BE49-F238E27FC236}">
                <a16:creationId xmlns:a16="http://schemas.microsoft.com/office/drawing/2014/main" id="{C7B97499-BCD7-4F02-9C6D-F64821044164}"/>
              </a:ext>
            </a:extLst>
          </p:cNvPr>
          <p:cNvSpPr>
            <a:spLocks noGrp="1"/>
          </p:cNvSpPr>
          <p:nvPr>
            <p:ph idx="1"/>
          </p:nvPr>
        </p:nvSpPr>
        <p:spPr/>
        <p:txBody>
          <a:bodyPr/>
          <a:lstStyle/>
          <a:p>
            <a:r>
              <a:rPr lang="zh-CN" altLang="en-US" dirty="0"/>
              <a:t>按照一定的</a:t>
            </a:r>
            <a:r>
              <a:rPr lang="zh-CN" altLang="en-US" b="1" dirty="0"/>
              <a:t>顺序</a:t>
            </a:r>
            <a:r>
              <a:rPr lang="zh-CN" altLang="en-US" dirty="0"/>
              <a:t>来先后训练不同的基模型，</a:t>
            </a:r>
            <a:r>
              <a:rPr lang="zh-CN" altLang="en-US" b="1" u="sng" dirty="0"/>
              <a:t>每个模型都针对前序模型的错误进行专门训练</a:t>
            </a:r>
            <a:r>
              <a:rPr lang="zh-CN" altLang="en-US" dirty="0"/>
              <a:t>。根据前序模型的结果，来调整训练训练样本的权重，从而增加不同基模型之间的差异性</a:t>
            </a:r>
            <a:endParaRPr lang="en-US" altLang="zh-CN" dirty="0"/>
          </a:p>
          <a:p>
            <a:pPr lvl="1"/>
            <a:r>
              <a:rPr lang="zh-CN" altLang="en-US" dirty="0"/>
              <a:t>是一种</a:t>
            </a:r>
            <a:r>
              <a:rPr lang="zh-CN" altLang="en-US" b="1" dirty="0"/>
              <a:t>非常强大</a:t>
            </a:r>
            <a:r>
              <a:rPr lang="zh-CN" altLang="en-US" dirty="0"/>
              <a:t>的集成方法，只要基模型的准确率比随机猜测高，就可以通过集成方法来</a:t>
            </a:r>
            <a:r>
              <a:rPr lang="zh-CN" altLang="en-US" b="1" dirty="0"/>
              <a:t>显著</a:t>
            </a:r>
            <a:r>
              <a:rPr lang="zh-CN" altLang="en-US" dirty="0"/>
              <a:t>地提高集成模型的准确率</a:t>
            </a:r>
            <a:endParaRPr lang="en-US" altLang="zh-CN" dirty="0"/>
          </a:p>
        </p:txBody>
      </p:sp>
    </p:spTree>
    <p:extLst>
      <p:ext uri="{BB962C8B-B14F-4D97-AF65-F5344CB8AC3E}">
        <p14:creationId xmlns:p14="http://schemas.microsoft.com/office/powerpoint/2010/main" val="15719790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7227CC-5728-4582-811F-D6EDBFE926CC}"/>
              </a:ext>
            </a:extLst>
          </p:cNvPr>
          <p:cNvSpPr>
            <a:spLocks noGrp="1"/>
          </p:cNvSpPr>
          <p:nvPr>
            <p:ph type="title"/>
          </p:nvPr>
        </p:nvSpPr>
        <p:spPr/>
        <p:txBody>
          <a:bodyPr/>
          <a:lstStyle/>
          <a:p>
            <a:r>
              <a:rPr lang="en-US" altLang="zh-CN" dirty="0"/>
              <a:t>Adaboost</a:t>
            </a:r>
            <a:r>
              <a:rPr lang="zh-CN" altLang="en-US" dirty="0"/>
              <a:t>：步骤</a:t>
            </a:r>
          </a:p>
        </p:txBody>
      </p:sp>
      <p:pic>
        <p:nvPicPr>
          <p:cNvPr id="5" name="图片 4">
            <a:extLst>
              <a:ext uri="{FF2B5EF4-FFF2-40B4-BE49-F238E27FC236}">
                <a16:creationId xmlns:a16="http://schemas.microsoft.com/office/drawing/2014/main" id="{B12E93E7-AD08-47B6-BBBB-E750795DE4AF}"/>
              </a:ext>
            </a:extLst>
          </p:cNvPr>
          <p:cNvPicPr>
            <a:picLocks noChangeAspect="1"/>
          </p:cNvPicPr>
          <p:nvPr/>
        </p:nvPicPr>
        <p:blipFill rotWithShape="1">
          <a:blip r:embed="rId2"/>
          <a:srcRect b="21517"/>
          <a:stretch/>
        </p:blipFill>
        <p:spPr>
          <a:xfrm>
            <a:off x="965483" y="2104940"/>
            <a:ext cx="1905000" cy="1901166"/>
          </a:xfrm>
          <a:prstGeom prst="rect">
            <a:avLst/>
          </a:prstGeom>
        </p:spPr>
      </p:pic>
      <p:sp>
        <p:nvSpPr>
          <p:cNvPr id="6" name="文本框 5">
            <a:extLst>
              <a:ext uri="{FF2B5EF4-FFF2-40B4-BE49-F238E27FC236}">
                <a16:creationId xmlns:a16="http://schemas.microsoft.com/office/drawing/2014/main" id="{A44F834B-F468-46A3-8241-1EBEC6956F96}"/>
              </a:ext>
            </a:extLst>
          </p:cNvPr>
          <p:cNvSpPr txBox="1"/>
          <p:nvPr/>
        </p:nvSpPr>
        <p:spPr>
          <a:xfrm>
            <a:off x="838200" y="4003580"/>
            <a:ext cx="2159566" cy="369332"/>
          </a:xfrm>
          <a:prstGeom prst="rect">
            <a:avLst/>
          </a:prstGeom>
          <a:noFill/>
        </p:spPr>
        <p:txBody>
          <a:bodyPr wrap="none" rtlCol="0">
            <a:spAutoFit/>
          </a:bodyPr>
          <a:lstStyle/>
          <a:p>
            <a:r>
              <a:rPr lang="zh-CN" altLang="en-US" dirty="0"/>
              <a:t>每个样本权重均为</a:t>
            </a:r>
            <a:r>
              <a:rPr lang="en-US" altLang="zh-CN" dirty="0"/>
              <a:t>1</a:t>
            </a:r>
            <a:endParaRPr lang="zh-CN" altLang="en-US" dirty="0"/>
          </a:p>
        </p:txBody>
      </p:sp>
      <p:pic>
        <p:nvPicPr>
          <p:cNvPr id="8" name="图片 7">
            <a:extLst>
              <a:ext uri="{FF2B5EF4-FFF2-40B4-BE49-F238E27FC236}">
                <a16:creationId xmlns:a16="http://schemas.microsoft.com/office/drawing/2014/main" id="{1CBEBBEF-5C70-4F9E-8A0F-5ABD28921CD7}"/>
              </a:ext>
            </a:extLst>
          </p:cNvPr>
          <p:cNvPicPr>
            <a:picLocks noChangeAspect="1"/>
          </p:cNvPicPr>
          <p:nvPr/>
        </p:nvPicPr>
        <p:blipFill>
          <a:blip r:embed="rId3"/>
          <a:stretch>
            <a:fillRect/>
          </a:stretch>
        </p:blipFill>
        <p:spPr>
          <a:xfrm>
            <a:off x="5168963" y="2091047"/>
            <a:ext cx="1905000" cy="1912791"/>
          </a:xfrm>
          <a:prstGeom prst="rect">
            <a:avLst/>
          </a:prstGeom>
        </p:spPr>
      </p:pic>
      <p:sp>
        <p:nvSpPr>
          <p:cNvPr id="9" name="文本框 8">
            <a:extLst>
              <a:ext uri="{FF2B5EF4-FFF2-40B4-BE49-F238E27FC236}">
                <a16:creationId xmlns:a16="http://schemas.microsoft.com/office/drawing/2014/main" id="{7241FD9E-C2D2-454C-A070-51DFFCE88F14}"/>
              </a:ext>
            </a:extLst>
          </p:cNvPr>
          <p:cNvSpPr txBox="1"/>
          <p:nvPr/>
        </p:nvSpPr>
        <p:spPr>
          <a:xfrm>
            <a:off x="5029200" y="4003580"/>
            <a:ext cx="2031325" cy="923330"/>
          </a:xfrm>
          <a:prstGeom prst="rect">
            <a:avLst/>
          </a:prstGeom>
          <a:noFill/>
        </p:spPr>
        <p:txBody>
          <a:bodyPr wrap="none" rtlCol="0">
            <a:spAutoFit/>
          </a:bodyPr>
          <a:lstStyle/>
          <a:p>
            <a:pPr algn="ctr"/>
            <a:r>
              <a:rPr lang="zh-CN" altLang="en-US" dirty="0"/>
              <a:t>拟合一个弱分类器</a:t>
            </a:r>
            <a:endParaRPr lang="en-US" altLang="zh-CN" dirty="0"/>
          </a:p>
          <a:p>
            <a:pPr algn="ctr"/>
            <a:r>
              <a:rPr lang="zh-CN" altLang="en-US" dirty="0"/>
              <a:t>正确分类：</a:t>
            </a:r>
            <a:r>
              <a:rPr lang="en-US" altLang="zh-CN" dirty="0"/>
              <a:t>7</a:t>
            </a:r>
            <a:r>
              <a:rPr lang="zh-CN" altLang="en-US" dirty="0"/>
              <a:t>个</a:t>
            </a:r>
            <a:endParaRPr lang="en-US" altLang="zh-CN" dirty="0"/>
          </a:p>
          <a:p>
            <a:pPr algn="ctr"/>
            <a:r>
              <a:rPr lang="zh-CN" altLang="en-US" dirty="0"/>
              <a:t>错误分类：</a:t>
            </a:r>
            <a:r>
              <a:rPr lang="en-US" altLang="zh-CN" dirty="0"/>
              <a:t>3</a:t>
            </a:r>
            <a:r>
              <a:rPr lang="zh-CN" altLang="en-US" dirty="0"/>
              <a:t>个</a:t>
            </a:r>
          </a:p>
        </p:txBody>
      </p:sp>
      <p:pic>
        <p:nvPicPr>
          <p:cNvPr id="11" name="图片 10">
            <a:extLst>
              <a:ext uri="{FF2B5EF4-FFF2-40B4-BE49-F238E27FC236}">
                <a16:creationId xmlns:a16="http://schemas.microsoft.com/office/drawing/2014/main" id="{1C268A46-DA2C-4C8B-B26F-CAD62A498174}"/>
              </a:ext>
            </a:extLst>
          </p:cNvPr>
          <p:cNvPicPr>
            <a:picLocks noChangeAspect="1"/>
          </p:cNvPicPr>
          <p:nvPr/>
        </p:nvPicPr>
        <p:blipFill>
          <a:blip r:embed="rId4"/>
          <a:stretch>
            <a:fillRect/>
          </a:stretch>
        </p:blipFill>
        <p:spPr>
          <a:xfrm>
            <a:off x="8856345" y="2099127"/>
            <a:ext cx="1912791" cy="1912791"/>
          </a:xfrm>
          <a:prstGeom prst="rect">
            <a:avLst/>
          </a:prstGeom>
        </p:spPr>
      </p:pic>
      <mc:AlternateContent xmlns:mc="http://schemas.openxmlformats.org/markup-compatibility/2006">
        <mc:Choice xmlns:a14="http://schemas.microsoft.com/office/drawing/2010/main" Requires="a14">
          <p:sp>
            <p:nvSpPr>
              <p:cNvPr id="12" name="文本框 11">
                <a:extLst>
                  <a:ext uri="{FF2B5EF4-FFF2-40B4-BE49-F238E27FC236}">
                    <a16:creationId xmlns:a16="http://schemas.microsoft.com/office/drawing/2014/main" id="{0C14A324-5C62-4E98-BEBC-800C872EAD32}"/>
                  </a:ext>
                </a:extLst>
              </p:cNvPr>
              <p:cNvSpPr txBox="1"/>
              <p:nvPr/>
            </p:nvSpPr>
            <p:spPr>
              <a:xfrm>
                <a:off x="8703945" y="4029105"/>
                <a:ext cx="2954655" cy="1152495"/>
              </a:xfrm>
              <a:prstGeom prst="rect">
                <a:avLst/>
              </a:prstGeom>
              <a:noFill/>
            </p:spPr>
            <p:txBody>
              <a:bodyPr wrap="none" rtlCol="0">
                <a:spAutoFit/>
              </a:bodyPr>
              <a:lstStyle/>
              <a:p>
                <a:pPr algn="ctr"/>
                <a:r>
                  <a:rPr lang="zh-CN" altLang="en-US" dirty="0"/>
                  <a:t>将错误分类的样本权重增加</a:t>
                </a:r>
                <a:endParaRPr lang="en-US" altLang="zh-CN" dirty="0"/>
              </a:p>
              <a:p>
                <a:pPr algn="ctr"/>
                <a:r>
                  <a:rPr lang="zh-CN" altLang="en-US" dirty="0"/>
                  <a:t>为：</a:t>
                </a:r>
                <a14:m>
                  <m:oMath xmlns:m="http://schemas.openxmlformats.org/officeDocument/2006/math">
                    <m:f>
                      <m:fPr>
                        <m:ctrlPr>
                          <a:rPr lang="en-US" altLang="zh-CN" sz="3600" i="1" smtClean="0">
                            <a:latin typeface="Cambria Math" panose="02040503050406030204" pitchFamily="18" charset="0"/>
                          </a:rPr>
                        </m:ctrlPr>
                      </m:fPr>
                      <m:num>
                        <m:r>
                          <a:rPr lang="en-US" altLang="zh-CN" sz="3600" b="0" i="1" smtClean="0">
                            <a:latin typeface="Cambria Math" panose="02040503050406030204" pitchFamily="18" charset="0"/>
                          </a:rPr>
                          <m:t>7</m:t>
                        </m:r>
                      </m:num>
                      <m:den>
                        <m:r>
                          <a:rPr lang="en-US" altLang="zh-CN" sz="3600" b="0" i="1" smtClean="0">
                            <a:latin typeface="Cambria Math" panose="02040503050406030204" pitchFamily="18" charset="0"/>
                          </a:rPr>
                          <m:t>3</m:t>
                        </m:r>
                      </m:den>
                    </m:f>
                  </m:oMath>
                </a14:m>
                <a:endParaRPr lang="zh-CN" altLang="en-US" dirty="0"/>
              </a:p>
            </p:txBody>
          </p:sp>
        </mc:Choice>
        <mc:Fallback>
          <p:sp>
            <p:nvSpPr>
              <p:cNvPr id="12" name="文本框 11">
                <a:extLst>
                  <a:ext uri="{FF2B5EF4-FFF2-40B4-BE49-F238E27FC236}">
                    <a16:creationId xmlns:a16="http://schemas.microsoft.com/office/drawing/2014/main" id="{0C14A324-5C62-4E98-BEBC-800C872EAD32}"/>
                  </a:ext>
                </a:extLst>
              </p:cNvPr>
              <p:cNvSpPr txBox="1">
                <a:spLocks noRot="1" noChangeAspect="1" noMove="1" noResize="1" noEditPoints="1" noAdjustHandles="1" noChangeArrowheads="1" noChangeShapeType="1" noTextEdit="1"/>
              </p:cNvSpPr>
              <p:nvPr/>
            </p:nvSpPr>
            <p:spPr>
              <a:xfrm>
                <a:off x="8703945" y="4029105"/>
                <a:ext cx="2954655" cy="1152495"/>
              </a:xfrm>
              <a:prstGeom prst="rect">
                <a:avLst/>
              </a:prstGeom>
              <a:blipFill>
                <a:blip r:embed="rId5"/>
                <a:stretch>
                  <a:fillRect l="-1649" t="-2646" r="-1443"/>
                </a:stretch>
              </a:blipFill>
            </p:spPr>
            <p:txBody>
              <a:bodyPr/>
              <a:lstStyle/>
              <a:p>
                <a:r>
                  <a:rPr lang="zh-CN" altLang="en-US">
                    <a:noFill/>
                  </a:rPr>
                  <a:t> </a:t>
                </a:r>
              </a:p>
            </p:txBody>
          </p:sp>
        </mc:Fallback>
      </mc:AlternateContent>
      <p:sp>
        <p:nvSpPr>
          <p:cNvPr id="17" name="箭头: 右 16">
            <a:extLst>
              <a:ext uri="{FF2B5EF4-FFF2-40B4-BE49-F238E27FC236}">
                <a16:creationId xmlns:a16="http://schemas.microsoft.com/office/drawing/2014/main" id="{29543701-8D6E-4055-AC62-7DB9AC82BA6F}"/>
              </a:ext>
            </a:extLst>
          </p:cNvPr>
          <p:cNvSpPr/>
          <p:nvPr/>
        </p:nvSpPr>
        <p:spPr>
          <a:xfrm>
            <a:off x="3657600" y="2971800"/>
            <a:ext cx="533400" cy="304800"/>
          </a:xfrm>
          <a:prstGeom prst="rightArrow">
            <a:avLst/>
          </a:prstGeom>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
        <p:nvSpPr>
          <p:cNvPr id="18" name="箭头: 右 17">
            <a:extLst>
              <a:ext uri="{FF2B5EF4-FFF2-40B4-BE49-F238E27FC236}">
                <a16:creationId xmlns:a16="http://schemas.microsoft.com/office/drawing/2014/main" id="{E7E94B1A-5D66-4BF3-81A2-23DF03CB5024}"/>
              </a:ext>
            </a:extLst>
          </p:cNvPr>
          <p:cNvSpPr/>
          <p:nvPr/>
        </p:nvSpPr>
        <p:spPr>
          <a:xfrm>
            <a:off x="7691735" y="2971800"/>
            <a:ext cx="533400" cy="304800"/>
          </a:xfrm>
          <a:prstGeom prst="rightArrow">
            <a:avLst/>
          </a:prstGeom>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
        <p:nvSpPr>
          <p:cNvPr id="19" name="文本框 18">
            <a:extLst>
              <a:ext uri="{FF2B5EF4-FFF2-40B4-BE49-F238E27FC236}">
                <a16:creationId xmlns:a16="http://schemas.microsoft.com/office/drawing/2014/main" id="{56BD47C9-FF84-4A43-924D-F0E9B015C58C}"/>
              </a:ext>
            </a:extLst>
          </p:cNvPr>
          <p:cNvSpPr txBox="1"/>
          <p:nvPr/>
        </p:nvSpPr>
        <p:spPr>
          <a:xfrm>
            <a:off x="5562600" y="456586"/>
            <a:ext cx="6814686" cy="369332"/>
          </a:xfrm>
          <a:prstGeom prst="rect">
            <a:avLst/>
          </a:prstGeom>
          <a:noFill/>
        </p:spPr>
        <p:txBody>
          <a:bodyPr wrap="none" rtlCol="0">
            <a:spAutoFit/>
          </a:bodyPr>
          <a:lstStyle/>
          <a:p>
            <a:r>
              <a:rPr lang="zh-CN" altLang="en-US" dirty="0"/>
              <a:t>例子来源：</a:t>
            </a:r>
            <a:r>
              <a:rPr lang="en-US" altLang="zh-CN" dirty="0"/>
              <a:t>youtube.com by Luis Serrano from Serrano Academy </a:t>
            </a:r>
            <a:endParaRPr lang="zh-CN" altLang="en-US" dirty="0"/>
          </a:p>
        </p:txBody>
      </p:sp>
    </p:spTree>
    <p:extLst>
      <p:ext uri="{BB962C8B-B14F-4D97-AF65-F5344CB8AC3E}">
        <p14:creationId xmlns:p14="http://schemas.microsoft.com/office/powerpoint/2010/main" val="31304563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7227CC-5728-4582-811F-D6EDBFE926CC}"/>
              </a:ext>
            </a:extLst>
          </p:cNvPr>
          <p:cNvSpPr>
            <a:spLocks noGrp="1"/>
          </p:cNvSpPr>
          <p:nvPr>
            <p:ph type="title"/>
          </p:nvPr>
        </p:nvSpPr>
        <p:spPr/>
        <p:txBody>
          <a:bodyPr/>
          <a:lstStyle/>
          <a:p>
            <a:r>
              <a:rPr lang="en-US" altLang="zh-CN" dirty="0"/>
              <a:t>Adaboost</a:t>
            </a:r>
            <a:r>
              <a:rPr lang="zh-CN" altLang="en-US" dirty="0"/>
              <a:t>：步骤</a:t>
            </a:r>
          </a:p>
        </p:txBody>
      </p:sp>
      <p:pic>
        <p:nvPicPr>
          <p:cNvPr id="14" name="图片 13">
            <a:extLst>
              <a:ext uri="{FF2B5EF4-FFF2-40B4-BE49-F238E27FC236}">
                <a16:creationId xmlns:a16="http://schemas.microsoft.com/office/drawing/2014/main" id="{D890DDBF-A1D4-4049-ABD4-E137A0E4C3BF}"/>
              </a:ext>
            </a:extLst>
          </p:cNvPr>
          <p:cNvPicPr>
            <a:picLocks noChangeAspect="1"/>
          </p:cNvPicPr>
          <p:nvPr/>
        </p:nvPicPr>
        <p:blipFill>
          <a:blip r:embed="rId2"/>
          <a:stretch>
            <a:fillRect/>
          </a:stretch>
        </p:blipFill>
        <p:spPr>
          <a:xfrm>
            <a:off x="1219201" y="1828801"/>
            <a:ext cx="2013612" cy="1981200"/>
          </a:xfrm>
          <a:prstGeom prst="rect">
            <a:avLst/>
          </a:prstGeom>
        </p:spPr>
      </p:pic>
      <p:sp>
        <p:nvSpPr>
          <p:cNvPr id="10" name="文本框 9">
            <a:extLst>
              <a:ext uri="{FF2B5EF4-FFF2-40B4-BE49-F238E27FC236}">
                <a16:creationId xmlns:a16="http://schemas.microsoft.com/office/drawing/2014/main" id="{F12AD895-B986-4CF5-92B1-4371C95F264F}"/>
              </a:ext>
            </a:extLst>
          </p:cNvPr>
          <p:cNvSpPr txBox="1"/>
          <p:nvPr/>
        </p:nvSpPr>
        <p:spPr>
          <a:xfrm>
            <a:off x="1441177" y="3886200"/>
            <a:ext cx="1569660" cy="369332"/>
          </a:xfrm>
          <a:prstGeom prst="rect">
            <a:avLst/>
          </a:prstGeom>
          <a:noFill/>
        </p:spPr>
        <p:txBody>
          <a:bodyPr wrap="none" rtlCol="0">
            <a:spAutoFit/>
          </a:bodyPr>
          <a:lstStyle/>
          <a:p>
            <a:r>
              <a:rPr lang="zh-CN" altLang="en-US" dirty="0"/>
              <a:t>缩放后的数据</a:t>
            </a:r>
          </a:p>
        </p:txBody>
      </p:sp>
      <p:pic>
        <p:nvPicPr>
          <p:cNvPr id="4" name="图片 3">
            <a:extLst>
              <a:ext uri="{FF2B5EF4-FFF2-40B4-BE49-F238E27FC236}">
                <a16:creationId xmlns:a16="http://schemas.microsoft.com/office/drawing/2014/main" id="{AB1B9A2E-BCF6-47DE-9C75-399F52BD0C5E}"/>
              </a:ext>
            </a:extLst>
          </p:cNvPr>
          <p:cNvPicPr>
            <a:picLocks noChangeAspect="1"/>
          </p:cNvPicPr>
          <p:nvPr/>
        </p:nvPicPr>
        <p:blipFill>
          <a:blip r:embed="rId3"/>
          <a:stretch>
            <a:fillRect/>
          </a:stretch>
        </p:blipFill>
        <p:spPr>
          <a:xfrm>
            <a:off x="4916772" y="1828801"/>
            <a:ext cx="1969045" cy="1981199"/>
          </a:xfrm>
          <a:prstGeom prst="rect">
            <a:avLst/>
          </a:prstGeom>
        </p:spPr>
      </p:pic>
      <p:sp>
        <p:nvSpPr>
          <p:cNvPr id="13" name="文本框 12">
            <a:extLst>
              <a:ext uri="{FF2B5EF4-FFF2-40B4-BE49-F238E27FC236}">
                <a16:creationId xmlns:a16="http://schemas.microsoft.com/office/drawing/2014/main" id="{0299AD61-A320-49AB-9990-D722BBD49569}"/>
              </a:ext>
            </a:extLst>
          </p:cNvPr>
          <p:cNvSpPr txBox="1"/>
          <p:nvPr/>
        </p:nvSpPr>
        <p:spPr>
          <a:xfrm>
            <a:off x="4770215" y="3851678"/>
            <a:ext cx="2963183" cy="1200329"/>
          </a:xfrm>
          <a:prstGeom prst="rect">
            <a:avLst/>
          </a:prstGeom>
          <a:noFill/>
        </p:spPr>
        <p:txBody>
          <a:bodyPr wrap="none" rtlCol="0">
            <a:spAutoFit/>
          </a:bodyPr>
          <a:lstStyle/>
          <a:p>
            <a:r>
              <a:rPr lang="zh-CN" altLang="en-US" dirty="0"/>
              <a:t>拟合第二个弱分类器</a:t>
            </a:r>
            <a:endParaRPr lang="en-US" altLang="zh-CN" dirty="0"/>
          </a:p>
          <a:p>
            <a:r>
              <a:rPr lang="zh-CN" altLang="en-US" dirty="0"/>
              <a:t>分类正确的个数为：</a:t>
            </a:r>
            <a:endParaRPr lang="en-US" altLang="zh-CN" dirty="0"/>
          </a:p>
          <a:p>
            <a:r>
              <a:rPr lang="en-US" altLang="zh-CN" dirty="0"/>
              <a:t>2.33+2.33+2.33+1+1+1=11</a:t>
            </a:r>
          </a:p>
          <a:p>
            <a:r>
              <a:rPr lang="zh-CN" altLang="en-US" dirty="0"/>
              <a:t>错误的为：</a:t>
            </a:r>
            <a:r>
              <a:rPr lang="en-US" altLang="zh-CN" dirty="0"/>
              <a:t>1+1+1=3</a:t>
            </a:r>
            <a:endParaRPr lang="zh-CN" altLang="en-US" dirty="0"/>
          </a:p>
        </p:txBody>
      </p:sp>
      <mc:AlternateContent xmlns:mc="http://schemas.openxmlformats.org/markup-compatibility/2006">
        <mc:Choice xmlns:a14="http://schemas.microsoft.com/office/drawing/2010/main" Requires="a14">
          <p:sp>
            <p:nvSpPr>
              <p:cNvPr id="16" name="文本框 15">
                <a:extLst>
                  <a:ext uri="{FF2B5EF4-FFF2-40B4-BE49-F238E27FC236}">
                    <a16:creationId xmlns:a16="http://schemas.microsoft.com/office/drawing/2014/main" id="{80E2073B-7002-4FF8-8EC9-6BE30A30ABF7}"/>
                  </a:ext>
                </a:extLst>
              </p:cNvPr>
              <p:cNvSpPr txBox="1"/>
              <p:nvPr/>
            </p:nvSpPr>
            <p:spPr>
              <a:xfrm>
                <a:off x="8627745" y="3962400"/>
                <a:ext cx="2954655" cy="1152495"/>
              </a:xfrm>
              <a:prstGeom prst="rect">
                <a:avLst/>
              </a:prstGeom>
              <a:noFill/>
            </p:spPr>
            <p:txBody>
              <a:bodyPr wrap="none" rtlCol="0">
                <a:spAutoFit/>
              </a:bodyPr>
              <a:lstStyle/>
              <a:p>
                <a:pPr algn="ctr"/>
                <a:r>
                  <a:rPr lang="zh-CN" altLang="en-US" dirty="0"/>
                  <a:t>将错误分类的样本权重增加</a:t>
                </a:r>
                <a:endParaRPr lang="en-US" altLang="zh-CN" dirty="0"/>
              </a:p>
              <a:p>
                <a:pPr algn="ctr"/>
                <a:r>
                  <a:rPr lang="zh-CN" altLang="en-US" dirty="0"/>
                  <a:t>为：</a:t>
                </a:r>
                <a14:m>
                  <m:oMath xmlns:m="http://schemas.openxmlformats.org/officeDocument/2006/math">
                    <m:f>
                      <m:fPr>
                        <m:ctrlPr>
                          <a:rPr lang="en-US" altLang="zh-CN" sz="3600" i="1" smtClean="0">
                            <a:latin typeface="Cambria Math" panose="02040503050406030204" pitchFamily="18" charset="0"/>
                          </a:rPr>
                        </m:ctrlPr>
                      </m:fPr>
                      <m:num>
                        <m:r>
                          <a:rPr lang="en-US" altLang="zh-CN" sz="3600" b="0" i="1" smtClean="0">
                            <a:latin typeface="Cambria Math" panose="02040503050406030204" pitchFamily="18" charset="0"/>
                          </a:rPr>
                          <m:t>11</m:t>
                        </m:r>
                      </m:num>
                      <m:den>
                        <m:r>
                          <a:rPr lang="en-US" altLang="zh-CN" sz="3600" b="0" i="1" smtClean="0">
                            <a:latin typeface="Cambria Math" panose="02040503050406030204" pitchFamily="18" charset="0"/>
                          </a:rPr>
                          <m:t>3</m:t>
                        </m:r>
                      </m:den>
                    </m:f>
                  </m:oMath>
                </a14:m>
                <a:r>
                  <a:rPr lang="en-US" altLang="zh-CN" dirty="0"/>
                  <a:t>=3.67</a:t>
                </a:r>
                <a:endParaRPr lang="zh-CN" altLang="en-US" dirty="0"/>
              </a:p>
            </p:txBody>
          </p:sp>
        </mc:Choice>
        <mc:Fallback>
          <p:sp>
            <p:nvSpPr>
              <p:cNvPr id="16" name="文本框 15">
                <a:extLst>
                  <a:ext uri="{FF2B5EF4-FFF2-40B4-BE49-F238E27FC236}">
                    <a16:creationId xmlns:a16="http://schemas.microsoft.com/office/drawing/2014/main" id="{80E2073B-7002-4FF8-8EC9-6BE30A30ABF7}"/>
                  </a:ext>
                </a:extLst>
              </p:cNvPr>
              <p:cNvSpPr txBox="1">
                <a:spLocks noRot="1" noChangeAspect="1" noMove="1" noResize="1" noEditPoints="1" noAdjustHandles="1" noChangeArrowheads="1" noChangeShapeType="1" noTextEdit="1"/>
              </p:cNvSpPr>
              <p:nvPr/>
            </p:nvSpPr>
            <p:spPr>
              <a:xfrm>
                <a:off x="8627745" y="3962400"/>
                <a:ext cx="2954655" cy="1152495"/>
              </a:xfrm>
              <a:prstGeom prst="rect">
                <a:avLst/>
              </a:prstGeom>
              <a:blipFill>
                <a:blip r:embed="rId4"/>
                <a:stretch>
                  <a:fillRect l="-1443" t="-2116" r="-1649"/>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2BC15244-1E76-431C-95FE-03D1BD93DCAE}"/>
              </a:ext>
            </a:extLst>
          </p:cNvPr>
          <p:cNvPicPr>
            <a:picLocks noChangeAspect="1"/>
          </p:cNvPicPr>
          <p:nvPr/>
        </p:nvPicPr>
        <p:blipFill>
          <a:blip r:embed="rId5"/>
          <a:stretch>
            <a:fillRect/>
          </a:stretch>
        </p:blipFill>
        <p:spPr>
          <a:xfrm>
            <a:off x="9156154" y="1829412"/>
            <a:ext cx="1969045" cy="1977148"/>
          </a:xfrm>
          <a:prstGeom prst="rect">
            <a:avLst/>
          </a:prstGeom>
        </p:spPr>
      </p:pic>
      <p:sp>
        <p:nvSpPr>
          <p:cNvPr id="19" name="箭头: 右 18">
            <a:extLst>
              <a:ext uri="{FF2B5EF4-FFF2-40B4-BE49-F238E27FC236}">
                <a16:creationId xmlns:a16="http://schemas.microsoft.com/office/drawing/2014/main" id="{7AA2804A-C76B-42E2-BBEB-A07CF30695F8}"/>
              </a:ext>
            </a:extLst>
          </p:cNvPr>
          <p:cNvSpPr/>
          <p:nvPr/>
        </p:nvSpPr>
        <p:spPr>
          <a:xfrm>
            <a:off x="3808092" y="2817986"/>
            <a:ext cx="533400" cy="304800"/>
          </a:xfrm>
          <a:prstGeom prst="rightArrow">
            <a:avLst/>
          </a:prstGeom>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
        <p:nvSpPr>
          <p:cNvPr id="20" name="箭头: 右 19">
            <a:extLst>
              <a:ext uri="{FF2B5EF4-FFF2-40B4-BE49-F238E27FC236}">
                <a16:creationId xmlns:a16="http://schemas.microsoft.com/office/drawing/2014/main" id="{B8E4203F-50EA-45B2-9368-96159EF3B8AC}"/>
              </a:ext>
            </a:extLst>
          </p:cNvPr>
          <p:cNvSpPr/>
          <p:nvPr/>
        </p:nvSpPr>
        <p:spPr>
          <a:xfrm>
            <a:off x="7733398" y="2817986"/>
            <a:ext cx="533400" cy="304800"/>
          </a:xfrm>
          <a:prstGeom prst="rightArrow">
            <a:avLst/>
          </a:prstGeom>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Tree>
    <p:extLst>
      <p:ext uri="{BB962C8B-B14F-4D97-AF65-F5344CB8AC3E}">
        <p14:creationId xmlns:p14="http://schemas.microsoft.com/office/powerpoint/2010/main" val="40370995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348BF8-44AD-49A2-8F68-EA04CE6F18CD}"/>
              </a:ext>
            </a:extLst>
          </p:cNvPr>
          <p:cNvSpPr>
            <a:spLocks noGrp="1"/>
          </p:cNvSpPr>
          <p:nvPr>
            <p:ph type="title"/>
          </p:nvPr>
        </p:nvSpPr>
        <p:spPr/>
        <p:txBody>
          <a:bodyPr/>
          <a:lstStyle/>
          <a:p>
            <a:r>
              <a:rPr lang="en-US" altLang="zh-CN" dirty="0"/>
              <a:t>Adaboost</a:t>
            </a:r>
            <a:r>
              <a:rPr lang="zh-CN" altLang="en-US" dirty="0"/>
              <a:t>：步骤</a:t>
            </a:r>
          </a:p>
        </p:txBody>
      </p:sp>
      <p:sp>
        <p:nvSpPr>
          <p:cNvPr id="3" name="内容占位符 2">
            <a:extLst>
              <a:ext uri="{FF2B5EF4-FFF2-40B4-BE49-F238E27FC236}">
                <a16:creationId xmlns:a16="http://schemas.microsoft.com/office/drawing/2014/main" id="{407ABCB2-21A5-4484-AA3B-5EDE5413B250}"/>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FB85B116-30F0-4B68-BD3F-4F3024479B74}"/>
              </a:ext>
            </a:extLst>
          </p:cNvPr>
          <p:cNvPicPr>
            <a:picLocks noChangeAspect="1"/>
          </p:cNvPicPr>
          <p:nvPr/>
        </p:nvPicPr>
        <p:blipFill>
          <a:blip r:embed="rId2"/>
          <a:stretch>
            <a:fillRect/>
          </a:stretch>
        </p:blipFill>
        <p:spPr>
          <a:xfrm>
            <a:off x="1066800" y="1981200"/>
            <a:ext cx="2314285" cy="2314285"/>
          </a:xfrm>
          <a:prstGeom prst="rect">
            <a:avLst/>
          </a:prstGeom>
        </p:spPr>
      </p:pic>
      <p:pic>
        <p:nvPicPr>
          <p:cNvPr id="7" name="图片 6">
            <a:extLst>
              <a:ext uri="{FF2B5EF4-FFF2-40B4-BE49-F238E27FC236}">
                <a16:creationId xmlns:a16="http://schemas.microsoft.com/office/drawing/2014/main" id="{E87FF76B-546A-47C4-A8AD-E73DE1F6493A}"/>
              </a:ext>
            </a:extLst>
          </p:cNvPr>
          <p:cNvPicPr>
            <a:picLocks noChangeAspect="1"/>
          </p:cNvPicPr>
          <p:nvPr/>
        </p:nvPicPr>
        <p:blipFill>
          <a:blip r:embed="rId3"/>
          <a:stretch>
            <a:fillRect/>
          </a:stretch>
        </p:blipFill>
        <p:spPr>
          <a:xfrm>
            <a:off x="4781695" y="1959730"/>
            <a:ext cx="2323810" cy="2314286"/>
          </a:xfrm>
          <a:prstGeom prst="rect">
            <a:avLst/>
          </a:prstGeom>
        </p:spPr>
      </p:pic>
      <p:sp>
        <p:nvSpPr>
          <p:cNvPr id="8" name="箭头: 右 7">
            <a:extLst>
              <a:ext uri="{FF2B5EF4-FFF2-40B4-BE49-F238E27FC236}">
                <a16:creationId xmlns:a16="http://schemas.microsoft.com/office/drawing/2014/main" id="{3DA420CD-52FF-4187-A7E0-B140181A2D9F}"/>
              </a:ext>
            </a:extLst>
          </p:cNvPr>
          <p:cNvSpPr/>
          <p:nvPr/>
        </p:nvSpPr>
        <p:spPr>
          <a:xfrm>
            <a:off x="3808092" y="2817986"/>
            <a:ext cx="533400" cy="304800"/>
          </a:xfrm>
          <a:prstGeom prst="rightArrow">
            <a:avLst/>
          </a:prstGeom>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
        <p:nvSpPr>
          <p:cNvPr id="9" name="文本框 8">
            <a:extLst>
              <a:ext uri="{FF2B5EF4-FFF2-40B4-BE49-F238E27FC236}">
                <a16:creationId xmlns:a16="http://schemas.microsoft.com/office/drawing/2014/main" id="{84F7D4F2-5EC4-4F8C-AFF4-316A9C0B9C91}"/>
              </a:ext>
            </a:extLst>
          </p:cNvPr>
          <p:cNvSpPr txBox="1"/>
          <p:nvPr/>
        </p:nvSpPr>
        <p:spPr>
          <a:xfrm>
            <a:off x="1439112" y="4400274"/>
            <a:ext cx="1569660" cy="369332"/>
          </a:xfrm>
          <a:prstGeom prst="rect">
            <a:avLst/>
          </a:prstGeom>
          <a:noFill/>
        </p:spPr>
        <p:txBody>
          <a:bodyPr wrap="none" rtlCol="0">
            <a:spAutoFit/>
          </a:bodyPr>
          <a:lstStyle/>
          <a:p>
            <a:r>
              <a:rPr lang="zh-CN" altLang="en-US" dirty="0"/>
              <a:t>缩放后的数据</a:t>
            </a:r>
          </a:p>
        </p:txBody>
      </p:sp>
      <p:sp>
        <p:nvSpPr>
          <p:cNvPr id="10" name="文本框 9">
            <a:extLst>
              <a:ext uri="{FF2B5EF4-FFF2-40B4-BE49-F238E27FC236}">
                <a16:creationId xmlns:a16="http://schemas.microsoft.com/office/drawing/2014/main" id="{BB3FD5A2-042D-41D4-836D-8A715AC0706A}"/>
              </a:ext>
            </a:extLst>
          </p:cNvPr>
          <p:cNvSpPr txBox="1"/>
          <p:nvPr/>
        </p:nvSpPr>
        <p:spPr>
          <a:xfrm>
            <a:off x="4781695" y="4426797"/>
            <a:ext cx="2518638" cy="923330"/>
          </a:xfrm>
          <a:prstGeom prst="rect">
            <a:avLst/>
          </a:prstGeom>
          <a:noFill/>
        </p:spPr>
        <p:txBody>
          <a:bodyPr wrap="none" rtlCol="0">
            <a:spAutoFit/>
          </a:bodyPr>
          <a:lstStyle/>
          <a:p>
            <a:r>
              <a:rPr lang="zh-CN" altLang="en-US" dirty="0"/>
              <a:t>拟合第三个弱分类器</a:t>
            </a:r>
            <a:endParaRPr lang="en-US" altLang="zh-CN" dirty="0"/>
          </a:p>
          <a:p>
            <a:r>
              <a:rPr lang="zh-CN" altLang="en-US" dirty="0"/>
              <a:t>分类正确的个数为：</a:t>
            </a:r>
            <a:r>
              <a:rPr lang="en-US" altLang="zh-CN" dirty="0"/>
              <a:t>19</a:t>
            </a:r>
          </a:p>
          <a:p>
            <a:r>
              <a:rPr lang="zh-CN" altLang="en-US" dirty="0"/>
              <a:t>错误的为：</a:t>
            </a:r>
            <a:r>
              <a:rPr lang="en-US" altLang="zh-CN" dirty="0"/>
              <a:t>3</a:t>
            </a:r>
            <a:endParaRPr lang="zh-CN" altLang="en-US" dirty="0"/>
          </a:p>
        </p:txBody>
      </p:sp>
      <p:pic>
        <p:nvPicPr>
          <p:cNvPr id="12" name="图片 11">
            <a:extLst>
              <a:ext uri="{FF2B5EF4-FFF2-40B4-BE49-F238E27FC236}">
                <a16:creationId xmlns:a16="http://schemas.microsoft.com/office/drawing/2014/main" id="{D49F34FD-F65C-457B-9A21-656F1F2383FC}"/>
              </a:ext>
            </a:extLst>
          </p:cNvPr>
          <p:cNvPicPr>
            <a:picLocks noChangeAspect="1"/>
          </p:cNvPicPr>
          <p:nvPr/>
        </p:nvPicPr>
        <p:blipFill>
          <a:blip r:embed="rId4"/>
          <a:stretch>
            <a:fillRect/>
          </a:stretch>
        </p:blipFill>
        <p:spPr>
          <a:xfrm>
            <a:off x="8610600" y="2209800"/>
            <a:ext cx="1933333" cy="1961905"/>
          </a:xfrm>
          <a:prstGeom prst="rect">
            <a:avLst/>
          </a:prstGeom>
        </p:spPr>
      </p:pic>
      <p:sp>
        <p:nvSpPr>
          <p:cNvPr id="13" name="箭头: 右 12">
            <a:extLst>
              <a:ext uri="{FF2B5EF4-FFF2-40B4-BE49-F238E27FC236}">
                <a16:creationId xmlns:a16="http://schemas.microsoft.com/office/drawing/2014/main" id="{6073575E-6A20-4973-A063-65E74157CE09}"/>
              </a:ext>
            </a:extLst>
          </p:cNvPr>
          <p:cNvSpPr/>
          <p:nvPr/>
        </p:nvSpPr>
        <p:spPr>
          <a:xfrm>
            <a:off x="7696200" y="2853599"/>
            <a:ext cx="533400" cy="304800"/>
          </a:xfrm>
          <a:prstGeom prst="rightArrow">
            <a:avLst/>
          </a:prstGeom>
        </p:spPr>
        <p:style>
          <a:lnRef idx="2">
            <a:schemeClr val="dk1"/>
          </a:lnRef>
          <a:fillRef idx="1">
            <a:schemeClr val="lt1"/>
          </a:fillRef>
          <a:effectRef idx="0">
            <a:schemeClr val="dk1"/>
          </a:effectRef>
          <a:fontRef idx="minor">
            <a:schemeClr val="dk1"/>
          </a:fontRef>
        </p:style>
        <p:txBody>
          <a:bodyPr wrap="none" rtlCol="0" anchor="ctr">
            <a:spAutoFit/>
          </a:bodyPr>
          <a:lstStyle/>
          <a:p>
            <a:pPr algn="ctr"/>
            <a:endParaRPr lang="zh-CN" altLang="en-US" sz="2400" dirty="0"/>
          </a:p>
        </p:txBody>
      </p:sp>
      <p:sp>
        <p:nvSpPr>
          <p:cNvPr id="14" name="文本框 13">
            <a:extLst>
              <a:ext uri="{FF2B5EF4-FFF2-40B4-BE49-F238E27FC236}">
                <a16:creationId xmlns:a16="http://schemas.microsoft.com/office/drawing/2014/main" id="{811FC813-D267-4E42-AEB2-8EC5D2D129C5}"/>
              </a:ext>
            </a:extLst>
          </p:cNvPr>
          <p:cNvSpPr txBox="1"/>
          <p:nvPr/>
        </p:nvSpPr>
        <p:spPr>
          <a:xfrm>
            <a:off x="8403103" y="1321819"/>
            <a:ext cx="2621230" cy="646331"/>
          </a:xfrm>
          <a:prstGeom prst="rect">
            <a:avLst/>
          </a:prstGeom>
          <a:noFill/>
        </p:spPr>
        <p:txBody>
          <a:bodyPr wrap="none" rtlCol="0">
            <a:spAutoFit/>
          </a:bodyPr>
          <a:lstStyle/>
          <a:p>
            <a:r>
              <a:rPr lang="zh-CN" altLang="en-US" dirty="0"/>
              <a:t>我们只想要</a:t>
            </a:r>
            <a:r>
              <a:rPr lang="en-US" altLang="zh-CN" dirty="0"/>
              <a:t>3</a:t>
            </a:r>
            <a:r>
              <a:rPr lang="zh-CN" altLang="en-US" dirty="0"/>
              <a:t>个弱分类器</a:t>
            </a:r>
            <a:endParaRPr lang="en-US" altLang="zh-CN" dirty="0"/>
          </a:p>
          <a:p>
            <a:r>
              <a:rPr lang="zh-CN" altLang="en-US" dirty="0"/>
              <a:t>（</a:t>
            </a:r>
            <a:r>
              <a:rPr lang="en-US" altLang="zh-CN" dirty="0"/>
              <a:t>hyperparameter</a:t>
            </a:r>
            <a:r>
              <a:rPr lang="zh-CN" altLang="en-US" dirty="0"/>
              <a:t>）</a:t>
            </a:r>
          </a:p>
        </p:txBody>
      </p:sp>
    </p:spTree>
    <p:extLst>
      <p:ext uri="{BB962C8B-B14F-4D97-AF65-F5344CB8AC3E}">
        <p14:creationId xmlns:p14="http://schemas.microsoft.com/office/powerpoint/2010/main" val="2776833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7941D2-8521-4FE0-9CE1-12F63E24E754}"/>
              </a:ext>
            </a:extLst>
          </p:cNvPr>
          <p:cNvSpPr>
            <a:spLocks noGrp="1"/>
          </p:cNvSpPr>
          <p:nvPr>
            <p:ph type="title"/>
          </p:nvPr>
        </p:nvSpPr>
        <p:spPr/>
        <p:txBody>
          <a:bodyPr/>
          <a:lstStyle/>
          <a:p>
            <a:r>
              <a:rPr lang="en-US" altLang="zh-CN" dirty="0"/>
              <a:t>Adaboost</a:t>
            </a:r>
            <a:r>
              <a:rPr lang="zh-CN" altLang="en-US" dirty="0"/>
              <a:t>：步骤</a:t>
            </a:r>
          </a:p>
        </p:txBody>
      </p:sp>
      <p:sp>
        <p:nvSpPr>
          <p:cNvPr id="3" name="内容占位符 2">
            <a:extLst>
              <a:ext uri="{FF2B5EF4-FFF2-40B4-BE49-F238E27FC236}">
                <a16:creationId xmlns:a16="http://schemas.microsoft.com/office/drawing/2014/main" id="{1D09741E-8B13-4A7C-8408-5CCEAA2C4212}"/>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1EA1B243-6795-4F22-BE06-633EE8534578}"/>
              </a:ext>
            </a:extLst>
          </p:cNvPr>
          <p:cNvPicPr>
            <a:picLocks noChangeAspect="1"/>
          </p:cNvPicPr>
          <p:nvPr/>
        </p:nvPicPr>
        <p:blipFill>
          <a:blip r:embed="rId2"/>
          <a:stretch>
            <a:fillRect/>
          </a:stretch>
        </p:blipFill>
        <p:spPr>
          <a:xfrm>
            <a:off x="2362200" y="1905000"/>
            <a:ext cx="8278963" cy="3178901"/>
          </a:xfrm>
          <a:prstGeom prst="rect">
            <a:avLst/>
          </a:prstGeom>
        </p:spPr>
      </p:pic>
      <p:sp>
        <p:nvSpPr>
          <p:cNvPr id="6" name="文本框 5">
            <a:extLst>
              <a:ext uri="{FF2B5EF4-FFF2-40B4-BE49-F238E27FC236}">
                <a16:creationId xmlns:a16="http://schemas.microsoft.com/office/drawing/2014/main" id="{7FEBE601-033F-4653-987B-37E0F262B207}"/>
              </a:ext>
            </a:extLst>
          </p:cNvPr>
          <p:cNvSpPr txBox="1"/>
          <p:nvPr/>
        </p:nvSpPr>
        <p:spPr>
          <a:xfrm>
            <a:off x="4267200" y="5595289"/>
            <a:ext cx="3877985" cy="369332"/>
          </a:xfrm>
          <a:prstGeom prst="rect">
            <a:avLst/>
          </a:prstGeom>
          <a:noFill/>
        </p:spPr>
        <p:txBody>
          <a:bodyPr wrap="none" rtlCol="0">
            <a:spAutoFit/>
          </a:bodyPr>
          <a:lstStyle/>
          <a:p>
            <a:r>
              <a:rPr lang="zh-CN" altLang="en-US" dirty="0"/>
              <a:t>最终结果由三个若分类器投票给出。</a:t>
            </a:r>
            <a:endParaRPr lang="en-US" altLang="zh-CN" dirty="0"/>
          </a:p>
        </p:txBody>
      </p:sp>
      <p:sp>
        <p:nvSpPr>
          <p:cNvPr id="7" name="椭圆 6">
            <a:extLst>
              <a:ext uri="{FF2B5EF4-FFF2-40B4-BE49-F238E27FC236}">
                <a16:creationId xmlns:a16="http://schemas.microsoft.com/office/drawing/2014/main" id="{FD721F46-BEBF-40EF-999C-23A6D8003311}"/>
              </a:ext>
            </a:extLst>
          </p:cNvPr>
          <p:cNvSpPr/>
          <p:nvPr/>
        </p:nvSpPr>
        <p:spPr>
          <a:xfrm>
            <a:off x="2438400" y="3276600"/>
            <a:ext cx="457200" cy="304800"/>
          </a:xfrm>
          <a:prstGeom prst="ellipse">
            <a:avLst/>
          </a:prstGeom>
          <a:noFill/>
        </p:spPr>
        <p:style>
          <a:lnRef idx="2">
            <a:schemeClr val="accent3"/>
          </a:lnRef>
          <a:fillRef idx="1">
            <a:schemeClr val="lt1"/>
          </a:fillRef>
          <a:effectRef idx="0">
            <a:schemeClr val="accent3"/>
          </a:effectRef>
          <a:fontRef idx="minor">
            <a:schemeClr val="dk1"/>
          </a:fontRef>
        </p:style>
        <p:txBody>
          <a:bodyPr wrap="square" rtlCol="0" anchor="ctr">
            <a:spAutoFit/>
          </a:bodyPr>
          <a:lstStyle/>
          <a:p>
            <a:pPr algn="ctr"/>
            <a:endParaRPr lang="zh-CN" altLang="en-US" sz="2400" dirty="0"/>
          </a:p>
        </p:txBody>
      </p:sp>
      <p:sp>
        <p:nvSpPr>
          <p:cNvPr id="8" name="椭圆 7">
            <a:extLst>
              <a:ext uri="{FF2B5EF4-FFF2-40B4-BE49-F238E27FC236}">
                <a16:creationId xmlns:a16="http://schemas.microsoft.com/office/drawing/2014/main" id="{888C3711-5853-46C0-9EC9-D7F89CA6198E}"/>
              </a:ext>
            </a:extLst>
          </p:cNvPr>
          <p:cNvSpPr/>
          <p:nvPr/>
        </p:nvSpPr>
        <p:spPr>
          <a:xfrm>
            <a:off x="5410200" y="3290914"/>
            <a:ext cx="457200" cy="304800"/>
          </a:xfrm>
          <a:prstGeom prst="ellipse">
            <a:avLst/>
          </a:prstGeom>
          <a:noFill/>
        </p:spPr>
        <p:style>
          <a:lnRef idx="2">
            <a:schemeClr val="accent3"/>
          </a:lnRef>
          <a:fillRef idx="1">
            <a:schemeClr val="lt1"/>
          </a:fillRef>
          <a:effectRef idx="0">
            <a:schemeClr val="accent3"/>
          </a:effectRef>
          <a:fontRef idx="minor">
            <a:schemeClr val="dk1"/>
          </a:fontRef>
        </p:style>
        <p:txBody>
          <a:bodyPr wrap="square" rtlCol="0" anchor="ctr">
            <a:spAutoFit/>
          </a:bodyPr>
          <a:lstStyle/>
          <a:p>
            <a:pPr algn="ctr"/>
            <a:endParaRPr lang="zh-CN" altLang="en-US" sz="2400" dirty="0"/>
          </a:p>
        </p:txBody>
      </p:sp>
      <p:sp>
        <p:nvSpPr>
          <p:cNvPr id="9" name="椭圆 8">
            <a:extLst>
              <a:ext uri="{FF2B5EF4-FFF2-40B4-BE49-F238E27FC236}">
                <a16:creationId xmlns:a16="http://schemas.microsoft.com/office/drawing/2014/main" id="{83ECFF9C-CECB-4BFE-971F-5B115BD513B3}"/>
              </a:ext>
            </a:extLst>
          </p:cNvPr>
          <p:cNvSpPr/>
          <p:nvPr/>
        </p:nvSpPr>
        <p:spPr>
          <a:xfrm>
            <a:off x="8382000" y="3300137"/>
            <a:ext cx="457200" cy="304800"/>
          </a:xfrm>
          <a:prstGeom prst="ellipse">
            <a:avLst/>
          </a:prstGeom>
          <a:noFill/>
        </p:spPr>
        <p:style>
          <a:lnRef idx="2">
            <a:schemeClr val="accent3"/>
          </a:lnRef>
          <a:fillRef idx="1">
            <a:schemeClr val="lt1"/>
          </a:fillRef>
          <a:effectRef idx="0">
            <a:schemeClr val="accent3"/>
          </a:effectRef>
          <a:fontRef idx="minor">
            <a:schemeClr val="dk1"/>
          </a:fontRef>
        </p:style>
        <p:txBody>
          <a:bodyPr wrap="square" rtlCol="0" anchor="ctr">
            <a:spAutoFit/>
          </a:bodyPr>
          <a:lstStyle/>
          <a:p>
            <a:pPr algn="ctr"/>
            <a:endParaRPr lang="zh-CN" altLang="en-US" sz="2400" dirty="0"/>
          </a:p>
        </p:txBody>
      </p:sp>
    </p:spTree>
    <p:extLst>
      <p:ext uri="{BB962C8B-B14F-4D97-AF65-F5344CB8AC3E}">
        <p14:creationId xmlns:p14="http://schemas.microsoft.com/office/powerpoint/2010/main" val="25966409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0EE3C51-6729-4F97-88B1-310CFB3D2524}"/>
              </a:ext>
            </a:extLst>
          </p:cNvPr>
          <p:cNvSpPr>
            <a:spLocks noGrp="1"/>
          </p:cNvSpPr>
          <p:nvPr>
            <p:ph type="title"/>
          </p:nvPr>
        </p:nvSpPr>
        <p:spPr/>
        <p:txBody>
          <a:bodyPr/>
          <a:lstStyle/>
          <a:p>
            <a:r>
              <a:rPr lang="en-US" altLang="zh-CN" dirty="0" err="1"/>
              <a:t>Adaboost</a:t>
            </a:r>
            <a:endParaRPr lang="zh-CN" altLang="en-US" dirty="0"/>
          </a:p>
        </p:txBody>
      </p:sp>
      <p:sp>
        <p:nvSpPr>
          <p:cNvPr id="3" name="内容占位符 2">
            <a:extLst>
              <a:ext uri="{FF2B5EF4-FFF2-40B4-BE49-F238E27FC236}">
                <a16:creationId xmlns:a16="http://schemas.microsoft.com/office/drawing/2014/main" id="{C7B97499-BCD7-4F02-9C6D-F64821044164}"/>
              </a:ext>
            </a:extLst>
          </p:cNvPr>
          <p:cNvSpPr>
            <a:spLocks noGrp="1"/>
          </p:cNvSpPr>
          <p:nvPr>
            <p:ph idx="1"/>
          </p:nvPr>
        </p:nvSpPr>
        <p:spPr/>
        <p:txBody>
          <a:bodyPr/>
          <a:lstStyle/>
          <a:p>
            <a:pPr marL="0" indent="0">
              <a:buNone/>
            </a:pPr>
            <a:r>
              <a:rPr lang="zh-CN" altLang="en-US" sz="2400" b="1" dirty="0">
                <a:solidFill>
                  <a:srgbClr val="4D4D4D"/>
                </a:solidFill>
                <a:latin typeface="-apple-system"/>
              </a:rPr>
              <a:t>算法步骤：</a:t>
            </a:r>
            <a:endParaRPr lang="zh-CN" altLang="en-US" sz="2400" dirty="0">
              <a:solidFill>
                <a:srgbClr val="4D4D4D"/>
              </a:solidFill>
              <a:latin typeface="-apple-system"/>
            </a:endParaRPr>
          </a:p>
          <a:p>
            <a:pPr marL="0" indent="0">
              <a:buNone/>
            </a:pPr>
            <a:r>
              <a:rPr lang="zh-CN" altLang="en-US" sz="2400" dirty="0">
                <a:solidFill>
                  <a:srgbClr val="4D4D4D"/>
                </a:solidFill>
                <a:latin typeface="-apple-system"/>
              </a:rPr>
              <a:t>（</a:t>
            </a:r>
            <a:r>
              <a:rPr lang="en-US" altLang="zh-CN" sz="2400" dirty="0">
                <a:solidFill>
                  <a:srgbClr val="4D4D4D"/>
                </a:solidFill>
                <a:latin typeface="-apple-system"/>
              </a:rPr>
              <a:t>1</a:t>
            </a:r>
            <a:r>
              <a:rPr lang="zh-CN" altLang="en-US" sz="2400" dirty="0">
                <a:solidFill>
                  <a:srgbClr val="4D4D4D"/>
                </a:solidFill>
                <a:latin typeface="-apple-system"/>
              </a:rPr>
              <a:t>）初始化训练样本的权值分布，每个样本具有</a:t>
            </a:r>
            <a:r>
              <a:rPr lang="zh-CN" altLang="en-US" sz="2400" b="1" dirty="0">
                <a:solidFill>
                  <a:srgbClr val="4D4D4D"/>
                </a:solidFill>
                <a:latin typeface="-apple-system"/>
              </a:rPr>
              <a:t>相同</a:t>
            </a:r>
            <a:r>
              <a:rPr lang="zh-CN" altLang="en-US" sz="2400" dirty="0">
                <a:solidFill>
                  <a:srgbClr val="4D4D4D"/>
                </a:solidFill>
                <a:latin typeface="-apple-system"/>
              </a:rPr>
              <a:t>权重；</a:t>
            </a:r>
          </a:p>
          <a:p>
            <a:pPr marL="0" indent="0">
              <a:buNone/>
            </a:pPr>
            <a:r>
              <a:rPr lang="zh-CN" altLang="en-US" sz="2400" dirty="0">
                <a:solidFill>
                  <a:srgbClr val="4D4D4D"/>
                </a:solidFill>
                <a:latin typeface="-apple-system"/>
              </a:rPr>
              <a:t>（</a:t>
            </a:r>
            <a:r>
              <a:rPr lang="en-US" altLang="zh-CN" sz="2400" dirty="0">
                <a:solidFill>
                  <a:srgbClr val="4D4D4D"/>
                </a:solidFill>
                <a:latin typeface="-apple-system"/>
              </a:rPr>
              <a:t>2</a:t>
            </a:r>
            <a:r>
              <a:rPr lang="zh-CN" altLang="en-US" sz="2400" dirty="0">
                <a:solidFill>
                  <a:srgbClr val="4D4D4D"/>
                </a:solidFill>
                <a:latin typeface="-apple-system"/>
              </a:rPr>
              <a:t>）训练弱分类器，如果样本分类</a:t>
            </a:r>
            <a:r>
              <a:rPr lang="zh-CN" altLang="en-US" sz="2400" b="1" dirty="0">
                <a:solidFill>
                  <a:srgbClr val="4D4D4D"/>
                </a:solidFill>
                <a:latin typeface="-apple-system"/>
              </a:rPr>
              <a:t>正确</a:t>
            </a:r>
            <a:r>
              <a:rPr lang="zh-CN" altLang="en-US" sz="2400" dirty="0">
                <a:solidFill>
                  <a:srgbClr val="4D4D4D"/>
                </a:solidFill>
                <a:latin typeface="-apple-system"/>
              </a:rPr>
              <a:t>，则在构造下一个训练集中，它的权值就会被</a:t>
            </a:r>
            <a:r>
              <a:rPr lang="zh-CN" altLang="en-US" sz="2400" b="1" dirty="0">
                <a:solidFill>
                  <a:srgbClr val="4D4D4D"/>
                </a:solidFill>
                <a:latin typeface="-apple-system"/>
              </a:rPr>
              <a:t>降低</a:t>
            </a:r>
            <a:r>
              <a:rPr lang="zh-CN" altLang="en-US" sz="2400" dirty="0">
                <a:solidFill>
                  <a:srgbClr val="4D4D4D"/>
                </a:solidFill>
                <a:latin typeface="-apple-system"/>
              </a:rPr>
              <a:t>；反之提高。用更新过的样本集去训练下一个分类器（目标是最小化加权错误率）；</a:t>
            </a:r>
          </a:p>
          <a:p>
            <a:pPr marL="0" indent="0">
              <a:buNone/>
            </a:pPr>
            <a:r>
              <a:rPr lang="zh-CN" altLang="en-US" sz="2400" dirty="0">
                <a:solidFill>
                  <a:srgbClr val="4D4D4D"/>
                </a:solidFill>
                <a:latin typeface="-apple-system"/>
              </a:rPr>
              <a:t>（</a:t>
            </a:r>
            <a:r>
              <a:rPr lang="en-US" altLang="zh-CN" sz="2400" dirty="0">
                <a:solidFill>
                  <a:srgbClr val="4D4D4D"/>
                </a:solidFill>
                <a:latin typeface="-apple-system"/>
              </a:rPr>
              <a:t>3</a:t>
            </a:r>
            <a:r>
              <a:rPr lang="zh-CN" altLang="en-US" sz="2400" dirty="0">
                <a:solidFill>
                  <a:srgbClr val="4D4D4D"/>
                </a:solidFill>
                <a:latin typeface="-apple-system"/>
              </a:rPr>
              <a:t>）将所有弱分类组合成强分类器，各个弱分类器的训练过程结束后，</a:t>
            </a:r>
            <a:r>
              <a:rPr lang="zh-CN" altLang="en-US" sz="2400" b="1" dirty="0">
                <a:solidFill>
                  <a:srgbClr val="4D4D4D"/>
                </a:solidFill>
                <a:latin typeface="-apple-system"/>
              </a:rPr>
              <a:t>加大</a:t>
            </a:r>
            <a:r>
              <a:rPr lang="zh-CN" altLang="en-US" sz="2400" dirty="0">
                <a:solidFill>
                  <a:srgbClr val="4D4D4D"/>
                </a:solidFill>
                <a:latin typeface="-apple-system"/>
              </a:rPr>
              <a:t>分类误差率</a:t>
            </a:r>
            <a:r>
              <a:rPr lang="zh-CN" altLang="en-US" sz="2400" b="1" dirty="0">
                <a:solidFill>
                  <a:srgbClr val="4D4D4D"/>
                </a:solidFill>
                <a:latin typeface="-apple-system"/>
              </a:rPr>
              <a:t>小</a:t>
            </a:r>
            <a:r>
              <a:rPr lang="zh-CN" altLang="en-US" sz="2400" dirty="0">
                <a:solidFill>
                  <a:srgbClr val="4D4D4D"/>
                </a:solidFill>
                <a:latin typeface="-apple-system"/>
              </a:rPr>
              <a:t>的弱分类器的权重，降低分类误差率大的弱分类器的权重。</a:t>
            </a:r>
          </a:p>
        </p:txBody>
      </p:sp>
      <p:pic>
        <p:nvPicPr>
          <p:cNvPr id="1026" name="Picture 2">
            <a:extLst>
              <a:ext uri="{FF2B5EF4-FFF2-40B4-BE49-F238E27FC236}">
                <a16:creationId xmlns:a16="http://schemas.microsoft.com/office/drawing/2014/main" id="{3E6A8D5A-D502-4C6B-96FD-A1762AFFB65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971800" y="3829804"/>
            <a:ext cx="5867400" cy="254559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738971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AFF2C37-BCB2-462D-BB1E-D58F83D75DA0}"/>
              </a:ext>
            </a:extLst>
          </p:cNvPr>
          <p:cNvSpPr>
            <a:spLocks noGrp="1"/>
          </p:cNvSpPr>
          <p:nvPr>
            <p:ph type="title"/>
          </p:nvPr>
        </p:nvSpPr>
        <p:spPr/>
        <p:txBody>
          <a:bodyPr/>
          <a:lstStyle/>
          <a:p>
            <a:r>
              <a:rPr lang="en-US" altLang="zh-CN" dirty="0"/>
              <a:t>AdaBoost</a:t>
            </a:r>
            <a:endParaRPr lang="zh-CN" altLang="en-US" dirty="0"/>
          </a:p>
        </p:txBody>
      </p:sp>
      <p:sp>
        <p:nvSpPr>
          <p:cNvPr id="7" name="文本框 6">
            <a:extLst>
              <a:ext uri="{FF2B5EF4-FFF2-40B4-BE49-F238E27FC236}">
                <a16:creationId xmlns:a16="http://schemas.microsoft.com/office/drawing/2014/main" id="{2B14A0F2-A8CE-4FCE-955C-D8D5B933C651}"/>
              </a:ext>
            </a:extLst>
          </p:cNvPr>
          <p:cNvSpPr txBox="1"/>
          <p:nvPr/>
        </p:nvSpPr>
        <p:spPr>
          <a:xfrm>
            <a:off x="5562600" y="381000"/>
            <a:ext cx="6629400" cy="461665"/>
          </a:xfrm>
          <a:prstGeom prst="rect">
            <a:avLst/>
          </a:prstGeom>
          <a:noFill/>
        </p:spPr>
        <p:txBody>
          <a:bodyPr wrap="square">
            <a:spAutoFit/>
          </a:bodyPr>
          <a:lstStyle/>
          <a:p>
            <a:r>
              <a:rPr lang="en-US" altLang="zh-CN" sz="1200" dirty="0">
                <a:latin typeface="+mn-lt"/>
              </a:rPr>
              <a:t>Freund Y, </a:t>
            </a:r>
            <a:r>
              <a:rPr lang="en-US" altLang="zh-CN" sz="1200" dirty="0" err="1">
                <a:latin typeface="+mn-lt"/>
              </a:rPr>
              <a:t>Schapire</a:t>
            </a:r>
            <a:r>
              <a:rPr lang="en-US" altLang="zh-CN" sz="1200" dirty="0">
                <a:latin typeface="+mn-lt"/>
              </a:rPr>
              <a:t> R E, et al., 1996. Experiments with a new boosting algorithm[C]//Proceedings of the International Conference on Machine Learning: volume 96. 148-156.</a:t>
            </a:r>
            <a:endParaRPr lang="zh-CN" altLang="en-US" sz="1200" dirty="0">
              <a:latin typeface="+mn-lt"/>
            </a:endParaRPr>
          </a:p>
        </p:txBody>
      </p:sp>
      <p:pic>
        <p:nvPicPr>
          <p:cNvPr id="8" name="图片 7">
            <a:extLst>
              <a:ext uri="{FF2B5EF4-FFF2-40B4-BE49-F238E27FC236}">
                <a16:creationId xmlns:a16="http://schemas.microsoft.com/office/drawing/2014/main" id="{95515EB8-7E07-452C-81A2-F2DCD0760CED}"/>
              </a:ext>
            </a:extLst>
          </p:cNvPr>
          <p:cNvPicPr>
            <a:picLocks noChangeAspect="1"/>
          </p:cNvPicPr>
          <p:nvPr/>
        </p:nvPicPr>
        <p:blipFill>
          <a:blip r:embed="rId3"/>
          <a:stretch>
            <a:fillRect/>
          </a:stretch>
        </p:blipFill>
        <p:spPr>
          <a:xfrm>
            <a:off x="3124200" y="1219200"/>
            <a:ext cx="6235950" cy="4937271"/>
          </a:xfrm>
          <a:prstGeom prst="rect">
            <a:avLst/>
          </a:prstGeom>
        </p:spPr>
      </p:pic>
    </p:spTree>
    <p:extLst>
      <p:ext uri="{BB962C8B-B14F-4D97-AF65-F5344CB8AC3E}">
        <p14:creationId xmlns:p14="http://schemas.microsoft.com/office/powerpoint/2010/main" val="3595384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790604E-F352-46B7-82A3-A68E3191715C}"/>
              </a:ext>
            </a:extLst>
          </p:cNvPr>
          <p:cNvSpPr>
            <a:spLocks noGrp="1"/>
          </p:cNvSpPr>
          <p:nvPr>
            <p:ph type="title"/>
          </p:nvPr>
        </p:nvSpPr>
        <p:spPr/>
        <p:txBody>
          <a:bodyPr/>
          <a:lstStyle/>
          <a:p>
            <a:r>
              <a:rPr lang="zh-CN" altLang="en-US" dirty="0"/>
              <a:t>自训练（</a:t>
            </a:r>
            <a:r>
              <a:rPr lang="en-US" altLang="zh-CN" dirty="0"/>
              <a:t>Self-training</a:t>
            </a:r>
            <a:r>
              <a:rPr lang="zh-CN" altLang="en-US" dirty="0"/>
              <a:t>）</a:t>
            </a:r>
          </a:p>
        </p:txBody>
      </p:sp>
      <p:pic>
        <p:nvPicPr>
          <p:cNvPr id="5" name="图片 4">
            <a:extLst>
              <a:ext uri="{FF2B5EF4-FFF2-40B4-BE49-F238E27FC236}">
                <a16:creationId xmlns:a16="http://schemas.microsoft.com/office/drawing/2014/main" id="{B1A3BD7C-1EED-477C-B2C7-93E1D3C07015}"/>
              </a:ext>
            </a:extLst>
          </p:cNvPr>
          <p:cNvPicPr>
            <a:picLocks noChangeAspect="1"/>
          </p:cNvPicPr>
          <p:nvPr/>
        </p:nvPicPr>
        <p:blipFill>
          <a:blip r:embed="rId3"/>
          <a:stretch>
            <a:fillRect/>
          </a:stretch>
        </p:blipFill>
        <p:spPr>
          <a:xfrm>
            <a:off x="533400" y="1066800"/>
            <a:ext cx="6779696" cy="3966662"/>
          </a:xfrm>
          <a:prstGeom prst="rect">
            <a:avLst/>
          </a:prstGeom>
        </p:spPr>
      </p:pic>
      <p:sp>
        <p:nvSpPr>
          <p:cNvPr id="6" name="文本框 5">
            <a:extLst>
              <a:ext uri="{FF2B5EF4-FFF2-40B4-BE49-F238E27FC236}">
                <a16:creationId xmlns:a16="http://schemas.microsoft.com/office/drawing/2014/main" id="{D81FA6C3-3F7A-400A-B703-74A8772B0996}"/>
              </a:ext>
            </a:extLst>
          </p:cNvPr>
          <p:cNvSpPr txBox="1"/>
          <p:nvPr/>
        </p:nvSpPr>
        <p:spPr>
          <a:xfrm>
            <a:off x="7620000" y="1676400"/>
            <a:ext cx="4419600" cy="369332"/>
          </a:xfrm>
          <a:prstGeom prst="rect">
            <a:avLst/>
          </a:prstGeom>
          <a:noFill/>
        </p:spPr>
        <p:txBody>
          <a:bodyPr wrap="square" rtlCol="0">
            <a:spAutoFit/>
          </a:bodyPr>
          <a:lstStyle/>
          <a:p>
            <a:r>
              <a:rPr lang="zh-CN" altLang="en-US" dirty="0"/>
              <a:t>思考：自训练的核心是什么？如何实现？</a:t>
            </a:r>
          </a:p>
        </p:txBody>
      </p:sp>
      <p:sp>
        <p:nvSpPr>
          <p:cNvPr id="7" name="文本框 6">
            <a:extLst>
              <a:ext uri="{FF2B5EF4-FFF2-40B4-BE49-F238E27FC236}">
                <a16:creationId xmlns:a16="http://schemas.microsoft.com/office/drawing/2014/main" id="{9E957E34-695F-4A69-9F70-7CD4AD097554}"/>
              </a:ext>
            </a:extLst>
          </p:cNvPr>
          <p:cNvSpPr txBox="1"/>
          <p:nvPr/>
        </p:nvSpPr>
        <p:spPr>
          <a:xfrm>
            <a:off x="7581900" y="2667000"/>
            <a:ext cx="4457700" cy="1477328"/>
          </a:xfrm>
          <a:prstGeom prst="rect">
            <a:avLst/>
          </a:prstGeom>
          <a:noFill/>
        </p:spPr>
        <p:txBody>
          <a:bodyPr wrap="square">
            <a:spAutoFit/>
          </a:bodyPr>
          <a:lstStyle/>
          <a:p>
            <a:r>
              <a:rPr lang="zh-CN" altLang="en-US" dirty="0"/>
              <a:t>但自训练的缺点是</a:t>
            </a:r>
            <a:r>
              <a:rPr lang="zh-CN" altLang="en-US" b="1" dirty="0"/>
              <a:t>无法保证每次加入训练集的样本的伪标签是正确的</a:t>
            </a:r>
            <a:r>
              <a:rPr lang="zh-CN" altLang="en-US" dirty="0"/>
              <a:t>。如果选择样本的伪标签是错误的，反而会损害模型的预测能力。因此，自训练最关键的步骤是如何设置挑选样本的标准。</a:t>
            </a:r>
          </a:p>
        </p:txBody>
      </p:sp>
    </p:spTree>
    <p:extLst>
      <p:ext uri="{BB962C8B-B14F-4D97-AF65-F5344CB8AC3E}">
        <p14:creationId xmlns:p14="http://schemas.microsoft.com/office/powerpoint/2010/main" val="3750549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DC539EF-C6B1-428F-9482-2E19D9A09372}"/>
              </a:ext>
            </a:extLst>
          </p:cNvPr>
          <p:cNvSpPr>
            <a:spLocks noGrp="1"/>
          </p:cNvSpPr>
          <p:nvPr>
            <p:ph type="title"/>
          </p:nvPr>
        </p:nvSpPr>
        <p:spPr/>
        <p:txBody>
          <a:bodyPr/>
          <a:lstStyle/>
          <a:p>
            <a:r>
              <a:rPr lang="zh-CN" altLang="en-US" dirty="0"/>
              <a:t>协同训练（</a:t>
            </a:r>
            <a:r>
              <a:rPr lang="en-US" altLang="zh-CN" dirty="0"/>
              <a:t>Co-Training</a:t>
            </a:r>
            <a:r>
              <a:rPr lang="zh-CN" altLang="en-US" dirty="0"/>
              <a:t>）</a:t>
            </a:r>
          </a:p>
        </p:txBody>
      </p:sp>
      <p:sp>
        <p:nvSpPr>
          <p:cNvPr id="3" name="内容占位符 2">
            <a:extLst>
              <a:ext uri="{FF2B5EF4-FFF2-40B4-BE49-F238E27FC236}">
                <a16:creationId xmlns:a16="http://schemas.microsoft.com/office/drawing/2014/main" id="{2B5A16F7-B67F-40FF-9B6A-4BDD97DF8D24}"/>
              </a:ext>
            </a:extLst>
          </p:cNvPr>
          <p:cNvSpPr>
            <a:spLocks noGrp="1"/>
          </p:cNvSpPr>
          <p:nvPr>
            <p:ph idx="1"/>
          </p:nvPr>
        </p:nvSpPr>
        <p:spPr/>
        <p:txBody>
          <a:bodyPr/>
          <a:lstStyle/>
          <a:p>
            <a:r>
              <a:rPr lang="en-US" altLang="zh-CN" dirty="0"/>
              <a:t>Multi-View Learning</a:t>
            </a:r>
            <a:endParaRPr lang="zh-CN" altLang="en-US" dirty="0"/>
          </a:p>
        </p:txBody>
      </p:sp>
      <p:pic>
        <p:nvPicPr>
          <p:cNvPr id="2050" name="Picture 2" descr="âco-trainingâçå¾çæç´¢ç»æ">
            <a:extLst>
              <a:ext uri="{FF2B5EF4-FFF2-40B4-BE49-F238E27FC236}">
                <a16:creationId xmlns:a16="http://schemas.microsoft.com/office/drawing/2014/main" id="{C7AE46B1-353F-43AB-9BD5-54067D9EE0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1" y="1676400"/>
            <a:ext cx="5062011" cy="3800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1853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5254BFB-E395-4803-9416-FEDD0667D3D7}"/>
              </a:ext>
            </a:extLst>
          </p:cNvPr>
          <p:cNvSpPr>
            <a:spLocks noGrp="1"/>
          </p:cNvSpPr>
          <p:nvPr>
            <p:ph type="title"/>
          </p:nvPr>
        </p:nvSpPr>
        <p:spPr/>
        <p:txBody>
          <a:bodyPr/>
          <a:lstStyle/>
          <a:p>
            <a:r>
              <a:rPr lang="zh-CN" altLang="en-US" dirty="0"/>
              <a:t>多任务学习（</a:t>
            </a:r>
            <a:r>
              <a:rPr lang="en-US" altLang="zh-CN" dirty="0"/>
              <a:t>Multitask Learning</a:t>
            </a:r>
            <a:r>
              <a:rPr lang="zh-CN" altLang="en-US" dirty="0"/>
              <a:t>）</a:t>
            </a:r>
          </a:p>
        </p:txBody>
      </p:sp>
      <p:pic>
        <p:nvPicPr>
          <p:cNvPr id="4" name="图片 3">
            <a:extLst>
              <a:ext uri="{FF2B5EF4-FFF2-40B4-BE49-F238E27FC236}">
                <a16:creationId xmlns:a16="http://schemas.microsoft.com/office/drawing/2014/main" id="{403BBAE5-A5AA-4A62-934F-20B451D2374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90889" y="1371600"/>
            <a:ext cx="4610221" cy="4871485"/>
          </a:xfrm>
          <a:prstGeom prst="rect">
            <a:avLst/>
          </a:prstGeom>
        </p:spPr>
      </p:pic>
      <p:sp>
        <p:nvSpPr>
          <p:cNvPr id="3" name="文本框 2">
            <a:extLst>
              <a:ext uri="{FF2B5EF4-FFF2-40B4-BE49-F238E27FC236}">
                <a16:creationId xmlns:a16="http://schemas.microsoft.com/office/drawing/2014/main" id="{65CEA115-9E0F-4A46-962F-BBE3985CB0BD}"/>
              </a:ext>
            </a:extLst>
          </p:cNvPr>
          <p:cNvSpPr txBox="1"/>
          <p:nvPr/>
        </p:nvSpPr>
        <p:spPr>
          <a:xfrm>
            <a:off x="7593510" y="212931"/>
            <a:ext cx="4293689" cy="646331"/>
          </a:xfrm>
          <a:prstGeom prst="rect">
            <a:avLst/>
          </a:prstGeom>
          <a:noFill/>
        </p:spPr>
        <p:txBody>
          <a:bodyPr wrap="square" rtlCol="0">
            <a:spAutoFit/>
          </a:bodyPr>
          <a:lstStyle/>
          <a:p>
            <a:r>
              <a:rPr lang="zh-CN" altLang="en-US" dirty="0"/>
              <a:t>思考：多任务学习通常可以获得比单任务学习更好的泛化能力，为什么？</a:t>
            </a:r>
          </a:p>
        </p:txBody>
      </p:sp>
      <p:sp>
        <p:nvSpPr>
          <p:cNvPr id="6" name="文本框 5">
            <a:extLst>
              <a:ext uri="{FF2B5EF4-FFF2-40B4-BE49-F238E27FC236}">
                <a16:creationId xmlns:a16="http://schemas.microsoft.com/office/drawing/2014/main" id="{97F3DD4C-7CA4-4A96-8348-17FA291C4343}"/>
              </a:ext>
            </a:extLst>
          </p:cNvPr>
          <p:cNvSpPr txBox="1"/>
          <p:nvPr/>
        </p:nvSpPr>
        <p:spPr>
          <a:xfrm>
            <a:off x="8534400" y="2110375"/>
            <a:ext cx="2971800" cy="923330"/>
          </a:xfrm>
          <a:prstGeom prst="rect">
            <a:avLst/>
          </a:prstGeom>
          <a:noFill/>
        </p:spPr>
        <p:txBody>
          <a:bodyPr wrap="square">
            <a:spAutoFit/>
          </a:bodyPr>
          <a:lstStyle/>
          <a:p>
            <a:r>
              <a:rPr lang="zh-CN" altLang="en-US" dirty="0"/>
              <a:t>直接复制使用其他任务的隐状态，或使用注意力机制来主动选取有用的信息</a:t>
            </a:r>
          </a:p>
        </p:txBody>
      </p:sp>
      <p:sp>
        <p:nvSpPr>
          <p:cNvPr id="8" name="文本框 7">
            <a:extLst>
              <a:ext uri="{FF2B5EF4-FFF2-40B4-BE49-F238E27FC236}">
                <a16:creationId xmlns:a16="http://schemas.microsoft.com/office/drawing/2014/main" id="{0EC07540-D9F6-45B8-B246-90C6187025C0}"/>
              </a:ext>
            </a:extLst>
          </p:cNvPr>
          <p:cNvSpPr txBox="1"/>
          <p:nvPr/>
        </p:nvSpPr>
        <p:spPr>
          <a:xfrm>
            <a:off x="2514600" y="2517807"/>
            <a:ext cx="1600200" cy="369332"/>
          </a:xfrm>
          <a:prstGeom prst="rect">
            <a:avLst/>
          </a:prstGeom>
          <a:noFill/>
        </p:spPr>
        <p:txBody>
          <a:bodyPr wrap="square">
            <a:spAutoFit/>
          </a:bodyPr>
          <a:lstStyle/>
          <a:p>
            <a:r>
              <a:rPr lang="zh-CN" altLang="en-US" dirty="0"/>
              <a:t>共享通用特征</a:t>
            </a:r>
          </a:p>
        </p:txBody>
      </p:sp>
      <p:sp>
        <p:nvSpPr>
          <p:cNvPr id="10" name="文本框 9">
            <a:extLst>
              <a:ext uri="{FF2B5EF4-FFF2-40B4-BE49-F238E27FC236}">
                <a16:creationId xmlns:a16="http://schemas.microsoft.com/office/drawing/2014/main" id="{2EB44558-6F91-46DF-8B96-F98415B89F38}"/>
              </a:ext>
            </a:extLst>
          </p:cNvPr>
          <p:cNvSpPr txBox="1"/>
          <p:nvPr/>
        </p:nvSpPr>
        <p:spPr>
          <a:xfrm>
            <a:off x="1931488" y="4858434"/>
            <a:ext cx="1867021" cy="923330"/>
          </a:xfrm>
          <a:prstGeom prst="rect">
            <a:avLst/>
          </a:prstGeom>
          <a:noFill/>
        </p:spPr>
        <p:txBody>
          <a:bodyPr wrap="square">
            <a:spAutoFit/>
          </a:bodyPr>
          <a:lstStyle/>
          <a:p>
            <a:r>
              <a:rPr lang="zh-CN" altLang="en-US" dirty="0"/>
              <a:t>低级任务在低层输出，高级任务在高层输出</a:t>
            </a:r>
          </a:p>
        </p:txBody>
      </p:sp>
      <p:sp>
        <p:nvSpPr>
          <p:cNvPr id="12" name="文本框 11">
            <a:extLst>
              <a:ext uri="{FF2B5EF4-FFF2-40B4-BE49-F238E27FC236}">
                <a16:creationId xmlns:a16="http://schemas.microsoft.com/office/drawing/2014/main" id="{F03739E9-35DA-4F64-8F7A-0BA3B43B66AE}"/>
              </a:ext>
            </a:extLst>
          </p:cNvPr>
          <p:cNvSpPr txBox="1"/>
          <p:nvPr/>
        </p:nvSpPr>
        <p:spPr>
          <a:xfrm>
            <a:off x="8401110" y="4609504"/>
            <a:ext cx="2971800" cy="923330"/>
          </a:xfrm>
          <a:prstGeom prst="rect">
            <a:avLst/>
          </a:prstGeom>
          <a:noFill/>
        </p:spPr>
        <p:txBody>
          <a:bodyPr wrap="square">
            <a:spAutoFit/>
          </a:bodyPr>
          <a:lstStyle/>
          <a:p>
            <a:r>
              <a:rPr lang="zh-CN" altLang="en-US" dirty="0"/>
              <a:t>共享模块捕捉一些跨任务的共享特征，而私有模块只捕捉和特定任务相关的特征</a:t>
            </a:r>
          </a:p>
        </p:txBody>
      </p:sp>
    </p:spTree>
    <p:extLst>
      <p:ext uri="{BB962C8B-B14F-4D97-AF65-F5344CB8AC3E}">
        <p14:creationId xmlns:p14="http://schemas.microsoft.com/office/powerpoint/2010/main" val="2853475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D7B3DE5-A32F-4B67-8C39-EF69D2D4CF33}"/>
              </a:ext>
            </a:extLst>
          </p:cNvPr>
          <p:cNvSpPr>
            <a:spLocks noGrp="1"/>
          </p:cNvSpPr>
          <p:nvPr>
            <p:ph type="title"/>
          </p:nvPr>
        </p:nvSpPr>
        <p:spPr/>
        <p:txBody>
          <a:bodyPr/>
          <a:lstStyle/>
          <a:p>
            <a:r>
              <a:rPr lang="zh-CN" altLang="en-US" dirty="0"/>
              <a:t>多任务学习（</a:t>
            </a:r>
            <a:r>
              <a:rPr lang="en-US" altLang="zh-CN" dirty="0"/>
              <a:t>Multitask Learning</a:t>
            </a:r>
            <a:r>
              <a:rPr lang="zh-CN" altLang="en-US" dirty="0"/>
              <a:t>）</a:t>
            </a:r>
          </a:p>
        </p:txBody>
      </p:sp>
      <p:sp>
        <p:nvSpPr>
          <p:cNvPr id="3" name="内容占位符 2">
            <a:extLst>
              <a:ext uri="{FF2B5EF4-FFF2-40B4-BE49-F238E27FC236}">
                <a16:creationId xmlns:a16="http://schemas.microsoft.com/office/drawing/2014/main" id="{3E9EAD2B-7E7C-49C3-8B98-4E4C71D3BCD5}"/>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dirty="0"/>
              <a:t>多任务学习通常可以获得比单任务学习更好的泛化能力，主要有以下几个 原因： </a:t>
            </a:r>
            <a:endParaRPr lang="en-US" altLang="zh-CN" dirty="0"/>
          </a:p>
          <a:p>
            <a:pPr lvl="1"/>
            <a:r>
              <a:rPr lang="zh-CN" altLang="en-US" dirty="0"/>
              <a:t>多任务学习在多个任务的数据集上进行训练，比单任务学习的</a:t>
            </a:r>
            <a:r>
              <a:rPr lang="zh-CN" altLang="en-US" b="1" dirty="0"/>
              <a:t>训练集更大</a:t>
            </a:r>
            <a:r>
              <a:rPr lang="zh-CN" altLang="en-US" dirty="0"/>
              <a:t>。由于多个任务之间有一定的</a:t>
            </a:r>
            <a:r>
              <a:rPr lang="zh-CN" altLang="en-US" b="1" dirty="0"/>
              <a:t>相关性</a:t>
            </a:r>
            <a:r>
              <a:rPr lang="zh-CN" altLang="en-US" dirty="0"/>
              <a:t>，因此多任务学习相当于是一种隐式的数据增强，可以提高模型的泛化能力</a:t>
            </a:r>
            <a:endParaRPr lang="en-US" altLang="zh-CN" dirty="0"/>
          </a:p>
          <a:p>
            <a:pPr lvl="1"/>
            <a:r>
              <a:rPr lang="zh-CN" altLang="en-US" dirty="0"/>
              <a:t>多任务学习中的</a:t>
            </a:r>
            <a:r>
              <a:rPr lang="zh-CN" altLang="en-US" b="1" dirty="0"/>
              <a:t>共享模块需要兼顾所有任务</a:t>
            </a:r>
            <a:r>
              <a:rPr lang="zh-CN" altLang="en-US" dirty="0"/>
              <a:t>，这在一定程度上避免了模型过拟合到单个任务的训练集，可以看作一种</a:t>
            </a:r>
            <a:r>
              <a:rPr lang="zh-CN" altLang="en-US" b="1" dirty="0"/>
              <a:t>正则化</a:t>
            </a:r>
            <a:r>
              <a:rPr lang="zh-CN" altLang="en-US" dirty="0"/>
              <a:t> </a:t>
            </a:r>
            <a:endParaRPr lang="en-US" altLang="zh-CN" dirty="0"/>
          </a:p>
          <a:p>
            <a:pPr lvl="1"/>
            <a:r>
              <a:rPr lang="zh-CN" altLang="en-US" dirty="0"/>
              <a:t>既然一个好的表示通常需要适用于多个不同任务， 使得它会比单任务学习获得</a:t>
            </a:r>
            <a:r>
              <a:rPr lang="zh-CN" altLang="en-US" b="1" dirty="0"/>
              <a:t>更好的表示</a:t>
            </a:r>
            <a:endParaRPr lang="en-US" altLang="zh-CN" b="1" dirty="0"/>
          </a:p>
          <a:p>
            <a:pPr lvl="1"/>
            <a:r>
              <a:rPr lang="zh-CN" altLang="en-US" dirty="0"/>
              <a:t>每个任务都可以“选择性”利用其他任务中学习到的隐藏特征，从而提高自身的能力</a:t>
            </a:r>
            <a:endParaRPr lang="en-US" altLang="zh-CN" dirty="0"/>
          </a:p>
        </p:txBody>
      </p:sp>
    </p:spTree>
    <p:extLst>
      <p:ext uri="{BB962C8B-B14F-4D97-AF65-F5344CB8AC3E}">
        <p14:creationId xmlns:p14="http://schemas.microsoft.com/office/powerpoint/2010/main" val="41923072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屏幕剪辑"/>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304800"/>
            <a:ext cx="6850288" cy="1024580"/>
          </a:xfrm>
          <a:prstGeom prst="rect">
            <a:avLst/>
          </a:prstGeom>
        </p:spPr>
      </p:pic>
      <p:sp>
        <p:nvSpPr>
          <p:cNvPr id="8" name="文本框 7"/>
          <p:cNvSpPr txBox="1"/>
          <p:nvPr/>
        </p:nvSpPr>
        <p:spPr>
          <a:xfrm>
            <a:off x="7924800" y="152400"/>
            <a:ext cx="2595582" cy="369332"/>
          </a:xfrm>
          <a:prstGeom prst="rect">
            <a:avLst/>
          </a:prstGeom>
          <a:noFill/>
        </p:spPr>
        <p:txBody>
          <a:bodyPr wrap="none" rtlCol="0">
            <a:spAutoFit/>
          </a:bodyPr>
          <a:lstStyle/>
          <a:p>
            <a:r>
              <a:rPr lang="en-US" altLang="zh-CN" dirty="0"/>
              <a:t>Machine Learning 1997</a:t>
            </a:r>
            <a:endParaRPr lang="zh-CN" altLang="en-US" dirty="0"/>
          </a:p>
        </p:txBody>
      </p:sp>
      <p:sp>
        <p:nvSpPr>
          <p:cNvPr id="9" name="内容占位符 5">
            <a:extLst>
              <a:ext uri="{FF2B5EF4-FFF2-40B4-BE49-F238E27FC236}">
                <a16:creationId xmlns:a16="http://schemas.microsoft.com/office/drawing/2014/main" id="{12BE8CC3-28C0-4260-A1DE-5B9BE430E14C}"/>
              </a:ext>
            </a:extLst>
          </p:cNvPr>
          <p:cNvSpPr txBox="1">
            <a:spLocks/>
          </p:cNvSpPr>
          <p:nvPr/>
        </p:nvSpPr>
        <p:spPr bwMode="auto">
          <a:xfrm>
            <a:off x="1668688" y="2438400"/>
            <a:ext cx="7772400" cy="3603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spAutoFit/>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pPr marL="0" indent="0">
              <a:buFont typeface="Wingdings 3" panose="05040102010807070707" pitchFamily="18" charset="2"/>
              <a:buNone/>
            </a:pPr>
            <a:r>
              <a:rPr lang="en-US" sz="2800" dirty="0"/>
              <a:t>Multitask Learning is an approach to </a:t>
            </a:r>
            <a:r>
              <a:rPr lang="en-US" sz="2800" dirty="0">
                <a:solidFill>
                  <a:srgbClr val="FF0000"/>
                </a:solidFill>
              </a:rPr>
              <a:t>inductive transfer </a:t>
            </a:r>
            <a:r>
              <a:rPr lang="en-US" sz="2800" dirty="0"/>
              <a:t>that improves </a:t>
            </a:r>
            <a:r>
              <a:rPr lang="en-US" sz="2800" dirty="0">
                <a:solidFill>
                  <a:srgbClr val="FF0000"/>
                </a:solidFill>
              </a:rPr>
              <a:t>generalization</a:t>
            </a:r>
            <a:r>
              <a:rPr lang="en-US" sz="2800" dirty="0"/>
              <a:t> by using the domain information contained in the training signals of related tasks as an </a:t>
            </a:r>
            <a:r>
              <a:rPr lang="en-US" sz="2800" dirty="0">
                <a:solidFill>
                  <a:srgbClr val="FF0000"/>
                </a:solidFill>
              </a:rPr>
              <a:t>inductive bias</a:t>
            </a:r>
            <a:r>
              <a:rPr lang="en-US" sz="2800" dirty="0"/>
              <a:t>. It does this by learning tasks in parallel while using a </a:t>
            </a:r>
            <a:r>
              <a:rPr lang="en-US" sz="2800" u="sng" dirty="0">
                <a:solidFill>
                  <a:srgbClr val="FF0000"/>
                </a:solidFill>
              </a:rPr>
              <a:t>shared representation</a:t>
            </a:r>
            <a:r>
              <a:rPr lang="en-US" sz="2800" dirty="0"/>
              <a:t>; </a:t>
            </a:r>
            <a:r>
              <a:rPr lang="en-US" sz="2800" u="sng" dirty="0"/>
              <a:t>what is learned for each task can help other tasks be learned better</a:t>
            </a:r>
            <a:r>
              <a:rPr lang="en-US" sz="2800" dirty="0"/>
              <a:t>.</a:t>
            </a:r>
            <a:endParaRPr lang="en-US" altLang="zh-CN" sz="2800" dirty="0"/>
          </a:p>
          <a:p>
            <a:pPr marL="0" indent="0">
              <a:buFont typeface="Wingdings 3" panose="05040102010807070707" pitchFamily="18" charset="2"/>
              <a:buNone/>
            </a:pPr>
            <a:endParaRPr lang="en-US" altLang="zh-CN" sz="2800" dirty="0"/>
          </a:p>
        </p:txBody>
      </p:sp>
      <p:sp>
        <p:nvSpPr>
          <p:cNvPr id="2" name="文本框 1">
            <a:extLst>
              <a:ext uri="{FF2B5EF4-FFF2-40B4-BE49-F238E27FC236}">
                <a16:creationId xmlns:a16="http://schemas.microsoft.com/office/drawing/2014/main" id="{08823BF8-EC3B-4386-96CB-FA67FB9DEC8C}"/>
              </a:ext>
            </a:extLst>
          </p:cNvPr>
          <p:cNvSpPr txBox="1"/>
          <p:nvPr/>
        </p:nvSpPr>
        <p:spPr>
          <a:xfrm>
            <a:off x="8305800" y="5715000"/>
            <a:ext cx="3048000" cy="923330"/>
          </a:xfrm>
          <a:prstGeom prst="rect">
            <a:avLst/>
          </a:prstGeom>
          <a:noFill/>
        </p:spPr>
        <p:txBody>
          <a:bodyPr wrap="square" rtlCol="0">
            <a:spAutoFit/>
          </a:bodyPr>
          <a:lstStyle/>
          <a:p>
            <a:r>
              <a:rPr lang="zh-CN" altLang="en-US" dirty="0"/>
              <a:t>思考：举例说明哪些任务适合一起做多任务学习，哪些不适合。为什么？</a:t>
            </a:r>
          </a:p>
        </p:txBody>
      </p:sp>
    </p:spTree>
    <p:extLst>
      <p:ext uri="{BB962C8B-B14F-4D97-AF65-F5344CB8AC3E}">
        <p14:creationId xmlns:p14="http://schemas.microsoft.com/office/powerpoint/2010/main" val="174526427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C574734-0BEE-4276-A0FC-23909AA18C6C}"/>
              </a:ext>
            </a:extLst>
          </p:cNvPr>
          <p:cNvSpPr>
            <a:spLocks noGrp="1"/>
          </p:cNvSpPr>
          <p:nvPr>
            <p:ph type="title"/>
          </p:nvPr>
        </p:nvSpPr>
        <p:spPr/>
        <p:txBody>
          <a:bodyPr/>
          <a:lstStyle/>
          <a:p>
            <a:r>
              <a:rPr lang="zh-CN" altLang="en-US" dirty="0"/>
              <a:t>迁移学习（</a:t>
            </a:r>
            <a:r>
              <a:rPr lang="en-US" altLang="zh-CN" dirty="0"/>
              <a:t>Transfer Learning</a:t>
            </a:r>
            <a:r>
              <a:rPr lang="zh-CN" altLang="en-US" dirty="0"/>
              <a:t>）</a:t>
            </a:r>
          </a:p>
        </p:txBody>
      </p:sp>
      <p:pic>
        <p:nvPicPr>
          <p:cNvPr id="6" name="图片 5">
            <a:extLst>
              <a:ext uri="{FF2B5EF4-FFF2-40B4-BE49-F238E27FC236}">
                <a16:creationId xmlns:a16="http://schemas.microsoft.com/office/drawing/2014/main" id="{FF14062B-B013-410C-8DEA-3CE80D19F3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76926" y="2057401"/>
            <a:ext cx="8033875" cy="3359867"/>
          </a:xfrm>
          <a:prstGeom prst="rect">
            <a:avLst/>
          </a:prstGeom>
        </p:spPr>
      </p:pic>
    </p:spTree>
    <p:extLst>
      <p:ext uri="{BB962C8B-B14F-4D97-AF65-F5344CB8AC3E}">
        <p14:creationId xmlns:p14="http://schemas.microsoft.com/office/powerpoint/2010/main" val="8438011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528609-A4F5-4E3B-99AF-5CE7F0E92A45}"/>
              </a:ext>
            </a:extLst>
          </p:cNvPr>
          <p:cNvSpPr>
            <a:spLocks noGrp="1"/>
          </p:cNvSpPr>
          <p:nvPr>
            <p:ph type="title"/>
          </p:nvPr>
        </p:nvSpPr>
        <p:spPr/>
        <p:txBody>
          <a:bodyPr/>
          <a:lstStyle/>
          <a:p>
            <a:r>
              <a:rPr lang="zh-CN" altLang="en-US" dirty="0"/>
              <a:t>元学习（</a:t>
            </a:r>
            <a:r>
              <a:rPr lang="en-US" altLang="zh-CN" dirty="0"/>
              <a:t>Meta Learning/Learning to Learn</a:t>
            </a:r>
            <a:r>
              <a:rPr lang="zh-CN" altLang="en-US" dirty="0"/>
              <a:t>）</a:t>
            </a:r>
          </a:p>
        </p:txBody>
      </p:sp>
      <p:sp>
        <p:nvSpPr>
          <p:cNvPr id="5" name="内容占位符 2">
            <a:extLst>
              <a:ext uri="{FF2B5EF4-FFF2-40B4-BE49-F238E27FC236}">
                <a16:creationId xmlns:a16="http://schemas.microsoft.com/office/drawing/2014/main" id="{19197DDE-BC67-4139-A6F2-F1AB1B952423}"/>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b="0" i="0" dirty="0">
                <a:effectLst/>
                <a:latin typeface="PingFang SC"/>
              </a:rPr>
              <a:t>元学习，旨在使模型能够从多个任务中提取</a:t>
            </a:r>
            <a:r>
              <a:rPr lang="zh-CN" altLang="en-US" b="1" i="0" dirty="0">
                <a:effectLst/>
                <a:latin typeface="PingFang SC"/>
              </a:rPr>
              <a:t>高阶知识</a:t>
            </a:r>
            <a:r>
              <a:rPr lang="zh-CN" altLang="en-US" b="0" i="0" dirty="0">
                <a:effectLst/>
                <a:latin typeface="PingFang SC"/>
              </a:rPr>
              <a:t>，从而在面对新任务时，仅需</a:t>
            </a:r>
            <a:r>
              <a:rPr lang="zh-CN" altLang="en-US" b="1" i="0" dirty="0">
                <a:effectLst/>
                <a:latin typeface="PingFang SC"/>
              </a:rPr>
              <a:t>少量</a:t>
            </a:r>
            <a:r>
              <a:rPr lang="zh-CN" altLang="en-US" b="0" i="0" dirty="0">
                <a:effectLst/>
                <a:latin typeface="PingFang SC"/>
              </a:rPr>
              <a:t>数据或训练步骤即可快速适应。其核心思想是</a:t>
            </a:r>
            <a:r>
              <a:rPr lang="zh-CN" altLang="en-US" b="0" i="0" u="sng" dirty="0">
                <a:effectLst/>
                <a:latin typeface="PingFang SC"/>
              </a:rPr>
              <a:t>通过在大量相关任务上训练，模型学会优化自身的学习策略、参数初始化或架构，提升在新任务上的泛化能力</a:t>
            </a:r>
            <a:r>
              <a:rPr lang="zh-CN" altLang="en-US" b="0" i="0" dirty="0">
                <a:effectLst/>
                <a:latin typeface="PingFang SC"/>
              </a:rPr>
              <a:t>。</a:t>
            </a:r>
            <a:endParaRPr lang="en-US" altLang="zh-CN" dirty="0"/>
          </a:p>
        </p:txBody>
      </p:sp>
      <p:pic>
        <p:nvPicPr>
          <p:cNvPr id="4" name="图片 3">
            <a:extLst>
              <a:ext uri="{FF2B5EF4-FFF2-40B4-BE49-F238E27FC236}">
                <a16:creationId xmlns:a16="http://schemas.microsoft.com/office/drawing/2014/main" id="{AF444D64-756A-40A9-847E-B89E6E528A9E}"/>
              </a:ext>
            </a:extLst>
          </p:cNvPr>
          <p:cNvPicPr>
            <a:picLocks noChangeAspect="1"/>
          </p:cNvPicPr>
          <p:nvPr/>
        </p:nvPicPr>
        <p:blipFill>
          <a:blip r:embed="rId3"/>
          <a:stretch>
            <a:fillRect/>
          </a:stretch>
        </p:blipFill>
        <p:spPr>
          <a:xfrm>
            <a:off x="3200400" y="3581400"/>
            <a:ext cx="6428571" cy="1704762"/>
          </a:xfrm>
          <a:prstGeom prst="rect">
            <a:avLst/>
          </a:prstGeom>
        </p:spPr>
      </p:pic>
    </p:spTree>
    <p:extLst>
      <p:ext uri="{BB962C8B-B14F-4D97-AF65-F5344CB8AC3E}">
        <p14:creationId xmlns:p14="http://schemas.microsoft.com/office/powerpoint/2010/main" val="328302398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43D160-650A-4F2C-9C24-F29DACA9CED4}"/>
              </a:ext>
            </a:extLst>
          </p:cNvPr>
          <p:cNvSpPr>
            <a:spLocks noGrp="1"/>
          </p:cNvSpPr>
          <p:nvPr>
            <p:ph type="title"/>
          </p:nvPr>
        </p:nvSpPr>
        <p:spPr/>
        <p:txBody>
          <a:bodyPr/>
          <a:lstStyle/>
          <a:p>
            <a:r>
              <a:rPr lang="zh-CN" altLang="en-US" dirty="0"/>
              <a:t>元学习</a:t>
            </a:r>
          </a:p>
        </p:txBody>
      </p:sp>
      <p:sp>
        <p:nvSpPr>
          <p:cNvPr id="3" name="内容占位符 2">
            <a:extLst>
              <a:ext uri="{FF2B5EF4-FFF2-40B4-BE49-F238E27FC236}">
                <a16:creationId xmlns:a16="http://schemas.microsoft.com/office/drawing/2014/main" id="{FDC42B0E-4348-4EC7-8523-5E9EC4843BAA}"/>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dirty="0"/>
              <a:t>典型算法</a:t>
            </a:r>
            <a:endParaRPr lang="en-US" altLang="zh-CN" dirty="0"/>
          </a:p>
          <a:p>
            <a:pPr lvl="1"/>
            <a:endParaRPr lang="en-US" altLang="zh-CN" dirty="0"/>
          </a:p>
        </p:txBody>
      </p:sp>
      <p:graphicFrame>
        <p:nvGraphicFramePr>
          <p:cNvPr id="6" name="表格 6">
            <a:extLst>
              <a:ext uri="{FF2B5EF4-FFF2-40B4-BE49-F238E27FC236}">
                <a16:creationId xmlns:a16="http://schemas.microsoft.com/office/drawing/2014/main" id="{02653234-5F71-44CF-BF27-738863FAC481}"/>
              </a:ext>
            </a:extLst>
          </p:cNvPr>
          <p:cNvGraphicFramePr>
            <a:graphicFrameLocks noGrp="1"/>
          </p:cNvGraphicFramePr>
          <p:nvPr>
            <p:extLst>
              <p:ext uri="{D42A27DB-BD31-4B8C-83A1-F6EECF244321}">
                <p14:modId xmlns:p14="http://schemas.microsoft.com/office/powerpoint/2010/main" val="169603704"/>
              </p:ext>
            </p:extLst>
          </p:nvPr>
        </p:nvGraphicFramePr>
        <p:xfrm>
          <a:off x="2133600" y="1752600"/>
          <a:ext cx="8128000" cy="4074160"/>
        </p:xfrm>
        <a:graphic>
          <a:graphicData uri="http://schemas.openxmlformats.org/drawingml/2006/table">
            <a:tbl>
              <a:tblPr firstRow="1" bandRow="1">
                <a:tableStyleId>{5C22544A-7EE6-4342-B048-85BDC9FD1C3A}</a:tableStyleId>
              </a:tblPr>
              <a:tblGrid>
                <a:gridCol w="1625600">
                  <a:extLst>
                    <a:ext uri="{9D8B030D-6E8A-4147-A177-3AD203B41FA5}">
                      <a16:colId xmlns:a16="http://schemas.microsoft.com/office/drawing/2014/main" val="3823989705"/>
                    </a:ext>
                  </a:extLst>
                </a:gridCol>
                <a:gridCol w="1625600">
                  <a:extLst>
                    <a:ext uri="{9D8B030D-6E8A-4147-A177-3AD203B41FA5}">
                      <a16:colId xmlns:a16="http://schemas.microsoft.com/office/drawing/2014/main" val="60851521"/>
                    </a:ext>
                  </a:extLst>
                </a:gridCol>
                <a:gridCol w="1625600">
                  <a:extLst>
                    <a:ext uri="{9D8B030D-6E8A-4147-A177-3AD203B41FA5}">
                      <a16:colId xmlns:a16="http://schemas.microsoft.com/office/drawing/2014/main" val="1122905020"/>
                    </a:ext>
                  </a:extLst>
                </a:gridCol>
                <a:gridCol w="1625600">
                  <a:extLst>
                    <a:ext uri="{9D8B030D-6E8A-4147-A177-3AD203B41FA5}">
                      <a16:colId xmlns:a16="http://schemas.microsoft.com/office/drawing/2014/main" val="2542550109"/>
                    </a:ext>
                  </a:extLst>
                </a:gridCol>
                <a:gridCol w="1625600">
                  <a:extLst>
                    <a:ext uri="{9D8B030D-6E8A-4147-A177-3AD203B41FA5}">
                      <a16:colId xmlns:a16="http://schemas.microsoft.com/office/drawing/2014/main" val="1984014890"/>
                    </a:ext>
                  </a:extLst>
                </a:gridCol>
              </a:tblGrid>
              <a:tr h="0">
                <a:tc>
                  <a:txBody>
                    <a:bodyPr/>
                    <a:lstStyle/>
                    <a:p>
                      <a:pPr algn="l" fontAlgn="ctr"/>
                      <a:r>
                        <a:rPr lang="zh-CN" altLang="en-US" b="1" dirty="0">
                          <a:solidFill>
                            <a:schemeClr val="bg1"/>
                          </a:solidFill>
                          <a:effectLst/>
                          <a:latin typeface="-apple-system"/>
                        </a:rPr>
                        <a:t>方法类别</a:t>
                      </a:r>
                    </a:p>
                  </a:txBody>
                  <a:tcPr marR="76200" marT="63500" marB="63500" anchor="ctr"/>
                </a:tc>
                <a:tc>
                  <a:txBody>
                    <a:bodyPr/>
                    <a:lstStyle/>
                    <a:p>
                      <a:pPr algn="l" fontAlgn="ctr"/>
                      <a:r>
                        <a:rPr lang="zh-CN" altLang="en-US" b="1" dirty="0">
                          <a:solidFill>
                            <a:schemeClr val="bg1"/>
                          </a:solidFill>
                          <a:effectLst/>
                          <a:latin typeface="-apple-system"/>
                        </a:rPr>
                        <a:t>核心思想</a:t>
                      </a:r>
                    </a:p>
                  </a:txBody>
                  <a:tcPr marR="76200" marT="63500" marB="63500" anchor="ctr"/>
                </a:tc>
                <a:tc>
                  <a:txBody>
                    <a:bodyPr/>
                    <a:lstStyle/>
                    <a:p>
                      <a:pPr algn="l" fontAlgn="ctr"/>
                      <a:r>
                        <a:rPr lang="zh-CN" altLang="en-US" b="1" dirty="0">
                          <a:solidFill>
                            <a:schemeClr val="bg1"/>
                          </a:solidFill>
                          <a:effectLst/>
                          <a:latin typeface="-apple-system"/>
                        </a:rPr>
                        <a:t>典型算法</a:t>
                      </a:r>
                    </a:p>
                  </a:txBody>
                  <a:tcPr marR="76200" marT="63500" marB="63500" anchor="ctr"/>
                </a:tc>
                <a:tc>
                  <a:txBody>
                    <a:bodyPr/>
                    <a:lstStyle/>
                    <a:p>
                      <a:pPr algn="l" fontAlgn="ctr"/>
                      <a:r>
                        <a:rPr lang="zh-CN" altLang="en-US" b="1" dirty="0">
                          <a:solidFill>
                            <a:schemeClr val="bg1"/>
                          </a:solidFill>
                          <a:effectLst/>
                          <a:latin typeface="-apple-system"/>
                        </a:rPr>
                        <a:t>优点</a:t>
                      </a:r>
                    </a:p>
                  </a:txBody>
                  <a:tcPr marR="76200" marT="63500" marB="63500" anchor="ctr"/>
                </a:tc>
                <a:tc>
                  <a:txBody>
                    <a:bodyPr/>
                    <a:lstStyle/>
                    <a:p>
                      <a:pPr algn="l" fontAlgn="ctr"/>
                      <a:r>
                        <a:rPr lang="zh-CN" altLang="en-US" b="1" dirty="0">
                          <a:solidFill>
                            <a:schemeClr val="bg1"/>
                          </a:solidFill>
                          <a:effectLst/>
                          <a:latin typeface="-apple-system"/>
                        </a:rPr>
                        <a:t>缺点</a:t>
                      </a:r>
                    </a:p>
                  </a:txBody>
                  <a:tcPr marR="76200" marT="63500" marB="63500" anchor="ctr"/>
                </a:tc>
                <a:extLst>
                  <a:ext uri="{0D108BD9-81ED-4DB2-BD59-A6C34878D82A}">
                    <a16:rowId xmlns:a16="http://schemas.microsoft.com/office/drawing/2014/main" val="4160045971"/>
                  </a:ext>
                </a:extLst>
              </a:tr>
              <a:tr h="370840">
                <a:tc>
                  <a:txBody>
                    <a:bodyPr/>
                    <a:lstStyle/>
                    <a:p>
                      <a:pPr algn="l" fontAlgn="ctr"/>
                      <a:r>
                        <a:rPr lang="zh-CN" altLang="en-US" b="1">
                          <a:solidFill>
                            <a:srgbClr val="000000"/>
                          </a:solidFill>
                          <a:effectLst/>
                          <a:latin typeface="inherit"/>
                        </a:rPr>
                        <a:t>基于度量</a:t>
                      </a:r>
                      <a:r>
                        <a:rPr lang="zh-CN" altLang="en-US" b="0">
                          <a:solidFill>
                            <a:srgbClr val="000000"/>
                          </a:solidFill>
                          <a:effectLst/>
                          <a:latin typeface="-apple-system"/>
                        </a:rPr>
                        <a:t>​</a:t>
                      </a:r>
                    </a:p>
                  </a:txBody>
                  <a:tcPr marR="76200" marT="63500" marB="63500" anchor="ctr"/>
                </a:tc>
                <a:tc>
                  <a:txBody>
                    <a:bodyPr/>
                    <a:lstStyle/>
                    <a:p>
                      <a:pPr algn="l" fontAlgn="ctr"/>
                      <a:r>
                        <a:rPr lang="zh-CN" altLang="en-US" b="0" dirty="0">
                          <a:solidFill>
                            <a:srgbClr val="000000"/>
                          </a:solidFill>
                          <a:effectLst/>
                          <a:latin typeface="-apple-system"/>
                        </a:rPr>
                        <a:t>学习一个通用的特征嵌入空间，通过距离分类</a:t>
                      </a:r>
                    </a:p>
                  </a:txBody>
                  <a:tcPr marR="76200" marT="63500" marB="63500" anchor="ctr"/>
                </a:tc>
                <a:tc>
                  <a:txBody>
                    <a:bodyPr/>
                    <a:lstStyle/>
                    <a:p>
                      <a:pPr algn="l" fontAlgn="ctr"/>
                      <a:r>
                        <a:rPr lang="zh-CN" altLang="en-US" b="0" dirty="0">
                          <a:solidFill>
                            <a:srgbClr val="000000"/>
                          </a:solidFill>
                          <a:effectLst/>
                          <a:latin typeface="-apple-system"/>
                        </a:rPr>
                        <a:t>原型网络、关系网络</a:t>
                      </a:r>
                    </a:p>
                  </a:txBody>
                  <a:tcPr marR="76200" marT="63500" marB="63500" anchor="ctr"/>
                </a:tc>
                <a:tc>
                  <a:txBody>
                    <a:bodyPr/>
                    <a:lstStyle/>
                    <a:p>
                      <a:pPr algn="l" fontAlgn="ctr"/>
                      <a:r>
                        <a:rPr lang="zh-CN" altLang="en-US" b="0" dirty="0">
                          <a:solidFill>
                            <a:srgbClr val="000000"/>
                          </a:solidFill>
                          <a:effectLst/>
                          <a:latin typeface="-apple-system"/>
                        </a:rPr>
                        <a:t>直观、简单、高效</a:t>
                      </a:r>
                    </a:p>
                  </a:txBody>
                  <a:tcPr marR="76200" marT="63500" marB="63500" anchor="ctr"/>
                </a:tc>
                <a:tc>
                  <a:txBody>
                    <a:bodyPr/>
                    <a:lstStyle/>
                    <a:p>
                      <a:pPr algn="l" fontAlgn="ctr"/>
                      <a:r>
                        <a:rPr lang="zh-CN" altLang="en-US" b="0" dirty="0">
                          <a:solidFill>
                            <a:srgbClr val="000000"/>
                          </a:solidFill>
                          <a:effectLst/>
                          <a:latin typeface="-apple-system"/>
                        </a:rPr>
                        <a:t>性能依赖嵌入函数，度量方式简单</a:t>
                      </a:r>
                    </a:p>
                  </a:txBody>
                  <a:tcPr marR="76200" marT="63500" marB="63500" anchor="ctr"/>
                </a:tc>
                <a:extLst>
                  <a:ext uri="{0D108BD9-81ED-4DB2-BD59-A6C34878D82A}">
                    <a16:rowId xmlns:a16="http://schemas.microsoft.com/office/drawing/2014/main" val="473983466"/>
                  </a:ext>
                </a:extLst>
              </a:tr>
              <a:tr h="370840">
                <a:tc>
                  <a:txBody>
                    <a:bodyPr/>
                    <a:lstStyle/>
                    <a:p>
                      <a:pPr algn="l" fontAlgn="ctr"/>
                      <a:r>
                        <a:rPr lang="zh-CN" altLang="en-US" b="1">
                          <a:solidFill>
                            <a:srgbClr val="000000"/>
                          </a:solidFill>
                          <a:effectLst/>
                          <a:latin typeface="inherit"/>
                        </a:rPr>
                        <a:t>基于优化</a:t>
                      </a:r>
                      <a:r>
                        <a:rPr lang="zh-CN" altLang="en-US" b="0">
                          <a:solidFill>
                            <a:srgbClr val="000000"/>
                          </a:solidFill>
                          <a:effectLst/>
                          <a:latin typeface="-apple-system"/>
                        </a:rPr>
                        <a:t>​</a:t>
                      </a:r>
                    </a:p>
                  </a:txBody>
                  <a:tcPr marR="76200" marT="63500" marB="63500" anchor="ctr"/>
                </a:tc>
                <a:tc>
                  <a:txBody>
                    <a:bodyPr/>
                    <a:lstStyle/>
                    <a:p>
                      <a:pPr algn="l" fontAlgn="ctr"/>
                      <a:r>
                        <a:rPr lang="zh-CN" altLang="en-US" b="1" dirty="0">
                          <a:solidFill>
                            <a:srgbClr val="000000"/>
                          </a:solidFill>
                          <a:effectLst/>
                          <a:latin typeface="inherit"/>
                        </a:rPr>
                        <a:t>学习一组优秀的初始参数</a:t>
                      </a:r>
                      <a:r>
                        <a:rPr lang="zh-CN" altLang="en-US" b="0" dirty="0">
                          <a:solidFill>
                            <a:srgbClr val="000000"/>
                          </a:solidFill>
                          <a:effectLst/>
                          <a:latin typeface="-apple-system"/>
                        </a:rPr>
                        <a:t>，使适应过程更快</a:t>
                      </a:r>
                    </a:p>
                  </a:txBody>
                  <a:tcPr marR="76200" marT="63500" marB="63500" anchor="ctr"/>
                </a:tc>
                <a:tc>
                  <a:txBody>
                    <a:bodyPr/>
                    <a:lstStyle/>
                    <a:p>
                      <a:pPr algn="l" fontAlgn="ctr"/>
                      <a:r>
                        <a:rPr lang="en-AU" b="1" dirty="0">
                          <a:solidFill>
                            <a:srgbClr val="000000"/>
                          </a:solidFill>
                          <a:effectLst/>
                          <a:latin typeface="inherit"/>
                        </a:rPr>
                        <a:t>MAML</a:t>
                      </a:r>
                      <a:r>
                        <a:rPr lang="en-AU" b="0" dirty="0">
                          <a:solidFill>
                            <a:srgbClr val="000000"/>
                          </a:solidFill>
                          <a:effectLst/>
                          <a:latin typeface="-apple-system"/>
                        </a:rPr>
                        <a:t>, Reptile</a:t>
                      </a:r>
                    </a:p>
                  </a:txBody>
                  <a:tcPr marR="76200" marT="63500" marB="63500" anchor="ctr"/>
                </a:tc>
                <a:tc>
                  <a:txBody>
                    <a:bodyPr/>
                    <a:lstStyle/>
                    <a:p>
                      <a:pPr algn="l" fontAlgn="ctr"/>
                      <a:r>
                        <a:rPr lang="zh-CN" altLang="en-US" b="0" dirty="0">
                          <a:solidFill>
                            <a:srgbClr val="000000"/>
                          </a:solidFill>
                          <a:effectLst/>
                          <a:latin typeface="-apple-system"/>
                        </a:rPr>
                        <a:t>通用性强，效果强大，与模型无关</a:t>
                      </a:r>
                    </a:p>
                  </a:txBody>
                  <a:tcPr marR="76200" marT="63500" marB="63500" anchor="ctr"/>
                </a:tc>
                <a:tc>
                  <a:txBody>
                    <a:bodyPr/>
                    <a:lstStyle/>
                    <a:p>
                      <a:pPr algn="l" fontAlgn="ctr"/>
                      <a:r>
                        <a:rPr lang="zh-CN" altLang="en-US" b="0">
                          <a:solidFill>
                            <a:srgbClr val="000000"/>
                          </a:solidFill>
                          <a:effectLst/>
                          <a:latin typeface="-apple-system"/>
                        </a:rPr>
                        <a:t>计算昂贵（涉及二阶导数）</a:t>
                      </a:r>
                    </a:p>
                  </a:txBody>
                  <a:tcPr marR="76200" marT="63500" marB="63500" anchor="ctr"/>
                </a:tc>
                <a:extLst>
                  <a:ext uri="{0D108BD9-81ED-4DB2-BD59-A6C34878D82A}">
                    <a16:rowId xmlns:a16="http://schemas.microsoft.com/office/drawing/2014/main" val="708173022"/>
                  </a:ext>
                </a:extLst>
              </a:tr>
              <a:tr h="370840">
                <a:tc>
                  <a:txBody>
                    <a:bodyPr/>
                    <a:lstStyle/>
                    <a:p>
                      <a:pPr algn="l" fontAlgn="ctr"/>
                      <a:r>
                        <a:rPr lang="zh-CN" altLang="en-US" b="1">
                          <a:solidFill>
                            <a:srgbClr val="000000"/>
                          </a:solidFill>
                          <a:effectLst/>
                          <a:latin typeface="inherit"/>
                        </a:rPr>
                        <a:t>基于模型</a:t>
                      </a:r>
                      <a:r>
                        <a:rPr lang="zh-CN" altLang="en-US" b="0">
                          <a:solidFill>
                            <a:srgbClr val="000000"/>
                          </a:solidFill>
                          <a:effectLst/>
                          <a:latin typeface="-apple-system"/>
                        </a:rPr>
                        <a:t>​</a:t>
                      </a:r>
                    </a:p>
                  </a:txBody>
                  <a:tcPr marR="76200" marT="63500" marB="63500" anchor="ctr"/>
                </a:tc>
                <a:tc>
                  <a:txBody>
                    <a:bodyPr/>
                    <a:lstStyle/>
                    <a:p>
                      <a:pPr algn="l" fontAlgn="ctr"/>
                      <a:r>
                        <a:rPr lang="zh-CN" altLang="en-US" b="0">
                          <a:solidFill>
                            <a:srgbClr val="000000"/>
                          </a:solidFill>
                          <a:effectLst/>
                          <a:latin typeface="-apple-system"/>
                        </a:rPr>
                        <a:t>设计一个带记忆的模型，其本身即是学习算法</a:t>
                      </a:r>
                    </a:p>
                  </a:txBody>
                  <a:tcPr marR="76200" marT="63500" marB="63500" anchor="ctr"/>
                </a:tc>
                <a:tc>
                  <a:txBody>
                    <a:bodyPr/>
                    <a:lstStyle/>
                    <a:p>
                      <a:pPr algn="l" fontAlgn="ctr"/>
                      <a:r>
                        <a:rPr lang="zh-CN" altLang="en-US" b="0" dirty="0">
                          <a:solidFill>
                            <a:srgbClr val="000000"/>
                          </a:solidFill>
                          <a:effectLst/>
                          <a:latin typeface="-apple-system"/>
                        </a:rPr>
                        <a:t>记忆增强网络、元学习器</a:t>
                      </a:r>
                      <a:r>
                        <a:rPr lang="en-US" altLang="zh-CN" b="0" dirty="0">
                          <a:solidFill>
                            <a:srgbClr val="000000"/>
                          </a:solidFill>
                          <a:effectLst/>
                          <a:latin typeface="-apple-system"/>
                        </a:rPr>
                        <a:t>LSTM</a:t>
                      </a:r>
                    </a:p>
                  </a:txBody>
                  <a:tcPr marR="76200" marT="63500" marB="63500" anchor="ctr"/>
                </a:tc>
                <a:tc>
                  <a:txBody>
                    <a:bodyPr/>
                    <a:lstStyle/>
                    <a:p>
                      <a:pPr algn="l" fontAlgn="ctr"/>
                      <a:r>
                        <a:rPr lang="zh-CN" altLang="en-US" b="0">
                          <a:solidFill>
                            <a:srgbClr val="000000"/>
                          </a:solidFill>
                          <a:effectLst/>
                          <a:latin typeface="-apple-system"/>
                        </a:rPr>
                        <a:t>表达能力强，可实现一次性学习</a:t>
                      </a:r>
                    </a:p>
                  </a:txBody>
                  <a:tcPr marR="76200" marT="63500" marB="63500" anchor="ctr"/>
                </a:tc>
                <a:tc>
                  <a:txBody>
                    <a:bodyPr/>
                    <a:lstStyle/>
                    <a:p>
                      <a:pPr algn="l" fontAlgn="ctr"/>
                      <a:r>
                        <a:rPr lang="zh-CN" altLang="en-US" b="0" dirty="0">
                          <a:solidFill>
                            <a:srgbClr val="000000"/>
                          </a:solidFill>
                          <a:effectLst/>
                          <a:latin typeface="-apple-system"/>
                        </a:rPr>
                        <a:t>架构复杂，训练困难</a:t>
                      </a:r>
                    </a:p>
                  </a:txBody>
                  <a:tcPr marR="76200" marT="63500" marB="63500" anchor="ctr"/>
                </a:tc>
                <a:extLst>
                  <a:ext uri="{0D108BD9-81ED-4DB2-BD59-A6C34878D82A}">
                    <a16:rowId xmlns:a16="http://schemas.microsoft.com/office/drawing/2014/main" val="1118104848"/>
                  </a:ext>
                </a:extLst>
              </a:tr>
            </a:tbl>
          </a:graphicData>
        </a:graphic>
      </p:graphicFrame>
    </p:spTree>
    <p:extLst>
      <p:ext uri="{BB962C8B-B14F-4D97-AF65-F5344CB8AC3E}">
        <p14:creationId xmlns:p14="http://schemas.microsoft.com/office/powerpoint/2010/main" val="394852507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4985143-A892-4878-90EA-2A93DADD8192}"/>
              </a:ext>
            </a:extLst>
          </p:cNvPr>
          <p:cNvSpPr>
            <a:spLocks noGrp="1"/>
          </p:cNvSpPr>
          <p:nvPr>
            <p:ph type="title"/>
          </p:nvPr>
        </p:nvSpPr>
        <p:spPr/>
        <p:txBody>
          <a:bodyPr/>
          <a:lstStyle/>
          <a:p>
            <a:r>
              <a:rPr lang="zh-CN" altLang="en-US" dirty="0"/>
              <a:t>基于度量的方法（小样本学习）</a:t>
            </a:r>
          </a:p>
        </p:txBody>
      </p:sp>
      <p:sp>
        <p:nvSpPr>
          <p:cNvPr id="3" name="内容占位符 2">
            <a:extLst>
              <a:ext uri="{FF2B5EF4-FFF2-40B4-BE49-F238E27FC236}">
                <a16:creationId xmlns:a16="http://schemas.microsoft.com/office/drawing/2014/main" id="{3F128B7B-C023-41DC-8004-DFF005C2CA18}"/>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pPr marL="0" indent="0">
              <a:buNone/>
            </a:pPr>
            <a:endParaRPr lang="en-US" altLang="zh-CN" dirty="0"/>
          </a:p>
        </p:txBody>
      </p:sp>
      <p:pic>
        <p:nvPicPr>
          <p:cNvPr id="5" name="图片 4">
            <a:extLst>
              <a:ext uri="{FF2B5EF4-FFF2-40B4-BE49-F238E27FC236}">
                <a16:creationId xmlns:a16="http://schemas.microsoft.com/office/drawing/2014/main" id="{3545CA2B-8B67-4127-9DEA-9C4AA818B92B}"/>
              </a:ext>
            </a:extLst>
          </p:cNvPr>
          <p:cNvPicPr>
            <a:picLocks noChangeAspect="1"/>
          </p:cNvPicPr>
          <p:nvPr/>
        </p:nvPicPr>
        <p:blipFill>
          <a:blip r:embed="rId2"/>
          <a:stretch>
            <a:fillRect/>
          </a:stretch>
        </p:blipFill>
        <p:spPr>
          <a:xfrm>
            <a:off x="2566988" y="1277234"/>
            <a:ext cx="7034212" cy="3599566"/>
          </a:xfrm>
          <a:prstGeom prst="rect">
            <a:avLst/>
          </a:prstGeom>
        </p:spPr>
      </p:pic>
      <p:sp>
        <p:nvSpPr>
          <p:cNvPr id="7" name="文本框 6">
            <a:extLst>
              <a:ext uri="{FF2B5EF4-FFF2-40B4-BE49-F238E27FC236}">
                <a16:creationId xmlns:a16="http://schemas.microsoft.com/office/drawing/2014/main" id="{7836729E-E0F7-40C3-A386-E3AFD020DC4F}"/>
              </a:ext>
            </a:extLst>
          </p:cNvPr>
          <p:cNvSpPr txBox="1"/>
          <p:nvPr/>
        </p:nvSpPr>
        <p:spPr>
          <a:xfrm>
            <a:off x="609600" y="5899950"/>
            <a:ext cx="6553200" cy="523220"/>
          </a:xfrm>
          <a:prstGeom prst="rect">
            <a:avLst/>
          </a:prstGeom>
          <a:noFill/>
        </p:spPr>
        <p:txBody>
          <a:bodyPr wrap="square">
            <a:spAutoFit/>
          </a:bodyPr>
          <a:lstStyle/>
          <a:p>
            <a:r>
              <a:rPr lang="en-US" altLang="zh-CN" sz="1400" b="0" i="0" dirty="0">
                <a:effectLst/>
                <a:latin typeface="+mn-lt"/>
              </a:rPr>
              <a:t>Sung, Flood, et al. “Learning to compare: Relation network for few-shot learning.” Proceedings of the IEEE Conference on Computer Vision and Pattern Recognition. 2018.</a:t>
            </a:r>
            <a:endParaRPr lang="zh-CN" altLang="en-US" sz="1400" dirty="0">
              <a:latin typeface="+mn-lt"/>
            </a:endParaRPr>
          </a:p>
        </p:txBody>
      </p:sp>
    </p:spTree>
    <p:extLst>
      <p:ext uri="{BB962C8B-B14F-4D97-AF65-F5344CB8AC3E}">
        <p14:creationId xmlns:p14="http://schemas.microsoft.com/office/powerpoint/2010/main" val="3787388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BFD306B-3924-45E1-A77A-CAF9635B2451}"/>
              </a:ext>
            </a:extLst>
          </p:cNvPr>
          <p:cNvSpPr>
            <a:spLocks noGrp="1"/>
          </p:cNvSpPr>
          <p:nvPr>
            <p:ph type="title"/>
          </p:nvPr>
        </p:nvSpPr>
        <p:spPr/>
        <p:txBody>
          <a:bodyPr/>
          <a:lstStyle/>
          <a:p>
            <a:r>
              <a:rPr lang="zh-CN" altLang="en-US" dirty="0"/>
              <a:t>基于优化器的元学习</a:t>
            </a:r>
          </a:p>
        </p:txBody>
      </p:sp>
      <p:sp>
        <p:nvSpPr>
          <p:cNvPr id="4" name="内容占位符 2">
            <a:extLst>
              <a:ext uri="{FF2B5EF4-FFF2-40B4-BE49-F238E27FC236}">
                <a16:creationId xmlns:a16="http://schemas.microsoft.com/office/drawing/2014/main" id="{254DAFB9-B95C-4483-AADD-22DEE72D0F7E}"/>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endParaRPr lang="en-US" altLang="zh-CN" dirty="0"/>
          </a:p>
        </p:txBody>
      </p:sp>
      <p:sp>
        <p:nvSpPr>
          <p:cNvPr id="5" name="内容占位符 2">
            <a:extLst>
              <a:ext uri="{FF2B5EF4-FFF2-40B4-BE49-F238E27FC236}">
                <a16:creationId xmlns:a16="http://schemas.microsoft.com/office/drawing/2014/main" id="{8FFE3734-1C9D-49A7-9B27-423C7F375C40}"/>
              </a:ext>
            </a:extLst>
          </p:cNvPr>
          <p:cNvSpPr txBox="1">
            <a:spLocks/>
          </p:cNvSpPr>
          <p:nvPr/>
        </p:nvSpPr>
        <p:spPr>
          <a:xfrm>
            <a:off x="762000" y="1143000"/>
            <a:ext cx="10972800" cy="49530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b="1" dirty="0"/>
              <a:t>自动学习一种更新参数的规则</a:t>
            </a:r>
            <a:r>
              <a:rPr lang="zh-CN" altLang="en-US" dirty="0"/>
              <a:t>，即通过另一个神经网络（比如循环神经网络）来建模梯度下降的过程。</a:t>
            </a:r>
            <a:endParaRPr lang="en-US" altLang="zh-CN" dirty="0"/>
          </a:p>
          <a:p>
            <a:pPr lvl="2"/>
            <a:r>
              <a:rPr lang="zh-CN" altLang="en-US" b="1" i="0" dirty="0">
                <a:effectLst/>
                <a:latin typeface="inherit"/>
              </a:rPr>
              <a:t>架构​</a:t>
            </a:r>
            <a:r>
              <a:rPr lang="zh-CN" altLang="en-US" b="0" i="0" dirty="0">
                <a:effectLst/>
                <a:latin typeface="PingFang SC"/>
              </a:rPr>
              <a:t>​：使用一个神经网络（通常为</a:t>
            </a:r>
            <a:r>
              <a:rPr lang="en-US" altLang="zh-CN" b="0" i="0" dirty="0">
                <a:effectLst/>
                <a:latin typeface="PingFang SC"/>
              </a:rPr>
              <a:t>RNN</a:t>
            </a:r>
            <a:r>
              <a:rPr lang="zh-CN" altLang="en-US" b="0" i="0" dirty="0">
                <a:effectLst/>
                <a:latin typeface="PingFang SC"/>
              </a:rPr>
              <a:t>或</a:t>
            </a:r>
            <a:r>
              <a:rPr lang="en-US" altLang="zh-CN" b="0" i="0" dirty="0">
                <a:effectLst/>
                <a:latin typeface="PingFang SC"/>
              </a:rPr>
              <a:t>Transformer</a:t>
            </a:r>
            <a:r>
              <a:rPr lang="zh-CN" altLang="en-US" b="0" i="0" dirty="0">
                <a:effectLst/>
                <a:latin typeface="PingFang SC"/>
              </a:rPr>
              <a:t>）作为“元优化器”，输入当前参数、梯度、损失等信息，输出参数更新量（</a:t>
            </a:r>
            <a:r>
              <a:rPr lang="en-US" altLang="zh-CN" b="0" i="0" dirty="0" err="1">
                <a:effectLst/>
                <a:latin typeface="PingFang SC"/>
              </a:rPr>
              <a:t>Δθ</a:t>
            </a:r>
            <a:r>
              <a:rPr lang="zh-CN" altLang="en-US" b="0" i="0" dirty="0">
                <a:effectLst/>
                <a:latin typeface="PingFang SC"/>
              </a:rPr>
              <a:t>）。</a:t>
            </a:r>
            <a:endParaRPr lang="en-US" altLang="zh-CN" b="0" i="0" dirty="0">
              <a:effectLst/>
              <a:latin typeface="PingFang SC"/>
            </a:endParaRPr>
          </a:p>
          <a:p>
            <a:pPr lvl="2"/>
            <a:r>
              <a:rPr lang="zh-CN" altLang="en-US" b="1" i="0" dirty="0">
                <a:effectLst/>
                <a:latin typeface="inherit"/>
              </a:rPr>
              <a:t>双层训练​</a:t>
            </a:r>
            <a:r>
              <a:rPr lang="zh-CN" altLang="en-US" b="0" i="0" dirty="0">
                <a:effectLst/>
                <a:latin typeface="PingFang SC"/>
              </a:rPr>
              <a:t>​：</a:t>
            </a:r>
            <a:endParaRPr lang="en-US" altLang="zh-CN" b="0" i="0" dirty="0">
              <a:effectLst/>
              <a:latin typeface="PingFang SC"/>
            </a:endParaRPr>
          </a:p>
          <a:p>
            <a:pPr lvl="3"/>
            <a:r>
              <a:rPr lang="zh-CN" altLang="en-US" b="0" i="0" dirty="0">
                <a:effectLst/>
                <a:latin typeface="PingFang SC"/>
              </a:rPr>
              <a:t>​</a:t>
            </a:r>
            <a:r>
              <a:rPr lang="zh-CN" altLang="en-US" b="1" i="0" dirty="0">
                <a:effectLst/>
                <a:latin typeface="inherit"/>
              </a:rPr>
              <a:t>​内层​</a:t>
            </a:r>
            <a:r>
              <a:rPr lang="zh-CN" altLang="en-US" b="0" i="0" dirty="0">
                <a:effectLst/>
                <a:latin typeface="PingFang SC"/>
              </a:rPr>
              <a:t>​：在单个任务上，用元优化器更新模型参数，完成前向传播和损失计算。</a:t>
            </a:r>
            <a:endParaRPr lang="en-US" altLang="zh-CN" b="0" i="0" dirty="0">
              <a:effectLst/>
              <a:latin typeface="PingFang SC"/>
            </a:endParaRPr>
          </a:p>
          <a:p>
            <a:pPr lvl="3"/>
            <a:r>
              <a:rPr lang="zh-CN" altLang="en-US" b="1" i="0" dirty="0">
                <a:effectLst/>
                <a:latin typeface="inherit"/>
              </a:rPr>
              <a:t>外层​</a:t>
            </a:r>
            <a:r>
              <a:rPr lang="zh-CN" altLang="en-US" b="0" i="0" dirty="0">
                <a:effectLst/>
                <a:latin typeface="PingFang SC"/>
              </a:rPr>
              <a:t>​：在多个任务上优化元优化器的参数，使得其生成的更新规则能最小化所有任务的平均损失。</a:t>
            </a:r>
            <a:endParaRPr lang="en-US" altLang="zh-CN" b="0" i="0" dirty="0">
              <a:effectLst/>
              <a:latin typeface="PingFang SC"/>
            </a:endParaRPr>
          </a:p>
          <a:p>
            <a:pPr marL="1051917" lvl="3" indent="-285750">
              <a:buFont typeface="Arial" panose="020B0604020202020204" pitchFamily="34" charset="0"/>
              <a:buChar char="•"/>
            </a:pPr>
            <a:r>
              <a:rPr lang="zh-CN" altLang="en-US" dirty="0">
                <a:latin typeface="PingFang SC"/>
              </a:rPr>
              <a:t>示例：</a:t>
            </a:r>
            <a:r>
              <a:rPr lang="zh-CN" altLang="en-US" b="0" i="0" dirty="0">
                <a:effectLst/>
                <a:latin typeface="PingFang SC"/>
              </a:rPr>
              <a:t>在图像分类任务中，元优化器学会对不同层（如卷积层、全连接层）采用差异化的更新策略，比</a:t>
            </a:r>
            <a:r>
              <a:rPr lang="en-US" altLang="zh-CN" b="0" i="0" dirty="0">
                <a:effectLst/>
                <a:latin typeface="PingFang SC"/>
              </a:rPr>
              <a:t>SGD</a:t>
            </a:r>
            <a:r>
              <a:rPr lang="zh-CN" altLang="en-US" b="0" i="0" dirty="0">
                <a:effectLst/>
                <a:latin typeface="PingFang SC"/>
              </a:rPr>
              <a:t>收敛速度提升</a:t>
            </a:r>
            <a:r>
              <a:rPr lang="en-US" altLang="zh-CN" b="0" i="0" dirty="0">
                <a:effectLst/>
                <a:latin typeface="PingFang SC"/>
              </a:rPr>
              <a:t>30%</a:t>
            </a:r>
            <a:r>
              <a:rPr lang="zh-CN" altLang="en-US" b="0" i="0" dirty="0">
                <a:effectLst/>
                <a:latin typeface="PingFang SC"/>
              </a:rPr>
              <a:t>；</a:t>
            </a:r>
            <a:endParaRPr lang="en-US" altLang="zh-CN" b="0" i="0" dirty="0">
              <a:effectLst/>
              <a:latin typeface="PingFang SC"/>
            </a:endParaRPr>
          </a:p>
          <a:p>
            <a:pPr marL="1051917" lvl="3" indent="-285750">
              <a:buFont typeface="Arial" panose="020B0604020202020204" pitchFamily="34" charset="0"/>
              <a:buChar char="•"/>
            </a:pPr>
            <a:r>
              <a:rPr lang="zh-CN" altLang="en-US" dirty="0">
                <a:latin typeface="PingFang SC"/>
              </a:rPr>
              <a:t>示例：</a:t>
            </a:r>
            <a:r>
              <a:rPr lang="zh-CN" altLang="en-US" b="0" i="0" dirty="0">
                <a:effectLst/>
                <a:latin typeface="PingFang SC"/>
              </a:rPr>
              <a:t>元优化器根据实时传感器数据（如摩擦力、倾斜角）调整控制策略网络参数，使机器人在</a:t>
            </a:r>
            <a:r>
              <a:rPr lang="en-US" altLang="zh-CN" b="0" i="0" dirty="0">
                <a:effectLst/>
                <a:latin typeface="PingFang SC"/>
              </a:rPr>
              <a:t>10</a:t>
            </a:r>
            <a:r>
              <a:rPr lang="zh-CN" altLang="en-US" b="0" i="0" dirty="0">
                <a:effectLst/>
                <a:latin typeface="PingFang SC"/>
              </a:rPr>
              <a:t>步内适应新环境。</a:t>
            </a:r>
            <a:endParaRPr lang="en-US" altLang="zh-CN" b="0" i="0" dirty="0">
              <a:effectLst/>
              <a:latin typeface="PingFang SC"/>
            </a:endParaRPr>
          </a:p>
          <a:p>
            <a:pPr marL="1051917" lvl="3" indent="-285750">
              <a:buFont typeface="Arial" panose="020B0604020202020204" pitchFamily="34" charset="0"/>
              <a:buChar char="•"/>
            </a:pPr>
            <a:endParaRPr lang="zh-CN" altLang="en-US" b="0" i="0" dirty="0">
              <a:effectLst/>
              <a:latin typeface="PingFang SC"/>
            </a:endParaRPr>
          </a:p>
          <a:p>
            <a:pPr marL="0" indent="0">
              <a:buNone/>
            </a:pPr>
            <a:endParaRPr lang="en-US" altLang="zh-CN" dirty="0"/>
          </a:p>
          <a:p>
            <a:pPr lvl="1"/>
            <a:endParaRPr lang="en-US" altLang="zh-CN" dirty="0"/>
          </a:p>
        </p:txBody>
      </p:sp>
    </p:spTree>
    <p:extLst>
      <p:ext uri="{BB962C8B-B14F-4D97-AF65-F5344CB8AC3E}">
        <p14:creationId xmlns:p14="http://schemas.microsoft.com/office/powerpoint/2010/main" val="83575280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28A97-5E89-497C-AF4F-A28A891A07CE}"/>
              </a:ext>
            </a:extLst>
          </p:cNvPr>
          <p:cNvSpPr>
            <a:spLocks noGrp="1"/>
          </p:cNvSpPr>
          <p:nvPr>
            <p:ph type="title"/>
          </p:nvPr>
        </p:nvSpPr>
        <p:spPr/>
        <p:txBody>
          <a:bodyPr/>
          <a:lstStyle/>
          <a:p>
            <a:r>
              <a:rPr lang="zh-CN" altLang="en-US" dirty="0"/>
              <a:t>模型无关的元学习（</a:t>
            </a:r>
            <a:r>
              <a:rPr lang="en-US" altLang="zh-CN" dirty="0"/>
              <a:t>MAML</a:t>
            </a:r>
            <a:r>
              <a:rPr lang="zh-CN" altLang="en-US" dirty="0"/>
              <a:t>）</a:t>
            </a:r>
          </a:p>
        </p:txBody>
      </p:sp>
      <p:sp>
        <p:nvSpPr>
          <p:cNvPr id="6" name="内容占位符 2">
            <a:extLst>
              <a:ext uri="{FF2B5EF4-FFF2-40B4-BE49-F238E27FC236}">
                <a16:creationId xmlns:a16="http://schemas.microsoft.com/office/drawing/2014/main" id="{385B1B7A-7F42-4A3A-8DC7-BBB4738ECA85}"/>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en-US" altLang="zh-CN" b="0" i="0" dirty="0">
                <a:effectLst/>
                <a:latin typeface="PingFang SC"/>
              </a:rPr>
              <a:t>MAML</a:t>
            </a:r>
            <a:r>
              <a:rPr lang="zh-CN" altLang="en-US" b="0" i="0" dirty="0">
                <a:effectLst/>
                <a:latin typeface="PingFang SC"/>
              </a:rPr>
              <a:t>（</a:t>
            </a:r>
            <a:r>
              <a:rPr lang="en-US" altLang="zh-CN" b="0" i="0" dirty="0">
                <a:effectLst/>
                <a:latin typeface="PingFang SC"/>
              </a:rPr>
              <a:t>Model-Agnostic Meta-Learning</a:t>
            </a:r>
            <a:r>
              <a:rPr lang="zh-CN" altLang="en-US" b="0" i="0" dirty="0">
                <a:effectLst/>
                <a:latin typeface="PingFang SC"/>
              </a:rPr>
              <a:t>）的目标是</a:t>
            </a:r>
            <a:r>
              <a:rPr lang="zh-CN" altLang="en-US" b="1" i="0" dirty="0">
                <a:effectLst/>
                <a:latin typeface="PingFang SC"/>
              </a:rPr>
              <a:t>找到一组​​模型初始参数​​，使得这些参数在少量梯度更新后即可快速适应新任务</a:t>
            </a:r>
            <a:r>
              <a:rPr lang="zh-CN" altLang="en-US" b="0" i="0" dirty="0">
                <a:effectLst/>
                <a:latin typeface="PingFang SC"/>
              </a:rPr>
              <a:t>。其核心是让模型具备“​​快速学习的能力​​”，而非直接学习特定任务的参数。</a:t>
            </a:r>
          </a:p>
          <a:p>
            <a:r>
              <a:rPr lang="zh-CN" altLang="en-US" b="0" i="0" dirty="0">
                <a:effectLst/>
                <a:latin typeface="PingFang SC"/>
              </a:rPr>
              <a:t>​​关键特性​​：</a:t>
            </a:r>
            <a:endParaRPr lang="en-US" altLang="zh-CN" dirty="0">
              <a:latin typeface="PingFang SC"/>
            </a:endParaRPr>
          </a:p>
          <a:p>
            <a:pPr lvl="2"/>
            <a:r>
              <a:rPr lang="zh-CN" altLang="en-US" b="0" i="0" dirty="0">
                <a:effectLst/>
                <a:latin typeface="PingFang SC"/>
              </a:rPr>
              <a:t>模型无关性​​：适用于任何可梯度更新的模型（如神经网络、线性回归）。</a:t>
            </a:r>
            <a:endParaRPr lang="en-US" altLang="zh-CN" b="0" i="0" dirty="0">
              <a:effectLst/>
              <a:latin typeface="PingFang SC"/>
            </a:endParaRPr>
          </a:p>
          <a:p>
            <a:pPr lvl="2"/>
            <a:r>
              <a:rPr lang="zh-CN" altLang="en-US" b="0" i="0" dirty="0">
                <a:effectLst/>
                <a:latin typeface="PingFang SC"/>
              </a:rPr>
              <a:t>任务泛化​​：通过多个任务的元训练，提取任务间的共同结构。</a:t>
            </a:r>
            <a:endParaRPr lang="en-US" altLang="zh-CN" b="0" i="0" dirty="0">
              <a:effectLst/>
              <a:latin typeface="PingFang SC"/>
            </a:endParaRPr>
          </a:p>
          <a:p>
            <a:r>
              <a:rPr lang="zh-CN" altLang="en-US" dirty="0"/>
              <a:t>原理：双层优化​</a:t>
            </a:r>
            <a:endParaRPr lang="en-US" altLang="zh-CN" dirty="0"/>
          </a:p>
          <a:p>
            <a:pPr lvl="2"/>
            <a:r>
              <a:rPr lang="zh-CN" altLang="en-US" dirty="0"/>
              <a:t>内层优化（</a:t>
            </a:r>
            <a:r>
              <a:rPr lang="en-US" altLang="zh-CN" dirty="0"/>
              <a:t>Task-Specific Adaptation</a:t>
            </a:r>
            <a:r>
              <a:rPr lang="zh-CN" altLang="en-US" dirty="0"/>
              <a:t>）：</a:t>
            </a:r>
            <a:r>
              <a:rPr lang="zh-CN" altLang="en-US" b="0" i="0" dirty="0">
                <a:effectLst/>
                <a:latin typeface="PingFang SC"/>
              </a:rPr>
              <a:t>每个任务上，从初始参数</a:t>
            </a:r>
            <a:r>
              <a:rPr lang="en-US" altLang="zh-CN" b="0" i="0" dirty="0">
                <a:effectLst/>
                <a:latin typeface="PingFang SC"/>
              </a:rPr>
              <a:t>θ</a:t>
            </a:r>
            <a:r>
              <a:rPr lang="zh-CN" altLang="en-US" b="0" i="0" dirty="0">
                <a:effectLst/>
                <a:latin typeface="PingFang SC"/>
              </a:rPr>
              <a:t>出发，用少量数据通过几步梯度下降更新参数，得到适应后的参数</a:t>
            </a:r>
            <a:r>
              <a:rPr lang="en-US" altLang="zh-CN" b="0" i="0" dirty="0">
                <a:effectLst/>
                <a:latin typeface="PingFang SC"/>
              </a:rPr>
              <a:t>θ’</a:t>
            </a:r>
            <a:r>
              <a:rPr lang="zh-CN" altLang="en-US" b="0" i="0" dirty="0">
                <a:effectLst/>
                <a:latin typeface="PingFang SC"/>
              </a:rPr>
              <a:t>。</a:t>
            </a:r>
            <a:endParaRPr lang="en-US" altLang="zh-CN" b="0" i="0" dirty="0">
              <a:effectLst/>
              <a:latin typeface="PingFang SC"/>
            </a:endParaRPr>
          </a:p>
          <a:p>
            <a:pPr lvl="2"/>
            <a:r>
              <a:rPr lang="zh-CN" altLang="en-US" dirty="0"/>
              <a:t>外层优化（</a:t>
            </a:r>
            <a:r>
              <a:rPr lang="en-US" altLang="zh-CN" dirty="0"/>
              <a:t>Meta-Learning</a:t>
            </a:r>
            <a:r>
              <a:rPr lang="zh-CN" altLang="en-US" dirty="0"/>
              <a:t>）：</a:t>
            </a:r>
            <a:r>
              <a:rPr lang="zh-CN" altLang="en-US" b="1" i="0" dirty="0">
                <a:effectLst/>
                <a:latin typeface="PingFang SC"/>
              </a:rPr>
              <a:t>调整初始参数</a:t>
            </a:r>
            <a:r>
              <a:rPr lang="en-US" altLang="zh-CN" b="1" i="0" dirty="0">
                <a:effectLst/>
                <a:latin typeface="PingFang SC"/>
              </a:rPr>
              <a:t>θ</a:t>
            </a:r>
            <a:r>
              <a:rPr lang="zh-CN" altLang="en-US" b="1" i="0" dirty="0">
                <a:effectLst/>
                <a:latin typeface="PingFang SC"/>
              </a:rPr>
              <a:t>，使得所有任务上适应后的参数</a:t>
            </a:r>
            <a:r>
              <a:rPr lang="en-US" altLang="zh-CN" b="1" i="0" dirty="0">
                <a:effectLst/>
                <a:latin typeface="PingFang SC"/>
              </a:rPr>
              <a:t>θ'</a:t>
            </a:r>
            <a:r>
              <a:rPr lang="zh-CN" altLang="en-US" b="1" i="0" dirty="0">
                <a:effectLst/>
                <a:latin typeface="PingFang SC"/>
              </a:rPr>
              <a:t>在各自验证数据上的损失之和最小</a:t>
            </a:r>
            <a:r>
              <a:rPr lang="zh-CN" altLang="en-US" b="0" i="0" dirty="0">
                <a:effectLst/>
                <a:latin typeface="PingFang SC"/>
              </a:rPr>
              <a:t>。</a:t>
            </a:r>
            <a:endParaRPr lang="en-US" altLang="zh-CN" dirty="0"/>
          </a:p>
        </p:txBody>
      </p:sp>
      <p:pic>
        <p:nvPicPr>
          <p:cNvPr id="7" name="图片 6">
            <a:extLst>
              <a:ext uri="{FF2B5EF4-FFF2-40B4-BE49-F238E27FC236}">
                <a16:creationId xmlns:a16="http://schemas.microsoft.com/office/drawing/2014/main" id="{CFDD565A-436B-4D1F-9340-36C70EAF5496}"/>
              </a:ext>
            </a:extLst>
          </p:cNvPr>
          <p:cNvPicPr>
            <a:picLocks noChangeAspect="1"/>
          </p:cNvPicPr>
          <p:nvPr/>
        </p:nvPicPr>
        <p:blipFill>
          <a:blip r:embed="rId3"/>
          <a:stretch>
            <a:fillRect/>
          </a:stretch>
        </p:blipFill>
        <p:spPr>
          <a:xfrm>
            <a:off x="9067800" y="5257800"/>
            <a:ext cx="1666875" cy="447675"/>
          </a:xfrm>
          <a:prstGeom prst="rect">
            <a:avLst/>
          </a:prstGeom>
        </p:spPr>
      </p:pic>
      <p:pic>
        <p:nvPicPr>
          <p:cNvPr id="9" name="图片 8">
            <a:extLst>
              <a:ext uri="{FF2B5EF4-FFF2-40B4-BE49-F238E27FC236}">
                <a16:creationId xmlns:a16="http://schemas.microsoft.com/office/drawing/2014/main" id="{0583E892-E63C-462F-BEC5-B06CFE8D0574}"/>
              </a:ext>
            </a:extLst>
          </p:cNvPr>
          <p:cNvPicPr>
            <a:picLocks noChangeAspect="1"/>
          </p:cNvPicPr>
          <p:nvPr/>
        </p:nvPicPr>
        <p:blipFill>
          <a:blip r:embed="rId4"/>
          <a:stretch>
            <a:fillRect/>
          </a:stretch>
        </p:blipFill>
        <p:spPr>
          <a:xfrm>
            <a:off x="6400800" y="5991239"/>
            <a:ext cx="1981200" cy="552450"/>
          </a:xfrm>
          <a:prstGeom prst="rect">
            <a:avLst/>
          </a:prstGeom>
        </p:spPr>
      </p:pic>
    </p:spTree>
    <p:extLst>
      <p:ext uri="{BB962C8B-B14F-4D97-AF65-F5344CB8AC3E}">
        <p14:creationId xmlns:p14="http://schemas.microsoft.com/office/powerpoint/2010/main" val="1242802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369CB0-2FF3-4610-8360-F4D731DAEC1E}"/>
              </a:ext>
            </a:extLst>
          </p:cNvPr>
          <p:cNvSpPr>
            <a:spLocks noGrp="1"/>
          </p:cNvSpPr>
          <p:nvPr>
            <p:ph type="title"/>
          </p:nvPr>
        </p:nvSpPr>
        <p:spPr/>
        <p:txBody>
          <a:bodyPr/>
          <a:lstStyle/>
          <a:p>
            <a:r>
              <a:rPr lang="zh-CN" altLang="en-US" dirty="0"/>
              <a:t>模型无关的元学习（</a:t>
            </a:r>
            <a:r>
              <a:rPr lang="en-US" altLang="zh-CN" dirty="0"/>
              <a:t>MAML</a:t>
            </a:r>
            <a:r>
              <a:rPr lang="zh-CN" altLang="en-US" dirty="0"/>
              <a:t>）</a:t>
            </a:r>
          </a:p>
        </p:txBody>
      </p:sp>
      <p:sp>
        <p:nvSpPr>
          <p:cNvPr id="3" name="内容占位符 2">
            <a:extLst>
              <a:ext uri="{FF2B5EF4-FFF2-40B4-BE49-F238E27FC236}">
                <a16:creationId xmlns:a16="http://schemas.microsoft.com/office/drawing/2014/main" id="{8EA79A30-7796-471C-9ABD-1F3F988605C7}"/>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b="0" i="0" dirty="0">
                <a:solidFill>
                  <a:srgbClr val="000000"/>
                </a:solidFill>
                <a:effectLst/>
                <a:latin typeface="-apple-system"/>
              </a:rPr>
              <a:t>目标：</a:t>
            </a:r>
            <a:r>
              <a:rPr lang="zh-CN" altLang="en-US" b="1" i="0" dirty="0">
                <a:solidFill>
                  <a:srgbClr val="000000"/>
                </a:solidFill>
                <a:effectLst/>
                <a:latin typeface="-apple-system"/>
              </a:rPr>
              <a:t>训练模型的“初始参数”</a:t>
            </a:r>
            <a:r>
              <a:rPr lang="zh-CN" altLang="en-US" b="0" i="0" dirty="0">
                <a:solidFill>
                  <a:srgbClr val="000000"/>
                </a:solidFill>
                <a:effectLst/>
                <a:latin typeface="-apple-system"/>
              </a:rPr>
              <a:t>，使得这个模型在面对一个全新的、只有少量样本（例如，几个或几十个）的任务时，能够通过极少的梯度更新步骤就快速达到良好的性能</a:t>
            </a:r>
            <a:endParaRPr lang="en-US" altLang="zh-CN" b="0" i="0" dirty="0">
              <a:solidFill>
                <a:srgbClr val="000000"/>
              </a:solidFill>
              <a:effectLst/>
              <a:latin typeface="-apple-system"/>
            </a:endParaRPr>
          </a:p>
          <a:p>
            <a:pPr lvl="3"/>
            <a:r>
              <a:rPr lang="zh-CN" altLang="en-US" b="0" i="0" dirty="0">
                <a:solidFill>
                  <a:srgbClr val="000000"/>
                </a:solidFill>
                <a:effectLst/>
                <a:latin typeface="-apple-system"/>
              </a:rPr>
              <a:t>给你很多个相似但不相同的任务（比如识别不同品种的狗、识别不同种类的鸟等），目标是学出一个模型的“初始状态”。当遇到一个全新的任务（比如识别一种新的昆虫）时，只需要用这个新任务的少量样本（比如</a:t>
            </a:r>
            <a:r>
              <a:rPr lang="en-US" altLang="zh-CN" b="0" i="0" dirty="0">
                <a:solidFill>
                  <a:srgbClr val="000000"/>
                </a:solidFill>
                <a:effectLst/>
                <a:latin typeface="-apple-system"/>
              </a:rPr>
              <a:t>5</a:t>
            </a:r>
            <a:r>
              <a:rPr lang="zh-CN" altLang="en-US" b="0" i="0" dirty="0">
                <a:solidFill>
                  <a:srgbClr val="000000"/>
                </a:solidFill>
                <a:effectLst/>
                <a:latin typeface="-apple-system"/>
              </a:rPr>
              <a:t>张图片）对这个“初始模型”进行微调，它就能迅速适应。这个初始参数是“通才”，并且特别擅长“快速学习”。</a:t>
            </a:r>
            <a:endParaRPr lang="en-US" altLang="zh-CN" b="0" i="0" dirty="0">
              <a:solidFill>
                <a:srgbClr val="000000"/>
              </a:solidFill>
              <a:effectLst/>
              <a:latin typeface="-apple-system"/>
            </a:endParaRPr>
          </a:p>
          <a:p>
            <a:endParaRPr lang="en-US" altLang="zh-CN" dirty="0"/>
          </a:p>
        </p:txBody>
      </p:sp>
    </p:spTree>
    <p:extLst>
      <p:ext uri="{BB962C8B-B14F-4D97-AF65-F5344CB8AC3E}">
        <p14:creationId xmlns:p14="http://schemas.microsoft.com/office/powerpoint/2010/main" val="169404003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4028A97-5E89-497C-AF4F-A28A891A07CE}"/>
              </a:ext>
            </a:extLst>
          </p:cNvPr>
          <p:cNvSpPr>
            <a:spLocks noGrp="1"/>
          </p:cNvSpPr>
          <p:nvPr>
            <p:ph type="title"/>
          </p:nvPr>
        </p:nvSpPr>
        <p:spPr/>
        <p:txBody>
          <a:bodyPr/>
          <a:lstStyle/>
          <a:p>
            <a:r>
              <a:rPr lang="zh-CN" altLang="en-US" dirty="0"/>
              <a:t>模型无关的元学习（</a:t>
            </a:r>
            <a:r>
              <a:rPr lang="en-US" altLang="zh-CN" dirty="0"/>
              <a:t>MAML</a:t>
            </a:r>
            <a:r>
              <a:rPr lang="zh-CN" altLang="en-US" dirty="0"/>
              <a:t>）</a:t>
            </a:r>
          </a:p>
        </p:txBody>
      </p:sp>
      <p:pic>
        <p:nvPicPr>
          <p:cNvPr id="4" name="图片 3">
            <a:extLst>
              <a:ext uri="{FF2B5EF4-FFF2-40B4-BE49-F238E27FC236}">
                <a16:creationId xmlns:a16="http://schemas.microsoft.com/office/drawing/2014/main" id="{8ABBEFA9-64D0-48DD-929A-0DFDE257EF01}"/>
              </a:ext>
            </a:extLst>
          </p:cNvPr>
          <p:cNvPicPr>
            <a:picLocks noChangeAspect="1"/>
          </p:cNvPicPr>
          <p:nvPr/>
        </p:nvPicPr>
        <p:blipFill>
          <a:blip r:embed="rId3"/>
          <a:stretch>
            <a:fillRect/>
          </a:stretch>
        </p:blipFill>
        <p:spPr>
          <a:xfrm>
            <a:off x="3227341" y="990600"/>
            <a:ext cx="5737317" cy="5033433"/>
          </a:xfrm>
          <a:prstGeom prst="rect">
            <a:avLst/>
          </a:prstGeom>
        </p:spPr>
      </p:pic>
      <p:sp>
        <p:nvSpPr>
          <p:cNvPr id="5" name="文本框 4">
            <a:extLst>
              <a:ext uri="{FF2B5EF4-FFF2-40B4-BE49-F238E27FC236}">
                <a16:creationId xmlns:a16="http://schemas.microsoft.com/office/drawing/2014/main" id="{BC977196-8CAB-4661-AF9A-267BE55DA375}"/>
              </a:ext>
            </a:extLst>
          </p:cNvPr>
          <p:cNvSpPr txBox="1"/>
          <p:nvPr/>
        </p:nvSpPr>
        <p:spPr>
          <a:xfrm>
            <a:off x="6172200" y="3733800"/>
            <a:ext cx="3185487" cy="369332"/>
          </a:xfrm>
          <a:prstGeom prst="rect">
            <a:avLst/>
          </a:prstGeom>
          <a:noFill/>
        </p:spPr>
        <p:txBody>
          <a:bodyPr wrap="none" rtlCol="0">
            <a:spAutoFit/>
          </a:bodyPr>
          <a:lstStyle/>
          <a:p>
            <a:r>
              <a:rPr lang="zh-CN" altLang="en-US" dirty="0"/>
              <a:t>每个任务独立学习，更新参数</a:t>
            </a:r>
          </a:p>
        </p:txBody>
      </p:sp>
      <p:sp>
        <p:nvSpPr>
          <p:cNvPr id="6" name="文本框 5">
            <a:extLst>
              <a:ext uri="{FF2B5EF4-FFF2-40B4-BE49-F238E27FC236}">
                <a16:creationId xmlns:a16="http://schemas.microsoft.com/office/drawing/2014/main" id="{A96E4C65-B224-4BC0-BD74-EB11A2056E53}"/>
              </a:ext>
            </a:extLst>
          </p:cNvPr>
          <p:cNvSpPr txBox="1"/>
          <p:nvPr/>
        </p:nvSpPr>
        <p:spPr>
          <a:xfrm>
            <a:off x="8201393" y="4756836"/>
            <a:ext cx="3962400" cy="923330"/>
          </a:xfrm>
          <a:prstGeom prst="rect">
            <a:avLst/>
          </a:prstGeom>
          <a:noFill/>
        </p:spPr>
        <p:txBody>
          <a:bodyPr wrap="square" rtlCol="0">
            <a:spAutoFit/>
          </a:bodyPr>
          <a:lstStyle/>
          <a:p>
            <a:r>
              <a:rPr lang="zh-CN" altLang="en-US" dirty="0"/>
              <a:t>以使所有任务的总体损失最小为目标，整体优化参数，这样得到的参数在新任务上的泛化性较好</a:t>
            </a:r>
          </a:p>
        </p:txBody>
      </p:sp>
    </p:spTree>
    <p:extLst>
      <p:ext uri="{BB962C8B-B14F-4D97-AF65-F5344CB8AC3E}">
        <p14:creationId xmlns:p14="http://schemas.microsoft.com/office/powerpoint/2010/main" val="27560944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39724-890E-4A05-8209-7CBB02112B0D}"/>
              </a:ext>
            </a:extLst>
          </p:cNvPr>
          <p:cNvSpPr>
            <a:spLocks noGrp="1"/>
          </p:cNvSpPr>
          <p:nvPr>
            <p:ph type="title"/>
          </p:nvPr>
        </p:nvSpPr>
        <p:spPr/>
        <p:txBody>
          <a:bodyPr/>
          <a:lstStyle/>
          <a:p>
            <a:r>
              <a:rPr lang="zh-CN" altLang="en-US" sz="2800" dirty="0"/>
              <a:t>终身学习（</a:t>
            </a:r>
            <a:r>
              <a:rPr lang="en-US" altLang="zh-CN" sz="2800" dirty="0"/>
              <a:t>Lifelong Learning</a:t>
            </a:r>
            <a:r>
              <a:rPr lang="zh-CN" altLang="en-US" sz="2800" dirty="0"/>
              <a:t>）</a:t>
            </a:r>
            <a:r>
              <a:rPr lang="en-US" altLang="zh-CN" sz="2800" dirty="0"/>
              <a:t>/</a:t>
            </a:r>
            <a:r>
              <a:rPr lang="zh-CN" altLang="en-US" sz="2800" dirty="0"/>
              <a:t>持续学习（</a:t>
            </a:r>
            <a:r>
              <a:rPr lang="en-US" altLang="zh-CN" sz="2800" dirty="0"/>
              <a:t>Continuous Learning</a:t>
            </a:r>
            <a:r>
              <a:rPr lang="zh-CN" altLang="en-US" sz="2800" dirty="0"/>
              <a:t>）</a:t>
            </a:r>
          </a:p>
        </p:txBody>
      </p:sp>
      <p:sp>
        <p:nvSpPr>
          <p:cNvPr id="5" name="内容占位符 2">
            <a:extLst>
              <a:ext uri="{FF2B5EF4-FFF2-40B4-BE49-F238E27FC236}">
                <a16:creationId xmlns:a16="http://schemas.microsoft.com/office/drawing/2014/main" id="{922B7D05-E173-4EF2-84B4-F773F9F67E64}"/>
              </a:ext>
            </a:extLst>
          </p:cNvPr>
          <p:cNvSpPr txBox="1">
            <a:spLocks/>
          </p:cNvSpPr>
          <p:nvPr/>
        </p:nvSpPr>
        <p:spPr>
          <a:xfrm>
            <a:off x="609600" y="9906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sz="2800" b="0" i="0" dirty="0">
                <a:effectLst/>
                <a:latin typeface="PingFang SC"/>
              </a:rPr>
              <a:t>深度学习效果好的前提是训练数据和测试数据的分布要相同，一旦训练结束模型就保持固定，不再进行迭代更新。要想一个模型同时在很多不同任务上都取得成功依然是一件十分困难的事情。</a:t>
            </a:r>
          </a:p>
          <a:p>
            <a:pPr lvl="1"/>
            <a:r>
              <a:rPr lang="zh-CN" altLang="en-US" sz="2400" b="0" i="0" dirty="0">
                <a:effectLst/>
                <a:latin typeface="PingFang SC"/>
              </a:rPr>
              <a:t>人类的学习是一直持续的，人脑可以通过记忆不断地累积学习到的知识，这些知识累积可以 在不同的任务中持续进行。在大脑的海马系统上，新的知识在以往知识的基础上 被快速建立起来；之后经过长时间的处理，在大脑皮质区形成较难遗忘的长时记 忆。由于不断的知识累积，人脑在学习新的任务时一般不需要太多的标注数据。</a:t>
            </a:r>
          </a:p>
          <a:p>
            <a:r>
              <a:rPr lang="zh-CN" altLang="en-US" sz="2800" b="0" i="0" dirty="0">
                <a:effectLst/>
                <a:latin typeface="PingFang SC"/>
              </a:rPr>
              <a:t>终身学习是指像人类一样具有持续不断的学习能力，根据历史任务中学到的经验和知识 来帮助学习不断出现的新任务，并且这些经验和知识是持续累积的，不会因为新的任务而忘记旧的知识。</a:t>
            </a:r>
          </a:p>
        </p:txBody>
      </p:sp>
    </p:spTree>
    <p:extLst>
      <p:ext uri="{BB962C8B-B14F-4D97-AF65-F5344CB8AC3E}">
        <p14:creationId xmlns:p14="http://schemas.microsoft.com/office/powerpoint/2010/main" val="132982254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9F39724-890E-4A05-8209-7CBB02112B0D}"/>
              </a:ext>
            </a:extLst>
          </p:cNvPr>
          <p:cNvSpPr>
            <a:spLocks noGrp="1"/>
          </p:cNvSpPr>
          <p:nvPr>
            <p:ph type="title"/>
          </p:nvPr>
        </p:nvSpPr>
        <p:spPr/>
        <p:txBody>
          <a:bodyPr/>
          <a:lstStyle/>
          <a:p>
            <a:r>
              <a:rPr lang="zh-CN" altLang="en-US" sz="2800" dirty="0"/>
              <a:t>终身学习（</a:t>
            </a:r>
            <a:r>
              <a:rPr lang="en-US" altLang="zh-CN" sz="2800" dirty="0"/>
              <a:t>Lifelong Learning</a:t>
            </a:r>
            <a:r>
              <a:rPr lang="zh-CN" altLang="en-US" sz="2800" dirty="0"/>
              <a:t>）</a:t>
            </a:r>
            <a:r>
              <a:rPr lang="en-US" altLang="zh-CN" sz="2800" dirty="0"/>
              <a:t>/</a:t>
            </a:r>
            <a:r>
              <a:rPr lang="zh-CN" altLang="en-US" sz="2800" dirty="0"/>
              <a:t>持续学习（</a:t>
            </a:r>
            <a:r>
              <a:rPr lang="en-US" altLang="zh-CN" sz="2800" dirty="0"/>
              <a:t>Continuous Learning</a:t>
            </a:r>
            <a:r>
              <a:rPr lang="zh-CN" altLang="en-US" sz="2800" dirty="0"/>
              <a:t>）</a:t>
            </a:r>
          </a:p>
        </p:txBody>
      </p:sp>
      <p:pic>
        <p:nvPicPr>
          <p:cNvPr id="8196" name="Picture 4" descr="https://www.grasp.upenn.edu/sites/default/files/styles/full/public/images/3_0.jpg?itok=FUgaQdvu">
            <a:extLst>
              <a:ext uri="{FF2B5EF4-FFF2-40B4-BE49-F238E27FC236}">
                <a16:creationId xmlns:a16="http://schemas.microsoft.com/office/drawing/2014/main" id="{B36CD747-767A-4150-B3F2-2A85F602B14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43200" y="1524000"/>
            <a:ext cx="6858000" cy="381000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8B76B776-720E-4CD1-89FD-3345A30418BD}"/>
              </a:ext>
            </a:extLst>
          </p:cNvPr>
          <p:cNvSpPr txBox="1"/>
          <p:nvPr/>
        </p:nvSpPr>
        <p:spPr>
          <a:xfrm>
            <a:off x="7411552" y="5763464"/>
            <a:ext cx="4191000" cy="646331"/>
          </a:xfrm>
          <a:prstGeom prst="rect">
            <a:avLst/>
          </a:prstGeom>
          <a:noFill/>
        </p:spPr>
        <p:txBody>
          <a:bodyPr wrap="square" rtlCol="0">
            <a:spAutoFit/>
          </a:bodyPr>
          <a:lstStyle/>
          <a:p>
            <a:r>
              <a:rPr lang="zh-CN" altLang="en-US" dirty="0"/>
              <a:t>思考：终身学习的核心问题是什么？解决方法有哪些？</a:t>
            </a:r>
            <a:endParaRPr lang="en-US" altLang="zh-CN" dirty="0"/>
          </a:p>
        </p:txBody>
      </p:sp>
    </p:spTree>
    <p:extLst>
      <p:ext uri="{BB962C8B-B14F-4D97-AF65-F5344CB8AC3E}">
        <p14:creationId xmlns:p14="http://schemas.microsoft.com/office/powerpoint/2010/main" val="31138358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19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A5ADF8A-8370-459F-BBCB-3BB7340EBCF9}"/>
              </a:ext>
            </a:extLst>
          </p:cNvPr>
          <p:cNvSpPr>
            <a:spLocks noGrp="1"/>
          </p:cNvSpPr>
          <p:nvPr>
            <p:ph type="title"/>
          </p:nvPr>
        </p:nvSpPr>
        <p:spPr/>
        <p:txBody>
          <a:bodyPr/>
          <a:lstStyle/>
          <a:p>
            <a:r>
              <a:rPr lang="zh-CN" altLang="en-US" sz="3200" dirty="0"/>
              <a:t>终身学习</a:t>
            </a:r>
            <a:endParaRPr lang="zh-CN" altLang="en-US" dirty="0"/>
          </a:p>
        </p:txBody>
      </p:sp>
      <p:sp>
        <p:nvSpPr>
          <p:cNvPr id="3" name="内容占位符 2">
            <a:extLst>
              <a:ext uri="{FF2B5EF4-FFF2-40B4-BE49-F238E27FC236}">
                <a16:creationId xmlns:a16="http://schemas.microsoft.com/office/drawing/2014/main" id="{D77CBCC6-75B4-4094-A25F-077C99C7C5FD}"/>
              </a:ext>
            </a:extLst>
          </p:cNvPr>
          <p:cNvSpPr txBox="1">
            <a:spLocks/>
          </p:cNvSpPr>
          <p:nvPr/>
        </p:nvSpPr>
        <p:spPr>
          <a:xfrm>
            <a:off x="609600" y="914400"/>
            <a:ext cx="10972800" cy="5410200"/>
          </a:xfrm>
          <a:prstGeom prst="rect">
            <a:avLst/>
          </a:prstGeom>
        </p:spPr>
        <p:txBody>
          <a:bodyPr/>
          <a:lstStyle>
            <a:lvl1pPr marL="153591" indent="-153591" algn="l" rtl="0" eaLnBrk="1" fontAlgn="base" hangingPunct="1">
              <a:spcBef>
                <a:spcPts val="338"/>
              </a:spcBef>
              <a:spcAft>
                <a:spcPct val="0"/>
              </a:spcAft>
              <a:buClr>
                <a:srgbClr val="000000"/>
              </a:buClr>
              <a:buSzPct val="76000"/>
              <a:buFont typeface="Wingdings 3" panose="05040102010807070707" pitchFamily="18" charset="2"/>
              <a:buChar char=""/>
              <a:defRPr lang="en-US" altLang="zh-CN" sz="3200" kern="1200" baseline="0" dirty="0" smtClean="0">
                <a:solidFill>
                  <a:srgbClr val="C00000"/>
                </a:solidFill>
                <a:latin typeface="+mn-lt"/>
                <a:ea typeface="+mn-ea"/>
                <a:cs typeface="Arial" panose="020B0604020202020204" pitchFamily="34" charset="0"/>
              </a:defRPr>
            </a:lvl1pPr>
            <a:lvl2pPr marL="308075" indent="-153591" algn="l" rtl="0" eaLnBrk="1" fontAlgn="base" hangingPunct="1">
              <a:spcBef>
                <a:spcPts val="281"/>
              </a:spcBef>
              <a:spcAft>
                <a:spcPct val="0"/>
              </a:spcAft>
              <a:buClr>
                <a:srgbClr val="000000"/>
              </a:buClr>
              <a:buSzPct val="76000"/>
              <a:buFont typeface="Wingdings 3" panose="05040102010807070707" pitchFamily="18" charset="2"/>
              <a:buChar char=""/>
              <a:defRPr sz="2800" kern="1200" baseline="0">
                <a:solidFill>
                  <a:srgbClr val="000000"/>
                </a:solidFill>
                <a:latin typeface="+mn-lt"/>
                <a:ea typeface="+mn-ea"/>
                <a:cs typeface="+mn-cs"/>
              </a:defRPr>
            </a:lvl2pPr>
            <a:lvl3pPr marL="462558" indent="-128588" algn="l" rtl="0" eaLnBrk="1" fontAlgn="base" hangingPunct="1">
              <a:spcBef>
                <a:spcPts val="281"/>
              </a:spcBef>
              <a:spcAft>
                <a:spcPct val="0"/>
              </a:spcAft>
              <a:buClr>
                <a:srgbClr val="000000"/>
              </a:buClr>
              <a:buSzPct val="76000"/>
              <a:buFont typeface="Wingdings 3" panose="05040102010807070707" pitchFamily="18" charset="2"/>
              <a:buChar char=""/>
              <a:defRPr sz="2400" kern="1200" baseline="0">
                <a:solidFill>
                  <a:schemeClr val="accent1"/>
                </a:solidFill>
                <a:latin typeface="+mn-lt"/>
                <a:ea typeface="+mn-ea"/>
                <a:cs typeface="+mn-cs"/>
              </a:defRPr>
            </a:lvl3pPr>
            <a:lvl4pPr marL="617042" indent="-128588" algn="l" rtl="0" eaLnBrk="1" fontAlgn="base" hangingPunct="1">
              <a:spcBef>
                <a:spcPts val="225"/>
              </a:spcBef>
              <a:spcAft>
                <a:spcPct val="0"/>
              </a:spcAft>
              <a:buClr>
                <a:srgbClr val="CF5716"/>
              </a:buClr>
              <a:buSzPct val="70000"/>
              <a:buFont typeface="Wingdings" panose="05000000000000000000" pitchFamily="2" charset="2"/>
              <a:buChar char=""/>
              <a:defRPr sz="2000" kern="1200" baseline="0">
                <a:solidFill>
                  <a:schemeClr val="tx1"/>
                </a:solidFill>
                <a:latin typeface="+mn-lt"/>
                <a:ea typeface="+mn-ea"/>
                <a:cs typeface="+mn-cs"/>
              </a:defRPr>
            </a:lvl4pPr>
            <a:lvl5pPr marL="771525" indent="-128588" algn="l" rtl="0" eaLnBrk="1" fontAlgn="base" hangingPunct="1">
              <a:spcBef>
                <a:spcPts val="169"/>
              </a:spcBef>
              <a:spcAft>
                <a:spcPct val="0"/>
              </a:spcAft>
              <a:buClr>
                <a:schemeClr val="accent2"/>
              </a:buClr>
              <a:buSzPct val="70000"/>
              <a:buFont typeface="Wingdings" panose="05000000000000000000" pitchFamily="2" charset="2"/>
              <a:buChar char=""/>
              <a:defRPr sz="1350" kern="1200" baseline="0">
                <a:solidFill>
                  <a:schemeClr val="tx1"/>
                </a:solidFill>
                <a:latin typeface="+mn-ea"/>
                <a:ea typeface="+mn-ea"/>
                <a:cs typeface="+mn-cs"/>
              </a:defRPr>
            </a:lvl5pPr>
            <a:lvl6pPr marL="925830" indent="-102870" algn="l" rtl="0" eaLnBrk="1" latinLnBrk="0" hangingPunct="1">
              <a:spcBef>
                <a:spcPts val="169"/>
              </a:spcBef>
              <a:buClr>
                <a:srgbClr val="9FB8CD">
                  <a:shade val="75000"/>
                </a:srgbClr>
              </a:buClr>
              <a:buSzPct val="75000"/>
              <a:buFont typeface="Wingdings 3"/>
              <a:buChar char=""/>
              <a:defRPr kumimoji="0" lang="en-US" sz="900" kern="1200" smtClean="0">
                <a:solidFill>
                  <a:schemeClr val="tx1"/>
                </a:solidFill>
                <a:latin typeface="+mn-lt"/>
                <a:ea typeface="+mn-ea"/>
                <a:cs typeface="+mn-cs"/>
              </a:defRPr>
            </a:lvl6pPr>
            <a:lvl7pPr marL="1028700" indent="-102870" algn="l" rtl="0" eaLnBrk="1" latinLnBrk="0" hangingPunct="1">
              <a:spcBef>
                <a:spcPts val="169"/>
              </a:spcBef>
              <a:buClr>
                <a:srgbClr val="727CA3">
                  <a:shade val="75000"/>
                </a:srgbClr>
              </a:buClr>
              <a:buSzPct val="75000"/>
              <a:buFont typeface="Wingdings 3"/>
              <a:buChar char=""/>
              <a:defRPr kumimoji="0" lang="en-US" sz="788" kern="1200" smtClean="0">
                <a:solidFill>
                  <a:schemeClr val="tx1"/>
                </a:solidFill>
                <a:latin typeface="+mn-lt"/>
                <a:ea typeface="+mn-ea"/>
                <a:cs typeface="+mn-cs"/>
              </a:defRPr>
            </a:lvl7pPr>
            <a:lvl8pPr marL="1131570" indent="-102870" algn="l" rtl="0" eaLnBrk="1" latinLnBrk="0" hangingPunct="1">
              <a:spcBef>
                <a:spcPts val="169"/>
              </a:spcBef>
              <a:buClr>
                <a:prstClr val="white">
                  <a:shade val="50000"/>
                </a:prstClr>
              </a:buClr>
              <a:buSzPct val="75000"/>
              <a:buFont typeface="Wingdings 3"/>
              <a:buChar char=""/>
              <a:defRPr kumimoji="0" lang="en-US" sz="788" kern="1200" smtClean="0">
                <a:solidFill>
                  <a:schemeClr val="tx1"/>
                </a:solidFill>
                <a:latin typeface="+mn-lt"/>
                <a:ea typeface="+mn-ea"/>
                <a:cs typeface="+mn-cs"/>
              </a:defRPr>
            </a:lvl8pPr>
            <a:lvl9pPr marL="1234440" indent="-102870" algn="l" rtl="0" eaLnBrk="1" latinLnBrk="0" hangingPunct="1">
              <a:spcBef>
                <a:spcPts val="169"/>
              </a:spcBef>
              <a:buClr>
                <a:srgbClr val="9FB8CD"/>
              </a:buClr>
              <a:buSzPct val="75000"/>
              <a:buFont typeface="Wingdings 3"/>
              <a:buChar char=""/>
              <a:defRPr kumimoji="0" lang="en-US" sz="675" kern="1200" smtClean="0">
                <a:solidFill>
                  <a:schemeClr val="tx1"/>
                </a:solidFill>
                <a:latin typeface="+mn-lt"/>
                <a:ea typeface="+mn-ea"/>
                <a:cs typeface="+mn-cs"/>
              </a:defRPr>
            </a:lvl9pPr>
          </a:lstStyle>
          <a:p>
            <a:r>
              <a:rPr lang="zh-CN" altLang="en-US" sz="2800" dirty="0"/>
              <a:t>灾难性遗忘（</a:t>
            </a:r>
            <a:r>
              <a:rPr lang="en-US" altLang="zh-CN" sz="2800" dirty="0"/>
              <a:t>Catastrophic Forgetting</a:t>
            </a:r>
            <a:r>
              <a:rPr lang="zh-CN" altLang="en-US" sz="2800" dirty="0"/>
              <a:t>）</a:t>
            </a:r>
            <a:endParaRPr lang="en-US" altLang="zh-CN" sz="2800" dirty="0"/>
          </a:p>
          <a:p>
            <a:pPr lvl="2"/>
            <a:r>
              <a:rPr lang="zh-CN" altLang="en-US" sz="2000" dirty="0"/>
              <a:t>即按照一定顺序学习多个任务时，在学习新任务的同时不忘记先前学会的历史任务</a:t>
            </a:r>
            <a:endParaRPr lang="en-US" altLang="zh-CN" sz="2000" dirty="0"/>
          </a:p>
          <a:p>
            <a:r>
              <a:rPr lang="zh-CN" altLang="en-US" sz="2800" dirty="0"/>
              <a:t>解决方法：</a:t>
            </a:r>
            <a:endParaRPr lang="en-US" altLang="zh-CN" sz="2800" dirty="0"/>
          </a:p>
          <a:p>
            <a:pPr lvl="1"/>
            <a:r>
              <a:rPr lang="zh-CN" altLang="en-US" sz="2400" dirty="0"/>
              <a:t>弹性权重巩固（</a:t>
            </a:r>
            <a:r>
              <a:rPr lang="en-US" altLang="zh-CN" sz="2400" dirty="0"/>
              <a:t>Elastic Weight Consolidation</a:t>
            </a:r>
            <a:r>
              <a:rPr lang="zh-CN" altLang="en-US" sz="2400" dirty="0"/>
              <a:t>）方法</a:t>
            </a:r>
            <a:endParaRPr lang="en-US" altLang="zh-CN" sz="2400" dirty="0"/>
          </a:p>
          <a:p>
            <a:pPr lvl="3"/>
            <a:r>
              <a:rPr lang="zh-CN" altLang="en-US" sz="1800" dirty="0"/>
              <a:t>通过给模型参数添加一个惩罚项，增加对重要参数的保护，从而在学习新任务时减少对旧任务的影响</a:t>
            </a:r>
            <a:endParaRPr lang="en-US" altLang="zh-CN" sz="1800" dirty="0"/>
          </a:p>
          <a:p>
            <a:pPr lvl="1"/>
            <a:r>
              <a:rPr lang="zh-CN" altLang="en-US" sz="2400" dirty="0"/>
              <a:t>记忆增强方法（</a:t>
            </a:r>
            <a:r>
              <a:rPr lang="en-US" altLang="zh-CN" sz="2400" dirty="0"/>
              <a:t>Memory Replay</a:t>
            </a:r>
            <a:r>
              <a:rPr lang="zh-CN" altLang="en-US" sz="2400" dirty="0"/>
              <a:t>）</a:t>
            </a:r>
            <a:endParaRPr lang="en-US" altLang="zh-CN" sz="2400" dirty="0"/>
          </a:p>
          <a:p>
            <a:pPr lvl="3"/>
            <a:r>
              <a:rPr lang="zh-CN" altLang="en-US" sz="1800" dirty="0"/>
              <a:t>将旧任务的样本存储在一个记忆库中，并在学习新任务时定期从这个库中抽取样本进行训练，以帮助模型保持对旧任务的记忆</a:t>
            </a:r>
            <a:endParaRPr lang="en-US" altLang="zh-CN" sz="1800" dirty="0"/>
          </a:p>
          <a:p>
            <a:pPr lvl="1"/>
            <a:r>
              <a:rPr lang="zh-CN" altLang="en-US" sz="2400" dirty="0"/>
              <a:t>知识蒸馏（</a:t>
            </a:r>
            <a:r>
              <a:rPr lang="en-US" altLang="zh-CN" sz="2400" dirty="0"/>
              <a:t>Knowledge Distillation</a:t>
            </a:r>
            <a:r>
              <a:rPr lang="zh-CN" altLang="en-US" sz="2400" dirty="0"/>
              <a:t>）</a:t>
            </a:r>
            <a:endParaRPr lang="en-US" altLang="zh-CN" sz="2400" dirty="0"/>
          </a:p>
          <a:p>
            <a:pPr lvl="3"/>
            <a:r>
              <a:rPr lang="zh-CN" altLang="en-US" sz="1800" dirty="0"/>
              <a:t>通过训练一个新模型（学生）来模仿一个旧模型（教师）的行为，以保持对旧任务的性能</a:t>
            </a:r>
            <a:endParaRPr lang="en-US" altLang="zh-CN" sz="1800" dirty="0"/>
          </a:p>
          <a:p>
            <a:pPr lvl="1"/>
            <a:r>
              <a:rPr lang="zh-CN" altLang="en-US" sz="2400" dirty="0"/>
              <a:t>渐进神经网络（</a:t>
            </a:r>
            <a:r>
              <a:rPr lang="en-US" altLang="zh-CN" sz="2400" dirty="0"/>
              <a:t>Progressive Neural Networks</a:t>
            </a:r>
            <a:r>
              <a:rPr lang="zh-CN" altLang="en-US" sz="2400" dirty="0"/>
              <a:t>）</a:t>
            </a:r>
            <a:endParaRPr lang="en-US" altLang="zh-CN" sz="2400" dirty="0"/>
          </a:p>
          <a:p>
            <a:pPr lvl="3"/>
            <a:r>
              <a:rPr lang="zh-CN" altLang="en-US" sz="1800" dirty="0"/>
              <a:t>每当引入新任务时，创建新的分支网络，同时保留旧任务的网络，这样不同任务之间的参数不会相互干扰</a:t>
            </a:r>
            <a:endParaRPr lang="en-US" altLang="zh-CN" sz="1800" dirty="0"/>
          </a:p>
          <a:p>
            <a:pPr lvl="1"/>
            <a:r>
              <a:rPr lang="zh-CN" altLang="en-US" sz="2600" dirty="0"/>
              <a:t>动态网络扩展</a:t>
            </a:r>
            <a:endParaRPr lang="en-US" altLang="zh-CN" sz="2600" dirty="0"/>
          </a:p>
          <a:p>
            <a:pPr lvl="3"/>
            <a:r>
              <a:rPr lang="zh-CN" altLang="en-US" sz="1800" dirty="0"/>
              <a:t>根据新任务的需要动态调整网络结构，比如添加新的神经元或层，以适应新任务，同时保留旧任务的性能</a:t>
            </a:r>
            <a:endParaRPr lang="en-US" altLang="zh-CN" sz="1800" dirty="0"/>
          </a:p>
        </p:txBody>
      </p:sp>
    </p:spTree>
    <p:extLst>
      <p:ext uri="{BB962C8B-B14F-4D97-AF65-F5344CB8AC3E}">
        <p14:creationId xmlns:p14="http://schemas.microsoft.com/office/powerpoint/2010/main" val="2874560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CA09C9D-E7CB-4C03-9EDB-2C43DEB0D906}"/>
              </a:ext>
            </a:extLst>
          </p:cNvPr>
          <p:cNvSpPr>
            <a:spLocks noGrp="1"/>
          </p:cNvSpPr>
          <p:nvPr>
            <p:ph type="title"/>
          </p:nvPr>
        </p:nvSpPr>
        <p:spPr/>
        <p:txBody>
          <a:bodyPr/>
          <a:lstStyle/>
          <a:p>
            <a:r>
              <a:rPr lang="zh-CN" altLang="en-US" sz="3200" dirty="0"/>
              <a:t>终身学习</a:t>
            </a:r>
            <a:endParaRPr lang="zh-CN" altLang="en-US" dirty="0"/>
          </a:p>
        </p:txBody>
      </p:sp>
      <p:graphicFrame>
        <p:nvGraphicFramePr>
          <p:cNvPr id="3" name="表格 3">
            <a:extLst>
              <a:ext uri="{FF2B5EF4-FFF2-40B4-BE49-F238E27FC236}">
                <a16:creationId xmlns:a16="http://schemas.microsoft.com/office/drawing/2014/main" id="{19A92F82-E570-49D5-B986-C7BE57261BF1}"/>
              </a:ext>
            </a:extLst>
          </p:cNvPr>
          <p:cNvGraphicFramePr>
            <a:graphicFrameLocks noGrp="1"/>
          </p:cNvGraphicFramePr>
          <p:nvPr>
            <p:extLst>
              <p:ext uri="{D42A27DB-BD31-4B8C-83A1-F6EECF244321}">
                <p14:modId xmlns:p14="http://schemas.microsoft.com/office/powerpoint/2010/main" val="315196352"/>
              </p:ext>
            </p:extLst>
          </p:nvPr>
        </p:nvGraphicFramePr>
        <p:xfrm>
          <a:off x="2209800" y="1752600"/>
          <a:ext cx="8127999" cy="2702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538008538"/>
                    </a:ext>
                  </a:extLst>
                </a:gridCol>
                <a:gridCol w="2709333">
                  <a:extLst>
                    <a:ext uri="{9D8B030D-6E8A-4147-A177-3AD203B41FA5}">
                      <a16:colId xmlns:a16="http://schemas.microsoft.com/office/drawing/2014/main" val="2740372311"/>
                    </a:ext>
                  </a:extLst>
                </a:gridCol>
                <a:gridCol w="2709333">
                  <a:extLst>
                    <a:ext uri="{9D8B030D-6E8A-4147-A177-3AD203B41FA5}">
                      <a16:colId xmlns:a16="http://schemas.microsoft.com/office/drawing/2014/main" val="1271624808"/>
                    </a:ext>
                  </a:extLst>
                </a:gridCol>
              </a:tblGrid>
              <a:tr h="370840">
                <a:tc>
                  <a:txBody>
                    <a:bodyPr/>
                    <a:lstStyle/>
                    <a:p>
                      <a:pPr algn="l" fontAlgn="ctr"/>
                      <a:r>
                        <a:rPr lang="zh-CN" altLang="en-US" b="1" dirty="0">
                          <a:solidFill>
                            <a:schemeClr val="bg1"/>
                          </a:solidFill>
                          <a:effectLst/>
                          <a:latin typeface="-apple-system"/>
                        </a:rPr>
                        <a:t>领域</a:t>
                      </a:r>
                    </a:p>
                  </a:txBody>
                  <a:tcPr marR="76200" marT="63500" marB="63500" anchor="ctr"/>
                </a:tc>
                <a:tc>
                  <a:txBody>
                    <a:bodyPr/>
                    <a:lstStyle/>
                    <a:p>
                      <a:pPr algn="l" fontAlgn="ctr"/>
                      <a:r>
                        <a:rPr lang="zh-CN" altLang="en-US" b="1" dirty="0">
                          <a:solidFill>
                            <a:schemeClr val="bg1"/>
                          </a:solidFill>
                          <a:effectLst/>
                          <a:latin typeface="-apple-system"/>
                        </a:rPr>
                        <a:t>核心挑战</a:t>
                      </a:r>
                    </a:p>
                  </a:txBody>
                  <a:tcPr marR="76200" marT="63500" marB="63500" anchor="ctr"/>
                </a:tc>
                <a:tc>
                  <a:txBody>
                    <a:bodyPr/>
                    <a:lstStyle/>
                    <a:p>
                      <a:pPr algn="l" fontAlgn="ctr"/>
                      <a:r>
                        <a:rPr lang="zh-CN" altLang="en-US" b="1" dirty="0">
                          <a:solidFill>
                            <a:schemeClr val="bg1"/>
                          </a:solidFill>
                          <a:effectLst/>
                          <a:latin typeface="-apple-system"/>
                        </a:rPr>
                        <a:t>最新进展趋势</a:t>
                      </a:r>
                    </a:p>
                  </a:txBody>
                  <a:tcPr marR="76200" marT="63500" marB="63500" anchor="ctr"/>
                </a:tc>
                <a:extLst>
                  <a:ext uri="{0D108BD9-81ED-4DB2-BD59-A6C34878D82A}">
                    <a16:rowId xmlns:a16="http://schemas.microsoft.com/office/drawing/2014/main" val="3863957356"/>
                  </a:ext>
                </a:extLst>
              </a:tr>
              <a:tr h="370840">
                <a:tc>
                  <a:txBody>
                    <a:bodyPr/>
                    <a:lstStyle/>
                    <a:p>
                      <a:pPr algn="l" fontAlgn="ctr"/>
                      <a:r>
                        <a:rPr lang="zh-CN" altLang="en-US" b="1">
                          <a:solidFill>
                            <a:srgbClr val="000000"/>
                          </a:solidFill>
                          <a:effectLst/>
                          <a:latin typeface="inherit"/>
                        </a:rPr>
                        <a:t>终身学习（基础）</a:t>
                      </a:r>
                      <a:r>
                        <a:rPr lang="zh-CN" altLang="en-US" b="0">
                          <a:solidFill>
                            <a:srgbClr val="000000"/>
                          </a:solidFill>
                          <a:effectLst/>
                          <a:latin typeface="-apple-system"/>
                        </a:rPr>
                        <a:t>​</a:t>
                      </a:r>
                    </a:p>
                  </a:txBody>
                  <a:tcPr marR="76200" marT="63500" marB="63500" anchor="ctr"/>
                </a:tc>
                <a:tc>
                  <a:txBody>
                    <a:bodyPr/>
                    <a:lstStyle/>
                    <a:p>
                      <a:pPr algn="l" fontAlgn="ctr"/>
                      <a:r>
                        <a:rPr lang="zh-CN" altLang="en-US" b="0">
                          <a:solidFill>
                            <a:srgbClr val="000000"/>
                          </a:solidFill>
                          <a:effectLst/>
                          <a:latin typeface="-apple-system"/>
                        </a:rPr>
                        <a:t>灾难性遗忘，知识迁移</a:t>
                      </a:r>
                    </a:p>
                  </a:txBody>
                  <a:tcPr marR="76200" marT="63500" marB="63500" anchor="ctr"/>
                </a:tc>
                <a:tc>
                  <a:txBody>
                    <a:bodyPr/>
                    <a:lstStyle/>
                    <a:p>
                      <a:pPr algn="l" fontAlgn="ctr"/>
                      <a:r>
                        <a:rPr lang="zh-CN" altLang="en-US" b="0" dirty="0">
                          <a:solidFill>
                            <a:srgbClr val="000000"/>
                          </a:solidFill>
                          <a:effectLst/>
                          <a:latin typeface="-apple-system"/>
                        </a:rPr>
                        <a:t>多种方法融合（回放</a:t>
                      </a:r>
                      <a:r>
                        <a:rPr lang="en-US" altLang="zh-CN" b="0" dirty="0">
                          <a:solidFill>
                            <a:srgbClr val="000000"/>
                          </a:solidFill>
                          <a:effectLst/>
                          <a:latin typeface="-apple-system"/>
                        </a:rPr>
                        <a:t>+</a:t>
                      </a:r>
                      <a:r>
                        <a:rPr lang="zh-CN" altLang="en-US" b="0" dirty="0">
                          <a:solidFill>
                            <a:srgbClr val="000000"/>
                          </a:solidFill>
                          <a:effectLst/>
                          <a:latin typeface="-apple-system"/>
                        </a:rPr>
                        <a:t>正则化</a:t>
                      </a:r>
                      <a:r>
                        <a:rPr lang="en-US" altLang="zh-CN" b="0" dirty="0">
                          <a:solidFill>
                            <a:srgbClr val="000000"/>
                          </a:solidFill>
                          <a:effectLst/>
                          <a:latin typeface="-apple-system"/>
                        </a:rPr>
                        <a:t>+</a:t>
                      </a:r>
                      <a:r>
                        <a:rPr lang="zh-CN" altLang="en-US" b="0" dirty="0">
                          <a:solidFill>
                            <a:srgbClr val="000000"/>
                          </a:solidFill>
                          <a:effectLst/>
                          <a:latin typeface="-apple-system"/>
                        </a:rPr>
                        <a:t>动态架构）</a:t>
                      </a:r>
                    </a:p>
                  </a:txBody>
                  <a:tcPr marR="76200" marT="63500" marB="63500" anchor="ctr"/>
                </a:tc>
                <a:extLst>
                  <a:ext uri="{0D108BD9-81ED-4DB2-BD59-A6C34878D82A}">
                    <a16:rowId xmlns:a16="http://schemas.microsoft.com/office/drawing/2014/main" val="1850310789"/>
                  </a:ext>
                </a:extLst>
              </a:tr>
              <a:tr h="370840">
                <a:tc>
                  <a:txBody>
                    <a:bodyPr/>
                    <a:lstStyle/>
                    <a:p>
                      <a:pPr algn="l" fontAlgn="ctr"/>
                      <a:r>
                        <a:rPr lang="zh-CN" altLang="en-US" b="1">
                          <a:solidFill>
                            <a:srgbClr val="000000"/>
                          </a:solidFill>
                          <a:effectLst/>
                          <a:latin typeface="inherit"/>
                        </a:rPr>
                        <a:t>大语言模型（</a:t>
                      </a:r>
                      <a:r>
                        <a:rPr lang="en-US" altLang="zh-CN" b="1">
                          <a:solidFill>
                            <a:srgbClr val="000000"/>
                          </a:solidFill>
                          <a:effectLst/>
                          <a:latin typeface="inherit"/>
                        </a:rPr>
                        <a:t>LLMs</a:t>
                      </a:r>
                      <a:r>
                        <a:rPr lang="zh-CN" altLang="en-US" b="1">
                          <a:solidFill>
                            <a:srgbClr val="000000"/>
                          </a:solidFill>
                          <a:effectLst/>
                          <a:latin typeface="inherit"/>
                        </a:rPr>
                        <a:t>）</a:t>
                      </a:r>
                      <a:r>
                        <a:rPr lang="zh-CN" altLang="en-US" b="0">
                          <a:solidFill>
                            <a:srgbClr val="000000"/>
                          </a:solidFill>
                          <a:effectLst/>
                          <a:latin typeface="-apple-system"/>
                        </a:rPr>
                        <a:t>​</a:t>
                      </a:r>
                    </a:p>
                  </a:txBody>
                  <a:tcPr marR="76200" marT="63500" marB="63500" anchor="ctr"/>
                </a:tc>
                <a:tc>
                  <a:txBody>
                    <a:bodyPr/>
                    <a:lstStyle/>
                    <a:p>
                      <a:pPr algn="l" fontAlgn="ctr"/>
                      <a:r>
                        <a:rPr lang="zh-CN" altLang="en-US" b="0">
                          <a:solidFill>
                            <a:srgbClr val="000000"/>
                          </a:solidFill>
                          <a:effectLst/>
                          <a:latin typeface="-apple-system"/>
                        </a:rPr>
                        <a:t>训练成本，知识更新</a:t>
                      </a:r>
                    </a:p>
                  </a:txBody>
                  <a:tcPr marR="76200" marT="63500" marB="63500" anchor="ctr"/>
                </a:tc>
                <a:tc>
                  <a:txBody>
                    <a:bodyPr/>
                    <a:lstStyle/>
                    <a:p>
                      <a:pPr algn="l" fontAlgn="ctr"/>
                      <a:r>
                        <a:rPr lang="zh-CN" altLang="en-US" b="1" dirty="0">
                          <a:solidFill>
                            <a:srgbClr val="000000"/>
                          </a:solidFill>
                          <a:effectLst/>
                          <a:latin typeface="inherit"/>
                        </a:rPr>
                        <a:t>参数高效微调（</a:t>
                      </a:r>
                      <a:r>
                        <a:rPr lang="en-US" altLang="zh-CN" b="1" dirty="0">
                          <a:solidFill>
                            <a:srgbClr val="000000"/>
                          </a:solidFill>
                          <a:effectLst/>
                          <a:latin typeface="inherit"/>
                        </a:rPr>
                        <a:t>PEFT</a:t>
                      </a:r>
                      <a:r>
                        <a:rPr lang="zh-CN" altLang="en-US" b="1" dirty="0">
                          <a:solidFill>
                            <a:srgbClr val="000000"/>
                          </a:solidFill>
                          <a:effectLst/>
                          <a:latin typeface="inherit"/>
                        </a:rPr>
                        <a:t>）</a:t>
                      </a:r>
                      <a:r>
                        <a:rPr lang="zh-CN" altLang="en-US" b="0" dirty="0">
                          <a:solidFill>
                            <a:srgbClr val="000000"/>
                          </a:solidFill>
                          <a:effectLst/>
                          <a:latin typeface="-apple-system"/>
                        </a:rPr>
                        <a:t>​ </a:t>
                      </a:r>
                      <a:r>
                        <a:rPr lang="en-US" altLang="zh-CN" b="0" dirty="0">
                          <a:solidFill>
                            <a:srgbClr val="000000"/>
                          </a:solidFill>
                          <a:effectLst/>
                          <a:latin typeface="-apple-system"/>
                        </a:rPr>
                        <a:t>+ </a:t>
                      </a:r>
                      <a:r>
                        <a:rPr lang="zh-CN" altLang="en-US" b="1" dirty="0">
                          <a:solidFill>
                            <a:srgbClr val="000000"/>
                          </a:solidFill>
                          <a:effectLst/>
                          <a:latin typeface="inherit"/>
                        </a:rPr>
                        <a:t>知识编辑</a:t>
                      </a:r>
                      <a:r>
                        <a:rPr lang="zh-CN" altLang="en-US" b="0" dirty="0">
                          <a:solidFill>
                            <a:srgbClr val="000000"/>
                          </a:solidFill>
                          <a:effectLst/>
                          <a:latin typeface="-apple-system"/>
                        </a:rPr>
                        <a:t>​ </a:t>
                      </a:r>
                      <a:r>
                        <a:rPr lang="en-US" altLang="zh-CN" b="0" dirty="0">
                          <a:solidFill>
                            <a:srgbClr val="000000"/>
                          </a:solidFill>
                          <a:effectLst/>
                          <a:latin typeface="-apple-system"/>
                        </a:rPr>
                        <a:t>+ </a:t>
                      </a:r>
                      <a:r>
                        <a:rPr lang="en-US" altLang="zh-CN" b="1" dirty="0">
                          <a:solidFill>
                            <a:srgbClr val="000000"/>
                          </a:solidFill>
                          <a:effectLst/>
                          <a:latin typeface="inherit"/>
                        </a:rPr>
                        <a:t>RAG</a:t>
                      </a:r>
                      <a:r>
                        <a:rPr lang="zh-CN" altLang="en-US" b="0" dirty="0">
                          <a:solidFill>
                            <a:srgbClr val="000000"/>
                          </a:solidFill>
                          <a:effectLst/>
                          <a:latin typeface="-apple-system"/>
                        </a:rPr>
                        <a:t>​</a:t>
                      </a:r>
                    </a:p>
                  </a:txBody>
                  <a:tcPr marR="76200" marT="63500" marB="63500" anchor="ctr"/>
                </a:tc>
                <a:extLst>
                  <a:ext uri="{0D108BD9-81ED-4DB2-BD59-A6C34878D82A}">
                    <a16:rowId xmlns:a16="http://schemas.microsoft.com/office/drawing/2014/main" val="3859411046"/>
                  </a:ext>
                </a:extLst>
              </a:tr>
              <a:tr h="370840">
                <a:tc>
                  <a:txBody>
                    <a:bodyPr/>
                    <a:lstStyle/>
                    <a:p>
                      <a:pPr algn="l" fontAlgn="ctr"/>
                      <a:r>
                        <a:rPr lang="zh-CN" altLang="en-US" b="1">
                          <a:solidFill>
                            <a:srgbClr val="000000"/>
                          </a:solidFill>
                          <a:effectLst/>
                          <a:latin typeface="inherit"/>
                        </a:rPr>
                        <a:t>智能体（</a:t>
                      </a:r>
                      <a:r>
                        <a:rPr lang="en-AU" b="1">
                          <a:solidFill>
                            <a:srgbClr val="000000"/>
                          </a:solidFill>
                          <a:effectLst/>
                          <a:latin typeface="inherit"/>
                        </a:rPr>
                        <a:t>Agents）</a:t>
                      </a:r>
                      <a:r>
                        <a:rPr lang="en-AU" b="0">
                          <a:solidFill>
                            <a:srgbClr val="000000"/>
                          </a:solidFill>
                          <a:effectLst/>
                          <a:latin typeface="-apple-system"/>
                        </a:rPr>
                        <a:t>​</a:t>
                      </a:r>
                    </a:p>
                  </a:txBody>
                  <a:tcPr marR="76200" marT="63500" marB="63500" anchor="ctr"/>
                </a:tc>
                <a:tc>
                  <a:txBody>
                    <a:bodyPr/>
                    <a:lstStyle/>
                    <a:p>
                      <a:pPr algn="l" fontAlgn="ctr"/>
                      <a:r>
                        <a:rPr lang="zh-CN" altLang="en-US" b="0">
                          <a:solidFill>
                            <a:srgbClr val="000000"/>
                          </a:solidFill>
                          <a:effectLst/>
                          <a:latin typeface="-apple-system"/>
                        </a:rPr>
                        <a:t>技能迁移，长期规划</a:t>
                      </a:r>
                    </a:p>
                  </a:txBody>
                  <a:tcPr marR="76200" marT="63500" marB="63500" anchor="ctr"/>
                </a:tc>
                <a:tc>
                  <a:txBody>
                    <a:bodyPr/>
                    <a:lstStyle/>
                    <a:p>
                      <a:pPr algn="l" fontAlgn="ctr"/>
                      <a:r>
                        <a:rPr lang="en-US" altLang="zh-CN" b="1" dirty="0">
                          <a:solidFill>
                            <a:srgbClr val="000000"/>
                          </a:solidFill>
                          <a:effectLst/>
                          <a:latin typeface="inherit"/>
                        </a:rPr>
                        <a:t>LLM</a:t>
                      </a:r>
                      <a:r>
                        <a:rPr lang="zh-CN" altLang="en-US" b="1" dirty="0">
                          <a:solidFill>
                            <a:srgbClr val="000000"/>
                          </a:solidFill>
                          <a:effectLst/>
                          <a:latin typeface="inherit"/>
                        </a:rPr>
                        <a:t>作为核心控制器</a:t>
                      </a:r>
                      <a:r>
                        <a:rPr lang="zh-CN" altLang="en-US" b="0" dirty="0">
                          <a:solidFill>
                            <a:srgbClr val="000000"/>
                          </a:solidFill>
                          <a:effectLst/>
                          <a:latin typeface="-apple-system"/>
                        </a:rPr>
                        <a:t>​ </a:t>
                      </a:r>
                      <a:r>
                        <a:rPr lang="en-US" altLang="zh-CN" b="0" dirty="0">
                          <a:solidFill>
                            <a:srgbClr val="000000"/>
                          </a:solidFill>
                          <a:effectLst/>
                          <a:latin typeface="-apple-system"/>
                        </a:rPr>
                        <a:t>+ </a:t>
                      </a:r>
                      <a:r>
                        <a:rPr lang="zh-CN" altLang="en-US" b="1" dirty="0">
                          <a:solidFill>
                            <a:srgbClr val="000000"/>
                          </a:solidFill>
                          <a:effectLst/>
                          <a:latin typeface="inherit"/>
                        </a:rPr>
                        <a:t>分层强化学习</a:t>
                      </a:r>
                      <a:r>
                        <a:rPr lang="zh-CN" altLang="en-US" b="0" dirty="0">
                          <a:solidFill>
                            <a:srgbClr val="000000"/>
                          </a:solidFill>
                          <a:effectLst/>
                          <a:latin typeface="-apple-system"/>
                        </a:rPr>
                        <a:t>​ </a:t>
                      </a:r>
                      <a:r>
                        <a:rPr lang="en-US" altLang="zh-CN" b="0" dirty="0">
                          <a:solidFill>
                            <a:srgbClr val="000000"/>
                          </a:solidFill>
                          <a:effectLst/>
                          <a:latin typeface="-apple-system"/>
                        </a:rPr>
                        <a:t>+ </a:t>
                      </a:r>
                      <a:r>
                        <a:rPr lang="zh-CN" altLang="en-US" b="1" dirty="0">
                          <a:solidFill>
                            <a:srgbClr val="000000"/>
                          </a:solidFill>
                          <a:effectLst/>
                          <a:latin typeface="inherit"/>
                        </a:rPr>
                        <a:t>系统化记忆模块</a:t>
                      </a:r>
                      <a:endParaRPr lang="zh-CN" altLang="en-US" b="0" dirty="0">
                        <a:solidFill>
                          <a:srgbClr val="000000"/>
                        </a:solidFill>
                        <a:effectLst/>
                        <a:latin typeface="-apple-system"/>
                      </a:endParaRPr>
                    </a:p>
                  </a:txBody>
                  <a:tcPr marR="76200" marT="63500" marB="63500" anchor="ctr"/>
                </a:tc>
                <a:extLst>
                  <a:ext uri="{0D108BD9-81ED-4DB2-BD59-A6C34878D82A}">
                    <a16:rowId xmlns:a16="http://schemas.microsoft.com/office/drawing/2014/main" val="3001085679"/>
                  </a:ext>
                </a:extLst>
              </a:tr>
            </a:tbl>
          </a:graphicData>
        </a:graphic>
      </p:graphicFrame>
    </p:spTree>
    <p:extLst>
      <p:ext uri="{BB962C8B-B14F-4D97-AF65-F5344CB8AC3E}">
        <p14:creationId xmlns:p14="http://schemas.microsoft.com/office/powerpoint/2010/main" val="290021082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a:extLst>
              <a:ext uri="{FF2B5EF4-FFF2-40B4-BE49-F238E27FC236}">
                <a16:creationId xmlns:a16="http://schemas.microsoft.com/office/drawing/2014/main" id="{65F00DDA-B7B7-4934-9E9C-B0B883A4FE65}"/>
              </a:ext>
            </a:extLst>
          </p:cNvPr>
          <p:cNvSpPr/>
          <p:nvPr/>
        </p:nvSpPr>
        <p:spPr>
          <a:xfrm>
            <a:off x="4876800" y="3048003"/>
            <a:ext cx="3048000" cy="646331"/>
          </a:xfrm>
          <a:prstGeom prst="rect">
            <a:avLst/>
          </a:prstGeom>
        </p:spPr>
        <p:txBody>
          <a:bodyPr wrap="square">
            <a:spAutoFit/>
          </a:bodyPr>
          <a:lstStyle/>
          <a:p>
            <a:r>
              <a:rPr lang="zh-CN" altLang="en-US" sz="3600" dirty="0">
                <a:latin typeface="华文楷体" panose="02010600040101010101" pitchFamily="2" charset="-122"/>
                <a:ea typeface="华文楷体" panose="02010600040101010101" pitchFamily="2" charset="-122"/>
              </a:rPr>
              <a:t>谢  谢</a:t>
            </a:r>
            <a:endParaRPr lang="en-US" altLang="zh-CN" sz="36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78499742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y">
  <a:themeElements>
    <a:clrScheme name="qxp">
      <a:dk1>
        <a:srgbClr val="2A4A75"/>
      </a:dk1>
      <a:lt1>
        <a:sysClr val="window" lastClr="FFFFFF"/>
      </a:lt1>
      <a:dk2>
        <a:srgbClr val="2A4A75"/>
      </a:dk2>
      <a:lt2>
        <a:srgbClr val="DEF5FA"/>
      </a:lt2>
      <a:accent1>
        <a:srgbClr val="1C314E"/>
      </a:accent1>
      <a:accent2>
        <a:srgbClr val="EB641B"/>
      </a:accent2>
      <a:accent3>
        <a:srgbClr val="DA1F28"/>
      </a:accent3>
      <a:accent4>
        <a:srgbClr val="39639D"/>
      </a:accent4>
      <a:accent5>
        <a:srgbClr val="474B78"/>
      </a:accent5>
      <a:accent6>
        <a:srgbClr val="7D3C4A"/>
      </a:accent6>
      <a:hlink>
        <a:srgbClr val="FF8119"/>
      </a:hlink>
      <a:folHlink>
        <a:srgbClr val="44B9E8"/>
      </a:folHlink>
    </a:clrScheme>
    <a:fontScheme name="myfont">
      <a:majorFont>
        <a:latin typeface="Helvetica"/>
        <a:ea typeface="微软雅黑"/>
        <a:cs typeface=""/>
      </a:majorFont>
      <a:minorFont>
        <a:latin typeface="Times New Roman"/>
        <a:ea typeface="华文楷体"/>
        <a:cs typeface=""/>
      </a:minorFont>
    </a:fontScheme>
    <a:fmtScheme name="质朴">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spDef>
      <a:spPr/>
      <a:bodyPr wrap="none">
        <a:spAutoFit/>
      </a:bodyPr>
      <a:lstStyle>
        <a:defPPr>
          <a:defRPr sz="2400" dirty="0"/>
        </a:defPPr>
      </a:lstStyle>
    </a:spDef>
  </a:objectDefaults>
  <a:extraClrSchemeLst/>
  <a:extLst>
    <a:ext uri="{05A4C25C-085E-4340-85A3-A5531E510DB2}">
      <thm15:themeFamily xmlns:thm15="http://schemas.microsoft.com/office/thememl/2012/main" name="my" id="{5DDFF489-810C-4640-A13F-DDD18827279A}" vid="{1ADADE9B-649E-4437-BF06-95F7A2A146D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my</Template>
  <TotalTime>18592</TotalTime>
  <Words>2962</Words>
  <Application>Microsoft Office PowerPoint</Application>
  <PresentationFormat>宽屏</PresentationFormat>
  <Paragraphs>205</Paragraphs>
  <Slides>31</Slides>
  <Notes>16</Notes>
  <HiddenSlides>5</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31</vt:i4>
      </vt:variant>
    </vt:vector>
  </HeadingPairs>
  <TitlesOfParts>
    <vt:vector size="45" baseType="lpstr">
      <vt:lpstr>-apple-system</vt:lpstr>
      <vt:lpstr>inherit</vt:lpstr>
      <vt:lpstr>PingFang SC</vt:lpstr>
      <vt:lpstr>华文楷体</vt:lpstr>
      <vt:lpstr>Microsoft YaHei</vt:lpstr>
      <vt:lpstr>Arial</vt:lpstr>
      <vt:lpstr>Calibri</vt:lpstr>
      <vt:lpstr>Cambria</vt:lpstr>
      <vt:lpstr>Cambria Math</vt:lpstr>
      <vt:lpstr>Helvetica</vt:lpstr>
      <vt:lpstr>Times New Roman</vt:lpstr>
      <vt:lpstr>Wingdings</vt:lpstr>
      <vt:lpstr>Wingdings 3</vt:lpstr>
      <vt:lpstr>my</vt:lpstr>
      <vt:lpstr>模型独立的学习方式</vt:lpstr>
      <vt:lpstr>内容</vt:lpstr>
      <vt:lpstr>集成学习（Ensemble Learning）</vt:lpstr>
      <vt:lpstr>集成方式</vt:lpstr>
      <vt:lpstr>随机森林</vt:lpstr>
      <vt:lpstr>集成方式</vt:lpstr>
      <vt:lpstr>Adaboost</vt:lpstr>
      <vt:lpstr>Adaboost：步骤</vt:lpstr>
      <vt:lpstr>Adaboost：步骤</vt:lpstr>
      <vt:lpstr>Adaboost：步骤</vt:lpstr>
      <vt:lpstr>Adaboost：步骤</vt:lpstr>
      <vt:lpstr>Adaboost</vt:lpstr>
      <vt:lpstr>AdaBoost</vt:lpstr>
      <vt:lpstr>自训练（Self-training）</vt:lpstr>
      <vt:lpstr>协同训练（Co-Training）</vt:lpstr>
      <vt:lpstr>多任务学习（Multitask Learning）</vt:lpstr>
      <vt:lpstr>多任务学习（Multitask Learning）</vt:lpstr>
      <vt:lpstr>PowerPoint 演示文稿</vt:lpstr>
      <vt:lpstr>迁移学习（Transfer Learning）</vt:lpstr>
      <vt:lpstr>元学习（Meta Learning/Learning to Learn）</vt:lpstr>
      <vt:lpstr>元学习</vt:lpstr>
      <vt:lpstr>基于度量的方法（小样本学习）</vt:lpstr>
      <vt:lpstr>基于优化器的元学习</vt:lpstr>
      <vt:lpstr>模型无关的元学习（MAML）</vt:lpstr>
      <vt:lpstr>模型无关的元学习（MAML）</vt:lpstr>
      <vt:lpstr>模型无关的元学习（MAML）</vt:lpstr>
      <vt:lpstr>终身学习（Lifelong Learning）/持续学习（Continuous Learning）</vt:lpstr>
      <vt:lpstr>终身学习（Lifelong Learning）/持续学习（Continuous Learning）</vt:lpstr>
      <vt:lpstr>终身学习</vt:lpstr>
      <vt:lpstr>终身学习</vt:lpstr>
      <vt:lpstr>PowerPoint 演示文稿</vt:lpstr>
    </vt:vector>
  </TitlesOfParts>
  <Company>Hewlett-Packard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Branding Roadmap Template</dc:title>
  <dc:creator>Xipeng Qiu</dc:creator>
  <cp:lastModifiedBy>Yuanyuan Dang</cp:lastModifiedBy>
  <cp:revision>2033</cp:revision>
  <dcterms:created xsi:type="dcterms:W3CDTF">2009-03-19T21:17:53Z</dcterms:created>
  <dcterms:modified xsi:type="dcterms:W3CDTF">2025-11-13T12:21:30Z</dcterms:modified>
</cp:coreProperties>
</file>