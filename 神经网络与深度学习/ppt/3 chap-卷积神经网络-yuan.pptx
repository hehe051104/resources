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39"/>
  </p:notesMasterIdLst>
  <p:handoutMasterIdLst>
    <p:handoutMasterId r:id="rId40"/>
  </p:handoutMasterIdLst>
  <p:sldIdLst>
    <p:sldId id="256" r:id="rId2"/>
    <p:sldId id="1250" r:id="rId3"/>
    <p:sldId id="491" r:id="rId4"/>
    <p:sldId id="1236" r:id="rId5"/>
    <p:sldId id="1247" r:id="rId6"/>
    <p:sldId id="492" r:id="rId7"/>
    <p:sldId id="497" r:id="rId8"/>
    <p:sldId id="493" r:id="rId9"/>
    <p:sldId id="494" r:id="rId10"/>
    <p:sldId id="495" r:id="rId11"/>
    <p:sldId id="496" r:id="rId12"/>
    <p:sldId id="1251" r:id="rId13"/>
    <p:sldId id="448" r:id="rId14"/>
    <p:sldId id="449" r:id="rId15"/>
    <p:sldId id="1252" r:id="rId16"/>
    <p:sldId id="1254" r:id="rId17"/>
    <p:sldId id="1255" r:id="rId18"/>
    <p:sldId id="1259" r:id="rId19"/>
    <p:sldId id="1256" r:id="rId20"/>
    <p:sldId id="1257" r:id="rId21"/>
    <p:sldId id="1258" r:id="rId22"/>
    <p:sldId id="1260" r:id="rId23"/>
    <p:sldId id="1253" r:id="rId24"/>
    <p:sldId id="460" r:id="rId25"/>
    <p:sldId id="1261" r:id="rId26"/>
    <p:sldId id="464" r:id="rId27"/>
    <p:sldId id="465" r:id="rId28"/>
    <p:sldId id="467" r:id="rId29"/>
    <p:sldId id="1262" r:id="rId30"/>
    <p:sldId id="1264" r:id="rId31"/>
    <p:sldId id="1265" r:id="rId32"/>
    <p:sldId id="485" r:id="rId33"/>
    <p:sldId id="1263" r:id="rId34"/>
    <p:sldId id="1237" r:id="rId35"/>
    <p:sldId id="486" r:id="rId36"/>
    <p:sldId id="487" r:id="rId37"/>
    <p:sldId id="1241" r:id="rId3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93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71" autoAdjust="0"/>
    <p:restoredTop sz="57330" autoAdjust="0"/>
  </p:normalViewPr>
  <p:slideViewPr>
    <p:cSldViewPr>
      <p:cViewPr varScale="1">
        <p:scale>
          <a:sx n="92" d="100"/>
          <a:sy n="92" d="100"/>
        </p:scale>
        <p:origin x="3084" y="90"/>
      </p:cViewPr>
      <p:guideLst>
        <p:guide orient="horz" pos="2160"/>
        <p:guide pos="3936"/>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102" d="100"/>
          <a:sy n="102" d="100"/>
        </p:scale>
        <p:origin x="4334" y="55"/>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96176756-1D84-40BE-BBC2-9D9E88962B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580B581B-B362-47A9-84FD-D10D429109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3CF637-D798-4BBC-9141-6A280E3CD7C4}" type="datetimeFigureOut">
              <a:rPr lang="zh-CN" altLang="en-US" smtClean="0"/>
              <a:t>2025/3/10</a:t>
            </a:fld>
            <a:endParaRPr lang="zh-CN" altLang="en-US"/>
          </a:p>
        </p:txBody>
      </p:sp>
      <p:sp>
        <p:nvSpPr>
          <p:cNvPr id="4" name="页脚占位符 3">
            <a:extLst>
              <a:ext uri="{FF2B5EF4-FFF2-40B4-BE49-F238E27FC236}">
                <a16:creationId xmlns:a16="http://schemas.microsoft.com/office/drawing/2014/main" id="{548E0FAD-BA54-4317-82A7-821BD2DB671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07673956-D710-444D-96A4-BFE2C496BF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B930D8-539D-481A-95F9-56B6ACD05C10}" type="slidenum">
              <a:rPr lang="zh-CN" altLang="en-US" smtClean="0"/>
              <a:t>‹#›</a:t>
            </a:fld>
            <a:endParaRPr lang="zh-CN" altLang="en-US"/>
          </a:p>
        </p:txBody>
      </p:sp>
    </p:spTree>
    <p:extLst>
      <p:ext uri="{BB962C8B-B14F-4D97-AF65-F5344CB8AC3E}">
        <p14:creationId xmlns:p14="http://schemas.microsoft.com/office/powerpoint/2010/main" val="21210476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panose="020F0502020204030204" pitchFamily="34" charset="0"/>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defRPr>
            </a:lvl1pPr>
          </a:lstStyle>
          <a:p>
            <a:pPr>
              <a:defRPr/>
            </a:pPr>
            <a:fld id="{683E5292-C197-4B29-8ABD-C7AEB5E0B154}" type="datetimeFigureOut">
              <a:rPr lang="en-US" altLang="zh-CN"/>
              <a:pPr>
                <a:defRPr/>
              </a:pPr>
              <a:t>3/10/2025</a:t>
            </a:fld>
            <a:endParaRPr lang="en-US" altLang="zh-C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anose="020F0502020204030204" pitchFamily="34" charset="0"/>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B4C119E0-CEE4-4FF8-83B2-DC856A2C17CC}" type="slidenum">
              <a:rPr lang="en-US" altLang="zh-CN"/>
              <a:pPr>
                <a:defRPr/>
              </a:pPr>
              <a:t>‹#›</a:t>
            </a:fld>
            <a:endParaRPr lang="en-US" altLang="zh-CN"/>
          </a:p>
        </p:txBody>
      </p:sp>
    </p:spTree>
    <p:extLst>
      <p:ext uri="{BB962C8B-B14F-4D97-AF65-F5344CB8AC3E}">
        <p14:creationId xmlns:p14="http://schemas.microsoft.com/office/powerpoint/2010/main" val="6448963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papers.nips.cc/paper/4824-imagenet-classification-with-deep-convolutional-neural-networks" TargetMode="External"/><Relationship Id="rId2" Type="http://schemas.openxmlformats.org/officeDocument/2006/relationships/slide" Target="../slides/slide28.xml"/><Relationship Id="rId1" Type="http://schemas.openxmlformats.org/officeDocument/2006/relationships/notesMaster" Target="../notesMasters/notesMaster1.xml"/><Relationship Id="rId4" Type="http://schemas.openxmlformats.org/officeDocument/2006/relationships/hyperlink" Target="http://www.image-net.org/challenges/LSVRC/2014/"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arxiv.org/abs/1512.03385"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http://arxiv.org/abs/1502.03167"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1</a:t>
            </a:fld>
            <a:endParaRPr lang="en-US" altLang="zh-CN"/>
          </a:p>
        </p:txBody>
      </p:sp>
    </p:spTree>
    <p:extLst>
      <p:ext uri="{BB962C8B-B14F-4D97-AF65-F5344CB8AC3E}">
        <p14:creationId xmlns:p14="http://schemas.microsoft.com/office/powerpoint/2010/main" val="909393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3</a:t>
            </a:fld>
            <a:endParaRPr lang="en-US" altLang="zh-CN"/>
          </a:p>
        </p:txBody>
      </p:sp>
    </p:spTree>
    <p:extLst>
      <p:ext uri="{BB962C8B-B14F-4D97-AF65-F5344CB8AC3E}">
        <p14:creationId xmlns:p14="http://schemas.microsoft.com/office/powerpoint/2010/main" val="4088100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13</a:t>
            </a:fld>
            <a:endParaRPr lang="en-US" altLang="zh-CN"/>
          </a:p>
        </p:txBody>
      </p:sp>
    </p:spTree>
    <p:extLst>
      <p:ext uri="{BB962C8B-B14F-4D97-AF65-F5344CB8AC3E}">
        <p14:creationId xmlns:p14="http://schemas.microsoft.com/office/powerpoint/2010/main" val="2873601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14</a:t>
            </a:fld>
            <a:endParaRPr lang="en-US" altLang="zh-CN"/>
          </a:p>
        </p:txBody>
      </p:sp>
    </p:spTree>
    <p:extLst>
      <p:ext uri="{BB962C8B-B14F-4D97-AF65-F5344CB8AC3E}">
        <p14:creationId xmlns:p14="http://schemas.microsoft.com/office/powerpoint/2010/main" val="3751582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i="0" dirty="0">
              <a:solidFill>
                <a:srgbClr val="000000"/>
              </a:solidFill>
              <a:effectLst/>
              <a:latin typeface="Roboto" panose="02000000000000000000" pitchFamily="2" charset="0"/>
            </a:endParaRPr>
          </a:p>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15</a:t>
            </a:fld>
            <a:endParaRPr lang="en-US" altLang="zh-CN"/>
          </a:p>
        </p:txBody>
      </p:sp>
    </p:spTree>
    <p:extLst>
      <p:ext uri="{BB962C8B-B14F-4D97-AF65-F5344CB8AC3E}">
        <p14:creationId xmlns:p14="http://schemas.microsoft.com/office/powerpoint/2010/main" val="35951537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16</a:t>
            </a:fld>
            <a:endParaRPr lang="en-US" altLang="zh-CN"/>
          </a:p>
        </p:txBody>
      </p:sp>
    </p:spTree>
    <p:extLst>
      <p:ext uri="{BB962C8B-B14F-4D97-AF65-F5344CB8AC3E}">
        <p14:creationId xmlns:p14="http://schemas.microsoft.com/office/powerpoint/2010/main" val="1073495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17</a:t>
            </a:fld>
            <a:endParaRPr lang="en-US" altLang="zh-CN"/>
          </a:p>
        </p:txBody>
      </p:sp>
    </p:spTree>
    <p:extLst>
      <p:ext uri="{BB962C8B-B14F-4D97-AF65-F5344CB8AC3E}">
        <p14:creationId xmlns:p14="http://schemas.microsoft.com/office/powerpoint/2010/main" val="2392175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18</a:t>
            </a:fld>
            <a:endParaRPr lang="en-US" altLang="zh-CN"/>
          </a:p>
        </p:txBody>
      </p:sp>
    </p:spTree>
    <p:extLst>
      <p:ext uri="{BB962C8B-B14F-4D97-AF65-F5344CB8AC3E}">
        <p14:creationId xmlns:p14="http://schemas.microsoft.com/office/powerpoint/2010/main" val="1864001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19</a:t>
            </a:fld>
            <a:endParaRPr lang="en-US" altLang="zh-CN"/>
          </a:p>
        </p:txBody>
      </p:sp>
    </p:spTree>
    <p:extLst>
      <p:ext uri="{BB962C8B-B14F-4D97-AF65-F5344CB8AC3E}">
        <p14:creationId xmlns:p14="http://schemas.microsoft.com/office/powerpoint/2010/main" val="7751052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b="0" i="0" dirty="0">
              <a:solidFill>
                <a:srgbClr val="000000"/>
              </a:solidFill>
              <a:effectLst/>
              <a:latin typeface="Roboto" panose="02000000000000000000" pitchFamily="2" charset="0"/>
            </a:endParaRPr>
          </a:p>
          <a:p>
            <a:endParaRPr lang="en-US" altLang="zh-CN" b="0" i="0" dirty="0">
              <a:solidFill>
                <a:srgbClr val="000000"/>
              </a:solidFill>
              <a:effectLst/>
              <a:latin typeface="Roboto" panose="02000000000000000000" pitchFamily="2" charset="0"/>
            </a:endParaRPr>
          </a:p>
          <a:p>
            <a:endParaRPr lang="en-US" altLang="zh-CN" b="0" i="0" dirty="0">
              <a:solidFill>
                <a:srgbClr val="000000"/>
              </a:solidFill>
              <a:effectLst/>
              <a:latin typeface="Roboto" panose="02000000000000000000" pitchFamily="2" charset="0"/>
            </a:endParaRPr>
          </a:p>
          <a:p>
            <a:endParaRPr lang="en-US" altLang="zh-CN" b="0" i="0" dirty="0">
              <a:solidFill>
                <a:srgbClr val="000000"/>
              </a:solidFill>
              <a:effectLst/>
              <a:latin typeface="Roboto" panose="02000000000000000000" pitchFamily="2" charset="0"/>
            </a:endParaRPr>
          </a:p>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20</a:t>
            </a:fld>
            <a:endParaRPr lang="en-US" altLang="zh-CN"/>
          </a:p>
        </p:txBody>
      </p:sp>
    </p:spTree>
    <p:extLst>
      <p:ext uri="{BB962C8B-B14F-4D97-AF65-F5344CB8AC3E}">
        <p14:creationId xmlns:p14="http://schemas.microsoft.com/office/powerpoint/2010/main" val="854232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endParaRPr lang="en-US" altLang="zh-CN" b="0" i="0" dirty="0">
              <a:solidFill>
                <a:srgbClr val="575651"/>
              </a:solidFill>
              <a:effectLst/>
              <a:latin typeface="Roboto" panose="02000000000000000000" pitchFamily="2" charset="0"/>
            </a:endParaRPr>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21</a:t>
            </a:fld>
            <a:endParaRPr lang="en-US" altLang="zh-CN"/>
          </a:p>
        </p:txBody>
      </p:sp>
    </p:spTree>
    <p:extLst>
      <p:ext uri="{BB962C8B-B14F-4D97-AF65-F5344CB8AC3E}">
        <p14:creationId xmlns:p14="http://schemas.microsoft.com/office/powerpoint/2010/main" val="3843517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22</a:t>
            </a:fld>
            <a:endParaRPr lang="en-US" altLang="zh-CN"/>
          </a:p>
        </p:txBody>
      </p:sp>
    </p:spTree>
    <p:extLst>
      <p:ext uri="{BB962C8B-B14F-4D97-AF65-F5344CB8AC3E}">
        <p14:creationId xmlns:p14="http://schemas.microsoft.com/office/powerpoint/2010/main" val="26580019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23</a:t>
            </a:fld>
            <a:endParaRPr lang="en-US" altLang="zh-CN"/>
          </a:p>
        </p:txBody>
      </p:sp>
    </p:spTree>
    <p:extLst>
      <p:ext uri="{BB962C8B-B14F-4D97-AF65-F5344CB8AC3E}">
        <p14:creationId xmlns:p14="http://schemas.microsoft.com/office/powerpoint/2010/main" val="4073306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24</a:t>
            </a:fld>
            <a:endParaRPr lang="en-US" altLang="zh-CN"/>
          </a:p>
        </p:txBody>
      </p:sp>
    </p:spTree>
    <p:extLst>
      <p:ext uri="{BB962C8B-B14F-4D97-AF65-F5344CB8AC3E}">
        <p14:creationId xmlns:p14="http://schemas.microsoft.com/office/powerpoint/2010/main" val="2034866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25</a:t>
            </a:fld>
            <a:endParaRPr lang="en-US" altLang="zh-CN"/>
          </a:p>
        </p:txBody>
      </p:sp>
    </p:spTree>
    <p:extLst>
      <p:ext uri="{BB962C8B-B14F-4D97-AF65-F5344CB8AC3E}">
        <p14:creationId xmlns:p14="http://schemas.microsoft.com/office/powerpoint/2010/main" val="8124277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27</a:t>
            </a:fld>
            <a:endParaRPr lang="en-US" altLang="zh-CN"/>
          </a:p>
        </p:txBody>
      </p:sp>
    </p:spTree>
    <p:extLst>
      <p:ext uri="{BB962C8B-B14F-4D97-AF65-F5344CB8AC3E}">
        <p14:creationId xmlns:p14="http://schemas.microsoft.com/office/powerpoint/2010/main" val="132945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Roboto" panose="02000000000000000000" pitchFamily="2" charset="0"/>
              </a:rPr>
              <a:t>在计算机视觉中普及卷积网络的第一项工作是由 </a:t>
            </a:r>
            <a:r>
              <a:rPr lang="en-US" altLang="zh-CN" b="0" i="0" dirty="0">
                <a:solidFill>
                  <a:srgbClr val="000000"/>
                </a:solidFill>
                <a:effectLst/>
                <a:latin typeface="Roboto" panose="02000000000000000000" pitchFamily="2" charset="0"/>
              </a:rPr>
              <a:t>Alex </a:t>
            </a:r>
            <a:r>
              <a:rPr lang="en-US" altLang="zh-CN" b="0" i="0" dirty="0" err="1">
                <a:solidFill>
                  <a:srgbClr val="000000"/>
                </a:solidFill>
                <a:effectLst/>
                <a:latin typeface="Roboto" panose="02000000000000000000" pitchFamily="2" charset="0"/>
              </a:rPr>
              <a:t>Krizhevsky</a:t>
            </a:r>
            <a:r>
              <a:rPr lang="zh-CN" altLang="en-US" b="0" i="0" dirty="0">
                <a:solidFill>
                  <a:srgbClr val="000000"/>
                </a:solidFill>
                <a:effectLst/>
                <a:latin typeface="Roboto" panose="02000000000000000000" pitchFamily="2" charset="0"/>
              </a:rPr>
              <a:t>、</a:t>
            </a:r>
            <a:r>
              <a:rPr lang="en-US" altLang="zh-CN" b="0" i="0" dirty="0">
                <a:solidFill>
                  <a:srgbClr val="000000"/>
                </a:solidFill>
                <a:effectLst/>
                <a:latin typeface="Roboto" panose="02000000000000000000" pitchFamily="2" charset="0"/>
              </a:rPr>
              <a:t>Ilya </a:t>
            </a:r>
            <a:r>
              <a:rPr lang="en-US" altLang="zh-CN" b="0" i="0" dirty="0" err="1">
                <a:solidFill>
                  <a:srgbClr val="000000"/>
                </a:solidFill>
                <a:effectLst/>
                <a:latin typeface="Roboto" panose="02000000000000000000" pitchFamily="2" charset="0"/>
              </a:rPr>
              <a:t>Sutskever</a:t>
            </a:r>
            <a:r>
              <a:rPr lang="en-US" altLang="zh-CN" b="0" i="0" dirty="0">
                <a:solidFill>
                  <a:srgbClr val="000000"/>
                </a:solidFill>
                <a:effectLst/>
                <a:latin typeface="Roboto" panose="02000000000000000000" pitchFamily="2" charset="0"/>
              </a:rPr>
              <a:t> </a:t>
            </a:r>
            <a:r>
              <a:rPr lang="zh-CN" altLang="en-US" b="0" i="0" dirty="0">
                <a:solidFill>
                  <a:srgbClr val="000000"/>
                </a:solidFill>
                <a:effectLst/>
                <a:latin typeface="Roboto" panose="02000000000000000000" pitchFamily="2" charset="0"/>
              </a:rPr>
              <a:t>和 </a:t>
            </a:r>
            <a:r>
              <a:rPr lang="en-US" altLang="zh-CN" b="0" i="0" dirty="0">
                <a:solidFill>
                  <a:srgbClr val="000000"/>
                </a:solidFill>
                <a:effectLst/>
                <a:latin typeface="Roboto" panose="02000000000000000000" pitchFamily="2" charset="0"/>
              </a:rPr>
              <a:t>Geoff Hinton </a:t>
            </a:r>
            <a:r>
              <a:rPr lang="zh-CN" altLang="en-US" b="0" i="0" dirty="0">
                <a:solidFill>
                  <a:srgbClr val="000000"/>
                </a:solidFill>
                <a:effectLst/>
                <a:latin typeface="Roboto" panose="02000000000000000000" pitchFamily="2" charset="0"/>
              </a:rPr>
              <a:t>开发的 </a:t>
            </a:r>
            <a:r>
              <a:rPr lang="en-US" altLang="zh-CN" b="0" i="0" u="none" strike="noStrike" dirty="0" err="1">
                <a:solidFill>
                  <a:srgbClr val="2A7AE2"/>
                </a:solidFill>
                <a:effectLst/>
                <a:latin typeface="Roboto" panose="02000000000000000000" pitchFamily="2" charset="0"/>
                <a:hlinkClick r:id="rId3"/>
              </a:rPr>
              <a:t>AlexNet</a:t>
            </a:r>
            <a:r>
              <a:rPr lang="zh-CN" altLang="en-US" b="0" i="0" dirty="0">
                <a:solidFill>
                  <a:srgbClr val="000000"/>
                </a:solidFill>
                <a:effectLst/>
                <a:latin typeface="Roboto" panose="02000000000000000000" pitchFamily="2" charset="0"/>
              </a:rPr>
              <a:t>。</a:t>
            </a:r>
            <a:r>
              <a:rPr lang="en-US" altLang="zh-CN" b="0" i="0" dirty="0" err="1">
                <a:solidFill>
                  <a:srgbClr val="000000"/>
                </a:solidFill>
                <a:effectLst/>
                <a:latin typeface="Roboto" panose="02000000000000000000" pitchFamily="2" charset="0"/>
              </a:rPr>
              <a:t>AlexNet</a:t>
            </a:r>
            <a:r>
              <a:rPr lang="en-US" altLang="zh-CN" b="0" i="0" dirty="0">
                <a:solidFill>
                  <a:srgbClr val="000000"/>
                </a:solidFill>
                <a:effectLst/>
                <a:latin typeface="Roboto" panose="02000000000000000000" pitchFamily="2" charset="0"/>
              </a:rPr>
              <a:t> </a:t>
            </a:r>
            <a:r>
              <a:rPr lang="zh-CN" altLang="en-US" b="0" i="0" dirty="0">
                <a:solidFill>
                  <a:srgbClr val="000000"/>
                </a:solidFill>
                <a:effectLst/>
                <a:latin typeface="Roboto" panose="02000000000000000000" pitchFamily="2" charset="0"/>
              </a:rPr>
              <a:t>于 </a:t>
            </a:r>
            <a:r>
              <a:rPr lang="en-US" altLang="zh-CN" b="0" i="0" dirty="0">
                <a:solidFill>
                  <a:srgbClr val="000000"/>
                </a:solidFill>
                <a:effectLst/>
                <a:latin typeface="Roboto" panose="02000000000000000000" pitchFamily="2" charset="0"/>
              </a:rPr>
              <a:t>2012 </a:t>
            </a:r>
            <a:r>
              <a:rPr lang="zh-CN" altLang="en-US" b="0" i="0" dirty="0">
                <a:solidFill>
                  <a:srgbClr val="000000"/>
                </a:solidFill>
                <a:effectLst/>
                <a:latin typeface="Roboto" panose="02000000000000000000" pitchFamily="2" charset="0"/>
              </a:rPr>
              <a:t>年参加了 </a:t>
            </a:r>
            <a:r>
              <a:rPr lang="en-US" altLang="zh-CN" b="0" i="0" u="none" strike="noStrike" dirty="0">
                <a:solidFill>
                  <a:srgbClr val="2A7AE2"/>
                </a:solidFill>
                <a:effectLst/>
                <a:latin typeface="Roboto" panose="02000000000000000000" pitchFamily="2" charset="0"/>
                <a:hlinkClick r:id="rId4"/>
              </a:rPr>
              <a:t>ImageNet ILSVRC </a:t>
            </a:r>
            <a:r>
              <a:rPr lang="zh-CN" altLang="en-US" b="0" i="0" u="none" strike="noStrike" dirty="0">
                <a:solidFill>
                  <a:srgbClr val="2A7AE2"/>
                </a:solidFill>
                <a:effectLst/>
                <a:latin typeface="Roboto" panose="02000000000000000000" pitchFamily="2" charset="0"/>
                <a:hlinkClick r:id="rId4"/>
              </a:rPr>
              <a:t>挑战赛</a:t>
            </a:r>
            <a:r>
              <a:rPr lang="zh-CN" altLang="en-US" b="0" i="0" dirty="0">
                <a:solidFill>
                  <a:srgbClr val="000000"/>
                </a:solidFill>
                <a:effectLst/>
                <a:latin typeface="Roboto" panose="02000000000000000000" pitchFamily="2" charset="0"/>
              </a:rPr>
              <a:t>，其性能明显优于季军（前 </a:t>
            </a:r>
            <a:r>
              <a:rPr lang="en-US" altLang="zh-CN" b="0" i="0" dirty="0">
                <a:solidFill>
                  <a:srgbClr val="000000"/>
                </a:solidFill>
                <a:effectLst/>
                <a:latin typeface="Roboto" panose="02000000000000000000" pitchFamily="2" charset="0"/>
              </a:rPr>
              <a:t>5 </a:t>
            </a:r>
            <a:r>
              <a:rPr lang="zh-CN" altLang="en-US" b="0" i="0" dirty="0">
                <a:solidFill>
                  <a:srgbClr val="000000"/>
                </a:solidFill>
                <a:effectLst/>
                <a:latin typeface="Roboto" panose="02000000000000000000" pitchFamily="2" charset="0"/>
              </a:rPr>
              <a:t>名误差为 </a:t>
            </a:r>
            <a:r>
              <a:rPr lang="en-US" altLang="zh-CN" b="0" i="0" dirty="0">
                <a:solidFill>
                  <a:srgbClr val="000000"/>
                </a:solidFill>
                <a:effectLst/>
                <a:latin typeface="Roboto" panose="02000000000000000000" pitchFamily="2" charset="0"/>
              </a:rPr>
              <a:t>16%</a:t>
            </a:r>
            <a:r>
              <a:rPr lang="zh-CN" altLang="en-US" b="0" i="0" dirty="0">
                <a:solidFill>
                  <a:srgbClr val="000000"/>
                </a:solidFill>
                <a:effectLst/>
                <a:latin typeface="Roboto" panose="02000000000000000000" pitchFamily="2" charset="0"/>
              </a:rPr>
              <a:t>，而亚军为 </a:t>
            </a:r>
            <a:r>
              <a:rPr lang="en-US" altLang="zh-CN" b="0" i="0" dirty="0">
                <a:solidFill>
                  <a:srgbClr val="000000"/>
                </a:solidFill>
                <a:effectLst/>
                <a:latin typeface="Roboto" panose="02000000000000000000" pitchFamily="2" charset="0"/>
              </a:rPr>
              <a:t>26% </a:t>
            </a:r>
            <a:r>
              <a:rPr lang="zh-CN" altLang="en-US" b="0" i="0" dirty="0">
                <a:solidFill>
                  <a:srgbClr val="000000"/>
                </a:solidFill>
                <a:effectLst/>
                <a:latin typeface="Roboto" panose="02000000000000000000" pitchFamily="2" charset="0"/>
              </a:rPr>
              <a:t>误差）。该网络具有与 </a:t>
            </a:r>
            <a:r>
              <a:rPr lang="en-US" altLang="zh-CN" b="0" i="0" dirty="0" err="1">
                <a:solidFill>
                  <a:srgbClr val="000000"/>
                </a:solidFill>
                <a:effectLst/>
                <a:latin typeface="Roboto" panose="02000000000000000000" pitchFamily="2" charset="0"/>
              </a:rPr>
              <a:t>LeNet</a:t>
            </a:r>
            <a:r>
              <a:rPr lang="en-US" altLang="zh-CN" b="0" i="0" dirty="0">
                <a:solidFill>
                  <a:srgbClr val="000000"/>
                </a:solidFill>
                <a:effectLst/>
                <a:latin typeface="Roboto" panose="02000000000000000000" pitchFamily="2" charset="0"/>
              </a:rPr>
              <a:t> </a:t>
            </a:r>
            <a:r>
              <a:rPr lang="zh-CN" altLang="en-US" b="0" i="0" dirty="0">
                <a:solidFill>
                  <a:srgbClr val="000000"/>
                </a:solidFill>
                <a:effectLst/>
                <a:latin typeface="Roboto" panose="02000000000000000000" pitchFamily="2" charset="0"/>
              </a:rPr>
              <a:t>非常相似的架构，但更深、更大，并且具有相互堆叠的卷积层（以前通常只有一个 </a:t>
            </a:r>
            <a:r>
              <a:rPr lang="en-US" altLang="zh-CN" b="0" i="0" dirty="0">
                <a:solidFill>
                  <a:srgbClr val="000000"/>
                </a:solidFill>
                <a:effectLst/>
                <a:latin typeface="Roboto" panose="02000000000000000000" pitchFamily="2" charset="0"/>
              </a:rPr>
              <a:t>CONV </a:t>
            </a:r>
            <a:r>
              <a:rPr lang="zh-CN" altLang="en-US" b="0" i="0" dirty="0">
                <a:solidFill>
                  <a:srgbClr val="000000"/>
                </a:solidFill>
                <a:effectLst/>
                <a:latin typeface="Roboto" panose="02000000000000000000" pitchFamily="2" charset="0"/>
              </a:rPr>
              <a:t>层总是紧跟着一个 </a:t>
            </a:r>
            <a:r>
              <a:rPr lang="en-US" altLang="zh-CN" b="0" i="0" dirty="0">
                <a:solidFill>
                  <a:srgbClr val="000000"/>
                </a:solidFill>
                <a:effectLst/>
                <a:latin typeface="Roboto" panose="02000000000000000000" pitchFamily="2" charset="0"/>
              </a:rPr>
              <a:t>POOL </a:t>
            </a:r>
            <a:r>
              <a:rPr lang="zh-CN" altLang="en-US" b="0" i="0" dirty="0">
                <a:solidFill>
                  <a:srgbClr val="000000"/>
                </a:solidFill>
                <a:effectLst/>
                <a:latin typeface="Roboto" panose="02000000000000000000" pitchFamily="2" charset="0"/>
              </a:rPr>
              <a:t>层）。</a:t>
            </a:r>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28</a:t>
            </a:fld>
            <a:endParaRPr lang="en-US" altLang="zh-CN"/>
          </a:p>
        </p:txBody>
      </p:sp>
    </p:spTree>
    <p:extLst>
      <p:ext uri="{BB962C8B-B14F-4D97-AF65-F5344CB8AC3E}">
        <p14:creationId xmlns:p14="http://schemas.microsoft.com/office/powerpoint/2010/main" val="2536405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2A7AE2"/>
                </a:solidFill>
                <a:effectLst/>
                <a:latin typeface="Roboto" panose="02000000000000000000" pitchFamily="2" charset="0"/>
              </a:rPr>
              <a:t>由于 </a:t>
            </a:r>
            <a:r>
              <a:rPr lang="en-US" altLang="zh-CN" b="0" i="0" u="none" strike="noStrike" dirty="0" err="1">
                <a:solidFill>
                  <a:srgbClr val="2A7AE2"/>
                </a:solidFill>
                <a:effectLst/>
                <a:latin typeface="Roboto" panose="02000000000000000000" pitchFamily="2" charset="0"/>
              </a:rPr>
              <a:t>AlexNet</a:t>
            </a:r>
            <a:r>
              <a:rPr lang="zh-CN" altLang="en-US" b="0" i="0" u="none" strike="noStrike" dirty="0">
                <a:solidFill>
                  <a:srgbClr val="2A7AE2"/>
                </a:solidFill>
                <a:effectLst/>
                <a:latin typeface="Roboto" panose="02000000000000000000" pitchFamily="2" charset="0"/>
              </a:rPr>
              <a:t>只 的提出，大型卷积网络开始变得流行起来，但是人们对于网络究竟为什么能表现的这么好，以及怎么样能变得更好尚不清楚，因此为了针对上述两个问题，提出了一个新颖的可视化技术来一窥中间特征层的功能以及分类的操作。</a:t>
            </a:r>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29</a:t>
            </a:fld>
            <a:endParaRPr lang="en-US" altLang="zh-CN"/>
          </a:p>
        </p:txBody>
      </p:sp>
    </p:spTree>
    <p:extLst>
      <p:ext uri="{BB962C8B-B14F-4D97-AF65-F5344CB8AC3E}">
        <p14:creationId xmlns:p14="http://schemas.microsoft.com/office/powerpoint/2010/main" val="19036052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11111"/>
                </a:solidFill>
                <a:effectLst/>
                <a:highlight>
                  <a:srgbClr val="FFFFFF"/>
                </a:highlight>
                <a:latin typeface="Arial" panose="020B0604020202020204" pitchFamily="34" charset="0"/>
              </a:rPr>
              <a:t>残差连接的正则化作用有助于减少过。拟合，同时残差网络在各种任务上的出色表现显示了其强大的通用性和适应能力 。</a:t>
            </a:r>
            <a:endParaRPr lang="en-US" altLang="zh-CN" b="0" i="0" dirty="0">
              <a:solidFill>
                <a:srgbClr val="111111"/>
              </a:solidFill>
              <a:effectLst/>
              <a:highlight>
                <a:srgbClr val="FFFFFF"/>
              </a:highlight>
              <a:latin typeface="Arial" panose="020B0604020202020204" pitchFamily="34" charset="0"/>
            </a:endParaRPr>
          </a:p>
          <a:p>
            <a:endParaRPr kumimoji="1" lang="en-US" altLang="zh-CN" b="0" i="0" dirty="0">
              <a:solidFill>
                <a:srgbClr val="111111"/>
              </a:solidFill>
              <a:effectLst/>
              <a:highlight>
                <a:srgbClr val="FFFFFF"/>
              </a:highlight>
              <a:latin typeface="Arial" panose="020B0604020202020204" pitchFamily="34" charset="0"/>
            </a:endParaRPr>
          </a:p>
          <a:p>
            <a:r>
              <a:rPr lang="en-US" altLang="zh-CN" b="0" i="0" dirty="0" err="1">
                <a:solidFill>
                  <a:srgbClr val="000000"/>
                </a:solidFill>
                <a:effectLst/>
                <a:latin typeface="Roboto" panose="02000000000000000000" pitchFamily="2" charset="0"/>
              </a:rPr>
              <a:t>Kaiming</a:t>
            </a:r>
            <a:r>
              <a:rPr lang="en-US" altLang="zh-CN" b="0" i="0" dirty="0">
                <a:solidFill>
                  <a:srgbClr val="000000"/>
                </a:solidFill>
                <a:effectLst/>
                <a:latin typeface="Roboto" panose="02000000000000000000" pitchFamily="2" charset="0"/>
              </a:rPr>
              <a:t> He </a:t>
            </a:r>
            <a:r>
              <a:rPr lang="zh-CN" altLang="en-US" b="0" i="0" dirty="0">
                <a:solidFill>
                  <a:srgbClr val="000000"/>
                </a:solidFill>
                <a:effectLst/>
                <a:latin typeface="Roboto" panose="02000000000000000000" pitchFamily="2" charset="0"/>
              </a:rPr>
              <a:t>等人开发的 </a:t>
            </a:r>
            <a:r>
              <a:rPr lang="en-US" altLang="zh-CN" b="0" i="0" u="none" strike="noStrike" dirty="0">
                <a:solidFill>
                  <a:srgbClr val="2A7AE2"/>
                </a:solidFill>
                <a:effectLst/>
                <a:latin typeface="Roboto" panose="02000000000000000000" pitchFamily="2" charset="0"/>
                <a:hlinkClick r:id="rId3"/>
              </a:rPr>
              <a:t>Residual Network</a:t>
            </a:r>
            <a:r>
              <a:rPr lang="en-US" altLang="zh-CN" b="0" i="0" dirty="0">
                <a:solidFill>
                  <a:srgbClr val="000000"/>
                </a:solidFill>
                <a:effectLst/>
                <a:latin typeface="Roboto" panose="02000000000000000000" pitchFamily="2" charset="0"/>
              </a:rPr>
              <a:t> </a:t>
            </a:r>
            <a:r>
              <a:rPr lang="zh-CN" altLang="en-US" b="0" i="0" dirty="0">
                <a:solidFill>
                  <a:srgbClr val="000000"/>
                </a:solidFill>
                <a:effectLst/>
                <a:latin typeface="Roboto" panose="02000000000000000000" pitchFamily="2" charset="0"/>
              </a:rPr>
              <a:t>是 </a:t>
            </a:r>
            <a:r>
              <a:rPr lang="en-US" altLang="zh-CN" b="0" i="0" dirty="0">
                <a:solidFill>
                  <a:srgbClr val="000000"/>
                </a:solidFill>
                <a:effectLst/>
                <a:latin typeface="Roboto" panose="02000000000000000000" pitchFamily="2" charset="0"/>
              </a:rPr>
              <a:t>ILSVRC 2015 </a:t>
            </a:r>
            <a:r>
              <a:rPr lang="zh-CN" altLang="en-US" b="0" i="0" dirty="0">
                <a:solidFill>
                  <a:srgbClr val="000000"/>
                </a:solidFill>
                <a:effectLst/>
                <a:latin typeface="Roboto" panose="02000000000000000000" pitchFamily="2" charset="0"/>
              </a:rPr>
              <a:t>的获胜者。它具有特殊的</a:t>
            </a:r>
            <a:r>
              <a:rPr lang="zh-CN" altLang="en-US" b="0" i="1" dirty="0">
                <a:solidFill>
                  <a:srgbClr val="000000"/>
                </a:solidFill>
                <a:effectLst/>
                <a:latin typeface="Roboto" panose="02000000000000000000" pitchFamily="2" charset="0"/>
              </a:rPr>
              <a:t>跳过连接</a:t>
            </a:r>
            <a:r>
              <a:rPr lang="zh-CN" altLang="en-US" b="0" i="0" dirty="0">
                <a:solidFill>
                  <a:srgbClr val="000000"/>
                </a:solidFill>
                <a:effectLst/>
                <a:latin typeface="Roboto" panose="02000000000000000000" pitchFamily="2" charset="0"/>
              </a:rPr>
              <a:t>和大量使用</a:t>
            </a:r>
            <a:r>
              <a:rPr lang="zh-CN" altLang="en-US" b="0" i="0" u="none" strike="noStrike" dirty="0">
                <a:solidFill>
                  <a:srgbClr val="2A7AE2"/>
                </a:solidFill>
                <a:effectLst/>
                <a:latin typeface="Roboto" panose="02000000000000000000" pitchFamily="2" charset="0"/>
                <a:hlinkClick r:id="rId4"/>
              </a:rPr>
              <a:t>批处理规范化</a:t>
            </a:r>
            <a:r>
              <a:rPr lang="zh-CN" altLang="en-US" b="0" i="0" dirty="0">
                <a:solidFill>
                  <a:srgbClr val="000000"/>
                </a:solidFill>
                <a:effectLst/>
                <a:latin typeface="Roboto" panose="02000000000000000000" pitchFamily="2" charset="0"/>
              </a:rPr>
              <a:t>。该架构在网络末端也缺少全连接层。</a:t>
            </a:r>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32</a:t>
            </a:fld>
            <a:endParaRPr lang="en-US" altLang="zh-CN"/>
          </a:p>
        </p:txBody>
      </p:sp>
    </p:spTree>
    <p:extLst>
      <p:ext uri="{BB962C8B-B14F-4D97-AF65-F5344CB8AC3E}">
        <p14:creationId xmlns:p14="http://schemas.microsoft.com/office/powerpoint/2010/main" val="9684548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11111"/>
                </a:solidFill>
                <a:effectLst/>
                <a:highlight>
                  <a:srgbClr val="FFFFFF"/>
                </a:highlight>
                <a:latin typeface="Arial" panose="020B0604020202020204" pitchFamily="34" charset="0"/>
              </a:rPr>
              <a:t>反卷积</a:t>
            </a:r>
            <a:r>
              <a:rPr lang="en-US" altLang="zh-CN" b="0" i="0" dirty="0">
                <a:solidFill>
                  <a:srgbClr val="111111"/>
                </a:solidFill>
                <a:effectLst/>
                <a:highlight>
                  <a:srgbClr val="FFFFFF"/>
                </a:highlight>
                <a:latin typeface="Arial" panose="020B0604020202020204" pitchFamily="34" charset="0"/>
              </a:rPr>
              <a:t>:</a:t>
            </a:r>
            <a:r>
              <a:rPr lang="zh-CN" altLang="en-US" b="0" i="0" dirty="0">
                <a:solidFill>
                  <a:srgbClr val="111111"/>
                </a:solidFill>
                <a:effectLst/>
                <a:highlight>
                  <a:srgbClr val="FFFFFF"/>
                </a:highlight>
                <a:latin typeface="Arial" panose="020B0604020202020204" pitchFamily="34" charset="0"/>
              </a:rPr>
              <a:t>增加数据的空间维度</a:t>
            </a:r>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35</a:t>
            </a:fld>
            <a:endParaRPr lang="en-US" altLang="zh-CN"/>
          </a:p>
        </p:txBody>
      </p:sp>
    </p:spTree>
    <p:extLst>
      <p:ext uri="{BB962C8B-B14F-4D97-AF65-F5344CB8AC3E}">
        <p14:creationId xmlns:p14="http://schemas.microsoft.com/office/powerpoint/2010/main" val="2006271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966F891-39E4-4949-84B5-293BD1F65E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4" name="Rectangle 10"/>
          <p:cNvSpPr/>
          <p:nvPr/>
        </p:nvSpPr>
        <p:spPr>
          <a:xfrm>
            <a:off x="4038600" y="3657600"/>
            <a:ext cx="6637866" cy="1654481"/>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5" name="Rectangle 11"/>
          <p:cNvSpPr/>
          <p:nvPr/>
        </p:nvSpPr>
        <p:spPr>
          <a:xfrm>
            <a:off x="304800" y="673897"/>
            <a:ext cx="6117446" cy="719623"/>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700">
              <a:solidFill>
                <a:srgbClr val="FFFFFF"/>
              </a:solidFill>
            </a:endParaRPr>
          </a:p>
        </p:txBody>
      </p:sp>
      <p:sp>
        <p:nvSpPr>
          <p:cNvPr id="6" name="Rectangle 14"/>
          <p:cNvSpPr/>
          <p:nvPr/>
        </p:nvSpPr>
        <p:spPr>
          <a:xfrm>
            <a:off x="4038600" y="3657600"/>
            <a:ext cx="304800" cy="1654481"/>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7" name="Rectangle 15"/>
          <p:cNvSpPr/>
          <p:nvPr/>
        </p:nvSpPr>
        <p:spPr>
          <a:xfrm>
            <a:off x="359807" y="665099"/>
            <a:ext cx="187820" cy="73123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dirty="0">
              <a:solidFill>
                <a:srgbClr val="FFFFFF"/>
              </a:solidFill>
            </a:endParaRPr>
          </a:p>
        </p:txBody>
      </p:sp>
      <p:sp>
        <p:nvSpPr>
          <p:cNvPr id="8" name="Title 7"/>
          <p:cNvSpPr>
            <a:spLocks noGrp="1"/>
          </p:cNvSpPr>
          <p:nvPr>
            <p:ph type="ctrTitle"/>
          </p:nvPr>
        </p:nvSpPr>
        <p:spPr>
          <a:xfrm>
            <a:off x="4343400" y="3827594"/>
            <a:ext cx="6142566" cy="1280888"/>
          </a:xfrm>
        </p:spPr>
        <p:txBody>
          <a:bodyPr anchor="ctr"/>
          <a:lstStyle>
            <a:lvl1pPr algn="ctr">
              <a:defRPr sz="2800" baseline="0">
                <a:solidFill>
                  <a:schemeClr val="tx1"/>
                </a:solidFill>
                <a:latin typeface="+mj-lt"/>
                <a:ea typeface="+mj-ea"/>
              </a:defRPr>
            </a:lvl1pPr>
          </a:lstStyle>
          <a:p>
            <a:r>
              <a:rPr lang="zh-CN" altLang="en-US"/>
              <a:t>单击此处编辑母版标题样式</a:t>
            </a:r>
            <a:endParaRPr lang="en-US" dirty="0"/>
          </a:p>
        </p:txBody>
      </p:sp>
      <p:sp>
        <p:nvSpPr>
          <p:cNvPr id="9" name="Subtitle 8"/>
          <p:cNvSpPr>
            <a:spLocks noGrp="1"/>
          </p:cNvSpPr>
          <p:nvPr>
            <p:ph type="subTitle" idx="1"/>
          </p:nvPr>
        </p:nvSpPr>
        <p:spPr>
          <a:xfrm>
            <a:off x="563006" y="726666"/>
            <a:ext cx="5812317" cy="568735"/>
          </a:xfrm>
          <a:prstGeom prst="rect">
            <a:avLst/>
          </a:prstGeom>
        </p:spPr>
        <p:txBody>
          <a:bodyPr anchor="ctr"/>
          <a:lstStyle>
            <a:lvl1pPr marL="0" indent="0" algn="ctr">
              <a:buNone/>
              <a:defRPr sz="2400" baseline="0">
                <a:solidFill>
                  <a:schemeClr val="tx2"/>
                </a:solidFill>
                <a:latin typeface="+mn-lt"/>
                <a:ea typeface="+mn-ea"/>
                <a:cs typeface="+mj-cs"/>
              </a:defRPr>
            </a:lvl1pPr>
            <a:lvl2pPr marL="257175" indent="0" algn="ctr">
              <a:buNone/>
            </a:lvl2pPr>
            <a:lvl3pPr marL="514350" indent="0" algn="ctr">
              <a:buNone/>
            </a:lvl3pPr>
            <a:lvl4pPr marL="771525" indent="0" algn="ctr">
              <a:buNone/>
            </a:lvl4pPr>
            <a:lvl5pPr marL="1028700" indent="0" algn="ctr">
              <a:buNone/>
            </a:lvl5pPr>
            <a:lvl6pPr marL="1285875" indent="0" algn="ctr">
              <a:buNone/>
            </a:lvl6pPr>
            <a:lvl7pPr marL="1543050" indent="0" algn="ctr">
              <a:buNone/>
            </a:lvl7pPr>
            <a:lvl8pPr marL="1800225" indent="0" algn="ctr">
              <a:buNone/>
            </a:lvl8pPr>
            <a:lvl9pPr marL="2057400" indent="0" algn="ctr">
              <a:buNone/>
            </a:lvl9pPr>
          </a:lstStyle>
          <a:p>
            <a:r>
              <a:rPr lang="zh-CN" altLang="en-US"/>
              <a:t>单击此处编辑母版副标题样式</a:t>
            </a:r>
            <a:endParaRPr lang="en-US" dirty="0"/>
          </a:p>
        </p:txBody>
      </p:sp>
      <p:sp>
        <p:nvSpPr>
          <p:cNvPr id="25" name="Text Placeholder 24"/>
          <p:cNvSpPr>
            <a:spLocks noGrp="1"/>
          </p:cNvSpPr>
          <p:nvPr>
            <p:ph type="body" sz="quarter" idx="10"/>
          </p:nvPr>
        </p:nvSpPr>
        <p:spPr>
          <a:xfrm>
            <a:off x="5280025" y="5550204"/>
            <a:ext cx="4273554" cy="790860"/>
          </a:xfrm>
          <a:prstGeom prst="rect">
            <a:avLst/>
          </a:prstGeom>
        </p:spPr>
        <p:txBody>
          <a:bodyPr/>
          <a:lstStyle>
            <a:lvl1pPr marL="0" indent="0" algn="ctr">
              <a:buNone/>
              <a:defRPr sz="2400" baseline="0">
                <a:solidFill>
                  <a:schemeClr val="accent1">
                    <a:lumMod val="60000"/>
                    <a:lumOff val="40000"/>
                  </a:schemeClr>
                </a:solidFill>
                <a:latin typeface="+mn-lt"/>
                <a:ea typeface="+mn-ea"/>
              </a:defRPr>
            </a:lvl1pPr>
          </a:lstStyle>
          <a:p>
            <a:pPr lvl="0"/>
            <a:r>
              <a:rPr lang="zh-CN" altLang="en-US"/>
              <a:t>编辑母版文本样式</a:t>
            </a:r>
          </a:p>
        </p:txBody>
      </p:sp>
    </p:spTree>
    <p:extLst>
      <p:ext uri="{BB962C8B-B14F-4D97-AF65-F5344CB8AC3E}">
        <p14:creationId xmlns:p14="http://schemas.microsoft.com/office/powerpoint/2010/main" val="427207474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ubsection">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22BBD6FA-A54A-485F-87D9-C9652F586C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16" name="Rectangle 10">
            <a:extLst>
              <a:ext uri="{FF2B5EF4-FFF2-40B4-BE49-F238E27FC236}">
                <a16:creationId xmlns:a16="http://schemas.microsoft.com/office/drawing/2014/main" id="{80B6937C-32A7-4CC7-BE4A-AB7A564C7186}"/>
              </a:ext>
            </a:extLst>
          </p:cNvPr>
          <p:cNvSpPr/>
          <p:nvPr/>
        </p:nvSpPr>
        <p:spPr>
          <a:xfrm>
            <a:off x="4038600" y="3657600"/>
            <a:ext cx="6637866" cy="1654481"/>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7" name="Rectangle 14">
            <a:extLst>
              <a:ext uri="{FF2B5EF4-FFF2-40B4-BE49-F238E27FC236}">
                <a16:creationId xmlns:a16="http://schemas.microsoft.com/office/drawing/2014/main" id="{EDC16F34-8BA1-4A4E-B0D4-81397E1E7CD0}"/>
              </a:ext>
            </a:extLst>
          </p:cNvPr>
          <p:cNvSpPr/>
          <p:nvPr/>
        </p:nvSpPr>
        <p:spPr>
          <a:xfrm>
            <a:off x="4038600" y="3657600"/>
            <a:ext cx="304800" cy="1654481"/>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8" name="Title 7">
            <a:extLst>
              <a:ext uri="{FF2B5EF4-FFF2-40B4-BE49-F238E27FC236}">
                <a16:creationId xmlns:a16="http://schemas.microsoft.com/office/drawing/2014/main" id="{66A552C8-61F4-43FC-A974-9DE54534BA38}"/>
              </a:ext>
            </a:extLst>
          </p:cNvPr>
          <p:cNvSpPr>
            <a:spLocks noGrp="1"/>
          </p:cNvSpPr>
          <p:nvPr>
            <p:ph type="ctrTitle"/>
          </p:nvPr>
        </p:nvSpPr>
        <p:spPr>
          <a:xfrm>
            <a:off x="4343400" y="3827594"/>
            <a:ext cx="6142566" cy="1280888"/>
          </a:xfrm>
        </p:spPr>
        <p:txBody>
          <a:bodyPr anchor="ctr"/>
          <a:lstStyle>
            <a:lvl1pPr algn="ctr">
              <a:defRPr sz="2800" baseline="0">
                <a:solidFill>
                  <a:schemeClr val="tx1"/>
                </a:solidFill>
                <a:latin typeface="+mj-lt"/>
                <a:ea typeface="+mj-ea"/>
              </a:defRPr>
            </a:lvl1pPr>
          </a:lstStyle>
          <a:p>
            <a:r>
              <a:rPr lang="zh-CN" altLang="en-US"/>
              <a:t>单击此处编辑母版标题样式</a:t>
            </a:r>
            <a:endParaRPr lang="en-US" dirty="0"/>
          </a:p>
        </p:txBody>
      </p:sp>
    </p:spTree>
    <p:extLst>
      <p:ext uri="{BB962C8B-B14F-4D97-AF65-F5344CB8AC3E}">
        <p14:creationId xmlns:p14="http://schemas.microsoft.com/office/powerpoint/2010/main" val="1104200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5050A8B-65E7-4672-9976-F9678ACCF210}"/>
              </a:ext>
            </a:extLst>
          </p:cNvPr>
          <p:cNvSpPr>
            <a:spLocks noGrp="1"/>
          </p:cNvSpPr>
          <p:nvPr>
            <p:ph type="title"/>
          </p:nvPr>
        </p:nvSpPr>
        <p:spPr/>
        <p:txBody>
          <a:bodyPr/>
          <a:lstStyle/>
          <a:p>
            <a:r>
              <a:rPr lang="zh-CN" altLang="en-US"/>
              <a:t>单击此处编辑母版标题样式</a:t>
            </a:r>
          </a:p>
        </p:txBody>
      </p:sp>
      <p:sp>
        <p:nvSpPr>
          <p:cNvPr id="8" name="Text Placeholder 12">
            <a:extLst>
              <a:ext uri="{FF2B5EF4-FFF2-40B4-BE49-F238E27FC236}">
                <a16:creationId xmlns:a16="http://schemas.microsoft.com/office/drawing/2014/main" id="{B69B4C9B-667A-475B-923C-B441E63112E2}"/>
              </a:ext>
            </a:extLst>
          </p:cNvPr>
          <p:cNvSpPr>
            <a:spLocks noGrp="1"/>
          </p:cNvSpPr>
          <p:nvPr>
            <p:ph idx="1"/>
          </p:nvPr>
        </p:nvSpPr>
        <p:spPr bwMode="auto">
          <a:xfrm>
            <a:off x="609600" y="990600"/>
            <a:ext cx="10972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p:txBody>
      </p:sp>
    </p:spTree>
    <p:extLst>
      <p:ext uri="{BB962C8B-B14F-4D97-AF65-F5344CB8AC3E}">
        <p14:creationId xmlns:p14="http://schemas.microsoft.com/office/powerpoint/2010/main" val="237687700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Just Titl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A3B309-5F91-4EC3-B303-AAA2C66728F2}"/>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937980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Text_IMG">
    <p:spTree>
      <p:nvGrpSpPr>
        <p:cNvPr id="1" name=""/>
        <p:cNvGrpSpPr/>
        <p:nvPr/>
      </p:nvGrpSpPr>
      <p:grpSpPr>
        <a:xfrm>
          <a:off x="0" y="0"/>
          <a:ext cx="0" cy="0"/>
          <a:chOff x="0" y="0"/>
          <a:chExt cx="0" cy="0"/>
        </a:xfrm>
      </p:grpSpPr>
      <p:sp>
        <p:nvSpPr>
          <p:cNvPr id="7" name="Text Placeholder 12">
            <a:extLst>
              <a:ext uri="{FF2B5EF4-FFF2-40B4-BE49-F238E27FC236}">
                <a16:creationId xmlns:a16="http://schemas.microsoft.com/office/drawing/2014/main" id="{82554C09-2158-4702-9B4A-E0C68913C689}"/>
              </a:ext>
            </a:extLst>
          </p:cNvPr>
          <p:cNvSpPr>
            <a:spLocks noGrp="1"/>
          </p:cNvSpPr>
          <p:nvPr>
            <p:ph idx="1"/>
          </p:nvPr>
        </p:nvSpPr>
        <p:spPr bwMode="auto">
          <a:xfrm>
            <a:off x="609599" y="990600"/>
            <a:ext cx="5885794"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3" name="标题 2">
            <a:extLst>
              <a:ext uri="{FF2B5EF4-FFF2-40B4-BE49-F238E27FC236}">
                <a16:creationId xmlns:a16="http://schemas.microsoft.com/office/drawing/2014/main" id="{63866493-C33C-47CF-99CE-6E19EE056D71}"/>
              </a:ext>
            </a:extLst>
          </p:cNvPr>
          <p:cNvSpPr>
            <a:spLocks noGrp="1"/>
          </p:cNvSpPr>
          <p:nvPr>
            <p:ph type="title"/>
          </p:nvPr>
        </p:nvSpPr>
        <p:spPr/>
        <p:txBody>
          <a:bodyPr/>
          <a:lstStyle/>
          <a:p>
            <a:r>
              <a:rPr lang="zh-CN" altLang="en-US"/>
              <a:t>单击此处编辑母版标题样式</a:t>
            </a:r>
          </a:p>
        </p:txBody>
      </p:sp>
      <p:cxnSp>
        <p:nvCxnSpPr>
          <p:cNvPr id="4" name="直接连接符 3">
            <a:extLst>
              <a:ext uri="{FF2B5EF4-FFF2-40B4-BE49-F238E27FC236}">
                <a16:creationId xmlns:a16="http://schemas.microsoft.com/office/drawing/2014/main" id="{F4E9E31A-5EEF-4165-B7AF-A4322917E67F}"/>
              </a:ext>
            </a:extLst>
          </p:cNvPr>
          <p:cNvCxnSpPr>
            <a:cxnSpLocks/>
          </p:cNvCxnSpPr>
          <p:nvPr/>
        </p:nvCxnSpPr>
        <p:spPr>
          <a:xfrm>
            <a:off x="6553200" y="1066800"/>
            <a:ext cx="0" cy="5334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1011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0418907"/>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152401"/>
            <a:ext cx="10972800" cy="733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027" name="Text Placeholder 12"/>
          <p:cNvSpPr>
            <a:spLocks noGrp="1"/>
          </p:cNvSpPr>
          <p:nvPr>
            <p:ph type="body" idx="1"/>
          </p:nvPr>
        </p:nvSpPr>
        <p:spPr bwMode="auto">
          <a:xfrm>
            <a:off x="609600" y="990599"/>
            <a:ext cx="10972800" cy="541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编辑母版文本样式</a:t>
            </a:r>
          </a:p>
          <a:p>
            <a:pPr lvl="1"/>
            <a:r>
              <a:rPr lang="zh-CN" altLang="en-US" dirty="0"/>
              <a:t>第二级</a:t>
            </a:r>
          </a:p>
          <a:p>
            <a:pPr lvl="2"/>
            <a:r>
              <a:rPr lang="zh-CN" altLang="en-US" dirty="0"/>
              <a:t>第三级</a:t>
            </a:r>
            <a:endParaRPr lang="en-US" altLang="zh-CN" dirty="0"/>
          </a:p>
        </p:txBody>
      </p:sp>
      <p:sp>
        <p:nvSpPr>
          <p:cNvPr id="1032" name="Straight Connector 28"/>
          <p:cNvSpPr>
            <a:spLocks noChangeShapeType="1"/>
          </p:cNvSpPr>
          <p:nvPr/>
        </p:nvSpPr>
        <p:spPr bwMode="auto">
          <a:xfrm>
            <a:off x="609600" y="898949"/>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Footer Placeholder 2">
            <a:extLst>
              <a:ext uri="{FF2B5EF4-FFF2-40B4-BE49-F238E27FC236}">
                <a16:creationId xmlns:a16="http://schemas.microsoft.com/office/drawing/2014/main" id="{B4DA9BC6-43CA-408A-BEB7-8746EA49C870}"/>
              </a:ext>
            </a:extLst>
          </p:cNvPr>
          <p:cNvSpPr txBox="1">
            <a:spLocks/>
          </p:cNvSpPr>
          <p:nvPr/>
        </p:nvSpPr>
        <p:spPr>
          <a:xfrm>
            <a:off x="4114800" y="6492875"/>
            <a:ext cx="3962400" cy="365125"/>
          </a:xfrm>
          <a:prstGeom prst="rect">
            <a:avLst/>
          </a:prstGeom>
        </p:spPr>
        <p:txBody>
          <a:bodyPr vert="horz" wrap="square" lIns="0" tIns="0" rIns="0" bIns="0" numCol="1" anchor="ctr"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2"/>
                </a:solidFill>
                <a:latin typeface="Cambria" panose="02040503050406030204" pitchFamily="18"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r>
              <a:rPr lang="en-US" altLang="zh-CN" sz="1400" dirty="0">
                <a:latin typeface="+mn-ea"/>
                <a:ea typeface="+mn-ea"/>
              </a:rPr>
              <a:t>《</a:t>
            </a:r>
            <a:r>
              <a:rPr lang="zh-CN" altLang="en-US" sz="1400" dirty="0">
                <a:latin typeface="+mn-ea"/>
                <a:ea typeface="+mn-ea"/>
              </a:rPr>
              <a:t>神经网络与深度学习</a:t>
            </a:r>
            <a:r>
              <a:rPr lang="en-US" altLang="zh-CN" sz="1400" dirty="0">
                <a:latin typeface="+mn-ea"/>
                <a:ea typeface="+mn-ea"/>
              </a:rPr>
              <a:t>》</a:t>
            </a:r>
            <a:endParaRPr lang="zh-CN" altLang="zh-CN" sz="1400" dirty="0">
              <a:latin typeface="+mn-ea"/>
              <a:ea typeface="+mn-ea"/>
            </a:endParaRPr>
          </a:p>
        </p:txBody>
      </p:sp>
      <p:sp>
        <p:nvSpPr>
          <p:cNvPr id="13" name="Rectangle 17">
            <a:extLst>
              <a:ext uri="{FF2B5EF4-FFF2-40B4-BE49-F238E27FC236}">
                <a16:creationId xmlns:a16="http://schemas.microsoft.com/office/drawing/2014/main" id="{5ED38AFC-6FCA-41F0-B286-064BF4E13FFB}"/>
              </a:ext>
            </a:extLst>
          </p:cNvPr>
          <p:cNvSpPr/>
          <p:nvPr/>
        </p:nvSpPr>
        <p:spPr>
          <a:xfrm>
            <a:off x="10972800" y="6521549"/>
            <a:ext cx="375424" cy="307777"/>
          </a:xfrm>
          <a:prstGeom prst="rect">
            <a:avLst/>
          </a:prstGeom>
        </p:spPr>
        <p:txBody>
          <a:bodyPr wrap="none" anchor="ctr">
            <a:spAutoFit/>
          </a:bodyPr>
          <a:lstStyle/>
          <a:p>
            <a:pPr>
              <a:defRPr/>
            </a:pPr>
            <a:fld id="{7A0AC270-0923-4589-A51D-6091E7C5371F}" type="slidenum">
              <a:rPr lang="zh-CN" altLang="en-US" sz="1400" kern="1200" smtClean="0">
                <a:solidFill>
                  <a:schemeClr val="tx2"/>
                </a:solidFill>
                <a:latin typeface="+mn-ea"/>
                <a:ea typeface="+mn-ea"/>
                <a:cs typeface="Arial" panose="020B0604020202020204" pitchFamily="34" charset="0"/>
              </a:rPr>
              <a:pPr>
                <a:defRPr/>
              </a:pPr>
              <a:t>‹#›</a:t>
            </a:fld>
            <a:endParaRPr lang="en-US" altLang="zh-CN" sz="1400" kern="1200" dirty="0">
              <a:solidFill>
                <a:schemeClr val="tx2"/>
              </a:solidFill>
              <a:latin typeface="+mn-ea"/>
              <a:ea typeface="+mn-ea"/>
              <a:cs typeface="Arial" panose="020B0604020202020204" pitchFamily="34" charset="0"/>
            </a:endParaRPr>
          </a:p>
        </p:txBody>
      </p:sp>
      <p:sp>
        <p:nvSpPr>
          <p:cNvPr id="12" name="Straight Connector 27">
            <a:extLst>
              <a:ext uri="{FF2B5EF4-FFF2-40B4-BE49-F238E27FC236}">
                <a16:creationId xmlns:a16="http://schemas.microsoft.com/office/drawing/2014/main" id="{D59285DE-C1F6-4B21-8CFE-2BDB4A08D1BB}"/>
              </a:ext>
            </a:extLst>
          </p:cNvPr>
          <p:cNvSpPr>
            <a:spLocks noChangeShapeType="1"/>
          </p:cNvSpPr>
          <p:nvPr/>
        </p:nvSpPr>
        <p:spPr bwMode="auto">
          <a:xfrm>
            <a:off x="609600" y="6477000"/>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sz="1400">
              <a:latin typeface="+mn-ea"/>
              <a:ea typeface="+mn-ea"/>
            </a:endParaRPr>
          </a:p>
        </p:txBody>
      </p:sp>
    </p:spTree>
    <p:extLst>
      <p:ext uri="{BB962C8B-B14F-4D97-AF65-F5344CB8AC3E}">
        <p14:creationId xmlns:p14="http://schemas.microsoft.com/office/powerpoint/2010/main" val="3181961736"/>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1" r:id="rId5"/>
    <p:sldLayoutId id="2147483862" r:id="rId6"/>
  </p:sldLayoutIdLst>
  <p:hf hdr="0" ftr="0" dt="0"/>
  <p:txStyles>
    <p:titleStyle>
      <a:lvl1pPr algn="l" rtl="0" eaLnBrk="1" fontAlgn="base" hangingPunct="1">
        <a:spcBef>
          <a:spcPct val="0"/>
        </a:spcBef>
        <a:spcAft>
          <a:spcPct val="0"/>
        </a:spcAft>
        <a:defRPr sz="3200" kern="1200">
          <a:solidFill>
            <a:srgbClr val="000000"/>
          </a:solidFill>
          <a:latin typeface="+mj-lt"/>
          <a:ea typeface="+mj-ea"/>
          <a:cs typeface="+mj-cs"/>
        </a:defRPr>
      </a:lvl1pPr>
      <a:lvl2pPr algn="l" rtl="0" eaLnBrk="1" fontAlgn="base" hangingPunct="1">
        <a:spcBef>
          <a:spcPct val="0"/>
        </a:spcBef>
        <a:spcAft>
          <a:spcPct val="0"/>
        </a:spcAft>
        <a:defRPr sz="2025">
          <a:solidFill>
            <a:schemeClr val="tx2"/>
          </a:solidFill>
          <a:latin typeface="Calibri" panose="020F0502020204030204" pitchFamily="34" charset="0"/>
        </a:defRPr>
      </a:lvl2pPr>
      <a:lvl3pPr algn="l" rtl="0" eaLnBrk="1" fontAlgn="base" hangingPunct="1">
        <a:spcBef>
          <a:spcPct val="0"/>
        </a:spcBef>
        <a:spcAft>
          <a:spcPct val="0"/>
        </a:spcAft>
        <a:defRPr sz="2025">
          <a:solidFill>
            <a:schemeClr val="tx2"/>
          </a:solidFill>
          <a:latin typeface="Calibri" panose="020F0502020204030204" pitchFamily="34" charset="0"/>
        </a:defRPr>
      </a:lvl3pPr>
      <a:lvl4pPr algn="l" rtl="0" eaLnBrk="1" fontAlgn="base" hangingPunct="1">
        <a:spcBef>
          <a:spcPct val="0"/>
        </a:spcBef>
        <a:spcAft>
          <a:spcPct val="0"/>
        </a:spcAft>
        <a:defRPr sz="2025">
          <a:solidFill>
            <a:schemeClr val="tx2"/>
          </a:solidFill>
          <a:latin typeface="Calibri" panose="020F0502020204030204" pitchFamily="34" charset="0"/>
        </a:defRPr>
      </a:lvl4pPr>
      <a:lvl5pPr algn="l" rtl="0" eaLnBrk="1" fontAlgn="base" hangingPunct="1">
        <a:spcBef>
          <a:spcPct val="0"/>
        </a:spcBef>
        <a:spcAft>
          <a:spcPct val="0"/>
        </a:spcAft>
        <a:defRPr sz="2025">
          <a:solidFill>
            <a:schemeClr val="tx2"/>
          </a:solidFill>
          <a:latin typeface="Calibri" panose="020F0502020204030204" pitchFamily="34" charset="0"/>
        </a:defRPr>
      </a:lvl5pPr>
      <a:lvl6pPr marL="257175" algn="l" rtl="0" eaLnBrk="1" fontAlgn="base" hangingPunct="1">
        <a:spcBef>
          <a:spcPct val="0"/>
        </a:spcBef>
        <a:spcAft>
          <a:spcPct val="0"/>
        </a:spcAft>
        <a:defRPr sz="1800">
          <a:solidFill>
            <a:schemeClr val="tx2"/>
          </a:solidFill>
          <a:latin typeface="Calibri" panose="020F0502020204030204" pitchFamily="34" charset="0"/>
        </a:defRPr>
      </a:lvl6pPr>
      <a:lvl7pPr marL="514350" algn="l" rtl="0" eaLnBrk="1" fontAlgn="base" hangingPunct="1">
        <a:spcBef>
          <a:spcPct val="0"/>
        </a:spcBef>
        <a:spcAft>
          <a:spcPct val="0"/>
        </a:spcAft>
        <a:defRPr sz="1800">
          <a:solidFill>
            <a:schemeClr val="tx2"/>
          </a:solidFill>
          <a:latin typeface="Calibri" panose="020F0502020204030204" pitchFamily="34" charset="0"/>
        </a:defRPr>
      </a:lvl7pPr>
      <a:lvl8pPr marL="771525" algn="l" rtl="0" eaLnBrk="1" fontAlgn="base" hangingPunct="1">
        <a:spcBef>
          <a:spcPct val="0"/>
        </a:spcBef>
        <a:spcAft>
          <a:spcPct val="0"/>
        </a:spcAft>
        <a:defRPr sz="1800">
          <a:solidFill>
            <a:schemeClr val="tx2"/>
          </a:solidFill>
          <a:latin typeface="Calibri" panose="020F0502020204030204" pitchFamily="34" charset="0"/>
        </a:defRPr>
      </a:lvl8pPr>
      <a:lvl9pPr marL="1028700" algn="l" rtl="0" eaLnBrk="1" fontAlgn="base" hangingPunct="1">
        <a:spcBef>
          <a:spcPct val="0"/>
        </a:spcBef>
        <a:spcAft>
          <a:spcPct val="0"/>
        </a:spcAft>
        <a:defRPr sz="1800">
          <a:solidFill>
            <a:schemeClr val="tx2"/>
          </a:solidFill>
          <a:latin typeface="Calibri" panose="020F0502020204030204" pitchFamily="34" charset="0"/>
        </a:defRPr>
      </a:lvl9pPr>
    </p:titleStyle>
    <p:body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257175" algn="l" rtl="0" eaLnBrk="1" latinLnBrk="0" hangingPunct="1">
        <a:defRPr kumimoji="0" kern="1200">
          <a:solidFill>
            <a:schemeClr val="tx1"/>
          </a:solidFill>
          <a:latin typeface="+mn-lt"/>
          <a:ea typeface="+mn-ea"/>
          <a:cs typeface="+mn-cs"/>
        </a:defRPr>
      </a:lvl2pPr>
      <a:lvl3pPr marL="514350" algn="l" rtl="0" eaLnBrk="1" latinLnBrk="0" hangingPunct="1">
        <a:defRPr kumimoji="0" kern="1200">
          <a:solidFill>
            <a:schemeClr val="tx1"/>
          </a:solidFill>
          <a:latin typeface="+mn-lt"/>
          <a:ea typeface="+mn-ea"/>
          <a:cs typeface="+mn-cs"/>
        </a:defRPr>
      </a:lvl3pPr>
      <a:lvl4pPr marL="771525" algn="l" rtl="0" eaLnBrk="1" latinLnBrk="0" hangingPunct="1">
        <a:defRPr kumimoji="0" kern="1200">
          <a:solidFill>
            <a:schemeClr val="tx1"/>
          </a:solidFill>
          <a:latin typeface="+mn-lt"/>
          <a:ea typeface="+mn-ea"/>
          <a:cs typeface="+mn-cs"/>
        </a:defRPr>
      </a:lvl4pPr>
      <a:lvl5pPr marL="1028700" algn="l" rtl="0" eaLnBrk="1" latinLnBrk="0" hangingPunct="1">
        <a:defRPr kumimoji="0" kern="1200">
          <a:solidFill>
            <a:schemeClr val="tx1"/>
          </a:solidFill>
          <a:latin typeface="+mn-lt"/>
          <a:ea typeface="+mn-ea"/>
          <a:cs typeface="+mn-cs"/>
        </a:defRPr>
      </a:lvl5pPr>
      <a:lvl6pPr marL="1285875" algn="l" rtl="0" eaLnBrk="1" latinLnBrk="0" hangingPunct="1">
        <a:defRPr kumimoji="0" kern="1200">
          <a:solidFill>
            <a:schemeClr val="tx1"/>
          </a:solidFill>
          <a:latin typeface="+mn-lt"/>
          <a:ea typeface="+mn-ea"/>
          <a:cs typeface="+mn-cs"/>
        </a:defRPr>
      </a:lvl6pPr>
      <a:lvl7pPr marL="1543050" algn="l" rtl="0" eaLnBrk="1" latinLnBrk="0" hangingPunct="1">
        <a:defRPr kumimoji="0" kern="1200">
          <a:solidFill>
            <a:schemeClr val="tx1"/>
          </a:solidFill>
          <a:latin typeface="+mn-lt"/>
          <a:ea typeface="+mn-ea"/>
          <a:cs typeface="+mn-cs"/>
        </a:defRPr>
      </a:lvl7pPr>
      <a:lvl8pPr marL="1800225" algn="l" rtl="0" eaLnBrk="1" latinLnBrk="0" hangingPunct="1">
        <a:defRPr kumimoji="0" kern="1200">
          <a:solidFill>
            <a:schemeClr val="tx1"/>
          </a:solidFill>
          <a:latin typeface="+mn-lt"/>
          <a:ea typeface="+mn-ea"/>
          <a:cs typeface="+mn-cs"/>
        </a:defRPr>
      </a:lvl8pPr>
      <a:lvl9pPr marL="20574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hao910904@suda.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eb.suda.edu.cn/yyc/"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hyperlink" Target="https://www.nuscenes.or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4.xml"/><Relationship Id="rId1" Type="http://schemas.openxmlformats.org/officeDocument/2006/relationships/tags" Target="../tags/tag1.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0.jpeg"/></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3.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8.jpe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37.tmp"/><Relationship Id="rId4" Type="http://schemas.openxmlformats.org/officeDocument/2006/relationships/image" Target="../media/image36.tmp"/></Relationships>
</file>

<file path=ppt/slides/_rels/slide33.xml.rels><?xml version="1.0" encoding="UTF-8" standalone="yes"?>
<Relationships xmlns="http://schemas.openxmlformats.org/package/2006/relationships"><Relationship Id="rId3" Type="http://schemas.openxmlformats.org/officeDocument/2006/relationships/hyperlink" Target="https://zhuanlan.zhihu.com/p/667564286" TargetMode="External"/><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40.gif"/></Relationships>
</file>

<file path=ppt/slides/_rels/slide36.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image" Target="../media/image41.gif"/><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p:txBody>
          <a:bodyPr/>
          <a:lstStyle/>
          <a:p>
            <a:r>
              <a:rPr lang="zh-CN" altLang="en-US"/>
              <a:t>卷积神经网络</a:t>
            </a:r>
            <a:endParaRPr lang="zh-CN" altLang="en-US" dirty="0"/>
          </a:p>
        </p:txBody>
      </p:sp>
      <p:sp>
        <p:nvSpPr>
          <p:cNvPr id="6" name="副标题 5"/>
          <p:cNvSpPr>
            <a:spLocks noGrp="1"/>
          </p:cNvSpPr>
          <p:nvPr>
            <p:ph type="subTitle" idx="1"/>
          </p:nvPr>
        </p:nvSpPr>
        <p:spPr/>
        <p:txBody>
          <a:bodyPr/>
          <a:lstStyle/>
          <a:p>
            <a:r>
              <a:rPr lang="en-US" altLang="zh-CN"/>
              <a:t>《</a:t>
            </a:r>
            <a:r>
              <a:rPr lang="zh-CN" altLang="en-US"/>
              <a:t>神经网络与深度学习</a:t>
            </a:r>
            <a:r>
              <a:rPr lang="en-US" altLang="zh-CN"/>
              <a:t>》</a:t>
            </a:r>
            <a:endParaRPr lang="zh-CN" altLang="en-US" dirty="0"/>
          </a:p>
        </p:txBody>
      </p:sp>
      <p:sp>
        <p:nvSpPr>
          <p:cNvPr id="15" name="Text Placeholder 14"/>
          <p:cNvSpPr>
            <a:spLocks noGrp="1"/>
          </p:cNvSpPr>
          <p:nvPr>
            <p:ph type="body" sz="quarter" idx="10"/>
          </p:nvPr>
        </p:nvSpPr>
        <p:spPr>
          <a:xfrm>
            <a:off x="2457523" y="5410200"/>
            <a:ext cx="8972477" cy="1280888"/>
          </a:xfrm>
        </p:spPr>
        <p:txBody>
          <a:bodyPr/>
          <a:lstStyle/>
          <a:p>
            <a:r>
              <a:rPr kumimoji="1" lang="zh-CN" altLang="en-US" dirty="0">
                <a:latin typeface="微软雅黑" panose="020B0503020204020204" pitchFamily="82" charset="2"/>
                <a:ea typeface="微软雅黑" panose="020B0503020204020204" pitchFamily="82" charset="2"/>
              </a:rPr>
              <a:t>袁亚超</a:t>
            </a:r>
            <a:endParaRPr kumimoji="1" lang="en-US" altLang="zh-CN" dirty="0">
              <a:latin typeface="微软雅黑" panose="020B0503020204020204" pitchFamily="82" charset="2"/>
              <a:ea typeface="微软雅黑" panose="020B0503020204020204" pitchFamily="82" charset="2"/>
            </a:endParaRPr>
          </a:p>
          <a:p>
            <a:r>
              <a:rPr kumimoji="1" lang="en-US" altLang="zh-CN" dirty="0">
                <a:latin typeface="微软雅黑" panose="020B0503020204020204" pitchFamily="82" charset="2"/>
                <a:ea typeface="微软雅黑" panose="020B0503020204020204" pitchFamily="82" charset="2"/>
                <a:hlinkClick r:id="rId3">
                  <a:extLst>
                    <a:ext uri="{A12FA001-AC4F-418D-AE19-62706E023703}">
                      <ahyp:hlinkClr xmlns:ahyp="http://schemas.microsoft.com/office/drawing/2018/hyperlinkcolor" val="tx"/>
                    </a:ext>
                  </a:extLst>
                </a:hlinkClick>
              </a:rPr>
              <a:t>chao910904@suda.edu.cn</a:t>
            </a:r>
            <a:r>
              <a:rPr kumimoji="1" lang="en-US" altLang="zh-CN" dirty="0">
                <a:latin typeface="微软雅黑" panose="020B0503020204020204" pitchFamily="82" charset="2"/>
                <a:ea typeface="微软雅黑" panose="020B0503020204020204" pitchFamily="82" charset="2"/>
              </a:rPr>
              <a:t>  </a:t>
            </a:r>
          </a:p>
          <a:p>
            <a:r>
              <a:rPr kumimoji="1" lang="en-US" altLang="zh-CN" dirty="0">
                <a:latin typeface="微软雅黑" panose="020B0503020204020204" pitchFamily="82" charset="2"/>
                <a:ea typeface="微软雅黑" panose="020B0503020204020204" pitchFamily="82" charset="2"/>
                <a:hlinkClick r:id="rId4">
                  <a:extLst>
                    <a:ext uri="{A12FA001-AC4F-418D-AE19-62706E023703}">
                      <ahyp:hlinkClr xmlns:ahyp="http://schemas.microsoft.com/office/drawing/2018/hyperlinkcolor" val="tx"/>
                    </a:ext>
                  </a:extLst>
                </a:hlinkClick>
              </a:rPr>
              <a:t>https://web.suda.edu.cn/yyc/</a:t>
            </a:r>
            <a:r>
              <a:rPr kumimoji="1" lang="en-US" altLang="zh-CN" dirty="0">
                <a:latin typeface="微软雅黑" panose="020B0503020204020204" pitchFamily="82" charset="2"/>
                <a:ea typeface="微软雅黑" panose="020B0503020204020204" pitchFamily="82" charset="2"/>
              </a:rPr>
              <a:t> </a:t>
            </a:r>
            <a:endParaRPr kumimoji="1" lang="zh-CN" altLang="en-US" dirty="0">
              <a:latin typeface="微软雅黑" panose="020B0503020204020204" pitchFamily="82" charset="2"/>
              <a:ea typeface="微软雅黑" panose="020B0503020204020204" pitchFamily="82" charset="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260A5D-211A-4C82-B9C1-92E135D308E7}"/>
              </a:ext>
            </a:extLst>
          </p:cNvPr>
          <p:cNvSpPr>
            <a:spLocks noGrp="1"/>
          </p:cNvSpPr>
          <p:nvPr>
            <p:ph type="ctrTitle"/>
          </p:nvPr>
        </p:nvSpPr>
        <p:spPr/>
        <p:txBody>
          <a:bodyPr/>
          <a:lstStyle/>
          <a:p>
            <a:r>
              <a:rPr lang="zh-CN" altLang="en-US" dirty="0"/>
              <a:t>应用场景</a:t>
            </a:r>
          </a:p>
        </p:txBody>
      </p:sp>
    </p:spTree>
    <p:extLst>
      <p:ext uri="{BB962C8B-B14F-4D97-AF65-F5344CB8AC3E}">
        <p14:creationId xmlns:p14="http://schemas.microsoft.com/office/powerpoint/2010/main" val="2538763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AlphaGo</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133600" y="1905000"/>
            <a:ext cx="7841038" cy="2940925"/>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343401" y="33419"/>
            <a:ext cx="5747877" cy="1793693"/>
          </a:xfrm>
          <a:prstGeom prst="rect">
            <a:avLst/>
          </a:prstGeom>
        </p:spPr>
      </p:pic>
      <p:sp>
        <p:nvSpPr>
          <p:cNvPr id="6" name="矩形 5">
            <a:extLst>
              <a:ext uri="{FF2B5EF4-FFF2-40B4-BE49-F238E27FC236}">
                <a16:creationId xmlns:a16="http://schemas.microsoft.com/office/drawing/2014/main" id="{DC27F3A4-D5F6-4329-AC3E-68128A32FA0C}"/>
              </a:ext>
            </a:extLst>
          </p:cNvPr>
          <p:cNvSpPr/>
          <p:nvPr/>
        </p:nvSpPr>
        <p:spPr>
          <a:xfrm>
            <a:off x="1524000" y="5261249"/>
            <a:ext cx="6096000" cy="923330"/>
          </a:xfrm>
          <a:prstGeom prst="rect">
            <a:avLst/>
          </a:prstGeom>
        </p:spPr>
        <p:txBody>
          <a:bodyPr>
            <a:spAutoFit/>
          </a:bodyPr>
          <a:lstStyle/>
          <a:p>
            <a:r>
              <a:rPr lang="zh-CN" altLang="en-US" dirty="0">
                <a:solidFill>
                  <a:srgbClr val="FF0000"/>
                </a:solidFill>
              </a:rPr>
              <a:t>分布式系统：</a:t>
            </a:r>
            <a:r>
              <a:rPr lang="en-US" altLang="zh-CN" dirty="0">
                <a:solidFill>
                  <a:srgbClr val="FF0000"/>
                </a:solidFill>
              </a:rPr>
              <a:t>1202 </a:t>
            </a:r>
            <a:r>
              <a:rPr lang="zh-CN" altLang="en-US" dirty="0">
                <a:solidFill>
                  <a:srgbClr val="FF0000"/>
                </a:solidFill>
              </a:rPr>
              <a:t>个</a:t>
            </a:r>
            <a:r>
              <a:rPr lang="en-US" altLang="zh-CN" dirty="0">
                <a:solidFill>
                  <a:srgbClr val="FF0000"/>
                </a:solidFill>
              </a:rPr>
              <a:t>CPU </a:t>
            </a:r>
            <a:r>
              <a:rPr lang="zh-CN" altLang="en-US" dirty="0">
                <a:solidFill>
                  <a:srgbClr val="FF0000"/>
                </a:solidFill>
              </a:rPr>
              <a:t>和</a:t>
            </a:r>
            <a:r>
              <a:rPr lang="en-US" altLang="zh-CN" dirty="0">
                <a:solidFill>
                  <a:srgbClr val="FF0000"/>
                </a:solidFill>
              </a:rPr>
              <a:t>176 </a:t>
            </a:r>
            <a:r>
              <a:rPr lang="zh-CN" altLang="en-US" dirty="0">
                <a:solidFill>
                  <a:srgbClr val="FF0000"/>
                </a:solidFill>
              </a:rPr>
              <a:t>块</a:t>
            </a:r>
            <a:r>
              <a:rPr lang="en-US" altLang="zh-CN" dirty="0">
                <a:solidFill>
                  <a:srgbClr val="FF0000"/>
                </a:solidFill>
              </a:rPr>
              <a:t>GPU</a:t>
            </a:r>
          </a:p>
          <a:p>
            <a:r>
              <a:rPr lang="zh-CN" altLang="en-US" dirty="0">
                <a:solidFill>
                  <a:srgbClr val="FF0000"/>
                </a:solidFill>
              </a:rPr>
              <a:t>单机版：</a:t>
            </a:r>
            <a:r>
              <a:rPr lang="en-US" altLang="zh-CN" dirty="0">
                <a:solidFill>
                  <a:srgbClr val="FF0000"/>
                </a:solidFill>
              </a:rPr>
              <a:t>48 </a:t>
            </a:r>
            <a:r>
              <a:rPr lang="zh-CN" altLang="en-US" dirty="0">
                <a:solidFill>
                  <a:srgbClr val="FF0000"/>
                </a:solidFill>
              </a:rPr>
              <a:t>个</a:t>
            </a:r>
            <a:r>
              <a:rPr lang="en-US" altLang="zh-CN" dirty="0">
                <a:solidFill>
                  <a:srgbClr val="FF0000"/>
                </a:solidFill>
              </a:rPr>
              <a:t>CPU </a:t>
            </a:r>
            <a:r>
              <a:rPr lang="zh-CN" altLang="en-US" dirty="0">
                <a:solidFill>
                  <a:srgbClr val="FF0000"/>
                </a:solidFill>
              </a:rPr>
              <a:t>和</a:t>
            </a:r>
            <a:r>
              <a:rPr lang="en-US" altLang="zh-CN" dirty="0">
                <a:solidFill>
                  <a:srgbClr val="FF0000"/>
                </a:solidFill>
              </a:rPr>
              <a:t>8 </a:t>
            </a:r>
            <a:r>
              <a:rPr lang="zh-CN" altLang="en-US" dirty="0">
                <a:solidFill>
                  <a:srgbClr val="FF0000"/>
                </a:solidFill>
              </a:rPr>
              <a:t>块</a:t>
            </a:r>
            <a:r>
              <a:rPr lang="en-US" altLang="zh-CN" dirty="0">
                <a:solidFill>
                  <a:srgbClr val="FF0000"/>
                </a:solidFill>
              </a:rPr>
              <a:t>GPU</a:t>
            </a:r>
          </a:p>
          <a:p>
            <a:r>
              <a:rPr lang="zh-CN" altLang="en-US" dirty="0">
                <a:solidFill>
                  <a:srgbClr val="FF0000"/>
                </a:solidFill>
              </a:rPr>
              <a:t>走子速度：</a:t>
            </a:r>
            <a:r>
              <a:rPr lang="en-US" altLang="zh-CN" dirty="0">
                <a:solidFill>
                  <a:srgbClr val="FF0000"/>
                </a:solidFill>
              </a:rPr>
              <a:t>3 </a:t>
            </a:r>
            <a:r>
              <a:rPr lang="zh-CN" altLang="en-US" dirty="0">
                <a:solidFill>
                  <a:srgbClr val="FF0000"/>
                </a:solidFill>
              </a:rPr>
              <a:t>毫秒</a:t>
            </a:r>
            <a:r>
              <a:rPr lang="en-US" altLang="zh-CN" dirty="0">
                <a:solidFill>
                  <a:srgbClr val="FF0000"/>
                </a:solidFill>
              </a:rPr>
              <a:t>-2 </a:t>
            </a:r>
            <a:r>
              <a:rPr lang="zh-CN" altLang="en-US" dirty="0">
                <a:solidFill>
                  <a:srgbClr val="FF0000"/>
                </a:solidFill>
              </a:rPr>
              <a:t>微秒</a:t>
            </a:r>
          </a:p>
        </p:txBody>
      </p:sp>
      <p:sp>
        <p:nvSpPr>
          <p:cNvPr id="10" name="文本框 9">
            <a:extLst>
              <a:ext uri="{FF2B5EF4-FFF2-40B4-BE49-F238E27FC236}">
                <a16:creationId xmlns:a16="http://schemas.microsoft.com/office/drawing/2014/main" id="{FA723FAC-497F-474A-B521-07ABB25A1EC5}"/>
              </a:ext>
            </a:extLst>
          </p:cNvPr>
          <p:cNvSpPr txBox="1"/>
          <p:nvPr/>
        </p:nvSpPr>
        <p:spPr>
          <a:xfrm>
            <a:off x="6248400" y="5424068"/>
            <a:ext cx="5747877" cy="461665"/>
          </a:xfrm>
          <a:prstGeom prst="rect">
            <a:avLst/>
          </a:prstGeom>
          <a:noFill/>
        </p:spPr>
        <p:txBody>
          <a:bodyPr wrap="square">
            <a:spAutoFit/>
          </a:bodyPr>
          <a:lstStyle/>
          <a:p>
            <a:pPr algn="l"/>
            <a:r>
              <a:rPr lang="en-US" altLang="zh-CN" sz="1200" b="0" i="0" dirty="0">
                <a:solidFill>
                  <a:srgbClr val="222222"/>
                </a:solidFill>
                <a:effectLst/>
                <a:latin typeface="-apple-system"/>
              </a:rPr>
              <a:t>Silver, D., </a:t>
            </a:r>
            <a:r>
              <a:rPr lang="en-US" altLang="zh-CN" sz="1200" b="0" i="0" dirty="0" err="1">
                <a:solidFill>
                  <a:srgbClr val="222222"/>
                </a:solidFill>
                <a:effectLst/>
                <a:latin typeface="-apple-system"/>
              </a:rPr>
              <a:t>Schrittwieser</a:t>
            </a:r>
            <a:r>
              <a:rPr lang="en-US" altLang="zh-CN" sz="1200" b="0" i="0" dirty="0">
                <a:solidFill>
                  <a:srgbClr val="222222"/>
                </a:solidFill>
                <a:effectLst/>
                <a:latin typeface="-apple-system"/>
              </a:rPr>
              <a:t>, J., </a:t>
            </a:r>
            <a:r>
              <a:rPr lang="en-US" altLang="zh-CN" sz="1200" b="0" i="0" dirty="0" err="1">
                <a:solidFill>
                  <a:srgbClr val="222222"/>
                </a:solidFill>
                <a:effectLst/>
                <a:latin typeface="-apple-system"/>
              </a:rPr>
              <a:t>Simonyan</a:t>
            </a:r>
            <a:r>
              <a:rPr lang="en-US" altLang="zh-CN" sz="1200" b="0" i="0" dirty="0">
                <a:solidFill>
                  <a:srgbClr val="222222"/>
                </a:solidFill>
                <a:effectLst/>
                <a:latin typeface="-apple-system"/>
              </a:rPr>
              <a:t>, K. </a:t>
            </a:r>
            <a:r>
              <a:rPr lang="en-US" altLang="zh-CN" sz="1200" b="0" i="1" dirty="0">
                <a:solidFill>
                  <a:srgbClr val="222222"/>
                </a:solidFill>
                <a:effectLst/>
                <a:latin typeface="-apple-system"/>
              </a:rPr>
              <a:t>et al.</a:t>
            </a:r>
            <a:r>
              <a:rPr lang="en-US" altLang="zh-CN" sz="1200" b="0" i="0" dirty="0">
                <a:solidFill>
                  <a:srgbClr val="222222"/>
                </a:solidFill>
                <a:effectLst/>
                <a:latin typeface="-apple-system"/>
              </a:rPr>
              <a:t> Mastering the game of Go without human knowledge. </a:t>
            </a:r>
            <a:r>
              <a:rPr lang="en-US" altLang="zh-CN" sz="1200" b="0" i="1" dirty="0">
                <a:solidFill>
                  <a:srgbClr val="FF0000"/>
                </a:solidFill>
                <a:effectLst/>
                <a:latin typeface="-apple-system"/>
              </a:rPr>
              <a:t>Nature</a:t>
            </a:r>
            <a:r>
              <a:rPr lang="en-US" altLang="zh-CN" sz="1200" b="0" i="0" dirty="0">
                <a:solidFill>
                  <a:srgbClr val="222222"/>
                </a:solidFill>
                <a:effectLst/>
                <a:latin typeface="-apple-system"/>
              </a:rPr>
              <a:t> </a:t>
            </a:r>
            <a:r>
              <a:rPr lang="en-US" altLang="zh-CN" sz="1200" b="1" i="0" dirty="0">
                <a:solidFill>
                  <a:srgbClr val="222222"/>
                </a:solidFill>
                <a:effectLst/>
                <a:latin typeface="-apple-system"/>
              </a:rPr>
              <a:t>550</a:t>
            </a:r>
            <a:r>
              <a:rPr lang="en-US" altLang="zh-CN" sz="1200" b="0" i="0" dirty="0">
                <a:solidFill>
                  <a:srgbClr val="222222"/>
                </a:solidFill>
                <a:effectLst/>
                <a:latin typeface="-apple-system"/>
              </a:rPr>
              <a:t>, 354–359 (2017). https://doi.org/10.1038/nature24270</a:t>
            </a:r>
            <a:endParaRPr lang="zh-CN" altLang="en-US" sz="1200" dirty="0">
              <a:latin typeface="+mn-lt"/>
            </a:endParaRPr>
          </a:p>
        </p:txBody>
      </p:sp>
      <p:pic>
        <p:nvPicPr>
          <p:cNvPr id="1026" name="Picture 2" descr="深度学习（四十三）——深度强化学习（6）AlphaGo全系列_alphago系列-CSDN博客">
            <a:extLst>
              <a:ext uri="{FF2B5EF4-FFF2-40B4-BE49-F238E27FC236}">
                <a16:creationId xmlns:a16="http://schemas.microsoft.com/office/drawing/2014/main" id="{770CF56A-99EE-4425-8944-6563CCB437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50" y="1500762"/>
            <a:ext cx="12172950" cy="3552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6554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500"/>
                                        <p:tgtEl>
                                          <p:spTgt spid="4"/>
                                        </p:tgtEl>
                                      </p:cBhvr>
                                    </p:animEffect>
                                    <p:set>
                                      <p:cBhvr>
                                        <p:cTn id="20" dur="1" fill="hold">
                                          <p:stCondLst>
                                            <p:cond delay="499"/>
                                          </p:stCondLst>
                                        </p:cTn>
                                        <p:tgtEl>
                                          <p:spTgt spid="4"/>
                                        </p:tgtEl>
                                        <p:attrNameLst>
                                          <p:attrName>style.visibility</p:attrName>
                                        </p:attrNameLst>
                                      </p:cBhvr>
                                      <p:to>
                                        <p:strVal val="hidden"/>
                                      </p:to>
                                    </p:set>
                                  </p:childTnLst>
                                </p:cTn>
                              </p:par>
                              <p:par>
                                <p:cTn id="21" presetID="10" presetClass="exit" presetSubtype="0" fill="hold" grpId="1" nodeType="withEffect">
                                  <p:stCondLst>
                                    <p:cond delay="0"/>
                                  </p:stCondLst>
                                  <p:childTnLst>
                                    <p:animEffect transition="out" filter="fade">
                                      <p:cBhvr>
                                        <p:cTn id="22" dur="500"/>
                                        <p:tgtEl>
                                          <p:spTgt spid="6"/>
                                        </p:tgtEl>
                                      </p:cBhvr>
                                    </p:animEffect>
                                    <p:set>
                                      <p:cBhvr>
                                        <p:cTn id="23" dur="1" fill="hold">
                                          <p:stCondLst>
                                            <p:cond delay="499"/>
                                          </p:stCondLst>
                                        </p:cTn>
                                        <p:tgtEl>
                                          <p:spTgt spid="6"/>
                                        </p:tgtEl>
                                        <p:attrNameLst>
                                          <p:attrName>style.visibility</p:attrName>
                                        </p:attrNameLst>
                                      </p:cBhvr>
                                      <p:to>
                                        <p:strVal val="hidden"/>
                                      </p:to>
                                    </p:set>
                                  </p:childTnLst>
                                </p:cTn>
                              </p:par>
                              <p:par>
                                <p:cTn id="24" presetID="10" presetClass="exit" presetSubtype="0" fill="hold" grpId="1" nodeType="withEffect">
                                  <p:stCondLst>
                                    <p:cond delay="0"/>
                                  </p:stCondLst>
                                  <p:childTnLst>
                                    <p:animEffect transition="out" filter="fade">
                                      <p:cBhvr>
                                        <p:cTn id="25" dur="500"/>
                                        <p:tgtEl>
                                          <p:spTgt spid="10"/>
                                        </p:tgtEl>
                                      </p:cBhvr>
                                    </p:animEffect>
                                    <p:set>
                                      <p:cBhvr>
                                        <p:cTn id="26" dur="1" fill="hold">
                                          <p:stCondLst>
                                            <p:cond delay="499"/>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10" grpId="0"/>
      <p:bldP spid="10"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8A32DC-6A94-404E-A117-201A8D33A2AE}"/>
              </a:ext>
            </a:extLst>
          </p:cNvPr>
          <p:cNvSpPr>
            <a:spLocks noGrp="1"/>
          </p:cNvSpPr>
          <p:nvPr>
            <p:ph type="title"/>
          </p:nvPr>
        </p:nvSpPr>
        <p:spPr/>
        <p:txBody>
          <a:bodyPr/>
          <a:lstStyle/>
          <a:p>
            <a:r>
              <a:rPr lang="zh-CN" altLang="en-US" dirty="0"/>
              <a:t>目标检测（</a:t>
            </a:r>
            <a:r>
              <a:rPr lang="en-US" altLang="zh-CN" dirty="0"/>
              <a:t>Object Detection</a:t>
            </a:r>
            <a:r>
              <a:rPr lang="zh-CN" altLang="en-US" dirty="0"/>
              <a:t>）</a:t>
            </a:r>
          </a:p>
        </p:txBody>
      </p:sp>
      <p:pic>
        <p:nvPicPr>
          <p:cNvPr id="1026" name="Picture 2" descr="Image result for Object Detection">
            <a:extLst>
              <a:ext uri="{FF2B5EF4-FFF2-40B4-BE49-F238E27FC236}">
                <a16:creationId xmlns:a16="http://schemas.microsoft.com/office/drawing/2014/main" id="{1D6AD1AA-B4F1-408D-835A-D43BB2831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233489"/>
            <a:ext cx="7315200" cy="4391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617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15B24-9DC0-4DE9-92F4-3A343DC02EAF}"/>
              </a:ext>
            </a:extLst>
          </p:cNvPr>
          <p:cNvSpPr>
            <a:spLocks noGrp="1"/>
          </p:cNvSpPr>
          <p:nvPr>
            <p:ph type="title"/>
          </p:nvPr>
        </p:nvSpPr>
        <p:spPr/>
        <p:txBody>
          <a:bodyPr/>
          <a:lstStyle/>
          <a:p>
            <a:r>
              <a:rPr lang="zh-CN" altLang="en-US" dirty="0"/>
              <a:t>自动驾驶</a:t>
            </a:r>
            <a:r>
              <a:rPr lang="en-US" altLang="zh-CN" dirty="0"/>
              <a:t>3D</a:t>
            </a:r>
            <a:r>
              <a:rPr lang="zh-CN" altLang="en-US" dirty="0"/>
              <a:t>目标检测</a:t>
            </a:r>
            <a:r>
              <a:rPr lang="en-US" altLang="zh-CN" dirty="0"/>
              <a:t>/</a:t>
            </a:r>
            <a:r>
              <a:rPr lang="zh-CN" altLang="en-US" dirty="0"/>
              <a:t>追踪</a:t>
            </a:r>
          </a:p>
        </p:txBody>
      </p:sp>
      <p:pic>
        <p:nvPicPr>
          <p:cNvPr id="2050" name="Picture 2" descr="在这里插入图片描述">
            <a:extLst>
              <a:ext uri="{FF2B5EF4-FFF2-40B4-BE49-F238E27FC236}">
                <a16:creationId xmlns:a16="http://schemas.microsoft.com/office/drawing/2014/main" id="{A4DB2C4C-5C87-4BFB-A72E-59E66D80DB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6572" y="885811"/>
            <a:ext cx="5281592" cy="2667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在这里插入图片描述">
            <a:extLst>
              <a:ext uri="{FF2B5EF4-FFF2-40B4-BE49-F238E27FC236}">
                <a16:creationId xmlns:a16="http://schemas.microsoft.com/office/drawing/2014/main" id="{8EF7E658-0622-4F11-B692-D4108F0A62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762000"/>
            <a:ext cx="2590800" cy="517680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3FE74A76-9EBF-4151-B690-30439B32B86E}"/>
              </a:ext>
            </a:extLst>
          </p:cNvPr>
          <p:cNvSpPr txBox="1"/>
          <p:nvPr/>
        </p:nvSpPr>
        <p:spPr>
          <a:xfrm>
            <a:off x="7543800" y="6096000"/>
            <a:ext cx="3810000" cy="369332"/>
          </a:xfrm>
          <a:prstGeom prst="rect">
            <a:avLst/>
          </a:prstGeom>
          <a:noFill/>
        </p:spPr>
        <p:txBody>
          <a:bodyPr wrap="square" rtlCol="0">
            <a:spAutoFit/>
          </a:bodyPr>
          <a:lstStyle/>
          <a:p>
            <a:r>
              <a:rPr lang="zh-CN" altLang="en-US" dirty="0"/>
              <a:t>图片来源：</a:t>
            </a:r>
            <a:r>
              <a:rPr lang="en-US" altLang="zh-CN" dirty="0">
                <a:hlinkClick r:id="rId4"/>
              </a:rPr>
              <a:t> nuscenes.org</a:t>
            </a:r>
            <a:endParaRPr lang="zh-CN" altLang="en-US" dirty="0"/>
          </a:p>
        </p:txBody>
      </p:sp>
      <p:pic>
        <p:nvPicPr>
          <p:cNvPr id="5" name="图片 4">
            <a:extLst>
              <a:ext uri="{FF2B5EF4-FFF2-40B4-BE49-F238E27FC236}">
                <a16:creationId xmlns:a16="http://schemas.microsoft.com/office/drawing/2014/main" id="{57B26ABC-2685-4F93-BE44-8EEA7A80E925}"/>
              </a:ext>
            </a:extLst>
          </p:cNvPr>
          <p:cNvPicPr>
            <a:picLocks noChangeAspect="1"/>
          </p:cNvPicPr>
          <p:nvPr/>
        </p:nvPicPr>
        <p:blipFill>
          <a:blip r:embed="rId5"/>
          <a:stretch>
            <a:fillRect/>
          </a:stretch>
        </p:blipFill>
        <p:spPr>
          <a:xfrm>
            <a:off x="381000" y="3777734"/>
            <a:ext cx="6954798" cy="2318266"/>
          </a:xfrm>
          <a:prstGeom prst="rect">
            <a:avLst/>
          </a:prstGeom>
        </p:spPr>
      </p:pic>
    </p:spTree>
    <p:extLst>
      <p:ext uri="{BB962C8B-B14F-4D97-AF65-F5344CB8AC3E}">
        <p14:creationId xmlns:p14="http://schemas.microsoft.com/office/powerpoint/2010/main" val="206011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图像分割</a:t>
            </a:r>
          </a:p>
        </p:txBody>
      </p:sp>
      <p:pic>
        <p:nvPicPr>
          <p:cNvPr id="6146" name="Picture 2" descr="https://pic1.zhimg.com/80/v2-a98a48e39a854e74c84b52c59cb8d5b4_hd.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971801" y="1295401"/>
            <a:ext cx="6029325" cy="276225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preview"/>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005693" y="1311730"/>
            <a:ext cx="8248650" cy="459105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377454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OCR</a:t>
            </a:r>
            <a:endParaRPr lang="zh-CN" altLang="en-US" dirty="0"/>
          </a:p>
        </p:txBody>
      </p:sp>
      <p:pic>
        <p:nvPicPr>
          <p:cNvPr id="1026" name="Picture 2" descr="Image result for cnn wild text neural">
            <a:extLst>
              <a:ext uri="{FF2B5EF4-FFF2-40B4-BE49-F238E27FC236}">
                <a16:creationId xmlns:a16="http://schemas.microsoft.com/office/drawing/2014/main" id="{39F11B98-48AD-422D-A175-463E3E28F9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1" y="1600200"/>
            <a:ext cx="7362825" cy="3467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1120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图像生成</a:t>
            </a:r>
          </a:p>
        </p:txBody>
      </p:sp>
      <p:pic>
        <p:nvPicPr>
          <p:cNvPr id="4098" name="Picture 2" descr="https://78.media.tumblr.com/7db78e74b338d718d0fc505b494de469/tumblr_o03o2hiSRm1qav3uso1_540.gif"/>
          <p:cNvPicPr>
            <a:picLocks noChangeAspect="1" noChangeArrowheads="1" noCrop="1"/>
          </p:cNvPicPr>
          <p:nvPr/>
        </p:nvPicPr>
        <p:blipFill>
          <a:blip r:embed="rId2">
            <a:extLst>
              <a:ext uri="{28A0092B-C50C-407E-A947-70E740481C1C}">
                <a14:useLocalDpi xmlns:a14="http://schemas.microsoft.com/office/drawing/2010/main"/>
              </a:ext>
            </a:extLst>
          </a:blip>
          <a:srcRect/>
          <a:stretch>
            <a:fillRect/>
          </a:stretch>
        </p:blipFill>
        <p:spPr bwMode="auto">
          <a:xfrm>
            <a:off x="2971800" y="1752600"/>
            <a:ext cx="5638800" cy="422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337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09800" y="1143000"/>
            <a:ext cx="7620000" cy="5067300"/>
          </a:xfrm>
          <a:prstGeom prst="rect">
            <a:avLst/>
          </a:prstGeom>
        </p:spPr>
      </p:pic>
      <p:sp>
        <p:nvSpPr>
          <p:cNvPr id="2" name="标题 1"/>
          <p:cNvSpPr>
            <a:spLocks noGrp="1"/>
          </p:cNvSpPr>
          <p:nvPr>
            <p:ph type="title"/>
          </p:nvPr>
        </p:nvSpPr>
        <p:spPr/>
        <p:txBody>
          <a:bodyPr/>
          <a:lstStyle/>
          <a:p>
            <a:r>
              <a:rPr lang="en-US" altLang="zh-CN" dirty="0"/>
              <a:t>Deep Dream</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223179" y="1143000"/>
            <a:ext cx="7630757" cy="5067300"/>
          </a:xfrm>
          <a:prstGeom prst="rect">
            <a:avLst/>
          </a:prstGeom>
        </p:spPr>
      </p:pic>
    </p:spTree>
    <p:extLst>
      <p:ext uri="{BB962C8B-B14F-4D97-AF65-F5344CB8AC3E}">
        <p14:creationId xmlns:p14="http://schemas.microsoft.com/office/powerpoint/2010/main" val="1245443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画风迁移</a:t>
            </a:r>
          </a:p>
        </p:txBody>
      </p:sp>
      <p:pic>
        <p:nvPicPr>
          <p:cNvPr id="3" name="图片 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667000" y="1371600"/>
            <a:ext cx="6533626" cy="4876800"/>
          </a:xfrm>
          <a:prstGeom prst="rect">
            <a:avLst/>
          </a:prstGeom>
        </p:spPr>
      </p:pic>
    </p:spTree>
    <p:extLst>
      <p:ext uri="{BB962C8B-B14F-4D97-AF65-F5344CB8AC3E}">
        <p14:creationId xmlns:p14="http://schemas.microsoft.com/office/powerpoint/2010/main" val="161103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对抗样本</a:t>
            </a:r>
          </a:p>
        </p:txBody>
      </p:sp>
      <p:pic>
        <p:nvPicPr>
          <p:cNvPr id="3" name="图片 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524000" y="1447800"/>
            <a:ext cx="9144000" cy="4540344"/>
          </a:xfrm>
          <a:prstGeom prst="rect">
            <a:avLst/>
          </a:prstGeom>
        </p:spPr>
      </p:pic>
    </p:spTree>
    <p:extLst>
      <p:ext uri="{BB962C8B-B14F-4D97-AF65-F5344CB8AC3E}">
        <p14:creationId xmlns:p14="http://schemas.microsoft.com/office/powerpoint/2010/main" val="1173129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260A5D-211A-4C82-B9C1-92E135D308E7}"/>
              </a:ext>
            </a:extLst>
          </p:cNvPr>
          <p:cNvSpPr>
            <a:spLocks noGrp="1"/>
          </p:cNvSpPr>
          <p:nvPr>
            <p:ph type="ctrTitle"/>
          </p:nvPr>
        </p:nvSpPr>
        <p:spPr/>
        <p:txBody>
          <a:bodyPr/>
          <a:lstStyle/>
          <a:p>
            <a:r>
              <a:rPr lang="zh-CN" altLang="en-US" dirty="0"/>
              <a:t>基本卷积神经网络结构及运算</a:t>
            </a:r>
          </a:p>
        </p:txBody>
      </p:sp>
    </p:spTree>
    <p:extLst>
      <p:ext uri="{BB962C8B-B14F-4D97-AF65-F5344CB8AC3E}">
        <p14:creationId xmlns:p14="http://schemas.microsoft.com/office/powerpoint/2010/main" val="307989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全连接前馈神经网络 </a:t>
            </a:r>
            <a:r>
              <a:rPr lang="en-US" altLang="zh-CN" dirty="0"/>
              <a:t>VS </a:t>
            </a:r>
            <a:r>
              <a:rPr lang="zh-CN" altLang="en-US" dirty="0"/>
              <a:t>卷积神经网络</a:t>
            </a:r>
            <a:endParaRPr lang="en-US" altLang="zh-CN" dirty="0"/>
          </a:p>
        </p:txBody>
      </p:sp>
      <p:sp>
        <p:nvSpPr>
          <p:cNvPr id="3" name="内容占位符 2"/>
          <p:cNvSpPr>
            <a:spLocks noGrp="1"/>
          </p:cNvSpPr>
          <p:nvPr>
            <p:ph idx="1"/>
          </p:nvPr>
        </p:nvSpPr>
        <p:spPr/>
        <p:txBody>
          <a:bodyPr/>
          <a:lstStyle/>
          <a:p>
            <a:r>
              <a:rPr lang="zh-CN" altLang="en-US" b="1" dirty="0"/>
              <a:t>权重矩阵的参数非常多</a:t>
            </a:r>
            <a:endParaRPr lang="en-US" altLang="zh-CN" b="1" dirty="0"/>
          </a:p>
          <a:p>
            <a:endParaRPr lang="en-US" altLang="zh-CN" dirty="0"/>
          </a:p>
          <a:p>
            <a:endParaRPr lang="en-US" altLang="zh-CN" dirty="0"/>
          </a:p>
          <a:p>
            <a:endParaRPr lang="en-US" altLang="zh-CN" dirty="0"/>
          </a:p>
          <a:p>
            <a:endParaRPr lang="en-US" altLang="zh-CN" dirty="0"/>
          </a:p>
          <a:p>
            <a:r>
              <a:rPr lang="zh-CN" altLang="en-US" dirty="0"/>
              <a:t>局部不变性特征</a:t>
            </a:r>
            <a:endParaRPr lang="en-US" altLang="zh-CN" dirty="0"/>
          </a:p>
          <a:p>
            <a:pPr lvl="1"/>
            <a:r>
              <a:rPr lang="zh-CN" altLang="en-US" dirty="0"/>
              <a:t>自然图像中的物体都具有</a:t>
            </a:r>
            <a:r>
              <a:rPr lang="zh-CN" altLang="en-US" dirty="0">
                <a:solidFill>
                  <a:schemeClr val="accent3"/>
                </a:solidFill>
              </a:rPr>
              <a:t>局部不变性特征</a:t>
            </a:r>
            <a:endParaRPr lang="en-US" altLang="zh-CN" dirty="0">
              <a:solidFill>
                <a:schemeClr val="accent3"/>
              </a:solidFill>
            </a:endParaRPr>
          </a:p>
          <a:p>
            <a:pPr lvl="2"/>
            <a:r>
              <a:rPr lang="zh-CN" altLang="en-US" dirty="0"/>
              <a:t>尺度缩放、平移、旋转等操作不影响其语义信息。</a:t>
            </a:r>
            <a:endParaRPr lang="en-US" altLang="zh-CN" dirty="0"/>
          </a:p>
          <a:p>
            <a:pPr lvl="1"/>
            <a:r>
              <a:rPr lang="zh-CN" altLang="en-US" b="1" u="sng" dirty="0"/>
              <a:t>全连接前馈网络</a:t>
            </a:r>
            <a:r>
              <a:rPr lang="zh-CN" altLang="en-US" b="1" u="sng" dirty="0">
                <a:solidFill>
                  <a:schemeClr val="accent3"/>
                </a:solidFill>
              </a:rPr>
              <a:t>很难提取这些局部不变特征</a:t>
            </a:r>
            <a:endParaRPr lang="en-US" altLang="zh-CN" b="1" u="sng" dirty="0">
              <a:solidFill>
                <a:schemeClr val="accent3"/>
              </a:solidFill>
            </a:endParaRPr>
          </a:p>
        </p:txBody>
      </p:sp>
      <p:pic>
        <p:nvPicPr>
          <p:cNvPr id="4" name="图片 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5200" y="1752600"/>
            <a:ext cx="4320682" cy="1554480"/>
          </a:xfrm>
          <a:prstGeom prst="rect">
            <a:avLst/>
          </a:prstGeom>
        </p:spPr>
      </p:pic>
    </p:spTree>
    <p:extLst>
      <p:ext uri="{BB962C8B-B14F-4D97-AF65-F5344CB8AC3E}">
        <p14:creationId xmlns:p14="http://schemas.microsoft.com/office/powerpoint/2010/main" val="1621902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全连接前馈神经网络 </a:t>
            </a:r>
            <a:r>
              <a:rPr lang="en-US" altLang="zh-CN" dirty="0"/>
              <a:t>VS </a:t>
            </a:r>
            <a:r>
              <a:rPr lang="zh-CN" altLang="en-US" dirty="0"/>
              <a:t>卷积神经网络</a:t>
            </a:r>
          </a:p>
        </p:txBody>
      </p:sp>
      <p:sp>
        <p:nvSpPr>
          <p:cNvPr id="3" name="内容占位符 2"/>
          <p:cNvSpPr>
            <a:spLocks noGrp="1"/>
          </p:cNvSpPr>
          <p:nvPr>
            <p:ph idx="1"/>
          </p:nvPr>
        </p:nvSpPr>
        <p:spPr/>
        <p:txBody>
          <a:bodyPr/>
          <a:lstStyle/>
          <a:p>
            <a:r>
              <a:rPr lang="zh-CN" altLang="en-US" dirty="0"/>
              <a:t>卷积神经网络（</a:t>
            </a:r>
            <a:r>
              <a:rPr lang="en-US" altLang="zh-CN" dirty="0"/>
              <a:t>Convolutional Neural Networks</a:t>
            </a:r>
            <a:r>
              <a:rPr lang="zh-CN" altLang="en-US" dirty="0"/>
              <a:t>，</a:t>
            </a:r>
            <a:r>
              <a:rPr lang="en-US" altLang="zh-CN" dirty="0"/>
              <a:t>CNN</a:t>
            </a:r>
            <a:r>
              <a:rPr lang="zh-CN" altLang="en-US" dirty="0"/>
              <a:t>）</a:t>
            </a:r>
            <a:endParaRPr lang="en-US" altLang="zh-CN" dirty="0"/>
          </a:p>
          <a:p>
            <a:pPr lvl="1"/>
            <a:r>
              <a:rPr lang="zh-CN" altLang="en-US" dirty="0"/>
              <a:t>一种前馈神经网络</a:t>
            </a:r>
            <a:endParaRPr lang="en-US" altLang="zh-CN" dirty="0"/>
          </a:p>
          <a:p>
            <a:pPr lvl="1"/>
            <a:r>
              <a:rPr lang="zh-CN" altLang="en-US" dirty="0"/>
              <a:t>受生物学上</a:t>
            </a:r>
            <a:r>
              <a:rPr lang="zh-CN" altLang="en-US" b="1" u="sng" dirty="0"/>
              <a:t>感受野（</a:t>
            </a:r>
            <a:r>
              <a:rPr lang="en-US" altLang="zh-CN" b="1" u="sng" dirty="0"/>
              <a:t>Receptive Field</a:t>
            </a:r>
            <a:r>
              <a:rPr lang="zh-CN" altLang="en-US" b="1" u="sng" dirty="0"/>
              <a:t>）</a:t>
            </a:r>
            <a:r>
              <a:rPr lang="zh-CN" altLang="en-US" dirty="0"/>
              <a:t>的机制而提出的</a:t>
            </a:r>
          </a:p>
          <a:p>
            <a:pPr lvl="2"/>
            <a:r>
              <a:rPr lang="zh-CN" altLang="en-US" dirty="0"/>
              <a:t>在视觉神经系统中，一个神经元的</a:t>
            </a:r>
            <a:r>
              <a:rPr lang="zh-CN" altLang="en-US" dirty="0">
                <a:solidFill>
                  <a:schemeClr val="accent3"/>
                </a:solidFill>
              </a:rPr>
              <a:t>感受野</a:t>
            </a:r>
            <a:r>
              <a:rPr lang="zh-CN" altLang="en-US" dirty="0"/>
              <a:t>是指视网膜上的特定区域，只有这个区域内的刺激才能够激活该神经元。</a:t>
            </a:r>
          </a:p>
          <a:p>
            <a:pPr lvl="1"/>
            <a:endParaRPr lang="en-US" altLang="zh-CN" dirty="0"/>
          </a:p>
          <a:p>
            <a:r>
              <a:rPr lang="zh-CN" altLang="en-US" dirty="0"/>
              <a:t>卷积神经网络有三个结构上的特性：</a:t>
            </a:r>
          </a:p>
          <a:p>
            <a:pPr lvl="1"/>
            <a:r>
              <a:rPr lang="zh-CN" altLang="en-US" dirty="0"/>
              <a:t>局部连接</a:t>
            </a:r>
          </a:p>
          <a:p>
            <a:pPr lvl="1"/>
            <a:r>
              <a:rPr lang="zh-CN" altLang="en-US" dirty="0"/>
              <a:t>权重共享</a:t>
            </a:r>
          </a:p>
          <a:p>
            <a:pPr lvl="1"/>
            <a:r>
              <a:rPr lang="zh-CN" altLang="en-US" dirty="0"/>
              <a:t>空间或时间上的次采样</a:t>
            </a:r>
          </a:p>
        </p:txBody>
      </p:sp>
    </p:spTree>
    <p:extLst>
      <p:ext uri="{BB962C8B-B14F-4D97-AF65-F5344CB8AC3E}">
        <p14:creationId xmlns:p14="http://schemas.microsoft.com/office/powerpoint/2010/main" val="1419076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947665-A604-4CC3-85A0-C3807DF027F5}"/>
              </a:ext>
            </a:extLst>
          </p:cNvPr>
          <p:cNvSpPr>
            <a:spLocks noGrp="1"/>
          </p:cNvSpPr>
          <p:nvPr>
            <p:ph type="title"/>
          </p:nvPr>
        </p:nvSpPr>
        <p:spPr/>
        <p:txBody>
          <a:bodyPr/>
          <a:lstStyle/>
          <a:p>
            <a:r>
              <a:rPr lang="zh-CN" altLang="en-US" dirty="0"/>
              <a:t>全连接前馈神经网络 </a:t>
            </a:r>
            <a:r>
              <a:rPr lang="en-US" altLang="zh-CN" dirty="0"/>
              <a:t>VS </a:t>
            </a:r>
            <a:r>
              <a:rPr lang="zh-CN" altLang="en-US" dirty="0"/>
              <a:t>卷积神经网络</a:t>
            </a:r>
          </a:p>
        </p:txBody>
      </p:sp>
      <p:sp>
        <p:nvSpPr>
          <p:cNvPr id="3" name="内容占位符 2">
            <a:extLst>
              <a:ext uri="{FF2B5EF4-FFF2-40B4-BE49-F238E27FC236}">
                <a16:creationId xmlns:a16="http://schemas.microsoft.com/office/drawing/2014/main" id="{F2F6BEFC-B577-432C-AB55-6F410C18CAF6}"/>
              </a:ext>
            </a:extLst>
          </p:cNvPr>
          <p:cNvSpPr>
            <a:spLocks noGrp="1"/>
          </p:cNvSpPr>
          <p:nvPr>
            <p:ph idx="1"/>
          </p:nvPr>
        </p:nvSpPr>
        <p:spPr/>
        <p:txBody>
          <a:bodyPr/>
          <a:lstStyle/>
          <a:p>
            <a:r>
              <a:rPr lang="zh-CN" altLang="en-US" dirty="0"/>
              <a:t>依然由具有</a:t>
            </a:r>
            <a:r>
              <a:rPr lang="zh-CN" altLang="en-US" u="sng" dirty="0"/>
              <a:t>可学习权重和偏差</a:t>
            </a:r>
            <a:r>
              <a:rPr lang="zh-CN" altLang="en-US" dirty="0"/>
              <a:t>的神经元组成</a:t>
            </a:r>
            <a:endParaRPr lang="en-US" altLang="zh-CN" dirty="0"/>
          </a:p>
          <a:p>
            <a:r>
              <a:rPr lang="zh-CN" altLang="en-US" dirty="0"/>
              <a:t>每个神经元</a:t>
            </a:r>
            <a:r>
              <a:rPr lang="zh-CN" altLang="en-US" u="sng" dirty="0"/>
              <a:t>接收输入，执行点积，添加非线性</a:t>
            </a:r>
            <a:endParaRPr lang="en-US" altLang="zh-CN" u="sng" dirty="0"/>
          </a:p>
          <a:p>
            <a:r>
              <a:rPr lang="zh-CN" altLang="en-US" dirty="0"/>
              <a:t>整个网络仍然表示一个</a:t>
            </a:r>
            <a:r>
              <a:rPr lang="zh-CN" altLang="en-US" u="sng" dirty="0"/>
              <a:t>可微分的分数函数</a:t>
            </a:r>
            <a:endParaRPr lang="en-US" altLang="zh-CN" u="sng" dirty="0"/>
          </a:p>
          <a:p>
            <a:r>
              <a:rPr lang="zh-CN" altLang="en-US" dirty="0"/>
              <a:t>最后一层（完全连接</a:t>
            </a:r>
            <a:r>
              <a:rPr lang="en-US" altLang="zh-CN" dirty="0"/>
              <a:t>/FC</a:t>
            </a:r>
            <a:r>
              <a:rPr lang="zh-CN" altLang="en-US" dirty="0"/>
              <a:t>）上仍然有一个</a:t>
            </a:r>
            <a:r>
              <a:rPr lang="zh-CN" altLang="en-US" u="sng" dirty="0"/>
              <a:t>损失函数</a:t>
            </a:r>
            <a:r>
              <a:rPr lang="zh-CN" altLang="en-US" dirty="0"/>
              <a:t>（如</a:t>
            </a:r>
            <a:r>
              <a:rPr lang="en-US" altLang="zh-CN" dirty="0" err="1"/>
              <a:t>Softmax</a:t>
            </a:r>
            <a:r>
              <a:rPr lang="zh-CN" altLang="en-US" dirty="0"/>
              <a:t>）</a:t>
            </a:r>
            <a:endParaRPr lang="en-US" altLang="zh-CN" dirty="0"/>
          </a:p>
          <a:p>
            <a:endParaRPr lang="en-US" altLang="zh-CN" dirty="0"/>
          </a:p>
          <a:p>
            <a:r>
              <a:rPr lang="zh-CN" altLang="en-US" dirty="0"/>
              <a:t>区别：</a:t>
            </a:r>
            <a:endParaRPr lang="en-US" altLang="zh-CN" dirty="0"/>
          </a:p>
          <a:p>
            <a:pPr lvl="1"/>
            <a:r>
              <a:rPr lang="zh-CN" altLang="en-US" dirty="0"/>
              <a:t>那么会发生什么变化呢？</a:t>
            </a:r>
            <a:r>
              <a:rPr lang="en-US" altLang="zh-CN" dirty="0" err="1"/>
              <a:t>ConvNet</a:t>
            </a:r>
            <a:r>
              <a:rPr lang="en-US" altLang="zh-CN" dirty="0"/>
              <a:t> </a:t>
            </a:r>
            <a:r>
              <a:rPr lang="zh-CN" altLang="en-US" dirty="0"/>
              <a:t>架构明确假设输入是多维张量，这允许我们将某些属性编码到架构中。然后，这些使 </a:t>
            </a:r>
            <a:r>
              <a:rPr lang="en-US" altLang="zh-CN" dirty="0"/>
              <a:t>forward </a:t>
            </a:r>
            <a:r>
              <a:rPr lang="zh-CN" altLang="en-US" dirty="0"/>
              <a:t>函数的实现</a:t>
            </a:r>
            <a:r>
              <a:rPr lang="zh-CN" altLang="en-US" u="sng" dirty="0"/>
              <a:t>效率更高，并大大减少了网络中的参数数量</a:t>
            </a:r>
            <a:r>
              <a:rPr lang="zh-CN" altLang="en-US" dirty="0"/>
              <a:t>。</a:t>
            </a:r>
          </a:p>
        </p:txBody>
      </p:sp>
    </p:spTree>
    <p:extLst>
      <p:ext uri="{BB962C8B-B14F-4D97-AF65-F5344CB8AC3E}">
        <p14:creationId xmlns:p14="http://schemas.microsoft.com/office/powerpoint/2010/main" val="4178367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32594C-DD7C-4DB5-B4C7-1E3A12B546FD}"/>
              </a:ext>
            </a:extLst>
          </p:cNvPr>
          <p:cNvSpPr>
            <a:spLocks noGrp="1"/>
          </p:cNvSpPr>
          <p:nvPr>
            <p:ph type="title"/>
          </p:nvPr>
        </p:nvSpPr>
        <p:spPr/>
        <p:txBody>
          <a:bodyPr/>
          <a:lstStyle/>
          <a:p>
            <a:r>
              <a:rPr lang="zh-CN" altLang="en-US" dirty="0">
                <a:latin typeface="Roboto" panose="02000000000000000000" pitchFamily="2" charset="0"/>
              </a:rPr>
              <a:t>卷积神经网络</a:t>
            </a:r>
            <a:r>
              <a:rPr lang="en-US" altLang="zh-CN" b="0" i="0" dirty="0">
                <a:solidFill>
                  <a:srgbClr val="000000"/>
                </a:solidFill>
                <a:effectLst/>
                <a:latin typeface="Roboto" panose="02000000000000000000" pitchFamily="2" charset="0"/>
              </a:rPr>
              <a:t>(</a:t>
            </a:r>
            <a:r>
              <a:rPr lang="en-US" altLang="zh-CN" b="0" i="0" dirty="0" err="1">
                <a:solidFill>
                  <a:srgbClr val="000000"/>
                </a:solidFill>
                <a:effectLst/>
                <a:latin typeface="Roboto" panose="02000000000000000000" pitchFamily="2" charset="0"/>
              </a:rPr>
              <a:t>ConvNet</a:t>
            </a:r>
            <a:r>
              <a:rPr lang="en-US" altLang="zh-CN" b="0" i="0" dirty="0">
                <a:solidFill>
                  <a:srgbClr val="000000"/>
                </a:solidFill>
                <a:effectLst/>
                <a:latin typeface="Roboto" panose="02000000000000000000" pitchFamily="2" charset="0"/>
              </a:rPr>
              <a:t>)</a:t>
            </a:r>
            <a:r>
              <a:rPr lang="zh-CN" altLang="en-US" dirty="0"/>
              <a:t>架构概述</a:t>
            </a:r>
          </a:p>
        </p:txBody>
      </p:sp>
      <p:sp>
        <p:nvSpPr>
          <p:cNvPr id="3" name="内容占位符 2">
            <a:extLst>
              <a:ext uri="{FF2B5EF4-FFF2-40B4-BE49-F238E27FC236}">
                <a16:creationId xmlns:a16="http://schemas.microsoft.com/office/drawing/2014/main" id="{C091ABE9-057D-4798-98CE-6E2121C409F4}"/>
              </a:ext>
            </a:extLst>
          </p:cNvPr>
          <p:cNvSpPr>
            <a:spLocks noGrp="1"/>
          </p:cNvSpPr>
          <p:nvPr>
            <p:ph idx="1"/>
          </p:nvPr>
        </p:nvSpPr>
        <p:spPr/>
        <p:txBody>
          <a:bodyPr/>
          <a:lstStyle/>
          <a:p>
            <a:r>
              <a:rPr lang="zh-CN" altLang="en-US" dirty="0"/>
              <a:t>前馈</a:t>
            </a:r>
            <a:r>
              <a:rPr lang="en-US" altLang="zh-CN" dirty="0"/>
              <a:t>/</a:t>
            </a:r>
            <a:r>
              <a:rPr lang="zh-CN" altLang="en-US" dirty="0"/>
              <a:t>全连接神经网络：单层中的神经元完全独立运行，</a:t>
            </a:r>
            <a:r>
              <a:rPr lang="zh-CN" altLang="en-US" u="sng" dirty="0"/>
              <a:t>不共享</a:t>
            </a:r>
            <a:r>
              <a:rPr lang="zh-CN" altLang="en-US" dirty="0"/>
              <a:t>任何连接</a:t>
            </a:r>
            <a:endParaRPr lang="en-US" altLang="zh-CN" dirty="0"/>
          </a:p>
          <a:p>
            <a:r>
              <a:rPr lang="zh-CN" altLang="en-US" dirty="0"/>
              <a:t>卷积神经网络：</a:t>
            </a:r>
            <a:r>
              <a:rPr lang="zh-CN" altLang="en-US" u="sng" dirty="0"/>
              <a:t>权重共享</a:t>
            </a:r>
            <a:endParaRPr lang="en-US" altLang="zh-CN" u="sng" dirty="0"/>
          </a:p>
          <a:p>
            <a:pPr lvl="1"/>
            <a:r>
              <a:rPr lang="zh-CN" altLang="en-US" dirty="0"/>
              <a:t>如，</a:t>
            </a:r>
            <a:r>
              <a:rPr lang="en-US" altLang="zh-CN" dirty="0"/>
              <a:t>CIFAR-10</a:t>
            </a:r>
            <a:r>
              <a:rPr lang="zh-CN" altLang="en-US" dirty="0"/>
              <a:t>，</a:t>
            </a:r>
            <a:r>
              <a:rPr lang="en-US" altLang="zh-CN" b="0" i="0" dirty="0">
                <a:solidFill>
                  <a:srgbClr val="000000"/>
                </a:solidFill>
                <a:effectLst/>
                <a:latin typeface="Roboto" panose="02000000000000000000" pitchFamily="2" charset="0"/>
              </a:rPr>
              <a:t>32x32x3</a:t>
            </a:r>
            <a:r>
              <a:rPr lang="zh-CN" altLang="en-US" b="0" i="0" dirty="0">
                <a:solidFill>
                  <a:srgbClr val="000000"/>
                </a:solidFill>
                <a:effectLst/>
                <a:latin typeface="Roboto" panose="02000000000000000000" pitchFamily="2" charset="0"/>
              </a:rPr>
              <a:t>，</a:t>
            </a:r>
            <a:r>
              <a:rPr lang="zh-CN" altLang="en-US" b="0" i="0" u="sng" dirty="0">
                <a:solidFill>
                  <a:srgbClr val="000000"/>
                </a:solidFill>
                <a:effectLst/>
                <a:latin typeface="Roboto" panose="02000000000000000000" pitchFamily="2" charset="0"/>
              </a:rPr>
              <a:t>第一个隐藏层全连接神经元有</a:t>
            </a:r>
            <a:r>
              <a:rPr lang="en-US" altLang="zh-CN" b="0" i="0" u="sng" dirty="0">
                <a:solidFill>
                  <a:srgbClr val="000000"/>
                </a:solidFill>
                <a:effectLst/>
                <a:latin typeface="Roboto" panose="02000000000000000000" pitchFamily="2" charset="0"/>
              </a:rPr>
              <a:t>32*32*3 = 3072</a:t>
            </a:r>
            <a:r>
              <a:rPr lang="zh-CN" altLang="en-US" b="0" i="0" u="sng" dirty="0">
                <a:solidFill>
                  <a:srgbClr val="000000"/>
                </a:solidFill>
                <a:effectLst/>
                <a:latin typeface="Roboto" panose="02000000000000000000" pitchFamily="2" charset="0"/>
              </a:rPr>
              <a:t>个权重，无法扩展到更大的输入，会导致过拟合</a:t>
            </a:r>
            <a:endParaRPr lang="en-US" altLang="zh-CN" b="0" i="0" u="sng" dirty="0">
              <a:solidFill>
                <a:srgbClr val="000000"/>
              </a:solidFill>
              <a:effectLst/>
              <a:latin typeface="Roboto" panose="02000000000000000000" pitchFamily="2" charset="0"/>
            </a:endParaRPr>
          </a:p>
          <a:p>
            <a:pPr lvl="1"/>
            <a:endParaRPr lang="en-US" altLang="zh-CN" dirty="0">
              <a:latin typeface="Roboto" panose="02000000000000000000" pitchFamily="2" charset="0"/>
            </a:endParaRPr>
          </a:p>
          <a:p>
            <a:pPr lvl="1"/>
            <a:endParaRPr lang="en-US" altLang="zh-CN" b="0" i="0" dirty="0">
              <a:solidFill>
                <a:srgbClr val="000000"/>
              </a:solidFill>
              <a:effectLst/>
              <a:latin typeface="Roboto" panose="02000000000000000000" pitchFamily="2" charset="0"/>
            </a:endParaRPr>
          </a:p>
          <a:p>
            <a:pPr lvl="1"/>
            <a:endParaRPr lang="en-US" altLang="zh-CN" dirty="0">
              <a:latin typeface="Roboto" panose="02000000000000000000" pitchFamily="2" charset="0"/>
            </a:endParaRPr>
          </a:p>
          <a:p>
            <a:pPr lvl="1"/>
            <a:endParaRPr lang="en-US" altLang="zh-CN" b="0" i="0" dirty="0">
              <a:solidFill>
                <a:srgbClr val="000000"/>
              </a:solidFill>
              <a:effectLst/>
              <a:latin typeface="Roboto" panose="02000000000000000000" pitchFamily="2" charset="0"/>
            </a:endParaRPr>
          </a:p>
          <a:p>
            <a:pPr lvl="1"/>
            <a:endParaRPr lang="en-US" altLang="zh-CN" dirty="0">
              <a:latin typeface="Roboto" panose="02000000000000000000" pitchFamily="2" charset="0"/>
            </a:endParaRPr>
          </a:p>
          <a:p>
            <a:pPr lvl="1"/>
            <a:r>
              <a:rPr lang="en-US" altLang="zh-CN" b="0" i="0" dirty="0" err="1">
                <a:solidFill>
                  <a:srgbClr val="000000"/>
                </a:solidFill>
                <a:effectLst/>
                <a:latin typeface="Roboto" panose="02000000000000000000" pitchFamily="2" charset="0"/>
              </a:rPr>
              <a:t>ConvNet</a:t>
            </a:r>
            <a:r>
              <a:rPr lang="en-US" altLang="zh-CN" b="0" i="0" dirty="0">
                <a:solidFill>
                  <a:srgbClr val="000000"/>
                </a:solidFill>
                <a:effectLst/>
                <a:latin typeface="Roboto" panose="02000000000000000000" pitchFamily="2" charset="0"/>
              </a:rPr>
              <a:t> </a:t>
            </a:r>
            <a:r>
              <a:rPr lang="zh-CN" altLang="en-US" b="0" i="0" dirty="0">
                <a:solidFill>
                  <a:srgbClr val="000000"/>
                </a:solidFill>
                <a:effectLst/>
                <a:latin typeface="Roboto" panose="02000000000000000000" pitchFamily="2" charset="0"/>
              </a:rPr>
              <a:t>由 </a:t>
            </a:r>
            <a:r>
              <a:rPr lang="en-US" altLang="zh-CN" b="0" i="0" u="sng" dirty="0">
                <a:solidFill>
                  <a:srgbClr val="000000"/>
                </a:solidFill>
                <a:effectLst/>
                <a:latin typeface="Roboto" panose="02000000000000000000" pitchFamily="2" charset="0"/>
              </a:rPr>
              <a:t>Layer</a:t>
            </a:r>
            <a:r>
              <a:rPr lang="en-US" altLang="zh-CN" b="0" i="0" dirty="0">
                <a:solidFill>
                  <a:srgbClr val="000000"/>
                </a:solidFill>
                <a:effectLst/>
                <a:latin typeface="Roboto" panose="02000000000000000000" pitchFamily="2" charset="0"/>
              </a:rPr>
              <a:t> </a:t>
            </a:r>
            <a:r>
              <a:rPr lang="zh-CN" altLang="en-US" b="0" i="0" dirty="0">
                <a:solidFill>
                  <a:srgbClr val="000000"/>
                </a:solidFill>
                <a:effectLst/>
                <a:latin typeface="Roboto" panose="02000000000000000000" pitchFamily="2" charset="0"/>
              </a:rPr>
              <a:t>组成</a:t>
            </a:r>
            <a:endParaRPr lang="en-US" altLang="zh-CN" b="0" i="0" dirty="0">
              <a:solidFill>
                <a:srgbClr val="000000"/>
              </a:solidFill>
              <a:effectLst/>
              <a:latin typeface="Roboto" panose="02000000000000000000" pitchFamily="2" charset="0"/>
            </a:endParaRPr>
          </a:p>
          <a:p>
            <a:endParaRPr lang="zh-CN" altLang="en-US" dirty="0"/>
          </a:p>
        </p:txBody>
      </p:sp>
      <p:pic>
        <p:nvPicPr>
          <p:cNvPr id="1026" name="Picture 2">
            <a:extLst>
              <a:ext uri="{FF2B5EF4-FFF2-40B4-BE49-F238E27FC236}">
                <a16:creationId xmlns:a16="http://schemas.microsoft.com/office/drawing/2014/main" id="{7643DD1D-C78C-4790-9F72-90001FD9B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581400"/>
            <a:ext cx="4343400" cy="21305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C381491-D88D-4C5A-8D24-0263E8AB1D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3917333"/>
            <a:ext cx="4343400" cy="1541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4601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50DAF4-832E-4B7F-8B45-7B1279159BDC}"/>
              </a:ext>
            </a:extLst>
          </p:cNvPr>
          <p:cNvSpPr>
            <a:spLocks noGrp="1"/>
          </p:cNvSpPr>
          <p:nvPr>
            <p:ph type="title"/>
          </p:nvPr>
        </p:nvSpPr>
        <p:spPr/>
        <p:txBody>
          <a:bodyPr/>
          <a:lstStyle/>
          <a:p>
            <a:r>
              <a:rPr lang="zh-CN" altLang="en-US" dirty="0"/>
              <a:t>用于构建 </a:t>
            </a:r>
            <a:r>
              <a:rPr lang="en-US" altLang="zh-CN" dirty="0" err="1"/>
              <a:t>ConvNet</a:t>
            </a:r>
            <a:r>
              <a:rPr lang="en-US" altLang="zh-CN" dirty="0"/>
              <a:t> </a:t>
            </a:r>
            <a:r>
              <a:rPr lang="zh-CN" altLang="en-US" dirty="0"/>
              <a:t>的层</a:t>
            </a:r>
          </a:p>
        </p:txBody>
      </p:sp>
      <p:sp>
        <p:nvSpPr>
          <p:cNvPr id="3" name="内容占位符 2">
            <a:extLst>
              <a:ext uri="{FF2B5EF4-FFF2-40B4-BE49-F238E27FC236}">
                <a16:creationId xmlns:a16="http://schemas.microsoft.com/office/drawing/2014/main" id="{60565FAD-299A-4F70-BC00-17073DB14063}"/>
              </a:ext>
            </a:extLst>
          </p:cNvPr>
          <p:cNvSpPr>
            <a:spLocks noGrp="1"/>
          </p:cNvSpPr>
          <p:nvPr>
            <p:ph idx="1"/>
          </p:nvPr>
        </p:nvSpPr>
        <p:spPr/>
        <p:txBody>
          <a:bodyPr/>
          <a:lstStyle/>
          <a:p>
            <a:r>
              <a:rPr lang="zh-CN" altLang="en-US" u="sng" dirty="0"/>
              <a:t>三种类型的层</a:t>
            </a:r>
            <a:endParaRPr lang="en-US" altLang="zh-CN" u="sng" dirty="0"/>
          </a:p>
          <a:p>
            <a:pPr lvl="1"/>
            <a:r>
              <a:rPr lang="zh-CN" altLang="en-US" u="sng" dirty="0"/>
              <a:t>卷积层、池化层和全连接层</a:t>
            </a:r>
            <a:r>
              <a:rPr lang="zh-CN" altLang="en-US" b="0" i="0" dirty="0">
                <a:solidFill>
                  <a:srgbClr val="000000"/>
                </a:solidFill>
                <a:effectLst/>
                <a:latin typeface="Roboto" panose="02000000000000000000" pitchFamily="2" charset="0"/>
              </a:rPr>
              <a:t>（与前馈神经网络中的层完全相同）</a:t>
            </a:r>
            <a:endParaRPr lang="en-US" altLang="zh-CN" b="0" i="0" dirty="0">
              <a:solidFill>
                <a:srgbClr val="000000"/>
              </a:solidFill>
              <a:effectLst/>
              <a:latin typeface="Roboto" panose="02000000000000000000" pitchFamily="2" charset="0"/>
            </a:endParaRPr>
          </a:p>
          <a:p>
            <a:pPr lvl="1"/>
            <a:r>
              <a:rPr lang="zh-CN" altLang="en-US" dirty="0"/>
              <a:t>比如，用于 </a:t>
            </a:r>
            <a:r>
              <a:rPr lang="en-US" altLang="zh-CN" dirty="0"/>
              <a:t>CIFAR-10 </a:t>
            </a:r>
            <a:r>
              <a:rPr lang="zh-CN" altLang="en-US" dirty="0"/>
              <a:t>分类的简单 </a:t>
            </a:r>
            <a:r>
              <a:rPr lang="en-US" altLang="zh-CN" dirty="0" err="1"/>
              <a:t>ConvNet</a:t>
            </a:r>
            <a:r>
              <a:rPr lang="en-US" altLang="zh-CN" dirty="0"/>
              <a:t> </a:t>
            </a:r>
            <a:r>
              <a:rPr lang="zh-CN" altLang="en-US" dirty="0"/>
              <a:t>可以具有架构 </a:t>
            </a:r>
            <a:r>
              <a:rPr lang="en-US" altLang="zh-CN" dirty="0"/>
              <a:t>[INPUT - CONV - RELU - POOL - FC]</a:t>
            </a:r>
            <a:endParaRPr lang="zh-CN" altLang="en-US" dirty="0"/>
          </a:p>
        </p:txBody>
      </p:sp>
      <p:pic>
        <p:nvPicPr>
          <p:cNvPr id="2050" name="Picture 2">
            <a:extLst>
              <a:ext uri="{FF2B5EF4-FFF2-40B4-BE49-F238E27FC236}">
                <a16:creationId xmlns:a16="http://schemas.microsoft.com/office/drawing/2014/main" id="{0CB927E7-6307-4F2A-A071-4507047B5C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4924" y="2971800"/>
            <a:ext cx="6842151"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317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1A71ED-2A79-4855-A30D-C47B0BE2B133}"/>
              </a:ext>
            </a:extLst>
          </p:cNvPr>
          <p:cNvSpPr>
            <a:spLocks noGrp="1"/>
          </p:cNvSpPr>
          <p:nvPr>
            <p:ph type="title"/>
          </p:nvPr>
        </p:nvSpPr>
        <p:spPr/>
        <p:txBody>
          <a:bodyPr/>
          <a:lstStyle/>
          <a:p>
            <a:r>
              <a:rPr lang="en-US" altLang="zh-CN" dirty="0" err="1"/>
              <a:t>ConvNet</a:t>
            </a:r>
            <a:r>
              <a:rPr lang="zh-CN" altLang="en-US" dirty="0"/>
              <a:t>架构小结</a:t>
            </a:r>
          </a:p>
        </p:txBody>
      </p:sp>
      <p:sp>
        <p:nvSpPr>
          <p:cNvPr id="3" name="内容占位符 2">
            <a:extLst>
              <a:ext uri="{FF2B5EF4-FFF2-40B4-BE49-F238E27FC236}">
                <a16:creationId xmlns:a16="http://schemas.microsoft.com/office/drawing/2014/main" id="{EBF246C8-EFDA-4EFF-9DBD-46D6BC9CFF6F}"/>
              </a:ext>
            </a:extLst>
          </p:cNvPr>
          <p:cNvSpPr>
            <a:spLocks noGrp="1"/>
          </p:cNvSpPr>
          <p:nvPr>
            <p:ph idx="1"/>
          </p:nvPr>
        </p:nvSpPr>
        <p:spPr/>
        <p:txBody>
          <a:bodyPr/>
          <a:lstStyle/>
          <a:p>
            <a:r>
              <a:rPr lang="zh-CN" altLang="en-US" dirty="0"/>
              <a:t>在最简单的情况下，</a:t>
            </a:r>
            <a:r>
              <a:rPr lang="en-US" altLang="zh-CN" dirty="0" err="1"/>
              <a:t>ConvNet</a:t>
            </a:r>
            <a:r>
              <a:rPr lang="en-US" altLang="zh-CN" dirty="0"/>
              <a:t> </a:t>
            </a:r>
            <a:r>
              <a:rPr lang="zh-CN" altLang="en-US" dirty="0"/>
              <a:t>架构是将输入体积转换为输出体积的 </a:t>
            </a:r>
            <a:r>
              <a:rPr lang="en-US" altLang="zh-CN" u="sng" dirty="0"/>
              <a:t>Layer </a:t>
            </a:r>
            <a:r>
              <a:rPr lang="zh-CN" altLang="en-US" u="sng" dirty="0"/>
              <a:t>序列</a:t>
            </a:r>
            <a:endParaRPr lang="en-US" altLang="zh-CN" u="sng" dirty="0"/>
          </a:p>
          <a:p>
            <a:r>
              <a:rPr lang="zh-CN" altLang="en-US" dirty="0"/>
              <a:t>有几种不同类型的层（例如 </a:t>
            </a:r>
            <a:r>
              <a:rPr lang="en-US" altLang="zh-CN" u="sng" dirty="0"/>
              <a:t>CONV/FC/RELU/POOL </a:t>
            </a:r>
            <a:r>
              <a:rPr lang="zh-CN" altLang="en-US" dirty="0"/>
              <a:t>是迄今为止最流行的）</a:t>
            </a:r>
          </a:p>
          <a:p>
            <a:r>
              <a:rPr lang="zh-CN" altLang="en-US" dirty="0"/>
              <a:t>每个 </a:t>
            </a:r>
            <a:r>
              <a:rPr lang="en-US" altLang="zh-CN" dirty="0"/>
              <a:t>Layer </a:t>
            </a:r>
            <a:r>
              <a:rPr lang="zh-CN" altLang="en-US" dirty="0"/>
              <a:t>接受一个输入 </a:t>
            </a:r>
            <a:r>
              <a:rPr lang="en-US" altLang="zh-CN" dirty="0"/>
              <a:t>3D</a:t>
            </a:r>
            <a:r>
              <a:rPr lang="zh-CN" altLang="en-US" dirty="0"/>
              <a:t>体积，并通过一个可微函数将其转换为输出 </a:t>
            </a:r>
            <a:r>
              <a:rPr lang="en-US" altLang="zh-CN" dirty="0"/>
              <a:t>3D</a:t>
            </a:r>
            <a:r>
              <a:rPr lang="zh-CN" altLang="en-US" dirty="0"/>
              <a:t>体积</a:t>
            </a:r>
            <a:endParaRPr lang="en-US" altLang="zh-CN" dirty="0"/>
          </a:p>
          <a:p>
            <a:r>
              <a:rPr lang="zh-CN" altLang="en-US" dirty="0"/>
              <a:t>每个层可能有</a:t>
            </a:r>
            <a:r>
              <a:rPr lang="zh-CN" altLang="en-US" u="sng" dirty="0"/>
              <a:t>也可能没有参数</a:t>
            </a:r>
            <a:r>
              <a:rPr lang="zh-CN" altLang="en-US" dirty="0"/>
              <a:t>（例如 </a:t>
            </a:r>
            <a:r>
              <a:rPr lang="en-US" altLang="zh-CN" dirty="0"/>
              <a:t>CONV/FC </a:t>
            </a:r>
            <a:r>
              <a:rPr lang="zh-CN" altLang="en-US" dirty="0"/>
              <a:t>有，</a:t>
            </a:r>
            <a:r>
              <a:rPr lang="en-US" altLang="zh-CN" dirty="0"/>
              <a:t>RELU/POOL </a:t>
            </a:r>
            <a:r>
              <a:rPr lang="zh-CN" altLang="en-US" dirty="0"/>
              <a:t>没有）</a:t>
            </a:r>
          </a:p>
          <a:p>
            <a:r>
              <a:rPr lang="zh-CN" altLang="en-US" dirty="0"/>
              <a:t>每个层可能有也可能没有额外的超参数（例如 </a:t>
            </a:r>
            <a:r>
              <a:rPr lang="en-US" altLang="zh-CN" dirty="0"/>
              <a:t>CONV/FC/POOL </a:t>
            </a:r>
            <a:r>
              <a:rPr lang="zh-CN" altLang="en-US" dirty="0"/>
              <a:t>有，</a:t>
            </a:r>
            <a:r>
              <a:rPr lang="en-US" altLang="zh-CN" dirty="0"/>
              <a:t>RELU </a:t>
            </a:r>
            <a:r>
              <a:rPr lang="zh-CN" altLang="en-US" dirty="0"/>
              <a:t>没有）</a:t>
            </a:r>
          </a:p>
        </p:txBody>
      </p:sp>
    </p:spTree>
    <p:extLst>
      <p:ext uri="{BB962C8B-B14F-4D97-AF65-F5344CB8AC3E}">
        <p14:creationId xmlns:p14="http://schemas.microsoft.com/office/powerpoint/2010/main" val="3458589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498AA2-CEAE-46C0-A176-74A05D7687C3}"/>
              </a:ext>
            </a:extLst>
          </p:cNvPr>
          <p:cNvSpPr>
            <a:spLocks noGrp="1"/>
          </p:cNvSpPr>
          <p:nvPr>
            <p:ph type="title"/>
          </p:nvPr>
        </p:nvSpPr>
        <p:spPr/>
        <p:txBody>
          <a:bodyPr/>
          <a:lstStyle/>
          <a:p>
            <a:r>
              <a:rPr lang="zh-CN" altLang="en-US" dirty="0"/>
              <a:t>卷积层</a:t>
            </a:r>
          </a:p>
        </p:txBody>
      </p:sp>
      <p:sp>
        <p:nvSpPr>
          <p:cNvPr id="3" name="内容占位符 2">
            <a:extLst>
              <a:ext uri="{FF2B5EF4-FFF2-40B4-BE49-F238E27FC236}">
                <a16:creationId xmlns:a16="http://schemas.microsoft.com/office/drawing/2014/main" id="{DF01339A-D691-4314-983B-24FCFC2DA607}"/>
              </a:ext>
            </a:extLst>
          </p:cNvPr>
          <p:cNvSpPr>
            <a:spLocks noGrp="1"/>
          </p:cNvSpPr>
          <p:nvPr>
            <p:ph idx="1"/>
          </p:nvPr>
        </p:nvSpPr>
        <p:spPr/>
        <p:txBody>
          <a:bodyPr/>
          <a:lstStyle/>
          <a:p>
            <a:r>
              <a:rPr lang="zh-CN" altLang="en-US" dirty="0"/>
              <a:t>本地连接：每个神经元仅连接到输入的</a:t>
            </a:r>
            <a:r>
              <a:rPr lang="zh-CN" altLang="en-US" u="sng" dirty="0"/>
              <a:t>局部</a:t>
            </a:r>
            <a:r>
              <a:rPr lang="zh-CN" altLang="en-US" dirty="0"/>
              <a:t>区域（</a:t>
            </a:r>
            <a:r>
              <a:rPr lang="zh-CN" altLang="en-US" u="sng" dirty="0"/>
              <a:t>感受野：滤波器的大小</a:t>
            </a:r>
            <a:r>
              <a:rPr lang="zh-CN" altLang="en-US" dirty="0"/>
              <a:t>）</a:t>
            </a:r>
          </a:p>
        </p:txBody>
      </p:sp>
      <p:pic>
        <p:nvPicPr>
          <p:cNvPr id="3074" name="Picture 2">
            <a:extLst>
              <a:ext uri="{FF2B5EF4-FFF2-40B4-BE49-F238E27FC236}">
                <a16:creationId xmlns:a16="http://schemas.microsoft.com/office/drawing/2014/main" id="{44ADA1B9-E2FD-4B1D-8D87-6E3B48488B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8340" y="3104504"/>
            <a:ext cx="3307921" cy="23241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9C164D3D-B859-4131-8586-73D515AA58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3048000"/>
            <a:ext cx="4395061" cy="2507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955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A1E789-AF47-4FBE-AFB8-AA26CC43F394}"/>
              </a:ext>
            </a:extLst>
          </p:cNvPr>
          <p:cNvSpPr>
            <a:spLocks noGrp="1"/>
          </p:cNvSpPr>
          <p:nvPr>
            <p:ph type="title"/>
          </p:nvPr>
        </p:nvSpPr>
        <p:spPr/>
        <p:txBody>
          <a:bodyPr/>
          <a:lstStyle/>
          <a:p>
            <a:r>
              <a:rPr lang="zh-CN" altLang="en-US" dirty="0"/>
              <a:t>控制输出体积的大小的三个超参数</a:t>
            </a:r>
          </a:p>
        </p:txBody>
      </p:sp>
      <p:sp>
        <p:nvSpPr>
          <p:cNvPr id="3" name="内容占位符 2">
            <a:extLst>
              <a:ext uri="{FF2B5EF4-FFF2-40B4-BE49-F238E27FC236}">
                <a16:creationId xmlns:a16="http://schemas.microsoft.com/office/drawing/2014/main" id="{C350C419-CB5D-47B2-A3A2-1FE817D74B87}"/>
              </a:ext>
            </a:extLst>
          </p:cNvPr>
          <p:cNvSpPr>
            <a:spLocks noGrp="1"/>
          </p:cNvSpPr>
          <p:nvPr>
            <p:ph idx="1"/>
          </p:nvPr>
        </p:nvSpPr>
        <p:spPr/>
        <p:txBody>
          <a:bodyPr/>
          <a:lstStyle/>
          <a:p>
            <a:r>
              <a:rPr lang="zh-CN" altLang="en-US" dirty="0"/>
              <a:t>深度（</a:t>
            </a:r>
            <a:r>
              <a:rPr lang="en-US" altLang="zh-CN" dirty="0"/>
              <a:t>Depth</a:t>
            </a:r>
            <a:r>
              <a:rPr lang="zh-CN" altLang="en-US" dirty="0"/>
              <a:t>）、步幅（</a:t>
            </a:r>
            <a:r>
              <a:rPr lang="en-US" altLang="zh-CN" dirty="0"/>
              <a:t>stride </a:t>
            </a:r>
            <a:r>
              <a:rPr lang="zh-CN" altLang="en-US" dirty="0"/>
              <a:t>）和零填充（</a:t>
            </a:r>
            <a:r>
              <a:rPr lang="en-US" altLang="zh-CN" dirty="0"/>
              <a:t>zero-padding</a:t>
            </a:r>
            <a:r>
              <a:rPr lang="zh-CN" altLang="en-US" dirty="0"/>
              <a:t>）</a:t>
            </a:r>
            <a:endParaRPr lang="en-US" altLang="zh-CN" dirty="0"/>
          </a:p>
          <a:p>
            <a:pPr lvl="1"/>
            <a:r>
              <a:rPr lang="zh-CN" altLang="en-US" dirty="0"/>
              <a:t>深度：滤波器的数量</a:t>
            </a:r>
            <a:endParaRPr lang="en-US" altLang="zh-CN" dirty="0"/>
          </a:p>
          <a:p>
            <a:pPr lvl="1"/>
            <a:r>
              <a:rPr lang="zh-CN" altLang="en-US" dirty="0"/>
              <a:t>步幅：</a:t>
            </a:r>
            <a:r>
              <a:rPr lang="zh-CN" altLang="en-US" b="0" i="0" dirty="0">
                <a:solidFill>
                  <a:srgbClr val="000000"/>
                </a:solidFill>
                <a:effectLst/>
                <a:latin typeface="Roboto" panose="02000000000000000000" pitchFamily="2" charset="0"/>
              </a:rPr>
              <a:t>一次移动几个像素 </a:t>
            </a:r>
            <a:r>
              <a:rPr lang="en-US" altLang="zh-CN" b="0" i="0" dirty="0">
                <a:solidFill>
                  <a:srgbClr val="000000"/>
                </a:solidFill>
                <a:effectLst/>
                <a:latin typeface="Roboto" panose="02000000000000000000" pitchFamily="2" charset="0"/>
                <a:sym typeface="Wingdings" panose="05000000000000000000" pitchFamily="2" charset="2"/>
              </a:rPr>
              <a:t></a:t>
            </a:r>
            <a:r>
              <a:rPr lang="zh-CN" altLang="en-US" b="0" i="0" dirty="0">
                <a:solidFill>
                  <a:srgbClr val="000000"/>
                </a:solidFill>
                <a:effectLst/>
                <a:latin typeface="Roboto" panose="02000000000000000000" pitchFamily="2" charset="0"/>
                <a:sym typeface="Wingdings" panose="05000000000000000000" pitchFamily="2" charset="2"/>
              </a:rPr>
              <a:t>更小的输出体积</a:t>
            </a:r>
            <a:endParaRPr lang="en-US" altLang="zh-CN" b="0" i="0" dirty="0">
              <a:solidFill>
                <a:srgbClr val="000000"/>
              </a:solidFill>
              <a:effectLst/>
              <a:latin typeface="Roboto" panose="02000000000000000000" pitchFamily="2" charset="0"/>
              <a:sym typeface="Wingdings" panose="05000000000000000000" pitchFamily="2" charset="2"/>
            </a:endParaRPr>
          </a:p>
          <a:p>
            <a:pPr lvl="1"/>
            <a:r>
              <a:rPr lang="zh-CN" altLang="en-US" dirty="0"/>
              <a:t>零填充：</a:t>
            </a:r>
            <a:r>
              <a:rPr lang="zh-CN" altLang="en-US" b="0" i="0" dirty="0">
                <a:solidFill>
                  <a:srgbClr val="000000"/>
                </a:solidFill>
                <a:effectLst/>
                <a:latin typeface="Roboto" panose="02000000000000000000" pitchFamily="2" charset="0"/>
              </a:rPr>
              <a:t>在边界周围用零填充 输入</a:t>
            </a:r>
            <a:r>
              <a:rPr lang="en-US" altLang="zh-CN" b="0" i="0" dirty="0">
                <a:solidFill>
                  <a:srgbClr val="000000"/>
                </a:solidFill>
                <a:effectLst/>
                <a:latin typeface="Roboto" panose="02000000000000000000" pitchFamily="2" charset="0"/>
                <a:sym typeface="Wingdings" panose="05000000000000000000" pitchFamily="2" charset="2"/>
              </a:rPr>
              <a:t></a:t>
            </a:r>
            <a:r>
              <a:rPr lang="zh-CN" altLang="en-US" b="0" i="0" dirty="0">
                <a:solidFill>
                  <a:srgbClr val="000000"/>
                </a:solidFill>
                <a:effectLst/>
                <a:latin typeface="Roboto" panose="02000000000000000000" pitchFamily="2" charset="0"/>
                <a:sym typeface="Wingdings" panose="05000000000000000000" pitchFamily="2" charset="2"/>
              </a:rPr>
              <a:t>允许我们控制输出卷的空间大小</a:t>
            </a:r>
            <a:endParaRPr lang="zh-CN" altLang="en-US" dirty="0"/>
          </a:p>
        </p:txBody>
      </p:sp>
    </p:spTree>
    <p:extLst>
      <p:ext uri="{BB962C8B-B14F-4D97-AF65-F5344CB8AC3E}">
        <p14:creationId xmlns:p14="http://schemas.microsoft.com/office/powerpoint/2010/main" val="2768977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66F07D-FD6B-47A0-8614-18BEB9A634BA}"/>
              </a:ext>
            </a:extLst>
          </p:cNvPr>
          <p:cNvSpPr>
            <a:spLocks noGrp="1"/>
          </p:cNvSpPr>
          <p:nvPr>
            <p:ph type="title"/>
          </p:nvPr>
        </p:nvSpPr>
        <p:spPr/>
        <p:txBody>
          <a:bodyPr/>
          <a:lstStyle/>
          <a:p>
            <a:r>
              <a:rPr lang="zh-CN" altLang="en-US" dirty="0"/>
              <a:t>参数共享</a:t>
            </a:r>
          </a:p>
        </p:txBody>
      </p:sp>
      <p:sp>
        <p:nvSpPr>
          <p:cNvPr id="3" name="内容占位符 2">
            <a:extLst>
              <a:ext uri="{FF2B5EF4-FFF2-40B4-BE49-F238E27FC236}">
                <a16:creationId xmlns:a16="http://schemas.microsoft.com/office/drawing/2014/main" id="{7076101C-8AE6-400C-908A-4382009DF370}"/>
              </a:ext>
            </a:extLst>
          </p:cNvPr>
          <p:cNvSpPr>
            <a:spLocks noGrp="1"/>
          </p:cNvSpPr>
          <p:nvPr>
            <p:ph idx="1"/>
          </p:nvPr>
        </p:nvSpPr>
        <p:spPr/>
        <p:txBody>
          <a:bodyPr/>
          <a:lstStyle/>
          <a:p>
            <a:r>
              <a:rPr lang="zh-CN" altLang="en-US" dirty="0"/>
              <a:t>目的：</a:t>
            </a:r>
            <a:r>
              <a:rPr lang="zh-CN" altLang="en-US" u="sng" dirty="0"/>
              <a:t>控制参数的数量</a:t>
            </a:r>
            <a:endParaRPr lang="en-US" altLang="zh-CN" u="sng" dirty="0"/>
          </a:p>
          <a:p>
            <a:pPr lvl="1"/>
            <a:r>
              <a:rPr lang="zh-CN" altLang="en-US" dirty="0"/>
              <a:t>比如，</a:t>
            </a:r>
            <a:r>
              <a:rPr lang="en-US" altLang="zh-CN" dirty="0" err="1"/>
              <a:t>Krizhevsky</a:t>
            </a:r>
            <a:r>
              <a:rPr lang="en-US" altLang="zh-CN" dirty="0"/>
              <a:t> </a:t>
            </a:r>
            <a:r>
              <a:rPr lang="zh-CN" altLang="en-US" dirty="0"/>
              <a:t>等人的</a:t>
            </a:r>
            <a:r>
              <a:rPr lang="en-US" altLang="zh-CN" dirty="0" err="1"/>
              <a:t>AlexNet</a:t>
            </a:r>
            <a:r>
              <a:rPr lang="zh-CN" altLang="en-US" dirty="0"/>
              <a:t>架构在 </a:t>
            </a:r>
            <a:r>
              <a:rPr lang="en-US" altLang="zh-CN" dirty="0"/>
              <a:t>2012 </a:t>
            </a:r>
            <a:r>
              <a:rPr lang="zh-CN" altLang="en-US" dirty="0"/>
              <a:t>年赢得了 </a:t>
            </a:r>
            <a:r>
              <a:rPr lang="en-US" altLang="zh-CN" dirty="0"/>
              <a:t>ImageNet </a:t>
            </a:r>
            <a:r>
              <a:rPr lang="zh-CN" altLang="en-US" dirty="0"/>
              <a:t>挑战赛，</a:t>
            </a:r>
            <a:r>
              <a:rPr lang="en-US" altLang="zh-CN" dirty="0" err="1"/>
              <a:t>AlexNet</a:t>
            </a:r>
            <a:r>
              <a:rPr lang="zh-CN" altLang="en-US" dirty="0"/>
              <a:t>中第一个 </a:t>
            </a:r>
            <a:r>
              <a:rPr lang="en-US" altLang="zh-CN" dirty="0"/>
              <a:t>Conv </a:t>
            </a:r>
            <a:r>
              <a:rPr lang="zh-CN" altLang="en-US" dirty="0"/>
              <a:t>层中有</a:t>
            </a:r>
            <a:r>
              <a:rPr lang="en-US" altLang="zh-CN" dirty="0"/>
              <a:t>55*55*96 = 290,400 </a:t>
            </a:r>
            <a:r>
              <a:rPr lang="zh-CN" altLang="en-US" dirty="0"/>
              <a:t>个神经元，每个神经元有</a:t>
            </a:r>
            <a:r>
              <a:rPr lang="en-US" altLang="zh-CN" dirty="0"/>
              <a:t>11*11*3 = 363</a:t>
            </a:r>
            <a:r>
              <a:rPr lang="zh-CN" altLang="en-US" dirty="0"/>
              <a:t>个权重和 </a:t>
            </a:r>
            <a:r>
              <a:rPr lang="en-US" altLang="zh-CN" dirty="0"/>
              <a:t>1 </a:t>
            </a:r>
            <a:r>
              <a:rPr lang="zh-CN" altLang="en-US" dirty="0"/>
              <a:t>个偏差。仅在 </a:t>
            </a:r>
            <a:r>
              <a:rPr lang="en-US" altLang="zh-CN" dirty="0" err="1"/>
              <a:t>ConvNet</a:t>
            </a:r>
            <a:r>
              <a:rPr lang="en-US" altLang="zh-CN" dirty="0"/>
              <a:t> </a:t>
            </a:r>
            <a:r>
              <a:rPr lang="zh-CN" altLang="en-US" dirty="0"/>
              <a:t>的第一层，加起来就有 </a:t>
            </a:r>
            <a:r>
              <a:rPr lang="en-US" altLang="zh-CN" dirty="0"/>
              <a:t>290400 * 364 = 105,705,600 </a:t>
            </a:r>
            <a:r>
              <a:rPr lang="zh-CN" altLang="en-US" dirty="0"/>
              <a:t>个参数！</a:t>
            </a:r>
            <a:endParaRPr lang="en-US" altLang="zh-CN" dirty="0"/>
          </a:p>
        </p:txBody>
      </p:sp>
      <p:pic>
        <p:nvPicPr>
          <p:cNvPr id="4100" name="Picture 4">
            <a:extLst>
              <a:ext uri="{FF2B5EF4-FFF2-40B4-BE49-F238E27FC236}">
                <a16:creationId xmlns:a16="http://schemas.microsoft.com/office/drawing/2014/main" id="{4488E097-D5A4-4978-93B8-B004749B79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3657600"/>
            <a:ext cx="5591175" cy="2211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9616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10BF00-19CA-4FBA-B03D-BEF55C65FE2E}"/>
              </a:ext>
            </a:extLst>
          </p:cNvPr>
          <p:cNvSpPr>
            <a:spLocks noGrp="1"/>
          </p:cNvSpPr>
          <p:nvPr>
            <p:ph type="title"/>
          </p:nvPr>
        </p:nvSpPr>
        <p:spPr/>
        <p:txBody>
          <a:bodyPr/>
          <a:lstStyle/>
          <a:p>
            <a:r>
              <a:rPr lang="zh-CN" altLang="en-US" dirty="0"/>
              <a:t>卷积层计算</a:t>
            </a:r>
          </a:p>
        </p:txBody>
      </p:sp>
      <mc:AlternateContent xmlns:mc="http://schemas.openxmlformats.org/markup-compatibility/2006">
        <mc:Choice xmlns:a14="http://schemas.microsoft.com/office/drawing/2010/main" Requires="a14">
          <p:sp>
            <p:nvSpPr>
              <p:cNvPr id="5" name="Rectangle 2">
                <a:extLst>
                  <a:ext uri="{FF2B5EF4-FFF2-40B4-BE49-F238E27FC236}">
                    <a16:creationId xmlns:a16="http://schemas.microsoft.com/office/drawing/2014/main" id="{BA81079A-B627-4626-BB31-153D5D14163E}"/>
                  </a:ext>
                </a:extLst>
              </p:cNvPr>
              <p:cNvSpPr>
                <a:spLocks noGrp="1" noChangeArrowheads="1"/>
              </p:cNvSpPr>
              <p:nvPr>
                <p:ph idx="1"/>
              </p:nvPr>
            </p:nvSpPr>
            <p:spPr bwMode="auto">
              <a:xfrm>
                <a:off x="640993" y="1274564"/>
                <a:ext cx="10103208" cy="4308872"/>
              </a:xfrm>
              <a:prstGeom prst="rect">
                <a:avLst/>
              </a:prstGeom>
              <a:solidFill>
                <a:srgbClr val="FFFFFF"/>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eaLnBrk="0" hangingPunct="0">
                  <a:spcBef>
                    <a:spcPct val="0"/>
                  </a:spcBef>
                  <a:buClrTx/>
                  <a:buSzTx/>
                  <a:buFontTx/>
                  <a:buChar char="•"/>
                </a:pPr>
                <a:r>
                  <a:rPr kumimoji="0" lang="zh-CN" altLang="en-US" sz="2800" b="0" i="0" u="none" strike="noStrike" cap="none" normalizeH="0" baseline="0" dirty="0">
                    <a:ln>
                      <a:noFill/>
                    </a:ln>
                    <a:solidFill>
                      <a:srgbClr val="000000"/>
                    </a:solidFill>
                    <a:effectLst/>
                    <a:latin typeface="+mn-ea"/>
                  </a:rPr>
                  <a:t>输入</a:t>
                </a:r>
                <a:r>
                  <a:rPr kumimoji="0" lang="zh-CN" altLang="zh-CN" sz="2800" b="0" i="0" u="none" strike="noStrike" cap="none" normalizeH="0" baseline="0" dirty="0">
                    <a:ln>
                      <a:noFill/>
                    </a:ln>
                    <a:solidFill>
                      <a:srgbClr val="000000"/>
                    </a:solidFill>
                    <a:effectLst/>
                    <a:latin typeface="+mn-ea"/>
                  </a:rPr>
                  <a:t>大小为</a:t>
                </a:r>
                <a14:m>
                  <m:oMath xmlns:m="http://schemas.openxmlformats.org/officeDocument/2006/math">
                    <m:sSub>
                      <m:sSubPr>
                        <m:ctrlPr>
                          <a:rPr kumimoji="0" lang="en-US" altLang="zh-CN" sz="2800" b="0" i="1" u="none" strike="noStrike" cap="none" normalizeH="0" baseline="0" smtClean="0">
                            <a:ln>
                              <a:noFill/>
                            </a:ln>
                            <a:solidFill>
                              <a:srgbClr val="000000"/>
                            </a:solidFill>
                            <a:effectLst/>
                            <a:latin typeface="Cambria Math" panose="02040503050406030204" pitchFamily="18" charset="0"/>
                          </a:rPr>
                        </m:ctrlPr>
                      </m:sSubPr>
                      <m:e>
                        <m:r>
                          <a:rPr kumimoji="0" lang="en-US" altLang="zh-CN" sz="2800" b="0" i="1" u="none" strike="noStrike" cap="none" normalizeH="0" baseline="0" smtClean="0">
                            <a:ln>
                              <a:noFill/>
                            </a:ln>
                            <a:solidFill>
                              <a:srgbClr val="000000"/>
                            </a:solidFill>
                            <a:effectLst/>
                            <a:latin typeface="Cambria Math" panose="02040503050406030204" pitchFamily="18" charset="0"/>
                          </a:rPr>
                          <m:t>𝑊</m:t>
                        </m:r>
                      </m:e>
                      <m:sub>
                        <m:r>
                          <a:rPr kumimoji="0" lang="en-US" altLang="zh-CN" sz="2800" b="0" i="1" u="none" strike="noStrike" cap="none" normalizeH="0" baseline="0" smtClean="0">
                            <a:ln>
                              <a:noFill/>
                            </a:ln>
                            <a:solidFill>
                              <a:srgbClr val="000000"/>
                            </a:solidFill>
                            <a:effectLst/>
                            <a:latin typeface="Cambria Math" panose="02040503050406030204" pitchFamily="18" charset="0"/>
                          </a:rPr>
                          <m:t>1</m:t>
                        </m:r>
                      </m:sub>
                    </m:sSub>
                  </m:oMath>
                </a14:m>
                <a:r>
                  <a:rPr kumimoji="0" lang="zh-CN" altLang="zh-CN" sz="2800" b="0" i="0" u="none" strike="noStrike" cap="none" normalizeH="0" baseline="0" dirty="0">
                    <a:ln>
                      <a:noFill/>
                    </a:ln>
                    <a:solidFill>
                      <a:srgbClr val="000000"/>
                    </a:solidFill>
                    <a:effectLst/>
                    <a:latin typeface="+mn-ea"/>
                  </a:rPr>
                  <a:t>×</a:t>
                </a:r>
                <a:r>
                  <a:rPr lang="en-US" altLang="zh-CN" sz="2800" dirty="0">
                    <a:solidFill>
                      <a:srgbClr val="000000"/>
                    </a:solidFill>
                  </a:rPr>
                  <a:t> </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𝐻</m:t>
                        </m:r>
                      </m:e>
                      <m:sub>
                        <m:r>
                          <a:rPr lang="en-US" altLang="zh-CN" sz="2800" i="1">
                            <a:solidFill>
                              <a:srgbClr val="000000"/>
                            </a:solidFill>
                            <a:latin typeface="Cambria Math" panose="02040503050406030204" pitchFamily="18" charset="0"/>
                          </a:rPr>
                          <m:t>1</m:t>
                        </m:r>
                      </m:sub>
                    </m:sSub>
                    <m:r>
                      <a:rPr lang="en-US" altLang="zh-CN" sz="2800" i="1">
                        <a:solidFill>
                          <a:srgbClr val="000000"/>
                        </a:solidFill>
                        <a:latin typeface="Cambria Math" panose="02040503050406030204" pitchFamily="18" charset="0"/>
                      </a:rPr>
                      <m:t> </m:t>
                    </m:r>
                  </m:oMath>
                </a14:m>
                <a:r>
                  <a:rPr kumimoji="0" lang="zh-CN" altLang="zh-CN" sz="2800" b="0" i="0" u="none" strike="noStrike" cap="none" normalizeH="0" baseline="0" dirty="0">
                    <a:ln>
                      <a:noFill/>
                    </a:ln>
                    <a:solidFill>
                      <a:srgbClr val="000000"/>
                    </a:solidFill>
                    <a:effectLst/>
                    <a:latin typeface="+mn-ea"/>
                  </a:rPr>
                  <a:t>×</a:t>
                </a:r>
                <a:r>
                  <a:rPr lang="en-US" altLang="zh-CN" sz="2800" dirty="0">
                    <a:solidFill>
                      <a:srgbClr val="000000"/>
                    </a:solidFill>
                  </a:rPr>
                  <a:t> </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𝐷</m:t>
                        </m:r>
                      </m:e>
                      <m:sub>
                        <m:r>
                          <a:rPr lang="en-US" altLang="zh-CN" sz="2800" i="1">
                            <a:solidFill>
                              <a:srgbClr val="000000"/>
                            </a:solidFill>
                            <a:latin typeface="Cambria Math" panose="02040503050406030204" pitchFamily="18" charset="0"/>
                          </a:rPr>
                          <m:t>1</m:t>
                        </m:r>
                      </m:sub>
                    </m:sSub>
                  </m:oMath>
                </a14:m>
                <a:r>
                  <a:rPr kumimoji="0" lang="zh-CN" altLang="en-US" sz="2800" b="0" i="0" u="none" strike="noStrike" cap="none" normalizeH="0" baseline="0" dirty="0">
                    <a:ln>
                      <a:noFill/>
                    </a:ln>
                    <a:solidFill>
                      <a:srgbClr val="000000"/>
                    </a:solidFill>
                    <a:effectLst/>
                    <a:latin typeface="+mn-ea"/>
                  </a:rPr>
                  <a:t>，</a:t>
                </a:r>
                <a:r>
                  <a:rPr kumimoji="0" lang="zh-CN" altLang="zh-CN" sz="2800" b="0" i="0" u="none" strike="noStrike" cap="none" normalizeH="0" baseline="0" dirty="0">
                    <a:ln>
                      <a:noFill/>
                    </a:ln>
                    <a:solidFill>
                      <a:srgbClr val="000000"/>
                    </a:solidFill>
                    <a:effectLst/>
                    <a:latin typeface="+mn-ea"/>
                  </a:rPr>
                  <a:t>需要四个超参数：</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0" i="0" u="none" strike="noStrike" cap="none" normalizeH="0" baseline="0" dirty="0">
                    <a:ln>
                      <a:noFill/>
                    </a:ln>
                    <a:solidFill>
                      <a:srgbClr val="000000"/>
                    </a:solidFill>
                    <a:effectLst/>
                    <a:latin typeface="+mn-ea"/>
                  </a:rPr>
                  <a:t>过滤器数量K</a:t>
                </a:r>
              </a:p>
              <a:p>
                <a:pPr marL="457200" marR="0" lvl="1" indent="0" algn="l" defTabSz="914400" rtl="0" eaLnBrk="0" fontAlgn="base" latinLnBrk="0" hangingPunct="0">
                  <a:lnSpc>
                    <a:spcPct val="100000"/>
                  </a:lnSpc>
                  <a:spcBef>
                    <a:spcPct val="0"/>
                  </a:spcBef>
                  <a:spcAft>
                    <a:spcPct val="0"/>
                  </a:spcAft>
                  <a:buClrTx/>
                  <a:buSzTx/>
                  <a:buFontTx/>
                  <a:buChar char="•"/>
                  <a:tabLst/>
                </a:pPr>
                <a:r>
                  <a:rPr lang="zh-CN" altLang="en-US" dirty="0">
                    <a:solidFill>
                      <a:srgbClr val="000000"/>
                    </a:solidFill>
                    <a:latin typeface="+mn-ea"/>
                  </a:rPr>
                  <a:t>感受野</a:t>
                </a:r>
                <a:r>
                  <a:rPr kumimoji="0" lang="zh-CN" altLang="zh-CN" b="0" i="0" u="none" strike="noStrike" cap="none" normalizeH="0" baseline="0" dirty="0">
                    <a:ln>
                      <a:noFill/>
                    </a:ln>
                    <a:solidFill>
                      <a:srgbClr val="000000"/>
                    </a:solidFill>
                    <a:effectLst/>
                    <a:latin typeface="+mn-ea"/>
                  </a:rPr>
                  <a:t>F</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0" i="0" u="none" strike="noStrike" cap="none" normalizeH="0" baseline="0" dirty="0">
                    <a:ln>
                      <a:noFill/>
                    </a:ln>
                    <a:solidFill>
                      <a:srgbClr val="000000"/>
                    </a:solidFill>
                    <a:effectLst/>
                    <a:latin typeface="+mn-ea"/>
                  </a:rPr>
                  <a:t>步</a:t>
                </a:r>
                <a:r>
                  <a:rPr kumimoji="0" lang="zh-CN" altLang="en-US" b="0" i="0" u="none" strike="noStrike" cap="none" normalizeH="0" baseline="0" dirty="0">
                    <a:ln>
                      <a:noFill/>
                    </a:ln>
                    <a:solidFill>
                      <a:srgbClr val="000000"/>
                    </a:solidFill>
                    <a:effectLst/>
                    <a:latin typeface="+mn-ea"/>
                  </a:rPr>
                  <a:t>长</a:t>
                </a:r>
                <a:r>
                  <a:rPr kumimoji="0" lang="zh-CN" altLang="zh-CN" b="0" i="0" u="none" strike="noStrike" cap="none" normalizeH="0" baseline="0" dirty="0">
                    <a:ln>
                      <a:noFill/>
                    </a:ln>
                    <a:solidFill>
                      <a:srgbClr val="000000"/>
                    </a:solidFill>
                    <a:effectLst/>
                    <a:latin typeface="+mn-ea"/>
                  </a:rPr>
                  <a: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0" i="0" u="none" strike="noStrike" cap="none" normalizeH="0" baseline="0" dirty="0">
                    <a:ln>
                      <a:noFill/>
                    </a:ln>
                    <a:solidFill>
                      <a:srgbClr val="000000"/>
                    </a:solidFill>
                    <a:effectLst/>
                    <a:latin typeface="+mn-ea"/>
                  </a:rPr>
                  <a:t>零填充量P</a:t>
                </a:r>
              </a:p>
              <a:p>
                <a:pPr marL="0" lvl="0" indent="0" eaLnBrk="0" hangingPunct="0">
                  <a:spcBef>
                    <a:spcPct val="0"/>
                  </a:spcBef>
                  <a:buClrTx/>
                  <a:buSzTx/>
                  <a:buFontTx/>
                  <a:buChar char="•"/>
                </a:pPr>
                <a:r>
                  <a:rPr kumimoji="0" lang="zh-CN" altLang="zh-CN" sz="2800" b="0" i="0" u="none" strike="noStrike" cap="none" normalizeH="0" baseline="0" dirty="0">
                    <a:ln>
                      <a:noFill/>
                    </a:ln>
                    <a:solidFill>
                      <a:srgbClr val="000000"/>
                    </a:solidFill>
                    <a:effectLst/>
                    <a:latin typeface="+mn-ea"/>
                  </a:rPr>
                  <a:t>生成大小</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𝑊</m:t>
                        </m:r>
                      </m:e>
                      <m:sub>
                        <m:r>
                          <a:rPr lang="en-US" altLang="zh-CN" sz="2800" b="0" i="1" smtClean="0">
                            <a:solidFill>
                              <a:srgbClr val="000000"/>
                            </a:solidFill>
                            <a:latin typeface="Cambria Math" panose="02040503050406030204" pitchFamily="18" charset="0"/>
                          </a:rPr>
                          <m:t>2</m:t>
                        </m:r>
                      </m:sub>
                    </m:sSub>
                    <m:r>
                      <a:rPr lang="en-US" altLang="zh-CN" sz="2800" i="1">
                        <a:solidFill>
                          <a:srgbClr val="000000"/>
                        </a:solidFill>
                        <a:latin typeface="Cambria Math" panose="02040503050406030204" pitchFamily="18" charset="0"/>
                      </a:rPr>
                      <m:t> </m:t>
                    </m:r>
                  </m:oMath>
                </a14:m>
                <a:r>
                  <a:rPr kumimoji="0" lang="zh-CN" altLang="zh-CN" sz="2800" b="0" i="0" u="none" strike="noStrike" cap="none" normalizeH="0" baseline="0" dirty="0">
                    <a:ln>
                      <a:noFill/>
                    </a:ln>
                    <a:solidFill>
                      <a:srgbClr val="000000"/>
                    </a:solidFill>
                    <a:effectLst/>
                    <a:latin typeface="+mn-ea"/>
                  </a:rPr>
                  <a:t>×</a:t>
                </a:r>
                <a:r>
                  <a:rPr lang="en-US" altLang="zh-CN" sz="2800" dirty="0">
                    <a:solidFill>
                      <a:srgbClr val="000000"/>
                    </a:solidFill>
                  </a:rPr>
                  <a:t> </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𝐻</m:t>
                        </m:r>
                      </m:e>
                      <m:sub>
                        <m:r>
                          <a:rPr lang="en-US" altLang="zh-CN" sz="2800" b="0" i="1" smtClean="0">
                            <a:solidFill>
                              <a:srgbClr val="000000"/>
                            </a:solidFill>
                            <a:latin typeface="Cambria Math" panose="02040503050406030204" pitchFamily="18" charset="0"/>
                          </a:rPr>
                          <m:t>2</m:t>
                        </m:r>
                      </m:sub>
                    </m:sSub>
                    <m:r>
                      <a:rPr lang="en-US" altLang="zh-CN" sz="2800" i="1">
                        <a:solidFill>
                          <a:srgbClr val="000000"/>
                        </a:solidFill>
                        <a:latin typeface="Cambria Math" panose="02040503050406030204" pitchFamily="18" charset="0"/>
                      </a:rPr>
                      <m:t> </m:t>
                    </m:r>
                  </m:oMath>
                </a14:m>
                <a:r>
                  <a:rPr kumimoji="0" lang="zh-CN" altLang="zh-CN" sz="2800" b="0" i="0" u="none" strike="noStrike" cap="none" normalizeH="0" baseline="0" dirty="0">
                    <a:ln>
                      <a:noFill/>
                    </a:ln>
                    <a:solidFill>
                      <a:srgbClr val="000000"/>
                    </a:solidFill>
                    <a:effectLst/>
                    <a:latin typeface="+mn-ea"/>
                  </a:rPr>
                  <a:t>×</a:t>
                </a:r>
                <a:r>
                  <a:rPr lang="en-US" altLang="zh-CN" sz="2800" dirty="0">
                    <a:solidFill>
                      <a:srgbClr val="000000"/>
                    </a:solidFill>
                  </a:rPr>
                  <a:t> </a:t>
                </a:r>
                <a14:m>
                  <m:oMath xmlns:m="http://schemas.openxmlformats.org/officeDocument/2006/math">
                    <m:sSub>
                      <m:sSubPr>
                        <m:ctrlPr>
                          <a:rPr lang="en-US" altLang="zh-CN" sz="2800" i="1" smtClean="0">
                            <a:solidFill>
                              <a:srgbClr val="000000"/>
                            </a:solidFill>
                            <a:latin typeface="Cambria Math" panose="02040503050406030204" pitchFamily="18" charset="0"/>
                          </a:rPr>
                        </m:ctrlPr>
                      </m:sSubPr>
                      <m:e>
                        <m:r>
                          <m:rPr>
                            <m:sty m:val="p"/>
                          </m:rPr>
                          <a:rPr lang="en-US" altLang="zh-CN" sz="2800" i="1">
                            <a:solidFill>
                              <a:srgbClr val="000000"/>
                            </a:solidFill>
                            <a:latin typeface="Cambria Math" panose="02040503050406030204" pitchFamily="18" charset="0"/>
                          </a:rPr>
                          <m:t>D</m:t>
                        </m:r>
                      </m:e>
                      <m:sub>
                        <m:r>
                          <a:rPr lang="en-US" altLang="zh-CN" sz="2800" b="0" i="1" smtClean="0">
                            <a:solidFill>
                              <a:srgbClr val="000000"/>
                            </a:solidFill>
                            <a:latin typeface="Cambria Math" panose="02040503050406030204" pitchFamily="18" charset="0"/>
                          </a:rPr>
                          <m:t>2</m:t>
                        </m:r>
                      </m:sub>
                    </m:sSub>
                    <m:r>
                      <a:rPr lang="en-US" altLang="zh-CN" sz="2800" i="1">
                        <a:solidFill>
                          <a:srgbClr val="000000"/>
                        </a:solidFill>
                        <a:latin typeface="Cambria Math" panose="02040503050406030204" pitchFamily="18" charset="0"/>
                      </a:rPr>
                      <m:t> </m:t>
                    </m:r>
                  </m:oMath>
                </a14:m>
                <a:r>
                  <a:rPr kumimoji="0" lang="zh-CN" altLang="en-US" sz="2800" b="0" i="0" u="none" strike="noStrike" cap="none" normalizeH="0" baseline="0" dirty="0">
                    <a:ln>
                      <a:noFill/>
                    </a:ln>
                    <a:solidFill>
                      <a:srgbClr val="000000"/>
                    </a:solidFill>
                    <a:effectLst/>
                    <a:latin typeface="+mn-ea"/>
                  </a:rPr>
                  <a:t>，其中</a:t>
                </a:r>
                <a:r>
                  <a:rPr kumimoji="0" lang="zh-CN" altLang="zh-CN" sz="2800" b="0" i="0" u="none" strike="noStrike" cap="none" normalizeH="0" baseline="0" dirty="0">
                    <a:ln>
                      <a:noFill/>
                    </a:ln>
                    <a:solidFill>
                      <a:srgbClr val="000000"/>
                    </a:solidFill>
                    <a:effectLst/>
                    <a:latin typeface="+mn-ea"/>
                  </a:rPr>
                  <a:t>：</a:t>
                </a:r>
              </a:p>
              <a:p>
                <a:pPr marL="457200" lvl="1" indent="0" eaLnBrk="0" hangingPunct="0">
                  <a:spcBef>
                    <a:spcPct val="0"/>
                  </a:spcBef>
                  <a:buClrTx/>
                  <a:buSzTx/>
                  <a:buFontTx/>
                  <a:buChar char="•"/>
                </a:pP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𝑊</m:t>
                        </m:r>
                      </m:e>
                      <m:sub>
                        <m:r>
                          <a:rPr lang="en-US" altLang="zh-CN" i="1">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 </m:t>
                    </m:r>
                  </m:oMath>
                </a14:m>
                <a:r>
                  <a:rPr kumimoji="0" lang="zh-CN" altLang="zh-CN" b="0" i="0" u="none" strike="noStrike" cap="none" normalizeH="0" baseline="0" dirty="0">
                    <a:ln>
                      <a:noFill/>
                    </a:ln>
                    <a:solidFill>
                      <a:srgbClr val="000000"/>
                    </a:solidFill>
                    <a:effectLst/>
                    <a:latin typeface="+mn-ea"/>
                  </a:rPr>
                  <a:t>=(</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𝑊</m:t>
                        </m:r>
                      </m:e>
                      <m:sub>
                        <m:r>
                          <a:rPr lang="en-US" altLang="zh-CN" i="1">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 </m:t>
                    </m:r>
                  </m:oMath>
                </a14:m>
                <a:r>
                  <a:rPr kumimoji="0" lang="zh-CN" altLang="zh-CN" b="0" i="0" u="none" strike="noStrike" cap="none" normalizeH="0" baseline="0" dirty="0">
                    <a:ln>
                      <a:noFill/>
                    </a:ln>
                    <a:solidFill>
                      <a:srgbClr val="000000"/>
                    </a:solidFill>
                    <a:effectLst/>
                    <a:latin typeface="+mn-ea"/>
                  </a:rPr>
                  <a:t>−F+2P)/S+1</a:t>
                </a:r>
                <a:endParaRPr kumimoji="0" lang="en-US" altLang="zh-CN" b="0" i="0" u="none" strike="noStrike" cap="none" normalizeH="0" baseline="0" dirty="0">
                  <a:ln>
                    <a:noFill/>
                  </a:ln>
                  <a:solidFill>
                    <a:srgbClr val="000000"/>
                  </a:solidFill>
                  <a:effectLst/>
                  <a:latin typeface="+mn-ea"/>
                </a:endParaRPr>
              </a:p>
              <a:p>
                <a:pPr marL="457200" lvl="1" indent="0" eaLnBrk="0" hangingPunct="0">
                  <a:spcBef>
                    <a:spcPct val="0"/>
                  </a:spcBef>
                  <a:buClrTx/>
                  <a:buSzTx/>
                  <a:buFontTx/>
                  <a:buChar char="•"/>
                </a:pP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𝐻</m:t>
                        </m:r>
                      </m:e>
                      <m:sub>
                        <m:r>
                          <a:rPr lang="en-US" altLang="zh-CN" i="1">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 </m:t>
                    </m:r>
                  </m:oMath>
                </a14:m>
                <a:r>
                  <a:rPr kumimoji="0" lang="zh-CN" altLang="zh-CN" b="0" i="0" u="none" strike="noStrike" cap="none" normalizeH="0" baseline="0" dirty="0">
                    <a:ln>
                      <a:noFill/>
                    </a:ln>
                    <a:solidFill>
                      <a:srgbClr val="000000"/>
                    </a:solidFill>
                    <a:effectLst/>
                    <a:latin typeface="+mn-ea"/>
                  </a:rPr>
                  <a:t>=(</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𝐻</m:t>
                        </m:r>
                      </m:e>
                      <m:sub>
                        <m:r>
                          <a:rPr lang="en-US" altLang="zh-CN" i="1">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 </m:t>
                    </m:r>
                  </m:oMath>
                </a14:m>
                <a:r>
                  <a:rPr kumimoji="0" lang="zh-CN" altLang="zh-CN" b="0" i="0" u="none" strike="noStrike" cap="none" normalizeH="0" baseline="0" dirty="0">
                    <a:ln>
                      <a:noFill/>
                    </a:ln>
                    <a:solidFill>
                      <a:srgbClr val="000000"/>
                    </a:solidFill>
                    <a:effectLst/>
                    <a:latin typeface="+mn-ea"/>
                  </a:rPr>
                  <a:t>−F+2P)/S+1</a:t>
                </a:r>
                <a:endParaRPr kumimoji="0" lang="en-US" altLang="zh-CN" b="0" i="0" u="none" strike="noStrike" cap="none" normalizeH="0" baseline="0" dirty="0">
                  <a:ln>
                    <a:noFill/>
                  </a:ln>
                  <a:solidFill>
                    <a:srgbClr val="000000"/>
                  </a:solidFill>
                  <a:effectLst/>
                  <a:latin typeface="+mn-ea"/>
                </a:endParaRPr>
              </a:p>
              <a:p>
                <a:pPr marL="457200" lvl="1" indent="0" eaLnBrk="0" hangingPunct="0">
                  <a:spcBef>
                    <a:spcPct val="0"/>
                  </a:spcBef>
                  <a:buClrTx/>
                  <a:buSzTx/>
                  <a:buFontTx/>
                  <a:buChar char="•"/>
                </a:pP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i="1">
                            <a:solidFill>
                              <a:srgbClr val="000000"/>
                            </a:solidFill>
                            <a:latin typeface="Cambria Math" panose="02040503050406030204" pitchFamily="18" charset="0"/>
                          </a:rPr>
                          <m:t>D</m:t>
                        </m:r>
                      </m:e>
                      <m:sub>
                        <m:r>
                          <a:rPr lang="en-US" altLang="zh-CN" i="1">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 </m:t>
                    </m:r>
                  </m:oMath>
                </a14:m>
                <a:r>
                  <a:rPr kumimoji="0" lang="zh-CN" altLang="zh-CN" b="0" i="0" u="none" strike="noStrike" cap="none" normalizeH="0" baseline="0" dirty="0">
                    <a:ln>
                      <a:noFill/>
                    </a:ln>
                    <a:solidFill>
                      <a:srgbClr val="000000"/>
                    </a:solidFill>
                    <a:effectLst/>
                    <a:latin typeface="+mn-ea"/>
                  </a:rPr>
                  <a:t>=</a:t>
                </a:r>
                <a14:m>
                  <m:oMath xmlns:m="http://schemas.openxmlformats.org/officeDocument/2006/math">
                    <m:r>
                      <a:rPr kumimoji="0" lang="en-US" altLang="zh-CN" b="0" i="0" u="none" strike="noStrike" cap="none" normalizeH="0" baseline="0" dirty="0" smtClean="0">
                        <a:ln>
                          <a:noFill/>
                        </a:ln>
                        <a:solidFill>
                          <a:srgbClr val="000000"/>
                        </a:solidFill>
                        <a:effectLst/>
                        <a:latin typeface="Cambria Math" panose="02040503050406030204" pitchFamily="18" charset="0"/>
                      </a:rPr>
                      <m:t> </m:t>
                    </m:r>
                    <m:r>
                      <a:rPr kumimoji="0" lang="en-US" altLang="zh-CN" b="0" i="1" u="none" strike="noStrike" cap="none" normalizeH="0" baseline="0" dirty="0" smtClean="0">
                        <a:ln>
                          <a:noFill/>
                        </a:ln>
                        <a:solidFill>
                          <a:srgbClr val="000000"/>
                        </a:solidFill>
                        <a:effectLst/>
                        <a:latin typeface="Cambria Math" panose="02040503050406030204" pitchFamily="18" charset="0"/>
                      </a:rPr>
                      <m:t>𝐾</m:t>
                    </m:r>
                  </m:oMath>
                </a14:m>
                <a:endParaRPr kumimoji="0" lang="zh-CN" altLang="zh-CN" b="0" i="0" u="none" strike="noStrike" cap="none" normalizeH="0" baseline="0" dirty="0">
                  <a:ln>
                    <a:noFill/>
                  </a:ln>
                  <a:solidFill>
                    <a:srgbClr val="000000"/>
                  </a:solidFill>
                  <a:effectLst/>
                  <a:latin typeface="+mn-ea"/>
                </a:endParaRPr>
              </a:p>
              <a:p>
                <a:pPr marL="0" lvl="0" indent="0" eaLnBrk="0" hangingPunct="0">
                  <a:spcBef>
                    <a:spcPct val="0"/>
                  </a:spcBef>
                  <a:buClrTx/>
                  <a:buSzTx/>
                  <a:buFontTx/>
                  <a:buChar char="•"/>
                </a:pPr>
                <a:r>
                  <a:rPr kumimoji="0" lang="zh-CN" altLang="zh-CN" sz="2800" b="0" i="0" u="none" strike="noStrike" cap="none" normalizeH="0" baseline="0" dirty="0">
                    <a:ln>
                      <a:noFill/>
                    </a:ln>
                    <a:solidFill>
                      <a:srgbClr val="000000"/>
                    </a:solidFill>
                    <a:effectLst/>
                    <a:latin typeface="+mn-ea"/>
                  </a:rPr>
                  <a:t>通过参数共享，总计(</a:t>
                </a:r>
                <a14:m>
                  <m:oMath xmlns:m="http://schemas.openxmlformats.org/officeDocument/2006/math">
                    <m:r>
                      <a:rPr kumimoji="0" lang="en-US" altLang="zh-CN" sz="2800" b="0" i="1" u="none" strike="noStrike" cap="none" normalizeH="0" baseline="0" smtClean="0">
                        <a:ln>
                          <a:noFill/>
                        </a:ln>
                        <a:solidFill>
                          <a:srgbClr val="000000"/>
                        </a:solidFill>
                        <a:effectLst/>
                        <a:latin typeface="Cambria Math" panose="02040503050406030204" pitchFamily="18" charset="0"/>
                      </a:rPr>
                      <m:t>𝐹</m:t>
                    </m:r>
                  </m:oMath>
                </a14:m>
                <a:r>
                  <a:rPr kumimoji="0" lang="zh-CN" altLang="zh-CN" sz="2800" b="0" i="0" u="none" strike="noStrike" cap="none" normalizeH="0" baseline="0" dirty="0">
                    <a:ln>
                      <a:noFill/>
                    </a:ln>
                    <a:solidFill>
                      <a:srgbClr val="000000"/>
                    </a:solidFill>
                    <a:effectLst/>
                    <a:latin typeface="+mn-ea"/>
                  </a:rPr>
                  <a:t>⋅</a:t>
                </a:r>
                <a:r>
                  <a:rPr lang="en-US" altLang="zh-CN" sz="2800" dirty="0">
                    <a:solidFill>
                      <a:srgbClr val="000000"/>
                    </a:solidFill>
                  </a:rPr>
                  <a:t> </a:t>
                </a:r>
                <a14:m>
                  <m:oMath xmlns:m="http://schemas.openxmlformats.org/officeDocument/2006/math">
                    <m:r>
                      <a:rPr lang="en-US" altLang="zh-CN" sz="2800" i="1">
                        <a:solidFill>
                          <a:srgbClr val="000000"/>
                        </a:solidFill>
                        <a:latin typeface="Cambria Math" panose="02040503050406030204" pitchFamily="18" charset="0"/>
                      </a:rPr>
                      <m:t>𝐹</m:t>
                    </m:r>
                    <m:r>
                      <a:rPr lang="en-US" altLang="zh-CN" sz="2800" i="1">
                        <a:solidFill>
                          <a:srgbClr val="000000"/>
                        </a:solidFill>
                        <a:latin typeface="Cambria Math" panose="02040503050406030204" pitchFamily="18" charset="0"/>
                      </a:rPr>
                      <m:t> </m:t>
                    </m:r>
                  </m:oMath>
                </a14:m>
                <a:r>
                  <a:rPr kumimoji="0" lang="zh-CN" altLang="zh-CN" sz="2800" b="0" i="0" u="none" strike="noStrike" cap="none" normalizeH="0" baseline="0" dirty="0">
                    <a:ln>
                      <a:noFill/>
                    </a:ln>
                    <a:solidFill>
                      <a:srgbClr val="000000"/>
                    </a:solidFill>
                    <a:effectLst/>
                    <a:latin typeface="+mn-ea"/>
                  </a:rPr>
                  <a:t>⋅</a:t>
                </a:r>
                <a:r>
                  <a:rPr lang="en-US" altLang="zh-CN" sz="2800" dirty="0">
                    <a:solidFill>
                      <a:srgbClr val="000000"/>
                    </a:solidFill>
                  </a:rPr>
                  <a:t> </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𝐷</m:t>
                        </m:r>
                      </m:e>
                      <m:sub>
                        <m:r>
                          <a:rPr lang="en-US" altLang="zh-CN" sz="2800" i="1">
                            <a:solidFill>
                              <a:srgbClr val="000000"/>
                            </a:solidFill>
                            <a:latin typeface="Cambria Math" panose="02040503050406030204" pitchFamily="18" charset="0"/>
                          </a:rPr>
                          <m:t>1</m:t>
                        </m:r>
                      </m:sub>
                    </m:sSub>
                  </m:oMath>
                </a14:m>
                <a:r>
                  <a:rPr kumimoji="0" lang="zh-CN" altLang="zh-CN" sz="2800" b="0" i="0" u="none" strike="noStrike" cap="none" normalizeH="0" baseline="0" dirty="0">
                    <a:ln>
                      <a:noFill/>
                    </a:ln>
                    <a:solidFill>
                      <a:srgbClr val="000000"/>
                    </a:solidFill>
                    <a:effectLst/>
                    <a:latin typeface="+mn-ea"/>
                  </a:rPr>
                  <a:t>)⋅K</a:t>
                </a:r>
                <a:r>
                  <a:rPr lang="zh-CN" altLang="en-US" sz="2800" dirty="0">
                    <a:solidFill>
                      <a:srgbClr val="000000"/>
                    </a:solidFill>
                    <a:latin typeface="+mn-ea"/>
                  </a:rPr>
                  <a:t>个权重</a:t>
                </a:r>
                <a:r>
                  <a:rPr kumimoji="0" lang="zh-CN" altLang="zh-CN" sz="2800" b="0" i="0" u="none" strike="noStrike" cap="none" normalizeH="0" baseline="0" dirty="0">
                    <a:ln>
                      <a:noFill/>
                    </a:ln>
                    <a:solidFill>
                      <a:srgbClr val="000000"/>
                    </a:solidFill>
                    <a:effectLst/>
                    <a:latin typeface="+mn-ea"/>
                  </a:rPr>
                  <a:t> 和K</a:t>
                </a:r>
                <a:r>
                  <a:rPr kumimoji="0" lang="zh-CN" altLang="en-US" sz="2800" b="0" i="0" u="none" strike="noStrike" cap="none" normalizeH="0" baseline="0" dirty="0">
                    <a:ln>
                      <a:noFill/>
                    </a:ln>
                    <a:solidFill>
                      <a:srgbClr val="000000"/>
                    </a:solidFill>
                    <a:effectLst/>
                    <a:latin typeface="+mn-ea"/>
                  </a:rPr>
                  <a:t>个</a:t>
                </a:r>
                <a:r>
                  <a:rPr kumimoji="0" lang="zh-CN" altLang="zh-CN" sz="2800" b="0" i="0" u="none" strike="noStrike" cap="none" normalizeH="0" baseline="0" dirty="0">
                    <a:ln>
                      <a:noFill/>
                    </a:ln>
                    <a:solidFill>
                      <a:srgbClr val="000000"/>
                    </a:solidFill>
                    <a:effectLst/>
                    <a:latin typeface="+mn-ea"/>
                  </a:rPr>
                  <a:t>偏见。</a:t>
                </a:r>
              </a:p>
            </p:txBody>
          </p:sp>
        </mc:Choice>
        <mc:Fallback>
          <p:sp>
            <p:nvSpPr>
              <p:cNvPr id="5" name="Rectangle 2">
                <a:extLst>
                  <a:ext uri="{FF2B5EF4-FFF2-40B4-BE49-F238E27FC236}">
                    <a16:creationId xmlns:a16="http://schemas.microsoft.com/office/drawing/2014/main" id="{BA81079A-B627-4626-BB31-153D5D14163E}"/>
                  </a:ext>
                </a:extLst>
              </p:cNvPr>
              <p:cNvSpPr>
                <a:spLocks noGrp="1" noRot="1" noChangeAspect="1" noMove="1" noResize="1" noEditPoints="1" noAdjustHandles="1" noChangeArrowheads="1" noChangeShapeType="1" noTextEdit="1"/>
              </p:cNvSpPr>
              <p:nvPr>
                <p:ph idx="1"/>
              </p:nvPr>
            </p:nvSpPr>
            <p:spPr bwMode="auto">
              <a:xfrm>
                <a:off x="640993" y="1274564"/>
                <a:ext cx="10103208" cy="4308872"/>
              </a:xfrm>
              <a:prstGeom prst="rect">
                <a:avLst/>
              </a:prstGeom>
              <a:blipFill>
                <a:blip r:embed="rId3"/>
                <a:stretch>
                  <a:fillRect l="-1990" t="-1980" b="-4668"/>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2183016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E82C5B-9C6F-4C3E-864B-94EEF53DDA53}"/>
              </a:ext>
            </a:extLst>
          </p:cNvPr>
          <p:cNvSpPr>
            <a:spLocks noGrp="1"/>
          </p:cNvSpPr>
          <p:nvPr>
            <p:ph type="title"/>
          </p:nvPr>
        </p:nvSpPr>
        <p:spPr/>
        <p:txBody>
          <a:bodyPr/>
          <a:lstStyle/>
          <a:p>
            <a:r>
              <a:rPr lang="zh-CN" altLang="en-US" dirty="0"/>
              <a:t>卷积层计算可视化</a:t>
            </a:r>
          </a:p>
        </p:txBody>
      </p:sp>
      <p:sp>
        <p:nvSpPr>
          <p:cNvPr id="3" name="内容占位符 2">
            <a:extLst>
              <a:ext uri="{FF2B5EF4-FFF2-40B4-BE49-F238E27FC236}">
                <a16:creationId xmlns:a16="http://schemas.microsoft.com/office/drawing/2014/main" id="{E070B0BC-2FE2-44DB-9511-000B0526BD27}"/>
              </a:ext>
            </a:extLst>
          </p:cNvPr>
          <p:cNvSpPr>
            <a:spLocks noGrp="1"/>
          </p:cNvSpPr>
          <p:nvPr>
            <p:ph idx="1"/>
          </p:nvPr>
        </p:nvSpPr>
        <p:spPr/>
        <p:txBody>
          <a:bodyPr/>
          <a:lstStyle/>
          <a:p>
            <a:endParaRPr lang="zh-CN" altLang="en-US" dirty="0"/>
          </a:p>
        </p:txBody>
      </p:sp>
      <p:pic>
        <p:nvPicPr>
          <p:cNvPr id="4" name="Picture 2" descr="C:\Users\zero\Desktop\讲习班\tensorflow\image\2d\3d.gif">
            <a:extLst>
              <a:ext uri="{FF2B5EF4-FFF2-40B4-BE49-F238E27FC236}">
                <a16:creationId xmlns:a16="http://schemas.microsoft.com/office/drawing/2014/main" id="{93FBB7CC-6336-4386-82DC-529E9231288D}"/>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767994" y="872537"/>
            <a:ext cx="5517449" cy="5645389"/>
          </a:xfrm>
          <a:prstGeom prst="rect">
            <a:avLst/>
          </a:prstGeom>
          <a:noFill/>
          <a:extLst>
            <a:ext uri="{909E8E84-426E-40DD-AFC4-6F175D3DCCD1}">
              <a14:hiddenFill xmlns:a14="http://schemas.microsoft.com/office/drawing/2010/main">
                <a:solidFill>
                  <a:srgbClr val="FFFFFF"/>
                </a:solidFill>
              </a14:hiddenFill>
            </a:ext>
          </a:extLst>
        </p:spPr>
      </p:pic>
      <p:sp>
        <p:nvSpPr>
          <p:cNvPr id="5" name="流程图: 过程 4">
            <a:extLst>
              <a:ext uri="{FF2B5EF4-FFF2-40B4-BE49-F238E27FC236}">
                <a16:creationId xmlns:a16="http://schemas.microsoft.com/office/drawing/2014/main" id="{91D21F92-75F4-4081-83DE-8BDCA8D59C03}"/>
              </a:ext>
            </a:extLst>
          </p:cNvPr>
          <p:cNvSpPr/>
          <p:nvPr/>
        </p:nvSpPr>
        <p:spPr>
          <a:xfrm>
            <a:off x="2562257" y="872537"/>
            <a:ext cx="2057371" cy="5645389"/>
          </a:xfrm>
          <a:prstGeom prst="flowChartProcess">
            <a:avLst/>
          </a:prstGeom>
          <a:ln w="38100">
            <a:solidFill>
              <a:srgbClr val="00B0F0">
                <a:alpha val="50000"/>
              </a:srgb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5314" tIns="32657" rIns="65314" bIns="32657" numCol="1" spcCol="0" rtlCol="0" fromWordArt="0" anchor="ctr" anchorCtr="0" forceAA="0" compatLnSpc="1">
            <a:prstTxWarp prst="textNoShape">
              <a:avLst/>
            </a:prstTxWarp>
            <a:noAutofit/>
          </a:bodyPr>
          <a:lstStyle/>
          <a:p>
            <a:pPr algn="ctr"/>
            <a:endParaRPr lang="zh-CN" altLang="en-US"/>
          </a:p>
        </p:txBody>
      </p:sp>
      <p:sp>
        <p:nvSpPr>
          <p:cNvPr id="6" name="流程图: 过程 5">
            <a:extLst>
              <a:ext uri="{FF2B5EF4-FFF2-40B4-BE49-F238E27FC236}">
                <a16:creationId xmlns:a16="http://schemas.microsoft.com/office/drawing/2014/main" id="{39F59DBD-E6A5-4087-80A8-AC073D117687}"/>
              </a:ext>
            </a:extLst>
          </p:cNvPr>
          <p:cNvSpPr/>
          <p:nvPr/>
        </p:nvSpPr>
        <p:spPr>
          <a:xfrm>
            <a:off x="4876800" y="838200"/>
            <a:ext cx="2263109" cy="5645389"/>
          </a:xfrm>
          <a:prstGeom prst="flowChartProcess">
            <a:avLst/>
          </a:prstGeom>
          <a:ln w="38100">
            <a:solidFill>
              <a:srgbClr val="FF0000">
                <a:alpha val="50000"/>
              </a:srgb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5314" tIns="32657" rIns="65314" bIns="32657" numCol="1" spcCol="0" rtlCol="0" fromWordArt="0" anchor="ctr" anchorCtr="0" forceAA="0" compatLnSpc="1">
            <a:prstTxWarp prst="textNoShape">
              <a:avLst/>
            </a:prstTxWarp>
            <a:noAutofit/>
          </a:bodyPr>
          <a:lstStyle/>
          <a:p>
            <a:pPr algn="ctr"/>
            <a:endParaRPr lang="zh-CN" altLang="en-US"/>
          </a:p>
        </p:txBody>
      </p:sp>
      <p:sp>
        <p:nvSpPr>
          <p:cNvPr id="7" name="流程图: 过程 6">
            <a:extLst>
              <a:ext uri="{FF2B5EF4-FFF2-40B4-BE49-F238E27FC236}">
                <a16:creationId xmlns:a16="http://schemas.microsoft.com/office/drawing/2014/main" id="{C94F2C56-4C30-49FC-BAEC-3CB7B5D114C1}"/>
              </a:ext>
            </a:extLst>
          </p:cNvPr>
          <p:cNvSpPr/>
          <p:nvPr/>
        </p:nvSpPr>
        <p:spPr>
          <a:xfrm>
            <a:off x="7397079" y="824821"/>
            <a:ext cx="1131554" cy="5645389"/>
          </a:xfrm>
          <a:prstGeom prst="flowChartProcess">
            <a:avLst/>
          </a:prstGeom>
          <a:ln w="38100">
            <a:solidFill>
              <a:srgbClr val="00B050">
                <a:alpha val="50000"/>
              </a:srgb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65314" tIns="32657" rIns="65314" bIns="32657" numCol="1" spcCol="0" rtlCol="0" fromWordArt="0" anchor="ctr" anchorCtr="0" forceAA="0" compatLnSpc="1">
            <a:prstTxWarp prst="textNoShape">
              <a:avLst/>
            </a:prstTxWarp>
            <a:noAutofit/>
          </a:bodyPr>
          <a:lstStyle/>
          <a:p>
            <a:pPr algn="ctr"/>
            <a:endParaRPr lang="zh-CN" altLang="en-US"/>
          </a:p>
        </p:txBody>
      </p:sp>
      <p:sp>
        <p:nvSpPr>
          <p:cNvPr id="8" name="矩形 7">
            <a:extLst>
              <a:ext uri="{FF2B5EF4-FFF2-40B4-BE49-F238E27FC236}">
                <a16:creationId xmlns:a16="http://schemas.microsoft.com/office/drawing/2014/main" id="{7F6A53A5-FD8A-40D5-8AA0-740BB106B636}"/>
              </a:ext>
            </a:extLst>
          </p:cNvPr>
          <p:cNvSpPr/>
          <p:nvPr/>
        </p:nvSpPr>
        <p:spPr>
          <a:xfrm>
            <a:off x="9372600" y="5269881"/>
            <a:ext cx="1274708" cy="1200329"/>
          </a:xfrm>
          <a:prstGeom prst="rect">
            <a:avLst/>
          </a:prstGeom>
        </p:spPr>
        <p:txBody>
          <a:bodyPr wrap="none">
            <a:spAutoFit/>
          </a:bodyPr>
          <a:lstStyle/>
          <a:p>
            <a:r>
              <a:rPr lang="zh-CN" altLang="en-US" dirty="0">
                <a:solidFill>
                  <a:schemeClr val="accent3"/>
                </a:solidFill>
                <a:cs typeface="Arial Unicode MS" panose="020B0604020202020204" pitchFamily="34" charset="-122"/>
              </a:rPr>
              <a:t>步长</a:t>
            </a:r>
            <a:r>
              <a:rPr lang="en-US" altLang="zh-CN" dirty="0">
                <a:solidFill>
                  <a:schemeClr val="accent3"/>
                </a:solidFill>
                <a:cs typeface="Arial Unicode MS" panose="020B0604020202020204" pitchFamily="34" charset="-122"/>
              </a:rPr>
              <a:t>2</a:t>
            </a:r>
          </a:p>
          <a:p>
            <a:r>
              <a:rPr lang="zh-CN" altLang="en-US" dirty="0">
                <a:solidFill>
                  <a:schemeClr val="accent3"/>
                </a:solidFill>
                <a:cs typeface="Arial Unicode MS" panose="020B0604020202020204" pitchFamily="34" charset="-122"/>
              </a:rPr>
              <a:t> </a:t>
            </a:r>
            <a:r>
              <a:rPr lang="en-US" altLang="zh-CN" dirty="0">
                <a:solidFill>
                  <a:schemeClr val="accent3"/>
                </a:solidFill>
                <a:cs typeface="Arial Unicode MS" panose="020B0604020202020204" pitchFamily="34" charset="-122"/>
              </a:rPr>
              <a:t>filter 3*3 </a:t>
            </a:r>
          </a:p>
          <a:p>
            <a:r>
              <a:rPr lang="zh-CN" altLang="en-US" dirty="0">
                <a:solidFill>
                  <a:schemeClr val="accent3"/>
                </a:solidFill>
                <a:cs typeface="Arial Unicode MS" panose="020B0604020202020204" pitchFamily="34" charset="-122"/>
              </a:rPr>
              <a:t> </a:t>
            </a:r>
            <a:r>
              <a:rPr lang="en-US" altLang="zh-CN" dirty="0">
                <a:solidFill>
                  <a:schemeClr val="accent3"/>
                </a:solidFill>
                <a:cs typeface="Arial Unicode MS" panose="020B0604020202020204" pitchFamily="34" charset="-122"/>
              </a:rPr>
              <a:t>filter</a:t>
            </a:r>
            <a:r>
              <a:rPr lang="zh-CN" altLang="en-US" dirty="0">
                <a:solidFill>
                  <a:schemeClr val="accent3"/>
                </a:solidFill>
                <a:cs typeface="Arial Unicode MS" panose="020B0604020202020204" pitchFamily="34" charset="-122"/>
              </a:rPr>
              <a:t>个数</a:t>
            </a:r>
            <a:r>
              <a:rPr lang="en-US" altLang="zh-CN" dirty="0">
                <a:solidFill>
                  <a:schemeClr val="accent3"/>
                </a:solidFill>
                <a:cs typeface="Arial Unicode MS" panose="020B0604020202020204" pitchFamily="34" charset="-122"/>
              </a:rPr>
              <a:t>6</a:t>
            </a:r>
          </a:p>
          <a:p>
            <a:r>
              <a:rPr lang="zh-CN" altLang="en-US" dirty="0">
                <a:solidFill>
                  <a:schemeClr val="accent3"/>
                </a:solidFill>
                <a:cs typeface="Arial Unicode MS" panose="020B0604020202020204" pitchFamily="34" charset="-122"/>
              </a:rPr>
              <a:t>零填充 </a:t>
            </a:r>
            <a:r>
              <a:rPr lang="en-US" altLang="zh-CN" dirty="0">
                <a:solidFill>
                  <a:schemeClr val="accent3"/>
                </a:solidFill>
                <a:cs typeface="Arial Unicode MS" panose="020B0604020202020204" pitchFamily="34" charset="-122"/>
              </a:rPr>
              <a:t>1</a:t>
            </a:r>
            <a:endParaRPr lang="zh-CN" altLang="en-US" dirty="0">
              <a:solidFill>
                <a:schemeClr val="accent3"/>
              </a:solidFill>
            </a:endParaRPr>
          </a:p>
        </p:txBody>
      </p:sp>
      <p:sp>
        <p:nvSpPr>
          <p:cNvPr id="9" name="文本框 8">
            <a:extLst>
              <a:ext uri="{FF2B5EF4-FFF2-40B4-BE49-F238E27FC236}">
                <a16:creationId xmlns:a16="http://schemas.microsoft.com/office/drawing/2014/main" id="{7E62EF38-FE2A-488A-BD39-B9719304B65F}"/>
              </a:ext>
            </a:extLst>
          </p:cNvPr>
          <p:cNvSpPr txBox="1"/>
          <p:nvPr/>
        </p:nvSpPr>
        <p:spPr>
          <a:xfrm>
            <a:off x="7086600" y="6470210"/>
            <a:ext cx="6096000" cy="369332"/>
          </a:xfrm>
          <a:prstGeom prst="rect">
            <a:avLst/>
          </a:prstGeom>
          <a:noFill/>
        </p:spPr>
        <p:txBody>
          <a:bodyPr wrap="square">
            <a:spAutoFit/>
          </a:bodyPr>
          <a:lstStyle/>
          <a:p>
            <a:r>
              <a:rPr lang="zh-CN" altLang="en-US" dirty="0"/>
              <a:t>https://cs231n.github.io/convolutional-networks/</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01A2724-7772-4624-A35E-6B7CADE9FCB8}"/>
                  </a:ext>
                </a:extLst>
              </p:cNvPr>
              <p:cNvSpPr txBox="1"/>
              <p:nvPr/>
            </p:nvSpPr>
            <p:spPr>
              <a:xfrm>
                <a:off x="8285444" y="2505670"/>
                <a:ext cx="3041704" cy="923330"/>
              </a:xfrm>
              <a:prstGeom prst="rect">
                <a:avLst/>
              </a:prstGeom>
              <a:noFill/>
            </p:spPr>
            <p:txBody>
              <a:bodyPr wrap="square">
                <a:spAutoFit/>
              </a:bodyPr>
              <a:lstStyle/>
              <a:p>
                <a:pPr marL="457200" lvl="1" indent="0" eaLnBrk="0" hangingPunct="0">
                  <a:spcBef>
                    <a:spcPct val="0"/>
                  </a:spcBef>
                  <a:buClrTx/>
                  <a:buSzTx/>
                  <a:buFontTx/>
                  <a:buChar char="•"/>
                </a:pPr>
                <a14:m>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𝑊</m:t>
                        </m:r>
                      </m:e>
                      <m:sub>
                        <m:r>
                          <a:rPr lang="en-US" altLang="zh-CN" i="1">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 </m:t>
                    </m:r>
                  </m:oMath>
                </a14:m>
                <a:r>
                  <a:rPr kumimoji="0" lang="zh-CN" altLang="zh-CN" b="0" i="0" u="none" strike="noStrike" cap="none" normalizeH="0" baseline="0" dirty="0">
                    <a:ln>
                      <a:noFill/>
                    </a:ln>
                    <a:solidFill>
                      <a:srgbClr val="000000"/>
                    </a:solidFill>
                    <a:effectLst/>
                    <a:latin typeface="+mn-ea"/>
                  </a:rPr>
                  <a:t>=(</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𝑊</m:t>
                        </m:r>
                      </m:e>
                      <m:sub>
                        <m:r>
                          <a:rPr lang="en-US" altLang="zh-CN" i="1">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 </m:t>
                    </m:r>
                  </m:oMath>
                </a14:m>
                <a:r>
                  <a:rPr kumimoji="0" lang="zh-CN" altLang="zh-CN" b="0" i="0" u="none" strike="noStrike" cap="none" normalizeH="0" baseline="0" dirty="0">
                    <a:ln>
                      <a:noFill/>
                    </a:ln>
                    <a:solidFill>
                      <a:srgbClr val="000000"/>
                    </a:solidFill>
                    <a:effectLst/>
                    <a:latin typeface="+mn-ea"/>
                  </a:rPr>
                  <a:t>−F+2P)/S+1</a:t>
                </a:r>
                <a:endParaRPr kumimoji="0" lang="en-US" altLang="zh-CN" b="0" i="0" u="none" strike="noStrike" cap="none" normalizeH="0" baseline="0" dirty="0">
                  <a:ln>
                    <a:noFill/>
                  </a:ln>
                  <a:solidFill>
                    <a:srgbClr val="000000"/>
                  </a:solidFill>
                  <a:effectLst/>
                  <a:latin typeface="+mn-ea"/>
                </a:endParaRPr>
              </a:p>
              <a:p>
                <a:pPr marL="457200" lvl="1" indent="0" eaLnBrk="0" hangingPunct="0">
                  <a:spcBef>
                    <a:spcPct val="0"/>
                  </a:spcBef>
                  <a:buClrTx/>
                  <a:buSzTx/>
                  <a:buFontTx/>
                  <a:buChar char="•"/>
                </a:pP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𝐻</m:t>
                        </m:r>
                      </m:e>
                      <m:sub>
                        <m:r>
                          <a:rPr lang="en-US" altLang="zh-CN" i="1">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 </m:t>
                    </m:r>
                  </m:oMath>
                </a14:m>
                <a:r>
                  <a:rPr kumimoji="0" lang="zh-CN" altLang="zh-CN" b="0" i="0" u="none" strike="noStrike" cap="none" normalizeH="0" baseline="0" dirty="0">
                    <a:ln>
                      <a:noFill/>
                    </a:ln>
                    <a:solidFill>
                      <a:srgbClr val="000000"/>
                    </a:solidFill>
                    <a:effectLst/>
                    <a:latin typeface="+mn-ea"/>
                  </a:rPr>
                  <a:t>=(</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𝐻</m:t>
                        </m:r>
                      </m:e>
                      <m:sub>
                        <m:r>
                          <a:rPr lang="en-US" altLang="zh-CN" i="1">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 </m:t>
                    </m:r>
                  </m:oMath>
                </a14:m>
                <a:r>
                  <a:rPr kumimoji="0" lang="zh-CN" altLang="zh-CN" b="0" i="0" u="none" strike="noStrike" cap="none" normalizeH="0" baseline="0" dirty="0">
                    <a:ln>
                      <a:noFill/>
                    </a:ln>
                    <a:solidFill>
                      <a:srgbClr val="000000"/>
                    </a:solidFill>
                    <a:effectLst/>
                    <a:latin typeface="+mn-ea"/>
                  </a:rPr>
                  <a:t>−F+2P)/S+1</a:t>
                </a:r>
                <a:endParaRPr kumimoji="0" lang="en-US" altLang="zh-CN" b="0" i="0" u="none" strike="noStrike" cap="none" normalizeH="0" baseline="0" dirty="0">
                  <a:ln>
                    <a:noFill/>
                  </a:ln>
                  <a:solidFill>
                    <a:srgbClr val="000000"/>
                  </a:solidFill>
                  <a:effectLst/>
                  <a:latin typeface="+mn-ea"/>
                </a:endParaRPr>
              </a:p>
              <a:p>
                <a:pPr marL="457200" lvl="1" indent="0" eaLnBrk="0" hangingPunct="0">
                  <a:spcBef>
                    <a:spcPct val="0"/>
                  </a:spcBef>
                  <a:buClrTx/>
                  <a:buSzTx/>
                  <a:buFontTx/>
                  <a:buChar char="•"/>
                </a:pP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i="1">
                            <a:solidFill>
                              <a:srgbClr val="000000"/>
                            </a:solidFill>
                            <a:latin typeface="Cambria Math" panose="02040503050406030204" pitchFamily="18" charset="0"/>
                          </a:rPr>
                          <m:t>D</m:t>
                        </m:r>
                      </m:e>
                      <m:sub>
                        <m:r>
                          <a:rPr lang="en-US" altLang="zh-CN" i="1">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 </m:t>
                    </m:r>
                  </m:oMath>
                </a14:m>
                <a:r>
                  <a:rPr kumimoji="0" lang="zh-CN" altLang="zh-CN" b="0" i="0" u="none" strike="noStrike" cap="none" normalizeH="0" baseline="0" dirty="0">
                    <a:ln>
                      <a:noFill/>
                    </a:ln>
                    <a:solidFill>
                      <a:srgbClr val="000000"/>
                    </a:solidFill>
                    <a:effectLst/>
                    <a:latin typeface="+mn-ea"/>
                  </a:rPr>
                  <a:t>=</a:t>
                </a:r>
                <a14:m>
                  <m:oMath xmlns:m="http://schemas.openxmlformats.org/officeDocument/2006/math">
                    <m:r>
                      <a:rPr kumimoji="0" lang="en-US" altLang="zh-CN" b="0" i="0" u="none" strike="noStrike" cap="none" normalizeH="0" baseline="0" dirty="0" smtClean="0">
                        <a:ln>
                          <a:noFill/>
                        </a:ln>
                        <a:solidFill>
                          <a:srgbClr val="000000"/>
                        </a:solidFill>
                        <a:effectLst/>
                        <a:latin typeface="Cambria Math" panose="02040503050406030204" pitchFamily="18" charset="0"/>
                      </a:rPr>
                      <m:t> </m:t>
                    </m:r>
                    <m:r>
                      <a:rPr kumimoji="0" lang="en-US" altLang="zh-CN" b="0" i="1" u="none" strike="noStrike" cap="none" normalizeH="0" baseline="0" dirty="0" smtClean="0">
                        <a:ln>
                          <a:noFill/>
                        </a:ln>
                        <a:solidFill>
                          <a:srgbClr val="000000"/>
                        </a:solidFill>
                        <a:effectLst/>
                        <a:latin typeface="Cambria Math" panose="02040503050406030204" pitchFamily="18" charset="0"/>
                      </a:rPr>
                      <m:t>𝐾</m:t>
                    </m:r>
                  </m:oMath>
                </a14:m>
                <a:endParaRPr kumimoji="0" lang="zh-CN" altLang="zh-CN" b="0" i="0" u="none" strike="noStrike" cap="none" normalizeH="0" baseline="0" dirty="0">
                  <a:ln>
                    <a:noFill/>
                  </a:ln>
                  <a:solidFill>
                    <a:srgbClr val="000000"/>
                  </a:solidFill>
                  <a:effectLst/>
                  <a:latin typeface="+mn-ea"/>
                </a:endParaRPr>
              </a:p>
            </p:txBody>
          </p:sp>
        </mc:Choice>
        <mc:Fallback xmlns="">
          <p:sp>
            <p:nvSpPr>
              <p:cNvPr id="11" name="文本框 10">
                <a:extLst>
                  <a:ext uri="{FF2B5EF4-FFF2-40B4-BE49-F238E27FC236}">
                    <a16:creationId xmlns:a16="http://schemas.microsoft.com/office/drawing/2014/main" id="{001A2724-7772-4624-A35E-6B7CADE9FCB8}"/>
                  </a:ext>
                </a:extLst>
              </p:cNvPr>
              <p:cNvSpPr txBox="1">
                <a:spLocks noRot="1" noChangeAspect="1" noMove="1" noResize="1" noEditPoints="1" noAdjustHandles="1" noChangeArrowheads="1" noChangeShapeType="1" noTextEdit="1"/>
              </p:cNvSpPr>
              <p:nvPr/>
            </p:nvSpPr>
            <p:spPr>
              <a:xfrm>
                <a:off x="8285444" y="2505670"/>
                <a:ext cx="3041704" cy="923330"/>
              </a:xfrm>
              <a:prstGeom prst="rect">
                <a:avLst/>
              </a:prstGeom>
              <a:blipFill>
                <a:blip r:embed="rId4"/>
                <a:stretch>
                  <a:fillRect t="-3289" b="-98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26759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池化层（</a:t>
            </a:r>
            <a:r>
              <a:rPr lang="en-US" altLang="zh-CN" dirty="0"/>
              <a:t>Pooling layer</a:t>
            </a:r>
            <a:r>
              <a:rPr lang="zh-CN" altLang="en-US" dirty="0"/>
              <a:t>）</a:t>
            </a:r>
          </a:p>
        </p:txBody>
      </p:sp>
      <p:pic>
        <p:nvPicPr>
          <p:cNvPr id="3074" name="Picture 2">
            <a:extLst>
              <a:ext uri="{FF2B5EF4-FFF2-40B4-BE49-F238E27FC236}">
                <a16:creationId xmlns:a16="http://schemas.microsoft.com/office/drawing/2014/main" id="{9FEC5DE4-99AD-6702-B074-551DBF25F2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2385369"/>
            <a:ext cx="5851525" cy="273616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B8B77703-F189-FBEB-3C5F-C522CE84F505}"/>
              </a:ext>
            </a:extLst>
          </p:cNvPr>
          <p:cNvSpPr txBox="1"/>
          <p:nvPr/>
        </p:nvSpPr>
        <p:spPr>
          <a:xfrm>
            <a:off x="7696200" y="5301734"/>
            <a:ext cx="4495799" cy="1200329"/>
          </a:xfrm>
          <a:prstGeom prst="rect">
            <a:avLst/>
          </a:prstGeom>
          <a:noFill/>
        </p:spPr>
        <p:txBody>
          <a:bodyPr wrap="square">
            <a:spAutoFit/>
          </a:bodyPr>
          <a:lstStyle/>
          <a:p>
            <a:r>
              <a:rPr lang="zh-CN" altLang="en-US" sz="2400" b="1" i="0" dirty="0">
                <a:solidFill>
                  <a:srgbClr val="FF0000"/>
                </a:solidFill>
                <a:effectLst/>
                <a:highlight>
                  <a:srgbClr val="FFFFFF"/>
                </a:highlight>
                <a:latin typeface="Roboto" panose="02000000000000000000" pitchFamily="2" charset="0"/>
              </a:rPr>
              <a:t>思考：</a:t>
            </a:r>
            <a:r>
              <a:rPr lang="en-US" altLang="zh-CN" sz="2400" b="1" i="0" dirty="0">
                <a:solidFill>
                  <a:srgbClr val="FF0000"/>
                </a:solidFill>
                <a:effectLst/>
                <a:highlight>
                  <a:srgbClr val="FFFFFF"/>
                </a:highlight>
                <a:latin typeface="Roboto" panose="02000000000000000000" pitchFamily="2" charset="0"/>
              </a:rPr>
              <a:t>Getting rid of pooling?</a:t>
            </a:r>
          </a:p>
          <a:p>
            <a:r>
              <a:rPr lang="en-US" altLang="zh-CN" sz="2400" b="1" dirty="0">
                <a:solidFill>
                  <a:srgbClr val="FF0000"/>
                </a:solidFill>
                <a:highlight>
                  <a:srgbClr val="FFFFFF"/>
                </a:highlight>
                <a:latin typeface="Roboto" panose="02000000000000000000" pitchFamily="2" charset="0"/>
              </a:rPr>
              <a:t>《Strive for Simplicity</a:t>
            </a:r>
            <a:r>
              <a:rPr lang="zh-CN" altLang="en-US" sz="2400" b="1" dirty="0">
                <a:solidFill>
                  <a:srgbClr val="FF0000"/>
                </a:solidFill>
                <a:highlight>
                  <a:srgbClr val="FFFFFF"/>
                </a:highlight>
                <a:latin typeface="Roboto" panose="02000000000000000000" pitchFamily="2" charset="0"/>
              </a:rPr>
              <a:t>：</a:t>
            </a:r>
            <a:r>
              <a:rPr lang="en-US" altLang="zh-CN" sz="2400" b="1" dirty="0">
                <a:solidFill>
                  <a:srgbClr val="FF0000"/>
                </a:solidFill>
                <a:highlight>
                  <a:srgbClr val="FFFFFF"/>
                </a:highlight>
                <a:latin typeface="Roboto" panose="02000000000000000000" pitchFamily="2" charset="0"/>
              </a:rPr>
              <a:t>The All Convolutional Net 》</a:t>
            </a:r>
            <a:endParaRPr lang="zh-CN" altLang="en-US" sz="2400" dirty="0">
              <a:solidFill>
                <a:srgbClr val="FF0000"/>
              </a:solidFill>
            </a:endParaRPr>
          </a:p>
        </p:txBody>
      </p:sp>
      <p:pic>
        <p:nvPicPr>
          <p:cNvPr id="7170" name="Picture 2">
            <a:extLst>
              <a:ext uri="{FF2B5EF4-FFF2-40B4-BE49-F238E27FC236}">
                <a16:creationId xmlns:a16="http://schemas.microsoft.com/office/drawing/2014/main" id="{05685035-2961-4055-9DDB-00711A7D1C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977919"/>
            <a:ext cx="3822915" cy="3019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9809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45B48E-0EFA-4832-BB9F-091B6EA7687F}"/>
              </a:ext>
            </a:extLst>
          </p:cNvPr>
          <p:cNvSpPr>
            <a:spLocks noGrp="1"/>
          </p:cNvSpPr>
          <p:nvPr>
            <p:ph type="title"/>
          </p:nvPr>
        </p:nvSpPr>
        <p:spPr/>
        <p:txBody>
          <a:bodyPr/>
          <a:lstStyle/>
          <a:p>
            <a:r>
              <a:rPr lang="zh-CN" altLang="en-US" dirty="0"/>
              <a:t>池化层计算</a:t>
            </a:r>
          </a:p>
        </p:txBody>
      </p:sp>
      <mc:AlternateContent xmlns:mc="http://schemas.openxmlformats.org/markup-compatibility/2006">
        <mc:Choice xmlns:a14="http://schemas.microsoft.com/office/drawing/2010/main" Requires="a14">
          <p:sp>
            <p:nvSpPr>
              <p:cNvPr id="4" name="Rectangle 1">
                <a:extLst>
                  <a:ext uri="{FF2B5EF4-FFF2-40B4-BE49-F238E27FC236}">
                    <a16:creationId xmlns:a16="http://schemas.microsoft.com/office/drawing/2014/main" id="{8C9DA9F6-12C6-40E2-B819-9457FDD3A312}"/>
                  </a:ext>
                </a:extLst>
              </p:cNvPr>
              <p:cNvSpPr>
                <a:spLocks noGrp="1" noChangeArrowheads="1"/>
              </p:cNvSpPr>
              <p:nvPr>
                <p:ph idx="1"/>
              </p:nvPr>
            </p:nvSpPr>
            <p:spPr bwMode="auto">
              <a:xfrm>
                <a:off x="609600" y="1541262"/>
                <a:ext cx="10058400" cy="4308872"/>
              </a:xfrm>
              <a:prstGeom prst="rect">
                <a:avLst/>
              </a:prstGeom>
              <a:solidFill>
                <a:srgbClr val="FFFFFF"/>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eaLnBrk="0" hangingPunct="0">
                  <a:spcBef>
                    <a:spcPct val="0"/>
                  </a:spcBef>
                  <a:buClrTx/>
                  <a:buSzTx/>
                  <a:buFontTx/>
                  <a:buChar char="•"/>
                </a:pPr>
                <a:r>
                  <a:rPr kumimoji="0" lang="zh-CN" altLang="zh-CN" sz="2800" b="0" i="0" u="none" strike="noStrike" cap="none" normalizeH="0" baseline="0" dirty="0">
                    <a:ln>
                      <a:noFill/>
                    </a:ln>
                    <a:solidFill>
                      <a:srgbClr val="000000"/>
                    </a:solidFill>
                    <a:effectLst/>
                    <a:latin typeface="+mn-ea"/>
                  </a:rPr>
                  <a:t>接受大小为</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𝑊</m:t>
                        </m:r>
                      </m:e>
                      <m:sub>
                        <m:r>
                          <a:rPr lang="en-US" altLang="zh-CN" sz="2800" i="1">
                            <a:solidFill>
                              <a:srgbClr val="000000"/>
                            </a:solidFill>
                            <a:latin typeface="Cambria Math" panose="02040503050406030204" pitchFamily="18" charset="0"/>
                          </a:rPr>
                          <m:t>1</m:t>
                        </m:r>
                      </m:sub>
                    </m:sSub>
                  </m:oMath>
                </a14:m>
                <a:r>
                  <a:rPr lang="zh-CN" altLang="zh-CN" sz="2800" dirty="0">
                    <a:solidFill>
                      <a:srgbClr val="000000"/>
                    </a:solidFill>
                    <a:latin typeface="+mn-ea"/>
                  </a:rPr>
                  <a:t>×</a:t>
                </a:r>
                <a:r>
                  <a:rPr lang="en-US" altLang="zh-CN" sz="2800" dirty="0">
                    <a:solidFill>
                      <a:srgbClr val="000000"/>
                    </a:solidFill>
                  </a:rPr>
                  <a:t> </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𝐻</m:t>
                        </m:r>
                      </m:e>
                      <m:sub>
                        <m:r>
                          <a:rPr lang="en-US" altLang="zh-CN" sz="2800" i="1">
                            <a:solidFill>
                              <a:srgbClr val="000000"/>
                            </a:solidFill>
                            <a:latin typeface="Cambria Math" panose="02040503050406030204" pitchFamily="18" charset="0"/>
                          </a:rPr>
                          <m:t>1</m:t>
                        </m:r>
                      </m:sub>
                    </m:sSub>
                    <m:r>
                      <a:rPr lang="en-US" altLang="zh-CN" sz="2800" i="1">
                        <a:solidFill>
                          <a:srgbClr val="000000"/>
                        </a:solidFill>
                        <a:latin typeface="Cambria Math" panose="02040503050406030204" pitchFamily="18" charset="0"/>
                      </a:rPr>
                      <m:t> </m:t>
                    </m:r>
                  </m:oMath>
                </a14:m>
                <a:r>
                  <a:rPr lang="zh-CN" altLang="zh-CN" sz="2800" dirty="0">
                    <a:solidFill>
                      <a:srgbClr val="000000"/>
                    </a:solidFill>
                    <a:latin typeface="+mn-ea"/>
                  </a:rPr>
                  <a:t>×</a:t>
                </a:r>
                <a:r>
                  <a:rPr lang="en-US" altLang="zh-CN" sz="2800" dirty="0">
                    <a:solidFill>
                      <a:srgbClr val="000000"/>
                    </a:solidFill>
                  </a:rPr>
                  <a:t> </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𝐷</m:t>
                        </m:r>
                      </m:e>
                      <m:sub>
                        <m:r>
                          <a:rPr lang="en-US" altLang="zh-CN" sz="2800" i="1">
                            <a:solidFill>
                              <a:srgbClr val="000000"/>
                            </a:solidFill>
                            <a:latin typeface="Cambria Math" panose="02040503050406030204" pitchFamily="18" charset="0"/>
                          </a:rPr>
                          <m:t>1</m:t>
                        </m:r>
                      </m:sub>
                    </m:sSub>
                  </m:oMath>
                </a14:m>
                <a:endParaRPr kumimoji="0" lang="zh-CN" altLang="zh-CN" sz="2800" b="0" i="0" u="none" strike="noStrike" cap="none" normalizeH="0" baseline="0" dirty="0">
                  <a:ln>
                    <a:noFill/>
                  </a:ln>
                  <a:solidFill>
                    <a:srgbClr val="000000"/>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2800" b="0" i="0" u="none" strike="noStrike" cap="none" normalizeH="0" baseline="0" dirty="0">
                    <a:ln>
                      <a:noFill/>
                    </a:ln>
                    <a:solidFill>
                      <a:srgbClr val="000000"/>
                    </a:solidFill>
                    <a:effectLst/>
                    <a:latin typeface="+mn-ea"/>
                  </a:rPr>
                  <a:t>需要两个超参数：</a:t>
                </a:r>
              </a:p>
              <a:p>
                <a:pPr marL="457200" lvl="1" indent="0" eaLnBrk="0" hangingPunct="0">
                  <a:spcBef>
                    <a:spcPct val="0"/>
                  </a:spcBef>
                  <a:buClrTx/>
                  <a:buSzTx/>
                  <a:buFontTx/>
                  <a:buChar char="•"/>
                </a:pPr>
                <a:r>
                  <a:rPr lang="zh-CN" altLang="en-US" dirty="0">
                    <a:solidFill>
                      <a:srgbClr val="000000"/>
                    </a:solidFill>
                    <a:latin typeface="+mn-ea"/>
                  </a:rPr>
                  <a:t>感受野</a:t>
                </a:r>
                <a:r>
                  <a:rPr lang="zh-CN" altLang="zh-CN" dirty="0">
                    <a:solidFill>
                      <a:srgbClr val="000000"/>
                    </a:solidFill>
                    <a:latin typeface="+mn-ea"/>
                  </a:rPr>
                  <a:t>F</a:t>
                </a:r>
              </a:p>
              <a:p>
                <a:pPr marL="457200" lvl="1" indent="0" eaLnBrk="0" hangingPunct="0">
                  <a:spcBef>
                    <a:spcPct val="0"/>
                  </a:spcBef>
                  <a:buClrTx/>
                  <a:buSzTx/>
                  <a:buFontTx/>
                  <a:buChar char="•"/>
                </a:pPr>
                <a:r>
                  <a:rPr lang="zh-CN" altLang="zh-CN" dirty="0">
                    <a:solidFill>
                      <a:srgbClr val="000000"/>
                    </a:solidFill>
                    <a:latin typeface="+mn-ea"/>
                  </a:rPr>
                  <a:t>步</a:t>
                </a:r>
                <a:r>
                  <a:rPr lang="zh-CN" altLang="en-US" dirty="0">
                    <a:solidFill>
                      <a:srgbClr val="000000"/>
                    </a:solidFill>
                    <a:latin typeface="+mn-ea"/>
                  </a:rPr>
                  <a:t>长</a:t>
                </a:r>
                <a:r>
                  <a:rPr lang="zh-CN" altLang="zh-CN" dirty="0">
                    <a:solidFill>
                      <a:srgbClr val="000000"/>
                    </a:solidFill>
                    <a:latin typeface="+mn-ea"/>
                  </a:rPr>
                  <a:t>S</a:t>
                </a:r>
              </a:p>
              <a:p>
                <a:pPr marL="0" lvl="0" indent="0" eaLnBrk="0" hangingPunct="0">
                  <a:spcBef>
                    <a:spcPct val="0"/>
                  </a:spcBef>
                  <a:buClrTx/>
                  <a:buSzTx/>
                  <a:buFontTx/>
                  <a:buChar char="•"/>
                </a:pPr>
                <a:r>
                  <a:rPr kumimoji="0" lang="zh-CN" altLang="zh-CN" sz="2800" b="0" i="0" u="none" strike="noStrike" cap="none" normalizeH="0" baseline="0" dirty="0">
                    <a:ln>
                      <a:noFill/>
                    </a:ln>
                    <a:solidFill>
                      <a:srgbClr val="000000"/>
                    </a:solidFill>
                    <a:effectLst/>
                    <a:latin typeface="+mn-ea"/>
                  </a:rPr>
                  <a:t>生成大小</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𝑊</m:t>
                        </m:r>
                      </m:e>
                      <m:sub>
                        <m:r>
                          <a:rPr lang="en-US" altLang="zh-CN" sz="2800" i="1">
                            <a:solidFill>
                              <a:srgbClr val="000000"/>
                            </a:solidFill>
                            <a:latin typeface="Cambria Math" panose="02040503050406030204" pitchFamily="18" charset="0"/>
                          </a:rPr>
                          <m:t>2</m:t>
                        </m:r>
                      </m:sub>
                    </m:sSub>
                    <m:r>
                      <a:rPr lang="en-US" altLang="zh-CN" sz="2800" i="1">
                        <a:solidFill>
                          <a:srgbClr val="000000"/>
                        </a:solidFill>
                        <a:latin typeface="Cambria Math" panose="02040503050406030204" pitchFamily="18" charset="0"/>
                      </a:rPr>
                      <m:t> </m:t>
                    </m:r>
                  </m:oMath>
                </a14:m>
                <a:r>
                  <a:rPr lang="zh-CN" altLang="zh-CN" sz="2800" dirty="0">
                    <a:solidFill>
                      <a:srgbClr val="000000"/>
                    </a:solidFill>
                    <a:latin typeface="+mn-ea"/>
                  </a:rPr>
                  <a:t>×</a:t>
                </a:r>
                <a:r>
                  <a:rPr lang="en-US" altLang="zh-CN" sz="2800" dirty="0">
                    <a:solidFill>
                      <a:srgbClr val="000000"/>
                    </a:solidFill>
                  </a:rPr>
                  <a:t> </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𝐻</m:t>
                        </m:r>
                      </m:e>
                      <m:sub>
                        <m:r>
                          <a:rPr lang="en-US" altLang="zh-CN" sz="2800" i="1">
                            <a:solidFill>
                              <a:srgbClr val="000000"/>
                            </a:solidFill>
                            <a:latin typeface="Cambria Math" panose="02040503050406030204" pitchFamily="18" charset="0"/>
                          </a:rPr>
                          <m:t>2</m:t>
                        </m:r>
                      </m:sub>
                    </m:sSub>
                    <m:r>
                      <a:rPr lang="en-US" altLang="zh-CN" sz="2800" i="1">
                        <a:solidFill>
                          <a:srgbClr val="000000"/>
                        </a:solidFill>
                        <a:latin typeface="Cambria Math" panose="02040503050406030204" pitchFamily="18" charset="0"/>
                      </a:rPr>
                      <m:t> </m:t>
                    </m:r>
                  </m:oMath>
                </a14:m>
                <a:r>
                  <a:rPr lang="zh-CN" altLang="zh-CN" sz="2800" dirty="0">
                    <a:solidFill>
                      <a:srgbClr val="000000"/>
                    </a:solidFill>
                    <a:latin typeface="+mn-ea"/>
                  </a:rPr>
                  <a:t>×</a:t>
                </a:r>
                <a:r>
                  <a:rPr lang="en-US" altLang="zh-CN" sz="2800" dirty="0">
                    <a:solidFill>
                      <a:srgbClr val="000000"/>
                    </a:solidFill>
                  </a:rPr>
                  <a:t> </a:t>
                </a:r>
                <a14:m>
                  <m:oMath xmlns:m="http://schemas.openxmlformats.org/officeDocument/2006/math">
                    <m:sSub>
                      <m:sSubPr>
                        <m:ctrlPr>
                          <a:rPr lang="en-US" altLang="zh-CN" sz="2800" i="1">
                            <a:solidFill>
                              <a:srgbClr val="000000"/>
                            </a:solidFill>
                            <a:latin typeface="Cambria Math" panose="02040503050406030204" pitchFamily="18" charset="0"/>
                          </a:rPr>
                        </m:ctrlPr>
                      </m:sSubPr>
                      <m:e>
                        <m:r>
                          <m:rPr>
                            <m:sty m:val="p"/>
                          </m:rPr>
                          <a:rPr lang="en-US" altLang="zh-CN" sz="2800" i="1">
                            <a:solidFill>
                              <a:srgbClr val="000000"/>
                            </a:solidFill>
                            <a:latin typeface="Cambria Math" panose="02040503050406030204" pitchFamily="18" charset="0"/>
                          </a:rPr>
                          <m:t>D</m:t>
                        </m:r>
                      </m:e>
                      <m:sub>
                        <m:r>
                          <a:rPr lang="en-US" altLang="zh-CN" sz="2800" i="1">
                            <a:solidFill>
                              <a:srgbClr val="000000"/>
                            </a:solidFill>
                            <a:latin typeface="Cambria Math" panose="02040503050406030204" pitchFamily="18" charset="0"/>
                          </a:rPr>
                          <m:t>2</m:t>
                        </m:r>
                      </m:sub>
                    </m:sSub>
                    <m:r>
                      <a:rPr lang="zh-CN" altLang="en-US" sz="2800" i="1" smtClean="0">
                        <a:solidFill>
                          <a:srgbClr val="000000"/>
                        </a:solidFill>
                        <a:latin typeface="Cambria Math" panose="02040503050406030204" pitchFamily="18" charset="0"/>
                      </a:rPr>
                      <m:t>，</m:t>
                    </m:r>
                  </m:oMath>
                </a14:m>
                <a:r>
                  <a:rPr kumimoji="0" lang="zh-CN" altLang="en-US" sz="2800" b="0" i="0" u="none" strike="noStrike" cap="none" normalizeH="0" baseline="0" dirty="0">
                    <a:ln>
                      <a:noFill/>
                    </a:ln>
                    <a:solidFill>
                      <a:srgbClr val="000000"/>
                    </a:solidFill>
                    <a:effectLst/>
                    <a:latin typeface="+mn-ea"/>
                  </a:rPr>
                  <a:t>其中</a:t>
                </a:r>
                <a:r>
                  <a:rPr kumimoji="0" lang="zh-CN" altLang="zh-CN" sz="2800" b="0" i="0" u="none" strike="noStrike" cap="none" normalizeH="0" baseline="0" dirty="0">
                    <a:ln>
                      <a:noFill/>
                    </a:ln>
                    <a:solidFill>
                      <a:srgbClr val="000000"/>
                    </a:solidFill>
                    <a:effectLst/>
                    <a:latin typeface="+mn-ea"/>
                  </a:rPr>
                  <a:t>：</a:t>
                </a:r>
              </a:p>
              <a:p>
                <a:pPr marL="457200" lvl="1" indent="0" eaLnBrk="0" hangingPunct="0">
                  <a:spcBef>
                    <a:spcPct val="0"/>
                  </a:spcBef>
                  <a:buClrTx/>
                  <a:buSzTx/>
                  <a:buFontTx/>
                  <a:buChar char="•"/>
                </a:pP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𝑊</m:t>
                        </m:r>
                      </m:e>
                      <m:sub>
                        <m:r>
                          <a:rPr lang="en-US" altLang="zh-CN" i="1">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 </m:t>
                    </m:r>
                  </m:oMath>
                </a14:m>
                <a:r>
                  <a:rPr lang="zh-CN" altLang="zh-CN" dirty="0">
                    <a:solidFill>
                      <a:srgbClr val="000000"/>
                    </a:solidFill>
                    <a:latin typeface="+mn-ea"/>
                  </a:rPr>
                  <a:t>=(</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𝑊</m:t>
                        </m:r>
                      </m:e>
                      <m:sub>
                        <m:r>
                          <a:rPr lang="en-US" altLang="zh-CN" i="1">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 </m:t>
                    </m:r>
                  </m:oMath>
                </a14:m>
                <a:r>
                  <a:rPr lang="zh-CN" altLang="zh-CN" dirty="0">
                    <a:solidFill>
                      <a:srgbClr val="000000"/>
                    </a:solidFill>
                    <a:latin typeface="+mn-ea"/>
                  </a:rPr>
                  <a:t>−F)/S+1</a:t>
                </a:r>
                <a:endParaRPr lang="en-US" altLang="zh-CN" dirty="0">
                  <a:solidFill>
                    <a:srgbClr val="000000"/>
                  </a:solidFill>
                  <a:latin typeface="+mn-ea"/>
                </a:endParaRPr>
              </a:p>
              <a:p>
                <a:pPr marL="457200" lvl="1" indent="0" eaLnBrk="0" hangingPunct="0">
                  <a:spcBef>
                    <a:spcPct val="0"/>
                  </a:spcBef>
                  <a:buClrTx/>
                  <a:buSzTx/>
                  <a:buFontTx/>
                  <a:buChar char="•"/>
                </a:pP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𝐻</m:t>
                        </m:r>
                      </m:e>
                      <m:sub>
                        <m:r>
                          <a:rPr lang="en-US" altLang="zh-CN" i="1">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 </m:t>
                    </m:r>
                  </m:oMath>
                </a14:m>
                <a:r>
                  <a:rPr lang="zh-CN" altLang="zh-CN" dirty="0">
                    <a:solidFill>
                      <a:srgbClr val="000000"/>
                    </a:solidFill>
                    <a:latin typeface="+mn-ea"/>
                  </a:rPr>
                  <a:t>=(</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𝐻</m:t>
                        </m:r>
                      </m:e>
                      <m:sub>
                        <m:r>
                          <a:rPr lang="en-US" altLang="zh-CN" i="1">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 </m:t>
                    </m:r>
                  </m:oMath>
                </a14:m>
                <a:r>
                  <a:rPr lang="zh-CN" altLang="zh-CN" dirty="0">
                    <a:solidFill>
                      <a:srgbClr val="000000"/>
                    </a:solidFill>
                    <a:latin typeface="+mn-ea"/>
                  </a:rPr>
                  <a:t>−F)/S+1</a:t>
                </a:r>
                <a:endParaRPr lang="en-US" altLang="zh-CN" dirty="0">
                  <a:solidFill>
                    <a:srgbClr val="000000"/>
                  </a:solidFill>
                  <a:latin typeface="+mn-ea"/>
                </a:endParaRPr>
              </a:p>
              <a:p>
                <a:pPr marL="457200" lvl="1" indent="0" eaLnBrk="0" hangingPunct="0">
                  <a:spcBef>
                    <a:spcPct val="0"/>
                  </a:spcBef>
                  <a:buClrTx/>
                  <a:buSzTx/>
                  <a:buFontTx/>
                  <a:buChar char="•"/>
                </a:pPr>
                <a14:m>
                  <m:oMath xmlns:m="http://schemas.openxmlformats.org/officeDocument/2006/math">
                    <m:sSub>
                      <m:sSubPr>
                        <m:ctrlPr>
                          <a:rPr lang="en-US" altLang="zh-CN" i="1">
                            <a:solidFill>
                              <a:srgbClr val="000000"/>
                            </a:solidFill>
                            <a:latin typeface="Cambria Math" panose="02040503050406030204" pitchFamily="18" charset="0"/>
                          </a:rPr>
                        </m:ctrlPr>
                      </m:sSubPr>
                      <m:e>
                        <m:r>
                          <m:rPr>
                            <m:sty m:val="p"/>
                          </m:rPr>
                          <a:rPr lang="en-US" altLang="zh-CN" i="1">
                            <a:solidFill>
                              <a:srgbClr val="000000"/>
                            </a:solidFill>
                            <a:latin typeface="Cambria Math" panose="02040503050406030204" pitchFamily="18" charset="0"/>
                          </a:rPr>
                          <m:t>D</m:t>
                        </m:r>
                      </m:e>
                      <m:sub>
                        <m:r>
                          <a:rPr lang="en-US" altLang="zh-CN" i="1">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 </m:t>
                    </m:r>
                  </m:oMath>
                </a14:m>
                <a:r>
                  <a:rPr lang="zh-CN" altLang="zh-CN" dirty="0">
                    <a:solidFill>
                      <a:srgbClr val="000000"/>
                    </a:solidFill>
                    <a:latin typeface="+mn-ea"/>
                  </a:rPr>
                  <a:t>=</a:t>
                </a:r>
                <a14:m>
                  <m:oMath xmlns:m="http://schemas.openxmlformats.org/officeDocument/2006/math">
                    <m:r>
                      <a:rPr lang="en-US" altLang="zh-CN" dirty="0">
                        <a:solidFill>
                          <a:srgbClr val="000000"/>
                        </a:solidFill>
                        <a:latin typeface="Cambria Math" panose="02040503050406030204" pitchFamily="18" charset="0"/>
                      </a:rPr>
                      <m:t> </m:t>
                    </m:r>
                    <m:sSub>
                      <m:sSubPr>
                        <m:ctrlPr>
                          <a:rPr lang="en-US" altLang="zh-CN" i="1">
                            <a:solidFill>
                              <a:srgbClr val="000000"/>
                            </a:solidFill>
                            <a:latin typeface="Cambria Math" panose="02040503050406030204" pitchFamily="18" charset="0"/>
                          </a:rPr>
                        </m:ctrlPr>
                      </m:sSubPr>
                      <m:e>
                        <m:r>
                          <m:rPr>
                            <m:sty m:val="p"/>
                          </m:rPr>
                          <a:rPr lang="en-US" altLang="zh-CN" i="1">
                            <a:solidFill>
                              <a:srgbClr val="000000"/>
                            </a:solidFill>
                            <a:latin typeface="Cambria Math" panose="02040503050406030204" pitchFamily="18" charset="0"/>
                          </a:rPr>
                          <m:t>D</m:t>
                        </m:r>
                      </m:e>
                      <m:sub>
                        <m:r>
                          <a:rPr lang="en-US" altLang="zh-CN" b="0" i="1" smtClean="0">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 </m:t>
                    </m:r>
                  </m:oMath>
                </a14:m>
                <a:endParaRPr lang="zh-CN" altLang="zh-CN" dirty="0">
                  <a:solidFill>
                    <a:srgbClr val="000000"/>
                  </a:solidFill>
                  <a:latin typeface="+mn-ea"/>
                </a:endParaRPr>
              </a:p>
              <a:p>
                <a:pPr marL="0" marR="0" lvl="0" indent="0" algn="l" defTabSz="914400" rtl="0" eaLnBrk="0" fontAlgn="base" latinLnBrk="0" hangingPunct="0">
                  <a:lnSpc>
                    <a:spcPct val="100000"/>
                  </a:lnSpc>
                  <a:spcBef>
                    <a:spcPct val="0"/>
                  </a:spcBef>
                  <a:spcAft>
                    <a:spcPct val="0"/>
                  </a:spcAft>
                  <a:buClrTx/>
                  <a:buSzTx/>
                  <a:buFontTx/>
                  <a:buChar char="•"/>
                  <a:tabLst/>
                </a:pPr>
                <a:r>
                  <a:rPr lang="zh-CN" altLang="en-US" sz="2800" dirty="0">
                    <a:solidFill>
                      <a:srgbClr val="000000"/>
                    </a:solidFill>
                    <a:latin typeface="+mn-ea"/>
                  </a:rPr>
                  <a:t>零</a:t>
                </a:r>
                <a:r>
                  <a:rPr kumimoji="0" lang="zh-CN" altLang="zh-CN" sz="2800" b="0" i="0" u="none" strike="noStrike" cap="none" normalizeH="0" baseline="0" dirty="0">
                    <a:ln>
                      <a:noFill/>
                    </a:ln>
                    <a:solidFill>
                      <a:srgbClr val="000000"/>
                    </a:solidFill>
                    <a:effectLst/>
                    <a:latin typeface="+mn-ea"/>
                  </a:rPr>
                  <a:t>参数，因为它计算输入的固定</a:t>
                </a:r>
                <a:r>
                  <a:rPr kumimoji="0" lang="zh-CN" altLang="en-US" sz="2800" b="0" i="0" u="none" strike="noStrike" cap="none" normalizeH="0" baseline="0" dirty="0">
                    <a:ln>
                      <a:noFill/>
                    </a:ln>
                    <a:solidFill>
                      <a:srgbClr val="000000"/>
                    </a:solidFill>
                    <a:effectLst/>
                    <a:latin typeface="+mn-ea"/>
                  </a:rPr>
                  <a:t>输出</a:t>
                </a:r>
                <a:endParaRPr kumimoji="0" lang="zh-CN" altLang="zh-CN" sz="2800" b="0" i="0" u="none" strike="noStrike" cap="none" normalizeH="0" baseline="0" dirty="0">
                  <a:ln>
                    <a:noFill/>
                  </a:ln>
                  <a:solidFill>
                    <a:srgbClr val="000000"/>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2800" b="0" i="0" u="none" strike="noStrike" cap="none" normalizeH="0" baseline="0" dirty="0">
                    <a:ln>
                      <a:noFill/>
                    </a:ln>
                    <a:solidFill>
                      <a:srgbClr val="000000"/>
                    </a:solidFill>
                    <a:effectLst/>
                    <a:latin typeface="+mn-ea"/>
                  </a:rPr>
                  <a:t>对于 Pooling 层，使用零填充并不常见</a:t>
                </a:r>
              </a:p>
            </p:txBody>
          </p:sp>
        </mc:Choice>
        <mc:Fallback>
          <p:sp>
            <p:nvSpPr>
              <p:cNvPr id="4" name="Rectangle 1">
                <a:extLst>
                  <a:ext uri="{FF2B5EF4-FFF2-40B4-BE49-F238E27FC236}">
                    <a16:creationId xmlns:a16="http://schemas.microsoft.com/office/drawing/2014/main" id="{8C9DA9F6-12C6-40E2-B819-9457FDD3A312}"/>
                  </a:ext>
                </a:extLst>
              </p:cNvPr>
              <p:cNvSpPr>
                <a:spLocks noGrp="1" noRot="1" noChangeAspect="1" noMove="1" noResize="1" noEditPoints="1" noAdjustHandles="1" noChangeArrowheads="1" noChangeShapeType="1" noTextEdit="1"/>
              </p:cNvSpPr>
              <p:nvPr>
                <p:ph idx="1"/>
              </p:nvPr>
            </p:nvSpPr>
            <p:spPr bwMode="auto">
              <a:xfrm>
                <a:off x="609600" y="1541262"/>
                <a:ext cx="10058400" cy="4308872"/>
              </a:xfrm>
              <a:prstGeom prst="rect">
                <a:avLst/>
              </a:prstGeom>
              <a:blipFill>
                <a:blip r:embed="rId3"/>
                <a:stretch>
                  <a:fillRect l="-2000" t="-2122" b="-4526"/>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3988892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a:t>典型的卷积网络</a:t>
            </a:r>
          </a:p>
        </p:txBody>
      </p:sp>
    </p:spTree>
    <p:extLst>
      <p:ext uri="{BB962C8B-B14F-4D97-AF65-F5344CB8AC3E}">
        <p14:creationId xmlns:p14="http://schemas.microsoft.com/office/powerpoint/2010/main" val="4152057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LeNet</a:t>
            </a:r>
            <a:endParaRPr lang="zh-CN" altLang="en-US" dirty="0"/>
          </a:p>
        </p:txBody>
      </p:sp>
      <p:sp>
        <p:nvSpPr>
          <p:cNvPr id="3" name="内容占位符 2"/>
          <p:cNvSpPr>
            <a:spLocks noGrp="1"/>
          </p:cNvSpPr>
          <p:nvPr>
            <p:ph idx="1"/>
          </p:nvPr>
        </p:nvSpPr>
        <p:spPr/>
        <p:txBody>
          <a:bodyPr/>
          <a:lstStyle/>
          <a:p>
            <a:r>
              <a:rPr lang="zh-CN" altLang="en-US" dirty="0"/>
              <a:t>由 </a:t>
            </a:r>
            <a:r>
              <a:rPr lang="en-US" altLang="zh-CN" dirty="0"/>
              <a:t>Yann </a:t>
            </a:r>
            <a:r>
              <a:rPr lang="en-US" altLang="zh-CN" dirty="0" err="1"/>
              <a:t>LeCun</a:t>
            </a:r>
            <a:r>
              <a:rPr lang="en-US" altLang="zh-CN" dirty="0"/>
              <a:t> </a:t>
            </a:r>
            <a:r>
              <a:rPr lang="zh-CN" altLang="en-US" dirty="0"/>
              <a:t>在 </a:t>
            </a:r>
            <a:r>
              <a:rPr lang="en-US" altLang="zh-CN" dirty="0"/>
              <a:t>1990 </a:t>
            </a:r>
            <a:r>
              <a:rPr lang="zh-CN" altLang="en-US" dirty="0"/>
              <a:t>年代开发的</a:t>
            </a:r>
            <a:r>
              <a:rPr lang="en-US" altLang="zh-CN" dirty="0" err="1"/>
              <a:t>LeNet</a:t>
            </a:r>
            <a:r>
              <a:rPr lang="en-US" altLang="zh-CN" dirty="0"/>
              <a:t> </a:t>
            </a:r>
            <a:r>
              <a:rPr lang="zh-CN" altLang="en-US" dirty="0"/>
              <a:t>是一个非常成功的神经网络模型。</a:t>
            </a:r>
          </a:p>
          <a:p>
            <a:pPr lvl="1"/>
            <a:r>
              <a:rPr lang="zh-CN" altLang="en-US" dirty="0"/>
              <a:t>基于 </a:t>
            </a:r>
            <a:r>
              <a:rPr lang="en-US" altLang="zh-CN" dirty="0" err="1"/>
              <a:t>LeNet</a:t>
            </a:r>
            <a:r>
              <a:rPr lang="en-US" altLang="zh-CN" dirty="0"/>
              <a:t> </a:t>
            </a:r>
            <a:r>
              <a:rPr lang="zh-CN" altLang="en-US" dirty="0"/>
              <a:t>的</a:t>
            </a:r>
            <a:r>
              <a:rPr lang="zh-CN" altLang="en-US" b="1" dirty="0"/>
              <a:t>手写数字识别系统</a:t>
            </a:r>
            <a:r>
              <a:rPr lang="zh-CN" altLang="en-US" dirty="0"/>
              <a:t>在 </a:t>
            </a:r>
            <a:r>
              <a:rPr lang="en-US" altLang="zh-CN" dirty="0"/>
              <a:t>90 </a:t>
            </a:r>
            <a:r>
              <a:rPr lang="zh-CN" altLang="en-US" dirty="0"/>
              <a:t>年代被美国很多银行使用，用来识别支票上面的手写数字</a:t>
            </a:r>
            <a:endParaRPr lang="en-US" altLang="zh-CN" dirty="0"/>
          </a:p>
          <a:p>
            <a:pPr lvl="1"/>
            <a:r>
              <a:rPr lang="en-US" altLang="zh-CN" dirty="0" err="1"/>
              <a:t>LeNet</a:t>
            </a:r>
            <a:r>
              <a:rPr lang="en-US" altLang="zh-CN" dirty="0"/>
              <a:t> </a:t>
            </a:r>
            <a:r>
              <a:rPr lang="zh-CN" altLang="en-US" dirty="0"/>
              <a:t>共有 </a:t>
            </a:r>
            <a:r>
              <a:rPr lang="en-US" altLang="zh-CN" dirty="0"/>
              <a:t>7 </a:t>
            </a:r>
            <a:r>
              <a:rPr lang="zh-CN" altLang="en-US" dirty="0"/>
              <a:t>层。</a:t>
            </a:r>
          </a:p>
        </p:txBody>
      </p:sp>
      <p:pic>
        <p:nvPicPr>
          <p:cNvPr id="5" name="图片 4"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1" y="3581400"/>
            <a:ext cx="7135905" cy="2133600"/>
          </a:xfrm>
          <a:prstGeom prst="rect">
            <a:avLst/>
          </a:prstGeom>
        </p:spPr>
      </p:pic>
      <p:sp>
        <p:nvSpPr>
          <p:cNvPr id="6" name="文本框 5"/>
          <p:cNvSpPr txBox="1"/>
          <p:nvPr/>
        </p:nvSpPr>
        <p:spPr>
          <a:xfrm>
            <a:off x="6781800" y="2895600"/>
            <a:ext cx="2262158" cy="369332"/>
          </a:xfrm>
          <a:prstGeom prst="rect">
            <a:avLst/>
          </a:prstGeom>
          <a:noFill/>
        </p:spPr>
        <p:txBody>
          <a:bodyPr wrap="none" rtlCol="0">
            <a:spAutoFit/>
          </a:bodyPr>
          <a:lstStyle/>
          <a:p>
            <a:r>
              <a:rPr lang="zh-CN" altLang="en-US" dirty="0">
                <a:solidFill>
                  <a:srgbClr val="FF0000"/>
                </a:solidFill>
              </a:rPr>
              <a:t>需要多少个卷积核？</a:t>
            </a:r>
          </a:p>
        </p:txBody>
      </p:sp>
      <p:cxnSp>
        <p:nvCxnSpPr>
          <p:cNvPr id="8" name="直接连接符 7"/>
          <p:cNvCxnSpPr>
            <a:endCxn id="6" idx="2"/>
          </p:cNvCxnSpPr>
          <p:nvPr/>
        </p:nvCxnSpPr>
        <p:spPr>
          <a:xfrm flipV="1">
            <a:off x="6858001" y="3264932"/>
            <a:ext cx="1054879" cy="54506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819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AlexNet</a:t>
            </a:r>
            <a:endParaRPr lang="zh-CN" altLang="en-US" dirty="0"/>
          </a:p>
        </p:txBody>
      </p:sp>
      <p:sp>
        <p:nvSpPr>
          <p:cNvPr id="3" name="内容占位符 2"/>
          <p:cNvSpPr>
            <a:spLocks noGrp="1"/>
          </p:cNvSpPr>
          <p:nvPr>
            <p:ph idx="1"/>
          </p:nvPr>
        </p:nvSpPr>
        <p:spPr/>
        <p:txBody>
          <a:bodyPr/>
          <a:lstStyle/>
          <a:p>
            <a:r>
              <a:rPr lang="en-US" altLang="zh-CN" dirty="0"/>
              <a:t>2012 ILSVRC winner </a:t>
            </a:r>
            <a:r>
              <a:rPr lang="zh-CN" altLang="en-US" dirty="0"/>
              <a:t>。由 </a:t>
            </a:r>
            <a:r>
              <a:rPr lang="en-US" altLang="zh-CN" dirty="0"/>
              <a:t>Alex </a:t>
            </a:r>
            <a:r>
              <a:rPr lang="en-US" altLang="zh-CN" dirty="0" err="1"/>
              <a:t>Krizhevsky</a:t>
            </a:r>
            <a:r>
              <a:rPr lang="zh-CN" altLang="en-US" dirty="0"/>
              <a:t>、</a:t>
            </a:r>
            <a:r>
              <a:rPr lang="en-US" altLang="zh-CN" dirty="0"/>
              <a:t>Ilya </a:t>
            </a:r>
            <a:r>
              <a:rPr lang="en-US" altLang="zh-CN" dirty="0" err="1"/>
              <a:t>Sutskever</a:t>
            </a:r>
            <a:r>
              <a:rPr lang="en-US" altLang="zh-CN" dirty="0"/>
              <a:t> </a:t>
            </a:r>
            <a:r>
              <a:rPr lang="zh-CN" altLang="en-US" dirty="0"/>
              <a:t>和 </a:t>
            </a:r>
            <a:r>
              <a:rPr lang="en-US" altLang="zh-CN" dirty="0"/>
              <a:t>Geoff Hinton </a:t>
            </a:r>
            <a:r>
              <a:rPr lang="zh-CN" altLang="en-US" dirty="0"/>
              <a:t>开发。</a:t>
            </a:r>
            <a:endParaRPr lang="en-US" altLang="zh-CN" dirty="0"/>
          </a:p>
          <a:p>
            <a:pPr lvl="1"/>
            <a:r>
              <a:rPr lang="zh-CN" altLang="en-US" dirty="0"/>
              <a:t>（</a:t>
            </a:r>
            <a:r>
              <a:rPr lang="en-US" altLang="zh-CN" dirty="0"/>
              <a:t>top 5 error of 16% compared to runner-up with 26% error</a:t>
            </a:r>
            <a:r>
              <a:rPr lang="zh-CN" altLang="en-US" dirty="0"/>
              <a:t>）</a:t>
            </a:r>
            <a:endParaRPr lang="en-US" altLang="zh-CN" dirty="0"/>
          </a:p>
          <a:p>
            <a:pPr lvl="1"/>
            <a:r>
              <a:rPr lang="zh-CN" altLang="en-US" b="1" dirty="0">
                <a:solidFill>
                  <a:srgbClr val="FF0000"/>
                </a:solidFill>
              </a:rPr>
              <a:t>第一个现代深度卷积网络模型</a:t>
            </a:r>
            <a:endParaRPr lang="en-US" altLang="zh-CN" b="1" dirty="0">
              <a:solidFill>
                <a:srgbClr val="FF0000"/>
              </a:solidFill>
            </a:endParaRPr>
          </a:p>
          <a:p>
            <a:pPr lvl="2"/>
            <a:r>
              <a:rPr lang="zh-CN" altLang="en-US" dirty="0">
                <a:solidFill>
                  <a:srgbClr val="FF0000"/>
                </a:solidFill>
              </a:rPr>
              <a:t>首次使用了很多现代深度卷积网络的一些技术方法</a:t>
            </a:r>
            <a:endParaRPr lang="en-US" altLang="zh-CN" dirty="0">
              <a:solidFill>
                <a:srgbClr val="FF0000"/>
              </a:solidFill>
            </a:endParaRPr>
          </a:p>
          <a:p>
            <a:pPr lvl="3"/>
            <a:r>
              <a:rPr lang="zh-CN" altLang="en-US" b="1" dirty="0">
                <a:solidFill>
                  <a:srgbClr val="FF0000"/>
                </a:solidFill>
              </a:rPr>
              <a:t>使用</a:t>
            </a:r>
            <a:r>
              <a:rPr lang="en-US" altLang="zh-CN" b="1" dirty="0">
                <a:solidFill>
                  <a:srgbClr val="FF0000"/>
                </a:solidFill>
              </a:rPr>
              <a:t>GPU</a:t>
            </a:r>
            <a:r>
              <a:rPr lang="zh-CN" altLang="en-US" b="1" dirty="0">
                <a:solidFill>
                  <a:srgbClr val="FF0000"/>
                </a:solidFill>
              </a:rPr>
              <a:t>进行并行训练</a:t>
            </a:r>
            <a:r>
              <a:rPr lang="zh-CN" altLang="en-US" dirty="0">
                <a:solidFill>
                  <a:srgbClr val="FF0000"/>
                </a:solidFill>
              </a:rPr>
              <a:t>，采用了</a:t>
            </a:r>
            <a:r>
              <a:rPr lang="en-US" altLang="zh-CN" dirty="0" err="1">
                <a:solidFill>
                  <a:srgbClr val="FF0000"/>
                </a:solidFill>
              </a:rPr>
              <a:t>ReLU</a:t>
            </a:r>
            <a:r>
              <a:rPr lang="zh-CN" altLang="en-US" dirty="0">
                <a:solidFill>
                  <a:srgbClr val="FF0000"/>
                </a:solidFill>
              </a:rPr>
              <a:t>作为非线性激活函数，使用</a:t>
            </a:r>
            <a:r>
              <a:rPr lang="en-US" altLang="zh-CN" dirty="0">
                <a:solidFill>
                  <a:srgbClr val="FF0000"/>
                </a:solidFill>
              </a:rPr>
              <a:t>Dropout</a:t>
            </a:r>
            <a:r>
              <a:rPr lang="zh-CN" altLang="en-US" dirty="0">
                <a:solidFill>
                  <a:srgbClr val="FF0000"/>
                </a:solidFill>
              </a:rPr>
              <a:t>防止过拟合，使用数据增强</a:t>
            </a:r>
            <a:endParaRPr lang="en-US" altLang="zh-CN" dirty="0">
              <a:solidFill>
                <a:srgbClr val="FF0000"/>
              </a:solidFill>
            </a:endParaRPr>
          </a:p>
          <a:p>
            <a:pPr lvl="1"/>
            <a:r>
              <a:rPr lang="en-US" altLang="zh-CN" dirty="0"/>
              <a:t>5</a:t>
            </a:r>
            <a:r>
              <a:rPr lang="zh-CN" altLang="en-US" dirty="0"/>
              <a:t>个卷积层、</a:t>
            </a:r>
            <a:r>
              <a:rPr lang="en-US" altLang="zh-CN" dirty="0"/>
              <a:t>3</a:t>
            </a:r>
            <a:r>
              <a:rPr lang="zh-CN" altLang="en-US" dirty="0"/>
              <a:t>个汇聚层和</a:t>
            </a:r>
            <a:r>
              <a:rPr lang="en-US" altLang="zh-CN" dirty="0"/>
              <a:t>3</a:t>
            </a:r>
            <a:r>
              <a:rPr lang="zh-CN" altLang="en-US" dirty="0"/>
              <a:t>个全连接层</a:t>
            </a:r>
          </a:p>
        </p:txBody>
      </p:sp>
      <p:pic>
        <p:nvPicPr>
          <p:cNvPr id="4" name="图片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57400" y="4114800"/>
            <a:ext cx="7750278" cy="2495267"/>
          </a:xfrm>
          <a:prstGeom prst="rect">
            <a:avLst/>
          </a:prstGeom>
        </p:spPr>
      </p:pic>
    </p:spTree>
    <p:extLst>
      <p:ext uri="{BB962C8B-B14F-4D97-AF65-F5344CB8AC3E}">
        <p14:creationId xmlns:p14="http://schemas.microsoft.com/office/powerpoint/2010/main" val="2268757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D4B00C-A642-4FFF-9195-A7CD180F5BA0}"/>
              </a:ext>
            </a:extLst>
          </p:cNvPr>
          <p:cNvSpPr>
            <a:spLocks noGrp="1"/>
          </p:cNvSpPr>
          <p:nvPr>
            <p:ph type="title"/>
          </p:nvPr>
        </p:nvSpPr>
        <p:spPr/>
        <p:txBody>
          <a:bodyPr/>
          <a:lstStyle/>
          <a:p>
            <a:r>
              <a:rPr lang="en-US" altLang="zh-CN" dirty="0" err="1"/>
              <a:t>ZFNet</a:t>
            </a:r>
            <a:endParaRPr lang="zh-CN" altLang="en-US" dirty="0"/>
          </a:p>
        </p:txBody>
      </p:sp>
      <p:sp>
        <p:nvSpPr>
          <p:cNvPr id="3" name="内容占位符 2">
            <a:extLst>
              <a:ext uri="{FF2B5EF4-FFF2-40B4-BE49-F238E27FC236}">
                <a16:creationId xmlns:a16="http://schemas.microsoft.com/office/drawing/2014/main" id="{343DEB10-DEAE-4CDC-984A-E41F70A3B3E5}"/>
              </a:ext>
            </a:extLst>
          </p:cNvPr>
          <p:cNvSpPr>
            <a:spLocks noGrp="1"/>
          </p:cNvSpPr>
          <p:nvPr>
            <p:ph idx="1"/>
          </p:nvPr>
        </p:nvSpPr>
        <p:spPr/>
        <p:txBody>
          <a:bodyPr/>
          <a:lstStyle/>
          <a:p>
            <a:r>
              <a:rPr lang="en-US" altLang="zh-CN" dirty="0"/>
              <a:t>ILSVRC 2013 </a:t>
            </a:r>
            <a:r>
              <a:rPr lang="zh-CN" altLang="en-US" dirty="0"/>
              <a:t>的获胜者是来自 </a:t>
            </a:r>
            <a:r>
              <a:rPr lang="en-US" altLang="zh-CN" dirty="0"/>
              <a:t>Matthew </a:t>
            </a:r>
            <a:r>
              <a:rPr lang="en-US" altLang="zh-CN" dirty="0" err="1"/>
              <a:t>Zeiler</a:t>
            </a:r>
            <a:r>
              <a:rPr lang="en-US" altLang="zh-CN" dirty="0"/>
              <a:t> </a:t>
            </a:r>
            <a:r>
              <a:rPr lang="zh-CN" altLang="en-US" dirty="0"/>
              <a:t>和 </a:t>
            </a:r>
            <a:r>
              <a:rPr lang="en-US" altLang="zh-CN" dirty="0"/>
              <a:t>Rob Fergus </a:t>
            </a:r>
            <a:r>
              <a:rPr lang="zh-CN" altLang="en-US" dirty="0"/>
              <a:t>的卷积网络</a:t>
            </a:r>
            <a:endParaRPr lang="en-US" altLang="zh-CN" dirty="0"/>
          </a:p>
          <a:p>
            <a:pPr lvl="1"/>
            <a:r>
              <a:rPr lang="zh-CN" altLang="en-US" b="0" i="0" dirty="0">
                <a:solidFill>
                  <a:srgbClr val="000000"/>
                </a:solidFill>
                <a:effectLst/>
                <a:latin typeface="Roboto" panose="02000000000000000000" pitchFamily="2" charset="0"/>
              </a:rPr>
              <a:t>它通过调整架构超参数，特别是通过</a:t>
            </a:r>
            <a:r>
              <a:rPr lang="zh-CN" altLang="en-US" b="0" i="0" u="sng" dirty="0">
                <a:solidFill>
                  <a:srgbClr val="000000"/>
                </a:solidFill>
                <a:effectLst/>
                <a:latin typeface="Roboto" panose="02000000000000000000" pitchFamily="2" charset="0"/>
              </a:rPr>
              <a:t>扩大中间卷积层的大小并使第一层的步幅和滤波器大小更小</a:t>
            </a:r>
            <a:r>
              <a:rPr lang="zh-CN" altLang="en-US" b="0" i="0" dirty="0">
                <a:solidFill>
                  <a:srgbClr val="000000"/>
                </a:solidFill>
                <a:effectLst/>
                <a:latin typeface="Roboto" panose="02000000000000000000" pitchFamily="2" charset="0"/>
              </a:rPr>
              <a:t>，对 </a:t>
            </a:r>
            <a:r>
              <a:rPr lang="en-US" altLang="zh-CN" b="0" i="0" dirty="0" err="1">
                <a:solidFill>
                  <a:srgbClr val="000000"/>
                </a:solidFill>
                <a:effectLst/>
                <a:latin typeface="Roboto" panose="02000000000000000000" pitchFamily="2" charset="0"/>
              </a:rPr>
              <a:t>AlexNet</a:t>
            </a:r>
            <a:r>
              <a:rPr lang="en-US" altLang="zh-CN" b="0" i="0" dirty="0">
                <a:solidFill>
                  <a:srgbClr val="000000"/>
                </a:solidFill>
                <a:effectLst/>
                <a:latin typeface="Roboto" panose="02000000000000000000" pitchFamily="2" charset="0"/>
              </a:rPr>
              <a:t> </a:t>
            </a:r>
            <a:r>
              <a:rPr lang="zh-CN" altLang="en-US" b="0" i="0" dirty="0">
                <a:solidFill>
                  <a:srgbClr val="000000"/>
                </a:solidFill>
                <a:effectLst/>
                <a:latin typeface="Roboto" panose="02000000000000000000" pitchFamily="2" charset="0"/>
              </a:rPr>
              <a:t>进行了改进。</a:t>
            </a:r>
            <a:endParaRPr lang="zh-CN" altLang="en-US" dirty="0"/>
          </a:p>
        </p:txBody>
      </p:sp>
      <p:pic>
        <p:nvPicPr>
          <p:cNvPr id="9220" name="Picture 4">
            <a:extLst>
              <a:ext uri="{FF2B5EF4-FFF2-40B4-BE49-F238E27FC236}">
                <a16:creationId xmlns:a16="http://schemas.microsoft.com/office/drawing/2014/main" id="{9C8CBAA1-86A1-451A-B975-0795814CF3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2" y="3355383"/>
            <a:ext cx="12192000" cy="2903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13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2B1EEF-FA79-4F90-A797-A7EEBD8D0E1D}"/>
              </a:ext>
            </a:extLst>
          </p:cNvPr>
          <p:cNvSpPr>
            <a:spLocks noGrp="1"/>
          </p:cNvSpPr>
          <p:nvPr>
            <p:ph type="title"/>
          </p:nvPr>
        </p:nvSpPr>
        <p:spPr/>
        <p:txBody>
          <a:bodyPr/>
          <a:lstStyle/>
          <a:p>
            <a:r>
              <a:rPr lang="en-US" altLang="zh-CN" dirty="0" err="1"/>
              <a:t>GoogleNet</a:t>
            </a:r>
            <a:endParaRPr lang="zh-CN" altLang="en-US" dirty="0"/>
          </a:p>
        </p:txBody>
      </p:sp>
      <p:sp>
        <p:nvSpPr>
          <p:cNvPr id="3" name="内容占位符 2">
            <a:extLst>
              <a:ext uri="{FF2B5EF4-FFF2-40B4-BE49-F238E27FC236}">
                <a16:creationId xmlns:a16="http://schemas.microsoft.com/office/drawing/2014/main" id="{2E1124CB-9880-4071-A952-4DAED99007F8}"/>
              </a:ext>
            </a:extLst>
          </p:cNvPr>
          <p:cNvSpPr>
            <a:spLocks noGrp="1"/>
          </p:cNvSpPr>
          <p:nvPr>
            <p:ph idx="1"/>
          </p:nvPr>
        </p:nvSpPr>
        <p:spPr/>
        <p:txBody>
          <a:bodyPr/>
          <a:lstStyle/>
          <a:p>
            <a:r>
              <a:rPr lang="en-US" altLang="zh-CN" dirty="0"/>
              <a:t>ILSVRC 2014 </a:t>
            </a:r>
            <a:r>
              <a:rPr lang="zh-CN" altLang="en-US" dirty="0"/>
              <a:t>获胜者是来自 </a:t>
            </a:r>
            <a:r>
              <a:rPr lang="en-US" altLang="zh-CN" dirty="0"/>
              <a:t>Google </a:t>
            </a:r>
            <a:r>
              <a:rPr lang="zh-CN" altLang="en-US" dirty="0"/>
              <a:t>的 </a:t>
            </a:r>
            <a:r>
              <a:rPr lang="en-US" altLang="zh-CN" dirty="0" err="1"/>
              <a:t>Szegedy</a:t>
            </a:r>
            <a:r>
              <a:rPr lang="en-US" altLang="zh-CN" dirty="0"/>
              <a:t> </a:t>
            </a:r>
            <a:r>
              <a:rPr lang="zh-CN" altLang="en-US" dirty="0"/>
              <a:t>等人的卷积网络。</a:t>
            </a:r>
            <a:endParaRPr lang="en-US" altLang="zh-CN" dirty="0"/>
          </a:p>
          <a:p>
            <a:pPr lvl="1"/>
            <a:r>
              <a:rPr lang="zh-CN" altLang="en-US" dirty="0"/>
              <a:t>它的主要贡献是开发了 </a:t>
            </a:r>
            <a:r>
              <a:rPr lang="en-US" altLang="zh-CN" dirty="0"/>
              <a:t>Inception </a:t>
            </a:r>
            <a:r>
              <a:rPr lang="zh-CN" altLang="en-US" dirty="0"/>
              <a:t>模块，该模块大大减少了网络中的参数数量（</a:t>
            </a:r>
            <a:r>
              <a:rPr lang="en-US" altLang="zh-CN" dirty="0"/>
              <a:t>4M</a:t>
            </a:r>
            <a:r>
              <a:rPr lang="zh-CN" altLang="en-US" dirty="0"/>
              <a:t>，而 </a:t>
            </a:r>
            <a:r>
              <a:rPr lang="en-US" altLang="zh-CN" dirty="0" err="1"/>
              <a:t>AlexNet</a:t>
            </a:r>
            <a:r>
              <a:rPr lang="en-US" altLang="zh-CN" dirty="0"/>
              <a:t> </a:t>
            </a:r>
            <a:r>
              <a:rPr lang="zh-CN" altLang="en-US" dirty="0"/>
              <a:t>为 </a:t>
            </a:r>
            <a:r>
              <a:rPr lang="en-US" altLang="zh-CN" dirty="0"/>
              <a:t>60M</a:t>
            </a:r>
            <a:r>
              <a:rPr lang="zh-CN" altLang="en-US" dirty="0"/>
              <a:t>）。此外，本文在 </a:t>
            </a:r>
            <a:r>
              <a:rPr lang="en-US" altLang="zh-CN" dirty="0" err="1"/>
              <a:t>ConvNet</a:t>
            </a:r>
            <a:r>
              <a:rPr lang="en-US" altLang="zh-CN" dirty="0"/>
              <a:t> </a:t>
            </a:r>
            <a:r>
              <a:rPr lang="zh-CN" altLang="en-US" dirty="0"/>
              <a:t>的顶部使用了 </a:t>
            </a:r>
            <a:r>
              <a:rPr lang="en-US" altLang="zh-CN" dirty="0"/>
              <a:t>Average Pooling </a:t>
            </a:r>
            <a:r>
              <a:rPr lang="zh-CN" altLang="en-US" dirty="0"/>
              <a:t>而不是 </a:t>
            </a:r>
            <a:r>
              <a:rPr lang="en-US" altLang="zh-CN" dirty="0"/>
              <a:t>Fully Connected </a:t>
            </a:r>
            <a:r>
              <a:rPr lang="zh-CN" altLang="en-US" dirty="0"/>
              <a:t>层，从而消除了大量似乎无关紧要的参数。</a:t>
            </a:r>
            <a:r>
              <a:rPr lang="en-US" altLang="zh-CN" dirty="0" err="1"/>
              <a:t>GoogLeNet</a:t>
            </a:r>
            <a:r>
              <a:rPr lang="en-US" altLang="zh-CN" dirty="0"/>
              <a:t> </a:t>
            </a:r>
            <a:r>
              <a:rPr lang="zh-CN" altLang="en-US" dirty="0"/>
              <a:t>还有几个后续版本，最近的是 </a:t>
            </a:r>
            <a:r>
              <a:rPr lang="en-US" altLang="zh-CN" dirty="0"/>
              <a:t>Inception-v4</a:t>
            </a:r>
            <a:r>
              <a:rPr lang="zh-CN" altLang="en-US" dirty="0"/>
              <a:t>。</a:t>
            </a:r>
          </a:p>
        </p:txBody>
      </p:sp>
      <p:pic>
        <p:nvPicPr>
          <p:cNvPr id="4" name="图片 3">
            <a:extLst>
              <a:ext uri="{FF2B5EF4-FFF2-40B4-BE49-F238E27FC236}">
                <a16:creationId xmlns:a16="http://schemas.microsoft.com/office/drawing/2014/main" id="{7FCD0ED2-977D-4AB5-95FB-B6052840302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200400" y="3886200"/>
            <a:ext cx="8458200" cy="2459534"/>
          </a:xfrm>
          <a:prstGeom prst="rect">
            <a:avLst/>
          </a:prstGeom>
        </p:spPr>
      </p:pic>
    </p:spTree>
    <p:extLst>
      <p:ext uri="{BB962C8B-B14F-4D97-AF65-F5344CB8AC3E}">
        <p14:creationId xmlns:p14="http://schemas.microsoft.com/office/powerpoint/2010/main" val="3956402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67AA1E-7AE8-478F-B66C-8E7E721022E2}"/>
              </a:ext>
            </a:extLst>
          </p:cNvPr>
          <p:cNvSpPr>
            <a:spLocks noGrp="1"/>
          </p:cNvSpPr>
          <p:nvPr>
            <p:ph type="title"/>
          </p:nvPr>
        </p:nvSpPr>
        <p:spPr/>
        <p:txBody>
          <a:bodyPr/>
          <a:lstStyle/>
          <a:p>
            <a:r>
              <a:rPr lang="en-US" altLang="zh-CN" dirty="0" err="1"/>
              <a:t>VGGNet</a:t>
            </a:r>
            <a:r>
              <a:rPr lang="en-US" altLang="zh-CN" dirty="0"/>
              <a:t> </a:t>
            </a:r>
            <a:endParaRPr lang="zh-CN" altLang="en-US" dirty="0"/>
          </a:p>
        </p:txBody>
      </p:sp>
      <p:sp>
        <p:nvSpPr>
          <p:cNvPr id="3" name="内容占位符 2">
            <a:extLst>
              <a:ext uri="{FF2B5EF4-FFF2-40B4-BE49-F238E27FC236}">
                <a16:creationId xmlns:a16="http://schemas.microsoft.com/office/drawing/2014/main" id="{2822F7D7-DDA3-4C0E-96FE-7C2F5026FD67}"/>
              </a:ext>
            </a:extLst>
          </p:cNvPr>
          <p:cNvSpPr>
            <a:spLocks noGrp="1"/>
          </p:cNvSpPr>
          <p:nvPr>
            <p:ph idx="1"/>
          </p:nvPr>
        </p:nvSpPr>
        <p:spPr/>
        <p:txBody>
          <a:bodyPr/>
          <a:lstStyle/>
          <a:p>
            <a:r>
              <a:rPr lang="en-US" altLang="zh-CN" dirty="0"/>
              <a:t>ILSVRC 2014 </a:t>
            </a:r>
            <a:r>
              <a:rPr lang="zh-CN" altLang="en-US" dirty="0"/>
              <a:t>的亚军是 </a:t>
            </a:r>
            <a:r>
              <a:rPr lang="en-US" altLang="zh-CN" dirty="0"/>
              <a:t>Karen </a:t>
            </a:r>
            <a:r>
              <a:rPr lang="en-US" altLang="zh-CN" dirty="0" err="1"/>
              <a:t>Simonyan</a:t>
            </a:r>
            <a:r>
              <a:rPr lang="en-US" altLang="zh-CN" dirty="0"/>
              <a:t> </a:t>
            </a:r>
            <a:r>
              <a:rPr lang="zh-CN" altLang="en-US" dirty="0"/>
              <a:t>和 </a:t>
            </a:r>
            <a:r>
              <a:rPr lang="en-US" altLang="zh-CN" dirty="0"/>
              <a:t>Andrew Zisserman </a:t>
            </a:r>
            <a:r>
              <a:rPr lang="zh-CN" altLang="en-US" dirty="0"/>
              <a:t>的网络，该网络后来被称为 </a:t>
            </a:r>
            <a:r>
              <a:rPr lang="en-US" altLang="zh-CN" dirty="0" err="1"/>
              <a:t>VGGNet</a:t>
            </a:r>
            <a:r>
              <a:rPr lang="zh-CN" altLang="en-US" dirty="0"/>
              <a:t>。</a:t>
            </a:r>
            <a:endParaRPr lang="en-US" altLang="zh-CN" dirty="0"/>
          </a:p>
          <a:p>
            <a:pPr lvl="1"/>
            <a:r>
              <a:rPr lang="zh-CN" altLang="en-US" sz="2400" dirty="0"/>
              <a:t>它的主要贡献是表明</a:t>
            </a:r>
            <a:r>
              <a:rPr lang="zh-CN" altLang="en-US" sz="2400" b="1" dirty="0"/>
              <a:t>网络深度</a:t>
            </a:r>
            <a:r>
              <a:rPr lang="zh-CN" altLang="en-US" sz="2400" dirty="0"/>
              <a:t>是良好性能的关键组成部分。他们最终的最佳网络包含 </a:t>
            </a:r>
            <a:r>
              <a:rPr lang="en-US" altLang="zh-CN" sz="2400" dirty="0"/>
              <a:t>16 </a:t>
            </a:r>
            <a:r>
              <a:rPr lang="zh-CN" altLang="en-US" sz="2400" dirty="0"/>
              <a:t>个 </a:t>
            </a:r>
            <a:r>
              <a:rPr lang="en-US" altLang="zh-CN" sz="2400" dirty="0"/>
              <a:t>CONV/FC </a:t>
            </a:r>
            <a:r>
              <a:rPr lang="zh-CN" altLang="en-US" sz="2400" dirty="0"/>
              <a:t>层，并且具有极具吸引力的极其同构的架构，从头到尾只执行 </a:t>
            </a:r>
            <a:r>
              <a:rPr lang="en-US" altLang="zh-CN" sz="2400" dirty="0"/>
              <a:t>3x3 </a:t>
            </a:r>
            <a:r>
              <a:rPr lang="zh-CN" altLang="en-US" sz="2400" dirty="0"/>
              <a:t>卷积和 </a:t>
            </a:r>
            <a:r>
              <a:rPr lang="en-US" altLang="zh-CN" sz="2400" dirty="0"/>
              <a:t>2x2 </a:t>
            </a:r>
            <a:r>
              <a:rPr lang="zh-CN" altLang="en-US" sz="2400" dirty="0"/>
              <a:t>池化。他们的预训练模型可</a:t>
            </a:r>
            <a:r>
              <a:rPr lang="zh-CN" altLang="en-US" sz="2400" b="1" dirty="0"/>
              <a:t>在 </a:t>
            </a:r>
            <a:r>
              <a:rPr lang="en-US" altLang="zh-CN" sz="2400" b="1" dirty="0"/>
              <a:t>Caffe </a:t>
            </a:r>
            <a:r>
              <a:rPr lang="zh-CN" altLang="en-US" sz="2400" b="1" dirty="0"/>
              <a:t>中即插即用</a:t>
            </a:r>
            <a:r>
              <a:rPr lang="zh-CN" altLang="en-US" sz="2400" dirty="0"/>
              <a:t>。</a:t>
            </a:r>
            <a:r>
              <a:rPr lang="en-US" altLang="zh-CN" sz="2400" dirty="0" err="1"/>
              <a:t>VGGNet</a:t>
            </a:r>
            <a:r>
              <a:rPr lang="en-US" altLang="zh-CN" sz="2400" dirty="0"/>
              <a:t> </a:t>
            </a:r>
            <a:r>
              <a:rPr lang="zh-CN" altLang="en-US" sz="2400" dirty="0"/>
              <a:t>的一个缺点是它的评估成本更高，并且使用</a:t>
            </a:r>
            <a:r>
              <a:rPr lang="zh-CN" altLang="en-US" sz="2400" b="1" dirty="0"/>
              <a:t>更多的内存和参数 （</a:t>
            </a:r>
            <a:r>
              <a:rPr lang="en-US" altLang="zh-CN" sz="2400" b="1" dirty="0"/>
              <a:t>140M</a:t>
            </a:r>
            <a:r>
              <a:rPr lang="zh-CN" altLang="en-US" sz="2400" b="1" dirty="0"/>
              <a:t>）</a:t>
            </a:r>
            <a:r>
              <a:rPr lang="zh-CN" altLang="en-US" sz="2400" dirty="0"/>
              <a:t>。这些参数大多位于第一个全连接层中，后来发现这些 </a:t>
            </a:r>
            <a:r>
              <a:rPr lang="en-US" altLang="zh-CN" sz="2400" dirty="0"/>
              <a:t>FC </a:t>
            </a:r>
            <a:r>
              <a:rPr lang="zh-CN" altLang="en-US" sz="2400" dirty="0"/>
              <a:t>层可以在不降低性能的情况下被删除，从而显著减少了必要参数的数量。</a:t>
            </a:r>
          </a:p>
        </p:txBody>
      </p:sp>
      <p:pic>
        <p:nvPicPr>
          <p:cNvPr id="10242" name="Picture 2" descr="关于VGGNet网络结构浅谈（主要是VGG16结构）_vggnet16-CSDN博客">
            <a:extLst>
              <a:ext uri="{FF2B5EF4-FFF2-40B4-BE49-F238E27FC236}">
                <a16:creationId xmlns:a16="http://schemas.microsoft.com/office/drawing/2014/main" id="{4D435708-8C66-4D19-BBA4-A7730D1B2D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4282594"/>
            <a:ext cx="4028778" cy="2575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5999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err="1"/>
              <a:t>ResNet</a:t>
            </a:r>
            <a:endParaRPr lang="zh-CN" altLang="en-US" dirty="0"/>
          </a:p>
        </p:txBody>
      </p:sp>
      <p:sp>
        <p:nvSpPr>
          <p:cNvPr id="3" name="内容占位符 2"/>
          <p:cNvSpPr>
            <a:spLocks noGrp="1"/>
          </p:cNvSpPr>
          <p:nvPr>
            <p:ph idx="1"/>
          </p:nvPr>
        </p:nvSpPr>
        <p:spPr/>
        <p:txBody>
          <a:bodyPr/>
          <a:lstStyle/>
          <a:p>
            <a:r>
              <a:rPr lang="en-US" altLang="zh-CN" sz="2800" dirty="0" err="1"/>
              <a:t>Kaiming</a:t>
            </a:r>
            <a:r>
              <a:rPr lang="en-US" altLang="zh-CN" sz="2800" dirty="0"/>
              <a:t> He </a:t>
            </a:r>
            <a:r>
              <a:rPr lang="zh-CN" altLang="en-US" sz="2800" dirty="0"/>
              <a:t>等人开发的 </a:t>
            </a:r>
            <a:r>
              <a:rPr lang="en-US" altLang="zh-CN" sz="2800" dirty="0"/>
              <a:t>Residual Network </a:t>
            </a:r>
            <a:r>
              <a:rPr lang="zh-CN" altLang="en-US" sz="2800" dirty="0"/>
              <a:t>是 </a:t>
            </a:r>
            <a:r>
              <a:rPr lang="en-US" altLang="zh-CN" sz="2800" dirty="0"/>
              <a:t>ILSVRC 2015 </a:t>
            </a:r>
            <a:r>
              <a:rPr lang="zh-CN" altLang="en-US" sz="2800" dirty="0"/>
              <a:t>的获胜者。是通过给非线性的卷积层增加</a:t>
            </a:r>
            <a:r>
              <a:rPr lang="zh-CN" altLang="en-US" sz="2800" b="1" dirty="0">
                <a:solidFill>
                  <a:srgbClr val="FF0000"/>
                </a:solidFill>
              </a:rPr>
              <a:t>直连边</a:t>
            </a:r>
            <a:r>
              <a:rPr lang="zh-CN" altLang="en-US" sz="2800" dirty="0"/>
              <a:t>的方式来提高信息的传播效率。</a:t>
            </a:r>
            <a:endParaRPr lang="en-US" altLang="zh-CN" sz="2800" dirty="0"/>
          </a:p>
          <a:p>
            <a:pPr lvl="1"/>
            <a:r>
              <a:rPr lang="zh-CN" altLang="en-US" sz="2400" dirty="0"/>
              <a:t>假设在一个深度网络中，我们期望一个非线性单元（可以为一层或多层的卷积层）</a:t>
            </a:r>
            <a:r>
              <a:rPr lang="en-US" altLang="zh-CN" sz="2400" dirty="0"/>
              <a:t>f(</a:t>
            </a:r>
            <a:r>
              <a:rPr lang="en-US" altLang="zh-CN" sz="2400" dirty="0" err="1"/>
              <a:t>x,θ</a:t>
            </a:r>
            <a:r>
              <a:rPr lang="en-US" altLang="zh-CN" sz="2400" dirty="0"/>
              <a:t>)</a:t>
            </a:r>
            <a:r>
              <a:rPr lang="zh-CN" altLang="en-US" sz="2400" dirty="0"/>
              <a:t>去逼近一个目标函数为</a:t>
            </a:r>
            <a:r>
              <a:rPr lang="en-US" altLang="zh-CN" sz="2400" dirty="0"/>
              <a:t>h(x)</a:t>
            </a:r>
            <a:r>
              <a:rPr lang="zh-CN" altLang="en-US" sz="2400" dirty="0"/>
              <a:t>。</a:t>
            </a:r>
            <a:endParaRPr lang="en-US" altLang="zh-CN" sz="2400" dirty="0"/>
          </a:p>
          <a:p>
            <a:pPr lvl="1"/>
            <a:r>
              <a:rPr lang="zh-CN" altLang="en-US" sz="2400" dirty="0"/>
              <a:t>将目标函数拆分成两部分：</a:t>
            </a:r>
            <a:r>
              <a:rPr lang="zh-CN" altLang="en-US" sz="2400" dirty="0">
                <a:solidFill>
                  <a:srgbClr val="FF0000"/>
                </a:solidFill>
              </a:rPr>
              <a:t>恒等函数</a:t>
            </a:r>
            <a:r>
              <a:rPr lang="zh-CN" altLang="en-US" sz="2400" dirty="0"/>
              <a:t>和</a:t>
            </a:r>
            <a:r>
              <a:rPr lang="zh-CN" altLang="en-US" sz="2400" dirty="0">
                <a:solidFill>
                  <a:srgbClr val="FF0000"/>
                </a:solidFill>
              </a:rPr>
              <a:t>残差函数</a:t>
            </a:r>
            <a:endParaRPr lang="zh-CN" altLang="en-US" sz="2400" dirty="0"/>
          </a:p>
        </p:txBody>
      </p:sp>
      <p:pic>
        <p:nvPicPr>
          <p:cNvPr id="4" name="图片 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0" y="4191000"/>
            <a:ext cx="3097067" cy="816450"/>
          </a:xfrm>
          <a:prstGeom prst="rect">
            <a:avLst/>
          </a:prstGeom>
        </p:spPr>
      </p:pic>
      <p:pic>
        <p:nvPicPr>
          <p:cNvPr id="5" name="图片 4"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43799" y="4871009"/>
            <a:ext cx="1006790" cy="425282"/>
          </a:xfrm>
          <a:prstGeom prst="rect">
            <a:avLst/>
          </a:prstGeom>
        </p:spPr>
      </p:pic>
      <p:cxnSp>
        <p:nvCxnSpPr>
          <p:cNvPr id="6" name="直接箭头连接符 5"/>
          <p:cNvCxnSpPr>
            <a:endCxn id="5" idx="1"/>
          </p:cNvCxnSpPr>
          <p:nvPr/>
        </p:nvCxnSpPr>
        <p:spPr>
          <a:xfrm>
            <a:off x="6692033" y="4871010"/>
            <a:ext cx="851766" cy="212641"/>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文本框 7">
            <a:extLst>
              <a:ext uri="{FF2B5EF4-FFF2-40B4-BE49-F238E27FC236}">
                <a16:creationId xmlns:a16="http://schemas.microsoft.com/office/drawing/2014/main" id="{6C4A0A85-F446-C248-79EF-BAA585C4B8B1}"/>
              </a:ext>
            </a:extLst>
          </p:cNvPr>
          <p:cNvSpPr txBox="1"/>
          <p:nvPr/>
        </p:nvSpPr>
        <p:spPr>
          <a:xfrm>
            <a:off x="1959216" y="5031748"/>
            <a:ext cx="6100010" cy="584775"/>
          </a:xfrm>
          <a:prstGeom prst="rect">
            <a:avLst/>
          </a:prstGeom>
          <a:noFill/>
        </p:spPr>
        <p:txBody>
          <a:bodyPr wrap="square">
            <a:spAutoFit/>
          </a:bodyPr>
          <a:lstStyle/>
          <a:p>
            <a:r>
              <a:rPr lang="zh-CN" altLang="en-US" sz="3200" b="0" i="0" dirty="0">
                <a:solidFill>
                  <a:srgbClr val="191B1F"/>
                </a:solidFill>
                <a:effectLst/>
                <a:highlight>
                  <a:srgbClr val="FFFFFF"/>
                </a:highlight>
                <a:latin typeface="-apple-system"/>
              </a:rPr>
              <a:t>信息冗余！</a:t>
            </a:r>
            <a:endParaRPr lang="zh-CN" altLang="en-US" sz="3200" dirty="0"/>
          </a:p>
        </p:txBody>
      </p:sp>
      <p:pic>
        <p:nvPicPr>
          <p:cNvPr id="9" name="图片 8" descr="屏幕剪辑">
            <a:extLst>
              <a:ext uri="{FF2B5EF4-FFF2-40B4-BE49-F238E27FC236}">
                <a16:creationId xmlns:a16="http://schemas.microsoft.com/office/drawing/2014/main" id="{98D24317-0363-C3C8-12F5-F6AEBE1679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19095" y="3056126"/>
            <a:ext cx="3013474" cy="3086197"/>
          </a:xfrm>
          <a:prstGeom prst="rect">
            <a:avLst/>
          </a:prstGeom>
        </p:spPr>
      </p:pic>
    </p:spTree>
    <p:extLst>
      <p:ext uri="{BB962C8B-B14F-4D97-AF65-F5344CB8AC3E}">
        <p14:creationId xmlns:p14="http://schemas.microsoft.com/office/powerpoint/2010/main" val="16069835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F213B4-6671-4E8E-B7B3-B888C5787865}"/>
              </a:ext>
            </a:extLst>
          </p:cNvPr>
          <p:cNvSpPr>
            <a:spLocks noGrp="1"/>
          </p:cNvSpPr>
          <p:nvPr>
            <p:ph type="title"/>
          </p:nvPr>
        </p:nvSpPr>
        <p:spPr/>
        <p:txBody>
          <a:bodyPr/>
          <a:lstStyle/>
          <a:p>
            <a:r>
              <a:rPr lang="zh-CN" altLang="en-US" dirty="0"/>
              <a:t>小结</a:t>
            </a:r>
          </a:p>
        </p:txBody>
      </p:sp>
      <p:sp>
        <p:nvSpPr>
          <p:cNvPr id="3" name="内容占位符 2">
            <a:extLst>
              <a:ext uri="{FF2B5EF4-FFF2-40B4-BE49-F238E27FC236}">
                <a16:creationId xmlns:a16="http://schemas.microsoft.com/office/drawing/2014/main" id="{1D3C6C6E-A057-44DE-B74F-5FA8E438A3FF}"/>
              </a:ext>
            </a:extLst>
          </p:cNvPr>
          <p:cNvSpPr>
            <a:spLocks noGrp="1"/>
          </p:cNvSpPr>
          <p:nvPr>
            <p:ph idx="1"/>
          </p:nvPr>
        </p:nvSpPr>
        <p:spPr/>
        <p:txBody>
          <a:bodyPr/>
          <a:lstStyle/>
          <a:p>
            <a:endParaRPr lang="zh-CN" altLang="en-US" dirty="0"/>
          </a:p>
        </p:txBody>
      </p:sp>
      <p:sp>
        <p:nvSpPr>
          <p:cNvPr id="4" name="AutoShape 2">
            <a:extLst>
              <a:ext uri="{FF2B5EF4-FFF2-40B4-BE49-F238E27FC236}">
                <a16:creationId xmlns:a16="http://schemas.microsoft.com/office/drawing/2014/main" id="{1D3F5FBF-D192-498D-BEAD-CA234876513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7" name="图片 6">
            <a:extLst>
              <a:ext uri="{FF2B5EF4-FFF2-40B4-BE49-F238E27FC236}">
                <a16:creationId xmlns:a16="http://schemas.microsoft.com/office/drawing/2014/main" id="{19BE2FCB-3ACB-4815-85B0-21CB65DC21D5}"/>
              </a:ext>
            </a:extLst>
          </p:cNvPr>
          <p:cNvPicPr>
            <a:picLocks noChangeAspect="1"/>
          </p:cNvPicPr>
          <p:nvPr/>
        </p:nvPicPr>
        <p:blipFill>
          <a:blip r:embed="rId2"/>
          <a:stretch>
            <a:fillRect/>
          </a:stretch>
        </p:blipFill>
        <p:spPr>
          <a:xfrm>
            <a:off x="1204912" y="1428750"/>
            <a:ext cx="9782175" cy="4000500"/>
          </a:xfrm>
          <a:prstGeom prst="rect">
            <a:avLst/>
          </a:prstGeom>
        </p:spPr>
      </p:pic>
      <p:sp>
        <p:nvSpPr>
          <p:cNvPr id="9" name="文本框 8">
            <a:extLst>
              <a:ext uri="{FF2B5EF4-FFF2-40B4-BE49-F238E27FC236}">
                <a16:creationId xmlns:a16="http://schemas.microsoft.com/office/drawing/2014/main" id="{2D1FABEE-9ACB-4962-938A-0A463A979B47}"/>
              </a:ext>
            </a:extLst>
          </p:cNvPr>
          <p:cNvSpPr txBox="1"/>
          <p:nvPr/>
        </p:nvSpPr>
        <p:spPr>
          <a:xfrm>
            <a:off x="3046708" y="5545693"/>
            <a:ext cx="7240292" cy="369332"/>
          </a:xfrm>
          <a:prstGeom prst="rect">
            <a:avLst/>
          </a:prstGeom>
          <a:noFill/>
        </p:spPr>
        <p:txBody>
          <a:bodyPr wrap="square">
            <a:spAutoFit/>
          </a:bodyPr>
          <a:lstStyle/>
          <a:p>
            <a:r>
              <a:rPr lang="zh-CN" altLang="en-US" dirty="0">
                <a:hlinkClick r:id="rId3"/>
              </a:rPr>
              <a:t>来源：图像分类</a:t>
            </a:r>
            <a:r>
              <a:rPr lang="en-US" altLang="zh-CN" dirty="0">
                <a:hlinkClick r:id="rId3"/>
              </a:rPr>
              <a:t>(</a:t>
            </a:r>
            <a:r>
              <a:rPr lang="zh-CN" altLang="en-US" dirty="0">
                <a:hlinkClick r:id="rId3"/>
              </a:rPr>
              <a:t>二</a:t>
            </a:r>
            <a:r>
              <a:rPr lang="en-US" altLang="zh-CN" dirty="0">
                <a:hlinkClick r:id="rId3"/>
              </a:rPr>
              <a:t>) </a:t>
            </a:r>
            <a:r>
              <a:rPr lang="zh-CN" altLang="en-US" dirty="0">
                <a:hlinkClick r:id="rId3"/>
              </a:rPr>
              <a:t>全面解读复现</a:t>
            </a:r>
            <a:r>
              <a:rPr lang="en-US" altLang="zh-CN" dirty="0" err="1">
                <a:hlinkClick r:id="rId3"/>
              </a:rPr>
              <a:t>ZFNet</a:t>
            </a:r>
            <a:r>
              <a:rPr lang="en-US" altLang="zh-CN" dirty="0">
                <a:hlinkClick r:id="rId3"/>
              </a:rPr>
              <a:t> - </a:t>
            </a:r>
            <a:r>
              <a:rPr lang="zh-CN" altLang="en-US" dirty="0">
                <a:hlinkClick r:id="rId3"/>
              </a:rPr>
              <a:t>知乎 </a:t>
            </a:r>
            <a:r>
              <a:rPr lang="en-US" altLang="zh-CN" dirty="0">
                <a:hlinkClick r:id="rId3"/>
              </a:rPr>
              <a:t>(zhihu.com)</a:t>
            </a:r>
            <a:endParaRPr lang="zh-CN" altLang="en-US" dirty="0"/>
          </a:p>
        </p:txBody>
      </p:sp>
    </p:spTree>
    <p:extLst>
      <p:ext uri="{BB962C8B-B14F-4D97-AF65-F5344CB8AC3E}">
        <p14:creationId xmlns:p14="http://schemas.microsoft.com/office/powerpoint/2010/main" val="4104185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260A5D-211A-4C82-B9C1-92E135D308E7}"/>
              </a:ext>
            </a:extLst>
          </p:cNvPr>
          <p:cNvSpPr>
            <a:spLocks noGrp="1"/>
          </p:cNvSpPr>
          <p:nvPr>
            <p:ph type="ctrTitle"/>
          </p:nvPr>
        </p:nvSpPr>
        <p:spPr/>
        <p:txBody>
          <a:bodyPr/>
          <a:lstStyle/>
          <a:p>
            <a:r>
              <a:rPr lang="zh-CN" altLang="en-US" dirty="0"/>
              <a:t>其它卷积种类</a:t>
            </a:r>
          </a:p>
        </p:txBody>
      </p:sp>
    </p:spTree>
    <p:extLst>
      <p:ext uri="{BB962C8B-B14F-4D97-AF65-F5344CB8AC3E}">
        <p14:creationId xmlns:p14="http://schemas.microsoft.com/office/powerpoint/2010/main" val="3111008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转置卷积</a:t>
            </a:r>
            <a:r>
              <a:rPr lang="en-US" altLang="zh-CN" dirty="0"/>
              <a:t>(</a:t>
            </a:r>
            <a:r>
              <a:rPr lang="zh-CN" altLang="en-US" b="0" i="0" dirty="0">
                <a:solidFill>
                  <a:srgbClr val="111111"/>
                </a:solidFill>
                <a:effectLst/>
                <a:highlight>
                  <a:srgbClr val="FFFFFF"/>
                </a:highlight>
                <a:latin typeface="Arial" panose="020B0604020202020204" pitchFamily="34" charset="0"/>
              </a:rPr>
              <a:t>反卷积</a:t>
            </a:r>
            <a:r>
              <a:rPr lang="en-US" altLang="zh-CN" b="0" i="0" dirty="0">
                <a:solidFill>
                  <a:srgbClr val="111111"/>
                </a:solidFill>
                <a:effectLst/>
                <a:highlight>
                  <a:srgbClr val="FFFFFF"/>
                </a:highlight>
                <a:latin typeface="Arial" panose="020B0604020202020204" pitchFamily="34" charset="0"/>
              </a:rPr>
              <a:t>/Transpose conv</a:t>
            </a:r>
            <a:r>
              <a:rPr lang="en-US" altLang="zh-CN" dirty="0"/>
              <a:t>)/</a:t>
            </a:r>
            <a:r>
              <a:rPr lang="zh-CN" altLang="en-US" dirty="0"/>
              <a:t>微步卷积</a:t>
            </a:r>
            <a:r>
              <a:rPr lang="en-US" altLang="zh-CN" dirty="0"/>
              <a:t>(stride=1)</a:t>
            </a:r>
            <a:endParaRPr lang="zh-CN" altLang="en-US" dirty="0"/>
          </a:p>
        </p:txBody>
      </p:sp>
      <p:sp>
        <p:nvSpPr>
          <p:cNvPr id="4" name="内容占位符 3"/>
          <p:cNvSpPr>
            <a:spLocks noGrp="1"/>
          </p:cNvSpPr>
          <p:nvPr>
            <p:ph idx="1"/>
          </p:nvPr>
        </p:nvSpPr>
        <p:spPr/>
        <p:txBody>
          <a:bodyPr/>
          <a:lstStyle/>
          <a:p>
            <a:r>
              <a:rPr lang="zh-CN" altLang="en-US"/>
              <a:t>低维特征映射到高维特征</a:t>
            </a:r>
            <a:endParaRPr lang="zh-CN" altLang="en-US" dirty="0"/>
          </a:p>
        </p:txBody>
      </p:sp>
      <p:pic>
        <p:nvPicPr>
          <p:cNvPr id="7172" name="Picture 4" descr="https://nndl.github.io/v/cnn-no_padding_strides.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743201"/>
            <a:ext cx="3352800" cy="3284377"/>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https://nndl.github.io/v/cnn-no_padding_strides_transposed.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705601" y="2590800"/>
            <a:ext cx="2979151" cy="3386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86942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如何增加输出单元的感受野</a:t>
            </a:r>
            <a:endParaRPr lang="en-US" altLang="zh-CN" dirty="0"/>
          </a:p>
          <a:p>
            <a:pPr lvl="1"/>
            <a:r>
              <a:rPr lang="zh-CN" altLang="en-US" dirty="0"/>
              <a:t>增加卷积核的大小</a:t>
            </a:r>
            <a:endParaRPr lang="en-US" altLang="zh-CN" dirty="0"/>
          </a:p>
          <a:p>
            <a:pPr lvl="1"/>
            <a:r>
              <a:rPr lang="zh-CN" altLang="en-US" dirty="0"/>
              <a:t>增加层数来实现</a:t>
            </a:r>
            <a:endParaRPr lang="en-US" altLang="zh-CN" dirty="0"/>
          </a:p>
          <a:p>
            <a:pPr lvl="1"/>
            <a:r>
              <a:rPr lang="zh-CN" altLang="en-US" dirty="0"/>
              <a:t>在卷积之前进行汇聚操作</a:t>
            </a:r>
            <a:endParaRPr lang="en-US" altLang="zh-CN" dirty="0"/>
          </a:p>
          <a:p>
            <a:pPr lvl="1"/>
            <a:endParaRPr lang="en-US" altLang="zh-CN" dirty="0"/>
          </a:p>
          <a:p>
            <a:r>
              <a:rPr lang="zh-CN" altLang="en-US" dirty="0"/>
              <a:t>空洞卷积</a:t>
            </a:r>
            <a:endParaRPr lang="en-US" altLang="zh-CN" dirty="0"/>
          </a:p>
          <a:p>
            <a:pPr lvl="1"/>
            <a:r>
              <a:rPr lang="zh-CN" altLang="en-US" b="1" dirty="0"/>
              <a:t>通过给卷积核插入“空洞”来变相地增加其大小</a:t>
            </a:r>
            <a:endParaRPr lang="zh-CN" altLang="en-US" dirty="0"/>
          </a:p>
        </p:txBody>
      </p:sp>
      <p:sp>
        <p:nvSpPr>
          <p:cNvPr id="2" name="标题 1"/>
          <p:cNvSpPr>
            <a:spLocks noGrp="1"/>
          </p:cNvSpPr>
          <p:nvPr>
            <p:ph type="title"/>
          </p:nvPr>
        </p:nvSpPr>
        <p:spPr/>
        <p:txBody>
          <a:bodyPr/>
          <a:lstStyle/>
          <a:p>
            <a:r>
              <a:rPr lang="zh-CN" altLang="en-US" dirty="0"/>
              <a:t>空洞卷积</a:t>
            </a:r>
            <a:r>
              <a:rPr lang="en-US" altLang="zh-CN" dirty="0"/>
              <a:t>(</a:t>
            </a:r>
            <a:r>
              <a:rPr lang="en-US" altLang="zh-CN" b="0" i="0" dirty="0">
                <a:solidFill>
                  <a:srgbClr val="111111"/>
                </a:solidFill>
                <a:effectLst/>
                <a:highlight>
                  <a:srgbClr val="FFFFFF"/>
                </a:highlight>
                <a:latin typeface="Arial" panose="020B0604020202020204" pitchFamily="34" charset="0"/>
              </a:rPr>
              <a:t>Dilated Convolution</a:t>
            </a:r>
            <a:r>
              <a:rPr lang="en-US" altLang="zh-CN" dirty="0"/>
              <a:t>)</a:t>
            </a:r>
            <a:endParaRPr lang="zh-CN" altLang="en-US" dirty="0"/>
          </a:p>
        </p:txBody>
      </p:sp>
      <p:pic>
        <p:nvPicPr>
          <p:cNvPr id="8194" name="Picture 2" descr="https://nndl.github.io/v/cnn-dilation-in_7_out_3.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555573" y="762001"/>
            <a:ext cx="2688593" cy="2593301"/>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ttps://nndl.github.io/v/cnn-dilation.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340022" y="3632392"/>
            <a:ext cx="2926311" cy="2601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04013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30120284-CE46-49EC-A49C-DFA35DB58337}"/>
              </a:ext>
            </a:extLst>
          </p:cNvPr>
          <p:cNvSpPr/>
          <p:nvPr/>
        </p:nvSpPr>
        <p:spPr>
          <a:xfrm>
            <a:off x="5257800" y="2895600"/>
            <a:ext cx="2492990" cy="1200329"/>
          </a:xfrm>
          <a:prstGeom prst="rect">
            <a:avLst/>
          </a:prstGeom>
        </p:spPr>
        <p:txBody>
          <a:bodyPr wrap="none">
            <a:spAutoFit/>
          </a:bodyPr>
          <a:lstStyle/>
          <a:p>
            <a:r>
              <a:rPr lang="zh-CN" altLang="en-US" sz="7200" dirty="0">
                <a:latin typeface="华文楷体" panose="02010600040101010101" pitchFamily="2" charset="-122"/>
                <a:ea typeface="华文楷体" panose="02010600040101010101" pitchFamily="2" charset="-122"/>
              </a:rPr>
              <a:t>谢  谢</a:t>
            </a:r>
            <a:endParaRPr lang="en-US" altLang="zh-CN" sz="72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020545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7.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y">
  <a:themeElements>
    <a:clrScheme name="qxp">
      <a:dk1>
        <a:srgbClr val="2A4A75"/>
      </a:dk1>
      <a:lt1>
        <a:sysClr val="window" lastClr="FFFFFF"/>
      </a:lt1>
      <a:dk2>
        <a:srgbClr val="2A4A75"/>
      </a:dk2>
      <a:lt2>
        <a:srgbClr val="DEF5FA"/>
      </a:lt2>
      <a:accent1>
        <a:srgbClr val="1C314E"/>
      </a:accent1>
      <a:accent2>
        <a:srgbClr val="EB641B"/>
      </a:accent2>
      <a:accent3>
        <a:srgbClr val="DA1F28"/>
      </a:accent3>
      <a:accent4>
        <a:srgbClr val="39639D"/>
      </a:accent4>
      <a:accent5>
        <a:srgbClr val="474B78"/>
      </a:accent5>
      <a:accent6>
        <a:srgbClr val="7D3C4A"/>
      </a:accent6>
      <a:hlink>
        <a:srgbClr val="FF8119"/>
      </a:hlink>
      <a:folHlink>
        <a:srgbClr val="44B9E8"/>
      </a:folHlink>
    </a:clrScheme>
    <a:fontScheme name="myfont">
      <a:majorFont>
        <a:latin typeface="Helvetica"/>
        <a:ea typeface="微软雅黑"/>
        <a:cs typeface=""/>
      </a:majorFont>
      <a:minorFont>
        <a:latin typeface="Times New Roman"/>
        <a:ea typeface="华文楷体"/>
        <a:cs typeface=""/>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wrap="none">
        <a:spAutoFit/>
      </a:bodyPr>
      <a:lstStyle>
        <a:defPPr>
          <a:defRPr sz="2400" dirty="0"/>
        </a:defPPr>
      </a:lstStyle>
    </a:spDef>
  </a:objectDefaults>
  <a:extraClrSchemeLst/>
  <a:extLst>
    <a:ext uri="{05A4C25C-085E-4340-85A3-A5531E510DB2}">
      <thm15:themeFamily xmlns:thm15="http://schemas.microsoft.com/office/thememl/2012/main" name="my" id="{5DDFF489-810C-4640-A13F-DDD18827279A}" vid="{1ADADE9B-649E-4437-BF06-95F7A2A146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Template>
  <TotalTime>18460</TotalTime>
  <Words>1853</Words>
  <Application>Microsoft Office PowerPoint</Application>
  <PresentationFormat>宽屏</PresentationFormat>
  <Paragraphs>183</Paragraphs>
  <Slides>37</Slides>
  <Notes>20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37</vt:i4>
      </vt:variant>
    </vt:vector>
  </HeadingPairs>
  <TitlesOfParts>
    <vt:vector size="50" baseType="lpstr">
      <vt:lpstr>-apple-system</vt:lpstr>
      <vt:lpstr>华文楷体</vt:lpstr>
      <vt:lpstr>微软雅黑</vt:lpstr>
      <vt:lpstr>Arial</vt:lpstr>
      <vt:lpstr>Calibri</vt:lpstr>
      <vt:lpstr>Cambria</vt:lpstr>
      <vt:lpstr>Cambria Math</vt:lpstr>
      <vt:lpstr>Helvetica</vt:lpstr>
      <vt:lpstr>Roboto</vt:lpstr>
      <vt:lpstr>Times New Roman</vt:lpstr>
      <vt:lpstr>Wingdings</vt:lpstr>
      <vt:lpstr>Wingdings 3</vt:lpstr>
      <vt:lpstr>my</vt:lpstr>
      <vt:lpstr>卷积神经网络</vt:lpstr>
      <vt:lpstr>应用场景</vt:lpstr>
      <vt:lpstr>AlphaGo</vt:lpstr>
      <vt:lpstr>目标检测（Object Detection）</vt:lpstr>
      <vt:lpstr>自动驾驶3D目标检测/追踪</vt:lpstr>
      <vt:lpstr>图像分割</vt:lpstr>
      <vt:lpstr>OCR</vt:lpstr>
      <vt:lpstr>图像生成</vt:lpstr>
      <vt:lpstr>Deep Dream</vt:lpstr>
      <vt:lpstr>画风迁移</vt:lpstr>
      <vt:lpstr>对抗样本</vt:lpstr>
      <vt:lpstr>基本卷积神经网络结构及运算</vt:lpstr>
      <vt:lpstr>全连接前馈神经网络 VS 卷积神经网络</vt:lpstr>
      <vt:lpstr>全连接前馈神经网络 VS 卷积神经网络</vt:lpstr>
      <vt:lpstr>全连接前馈神经网络 VS 卷积神经网络</vt:lpstr>
      <vt:lpstr>卷积神经网络(ConvNet)架构概述</vt:lpstr>
      <vt:lpstr>用于构建 ConvNet 的层</vt:lpstr>
      <vt:lpstr>ConvNet架构小结</vt:lpstr>
      <vt:lpstr>卷积层</vt:lpstr>
      <vt:lpstr>控制输出体积的大小的三个超参数</vt:lpstr>
      <vt:lpstr>参数共享</vt:lpstr>
      <vt:lpstr>卷积层计算</vt:lpstr>
      <vt:lpstr>卷积层计算可视化</vt:lpstr>
      <vt:lpstr>池化层（Pooling layer）</vt:lpstr>
      <vt:lpstr>池化层计算</vt:lpstr>
      <vt:lpstr>典型的卷积网络</vt:lpstr>
      <vt:lpstr>LeNet</vt:lpstr>
      <vt:lpstr>AlexNet</vt:lpstr>
      <vt:lpstr>ZFNet</vt:lpstr>
      <vt:lpstr>GoogleNet</vt:lpstr>
      <vt:lpstr>VGGNet </vt:lpstr>
      <vt:lpstr>ResNet</vt:lpstr>
      <vt:lpstr>小结</vt:lpstr>
      <vt:lpstr>其它卷积种类</vt:lpstr>
      <vt:lpstr>转置卷积(反卷积/Transpose conv)/微步卷积(stride=1)</vt:lpstr>
      <vt:lpstr>空洞卷积(Dilated Convolution)</vt:lpstr>
      <vt:lpstr>PowerPoint 演示文稿</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Branding Roadmap Template</dc:title>
  <dc:creator>Xipeng Qiu</dc:creator>
  <cp:lastModifiedBy>袁</cp:lastModifiedBy>
  <cp:revision>2292</cp:revision>
  <dcterms:created xsi:type="dcterms:W3CDTF">2009-03-19T21:17:53Z</dcterms:created>
  <dcterms:modified xsi:type="dcterms:W3CDTF">2025-03-10T03:47:26Z</dcterms:modified>
</cp:coreProperties>
</file>