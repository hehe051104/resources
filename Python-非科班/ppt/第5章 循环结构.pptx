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2.xml" ContentType="application/vnd.openxmlformats-officedocument.theme+xml"/>
  <Override PartName="/ppt/tags/tag97.xml" ContentType="application/vnd.openxmlformats-officedocument.presentationml.tags+xml"/>
  <Override PartName="/ppt/tags/tag98.xml" ContentType="application/vnd.openxmlformats-officedocument.presentationml.tags+xml"/>
  <Override PartName="/ppt/notesSlides/notesSlide1.xml" ContentType="application/vnd.openxmlformats-officedocument.presentationml.notesSlide+xml"/>
  <Override PartName="/ppt/tags/tag99.xml" ContentType="application/vnd.openxmlformats-officedocument.presentationml.tags+xml"/>
  <Override PartName="/ppt/notesSlides/notesSlide2.xml" ContentType="application/vnd.openxmlformats-officedocument.presentationml.notesSlide+xml"/>
  <Override PartName="/ppt/tags/tag100.xml" ContentType="application/vnd.openxmlformats-officedocument.presentationml.tags+xml"/>
  <Override PartName="/ppt/notesSlides/notesSlide3.xml" ContentType="application/vnd.openxmlformats-officedocument.presentationml.notesSlide+xml"/>
  <Override PartName="/ppt/tags/tag101.xml" ContentType="application/vnd.openxmlformats-officedocument.presentationml.tags+xml"/>
  <Override PartName="/ppt/notesSlides/notesSlide4.xml" ContentType="application/vnd.openxmlformats-officedocument.presentationml.notesSlide+xml"/>
  <Override PartName="/ppt/tags/tag102.xml" ContentType="application/vnd.openxmlformats-officedocument.presentationml.tags+xml"/>
  <Override PartName="/ppt/notesSlides/notesSlide5.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1" r:id="rId1"/>
  </p:sldMasterIdLst>
  <p:notesMasterIdLst>
    <p:notesMasterId r:id="rId82"/>
  </p:notesMasterIdLst>
  <p:sldIdLst>
    <p:sldId id="582" r:id="rId2"/>
    <p:sldId id="485" r:id="rId3"/>
    <p:sldId id="483" r:id="rId4"/>
    <p:sldId id="498" r:id="rId5"/>
    <p:sldId id="503" r:id="rId6"/>
    <p:sldId id="504" r:id="rId7"/>
    <p:sldId id="505" r:id="rId8"/>
    <p:sldId id="506" r:id="rId9"/>
    <p:sldId id="507" r:id="rId10"/>
    <p:sldId id="508" r:id="rId11"/>
    <p:sldId id="583" r:id="rId12"/>
    <p:sldId id="510" r:id="rId13"/>
    <p:sldId id="488" r:id="rId14"/>
    <p:sldId id="499" r:id="rId15"/>
    <p:sldId id="584" r:id="rId16"/>
    <p:sldId id="585" r:id="rId17"/>
    <p:sldId id="511" r:id="rId18"/>
    <p:sldId id="586" r:id="rId19"/>
    <p:sldId id="513" r:id="rId20"/>
    <p:sldId id="514" r:id="rId21"/>
    <p:sldId id="515" r:id="rId22"/>
    <p:sldId id="516" r:id="rId23"/>
    <p:sldId id="587" r:id="rId24"/>
    <p:sldId id="517" r:id="rId25"/>
    <p:sldId id="518" r:id="rId26"/>
    <p:sldId id="519" r:id="rId27"/>
    <p:sldId id="489" r:id="rId28"/>
    <p:sldId id="500" r:id="rId29"/>
    <p:sldId id="588" r:id="rId30"/>
    <p:sldId id="520" r:id="rId31"/>
    <p:sldId id="521" r:id="rId32"/>
    <p:sldId id="522" r:id="rId33"/>
    <p:sldId id="523" r:id="rId34"/>
    <p:sldId id="589" r:id="rId35"/>
    <p:sldId id="490" r:id="rId36"/>
    <p:sldId id="501" r:id="rId37"/>
    <p:sldId id="524" r:id="rId38"/>
    <p:sldId id="590" r:id="rId39"/>
    <p:sldId id="525" r:id="rId40"/>
    <p:sldId id="526" r:id="rId41"/>
    <p:sldId id="527" r:id="rId42"/>
    <p:sldId id="591" r:id="rId43"/>
    <p:sldId id="491" r:id="rId44"/>
    <p:sldId id="502" r:id="rId45"/>
    <p:sldId id="528" r:id="rId46"/>
    <p:sldId id="529" r:id="rId47"/>
    <p:sldId id="530" r:id="rId48"/>
    <p:sldId id="531" r:id="rId49"/>
    <p:sldId id="532" r:id="rId50"/>
    <p:sldId id="620" r:id="rId51"/>
    <p:sldId id="621" r:id="rId52"/>
    <p:sldId id="577" r:id="rId53"/>
    <p:sldId id="573" r:id="rId54"/>
    <p:sldId id="578" r:id="rId55"/>
    <p:sldId id="604" r:id="rId56"/>
    <p:sldId id="619" r:id="rId57"/>
    <p:sldId id="595" r:id="rId58"/>
    <p:sldId id="605" r:id="rId59"/>
    <p:sldId id="596" r:id="rId60"/>
    <p:sldId id="606" r:id="rId61"/>
    <p:sldId id="597" r:id="rId62"/>
    <p:sldId id="607" r:id="rId63"/>
    <p:sldId id="598" r:id="rId64"/>
    <p:sldId id="608" r:id="rId65"/>
    <p:sldId id="599" r:id="rId66"/>
    <p:sldId id="617" r:id="rId67"/>
    <p:sldId id="609" r:id="rId68"/>
    <p:sldId id="600" r:id="rId69"/>
    <p:sldId id="615" r:id="rId70"/>
    <p:sldId id="610" r:id="rId71"/>
    <p:sldId id="601" r:id="rId72"/>
    <p:sldId id="618" r:id="rId73"/>
    <p:sldId id="611" r:id="rId74"/>
    <p:sldId id="602" r:id="rId75"/>
    <p:sldId id="612" r:id="rId76"/>
    <p:sldId id="603" r:id="rId77"/>
    <p:sldId id="616" r:id="rId78"/>
    <p:sldId id="613" r:id="rId79"/>
    <p:sldId id="614" r:id="rId80"/>
    <p:sldId id="497" r:id="rId81"/>
  </p:sldIdLst>
  <p:sldSz cx="12192000" cy="6858000"/>
  <p:notesSz cx="6858000" cy="9144000"/>
  <p:custDataLst>
    <p:tags r:id="rId8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p15:clr>
            <a:srgbClr val="A4A3A4"/>
          </p15:clr>
        </p15:guide>
        <p15:guide id="2" pos="3840">
          <p15:clr>
            <a:srgbClr val="A4A3A4"/>
          </p15:clr>
        </p15:guide>
      </p15:sldGuideLst>
    </p:ext>
    <p:ext uri="{505F2C04-C923-438B-8C0F-E0CD2BADF298}">
      <wppc:fontMiss xmlns="" xmlns:wppc="http://www.wps.cn/officeDocument/PresentationCustomData" type="true"/>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003300"/>
    <a:srgbClr val="800080"/>
    <a:srgbClr val="660066"/>
    <a:srgbClr val="0033CC"/>
    <a:srgbClr val="990000"/>
    <a:srgbClr val="66FF66"/>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60"/>
  </p:normalViewPr>
  <p:slideViewPr>
    <p:cSldViewPr showGuides="1">
      <p:cViewPr varScale="1">
        <p:scale>
          <a:sx n="78" d="100"/>
          <a:sy n="78" d="100"/>
        </p:scale>
        <p:origin x="593" y="52"/>
      </p:cViewPr>
      <p:guideLst>
        <p:guide orient="horz" pos="2169"/>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gs" Target="tags/tag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buFont typeface="Arial" panose="020B0604020202020204" pitchFamily="34" charset="0"/>
              <a:buNone/>
              <a:defRPr sz="1200" smtClean="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buFont typeface="Arial" panose="020B0604020202020204" pitchFamily="34" charset="0"/>
              <a:buNone/>
              <a:defRPr sz="12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220" name="Rectangle 4"/>
          <p:cNvSpPr>
            <a:spLocks noGrp="1" noRot="1" noChangeAspect="1"/>
          </p:cNvSpPr>
          <p:nvPr>
            <p:ph type="sldImg" idx="2"/>
          </p:nvPr>
        </p:nvSpPr>
        <p:spPr>
          <a:xfrm>
            <a:off x="381000" y="685800"/>
            <a:ext cx="6096000" cy="3429000"/>
          </a:xfrm>
          <a:prstGeom prst="rect">
            <a:avLst/>
          </a:prstGeom>
          <a:noFill/>
          <a:ln w="9525">
            <a:noFill/>
          </a:ln>
        </p:spPr>
      </p:sp>
      <p:sp>
        <p:nvSpPr>
          <p:cNvPr id="4101" name="Rectangle 5"/>
          <p:cNvSpPr>
            <a:spLocks noGrp="1" noRot="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buFont typeface="Arial" panose="020B0604020202020204" pitchFamily="34" charset="0"/>
              <a:buNone/>
              <a:defRPr sz="1200" smtClean="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buFont typeface="Arial" panose="020B0604020202020204" pitchFamily="34" charset="0"/>
              <a:buNone/>
              <a:defRPr sz="12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0249CFA-C427-4C77-960D-70A82ADC9BFA}"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3</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13</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27</a:t>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35</a:t>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ctr"/>
          <a:lstStyle/>
          <a:p>
            <a:pPr lvl="0" eaLnBrk="1" hangingPunct="1"/>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43</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Master" Target="../slideMasters/slideMaster1.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6" Type="http://schemas.openxmlformats.org/officeDocument/2006/relationships/image" Target="../media/image4.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image" Target="../media/image3.png"/><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image" Target="../media/image3.png"/><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media/image2.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5.png"/><Relationship Id="rId5" Type="http://schemas.openxmlformats.org/officeDocument/2006/relationships/tags" Target="../tags/tag18.xml"/><Relationship Id="rId10" Type="http://schemas.openxmlformats.org/officeDocument/2006/relationships/slideMaster" Target="../slideMasters/slideMaster1.xml"/><Relationship Id="rId4" Type="http://schemas.openxmlformats.org/officeDocument/2006/relationships/tags" Target="../tags/tag17.xml"/><Relationship Id="rId9"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7.png"/><Relationship Id="rId5" Type="http://schemas.openxmlformats.org/officeDocument/2006/relationships/tags" Target="../tags/tag27.xml"/><Relationship Id="rId10" Type="http://schemas.openxmlformats.org/officeDocument/2006/relationships/image" Target="../media/image6.png"/><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2.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slideMaster" Target="../slideMasters/slideMaster1.xml"/><Relationship Id="rId5" Type="http://schemas.openxmlformats.org/officeDocument/2006/relationships/tags" Target="../tags/tag42.xml"/><Relationship Id="rId4" Type="http://schemas.openxmlformats.org/officeDocument/2006/relationships/tags" Target="../tags/tag4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image" Target="../media/image9.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Master" Target="../slideMasters/slideMaster1.xml"/><Relationship Id="rId5" Type="http://schemas.openxmlformats.org/officeDocument/2006/relationships/tags" Target="../tags/tag47.xml"/><Relationship Id="rId4" Type="http://schemas.openxmlformats.org/officeDocument/2006/relationships/tags" Target="../tags/tag46.xml"/></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9"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image" Target="../media/image8.png"/><Relationship Id="rId4" Type="http://schemas.openxmlformats.org/officeDocument/2006/relationships/tags" Target="../tags/tag58.xml"/><Relationship Id="rId9"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70.xml"/><Relationship Id="rId3" Type="http://schemas.openxmlformats.org/officeDocument/2006/relationships/tags" Target="../tags/tag65.xml"/><Relationship Id="rId7" Type="http://schemas.openxmlformats.org/officeDocument/2006/relationships/tags" Target="../tags/tag69.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5" Type="http://schemas.openxmlformats.org/officeDocument/2006/relationships/tags" Target="../tags/tag67.xml"/><Relationship Id="rId10" Type="http://schemas.openxmlformats.org/officeDocument/2006/relationships/image" Target="../media/image8.png"/><Relationship Id="rId4" Type="http://schemas.openxmlformats.org/officeDocument/2006/relationships/tags" Target="../tags/tag66.xml"/><Relationship Id="rId9"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10" Type="http://schemas.openxmlformats.org/officeDocument/2006/relationships/image" Target="../media/image11.png"/><Relationship Id="rId4" Type="http://schemas.openxmlformats.org/officeDocument/2006/relationships/tags" Target="../tags/tag74.xml"/><Relationship Id="rId9"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media/image12.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slideMaster" Target="../slideMasters/slideMaster1.xml"/><Relationship Id="rId5" Type="http://schemas.openxmlformats.org/officeDocument/2006/relationships/tags" Target="../tags/tag83.xml"/><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14.png"/><Relationship Id="rId5" Type="http://schemas.openxmlformats.org/officeDocument/2006/relationships/tags" Target="../tags/tag93.xml"/><Relationship Id="rId10" Type="http://schemas.openxmlformats.org/officeDocument/2006/relationships/image" Target="../media/image13.png"/><Relationship Id="rId4" Type="http://schemas.openxmlformats.org/officeDocument/2006/relationships/tags" Target="../tags/tag92.xml"/><Relationship Id="rId9"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BC69B43E-41C8-4B0A-BFDC-B1E19E3933A8}" type="datetime1">
              <a:rPr lang="zh-CN" altLang="en-US" smtClean="0"/>
              <a:t>2023/3/15</a:t>
            </a:fld>
            <a:endParaRPr lang="zh-CN" altLang="en-US"/>
          </a:p>
        </p:txBody>
      </p:sp>
      <p:sp>
        <p:nvSpPr>
          <p:cNvPr id="5" name="Footer Placeholder 4"/>
          <p:cNvSpPr>
            <a:spLocks noGrp="1"/>
          </p:cNvSpPr>
          <p:nvPr>
            <p:ph type="ftr" sz="quarter" idx="11"/>
          </p:nvPr>
        </p:nvSpPr>
        <p:spPr>
          <a:xfrm>
            <a:off x="1371600" y="4323845"/>
            <a:ext cx="6400800" cy="365125"/>
          </a:xfrm>
        </p:spPr>
        <p:txBody>
          <a:bodyPr/>
          <a:lstStyle/>
          <a:p>
            <a:endParaRPr lang="zh-CN" altLang="en-US" dirty="0"/>
          </a:p>
        </p:txBody>
      </p:sp>
      <p:sp>
        <p:nvSpPr>
          <p:cNvPr id="6" name="Slide Number Placeholder 5"/>
          <p:cNvSpPr>
            <a:spLocks noGrp="1"/>
          </p:cNvSpPr>
          <p:nvPr>
            <p:ph type="sldNum" sz="quarter" idx="12"/>
          </p:nvPr>
        </p:nvSpPr>
        <p:spPr>
          <a:xfrm>
            <a:off x="8077200" y="1430866"/>
            <a:ext cx="2743200" cy="365125"/>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093206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E65E2B0-7B22-4CD0-A30A-E2FCEF8DF125}" type="datetime1">
              <a:rPr lang="zh-CN" altLang="en-US" smtClean="0"/>
              <a:t>2023/3/15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9264352" y="6187914"/>
            <a:ext cx="2743200" cy="365125"/>
          </a:xfrm>
        </p:spPr>
        <p:txBody>
          <a:bodyPr/>
          <a:lstStyle>
            <a:lvl1pPr>
              <a:defRPr sz="3200"/>
            </a:lvl1pPr>
          </a:lstStyle>
          <a:p>
            <a:fld id="{49AE70B2-8BF9-45C0-BB95-33D1B9D3A854}" type="slidenum">
              <a:rPr lang="zh-CN" altLang="en-US" smtClean="0"/>
              <a:pPr/>
              <a:t>‹#›</a:t>
            </a:fld>
            <a:endParaRPr lang="zh-CN" altLang="en-US" dirty="0"/>
          </a:p>
        </p:txBody>
      </p:sp>
    </p:spTree>
    <p:extLst>
      <p:ext uri="{BB962C8B-B14F-4D97-AF65-F5344CB8AC3E}">
        <p14:creationId xmlns:p14="http://schemas.microsoft.com/office/powerpoint/2010/main" val="4285678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zh-CN" altLang="en-US"/>
              <a:t>单击此处编辑母版标题样式</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ABA0DC48-2FFC-427D-933E-859227392DB9}" type="datetime1">
              <a:rPr lang="zh-CN" altLang="en-US" smtClean="0"/>
              <a:t>2023/3/15</a:t>
            </a:fld>
            <a:endParaRPr lang="zh-CN" altLang="en-US"/>
          </a:p>
        </p:txBody>
      </p:sp>
      <p:sp>
        <p:nvSpPr>
          <p:cNvPr id="5" name="Footer Placeholder 4"/>
          <p:cNvSpPr>
            <a:spLocks noGrp="1"/>
          </p:cNvSpPr>
          <p:nvPr>
            <p:ph type="ftr" sz="quarter" idx="11"/>
          </p:nvPr>
        </p:nvSpPr>
        <p:spPr>
          <a:xfrm>
            <a:off x="685800" y="381001"/>
            <a:ext cx="6991492" cy="364065"/>
          </a:xfrm>
        </p:spPr>
        <p:txBody>
          <a:bodyPr/>
          <a:lstStyle/>
          <a:p>
            <a:endParaRPr lang="zh-CN" altLang="en-US"/>
          </a:p>
        </p:txBody>
      </p:sp>
      <p:sp>
        <p:nvSpPr>
          <p:cNvPr id="6" name="Slide Number Placeholder 5"/>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429096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0687251-6B9F-4707-999C-701D9092162C}" type="datetime1">
              <a:rPr lang="zh-CN" altLang="en-US" smtClean="0"/>
              <a:t>2023/3/15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27374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85800" y="3132666"/>
            <a:ext cx="5311775" cy="308601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3132666"/>
            <a:ext cx="5334000" cy="308601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261D602-1ECA-421F-8175-3FD46DA975FA}" type="datetime1">
              <a:rPr lang="zh-CN" altLang="en-US" smtClean="0"/>
              <a:t>2023/3/15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62810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60D4455-8AB8-41EF-9A58-FD972CAE8394}" type="datetime1">
              <a:rPr lang="zh-CN" altLang="en-US" smtClean="0"/>
              <a:t>2023/3/15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743170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B23A70-1789-470E-B565-7F14177B3062}" type="datetime1">
              <a:rPr lang="zh-CN" altLang="en-US" smtClean="0"/>
              <a:t>2023/3/15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009181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A851BE8-E920-4FC9-AF07-BE2A044B97F6}" type="datetime1">
              <a:rPr lang="zh-CN" altLang="en-US" smtClean="0"/>
              <a:t>2023/3/15</a:t>
            </a:fld>
            <a:endParaRPr lang="zh-CN" altLang="en-US"/>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304111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872B83D-4D39-4A69-86D0-5591DC4CD1D0}" type="datetime1">
              <a:rPr lang="zh-CN" altLang="en-US" smtClean="0"/>
              <a:t>2023/3/15</a:t>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64854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3C007BC-3CC7-4253-8B95-A318739E7403}" type="datetime1">
              <a:rPr lang="zh-CN" altLang="en-US" smtClean="0"/>
              <a:t>2023/3/15</a:t>
            </a:fld>
            <a:endParaRPr lang="zh-CN" altLang="en-US"/>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879687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标题和描述">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DC338450-24A2-446E-B65B-14637A031250}" type="datetime1">
              <a:rPr lang="zh-CN" altLang="en-US" smtClean="0"/>
              <a:t>2023/3/15</a:t>
            </a:fld>
            <a:endParaRPr lang="zh-CN" altLang="en-US"/>
          </a:p>
        </p:txBody>
      </p:sp>
      <p:sp>
        <p:nvSpPr>
          <p:cNvPr id="6" name="Footer Placeholder 5"/>
          <p:cNvSpPr>
            <a:spLocks noGrp="1"/>
          </p:cNvSpPr>
          <p:nvPr>
            <p:ph type="ftr" sz="quarter" idx="11"/>
          </p:nvPr>
        </p:nvSpPr>
        <p:spPr>
          <a:xfrm>
            <a:off x="685800" y="379941"/>
            <a:ext cx="6991492" cy="365125"/>
          </a:xfrm>
        </p:spPr>
        <p:txBody>
          <a:bodyPr/>
          <a:lstStyle/>
          <a:p>
            <a:endParaRPr lang="zh-CN" altLang="en-US" dirty="0"/>
          </a:p>
        </p:txBody>
      </p:sp>
      <p:sp>
        <p:nvSpPr>
          <p:cNvPr id="7" name="Slide Number Placeholder 6"/>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246182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带描述的引言">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B42BC4EB-ED74-425E-B67B-9FAB1C2E4DDE}" type="datetime1">
              <a:rPr lang="zh-CN" altLang="en-US" smtClean="0"/>
              <a:t>2023/3/15</a:t>
            </a:fld>
            <a:endParaRPr lang="zh-CN" altLang="en-US"/>
          </a:p>
        </p:txBody>
      </p:sp>
      <p:sp>
        <p:nvSpPr>
          <p:cNvPr id="6" name="Footer Placeholder 5"/>
          <p:cNvSpPr>
            <a:spLocks noGrp="1"/>
          </p:cNvSpPr>
          <p:nvPr>
            <p:ph type="ftr" sz="quarter" idx="11"/>
          </p:nvPr>
        </p:nvSpPr>
        <p:spPr>
          <a:xfrm>
            <a:off x="685800" y="379941"/>
            <a:ext cx="6991492" cy="365125"/>
          </a:xfrm>
        </p:spPr>
        <p:txBody>
          <a:bodyPr/>
          <a:lstStyle/>
          <a:p>
            <a:endParaRPr lang="zh-CN" altLang="en-US" dirty="0"/>
          </a:p>
        </p:txBody>
      </p:sp>
      <p:sp>
        <p:nvSpPr>
          <p:cNvPr id="7" name="Slide Number Placeholder 6"/>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3670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名片">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A2B0AD69-7DAA-4BE3-9BB6-7D16E64C22EF}" type="datetime1">
              <a:rPr lang="zh-CN" altLang="en-US" smtClean="0"/>
              <a:t>2023/3/15</a:t>
            </a:fld>
            <a:endParaRPr lang="zh-CN" altLang="en-US"/>
          </a:p>
        </p:txBody>
      </p:sp>
      <p:sp>
        <p:nvSpPr>
          <p:cNvPr id="6" name="Footer Placeholder 5"/>
          <p:cNvSpPr>
            <a:spLocks noGrp="1"/>
          </p:cNvSpPr>
          <p:nvPr>
            <p:ph type="ftr" sz="quarter" idx="11"/>
          </p:nvPr>
        </p:nvSpPr>
        <p:spPr>
          <a:xfrm>
            <a:off x="685800" y="378883"/>
            <a:ext cx="6991492" cy="365125"/>
          </a:xfrm>
        </p:spPr>
        <p:txBody>
          <a:bodyPr/>
          <a:lstStyle/>
          <a:p>
            <a:endParaRPr lang="zh-CN" altLang="en-US" dirty="0"/>
          </a:p>
        </p:txBody>
      </p:sp>
      <p:sp>
        <p:nvSpPr>
          <p:cNvPr id="7" name="Slide Number Placeholder 6"/>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929468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F974EF6C-BD3B-4CE0-BBB0-2BBF213FB491}" type="datetime1">
              <a:rPr lang="zh-CN" altLang="en-US" smtClean="0"/>
              <a:t>2023/3/15</a:t>
            </a:fld>
            <a:endParaRPr lang="zh-CN" altLang="en-US"/>
          </a:p>
        </p:txBody>
      </p:sp>
      <p:sp>
        <p:nvSpPr>
          <p:cNvPr id="4" name="Footer Placeholder 3"/>
          <p:cNvSpPr>
            <a:spLocks noGrp="1"/>
          </p:cNvSpPr>
          <p:nvPr>
            <p:ph type="ftr" sz="quarter" idx="11"/>
          </p:nvPr>
        </p:nvSpPr>
        <p:spPr/>
        <p:txBody>
          <a:bodyPr/>
          <a:lstStyle/>
          <a:p>
            <a:endParaRPr lang="zh-CN" altLang="en-US" dirty="0"/>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906992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438443D9-5A12-4C90-A0B8-47375BBB34E4}" type="datetime1">
              <a:rPr lang="zh-CN" altLang="en-US" smtClean="0"/>
              <a:t>2023/3/15</a:t>
            </a:fld>
            <a:endParaRPr lang="zh-CN" altLang="en-US"/>
          </a:p>
        </p:txBody>
      </p:sp>
      <p:sp>
        <p:nvSpPr>
          <p:cNvPr id="4" name="Footer Placeholder 3"/>
          <p:cNvSpPr>
            <a:spLocks noGrp="1"/>
          </p:cNvSpPr>
          <p:nvPr>
            <p:ph type="ftr" sz="quarter" idx="11"/>
          </p:nvPr>
        </p:nvSpPr>
        <p:spPr/>
        <p:txBody>
          <a:bodyPr/>
          <a:lstStyle/>
          <a:p>
            <a:endParaRPr lang="zh-CN" altLang="en-US" dirty="0"/>
          </a:p>
        </p:txBody>
      </p:sp>
      <p:sp>
        <p:nvSpPr>
          <p:cNvPr id="5" name="Slide Number Placeholder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379457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40C1C04-BC66-41ED-AE5C-F41E61E1CD3C}" type="datetime1">
              <a:rPr lang="zh-CN" altLang="en-US" smtClean="0"/>
              <a:t>2023/3/15</a:t>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1779644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BE28D5C4-F370-4D91-B541-D40D5D825286}" type="datetime1">
              <a:rPr lang="zh-CN" altLang="en-US" smtClean="0"/>
              <a:t>2023/3/15</a:t>
            </a:fld>
            <a:endParaRPr lang="zh-CN" altLang="en-US"/>
          </a:p>
        </p:txBody>
      </p:sp>
      <p:sp>
        <p:nvSpPr>
          <p:cNvPr id="5" name="Footer Placeholder 4"/>
          <p:cNvSpPr>
            <a:spLocks noGrp="1"/>
          </p:cNvSpPr>
          <p:nvPr>
            <p:ph type="ftr" sz="quarter" idx="11"/>
          </p:nvPr>
        </p:nvSpPr>
        <p:spPr>
          <a:xfrm>
            <a:off x="685800" y="381000"/>
            <a:ext cx="6991492" cy="365125"/>
          </a:xfrm>
        </p:spPr>
        <p:txBody>
          <a:bodyPr/>
          <a:lstStyle/>
          <a:p>
            <a:endParaRPr lang="zh-CN" altLang="en-US"/>
          </a:p>
        </p:txBody>
      </p:sp>
      <p:sp>
        <p:nvSpPr>
          <p:cNvPr id="6" name="Slide Number Placeholder 5"/>
          <p:cNvSpPr>
            <a:spLocks noGrp="1"/>
          </p:cNvSpPr>
          <p:nvPr>
            <p:ph type="sldNum" sz="quarter" idx="12"/>
          </p:nvPr>
        </p:nvSpPr>
        <p:spPr>
          <a:xfrm>
            <a:off x="10862452" y="381000"/>
            <a:ext cx="643748" cy="365125"/>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229956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grpSp>
        <p:nvGrpSpPr>
          <p:cNvPr id="4" name="组合 3"/>
          <p:cNvGrpSpPr/>
          <p:nvPr>
            <p:custDataLst>
              <p:tags r:id="rId1"/>
            </p:custDataLst>
          </p:nvPr>
        </p:nvGrpSpPr>
        <p:grpSpPr>
          <a:xfrm>
            <a:off x="0" y="0"/>
            <a:ext cx="12192000" cy="7454900"/>
            <a:chOff x="0" y="0"/>
            <a:chExt cx="19200" cy="11740"/>
          </a:xfrm>
        </p:grpSpPr>
        <p:grpSp>
          <p:nvGrpSpPr>
            <p:cNvPr id="6" name="组合 5"/>
            <p:cNvGrpSpPr/>
            <p:nvPr userDrawn="1">
              <p:custDataLst>
                <p:tags r:id="rId9"/>
              </p:custDataLst>
            </p:nvPr>
          </p:nvGrpSpPr>
          <p:grpSpPr>
            <a:xfrm>
              <a:off x="0" y="0"/>
              <a:ext cx="19200" cy="3223"/>
              <a:chOff x="0" y="0"/>
              <a:chExt cx="12192000" cy="2046605"/>
            </a:xfrm>
          </p:grpSpPr>
          <p:pic>
            <p:nvPicPr>
              <p:cNvPr id="7" name="图片 6"/>
              <p:cNvPicPr>
                <a:picLocks noChangeAspect="1"/>
              </p:cNvPicPr>
              <p:nvPr userDrawn="1">
                <p:custDataLst>
                  <p:tags r:id="rId11"/>
                </p:custDataLst>
              </p:nvPr>
            </p:nvPicPr>
            <p:blipFill>
              <a:blip r:embed="rId14"/>
              <a:stretch>
                <a:fillRect/>
              </a:stretch>
            </p:blipFill>
            <p:spPr>
              <a:xfrm>
                <a:off x="0" y="0"/>
                <a:ext cx="12192000" cy="2046605"/>
              </a:xfrm>
              <a:prstGeom prst="rect">
                <a:avLst/>
              </a:prstGeom>
            </p:spPr>
          </p:pic>
          <p:pic>
            <p:nvPicPr>
              <p:cNvPr id="9" name="图片 8"/>
              <p:cNvPicPr>
                <a:picLocks noChangeAspect="1"/>
              </p:cNvPicPr>
              <p:nvPr userDrawn="1">
                <p:custDataLst>
                  <p:tags r:id="rId12"/>
                </p:custDataLst>
              </p:nvPr>
            </p:nvPicPr>
            <p:blipFill rotWithShape="1">
              <a:blip r:embed="rId15"/>
              <a:srcRect/>
              <a:stretch>
                <a:fillRect/>
              </a:stretch>
            </p:blipFill>
            <p:spPr>
              <a:xfrm>
                <a:off x="0" y="10686"/>
                <a:ext cx="12192000" cy="1704978"/>
              </a:xfrm>
              <a:prstGeom prst="rect">
                <a:avLst/>
              </a:prstGeom>
            </p:spPr>
          </p:pic>
        </p:grpSp>
        <p:pic>
          <p:nvPicPr>
            <p:cNvPr id="8" name="图片 7"/>
            <p:cNvPicPr>
              <a:picLocks noChangeAspect="1"/>
            </p:cNvPicPr>
            <p:nvPr userDrawn="1">
              <p:custDataLst>
                <p:tags r:id="rId10"/>
              </p:custDataLst>
            </p:nvPr>
          </p:nvPicPr>
          <p:blipFill>
            <a:blip r:embed="rId16"/>
            <a:stretch>
              <a:fillRect/>
            </a:stretch>
          </p:blipFill>
          <p:spPr>
            <a:xfrm>
              <a:off x="0" y="9728"/>
              <a:ext cx="19200" cy="2012"/>
            </a:xfrm>
            <a:prstGeom prst="rect">
              <a:avLst/>
            </a:prstGeom>
          </p:spPr>
        </p:pic>
      </p:grpSp>
      <p:sp>
        <p:nvSpPr>
          <p:cNvPr id="16" name="日期占位符 15"/>
          <p:cNvSpPr>
            <a:spLocks noGrp="1"/>
          </p:cNvSpPr>
          <p:nvPr>
            <p:ph type="dt" sz="half" idx="10"/>
            <p:custDataLst>
              <p:tags r:id="rId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21F669F-1641-43DE-98C3-E4001B8420D0}" type="datetime1">
              <a:rPr lang="zh-CN" altLang="en-US" smtClean="0"/>
              <a:t>2023/3/15</a:t>
            </a:fld>
            <a:endParaRPr lang="zh-CN" altLang="en-US"/>
          </a:p>
        </p:txBody>
      </p:sp>
      <p:sp>
        <p:nvSpPr>
          <p:cNvPr id="17" name="页脚占位符 16"/>
          <p:cNvSpPr>
            <a:spLocks noGrp="1"/>
          </p:cNvSpPr>
          <p:nvPr>
            <p:ph type="ftr" sz="quarter" idx="11"/>
            <p:custDataLst>
              <p:tags r:id="rId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3" name="副标题 2"/>
          <p:cNvSpPr>
            <a:spLocks noGrp="1"/>
          </p:cNvSpPr>
          <p:nvPr>
            <p:ph type="subTitle" idx="1" hasCustomPrompt="1"/>
            <p:custDataLst>
              <p:tags r:id="rId5"/>
            </p:custDataLst>
          </p:nvPr>
        </p:nvSpPr>
        <p:spPr>
          <a:xfrm>
            <a:off x="2216785" y="3503930"/>
            <a:ext cx="7759065" cy="491490"/>
          </a:xfrm>
        </p:spPr>
        <p:txBody>
          <a:bodyPr lIns="90000" tIns="46800" rIns="90000" bIns="46800">
            <a:normAutofit/>
          </a:bodyPr>
          <a:lstStyle>
            <a:lvl1pPr marL="0" indent="0" algn="ctr" eaLnBrk="1" fontAlgn="auto" latinLnBrk="0" hangingPunct="1">
              <a:lnSpc>
                <a:spcPct val="100000"/>
              </a:lnSpc>
              <a:buNone/>
              <a:defRPr sz="2000" u="none" strike="noStrike" kern="1200" cap="none" spc="0" normalizeH="0" baseline="0">
                <a:solidFill>
                  <a:schemeClr val="accent1"/>
                </a:solidFill>
                <a:uFillTx/>
                <a:latin typeface="Arial" panose="020B0604020202020204" pitchFamily="34" charset="0"/>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2" name="标题 1"/>
          <p:cNvSpPr>
            <a:spLocks noGrp="1"/>
          </p:cNvSpPr>
          <p:nvPr>
            <p:ph type="ctrTitle" hasCustomPrompt="1"/>
            <p:custDataLst>
              <p:tags r:id="rId6"/>
            </p:custDataLst>
          </p:nvPr>
        </p:nvSpPr>
        <p:spPr>
          <a:xfrm>
            <a:off x="2216468" y="2292046"/>
            <a:ext cx="7759065" cy="1150960"/>
          </a:xfrm>
        </p:spPr>
        <p:txBody>
          <a:bodyPr lIns="90000" tIns="46800" rIns="90000" bIns="46800" anchor="b" anchorCtr="0">
            <a:noAutofit/>
          </a:bodyPr>
          <a:lstStyle>
            <a:lvl1pPr algn="ctr">
              <a:defRPr sz="6000" spc="600" baseline="0">
                <a:solidFill>
                  <a:schemeClr val="tx1"/>
                </a:solidFill>
                <a:ea typeface="汉仪旗黑-85S" panose="00020600040101010101" pitchFamily="18" charset="-122"/>
              </a:defRPr>
            </a:lvl1pPr>
          </a:lstStyle>
          <a:p>
            <a:r>
              <a:rPr lang="zh-CN" altLang="en-US" dirty="0"/>
              <a:t>单击此处编辑标题</a:t>
            </a:r>
          </a:p>
        </p:txBody>
      </p:sp>
      <p:sp>
        <p:nvSpPr>
          <p:cNvPr id="5" name="文本占位符 4"/>
          <p:cNvSpPr>
            <a:spLocks noGrp="1"/>
          </p:cNvSpPr>
          <p:nvPr>
            <p:ph type="body" sz="quarter" idx="13" hasCustomPrompt="1"/>
            <p:custDataLst>
              <p:tags r:id="rId7"/>
            </p:custDataLst>
          </p:nvPr>
        </p:nvSpPr>
        <p:spPr>
          <a:xfrm>
            <a:off x="4511039" y="4490846"/>
            <a:ext cx="1383093" cy="474726"/>
          </a:xfrm>
          <a:solidFill>
            <a:schemeClr val="accent1"/>
          </a:solidFill>
        </p:spPr>
        <p:txBody>
          <a:bodyPr lIns="90000" tIns="46800" rIns="90000" bIns="46800" anchor="ctr">
            <a:normAutofit/>
          </a:bodyPr>
          <a:lstStyle>
            <a:lvl1pPr marL="0" indent="0" algn="ctr">
              <a:buNone/>
              <a:defRPr u="none" strike="noStrike" kern="1200" cap="none" spc="0" normalizeH="0">
                <a:solidFill>
                  <a:schemeClr val="bg1"/>
                </a:solidFill>
                <a:latin typeface="Arial" panose="020B0604020202020204" pitchFamily="34" charset="0"/>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
        <p:nvSpPr>
          <p:cNvPr id="14" name="文本占位符 13"/>
          <p:cNvSpPr>
            <a:spLocks noGrp="1"/>
          </p:cNvSpPr>
          <p:nvPr>
            <p:ph type="body" sz="quarter" idx="14" hasCustomPrompt="1"/>
            <p:custDataLst>
              <p:tags r:id="rId8"/>
            </p:custDataLst>
          </p:nvPr>
        </p:nvSpPr>
        <p:spPr>
          <a:xfrm>
            <a:off x="6096000" y="4490846"/>
            <a:ext cx="1383092" cy="474726"/>
          </a:xfrm>
          <a:ln>
            <a:solidFill>
              <a:schemeClr val="accent1"/>
            </a:solidFill>
          </a:ln>
        </p:spPr>
        <p:txBody>
          <a:bodyPr lIns="90000" tIns="46800" rIns="90000" bIns="46800" anchor="ctr">
            <a:normAutofit/>
          </a:bodyPr>
          <a:lstStyle>
            <a:lvl1pPr marL="0" indent="0" algn="ctr">
              <a:buNone/>
              <a:defRPr u="none" strike="noStrike" kern="1200" cap="none" spc="0" normalizeH="0">
                <a:ln>
                  <a:noFill/>
                </a:ln>
                <a:solidFill>
                  <a:schemeClr val="accent1"/>
                </a:solidFill>
                <a:latin typeface="Arial" panose="020B0604020202020204" pitchFamily="34" charset="0"/>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Tree>
    <p:extLst>
      <p:ext uri="{BB962C8B-B14F-4D97-AF65-F5344CB8AC3E}">
        <p14:creationId xmlns:p14="http://schemas.microsoft.com/office/powerpoint/2010/main" val="9654699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末尾幻灯片">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p:custDataLst>
              <p:tags r:id="rId1"/>
            </p:custDataLst>
          </p:nvPr>
        </p:nvPicPr>
        <p:blipFill>
          <a:blip r:embed="rId11"/>
          <a:stretch>
            <a:fillRect/>
          </a:stretch>
        </p:blipFill>
        <p:spPr>
          <a:xfrm>
            <a:off x="0" y="6177281"/>
            <a:ext cx="12192000" cy="1165911"/>
          </a:xfrm>
          <a:prstGeom prst="rect">
            <a:avLst/>
          </a:prstGeom>
        </p:spPr>
      </p:pic>
      <p:pic>
        <p:nvPicPr>
          <p:cNvPr id="6" name="图片 5"/>
          <p:cNvPicPr>
            <a:picLocks noChangeAspect="1"/>
          </p:cNvPicPr>
          <p:nvPr>
            <p:custDataLst>
              <p:tags r:id="rId2"/>
            </p:custDataLst>
          </p:nvPr>
        </p:nvPicPr>
        <p:blipFill>
          <a:blip r:embed="rId12"/>
          <a:stretch>
            <a:fillRect/>
          </a:stretch>
        </p:blipFill>
        <p:spPr>
          <a:xfrm>
            <a:off x="0" y="35560"/>
            <a:ext cx="12192000" cy="2046605"/>
          </a:xfrm>
          <a:prstGeom prst="rect">
            <a:avLst/>
          </a:prstGeom>
        </p:spPr>
      </p:pic>
      <p:sp>
        <p:nvSpPr>
          <p:cNvPr id="2" name="标题 1"/>
          <p:cNvSpPr>
            <a:spLocks noGrp="1"/>
          </p:cNvSpPr>
          <p:nvPr>
            <p:ph type="title" hasCustomPrompt="1"/>
            <p:custDataLst>
              <p:tags r:id="rId3"/>
            </p:custDataLst>
          </p:nvPr>
        </p:nvSpPr>
        <p:spPr>
          <a:xfrm>
            <a:off x="3125639" y="2421777"/>
            <a:ext cx="5940722" cy="1336635"/>
          </a:xfrm>
        </p:spPr>
        <p:txBody>
          <a:bodyPr vert="horz" lIns="90000" tIns="46800" rIns="90000" bIns="46800" rtlCol="0" anchor="b" anchorCtr="0">
            <a:normAutofit/>
          </a:bodyPr>
          <a:lstStyle>
            <a:lvl1pPr marL="0" marR="0" algn="ctr"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D376E4F8-888F-4D75-90E9-E9242D7A98AE}" type="datetime1">
              <a:rPr lang="zh-CN" altLang="en-US" smtClean="0"/>
              <a:t>2023/3/15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pic>
        <p:nvPicPr>
          <p:cNvPr id="9" name="图片 8"/>
          <p:cNvPicPr>
            <a:picLocks noChangeAspect="1"/>
          </p:cNvPicPr>
          <p:nvPr>
            <p:custDataLst>
              <p:tags r:id="rId7"/>
            </p:custDataLst>
          </p:nvPr>
        </p:nvPicPr>
        <p:blipFill rotWithShape="1">
          <a:blip r:embed="rId13"/>
          <a:srcRect/>
          <a:stretch>
            <a:fillRect/>
          </a:stretch>
        </p:blipFill>
        <p:spPr>
          <a:xfrm>
            <a:off x="0" y="-3"/>
            <a:ext cx="12192000" cy="1704978"/>
          </a:xfrm>
          <a:prstGeom prst="rect">
            <a:avLst/>
          </a:prstGeom>
        </p:spPr>
      </p:pic>
      <p:sp>
        <p:nvSpPr>
          <p:cNvPr id="13" name="文本占位符 12"/>
          <p:cNvSpPr>
            <a:spLocks noGrp="1"/>
          </p:cNvSpPr>
          <p:nvPr>
            <p:ph type="body" sz="quarter" idx="13" hasCustomPrompt="1"/>
            <p:custDataLst>
              <p:tags r:id="rId8"/>
            </p:custDataLst>
          </p:nvPr>
        </p:nvSpPr>
        <p:spPr>
          <a:xfrm>
            <a:off x="4632702" y="4417887"/>
            <a:ext cx="1302101" cy="485285"/>
          </a:xfrm>
          <a:solidFill>
            <a:schemeClr val="accent1"/>
          </a:solidFill>
        </p:spPr>
        <p:txBody>
          <a:bodyPr/>
          <a:lstStyle>
            <a:lvl1pPr marL="0" indent="0" algn="r">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
        <p:nvSpPr>
          <p:cNvPr id="15" name="文本占位符 14"/>
          <p:cNvSpPr>
            <a:spLocks noGrp="1"/>
          </p:cNvSpPr>
          <p:nvPr>
            <p:ph type="body" sz="quarter" idx="14" hasCustomPrompt="1"/>
            <p:custDataLst>
              <p:tags r:id="rId9"/>
            </p:custDataLst>
          </p:nvPr>
        </p:nvSpPr>
        <p:spPr>
          <a:xfrm>
            <a:off x="6257198" y="4417887"/>
            <a:ext cx="1302102" cy="485285"/>
          </a:xfrm>
          <a:ln>
            <a:solidFill>
              <a:schemeClr val="accent1"/>
            </a:solidFill>
          </a:ln>
        </p:spPr>
        <p:txBody>
          <a:bodyPr/>
          <a:lstStyle>
            <a:lvl1pPr marL="0" indent="0">
              <a:buNone/>
              <a:defRPr>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编辑文本</a:t>
            </a:r>
          </a:p>
        </p:txBody>
      </p:sp>
    </p:spTree>
    <p:extLst>
      <p:ext uri="{BB962C8B-B14F-4D97-AF65-F5344CB8AC3E}">
        <p14:creationId xmlns:p14="http://schemas.microsoft.com/office/powerpoint/2010/main" val="3797948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lIns="90000" tIns="46800" rIns="90000" bIns="4680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lvl1pPr>
              <a:defRPr baseline="0">
                <a:latin typeface="Arial" panose="020B0604020202020204" pitchFamily="34" charset="0"/>
                <a:ea typeface="微软雅黑" panose="020B0503020204020204" charset="-122"/>
              </a:defRPr>
            </a:lvl1pPr>
          </a:lstStyle>
          <a:p>
            <a:fld id="{073DB0AD-50E0-4C16-A365-680C39A0D1F7}" type="datetime1">
              <a:rPr lang="zh-CN" altLang="en-US" smtClean="0"/>
              <a:t>2023/3/15</a:t>
            </a:fld>
            <a:endParaRPr lang="zh-CN" altLang="en-US"/>
          </a:p>
        </p:txBody>
      </p:sp>
      <p:sp>
        <p:nvSpPr>
          <p:cNvPr id="6" name="页脚占位符 5"/>
          <p:cNvSpPr>
            <a:spLocks noGrp="1"/>
          </p:cNvSpPr>
          <p:nvPr>
            <p:ph type="ftr" sz="quarter" idx="11"/>
            <p:custDataLst>
              <p:tags r:id="rId5"/>
            </p:custDataLst>
          </p:nvPr>
        </p:nvSpPr>
        <p:spPr/>
        <p:txBody>
          <a:bodyPr/>
          <a:lstStyle>
            <a:lvl1pPr>
              <a:defRPr baseline="0">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6"/>
            </p:custDataLst>
          </p:nvPr>
        </p:nvSpPr>
        <p:spPr/>
        <p:txBody>
          <a:bodyPr/>
          <a:lstStyle>
            <a:lvl1pPr>
              <a:defRPr baseline="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pic>
        <p:nvPicPr>
          <p:cNvPr id="10" name="图片 9" descr="C:\Users\kingsoft\Desktop\图片7副本.png图片7副本"/>
          <p:cNvPicPr>
            <a:picLocks noChangeAspect="1"/>
          </p:cNvPicPr>
          <p:nvPr>
            <p:custDataLst>
              <p:tags r:id="rId7"/>
            </p:custDataLst>
          </p:nvPr>
        </p:nvPicPr>
        <p:blipFill rotWithShape="1">
          <a:blip r:embed="rId10"/>
          <a:srcRect/>
          <a:stretch>
            <a:fillRect/>
          </a:stretch>
        </p:blipFill>
        <p:spPr>
          <a:xfrm>
            <a:off x="-16510" y="5971592"/>
            <a:ext cx="3478627" cy="907998"/>
          </a:xfrm>
          <a:prstGeom prst="rect">
            <a:avLst/>
          </a:prstGeom>
        </p:spPr>
      </p:pic>
      <p:pic>
        <p:nvPicPr>
          <p:cNvPr id="11" name="图片 10" descr="C:\Users\kingsoft\Desktop\图片7副本.png图片7副本"/>
          <p:cNvPicPr>
            <a:picLocks noChangeAspect="1"/>
          </p:cNvPicPr>
          <p:nvPr>
            <p:custDataLst>
              <p:tags r:id="rId8"/>
            </p:custDataLst>
          </p:nvPr>
        </p:nvPicPr>
        <p:blipFill rotWithShape="1">
          <a:blip r:embed="rId11"/>
          <a:srcRect/>
          <a:stretch>
            <a:fillRect/>
          </a:stretch>
        </p:blipFill>
        <p:spPr>
          <a:xfrm flipH="1">
            <a:off x="8716609" y="5905492"/>
            <a:ext cx="3481106" cy="974098"/>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7234C3EA-BF54-448C-AAED-CDBED562C50E}" type="datetime1">
              <a:rPr lang="zh-CN" altLang="en-US" smtClean="0"/>
              <a:t>2023/3/15</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pic>
        <p:nvPicPr>
          <p:cNvPr id="9" name="图片 8" descr="C:\Users\kingsoft\Desktop\图片7副本.png图片7副本"/>
          <p:cNvPicPr>
            <a:picLocks noChangeAspect="1"/>
          </p:cNvPicPr>
          <p:nvPr>
            <p:custDataLst>
              <p:tags r:id="rId7"/>
            </p:custDataLst>
          </p:nvPr>
        </p:nvPicPr>
        <p:blipFill rotWithShape="1">
          <a:blip r:embed="rId9"/>
          <a:srcRect/>
          <a:stretch>
            <a:fillRect/>
          </a:stretch>
        </p:blipFill>
        <p:spPr>
          <a:xfrm flipH="1">
            <a:off x="8231997" y="5327780"/>
            <a:ext cx="3960001" cy="153022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7"/>
          <a:stretch>
            <a:fillRect/>
          </a:stretch>
        </p:blipFill>
        <p:spPr>
          <a:xfrm>
            <a:off x="0" y="-15240"/>
            <a:ext cx="12192000" cy="2046605"/>
          </a:xfrm>
          <a:prstGeom prst="rect">
            <a:avLst/>
          </a:prstGeom>
        </p:spPr>
      </p:pic>
      <p:sp>
        <p:nvSpPr>
          <p:cNvPr id="3" name="日期占位符 2"/>
          <p:cNvSpPr>
            <a:spLocks noGrp="1"/>
          </p:cNvSpPr>
          <p:nvPr>
            <p:ph type="dt" sz="half" idx="10"/>
            <p:custDataLst>
              <p:tags r:id="rId2"/>
            </p:custDataLst>
          </p:nvPr>
        </p:nvSpPr>
        <p:spPr/>
        <p:txBody>
          <a:bodyPr/>
          <a:lstStyle/>
          <a:p>
            <a:fld id="{7308B6C2-3E17-4CDC-A968-5914CAF90F24}" type="datetime1">
              <a:rPr lang="zh-CN" altLang="en-US" smtClean="0"/>
              <a:t>2023/3/15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Autofit/>
          </a:bodyPr>
          <a:lstStyle>
            <a:lvl1pPr>
              <a:defRPr sz="24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a:lstStyle>
            <a:lvl1pPr>
              <a:defRPr baseline="0">
                <a:latin typeface="微软雅黑" panose="020B0503020204020204" charset="-122"/>
              </a:defRPr>
            </a:lvl1pPr>
          </a:lstStyle>
          <a:p>
            <a:fld id="{F22666BF-0D22-4898-A650-3F744D551CF8}" type="datetime1">
              <a:rPr lang="zh-CN" altLang="en-US" smtClean="0"/>
              <a:t>2023/3/15</a:t>
            </a:fld>
            <a:endParaRPr lang="zh-CN" altLang="en-US"/>
          </a:p>
        </p:txBody>
      </p:sp>
      <p:sp>
        <p:nvSpPr>
          <p:cNvPr id="4" name="页脚占位符 3"/>
          <p:cNvSpPr>
            <a:spLocks noGrp="1"/>
          </p:cNvSpPr>
          <p:nvPr>
            <p:ph type="ftr" sz="quarter" idx="11"/>
            <p:custDataLst>
              <p:tags r:id="rId3"/>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lvl1pPr>
              <a:defRPr baseline="0">
                <a:latin typeface="微软雅黑" panose="020B0503020204020204" charset="-122"/>
              </a:defRPr>
            </a:lvl1pPr>
          </a:lstStyle>
          <a:p>
            <a:fld id="{49AE70B2-8BF9-45C0-BB95-33D1B9D3A854}" type="slidenum">
              <a:rPr lang="zh-CN" altLang="en-US" smtClean="0"/>
              <a:t>‹#›</a:t>
            </a:fld>
            <a:endParaRPr lang="zh-CN" altLang="en-US" dirty="0"/>
          </a:p>
        </p:txBody>
      </p:sp>
      <p:pic>
        <p:nvPicPr>
          <p:cNvPr id="18" name="图片 17"/>
          <p:cNvPicPr>
            <a:picLocks noChangeAspect="1"/>
          </p:cNvPicPr>
          <p:nvPr>
            <p:custDataLst>
              <p:tags r:id="rId5"/>
            </p:custDataLst>
          </p:nvPr>
        </p:nvPicPr>
        <p:blipFill>
          <a:blip r:embed="rId7"/>
          <a:stretch>
            <a:fillRect/>
          </a:stretch>
        </p:blipFill>
        <p:spPr>
          <a:xfrm>
            <a:off x="0" y="6177281"/>
            <a:ext cx="12192000" cy="1315202"/>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286385" y="273050"/>
            <a:ext cx="11616055" cy="63119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latin typeface="Arial" panose="020B0604020202020204" pitchFamily="34" charset="0"/>
              <a:ea typeface="微软雅黑" panose="020B0503020204020204" charset="-122"/>
              <a:sym typeface="+mn-ea"/>
            </a:endParaRPr>
          </a:p>
        </p:txBody>
      </p:sp>
      <p:sp>
        <p:nvSpPr>
          <p:cNvPr id="3" name="日期占位符 2"/>
          <p:cNvSpPr>
            <a:spLocks noGrp="1"/>
          </p:cNvSpPr>
          <p:nvPr>
            <p:ph type="dt" sz="half" idx="10"/>
            <p:custDataLst>
              <p:tags r:id="rId2"/>
            </p:custDataLst>
          </p:nvPr>
        </p:nvSpPr>
        <p:spPr/>
        <p:txBody>
          <a:bodyPr/>
          <a:lstStyle>
            <a:lvl1pPr>
              <a:defRPr baseline="0">
                <a:latin typeface="Arial" panose="020B0604020202020204" pitchFamily="34" charset="0"/>
                <a:ea typeface="微软雅黑" panose="020B0503020204020204" charset="-122"/>
              </a:defRPr>
            </a:lvl1pPr>
          </a:lstStyle>
          <a:p>
            <a:fld id="{D950AC6D-CCFE-47B9-B291-D7DF1875D13A}" type="datetime1">
              <a:rPr lang="zh-CN" altLang="en-US" smtClean="0"/>
              <a:t>2023/3/15</a:t>
            </a:fld>
            <a:endParaRPr lang="zh-CN" altLang="en-US"/>
          </a:p>
        </p:txBody>
      </p:sp>
      <p:sp>
        <p:nvSpPr>
          <p:cNvPr id="2" name="标题 1"/>
          <p:cNvSpPr>
            <a:spLocks noGrp="1"/>
          </p:cNvSpPr>
          <p:nvPr>
            <p:ph type="title" hasCustomPrompt="1"/>
            <p:custDataLst>
              <p:tags r:id="rId3"/>
            </p:custDataLst>
          </p:nvPr>
        </p:nvSpPr>
        <p:spPr>
          <a:xfrm>
            <a:off x="1281600" y="1249200"/>
            <a:ext cx="9626400" cy="723600"/>
          </a:xfrm>
        </p:spPr>
        <p:txBody>
          <a:bodyPr anchor="ct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4" name="页脚占位符 3"/>
          <p:cNvSpPr>
            <a:spLocks noGrp="1"/>
          </p:cNvSpPr>
          <p:nvPr>
            <p:ph type="ftr" sz="quarter" idx="11"/>
            <p:custDataLst>
              <p:tags r:id="rId5"/>
            </p:custDataLst>
          </p:nvPr>
        </p:nvSpPr>
        <p:spPr/>
        <p:txBody>
          <a:bodyPr/>
          <a:lstStyle>
            <a:lvl1pPr>
              <a:defRPr baseline="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baseline="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pic>
        <p:nvPicPr>
          <p:cNvPr id="10" name="图片 9" descr="C:\Users\kingsoft\Desktop\图片7副本.png图片7副本"/>
          <p:cNvPicPr>
            <a:picLocks noChangeAspect="1"/>
          </p:cNvPicPr>
          <p:nvPr>
            <p:custDataLst>
              <p:tags r:id="rId7"/>
            </p:custDataLst>
          </p:nvPr>
        </p:nvPicPr>
        <p:blipFill rotWithShape="1">
          <a:blip r:embed="rId9"/>
          <a:srcRect/>
          <a:stretch>
            <a:fillRect/>
          </a:stretch>
        </p:blipFill>
        <p:spPr>
          <a:xfrm flipH="1">
            <a:off x="7072603" y="4933186"/>
            <a:ext cx="4829835" cy="1651763"/>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1"/>
              </a:solidFill>
              <a:sym typeface="+mn-ea"/>
            </a:endParaRPr>
          </a:p>
        </p:txBody>
      </p:sp>
      <p:sp>
        <p:nvSpPr>
          <p:cNvPr id="2" name="标题 1"/>
          <p:cNvSpPr>
            <a:spLocks noGrp="1"/>
          </p:cNvSpPr>
          <p:nvPr>
            <p:ph type="title" hasCustomPrompt="1"/>
            <p:custDataLst>
              <p:tags r:id="rId2"/>
            </p:custDataLst>
          </p:nvPr>
        </p:nvSpPr>
        <p:spPr>
          <a:xfrm>
            <a:off x="583200" y="770400"/>
            <a:ext cx="3960000" cy="882000"/>
          </a:xfrm>
        </p:spPr>
        <p:txBody>
          <a:bodyPr anchor="ctr"/>
          <a:lstStyle>
            <a:lvl1pPr>
              <a:defRPr sz="36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3"/>
            </p:custDataLst>
          </p:nvPr>
        </p:nvSpPr>
        <p:spPr/>
        <p:txBody>
          <a:bodyPr/>
          <a:lstStyle/>
          <a:p>
            <a:fld id="{A1A0A1E0-4C46-446D-B217-4EE859EC21DA}" type="datetime1">
              <a:rPr lang="zh-CN" altLang="en-US" smtClean="0"/>
              <a:t>2023/3/15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586800" y="1764000"/>
            <a:ext cx="3956400" cy="4093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内容占位符 8"/>
          <p:cNvSpPr>
            <a:spLocks noGrp="1"/>
          </p:cNvSpPr>
          <p:nvPr>
            <p:ph sz="quarter" idx="14"/>
            <p:custDataLst>
              <p:tags r:id="rId7"/>
            </p:custDataLst>
          </p:nvPr>
        </p:nvSpPr>
        <p:spPr>
          <a:xfrm>
            <a:off x="5101200" y="769938"/>
            <a:ext cx="6480000" cy="5087937"/>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pic>
        <p:nvPicPr>
          <p:cNvPr id="10" name="图片 9" descr="C:\Users\kingsoft\Desktop\图片7副本.png图片7副本"/>
          <p:cNvPicPr>
            <a:picLocks noChangeAspect="1"/>
          </p:cNvPicPr>
          <p:nvPr>
            <p:custDataLst>
              <p:tags r:id="rId8"/>
            </p:custDataLst>
          </p:nvPr>
        </p:nvPicPr>
        <p:blipFill rotWithShape="1">
          <a:blip r:embed="rId10"/>
          <a:srcRect/>
          <a:stretch>
            <a:fillRect/>
          </a:stretch>
        </p:blipFill>
        <p:spPr>
          <a:xfrm flipH="1">
            <a:off x="8231997" y="5327780"/>
            <a:ext cx="3960001" cy="153022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矩形 12"/>
          <p:cNvSpPr/>
          <p:nvPr>
            <p:custDataLst>
              <p:tags r:id="rId1"/>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612000" y="781200"/>
            <a:ext cx="10976400" cy="626400"/>
          </a:xfrm>
        </p:spPr>
        <p:txBody>
          <a:bodyPr anchor="ctr"/>
          <a:lstStyle>
            <a:lvl1pPr algn="ctr">
              <a:defRPr sz="36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6D997BCE-98A5-4929-A47F-877D62F684B9}" type="datetime1">
              <a:rPr lang="zh-CN" altLang="en-US" smtClean="0"/>
              <a:t>2023/3/15</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612775" y="2808000"/>
            <a:ext cx="10965600" cy="34308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pic>
        <p:nvPicPr>
          <p:cNvPr id="16" name="图片 15" descr="C:\Users\kingsoft\Desktop\图片7副本.png图片7副本"/>
          <p:cNvPicPr>
            <a:picLocks noChangeAspect="1"/>
          </p:cNvPicPr>
          <p:nvPr>
            <p:custDataLst>
              <p:tags r:id="rId8"/>
            </p:custDataLst>
          </p:nvPr>
        </p:nvPicPr>
        <p:blipFill rotWithShape="1">
          <a:blip r:embed="rId10"/>
          <a:srcRect/>
          <a:stretch>
            <a:fillRect/>
          </a:stretch>
        </p:blipFill>
        <p:spPr>
          <a:xfrm flipH="1">
            <a:off x="8231997" y="5327780"/>
            <a:ext cx="3960001" cy="153022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10"/>
          <a:stretch>
            <a:fillRect/>
          </a:stretch>
        </p:blipFill>
        <p:spPr>
          <a:xfrm>
            <a:off x="3810" y="0"/>
            <a:ext cx="12192000" cy="1975485"/>
          </a:xfrm>
          <a:prstGeom prst="rect">
            <a:avLst/>
          </a:prstGeom>
        </p:spPr>
      </p:pic>
      <p:sp>
        <p:nvSpPr>
          <p:cNvPr id="13" name="矩形 12"/>
          <p:cNvSpPr/>
          <p:nvPr>
            <p:custDataLst>
              <p:tags r:id="rId2"/>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3C25CE4D-D898-4D9F-9517-1C5A922B195E}" type="datetime1">
              <a:rPr lang="zh-CN" altLang="en-US" smtClean="0"/>
              <a:t>2023/3/15</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marL="0" indent="0">
              <a:buNone/>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18" name="图片 17"/>
          <p:cNvPicPr>
            <a:picLocks noChangeAspect="1"/>
          </p:cNvPicPr>
          <p:nvPr>
            <p:custDataLst>
              <p:tags r:id="rId1"/>
            </p:custDataLst>
          </p:nvPr>
        </p:nvPicPr>
        <p:blipFill>
          <a:blip r:embed="rId12"/>
          <a:stretch>
            <a:fillRect/>
          </a:stretch>
        </p:blipFill>
        <p:spPr>
          <a:xfrm>
            <a:off x="0" y="6242387"/>
            <a:ext cx="12192000" cy="1231226"/>
          </a:xfrm>
          <a:prstGeom prst="rect">
            <a:avLst/>
          </a:prstGeom>
        </p:spPr>
      </p:pic>
      <p:sp>
        <p:nvSpPr>
          <p:cNvPr id="15" name="矩形 14"/>
          <p:cNvSpPr/>
          <p:nvPr>
            <p:custDataLst>
              <p:tags r:id="rId2"/>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defRPr sz="28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7" name="内容占位符 6"/>
          <p:cNvSpPr>
            <a:spLocks noGrp="1"/>
          </p:cNvSpPr>
          <p:nvPr>
            <p:ph sz="quarter" idx="13"/>
            <p:custDataLst>
              <p:tags r:id="rId4"/>
            </p:custDataLst>
          </p:nvPr>
        </p:nvSpPr>
        <p:spPr>
          <a:xfrm>
            <a:off x="579600" y="1663200"/>
            <a:ext cx="5342400" cy="28944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3" name="日期占位符 2"/>
          <p:cNvSpPr>
            <a:spLocks noGrp="1"/>
          </p:cNvSpPr>
          <p:nvPr>
            <p:ph type="dt" sz="half" idx="10"/>
            <p:custDataLst>
              <p:tags r:id="rId5"/>
            </p:custDataLst>
          </p:nvPr>
        </p:nvSpPr>
        <p:spPr/>
        <p:txBody>
          <a:bodyPr/>
          <a:lstStyle/>
          <a:p>
            <a:fld id="{CDAA5D42-DABB-49B3-AC2C-C0519D250B16}" type="datetime1">
              <a:rPr lang="zh-CN" altLang="en-US" smtClean="0"/>
              <a:t>2023/3/15</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solidFill>
          <a:srgbClr val="EBF5FC"/>
        </a:solidFill>
        <a:effectLst/>
      </p:bgPr>
    </p:bg>
    <p:spTree>
      <p:nvGrpSpPr>
        <p:cNvPr id="1" name=""/>
        <p:cNvGrpSpPr/>
        <p:nvPr/>
      </p:nvGrpSpPr>
      <p:grpSpPr>
        <a:xfrm>
          <a:off x="0" y="0"/>
          <a:ext cx="0" cy="0"/>
          <a:chOff x="0" y="0"/>
          <a:chExt cx="0" cy="0"/>
        </a:xfrm>
      </p:grpSpPr>
      <p:sp>
        <p:nvSpPr>
          <p:cNvPr id="12" name="矩形 11"/>
          <p:cNvSpPr/>
          <p:nvPr>
            <p:custDataLst>
              <p:tags r:id="rId1"/>
            </p:custDataLst>
          </p:nvPr>
        </p:nvSpPr>
        <p:spPr>
          <a:xfrm>
            <a:off x="0" y="959224"/>
            <a:ext cx="12192000" cy="4939553"/>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3" name="日期占位符 2"/>
          <p:cNvSpPr>
            <a:spLocks noGrp="1"/>
          </p:cNvSpPr>
          <p:nvPr>
            <p:ph type="dt" sz="half" idx="10"/>
            <p:custDataLst>
              <p:tags r:id="rId2"/>
            </p:custDataLst>
          </p:nvPr>
        </p:nvSpPr>
        <p:spPr/>
        <p:txBody>
          <a:bodyPr/>
          <a:lstStyle/>
          <a:p>
            <a:fld id="{F4FCD6FA-4B8D-453D-A37E-4706F5779CB3}" type="datetime1">
              <a:rPr lang="zh-CN" altLang="en-US" smtClean="0"/>
              <a:t>2023/3/15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pic>
        <p:nvPicPr>
          <p:cNvPr id="9" name="图片 8" descr="C:\Users\kingsoft\Desktop\图片7副本.png图片7副本"/>
          <p:cNvPicPr>
            <a:picLocks noChangeAspect="1"/>
          </p:cNvPicPr>
          <p:nvPr>
            <p:custDataLst>
              <p:tags r:id="rId5"/>
            </p:custDataLst>
          </p:nvPr>
        </p:nvPicPr>
        <p:blipFill rotWithShape="1">
          <a:blip r:embed="rId10"/>
          <a:srcRect/>
          <a:stretch>
            <a:fillRect/>
          </a:stretch>
        </p:blipFill>
        <p:spPr>
          <a:xfrm flipH="1">
            <a:off x="8429082" y="4917233"/>
            <a:ext cx="3762917" cy="981917"/>
          </a:xfrm>
          <a:prstGeom prst="rect">
            <a:avLst/>
          </a:prstGeom>
        </p:spPr>
      </p:pic>
      <p:pic>
        <p:nvPicPr>
          <p:cNvPr id="10" name="图片 9" descr="C:\Users\kingsoft\Desktop\图片7副本.png图片7副本"/>
          <p:cNvPicPr>
            <a:picLocks noChangeAspect="1"/>
          </p:cNvPicPr>
          <p:nvPr>
            <p:custDataLst>
              <p:tags r:id="rId6"/>
            </p:custDataLst>
          </p:nvPr>
        </p:nvPicPr>
        <p:blipFill rotWithShape="1">
          <a:blip r:embed="rId11"/>
          <a:srcRect/>
          <a:stretch>
            <a:fillRect/>
          </a:stretch>
        </p:blipFill>
        <p:spPr>
          <a:xfrm rot="10800000" flipH="1">
            <a:off x="0" y="398"/>
            <a:ext cx="4713605" cy="1229995"/>
          </a:xfrm>
          <a:prstGeom prst="rect">
            <a:avLst/>
          </a:prstGeom>
        </p:spPr>
      </p:pic>
      <p:sp>
        <p:nvSpPr>
          <p:cNvPr id="2" name="标题 1"/>
          <p:cNvSpPr>
            <a:spLocks noGrp="1"/>
          </p:cNvSpPr>
          <p:nvPr>
            <p:ph type="title" hasCustomPrompt="1"/>
            <p:custDataLst>
              <p:tags r:id="rId7"/>
            </p:custDataLst>
          </p:nvPr>
        </p:nvSpPr>
        <p:spPr>
          <a:xfrm>
            <a:off x="1522800" y="1339200"/>
            <a:ext cx="9144000" cy="2386800"/>
          </a:xfrm>
        </p:spPr>
        <p:txBody>
          <a:bodyPr anchor="b"/>
          <a:lstStyle>
            <a:lvl1pPr algn="ctr">
              <a:defRPr sz="60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91B5324-626D-4342-A597-0631C30145BE}" type="datetime1">
              <a:rPr lang="zh-CN" altLang="en-US" smtClean="0"/>
              <a:t>2023/3/15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5C098AB-9462-493C-94AD-415F31A87BAE}" type="datetime1">
              <a:rPr lang="zh-CN" altLang="en-US" smtClean="0"/>
              <a:t>2023/3/15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FECD875-0D7F-4438-A8F4-158209222B76}" type="datetime1">
              <a:rPr lang="zh-CN" altLang="en-US" smtClean="0"/>
              <a:t>2023/3/15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A76D196-9D7C-4375-B35D-47F72A8A67F0}" type="datetime1">
              <a:rPr lang="zh-CN" altLang="en-US" smtClean="0"/>
              <a:t>2023/3/15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1CB9A46-E8FD-427A-ADEF-6A635931E616}" type="datetime1">
              <a:rPr lang="zh-CN" altLang="en-US" smtClean="0"/>
              <a:t>2023/3/15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AA2D874-21E3-4A9B-8B53-53B43FDB9350}" type="datetime1">
              <a:rPr lang="zh-CN" altLang="en-US" smtClean="0"/>
              <a:t>2023/3/15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7465F19-B01B-4D86-8928-E000E9EA3C7A}" type="datetime1">
              <a:rPr lang="zh-CN" altLang="en-US" smtClean="0"/>
              <a:t>2023/3/15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A36A25B-13D5-42C9-BC36-9454781D46D2}" type="datetime1">
              <a:rPr lang="zh-CN" altLang="en-US" smtClean="0"/>
              <a:t>2023/3/15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9982" y="-21013"/>
            <a:ext cx="8724035" cy="116915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09982" y="1412776"/>
            <a:ext cx="11296218" cy="466853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7ADFB4F-5362-413A-92A8-2EF8D0A67FB8}" type="datetime1">
              <a:rPr lang="zh-CN" altLang="en-US" smtClean="0"/>
              <a:t>2023/3/15</a:t>
            </a:fld>
            <a:endParaRPr lang="zh-CN" alt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zh-CN" alt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864363318"/>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08" r:id="rId20"/>
    <p:sldLayoutId id="2147483712" r:id="rId21"/>
    <p:sldLayoutId id="2147483714" r:id="rId22"/>
    <p:sldLayoutId id="2147483716" r:id="rId23"/>
    <p:sldLayoutId id="2147483717" r:id="rId24"/>
    <p:sldLayoutId id="2147483718" r:id="rId25"/>
    <p:sldLayoutId id="2147483719" r:id="rId26"/>
    <p:sldLayoutId id="2147483720" r:id="rId27"/>
    <p:sldLayoutId id="2147483721" r:id="rId28"/>
    <p:sldLayoutId id="2147483722" r:id="rId29"/>
    <p:sldLayoutId id="2147483723" r:id="rId30"/>
    <p:sldLayoutId id="2147483724" r:id="rId31"/>
    <p:sldLayoutId id="2147483725" r:id="rId32"/>
    <p:sldLayoutId id="2147483726" r:id="rId33"/>
    <p:sldLayoutId id="2147483727" r:id="rId34"/>
    <p:sldLayoutId id="2147483728" r:id="rId35"/>
    <p:sldLayoutId id="2147483729" r:id="rId36"/>
    <p:sldLayoutId id="2147483730" r:id="rId37"/>
  </p:sldLayoutIdLst>
  <p:hf hdr="0" ftr="0" dt="0"/>
  <p:txStyles>
    <p:titleStyle>
      <a:lvl1pPr algn="l" defTabSz="914400" rtl="0" eaLnBrk="1" latinLnBrk="0" hangingPunct="1">
        <a:lnSpc>
          <a:spcPct val="90000"/>
        </a:lnSpc>
        <a:spcBef>
          <a:spcPct val="0"/>
        </a:spcBef>
        <a:buNone/>
        <a:defRPr sz="4400" b="1" kern="1200" cap="all" baseline="0">
          <a:solidFill>
            <a:schemeClr val="tx1"/>
          </a:solidFill>
          <a:latin typeface="黑体" panose="02010609060101010101" pitchFamily="49" charset="-122"/>
          <a:ea typeface="黑体" panose="02010609060101010101" pitchFamily="49" charset="-122"/>
          <a:cs typeface="+mj-cs"/>
        </a:defRPr>
      </a:lvl1pPr>
    </p:titleStyle>
    <p:body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43.xml"/><Relationship Id="rId2" Type="http://schemas.openxmlformats.org/officeDocument/2006/relationships/slideLayout" Target="../slideLayouts/slideLayout2.xml"/><Relationship Id="rId1" Type="http://schemas.openxmlformats.org/officeDocument/2006/relationships/tags" Target="../tags/tag97.xml"/><Relationship Id="rId6" Type="http://schemas.openxmlformats.org/officeDocument/2006/relationships/slide" Target="slide35.xml"/><Relationship Id="rId5" Type="http://schemas.openxmlformats.org/officeDocument/2006/relationships/slide" Target="slide27.xml"/><Relationship Id="rId4" Type="http://schemas.openxmlformats.org/officeDocument/2006/relationships/slide" Target="slide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9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ags" Target="../tags/tag10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ags" Target="../tags/tag10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ags" Target="../tags/tag102.xml"/></Relationships>
</file>

<file path=ppt/slides/_rels/slide44.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4"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E1A328-B82A-40C2-9D12-E0A11AD4FD8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D18C0B5-3581-4416-8319-33F15C2BC488}"/>
              </a:ext>
            </a:extLst>
          </p:cNvPr>
          <p:cNvSpPr>
            <a:spLocks noGrp="1"/>
          </p:cNvSpPr>
          <p:nvPr>
            <p:ph idx="1"/>
          </p:nvPr>
        </p:nvSpPr>
        <p:spPr/>
        <p:txBody>
          <a:bodyPr>
            <a:normAutofit/>
          </a:bodyPr>
          <a:lstStyle/>
          <a:p>
            <a:pPr marL="0" indent="0">
              <a:buNone/>
            </a:pPr>
            <a:endParaRPr lang="en-US" altLang="zh-CN" sz="4000" dirty="0"/>
          </a:p>
          <a:p>
            <a:pPr marL="0" indent="0">
              <a:buNone/>
            </a:pPr>
            <a:r>
              <a:rPr lang="en-US" altLang="zh-CN" sz="4000" dirty="0"/>
              <a:t>			</a:t>
            </a:r>
            <a:r>
              <a:rPr lang="zh-CN" altLang="en-US" sz="4000" b="1" dirty="0">
                <a:latin typeface="+mj-ea"/>
                <a:ea typeface="+mj-ea"/>
                <a:sym typeface="+mn-ea"/>
              </a:rPr>
              <a:t>第</a:t>
            </a:r>
            <a:r>
              <a:rPr lang="en-US" altLang="zh-CN" sz="4000" b="1" dirty="0">
                <a:latin typeface="+mj-ea"/>
                <a:ea typeface="+mj-ea"/>
                <a:sym typeface="+mn-ea"/>
              </a:rPr>
              <a:t>5</a:t>
            </a:r>
            <a:r>
              <a:rPr lang="zh-CN" altLang="en-US" sz="4000" b="1" dirty="0">
                <a:latin typeface="+mj-ea"/>
                <a:ea typeface="+mj-ea"/>
                <a:sym typeface="+mn-ea"/>
              </a:rPr>
              <a:t>章 循环结构</a:t>
            </a:r>
            <a:endParaRPr lang="zh-CN" altLang="en-US" sz="4000" dirty="0"/>
          </a:p>
        </p:txBody>
      </p:sp>
      <p:sp>
        <p:nvSpPr>
          <p:cNvPr id="4" name="灯片编号占位符 3">
            <a:extLst>
              <a:ext uri="{FF2B5EF4-FFF2-40B4-BE49-F238E27FC236}">
                <a16:creationId xmlns:a16="http://schemas.microsoft.com/office/drawing/2014/main" id="{116B31E4-9FCF-41A5-8696-E656E82E21AD}"/>
              </a:ext>
            </a:extLst>
          </p:cNvPr>
          <p:cNvSpPr>
            <a:spLocks noGrp="1"/>
          </p:cNvSpPr>
          <p:nvPr>
            <p:ph type="sldNum" sz="quarter" idx="12"/>
          </p:nvPr>
        </p:nvSpPr>
        <p:spPr/>
        <p:txBody>
          <a:bodyPr/>
          <a:lstStyle/>
          <a:p>
            <a:fld id="{49AE70B2-8BF9-45C0-BB95-33D1B9D3A854}" type="slidenum">
              <a:rPr lang="zh-CN" altLang="en-US" smtClean="0"/>
              <a:pPr/>
              <a:t>1</a:t>
            </a:fld>
            <a:endParaRPr lang="zh-CN" altLang="en-US"/>
          </a:p>
        </p:txBody>
      </p:sp>
    </p:spTree>
    <p:extLst>
      <p:ext uri="{BB962C8B-B14F-4D97-AF65-F5344CB8AC3E}">
        <p14:creationId xmlns:p14="http://schemas.microsoft.com/office/powerpoint/2010/main" val="4070678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vert="horz" wrap="square" lIns="91440" tIns="45720" rIns="91440" bIns="45720" anchor="ctr">
            <a:normAutofit/>
          </a:bodyPr>
          <a:lstStyle/>
          <a:p>
            <a:pPr algn="ctr">
              <a:buNone/>
            </a:pPr>
            <a:r>
              <a:rPr lang="zh-CN" altLang="en-US" sz="4000" dirty="0"/>
              <a:t>目录</a:t>
            </a:r>
          </a:p>
        </p:txBody>
      </p:sp>
      <p:sp>
        <p:nvSpPr>
          <p:cNvPr id="13315" name="内容占位符 2"/>
          <p:cNvSpPr>
            <a:spLocks noGrp="1"/>
          </p:cNvSpPr>
          <p:nvPr>
            <p:ph idx="1"/>
          </p:nvPr>
        </p:nvSpPr>
        <p:spPr/>
        <p:txBody>
          <a:bodyPr vert="horz" wrap="square" lIns="91440" tIns="45720" rIns="91440" bIns="45720" anchor="t"/>
          <a:lstStyle/>
          <a:p>
            <a:r>
              <a:rPr lang="en-US" altLang="zh-CN" sz="3200" dirty="0"/>
              <a:t>5.1 </a:t>
            </a:r>
            <a:r>
              <a:rPr lang="en-US" altLang="zh-CN" sz="3200" dirty="0">
                <a:solidFill>
                  <a:srgbClr val="F0532B"/>
                </a:solidFill>
                <a:hlinkClick r:id="rId3" action="ppaction://hlinksldjump">
                  <a:extLst>
                    <a:ext uri="{A12FA001-AC4F-418D-AE19-62706E023703}">
                      <ahyp:hlinkClr xmlns:ahyp="http://schemas.microsoft.com/office/drawing/2018/hyperlinkcolor" val="tx"/>
                    </a:ext>
                  </a:extLst>
                </a:hlinkClick>
              </a:rPr>
              <a:t>while</a:t>
            </a:r>
            <a:r>
              <a:rPr sz="3200" dirty="0">
                <a:hlinkClick r:id="rId3" action="ppaction://hlinksldjump">
                  <a:extLst>
                    <a:ext uri="{A12FA001-AC4F-418D-AE19-62706E023703}">
                      <ahyp:hlinkClr xmlns:ahyp="http://schemas.microsoft.com/office/drawing/2018/hyperlinkcolor" val="tx"/>
                    </a:ext>
                  </a:extLst>
                </a:hlinkClick>
              </a:rPr>
              <a:t>循环结构</a:t>
            </a:r>
            <a:endParaRPr lang="zh-CN" altLang="en-US" sz="3200" dirty="0"/>
          </a:p>
          <a:p>
            <a:r>
              <a:rPr lang="en-US" altLang="zh-CN" sz="3200" dirty="0"/>
              <a:t>5.2 </a:t>
            </a:r>
            <a:r>
              <a:rPr lang="en-US" altLang="zh-CN" sz="3200" dirty="0">
                <a:solidFill>
                  <a:srgbClr val="F0532B"/>
                </a:solidFill>
                <a:hlinkClick r:id="rId4" action="ppaction://hlinksldjump">
                  <a:extLst>
                    <a:ext uri="{A12FA001-AC4F-418D-AE19-62706E023703}">
                      <ahyp:hlinkClr xmlns:ahyp="http://schemas.microsoft.com/office/drawing/2018/hyperlinkcolor" val="tx"/>
                    </a:ext>
                  </a:extLst>
                </a:hlinkClick>
              </a:rPr>
              <a:t>for</a:t>
            </a:r>
            <a:r>
              <a:rPr sz="3200" dirty="0">
                <a:hlinkClick r:id="rId4" action="ppaction://hlinksldjump">
                  <a:extLst>
                    <a:ext uri="{A12FA001-AC4F-418D-AE19-62706E023703}">
                      <ahyp:hlinkClr xmlns:ahyp="http://schemas.microsoft.com/office/drawing/2018/hyperlinkcolor" val="tx"/>
                    </a:ext>
                  </a:extLst>
                </a:hlinkClick>
              </a:rPr>
              <a:t>循环结构</a:t>
            </a:r>
            <a:endParaRPr lang="zh-CN" altLang="en-US" sz="3200" dirty="0"/>
          </a:p>
          <a:p>
            <a:r>
              <a:rPr lang="en-US" altLang="zh-CN" sz="3200" dirty="0"/>
              <a:t>5.3 </a:t>
            </a:r>
            <a:r>
              <a:rPr sz="3200" dirty="0">
                <a:hlinkClick r:id="rId5" action="ppaction://hlinksldjump">
                  <a:extLst>
                    <a:ext uri="{A12FA001-AC4F-418D-AE19-62706E023703}">
                      <ahyp:hlinkClr xmlns:ahyp="http://schemas.microsoft.com/office/drawing/2018/hyperlinkcolor" val="tx"/>
                    </a:ext>
                  </a:extLst>
                </a:hlinkClick>
              </a:rPr>
              <a:t>循环控制语句</a:t>
            </a:r>
            <a:endParaRPr lang="zh-CN" altLang="en-US" sz="3200" dirty="0"/>
          </a:p>
          <a:p>
            <a:r>
              <a:rPr lang="en-US" altLang="zh-CN" sz="3200" dirty="0"/>
              <a:t>5.4 </a:t>
            </a:r>
            <a:r>
              <a:rPr sz="3200" dirty="0">
                <a:hlinkClick r:id="rId6" action="ppaction://hlinksldjump">
                  <a:extLst>
                    <a:ext uri="{A12FA001-AC4F-418D-AE19-62706E023703}">
                      <ahyp:hlinkClr xmlns:ahyp="http://schemas.microsoft.com/office/drawing/2018/hyperlinkcolor" val="tx"/>
                    </a:ext>
                  </a:extLst>
                </a:hlinkClick>
              </a:rPr>
              <a:t>循环的嵌套</a:t>
            </a:r>
            <a:endParaRPr lang="zh-CN" altLang="en-US" sz="3200" dirty="0"/>
          </a:p>
          <a:p>
            <a:r>
              <a:rPr lang="en-US" altLang="zh-CN" sz="3200" dirty="0"/>
              <a:t>5.5 </a:t>
            </a:r>
            <a:r>
              <a:rPr sz="3200" dirty="0">
                <a:hlinkClick r:id="rId7" action="ppaction://hlinksldjump">
                  <a:extLst>
                    <a:ext uri="{A12FA001-AC4F-418D-AE19-62706E023703}">
                      <ahyp:hlinkClr xmlns:ahyp="http://schemas.microsoft.com/office/drawing/2018/hyperlinkcolor" val="tx"/>
                    </a:ext>
                  </a:extLst>
                </a:hlinkClick>
              </a:rPr>
              <a:t>循环结构程序举例</a:t>
            </a:r>
            <a:endParaRPr sz="3200" dirty="0"/>
          </a:p>
        </p:txBody>
      </p:sp>
      <p:sp>
        <p:nvSpPr>
          <p:cNvPr id="2" name="灯片编号占位符 1">
            <a:extLst>
              <a:ext uri="{FF2B5EF4-FFF2-40B4-BE49-F238E27FC236}">
                <a16:creationId xmlns:a16="http://schemas.microsoft.com/office/drawing/2014/main" id="{789358E4-924A-4372-A0D5-246F35EEA7F2}"/>
              </a:ext>
            </a:extLst>
          </p:cNvPr>
          <p:cNvSpPr>
            <a:spLocks noGrp="1"/>
          </p:cNvSpPr>
          <p:nvPr>
            <p:ph type="sldNum" sz="quarter" idx="12"/>
          </p:nvPr>
        </p:nvSpPr>
        <p:spPr/>
        <p:txBody>
          <a:bodyPr/>
          <a:lstStyle/>
          <a:p>
            <a:fld id="{49AE70B2-8BF9-45C0-BB95-33D1B9D3A854}" type="slidenum">
              <a:rPr lang="zh-CN" altLang="en-US" smtClean="0"/>
              <a:t>2</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5" name="标题 4"/>
          <p:cNvSpPr>
            <a:spLocks noGrp="1"/>
          </p:cNvSpPr>
          <p:nvPr>
            <p:ph type="ctrTitle"/>
          </p:nvPr>
        </p:nvSpPr>
        <p:spPr/>
        <p:txBody>
          <a:bodyPr/>
          <a:lstStyle/>
          <a:p>
            <a:r>
              <a:rPr lang="en-US" dirty="0">
                <a:latin typeface="+mj-lt"/>
                <a:ea typeface="+mj-ea"/>
                <a:sym typeface="+mn-ea"/>
              </a:rPr>
              <a:t>5.1 while</a:t>
            </a:r>
            <a:r>
              <a:rPr lang="zh-CN" altLang="en-US" dirty="0">
                <a:latin typeface="+mj-lt"/>
                <a:ea typeface="+mj-ea"/>
                <a:sym typeface="+mn-ea"/>
              </a:rPr>
              <a:t>循环结构</a:t>
            </a:r>
          </a:p>
        </p:txBody>
      </p:sp>
      <p:sp>
        <p:nvSpPr>
          <p:cNvPr id="2" name="灯片编号占位符 1">
            <a:extLst>
              <a:ext uri="{FF2B5EF4-FFF2-40B4-BE49-F238E27FC236}">
                <a16:creationId xmlns:a16="http://schemas.microsoft.com/office/drawing/2014/main" id="{1131FDD9-92B9-4BAE-B2E8-2AB2EFB630E9}"/>
              </a:ext>
            </a:extLst>
          </p:cNvPr>
          <p:cNvSpPr>
            <a:spLocks noGrp="1"/>
          </p:cNvSpPr>
          <p:nvPr>
            <p:ph type="sldNum" sz="quarter" idx="12"/>
          </p:nvPr>
        </p:nvSpPr>
        <p:spPr/>
        <p:txBody>
          <a:bodyPr/>
          <a:lstStyle/>
          <a:p>
            <a:fld id="{49AE70B2-8BF9-45C0-BB95-33D1B9D3A854}" type="slidenum">
              <a:rPr lang="zh-CN" altLang="en-US" smtClean="0"/>
              <a:t>3</a:t>
            </a:fld>
            <a:endParaRPr lang="zh-CN" altLang="en-US" dirty="0"/>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while</a:t>
            </a:r>
            <a:r>
              <a:rPr lang="zh-CN" altLang="en-US" dirty="0"/>
              <a:t>循环结构</a:t>
            </a:r>
          </a:p>
        </p:txBody>
      </p:sp>
      <p:sp>
        <p:nvSpPr>
          <p:cNvPr id="3" name="内容占位符 2"/>
          <p:cNvSpPr>
            <a:spLocks noGrp="1"/>
          </p:cNvSpPr>
          <p:nvPr>
            <p:ph idx="1"/>
          </p:nvPr>
        </p:nvSpPr>
        <p:spPr/>
        <p:txBody>
          <a:bodyPr/>
          <a:lstStyle/>
          <a:p>
            <a:r>
              <a:rPr lang="zh-CN" altLang="en-US" dirty="0"/>
              <a:t>根据条件判断是否继续重复执行语句块，</a:t>
            </a:r>
            <a:endParaRPr lang="en-US" altLang="zh-CN" dirty="0"/>
          </a:p>
          <a:p>
            <a:r>
              <a:rPr lang="zh-CN" altLang="en-US" dirty="0"/>
              <a:t>也称“</a:t>
            </a:r>
            <a:r>
              <a:rPr lang="zh-CN" altLang="en-US" b="1" u="sng" dirty="0"/>
              <a:t>条件循环</a:t>
            </a:r>
            <a:r>
              <a:rPr lang="zh-CN" altLang="en-US" dirty="0"/>
              <a:t>”</a:t>
            </a:r>
            <a:endParaRPr lang="en-US" altLang="zh-CN" dirty="0"/>
          </a:p>
          <a:p>
            <a:r>
              <a:rPr lang="zh-CN" altLang="en-US" dirty="0"/>
              <a:t>无论循环次数是否预知，都可以使用</a:t>
            </a:r>
            <a:r>
              <a:rPr lang="en-US" altLang="zh-CN" dirty="0"/>
              <a:t>while</a:t>
            </a:r>
            <a:r>
              <a:rPr lang="zh-CN" altLang="en-US" dirty="0"/>
              <a:t>语句</a:t>
            </a:r>
          </a:p>
          <a:p>
            <a:r>
              <a:rPr lang="en-US" altLang="zh-CN" dirty="0"/>
              <a:t>while</a:t>
            </a:r>
            <a:r>
              <a:rPr lang="zh-CN" altLang="en-US" dirty="0"/>
              <a:t>语句包括两种形式：</a:t>
            </a:r>
          </a:p>
          <a:p>
            <a:pPr lvl="1"/>
            <a:r>
              <a:rPr lang="zh-CN" altLang="en-US" dirty="0"/>
              <a:t>基本</a:t>
            </a:r>
            <a:r>
              <a:rPr lang="en-US" altLang="zh-CN" dirty="0"/>
              <a:t>while</a:t>
            </a:r>
            <a:r>
              <a:rPr lang="zh-CN" altLang="en-US" dirty="0"/>
              <a:t>语句；</a:t>
            </a:r>
          </a:p>
          <a:p>
            <a:pPr lvl="1"/>
            <a:r>
              <a:rPr lang="zh-CN" altLang="en-US" dirty="0"/>
              <a:t>扩展</a:t>
            </a:r>
            <a:r>
              <a:rPr lang="en-US" altLang="zh-CN" dirty="0"/>
              <a:t>while</a:t>
            </a:r>
            <a:r>
              <a:rPr lang="zh-CN" altLang="en-US" dirty="0"/>
              <a:t>语句。</a:t>
            </a:r>
          </a:p>
          <a:p>
            <a:endParaRPr lang="zh-CN" altLang="en-US" dirty="0"/>
          </a:p>
        </p:txBody>
      </p:sp>
      <p:sp>
        <p:nvSpPr>
          <p:cNvPr id="4" name="灯片编号占位符 3">
            <a:extLst>
              <a:ext uri="{FF2B5EF4-FFF2-40B4-BE49-F238E27FC236}">
                <a16:creationId xmlns:a16="http://schemas.microsoft.com/office/drawing/2014/main" id="{30681BC4-DA43-42B6-BADC-D22644836505}"/>
              </a:ext>
            </a:extLst>
          </p:cNvPr>
          <p:cNvSpPr>
            <a:spLocks noGrp="1"/>
          </p:cNvSpPr>
          <p:nvPr>
            <p:ph type="sldNum" sz="quarter" idx="12"/>
          </p:nvPr>
        </p:nvSpPr>
        <p:spPr/>
        <p:txBody>
          <a:bodyPr/>
          <a:lstStyle/>
          <a:p>
            <a:fld id="{49AE70B2-8BF9-45C0-BB95-33D1B9D3A854}" type="slidenum">
              <a:rPr lang="zh-CN" altLang="en-US" smtClean="0"/>
              <a:t>4</a:t>
            </a:fld>
            <a:endParaRPr lang="zh-CN" altLang="en-US"/>
          </a:p>
        </p:txBody>
      </p:sp>
    </p:spTree>
    <p:extLst>
      <p:ext uri="{BB962C8B-B14F-4D97-AF65-F5344CB8AC3E}">
        <p14:creationId xmlns:p14="http://schemas.microsoft.com/office/powerpoint/2010/main" val="595609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基本</a:t>
            </a:r>
            <a:r>
              <a:rPr lang="en-US" altLang="zh-CN" dirty="0"/>
              <a:t>while</a:t>
            </a:r>
            <a:r>
              <a:rPr lang="zh-CN" altLang="zh-CN" dirty="0"/>
              <a:t>语句</a:t>
            </a:r>
            <a:endParaRPr lang="zh-CN" altLang="en-US" dirty="0"/>
          </a:p>
        </p:txBody>
      </p:sp>
      <p:sp>
        <p:nvSpPr>
          <p:cNvPr id="21" name="内容占位符 20"/>
          <p:cNvSpPr>
            <a:spLocks noGrp="1"/>
          </p:cNvSpPr>
          <p:nvPr>
            <p:ph idx="1"/>
          </p:nvPr>
        </p:nvSpPr>
        <p:spPr>
          <a:xfrm>
            <a:off x="669924" y="5186329"/>
            <a:ext cx="11258723" cy="1411023"/>
          </a:xfrm>
        </p:spPr>
        <p:txBody>
          <a:bodyPr>
            <a:noAutofit/>
          </a:bodyPr>
          <a:lstStyle/>
          <a:p>
            <a:r>
              <a:rPr lang="zh-CN" altLang="en-US" sz="2400" dirty="0"/>
              <a:t>有没有可能循环一次都不执行就结束？有，先计算条件表达式，再执行循环体</a:t>
            </a:r>
          </a:p>
          <a:p>
            <a:r>
              <a:rPr lang="zh-CN" altLang="en-US" sz="2400" dirty="0"/>
              <a:t>死循环：若条件表达式永为</a:t>
            </a:r>
            <a:r>
              <a:rPr lang="en-US" altLang="zh-CN" sz="2400" dirty="0"/>
              <a:t>True</a:t>
            </a:r>
            <a:r>
              <a:rPr lang="zh-CN" altLang="en-US" sz="2400" dirty="0"/>
              <a:t>，则循环将无限次的执行下去</a:t>
            </a:r>
          </a:p>
        </p:txBody>
      </p:sp>
      <p:sp>
        <p:nvSpPr>
          <p:cNvPr id="4" name="矩形 3"/>
          <p:cNvSpPr/>
          <p:nvPr/>
        </p:nvSpPr>
        <p:spPr>
          <a:xfrm>
            <a:off x="1534415" y="1101598"/>
            <a:ext cx="5040560" cy="1218403"/>
          </a:xfrm>
          <a:prstGeom prst="rect">
            <a:avLst/>
          </a:prstGeom>
          <a:noFill/>
          <a:ln>
            <a:solidFill>
              <a:srgbClr val="FFFF00"/>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latin typeface="+mj-ea"/>
                <a:ea typeface="+mj-ea"/>
              </a:rPr>
              <a:t>while </a:t>
            </a:r>
            <a:r>
              <a:rPr lang="zh-CN" altLang="en-US" sz="2800" b="1" dirty="0">
                <a:latin typeface="+mj-ea"/>
                <a:ea typeface="+mj-ea"/>
              </a:rPr>
              <a:t>条件表达式</a:t>
            </a:r>
            <a:r>
              <a:rPr lang="en-US" altLang="zh-CN" sz="2800" b="1" dirty="0">
                <a:latin typeface="+mj-ea"/>
                <a:ea typeface="+mj-ea"/>
              </a:rPr>
              <a:t>:</a:t>
            </a:r>
          </a:p>
          <a:p>
            <a:r>
              <a:rPr lang="en-US" altLang="zh-CN" sz="2800" b="1" dirty="0">
                <a:latin typeface="+mj-ea"/>
                <a:ea typeface="+mj-ea"/>
              </a:rPr>
              <a:t>    </a:t>
            </a:r>
            <a:r>
              <a:rPr lang="zh-CN" altLang="en-US" sz="2800" b="1" dirty="0">
                <a:latin typeface="+mj-ea"/>
                <a:ea typeface="+mj-ea"/>
              </a:rPr>
              <a:t>语句块</a:t>
            </a:r>
          </a:p>
        </p:txBody>
      </p:sp>
      <p:cxnSp>
        <p:nvCxnSpPr>
          <p:cNvPr id="6" name="直接连接符 5"/>
          <p:cNvCxnSpPr/>
          <p:nvPr/>
        </p:nvCxnSpPr>
        <p:spPr>
          <a:xfrm>
            <a:off x="4353241" y="5045878"/>
            <a:ext cx="7164000" cy="0"/>
          </a:xfrm>
          <a:prstGeom prst="line">
            <a:avLst/>
          </a:prstGeom>
          <a:ln w="19050">
            <a:solidFill>
              <a:srgbClr val="203864"/>
            </a:solidFill>
            <a:prstDash val="dash"/>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91019" y="2460451"/>
            <a:ext cx="6729117" cy="27687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条件表达式结果等价于</a:t>
            </a:r>
            <a:r>
              <a:rPr lang="en-US" altLang="zh-CN" sz="2400" dirty="0">
                <a:latin typeface="微软雅黑" panose="020B0503020204020204" pitchFamily="34" charset="-122"/>
                <a:ea typeface="微软雅黑" panose="020B0503020204020204" pitchFamily="34" charset="-122"/>
              </a:rPr>
              <a:t>True</a:t>
            </a:r>
            <a:r>
              <a:rPr lang="zh-CN" altLang="en-US" sz="2400" dirty="0">
                <a:latin typeface="微软雅黑" panose="020B0503020204020204" pitchFamily="34" charset="-122"/>
                <a:ea typeface="微软雅黑" panose="020B0503020204020204" pitchFamily="34" charset="-122"/>
              </a:rPr>
              <a:t>，执行语句块，并返回条件处</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条件表达式结果等价于</a:t>
            </a:r>
            <a:r>
              <a:rPr lang="en-US" altLang="zh-CN" sz="2400" dirty="0">
                <a:latin typeface="微软雅黑" panose="020B0503020204020204" pitchFamily="34" charset="-122"/>
                <a:ea typeface="微软雅黑" panose="020B0503020204020204" pitchFamily="34" charset="-122"/>
              </a:rPr>
              <a:t>False</a:t>
            </a:r>
            <a:r>
              <a:rPr lang="zh-CN" altLang="en-US" sz="2400" dirty="0">
                <a:latin typeface="微软雅黑" panose="020B0503020204020204" pitchFamily="34" charset="-122"/>
                <a:ea typeface="微软雅黑" panose="020B0503020204020204" pitchFamily="34" charset="-122"/>
              </a:rPr>
              <a:t>，则循环结束</a:t>
            </a: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所有语句行都应向右缩进对齐</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缩进：一致</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rPr>
              <a:t>冒号</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表达式多数为比较表达式或逻辑表达式</a:t>
            </a:r>
            <a:endParaRPr lang="en-US" altLang="zh-CN" sz="240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0066978A-D498-4731-BCE9-5CA163AF5A5C}"/>
              </a:ext>
            </a:extLst>
          </p:cNvPr>
          <p:cNvSpPr>
            <a:spLocks noGrp="1"/>
          </p:cNvSpPr>
          <p:nvPr>
            <p:ph type="sldNum" sz="quarter" idx="12"/>
          </p:nvPr>
        </p:nvSpPr>
        <p:spPr/>
        <p:txBody>
          <a:bodyPr/>
          <a:lstStyle/>
          <a:p>
            <a:fld id="{49AE70B2-8BF9-45C0-BB95-33D1B9D3A854}" type="slidenum">
              <a:rPr lang="zh-CN" altLang="en-US" smtClean="0"/>
              <a:t>5</a:t>
            </a:fld>
            <a:endParaRPr lang="zh-CN" altLang="en-US"/>
          </a:p>
        </p:txBody>
      </p:sp>
    </p:spTree>
    <p:extLst>
      <p:ext uri="{BB962C8B-B14F-4D97-AF65-F5344CB8AC3E}">
        <p14:creationId xmlns:p14="http://schemas.microsoft.com/office/powerpoint/2010/main" val="1551692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5-1】</a:t>
            </a:r>
            <a:r>
              <a:rPr lang="zh-CN" altLang="en-US" dirty="0"/>
              <a:t>求累加和</a:t>
            </a:r>
            <a:r>
              <a:rPr lang="en-US" altLang="zh-CN" dirty="0"/>
              <a:t>1+2+3+…+100</a:t>
            </a:r>
            <a:endParaRPr lang="zh-CN" altLang="en-US" dirty="0"/>
          </a:p>
        </p:txBody>
      </p:sp>
      <p:sp>
        <p:nvSpPr>
          <p:cNvPr id="3" name="内容占位符 2"/>
          <p:cNvSpPr>
            <a:spLocks noGrp="1"/>
          </p:cNvSpPr>
          <p:nvPr>
            <p:ph idx="1"/>
          </p:nvPr>
        </p:nvSpPr>
        <p:spPr/>
        <p:txBody>
          <a:bodyPr>
            <a:normAutofit/>
          </a:bodyPr>
          <a:lstStyle/>
          <a:p>
            <a:pPr marL="457200" lvl="1" indent="0">
              <a:buNone/>
            </a:pPr>
            <a:r>
              <a:rPr lang="zh-CN" altLang="en-US" dirty="0"/>
              <a:t>步骤：</a:t>
            </a:r>
          </a:p>
          <a:p>
            <a:pPr marL="1371600" lvl="3" indent="-1800000">
              <a:buNone/>
            </a:pPr>
            <a:r>
              <a:rPr lang="en-US" altLang="zh-CN" dirty="0"/>
              <a:t>Step1</a:t>
            </a:r>
            <a:r>
              <a:rPr lang="zh-CN" altLang="en-US" dirty="0"/>
              <a:t>：初始化变量，</a:t>
            </a:r>
            <a:r>
              <a:rPr lang="en-US" altLang="zh-CN" dirty="0" err="1"/>
              <a:t>i</a:t>
            </a:r>
            <a:r>
              <a:rPr lang="en-US" altLang="zh-CN" dirty="0"/>
              <a:t>=1</a:t>
            </a:r>
            <a:r>
              <a:rPr lang="zh-CN" altLang="en-US" dirty="0"/>
              <a:t>，</a:t>
            </a:r>
            <a:r>
              <a:rPr lang="en-US" altLang="zh-CN" dirty="0"/>
              <a:t>sum=0</a:t>
            </a:r>
            <a:r>
              <a:rPr lang="zh-CN" altLang="en-US" dirty="0"/>
              <a:t>。</a:t>
            </a:r>
            <a:r>
              <a:rPr lang="en-US" altLang="zh-CN" dirty="0" err="1"/>
              <a:t>i</a:t>
            </a:r>
            <a:r>
              <a:rPr lang="zh-CN" altLang="en-US" dirty="0"/>
              <a:t>表示被加数</a:t>
            </a:r>
            <a:r>
              <a:rPr lang="en-US" altLang="zh-CN" dirty="0"/>
              <a:t>1~100</a:t>
            </a:r>
            <a:r>
              <a:rPr lang="zh-CN" altLang="en-US" dirty="0"/>
              <a:t>，</a:t>
            </a:r>
            <a:r>
              <a:rPr lang="en-US" altLang="zh-CN" dirty="0"/>
              <a:t>sum</a:t>
            </a:r>
            <a:r>
              <a:rPr lang="zh-CN" altLang="en-US" dirty="0"/>
              <a:t>存放</a:t>
            </a:r>
            <a:r>
              <a:rPr lang="en-US" altLang="zh-CN" dirty="0"/>
              <a:t>1~100</a:t>
            </a:r>
            <a:r>
              <a:rPr lang="zh-CN" altLang="en-US" dirty="0"/>
              <a:t>的累加值。</a:t>
            </a:r>
          </a:p>
          <a:p>
            <a:pPr marL="1371600" lvl="3" indent="-1800000">
              <a:buNone/>
            </a:pPr>
            <a:r>
              <a:rPr lang="en-US" altLang="zh-CN" dirty="0"/>
              <a:t>Step2</a:t>
            </a:r>
            <a:r>
              <a:rPr lang="zh-CN" altLang="en-US" dirty="0"/>
              <a:t>：判断</a:t>
            </a:r>
            <a:r>
              <a:rPr lang="en-US" altLang="zh-CN" dirty="0" err="1"/>
              <a:t>i</a:t>
            </a:r>
            <a:r>
              <a:rPr lang="en-US" altLang="zh-CN" dirty="0"/>
              <a:t>&lt;=100</a:t>
            </a:r>
            <a:r>
              <a:rPr lang="zh-CN" altLang="en-US" dirty="0"/>
              <a:t>的值是否为真，若为真，将</a:t>
            </a:r>
            <a:r>
              <a:rPr lang="en-US" altLang="zh-CN" dirty="0" err="1"/>
              <a:t>i</a:t>
            </a:r>
            <a:r>
              <a:rPr lang="zh-CN" altLang="en-US" dirty="0"/>
              <a:t>累加到</a:t>
            </a:r>
            <a:r>
              <a:rPr lang="en-US" altLang="zh-CN" dirty="0"/>
              <a:t>sum</a:t>
            </a:r>
            <a:r>
              <a:rPr lang="zh-CN" altLang="en-US" dirty="0"/>
              <a:t>，然后</a:t>
            </a:r>
            <a:r>
              <a:rPr lang="en-US" altLang="zh-CN" dirty="0" err="1"/>
              <a:t>i</a:t>
            </a:r>
            <a:r>
              <a:rPr lang="zh-CN" altLang="en-US" dirty="0"/>
              <a:t>加</a:t>
            </a:r>
            <a:r>
              <a:rPr lang="en-US" altLang="zh-CN" dirty="0"/>
              <a:t>1</a:t>
            </a:r>
            <a:r>
              <a:rPr lang="zh-CN" altLang="en-US" dirty="0"/>
              <a:t>。</a:t>
            </a:r>
          </a:p>
          <a:p>
            <a:pPr marL="1371600" lvl="3" indent="-1800000">
              <a:buNone/>
            </a:pPr>
            <a:r>
              <a:rPr lang="en-US" altLang="zh-CN" dirty="0"/>
              <a:t>Step3</a:t>
            </a:r>
            <a:r>
              <a:rPr lang="zh-CN" altLang="en-US" dirty="0"/>
              <a:t>：重复</a:t>
            </a:r>
            <a:r>
              <a:rPr lang="en-US" altLang="zh-CN" dirty="0"/>
              <a:t>Step2</a:t>
            </a:r>
            <a:r>
              <a:rPr lang="zh-CN" altLang="en-US" dirty="0"/>
              <a:t>直到</a:t>
            </a:r>
            <a:r>
              <a:rPr lang="en-US" altLang="zh-CN" dirty="0" err="1"/>
              <a:t>i</a:t>
            </a:r>
            <a:r>
              <a:rPr lang="en-US" altLang="zh-CN" dirty="0"/>
              <a:t>&lt;=100</a:t>
            </a:r>
            <a:r>
              <a:rPr lang="zh-CN" altLang="en-US" dirty="0"/>
              <a:t>为假，退出循环。</a:t>
            </a:r>
          </a:p>
          <a:p>
            <a:pPr marL="1371600" lvl="3" indent="-1800000">
              <a:buNone/>
            </a:pPr>
            <a:r>
              <a:rPr lang="en-US" altLang="zh-CN" dirty="0"/>
              <a:t>Step4</a:t>
            </a:r>
            <a:r>
              <a:rPr lang="zh-CN" altLang="en-US" dirty="0"/>
              <a:t>：输出累加值</a:t>
            </a:r>
            <a:r>
              <a:rPr lang="en-US" altLang="zh-CN" dirty="0"/>
              <a:t>sum</a:t>
            </a:r>
            <a:r>
              <a:rPr lang="zh-CN" altLang="en-US" dirty="0"/>
              <a:t>。</a:t>
            </a:r>
          </a:p>
          <a:p>
            <a:endParaRPr lang="zh-CN" altLang="en-US" dirty="0"/>
          </a:p>
        </p:txBody>
      </p:sp>
      <p:sp>
        <p:nvSpPr>
          <p:cNvPr id="4" name="灯片编号占位符 3">
            <a:extLst>
              <a:ext uri="{FF2B5EF4-FFF2-40B4-BE49-F238E27FC236}">
                <a16:creationId xmlns:a16="http://schemas.microsoft.com/office/drawing/2014/main" id="{678BCA14-D3FD-4B17-9E9A-3D840F1EB9BC}"/>
              </a:ext>
            </a:extLst>
          </p:cNvPr>
          <p:cNvSpPr>
            <a:spLocks noGrp="1"/>
          </p:cNvSpPr>
          <p:nvPr>
            <p:ph type="sldNum" sz="quarter" idx="12"/>
          </p:nvPr>
        </p:nvSpPr>
        <p:spPr/>
        <p:txBody>
          <a:bodyPr/>
          <a:lstStyle/>
          <a:p>
            <a:fld id="{49AE70B2-8BF9-45C0-BB95-33D1B9D3A854}" type="slidenum">
              <a:rPr lang="zh-CN" altLang="en-US" smtClean="0"/>
              <a:t>6</a:t>
            </a:fld>
            <a:endParaRPr lang="zh-CN" altLang="en-US"/>
          </a:p>
        </p:txBody>
      </p:sp>
    </p:spTree>
    <p:extLst>
      <p:ext uri="{BB962C8B-B14F-4D97-AF65-F5344CB8AC3E}">
        <p14:creationId xmlns:p14="http://schemas.microsoft.com/office/powerpoint/2010/main" val="2320464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5-1】</a:t>
            </a:r>
            <a:r>
              <a:rPr lang="zh-CN" altLang="en-US" dirty="0"/>
              <a:t>求累加和</a:t>
            </a:r>
          </a:p>
        </p:txBody>
      </p:sp>
      <p:sp>
        <p:nvSpPr>
          <p:cNvPr id="3" name="内容占位符 2"/>
          <p:cNvSpPr>
            <a:spLocks noGrp="1"/>
          </p:cNvSpPr>
          <p:nvPr>
            <p:ph idx="1"/>
          </p:nvPr>
        </p:nvSpPr>
        <p:spPr>
          <a:xfrm>
            <a:off x="669925" y="1484784"/>
            <a:ext cx="10852150" cy="4248472"/>
          </a:xfrm>
          <a:solidFill>
            <a:schemeClr val="bg1">
              <a:lumMod val="85000"/>
            </a:schemeClr>
          </a:solidFill>
        </p:spPr>
        <p:txBody>
          <a:bodyPr/>
          <a:lstStyle/>
          <a:p>
            <a:pPr marL="0" indent="0">
              <a:buNone/>
            </a:pPr>
            <a:r>
              <a:rPr lang="nn-NO" altLang="zh-CN" dirty="0"/>
              <a:t>#1.	i = 1</a:t>
            </a:r>
          </a:p>
          <a:p>
            <a:pPr marL="0" indent="0">
              <a:buNone/>
            </a:pPr>
            <a:r>
              <a:rPr lang="nn-NO" altLang="zh-CN" dirty="0"/>
              <a:t>#2.	sum = 0</a:t>
            </a:r>
          </a:p>
          <a:p>
            <a:pPr marL="0" indent="0">
              <a:buNone/>
            </a:pPr>
            <a:r>
              <a:rPr lang="nn-NO" altLang="zh-CN" dirty="0"/>
              <a:t>#3.	while i &lt;= 100:</a:t>
            </a:r>
          </a:p>
          <a:p>
            <a:pPr marL="0" indent="0">
              <a:buNone/>
            </a:pPr>
            <a:r>
              <a:rPr lang="nn-NO" altLang="zh-CN" dirty="0"/>
              <a:t>#4.	    sum += i   # sum = sum + i</a:t>
            </a:r>
          </a:p>
          <a:p>
            <a:pPr marL="0" indent="0">
              <a:buNone/>
            </a:pPr>
            <a:r>
              <a:rPr lang="nn-NO" altLang="zh-CN" dirty="0"/>
              <a:t>#5.	    i = i + 1</a:t>
            </a:r>
          </a:p>
          <a:p>
            <a:pPr marL="0" indent="0">
              <a:buNone/>
            </a:pPr>
            <a:r>
              <a:rPr lang="nn-NO" altLang="zh-CN" dirty="0"/>
              <a:t>#6.	print(sum)</a:t>
            </a:r>
          </a:p>
        </p:txBody>
      </p:sp>
      <p:sp>
        <p:nvSpPr>
          <p:cNvPr id="4" name="灯片编号占位符 3">
            <a:extLst>
              <a:ext uri="{FF2B5EF4-FFF2-40B4-BE49-F238E27FC236}">
                <a16:creationId xmlns:a16="http://schemas.microsoft.com/office/drawing/2014/main" id="{7FF26CB6-21A1-4B4E-8084-5459BDCD08EE}"/>
              </a:ext>
            </a:extLst>
          </p:cNvPr>
          <p:cNvSpPr>
            <a:spLocks noGrp="1"/>
          </p:cNvSpPr>
          <p:nvPr>
            <p:ph type="sldNum" sz="quarter" idx="12"/>
          </p:nvPr>
        </p:nvSpPr>
        <p:spPr/>
        <p:txBody>
          <a:bodyPr/>
          <a:lstStyle/>
          <a:p>
            <a:fld id="{49AE70B2-8BF9-45C0-BB95-33D1B9D3A854}" type="slidenum">
              <a:rPr lang="zh-CN" altLang="en-US" smtClean="0"/>
              <a:t>7</a:t>
            </a:fld>
            <a:endParaRPr lang="zh-CN" altLang="en-US"/>
          </a:p>
        </p:txBody>
      </p:sp>
    </p:spTree>
    <p:extLst>
      <p:ext uri="{BB962C8B-B14F-4D97-AF65-F5344CB8AC3E}">
        <p14:creationId xmlns:p14="http://schemas.microsoft.com/office/powerpoint/2010/main" val="2213489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5-2】</a:t>
            </a:r>
            <a:r>
              <a:rPr lang="zh-CN" altLang="en-US" dirty="0"/>
              <a:t>求阶乘</a:t>
            </a:r>
          </a:p>
        </p:txBody>
      </p:sp>
      <p:sp>
        <p:nvSpPr>
          <p:cNvPr id="3" name="内容占位符 2"/>
          <p:cNvSpPr>
            <a:spLocks noGrp="1"/>
          </p:cNvSpPr>
          <p:nvPr>
            <p:ph idx="1"/>
          </p:nvPr>
        </p:nvSpPr>
        <p:spPr/>
        <p:txBody>
          <a:bodyPr>
            <a:normAutofit/>
          </a:bodyPr>
          <a:lstStyle/>
          <a:p>
            <a:r>
              <a:rPr lang="zh-CN" altLang="en-US" dirty="0"/>
              <a:t>编写程序，求令</a:t>
            </a:r>
            <a:r>
              <a:rPr lang="en-US" altLang="zh-CN" dirty="0"/>
              <a:t>1*2*3*…n&gt;=100000</a:t>
            </a:r>
            <a:r>
              <a:rPr lang="zh-CN" altLang="en-US" dirty="0"/>
              <a:t>成立的最小</a:t>
            </a:r>
            <a:r>
              <a:rPr lang="en-US" altLang="zh-CN" dirty="0"/>
              <a:t>n</a:t>
            </a:r>
            <a:r>
              <a:rPr lang="zh-CN" altLang="en-US" dirty="0"/>
              <a:t>值。</a:t>
            </a:r>
          </a:p>
          <a:p>
            <a:pPr marL="1371600" lvl="3" indent="-1800000">
              <a:buNone/>
            </a:pPr>
            <a:r>
              <a:rPr lang="en-US" altLang="zh-CN" dirty="0"/>
              <a:t>Step1</a:t>
            </a:r>
            <a:r>
              <a:rPr lang="zh-CN" altLang="en-US" dirty="0"/>
              <a:t>：定义整型变量</a:t>
            </a:r>
            <a:r>
              <a:rPr lang="en-US" altLang="zh-CN" dirty="0" err="1"/>
              <a:t>i</a:t>
            </a:r>
            <a:r>
              <a:rPr lang="zh-CN" altLang="en-US" dirty="0"/>
              <a:t>，用于存放乘数，定义变量</a:t>
            </a:r>
            <a:r>
              <a:rPr lang="en-US" altLang="zh-CN" dirty="0"/>
              <a:t>r</a:t>
            </a:r>
            <a:r>
              <a:rPr lang="zh-CN" altLang="en-US" dirty="0"/>
              <a:t>存放乘积。</a:t>
            </a:r>
          </a:p>
          <a:p>
            <a:pPr marL="1371600" lvl="3" indent="-1800000">
              <a:buNone/>
            </a:pPr>
            <a:r>
              <a:rPr lang="en-US" altLang="zh-CN" dirty="0"/>
              <a:t>Step2</a:t>
            </a:r>
            <a:r>
              <a:rPr lang="zh-CN" altLang="en-US" dirty="0"/>
              <a:t>：初始化变量，</a:t>
            </a:r>
            <a:r>
              <a:rPr lang="en-US" altLang="zh-CN" dirty="0" err="1"/>
              <a:t>i</a:t>
            </a:r>
            <a:r>
              <a:rPr lang="en-US" altLang="zh-CN" dirty="0"/>
              <a:t>=1</a:t>
            </a:r>
            <a:r>
              <a:rPr lang="zh-CN" altLang="en-US" dirty="0"/>
              <a:t>，</a:t>
            </a:r>
            <a:r>
              <a:rPr lang="en-US" altLang="zh-CN" dirty="0"/>
              <a:t>r=1</a:t>
            </a:r>
            <a:r>
              <a:rPr lang="zh-CN" altLang="en-US" dirty="0"/>
              <a:t>。</a:t>
            </a:r>
          </a:p>
          <a:p>
            <a:pPr marL="1371600" lvl="3" indent="-1800000">
              <a:buNone/>
            </a:pPr>
            <a:r>
              <a:rPr lang="en-US" altLang="zh-CN" dirty="0"/>
              <a:t>Step3</a:t>
            </a:r>
            <a:r>
              <a:rPr lang="zh-CN" altLang="en-US" dirty="0"/>
              <a:t>：判断</a:t>
            </a:r>
            <a:r>
              <a:rPr lang="en-US" altLang="zh-CN" dirty="0"/>
              <a:t>r&lt;100000</a:t>
            </a:r>
            <a:r>
              <a:rPr lang="zh-CN" altLang="en-US" dirty="0"/>
              <a:t>是否为真，若为真，转</a:t>
            </a:r>
            <a:r>
              <a:rPr lang="en-US" altLang="zh-CN" dirty="0"/>
              <a:t>Step4</a:t>
            </a:r>
            <a:r>
              <a:rPr lang="zh-CN" altLang="en-US" dirty="0"/>
              <a:t>，若为假，转</a:t>
            </a:r>
            <a:r>
              <a:rPr lang="en-US" altLang="zh-CN" dirty="0"/>
              <a:t>Step6</a:t>
            </a:r>
            <a:r>
              <a:rPr lang="zh-CN" altLang="en-US" dirty="0"/>
              <a:t>。</a:t>
            </a:r>
          </a:p>
          <a:p>
            <a:pPr marL="1371600" lvl="3" indent="-1800000">
              <a:buNone/>
            </a:pPr>
            <a:r>
              <a:rPr lang="en-US" altLang="zh-CN" dirty="0"/>
              <a:t>Step4</a:t>
            </a:r>
            <a:r>
              <a:rPr lang="zh-CN" altLang="en-US" dirty="0"/>
              <a:t>：将</a:t>
            </a:r>
            <a:r>
              <a:rPr lang="en-US" altLang="zh-CN" dirty="0" err="1"/>
              <a:t>i</a:t>
            </a:r>
            <a:r>
              <a:rPr lang="zh-CN" altLang="en-US" dirty="0"/>
              <a:t>加</a:t>
            </a:r>
            <a:r>
              <a:rPr lang="en-US" altLang="zh-CN" dirty="0"/>
              <a:t>1</a:t>
            </a:r>
            <a:r>
              <a:rPr lang="zh-CN" altLang="en-US" dirty="0"/>
              <a:t>，然后</a:t>
            </a:r>
            <a:r>
              <a:rPr lang="en-US" altLang="zh-CN" dirty="0"/>
              <a:t>r=r*</a:t>
            </a:r>
            <a:r>
              <a:rPr lang="en-US" altLang="zh-CN" dirty="0" err="1"/>
              <a:t>i</a:t>
            </a:r>
            <a:r>
              <a:rPr lang="zh-CN" altLang="en-US" dirty="0"/>
              <a:t>。</a:t>
            </a:r>
          </a:p>
          <a:p>
            <a:pPr marL="1371600" lvl="3" indent="-1800000">
              <a:buNone/>
            </a:pPr>
            <a:r>
              <a:rPr lang="en-US" altLang="zh-CN" dirty="0"/>
              <a:t>Step5</a:t>
            </a:r>
            <a:r>
              <a:rPr lang="zh-CN" altLang="en-US" dirty="0"/>
              <a:t>：转</a:t>
            </a:r>
            <a:r>
              <a:rPr lang="en-US" altLang="zh-CN" dirty="0"/>
              <a:t>Step3</a:t>
            </a:r>
            <a:r>
              <a:rPr lang="zh-CN" altLang="en-US" dirty="0"/>
              <a:t>。</a:t>
            </a:r>
          </a:p>
          <a:p>
            <a:pPr marL="1371600" lvl="3" indent="-1800000">
              <a:buNone/>
            </a:pPr>
            <a:r>
              <a:rPr lang="en-US" altLang="zh-CN" dirty="0"/>
              <a:t>Step6</a:t>
            </a:r>
            <a:r>
              <a:rPr lang="zh-CN" altLang="en-US" dirty="0"/>
              <a:t>：循环结束，输出最后的乘数</a:t>
            </a:r>
            <a:r>
              <a:rPr lang="en-US" altLang="zh-CN" dirty="0" err="1"/>
              <a:t>i</a:t>
            </a:r>
            <a:r>
              <a:rPr lang="zh-CN" altLang="en-US" dirty="0"/>
              <a:t>。</a:t>
            </a:r>
          </a:p>
        </p:txBody>
      </p:sp>
      <p:sp>
        <p:nvSpPr>
          <p:cNvPr id="4" name="灯片编号占位符 3">
            <a:extLst>
              <a:ext uri="{FF2B5EF4-FFF2-40B4-BE49-F238E27FC236}">
                <a16:creationId xmlns:a16="http://schemas.microsoft.com/office/drawing/2014/main" id="{E65BA303-DA4D-41CA-B7A5-056D26261886}"/>
              </a:ext>
            </a:extLst>
          </p:cNvPr>
          <p:cNvSpPr>
            <a:spLocks noGrp="1"/>
          </p:cNvSpPr>
          <p:nvPr>
            <p:ph type="sldNum" sz="quarter" idx="12"/>
          </p:nvPr>
        </p:nvSpPr>
        <p:spPr/>
        <p:txBody>
          <a:bodyPr/>
          <a:lstStyle/>
          <a:p>
            <a:fld id="{49AE70B2-8BF9-45C0-BB95-33D1B9D3A854}" type="slidenum">
              <a:rPr lang="zh-CN" altLang="en-US" smtClean="0"/>
              <a:t>8</a:t>
            </a:fld>
            <a:endParaRPr lang="zh-CN" altLang="en-US"/>
          </a:p>
        </p:txBody>
      </p:sp>
    </p:spTree>
    <p:extLst>
      <p:ext uri="{BB962C8B-B14F-4D97-AF65-F5344CB8AC3E}">
        <p14:creationId xmlns:p14="http://schemas.microsoft.com/office/powerpoint/2010/main" val="1610744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5-2】</a:t>
            </a:r>
            <a:r>
              <a:rPr lang="zh-CN" altLang="en-US" dirty="0"/>
              <a:t>求阶乘</a:t>
            </a:r>
          </a:p>
        </p:txBody>
      </p:sp>
      <p:sp>
        <p:nvSpPr>
          <p:cNvPr id="3" name="内容占位符 2"/>
          <p:cNvSpPr>
            <a:spLocks noGrp="1"/>
          </p:cNvSpPr>
          <p:nvPr>
            <p:ph idx="1"/>
          </p:nvPr>
        </p:nvSpPr>
        <p:spPr>
          <a:xfrm>
            <a:off x="669925" y="1556792"/>
            <a:ext cx="10852150" cy="4176464"/>
          </a:xfrm>
          <a:solidFill>
            <a:schemeClr val="bg1">
              <a:lumMod val="85000"/>
            </a:schemeClr>
          </a:solidFill>
        </p:spPr>
        <p:txBody>
          <a:bodyPr>
            <a:normAutofit/>
          </a:bodyPr>
          <a:lstStyle/>
          <a:p>
            <a:pPr marL="0" indent="0">
              <a:buNone/>
            </a:pPr>
            <a:r>
              <a:rPr lang="pt-BR" altLang="zh-CN" dirty="0"/>
              <a:t>#1.	i = 1</a:t>
            </a:r>
          </a:p>
          <a:p>
            <a:pPr marL="0" indent="0">
              <a:buNone/>
            </a:pPr>
            <a:r>
              <a:rPr lang="pt-BR" altLang="zh-CN" dirty="0"/>
              <a:t>#2.	r = 1</a:t>
            </a:r>
          </a:p>
          <a:p>
            <a:pPr marL="0" indent="0">
              <a:buNone/>
            </a:pPr>
            <a:r>
              <a:rPr lang="pt-BR" altLang="zh-CN" dirty="0"/>
              <a:t>#3.	while r &lt;= 100000:</a:t>
            </a:r>
          </a:p>
          <a:p>
            <a:pPr marL="0" indent="0">
              <a:buNone/>
            </a:pPr>
            <a:r>
              <a:rPr lang="pt-BR" altLang="zh-CN" dirty="0"/>
              <a:t>#4.	    r *= i	 # r=r*i</a:t>
            </a:r>
          </a:p>
          <a:p>
            <a:pPr marL="0" indent="0">
              <a:buNone/>
            </a:pPr>
            <a:r>
              <a:rPr lang="pt-BR" altLang="zh-CN" dirty="0"/>
              <a:t>#5.	    i = i + 1</a:t>
            </a:r>
          </a:p>
          <a:p>
            <a:pPr marL="0" indent="0">
              <a:buNone/>
            </a:pPr>
            <a:r>
              <a:rPr lang="pt-BR" altLang="zh-CN" dirty="0"/>
              <a:t>#6.	print(i)</a:t>
            </a:r>
            <a:endParaRPr lang="zh-CN" altLang="en-US" dirty="0"/>
          </a:p>
        </p:txBody>
      </p:sp>
      <p:sp>
        <p:nvSpPr>
          <p:cNvPr id="4" name="灯片编号占位符 3">
            <a:extLst>
              <a:ext uri="{FF2B5EF4-FFF2-40B4-BE49-F238E27FC236}">
                <a16:creationId xmlns:a16="http://schemas.microsoft.com/office/drawing/2014/main" id="{A636C7F8-EFBF-4B94-B6C8-2FEEBEB70ACE}"/>
              </a:ext>
            </a:extLst>
          </p:cNvPr>
          <p:cNvSpPr>
            <a:spLocks noGrp="1"/>
          </p:cNvSpPr>
          <p:nvPr>
            <p:ph type="sldNum" sz="quarter" idx="12"/>
          </p:nvPr>
        </p:nvSpPr>
        <p:spPr/>
        <p:txBody>
          <a:bodyPr/>
          <a:lstStyle/>
          <a:p>
            <a:fld id="{49AE70B2-8BF9-45C0-BB95-33D1B9D3A854}" type="slidenum">
              <a:rPr lang="zh-CN" altLang="en-US" smtClean="0"/>
              <a:t>9</a:t>
            </a:fld>
            <a:endParaRPr lang="zh-CN" altLang="en-US"/>
          </a:p>
        </p:txBody>
      </p:sp>
    </p:spTree>
    <p:extLst>
      <p:ext uri="{BB962C8B-B14F-4D97-AF65-F5344CB8AC3E}">
        <p14:creationId xmlns:p14="http://schemas.microsoft.com/office/powerpoint/2010/main" val="345021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例</a:t>
            </a:r>
            <a:r>
              <a:rPr lang="en-US" altLang="zh-CN" dirty="0"/>
              <a:t>5-3】</a:t>
            </a:r>
            <a:r>
              <a:rPr lang="zh-CN" altLang="en-US" dirty="0"/>
              <a:t>输入一个整数，求它的各位数字之和。</a:t>
            </a:r>
          </a:p>
        </p:txBody>
      </p:sp>
      <p:sp>
        <p:nvSpPr>
          <p:cNvPr id="3" name="内容占位符 2"/>
          <p:cNvSpPr>
            <a:spLocks noGrp="1"/>
          </p:cNvSpPr>
          <p:nvPr>
            <p:ph idx="1"/>
          </p:nvPr>
        </p:nvSpPr>
        <p:spPr>
          <a:xfrm>
            <a:off x="669925" y="1484784"/>
            <a:ext cx="10852150" cy="4856326"/>
          </a:xfrm>
          <a:solidFill>
            <a:schemeClr val="bg1">
              <a:lumMod val="85000"/>
            </a:schemeClr>
          </a:solidFill>
        </p:spPr>
        <p:txBody>
          <a:bodyPr/>
          <a:lstStyle/>
          <a:p>
            <a:pPr marL="0" indent="0">
              <a:buNone/>
            </a:pPr>
            <a:r>
              <a:rPr lang="pt-BR" altLang="zh-CN" dirty="0"/>
              <a:t>#1.	n = int(input())	</a:t>
            </a:r>
            <a:r>
              <a:rPr lang="en-US" altLang="zh-CN" dirty="0"/>
              <a:t>#</a:t>
            </a:r>
            <a:r>
              <a:rPr lang="zh-CN" altLang="en-US" dirty="0"/>
              <a:t>例如</a:t>
            </a:r>
            <a:r>
              <a:rPr lang="en-US" altLang="zh-CN" dirty="0"/>
              <a:t>n=123</a:t>
            </a:r>
            <a:endParaRPr lang="pt-BR" altLang="zh-CN" dirty="0"/>
          </a:p>
          <a:p>
            <a:pPr marL="0" indent="0">
              <a:buNone/>
            </a:pPr>
            <a:r>
              <a:rPr lang="pt-BR" altLang="zh-CN" dirty="0"/>
              <a:t>#2.	sum = 0</a:t>
            </a:r>
          </a:p>
          <a:p>
            <a:pPr marL="0" indent="0">
              <a:buNone/>
            </a:pPr>
            <a:r>
              <a:rPr lang="pt-BR" altLang="zh-CN" dirty="0"/>
              <a:t>#3.	while n:</a:t>
            </a:r>
          </a:p>
          <a:p>
            <a:pPr marL="0" indent="0">
              <a:buNone/>
            </a:pPr>
            <a:r>
              <a:rPr lang="pt-BR" altLang="zh-CN" dirty="0"/>
              <a:t>#4.	    r = n % 10	# r=123%10=3</a:t>
            </a:r>
          </a:p>
          <a:p>
            <a:pPr marL="0" indent="0">
              <a:buNone/>
            </a:pPr>
            <a:r>
              <a:rPr lang="pt-BR" altLang="zh-CN" dirty="0"/>
              <a:t>#5.	    n = n // 10	# n=123//10=12</a:t>
            </a:r>
          </a:p>
          <a:p>
            <a:pPr marL="0" indent="0">
              <a:buNone/>
            </a:pPr>
            <a:r>
              <a:rPr lang="pt-BR" altLang="zh-CN" dirty="0"/>
              <a:t>#6.	    sum += r		# sum =sum + 3 </a:t>
            </a:r>
          </a:p>
          <a:p>
            <a:pPr marL="0" indent="0">
              <a:buNone/>
            </a:pPr>
            <a:r>
              <a:rPr lang="pt-BR" altLang="zh-CN" dirty="0"/>
              <a:t>#7.	print('sum =', sum)</a:t>
            </a:r>
          </a:p>
        </p:txBody>
      </p:sp>
      <p:sp>
        <p:nvSpPr>
          <p:cNvPr id="4" name="灯片编号占位符 3">
            <a:extLst>
              <a:ext uri="{FF2B5EF4-FFF2-40B4-BE49-F238E27FC236}">
                <a16:creationId xmlns:a16="http://schemas.microsoft.com/office/drawing/2014/main" id="{9503CA94-65E2-4B1F-BD5C-D918CB13928E}"/>
              </a:ext>
            </a:extLst>
          </p:cNvPr>
          <p:cNvSpPr>
            <a:spLocks noGrp="1"/>
          </p:cNvSpPr>
          <p:nvPr>
            <p:ph type="sldNum" sz="quarter" idx="12"/>
          </p:nvPr>
        </p:nvSpPr>
        <p:spPr/>
        <p:txBody>
          <a:bodyPr/>
          <a:lstStyle/>
          <a:p>
            <a:fld id="{49AE70B2-8BF9-45C0-BB95-33D1B9D3A854}" type="slidenum">
              <a:rPr lang="zh-CN" altLang="en-US" smtClean="0"/>
              <a:t>10</a:t>
            </a:fld>
            <a:endParaRPr lang="zh-CN" altLang="en-US"/>
          </a:p>
        </p:txBody>
      </p:sp>
    </p:spTree>
    <p:extLst>
      <p:ext uri="{BB962C8B-B14F-4D97-AF65-F5344CB8AC3E}">
        <p14:creationId xmlns:p14="http://schemas.microsoft.com/office/powerpoint/2010/main" val="2008416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48F0BF-A5AA-4A8C-8F30-B1A8ECB0E42D}"/>
              </a:ext>
            </a:extLst>
          </p:cNvPr>
          <p:cNvSpPr>
            <a:spLocks noGrp="1"/>
          </p:cNvSpPr>
          <p:nvPr>
            <p:ph type="title"/>
          </p:nvPr>
        </p:nvSpPr>
        <p:spPr/>
        <p:txBody>
          <a:bodyPr/>
          <a:lstStyle/>
          <a:p>
            <a:r>
              <a:rPr lang="zh-CN" altLang="en-US" dirty="0"/>
              <a:t>扩展</a:t>
            </a:r>
            <a:r>
              <a:rPr lang="en-US" altLang="zh-CN" dirty="0"/>
              <a:t>while</a:t>
            </a:r>
            <a:r>
              <a:rPr lang="zh-CN" altLang="zh-CN" dirty="0"/>
              <a:t>语句</a:t>
            </a:r>
            <a:endParaRPr lang="zh-CN" altLang="en-US" dirty="0"/>
          </a:p>
        </p:txBody>
      </p:sp>
      <p:sp>
        <p:nvSpPr>
          <p:cNvPr id="3" name="内容占位符 2">
            <a:extLst>
              <a:ext uri="{FF2B5EF4-FFF2-40B4-BE49-F238E27FC236}">
                <a16:creationId xmlns:a16="http://schemas.microsoft.com/office/drawing/2014/main" id="{6670DFC1-CEDC-4D93-95C1-9D0C2D20CE9B}"/>
              </a:ext>
            </a:extLst>
          </p:cNvPr>
          <p:cNvSpPr>
            <a:spLocks noGrp="1"/>
          </p:cNvSpPr>
          <p:nvPr>
            <p:ph idx="1"/>
          </p:nvPr>
        </p:nvSpPr>
        <p:spPr>
          <a:xfrm>
            <a:off x="209982" y="1052736"/>
            <a:ext cx="11772036" cy="5028575"/>
          </a:xfrm>
        </p:spPr>
        <p:txBody>
          <a:bodyPr>
            <a:normAutofit/>
          </a:bodyPr>
          <a:lstStyle/>
          <a:p>
            <a:pPr marL="0" indent="0">
              <a:buNone/>
            </a:pPr>
            <a:r>
              <a:rPr lang="en-US" altLang="zh-CN" sz="2800" dirty="0">
                <a:latin typeface="+mj-ea"/>
                <a:ea typeface="+mj-ea"/>
              </a:rPr>
              <a:t>while </a:t>
            </a:r>
            <a:r>
              <a:rPr lang="zh-CN" altLang="en-US" sz="2800" dirty="0">
                <a:latin typeface="+mj-ea"/>
                <a:ea typeface="+mj-ea"/>
              </a:rPr>
              <a:t>条件表达式</a:t>
            </a:r>
            <a:r>
              <a:rPr lang="en-US" altLang="zh-CN" sz="2800" dirty="0">
                <a:latin typeface="+mj-ea"/>
                <a:ea typeface="+mj-ea"/>
              </a:rPr>
              <a:t>:</a:t>
            </a:r>
          </a:p>
          <a:p>
            <a:pPr marL="0" indent="0">
              <a:buNone/>
            </a:pPr>
            <a:r>
              <a:rPr lang="en-US" altLang="zh-CN" sz="2800" dirty="0">
                <a:latin typeface="+mj-ea"/>
                <a:ea typeface="+mj-ea"/>
              </a:rPr>
              <a:t>    </a:t>
            </a:r>
            <a:r>
              <a:rPr lang="zh-CN" altLang="en-US" sz="2800" dirty="0">
                <a:latin typeface="+mj-ea"/>
                <a:ea typeface="+mj-ea"/>
              </a:rPr>
              <a:t>语句块</a:t>
            </a:r>
            <a:r>
              <a:rPr lang="en-US" altLang="zh-CN" sz="2800" dirty="0">
                <a:latin typeface="+mj-ea"/>
                <a:ea typeface="+mj-ea"/>
              </a:rPr>
              <a:t>1</a:t>
            </a:r>
          </a:p>
          <a:p>
            <a:pPr marL="0" indent="0">
              <a:buNone/>
            </a:pPr>
            <a:r>
              <a:rPr lang="en-US" altLang="zh-CN" sz="2800" dirty="0">
                <a:latin typeface="+mj-ea"/>
                <a:ea typeface="+mj-ea"/>
              </a:rPr>
              <a:t>else:</a:t>
            </a:r>
            <a:endParaRPr lang="zh-CN" altLang="zh-CN" sz="2800" dirty="0">
              <a:latin typeface="+mj-ea"/>
              <a:ea typeface="+mj-ea"/>
            </a:endParaRPr>
          </a:p>
          <a:p>
            <a:pPr marL="0" indent="0">
              <a:buNone/>
            </a:pPr>
            <a:r>
              <a:rPr lang="en-US" altLang="zh-CN" sz="2800" dirty="0">
                <a:latin typeface="+mj-ea"/>
                <a:ea typeface="+mj-ea"/>
              </a:rPr>
              <a:t>    </a:t>
            </a:r>
            <a:r>
              <a:rPr lang="zh-CN" altLang="zh-CN" sz="2800" dirty="0">
                <a:latin typeface="+mj-ea"/>
                <a:ea typeface="+mj-ea"/>
              </a:rPr>
              <a:t>语句块</a:t>
            </a:r>
            <a:r>
              <a:rPr lang="en-US" altLang="zh-CN" sz="2800" dirty="0">
                <a:latin typeface="+mj-ea"/>
                <a:ea typeface="+mj-ea"/>
              </a:rPr>
              <a:t>2</a:t>
            </a:r>
          </a:p>
          <a:p>
            <a:pPr marL="0" indent="0">
              <a:buNone/>
            </a:pPr>
            <a:endParaRPr lang="en-US" altLang="zh-CN" sz="2800" dirty="0">
              <a:latin typeface="+mj-ea"/>
              <a:ea typeface="+mj-ea"/>
            </a:endParaRPr>
          </a:p>
          <a:p>
            <a:r>
              <a:rPr lang="zh-CN" altLang="en-US" sz="3200" dirty="0">
                <a:latin typeface="微软雅黑" panose="020B0503020204020204" pitchFamily="34" charset="-122"/>
                <a:ea typeface="微软雅黑" panose="020B0503020204020204" pitchFamily="34" charset="-122"/>
              </a:rPr>
              <a:t>条件为</a:t>
            </a:r>
            <a:r>
              <a:rPr lang="en-US" altLang="zh-CN" sz="3200" dirty="0">
                <a:latin typeface="微软雅黑" panose="020B0503020204020204" pitchFamily="34" charset="-122"/>
                <a:ea typeface="微软雅黑" panose="020B0503020204020204" pitchFamily="34" charset="-122"/>
              </a:rPr>
              <a:t>False</a:t>
            </a:r>
            <a:r>
              <a:rPr lang="zh-CN" altLang="en-US" sz="3200" dirty="0">
                <a:latin typeface="微软雅黑" panose="020B0503020204020204" pitchFamily="34" charset="-122"/>
                <a:ea typeface="微软雅黑" panose="020B0503020204020204" pitchFamily="34" charset="-122"/>
              </a:rPr>
              <a:t>循环结束，执行</a:t>
            </a:r>
            <a:r>
              <a:rPr lang="en-US" altLang="zh-CN" sz="3200" dirty="0">
                <a:latin typeface="微软雅黑" panose="020B0503020204020204" pitchFamily="34" charset="-122"/>
                <a:ea typeface="微软雅黑" panose="020B0503020204020204" pitchFamily="34" charset="-122"/>
              </a:rPr>
              <a:t>else</a:t>
            </a:r>
          </a:p>
          <a:p>
            <a:r>
              <a:rPr lang="zh-CN" altLang="en-US" sz="3200" dirty="0">
                <a:latin typeface="微软雅黑" panose="020B0503020204020204" pitchFamily="34" charset="-122"/>
                <a:ea typeface="微软雅黑" panose="020B0503020204020204" pitchFamily="34" charset="-122"/>
              </a:rPr>
              <a:t>若执行语句块</a:t>
            </a:r>
            <a:r>
              <a:rPr lang="en-US" altLang="zh-CN" sz="3200" dirty="0">
                <a:latin typeface="微软雅黑" panose="020B0503020204020204" pitchFamily="34" charset="-122"/>
                <a:ea typeface="微软雅黑" panose="020B0503020204020204" pitchFamily="34" charset="-122"/>
              </a:rPr>
              <a:t>1</a:t>
            </a:r>
            <a:r>
              <a:rPr lang="zh-CN" altLang="en-US" sz="3200" dirty="0">
                <a:latin typeface="微软雅黑" panose="020B0503020204020204" pitchFamily="34" charset="-122"/>
                <a:ea typeface="微软雅黑" panose="020B0503020204020204" pitchFamily="34" charset="-122"/>
              </a:rPr>
              <a:t>中的</a:t>
            </a:r>
            <a:r>
              <a:rPr lang="en-US" altLang="zh-CN" sz="3200" dirty="0">
                <a:latin typeface="微软雅黑" panose="020B0503020204020204" pitchFamily="34" charset="-122"/>
                <a:ea typeface="微软雅黑" panose="020B0503020204020204" pitchFamily="34" charset="-122"/>
              </a:rPr>
              <a:t>break</a:t>
            </a:r>
            <a:r>
              <a:rPr lang="zh-CN" altLang="en-US" sz="3200" dirty="0">
                <a:latin typeface="微软雅黑" panose="020B0503020204020204" pitchFamily="34" charset="-122"/>
                <a:ea typeface="微软雅黑" panose="020B0503020204020204" pitchFamily="34" charset="-122"/>
              </a:rPr>
              <a:t>语句，结束循环，则不执行语句块</a:t>
            </a:r>
            <a:r>
              <a:rPr lang="en-US" altLang="zh-CN" sz="3200" dirty="0">
                <a:latin typeface="微软雅黑" panose="020B0503020204020204" pitchFamily="34" charset="-122"/>
                <a:ea typeface="微软雅黑" panose="020B0503020204020204" pitchFamily="34" charset="-122"/>
              </a:rPr>
              <a:t>2</a:t>
            </a:r>
            <a:endParaRPr lang="zh-CN" altLang="en-US" sz="3200" dirty="0">
              <a:latin typeface="微软雅黑" panose="020B0503020204020204" pitchFamily="34" charset="-122"/>
              <a:ea typeface="微软雅黑" panose="020B0503020204020204" pitchFamily="34" charset="-122"/>
            </a:endParaRPr>
          </a:p>
          <a:p>
            <a:r>
              <a:rPr lang="zh-CN" altLang="en-US" sz="3200" dirty="0">
                <a:solidFill>
                  <a:schemeClr val="tx1"/>
                </a:solidFill>
              </a:rPr>
              <a:t>缩进</a:t>
            </a:r>
            <a:r>
              <a:rPr lang="zh-CN" altLang="en-US" dirty="0"/>
              <a:t>一致</a:t>
            </a:r>
            <a:endParaRPr lang="en-US" altLang="zh-CN" sz="3200" dirty="0">
              <a:solidFill>
                <a:schemeClr val="tx1"/>
              </a:solidFill>
            </a:endParaRPr>
          </a:p>
          <a:p>
            <a:r>
              <a:rPr lang="zh-CN" altLang="zh-CN" sz="3200" dirty="0">
                <a:solidFill>
                  <a:schemeClr val="tx1"/>
                </a:solidFill>
              </a:rPr>
              <a:t>冒号</a:t>
            </a:r>
            <a:endParaRPr lang="en-US" altLang="zh-CN" sz="3200" dirty="0">
              <a:solidFill>
                <a:schemeClr val="tx1"/>
              </a:solidFill>
            </a:endParaRPr>
          </a:p>
        </p:txBody>
      </p:sp>
      <p:sp>
        <p:nvSpPr>
          <p:cNvPr id="4" name="灯片编号占位符 3">
            <a:extLst>
              <a:ext uri="{FF2B5EF4-FFF2-40B4-BE49-F238E27FC236}">
                <a16:creationId xmlns:a16="http://schemas.microsoft.com/office/drawing/2014/main" id="{B0DE5020-4E63-48C8-920B-2E4A098205D3}"/>
              </a:ext>
            </a:extLst>
          </p:cNvPr>
          <p:cNvSpPr>
            <a:spLocks noGrp="1"/>
          </p:cNvSpPr>
          <p:nvPr>
            <p:ph type="sldNum" sz="quarter" idx="12"/>
          </p:nvPr>
        </p:nvSpPr>
        <p:spPr/>
        <p:txBody>
          <a:bodyPr/>
          <a:lstStyle/>
          <a:p>
            <a:fld id="{49AE70B2-8BF9-45C0-BB95-33D1B9D3A854}" type="slidenum">
              <a:rPr lang="zh-CN" altLang="en-US" smtClean="0"/>
              <a:pPr/>
              <a:t>11</a:t>
            </a:fld>
            <a:endParaRPr lang="zh-CN" altLang="en-US" dirty="0"/>
          </a:p>
        </p:txBody>
      </p:sp>
    </p:spTree>
    <p:extLst>
      <p:ext uri="{BB962C8B-B14F-4D97-AF65-F5344CB8AC3E}">
        <p14:creationId xmlns:p14="http://schemas.microsoft.com/office/powerpoint/2010/main" val="1029512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5-2】</a:t>
            </a:r>
            <a:r>
              <a:rPr lang="zh-CN" altLang="en-US" dirty="0"/>
              <a:t>求阶乘（另一种写法）</a:t>
            </a:r>
          </a:p>
        </p:txBody>
      </p:sp>
      <p:sp>
        <p:nvSpPr>
          <p:cNvPr id="3" name="内容占位符 2"/>
          <p:cNvSpPr>
            <a:spLocks noGrp="1"/>
          </p:cNvSpPr>
          <p:nvPr>
            <p:ph idx="1"/>
          </p:nvPr>
        </p:nvSpPr>
        <p:spPr>
          <a:xfrm>
            <a:off x="669925" y="1484784"/>
            <a:ext cx="10852150" cy="4856326"/>
          </a:xfrm>
          <a:solidFill>
            <a:schemeClr val="bg1">
              <a:lumMod val="85000"/>
            </a:schemeClr>
          </a:solidFill>
        </p:spPr>
        <p:txBody>
          <a:bodyPr/>
          <a:lstStyle/>
          <a:p>
            <a:pPr marL="0" indent="0">
              <a:buNone/>
            </a:pPr>
            <a:r>
              <a:rPr lang="pt-BR" altLang="zh-CN" dirty="0"/>
              <a:t>#1.	i = 1</a:t>
            </a:r>
          </a:p>
          <a:p>
            <a:pPr marL="0" indent="0">
              <a:buNone/>
            </a:pPr>
            <a:r>
              <a:rPr lang="pt-BR" altLang="zh-CN" dirty="0"/>
              <a:t>#2.	r = 1</a:t>
            </a:r>
          </a:p>
          <a:p>
            <a:pPr marL="0" indent="0">
              <a:buNone/>
            </a:pPr>
            <a:r>
              <a:rPr lang="pt-BR" altLang="zh-CN" dirty="0"/>
              <a:t>#3.	while r &lt;= 100000:</a:t>
            </a:r>
          </a:p>
          <a:p>
            <a:pPr marL="0" indent="0">
              <a:buNone/>
            </a:pPr>
            <a:r>
              <a:rPr lang="pt-BR" altLang="zh-CN" dirty="0"/>
              <a:t>#4.	    r *= i</a:t>
            </a:r>
          </a:p>
          <a:p>
            <a:pPr marL="0" indent="0">
              <a:buNone/>
            </a:pPr>
            <a:r>
              <a:rPr lang="pt-BR" altLang="zh-CN" dirty="0"/>
              <a:t>#5.	    i = i + 1</a:t>
            </a:r>
          </a:p>
          <a:p>
            <a:pPr marL="0" indent="0">
              <a:buNone/>
            </a:pPr>
            <a:r>
              <a:rPr lang="pt-BR" altLang="zh-CN" dirty="0"/>
              <a:t>#6.	else:</a:t>
            </a:r>
          </a:p>
          <a:p>
            <a:pPr marL="0" indent="0">
              <a:buNone/>
            </a:pPr>
            <a:r>
              <a:rPr lang="pt-BR" altLang="zh-CN" dirty="0"/>
              <a:t>#7.	    print(i)</a:t>
            </a:r>
          </a:p>
        </p:txBody>
      </p:sp>
      <p:sp>
        <p:nvSpPr>
          <p:cNvPr id="5" name="灯片编号占位符 4">
            <a:extLst>
              <a:ext uri="{FF2B5EF4-FFF2-40B4-BE49-F238E27FC236}">
                <a16:creationId xmlns:a16="http://schemas.microsoft.com/office/drawing/2014/main" id="{A00C3CD8-0938-4F8A-8E6F-F1AEE1AEB8A0}"/>
              </a:ext>
            </a:extLst>
          </p:cNvPr>
          <p:cNvSpPr>
            <a:spLocks noGrp="1"/>
          </p:cNvSpPr>
          <p:nvPr>
            <p:ph type="sldNum" sz="quarter" idx="12"/>
          </p:nvPr>
        </p:nvSpPr>
        <p:spPr/>
        <p:txBody>
          <a:bodyPr/>
          <a:lstStyle/>
          <a:p>
            <a:fld id="{49AE70B2-8BF9-45C0-BB95-33D1B9D3A854}" type="slidenum">
              <a:rPr lang="zh-CN" altLang="en-US" smtClean="0"/>
              <a:t>12</a:t>
            </a:fld>
            <a:endParaRPr lang="zh-CN" altLang="en-US"/>
          </a:p>
        </p:txBody>
      </p:sp>
    </p:spTree>
    <p:extLst>
      <p:ext uri="{BB962C8B-B14F-4D97-AF65-F5344CB8AC3E}">
        <p14:creationId xmlns:p14="http://schemas.microsoft.com/office/powerpoint/2010/main" val="1030268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a:xfrm>
            <a:off x="1470025" y="2292350"/>
            <a:ext cx="9266555" cy="1151255"/>
          </a:xfrm>
        </p:spPr>
        <p:txBody>
          <a:bodyPr vert="horz" wrap="square" lIns="91440" tIns="45720" rIns="91440" bIns="45720" anchor="b"/>
          <a:lstStyle/>
          <a:p>
            <a:pPr>
              <a:buClrTx/>
              <a:buSzTx/>
              <a:buFontTx/>
              <a:buNone/>
            </a:pPr>
            <a:r>
              <a:rPr lang="en-US" kern="1200" dirty="0">
                <a:latin typeface="+mj-lt"/>
                <a:ea typeface="+mj-ea"/>
                <a:cs typeface="+mj-cs"/>
              </a:rPr>
              <a:t>5.2 </a:t>
            </a:r>
            <a:r>
              <a:rPr lang="en-US" dirty="0" err="1">
                <a:latin typeface="+mj-lt"/>
                <a:ea typeface="+mj-ea"/>
              </a:rPr>
              <a:t>fOR</a:t>
            </a:r>
            <a:r>
              <a:rPr lang="zh-CN" altLang="en-US" kern="1200" dirty="0">
                <a:latin typeface="+mj-lt"/>
                <a:ea typeface="+mj-ea"/>
                <a:cs typeface="+mj-cs"/>
              </a:rPr>
              <a:t>环结构</a:t>
            </a:r>
          </a:p>
        </p:txBody>
      </p:sp>
      <p:sp>
        <p:nvSpPr>
          <p:cNvPr id="2" name="灯片编号占位符 1">
            <a:extLst>
              <a:ext uri="{FF2B5EF4-FFF2-40B4-BE49-F238E27FC236}">
                <a16:creationId xmlns:a16="http://schemas.microsoft.com/office/drawing/2014/main" id="{647867C1-8759-4D19-A68C-39B63CAD9A1A}"/>
              </a:ext>
            </a:extLst>
          </p:cNvPr>
          <p:cNvSpPr>
            <a:spLocks noGrp="1"/>
          </p:cNvSpPr>
          <p:nvPr>
            <p:ph type="sldNum" sz="quarter" idx="12"/>
          </p:nvPr>
        </p:nvSpPr>
        <p:spPr/>
        <p:txBody>
          <a:bodyPr/>
          <a:lstStyle/>
          <a:p>
            <a:fld id="{49AE70B2-8BF9-45C0-BB95-33D1B9D3A854}" type="slidenum">
              <a:rPr lang="zh-CN" altLang="en-US" smtClean="0"/>
              <a:t>13</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for</a:t>
            </a:r>
            <a:r>
              <a:rPr lang="zh-CN" altLang="en-US" dirty="0"/>
              <a:t>循环结构</a:t>
            </a:r>
          </a:p>
        </p:txBody>
      </p:sp>
      <p:sp>
        <p:nvSpPr>
          <p:cNvPr id="3" name="内容占位符 2"/>
          <p:cNvSpPr>
            <a:spLocks noGrp="1"/>
          </p:cNvSpPr>
          <p:nvPr>
            <p:ph idx="1"/>
          </p:nvPr>
        </p:nvSpPr>
        <p:spPr/>
        <p:txBody>
          <a:bodyPr/>
          <a:lstStyle/>
          <a:p>
            <a:r>
              <a:rPr lang="en-US" altLang="zh-CN" dirty="0"/>
              <a:t>for</a:t>
            </a:r>
            <a:r>
              <a:rPr lang="zh-CN" altLang="en-US" dirty="0"/>
              <a:t>循环中，要有序列或可迭代对象参与，</a:t>
            </a:r>
            <a:endParaRPr lang="en-US" altLang="zh-CN" dirty="0"/>
          </a:p>
          <a:p>
            <a:r>
              <a:rPr lang="zh-CN" altLang="en-US" dirty="0"/>
              <a:t>遍历循环：循环对序列的每个元素逐一处理。</a:t>
            </a:r>
          </a:p>
          <a:p>
            <a:r>
              <a:rPr lang="zh-CN" altLang="en-US" dirty="0"/>
              <a:t>适用于：</a:t>
            </a:r>
          </a:p>
          <a:p>
            <a:pPr lvl="1"/>
            <a:r>
              <a:rPr lang="zh-CN" altLang="en-US" dirty="0"/>
              <a:t>循环次数已知；</a:t>
            </a:r>
          </a:p>
          <a:p>
            <a:pPr lvl="1"/>
            <a:r>
              <a:rPr lang="zh-CN" altLang="en-US" dirty="0"/>
              <a:t>需要遍历处理序列中的每个元素。</a:t>
            </a:r>
          </a:p>
          <a:p>
            <a:endParaRPr lang="zh-CN" altLang="en-US" dirty="0"/>
          </a:p>
        </p:txBody>
      </p:sp>
      <p:sp>
        <p:nvSpPr>
          <p:cNvPr id="4" name="灯片编号占位符 3">
            <a:extLst>
              <a:ext uri="{FF2B5EF4-FFF2-40B4-BE49-F238E27FC236}">
                <a16:creationId xmlns:a16="http://schemas.microsoft.com/office/drawing/2014/main" id="{F79A11E1-C684-4FE4-A949-E8E4AF2561DC}"/>
              </a:ext>
            </a:extLst>
          </p:cNvPr>
          <p:cNvSpPr>
            <a:spLocks noGrp="1"/>
          </p:cNvSpPr>
          <p:nvPr>
            <p:ph type="sldNum" sz="quarter" idx="12"/>
          </p:nvPr>
        </p:nvSpPr>
        <p:spPr/>
        <p:txBody>
          <a:bodyPr/>
          <a:lstStyle/>
          <a:p>
            <a:fld id="{49AE70B2-8BF9-45C0-BB95-33D1B9D3A854}" type="slidenum">
              <a:rPr lang="zh-CN" altLang="en-US" smtClean="0"/>
              <a:t>14</a:t>
            </a:fld>
            <a:endParaRPr lang="zh-CN" altLang="en-US"/>
          </a:p>
        </p:txBody>
      </p:sp>
    </p:spTree>
    <p:extLst>
      <p:ext uri="{BB962C8B-B14F-4D97-AF65-F5344CB8AC3E}">
        <p14:creationId xmlns:p14="http://schemas.microsoft.com/office/powerpoint/2010/main" val="3267185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18057D-D0B8-490E-A769-8D3501C92DB1}"/>
              </a:ext>
            </a:extLst>
          </p:cNvPr>
          <p:cNvSpPr>
            <a:spLocks noGrp="1"/>
          </p:cNvSpPr>
          <p:nvPr>
            <p:ph type="title"/>
          </p:nvPr>
        </p:nvSpPr>
        <p:spPr/>
        <p:txBody>
          <a:bodyPr/>
          <a:lstStyle/>
          <a:p>
            <a:r>
              <a:rPr lang="en-US" altLang="zh-CN" dirty="0"/>
              <a:t>for</a:t>
            </a:r>
            <a:r>
              <a:rPr lang="zh-CN" altLang="en-US" dirty="0"/>
              <a:t>语句</a:t>
            </a:r>
          </a:p>
        </p:txBody>
      </p:sp>
      <p:sp>
        <p:nvSpPr>
          <p:cNvPr id="3" name="内容占位符 2">
            <a:extLst>
              <a:ext uri="{FF2B5EF4-FFF2-40B4-BE49-F238E27FC236}">
                <a16:creationId xmlns:a16="http://schemas.microsoft.com/office/drawing/2014/main" id="{A6F4B64D-0478-40B5-96BE-71FC854E1672}"/>
              </a:ext>
            </a:extLst>
          </p:cNvPr>
          <p:cNvSpPr>
            <a:spLocks noGrp="1"/>
          </p:cNvSpPr>
          <p:nvPr>
            <p:ph idx="1"/>
          </p:nvPr>
        </p:nvSpPr>
        <p:spPr>
          <a:xfrm>
            <a:off x="209982" y="1148138"/>
            <a:ext cx="11574650" cy="4933174"/>
          </a:xfrm>
        </p:spPr>
        <p:txBody>
          <a:bodyPr>
            <a:normAutofit fontScale="85000" lnSpcReduction="20000"/>
          </a:bodyPr>
          <a:lstStyle/>
          <a:p>
            <a:pPr marL="0" indent="0">
              <a:buNone/>
            </a:pPr>
            <a:r>
              <a:rPr lang="en-US" altLang="zh-CN" sz="3200" i="1" dirty="0">
                <a:latin typeface="+mj-ea"/>
                <a:ea typeface="+mj-ea"/>
              </a:rPr>
              <a:t>for </a:t>
            </a:r>
            <a:r>
              <a:rPr lang="zh-CN" altLang="en-US" sz="3200" i="1" dirty="0">
                <a:latin typeface="+mj-ea"/>
                <a:ea typeface="+mj-ea"/>
              </a:rPr>
              <a:t>循环变量 </a:t>
            </a:r>
            <a:r>
              <a:rPr lang="en-US" altLang="zh-CN" sz="3200" i="1" dirty="0">
                <a:latin typeface="+mj-ea"/>
                <a:ea typeface="+mj-ea"/>
              </a:rPr>
              <a:t>in </a:t>
            </a:r>
            <a:r>
              <a:rPr lang="zh-CN" altLang="en-US" sz="3200" i="1" dirty="0">
                <a:latin typeface="+mj-ea"/>
                <a:ea typeface="+mj-ea"/>
              </a:rPr>
              <a:t>遍历结构</a:t>
            </a:r>
            <a:r>
              <a:rPr lang="en-US" altLang="zh-CN" sz="3200" i="1" dirty="0">
                <a:latin typeface="+mj-ea"/>
                <a:ea typeface="+mj-ea"/>
              </a:rPr>
              <a:t>:</a:t>
            </a:r>
          </a:p>
          <a:p>
            <a:pPr marL="0" indent="0">
              <a:buNone/>
            </a:pPr>
            <a:r>
              <a:rPr lang="en-US" altLang="zh-CN" sz="3200" i="1" dirty="0">
                <a:latin typeface="+mj-ea"/>
                <a:ea typeface="+mj-ea"/>
              </a:rPr>
              <a:t>    </a:t>
            </a:r>
            <a:r>
              <a:rPr lang="zh-CN" altLang="en-US" sz="3200" i="1" dirty="0">
                <a:latin typeface="+mj-ea"/>
                <a:ea typeface="+mj-ea"/>
              </a:rPr>
              <a:t>语句块</a:t>
            </a:r>
            <a:r>
              <a:rPr lang="en-US" altLang="zh-CN" sz="3200" i="1" dirty="0">
                <a:latin typeface="+mj-ea"/>
                <a:ea typeface="+mj-ea"/>
              </a:rPr>
              <a:t>1</a:t>
            </a:r>
          </a:p>
          <a:p>
            <a:pPr marL="0" indent="0">
              <a:buNone/>
            </a:pPr>
            <a:r>
              <a:rPr lang="en-US" altLang="zh-CN" sz="3200" i="1" dirty="0">
                <a:latin typeface="+mj-ea"/>
                <a:ea typeface="+mj-ea"/>
              </a:rPr>
              <a:t>[else:</a:t>
            </a:r>
          </a:p>
          <a:p>
            <a:pPr marL="0" indent="0">
              <a:buNone/>
            </a:pPr>
            <a:r>
              <a:rPr lang="en-US" altLang="zh-CN" sz="3200" i="1" dirty="0">
                <a:latin typeface="+mj-ea"/>
                <a:ea typeface="+mj-ea"/>
              </a:rPr>
              <a:t>    </a:t>
            </a:r>
            <a:r>
              <a:rPr lang="zh-CN" altLang="en-US" sz="3200" i="1" dirty="0">
                <a:latin typeface="+mj-ea"/>
                <a:ea typeface="+mj-ea"/>
              </a:rPr>
              <a:t>语句块</a:t>
            </a:r>
            <a:r>
              <a:rPr lang="en-US" altLang="zh-CN" sz="3200" i="1" dirty="0">
                <a:latin typeface="+mj-ea"/>
                <a:ea typeface="+mj-ea"/>
              </a:rPr>
              <a:t>2]</a:t>
            </a:r>
          </a:p>
          <a:p>
            <a:pPr marL="0" indent="0">
              <a:buNone/>
            </a:pPr>
            <a:endParaRPr lang="en-US" altLang="zh-CN" sz="3200" i="1" dirty="0">
              <a:latin typeface="+mj-ea"/>
              <a:ea typeface="+mj-ea"/>
            </a:endParaRPr>
          </a:p>
          <a:p>
            <a:r>
              <a:rPr lang="zh-CN" altLang="en-US" sz="3300" dirty="0">
                <a:latin typeface="微软雅黑" panose="020B0503020204020204" pitchFamily="34" charset="-122"/>
                <a:ea typeface="微软雅黑" panose="020B0503020204020204" pitchFamily="34" charset="-122"/>
              </a:rPr>
              <a:t>从遍历结构中逐一提取元素，放入循环变量</a:t>
            </a:r>
            <a:endParaRPr lang="en-US" altLang="zh-CN" sz="3300" dirty="0">
              <a:latin typeface="微软雅黑" panose="020B0503020204020204" pitchFamily="34" charset="-122"/>
              <a:ea typeface="微软雅黑" panose="020B0503020204020204" pitchFamily="34" charset="-122"/>
            </a:endParaRPr>
          </a:p>
          <a:p>
            <a:r>
              <a:rPr lang="zh-CN" altLang="en-US" sz="3300" dirty="0">
                <a:latin typeface="微软雅黑" panose="020B0503020204020204" pitchFamily="34" charset="-122"/>
                <a:ea typeface="微软雅黑" panose="020B0503020204020204" pitchFamily="34" charset="-122"/>
              </a:rPr>
              <a:t>循环次数就是元素的个数</a:t>
            </a:r>
            <a:endParaRPr lang="en-US" altLang="zh-CN" sz="3300" dirty="0">
              <a:latin typeface="微软雅黑" panose="020B0503020204020204" pitchFamily="34" charset="-122"/>
              <a:ea typeface="微软雅黑" panose="020B0503020204020204" pitchFamily="34" charset="-122"/>
            </a:endParaRPr>
          </a:p>
          <a:p>
            <a:r>
              <a:rPr lang="en-US" altLang="zh-CN" sz="3300" dirty="0">
                <a:latin typeface="微软雅黑" panose="020B0503020204020204" pitchFamily="34" charset="-122"/>
                <a:ea typeface="微软雅黑" panose="020B0503020204020204" pitchFamily="34" charset="-122"/>
              </a:rPr>
              <a:t>else</a:t>
            </a:r>
            <a:r>
              <a:rPr lang="zh-CN" altLang="en-US" sz="3300" dirty="0">
                <a:latin typeface="微软雅黑" panose="020B0503020204020204" pitchFamily="34" charset="-122"/>
                <a:ea typeface="微软雅黑" panose="020B0503020204020204" pitchFamily="34" charset="-122"/>
              </a:rPr>
              <a:t>部分为可选项，执行方式和</a:t>
            </a:r>
            <a:r>
              <a:rPr lang="en-US" altLang="zh-CN" sz="3300" dirty="0">
                <a:latin typeface="微软雅黑" panose="020B0503020204020204" pitchFamily="34" charset="-122"/>
                <a:ea typeface="微软雅黑" panose="020B0503020204020204" pitchFamily="34" charset="-122"/>
              </a:rPr>
              <a:t>while</a:t>
            </a:r>
            <a:r>
              <a:rPr lang="zh-CN" altLang="en-US" sz="3300" dirty="0">
                <a:latin typeface="微软雅黑" panose="020B0503020204020204" pitchFamily="34" charset="-122"/>
                <a:ea typeface="微软雅黑" panose="020B0503020204020204" pitchFamily="34" charset="-122"/>
              </a:rPr>
              <a:t>语句类似</a:t>
            </a:r>
            <a:endParaRPr lang="en-US" altLang="zh-CN" sz="3300" dirty="0">
              <a:latin typeface="微软雅黑" panose="020B0503020204020204" pitchFamily="34" charset="-122"/>
              <a:ea typeface="微软雅黑" panose="020B0503020204020204" pitchFamily="34" charset="-122"/>
            </a:endParaRPr>
          </a:p>
          <a:p>
            <a:r>
              <a:rPr lang="zh-CN" altLang="en-US" sz="3300" dirty="0">
                <a:solidFill>
                  <a:schemeClr val="tx1"/>
                </a:solidFill>
              </a:rPr>
              <a:t>缩进一致</a:t>
            </a:r>
            <a:endParaRPr lang="en-US" altLang="zh-CN" sz="3300" dirty="0">
              <a:solidFill>
                <a:schemeClr val="tx1"/>
              </a:solidFill>
            </a:endParaRPr>
          </a:p>
          <a:p>
            <a:r>
              <a:rPr lang="zh-CN" altLang="en-US" sz="3300" dirty="0"/>
              <a:t>冒号</a:t>
            </a:r>
            <a:endParaRPr lang="en-US" altLang="zh-CN" sz="3300" dirty="0"/>
          </a:p>
          <a:p>
            <a:r>
              <a:rPr lang="zh-CN" altLang="en-US" sz="3300" dirty="0"/>
              <a:t>若需指定循环次数，可用</a:t>
            </a:r>
            <a:r>
              <a:rPr lang="en-US" altLang="zh-CN" sz="3300" dirty="0"/>
              <a:t>range</a:t>
            </a:r>
            <a:r>
              <a:rPr lang="zh-CN" altLang="en-US" sz="3300" dirty="0"/>
              <a:t>函数</a:t>
            </a:r>
          </a:p>
        </p:txBody>
      </p:sp>
      <p:sp>
        <p:nvSpPr>
          <p:cNvPr id="4" name="灯片编号占位符 3">
            <a:extLst>
              <a:ext uri="{FF2B5EF4-FFF2-40B4-BE49-F238E27FC236}">
                <a16:creationId xmlns:a16="http://schemas.microsoft.com/office/drawing/2014/main" id="{4D3C064D-0DDF-4DC5-A2AD-0C86EA4B64D0}"/>
              </a:ext>
            </a:extLst>
          </p:cNvPr>
          <p:cNvSpPr>
            <a:spLocks noGrp="1"/>
          </p:cNvSpPr>
          <p:nvPr>
            <p:ph type="sldNum" sz="quarter" idx="12"/>
          </p:nvPr>
        </p:nvSpPr>
        <p:spPr/>
        <p:txBody>
          <a:bodyPr/>
          <a:lstStyle/>
          <a:p>
            <a:fld id="{49AE70B2-8BF9-45C0-BB95-33D1B9D3A854}" type="slidenum">
              <a:rPr lang="zh-CN" altLang="en-US" smtClean="0"/>
              <a:pPr/>
              <a:t>15</a:t>
            </a:fld>
            <a:endParaRPr lang="zh-CN" altLang="en-US" dirty="0"/>
          </a:p>
        </p:txBody>
      </p:sp>
    </p:spTree>
    <p:extLst>
      <p:ext uri="{BB962C8B-B14F-4D97-AF65-F5344CB8AC3E}">
        <p14:creationId xmlns:p14="http://schemas.microsoft.com/office/powerpoint/2010/main" val="303842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8AAEF5-E12C-449C-8748-DF549CADAD5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F44AAEE-4D67-42B6-9B08-287E81966C8E}"/>
              </a:ext>
            </a:extLst>
          </p:cNvPr>
          <p:cNvSpPr>
            <a:spLocks noGrp="1"/>
          </p:cNvSpPr>
          <p:nvPr>
            <p:ph idx="1"/>
          </p:nvPr>
        </p:nvSpPr>
        <p:spPr/>
        <p:txBody>
          <a:bodyPr>
            <a:normAutofit/>
          </a:bodyPr>
          <a:lstStyle/>
          <a:p>
            <a:pPr marL="0" indent="0">
              <a:buNone/>
            </a:pPr>
            <a:r>
              <a:rPr lang="en-US" altLang="zh-CN" dirty="0"/>
              <a:t>[</a:t>
            </a:r>
            <a:r>
              <a:rPr lang="zh-CN" altLang="en-US" dirty="0"/>
              <a:t>例</a:t>
            </a:r>
            <a:r>
              <a:rPr lang="en-US" altLang="zh-CN" dirty="0"/>
              <a:t>]</a:t>
            </a:r>
          </a:p>
          <a:p>
            <a:pPr marL="0" indent="0">
              <a:lnSpc>
                <a:spcPct val="120000"/>
              </a:lnSpc>
              <a:spcAft>
                <a:spcPts val="600"/>
              </a:spcAft>
              <a:buNone/>
            </a:pPr>
            <a:r>
              <a:rPr lang="en-US" altLang="zh-CN" sz="3200" dirty="0"/>
              <a:t>for </a:t>
            </a:r>
            <a:r>
              <a:rPr lang="en-US" altLang="zh-CN" sz="3200" dirty="0" err="1"/>
              <a:t>i</a:t>
            </a:r>
            <a:r>
              <a:rPr lang="en-US" altLang="zh-CN" sz="3200" dirty="0"/>
              <a:t> in [1,2,3]:</a:t>
            </a:r>
          </a:p>
          <a:p>
            <a:pPr marL="0" indent="0">
              <a:lnSpc>
                <a:spcPct val="120000"/>
              </a:lnSpc>
              <a:spcAft>
                <a:spcPts val="600"/>
              </a:spcAft>
              <a:buNone/>
            </a:pPr>
            <a:r>
              <a:rPr lang="en-US" altLang="zh-CN" sz="3200" dirty="0"/>
              <a:t>	    print(</a:t>
            </a:r>
            <a:r>
              <a:rPr lang="en-US" altLang="zh-CN" sz="3200" dirty="0" err="1"/>
              <a:t>i</a:t>
            </a:r>
            <a:r>
              <a:rPr lang="en-US" altLang="zh-CN" sz="3200" dirty="0"/>
              <a:t>, end=' ‘)</a:t>
            </a:r>
          </a:p>
          <a:p>
            <a:pPr marL="0" indent="0">
              <a:lnSpc>
                <a:spcPct val="120000"/>
              </a:lnSpc>
              <a:spcAft>
                <a:spcPts val="600"/>
              </a:spcAft>
              <a:buNone/>
            </a:pPr>
            <a:endParaRPr lang="en-US" altLang="zh-CN" dirty="0"/>
          </a:p>
          <a:p>
            <a:pPr marL="0" indent="0">
              <a:lnSpc>
                <a:spcPct val="120000"/>
              </a:lnSpc>
              <a:spcAft>
                <a:spcPts val="600"/>
              </a:spcAft>
              <a:buNone/>
            </a:pPr>
            <a:r>
              <a:rPr lang="en-US" altLang="zh-CN" dirty="0"/>
              <a:t>==========</a:t>
            </a:r>
            <a:r>
              <a:rPr lang="zh-CN" altLang="en-US" dirty="0"/>
              <a:t>运行结果：</a:t>
            </a:r>
            <a:endParaRPr lang="en-US" altLang="zh-CN" dirty="0"/>
          </a:p>
          <a:p>
            <a:pPr marL="0" indent="0">
              <a:lnSpc>
                <a:spcPct val="120000"/>
              </a:lnSpc>
              <a:spcAft>
                <a:spcPts val="600"/>
              </a:spcAft>
              <a:buNone/>
            </a:pPr>
            <a:r>
              <a:rPr lang="en-US" altLang="zh-CN" dirty="0"/>
              <a:t>1 2 3 </a:t>
            </a:r>
          </a:p>
        </p:txBody>
      </p:sp>
      <p:sp>
        <p:nvSpPr>
          <p:cNvPr id="4" name="灯片编号占位符 3">
            <a:extLst>
              <a:ext uri="{FF2B5EF4-FFF2-40B4-BE49-F238E27FC236}">
                <a16:creationId xmlns:a16="http://schemas.microsoft.com/office/drawing/2014/main" id="{798DB89D-B4CC-49CF-8A3D-34E724357CA5}"/>
              </a:ext>
            </a:extLst>
          </p:cNvPr>
          <p:cNvSpPr>
            <a:spLocks noGrp="1"/>
          </p:cNvSpPr>
          <p:nvPr>
            <p:ph type="sldNum" sz="quarter" idx="12"/>
          </p:nvPr>
        </p:nvSpPr>
        <p:spPr/>
        <p:txBody>
          <a:bodyPr/>
          <a:lstStyle/>
          <a:p>
            <a:fld id="{49AE70B2-8BF9-45C0-BB95-33D1B9D3A854}" type="slidenum">
              <a:rPr lang="zh-CN" altLang="en-US" smtClean="0"/>
              <a:pPr/>
              <a:t>16</a:t>
            </a:fld>
            <a:endParaRPr lang="zh-CN" altLang="en-US" dirty="0"/>
          </a:p>
        </p:txBody>
      </p:sp>
    </p:spTree>
    <p:extLst>
      <p:ext uri="{BB962C8B-B14F-4D97-AF65-F5344CB8AC3E}">
        <p14:creationId xmlns:p14="http://schemas.microsoft.com/office/powerpoint/2010/main" val="1817384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range</a:t>
            </a:r>
            <a:r>
              <a:rPr lang="zh-CN" altLang="en-US" dirty="0"/>
              <a:t>函数的格式</a:t>
            </a:r>
          </a:p>
        </p:txBody>
      </p:sp>
      <p:sp>
        <p:nvSpPr>
          <p:cNvPr id="3" name="内容占位符 2"/>
          <p:cNvSpPr>
            <a:spLocks noGrp="1"/>
          </p:cNvSpPr>
          <p:nvPr>
            <p:ph idx="1"/>
          </p:nvPr>
        </p:nvSpPr>
        <p:spPr>
          <a:xfrm>
            <a:off x="407368" y="2966059"/>
            <a:ext cx="11114707" cy="3703298"/>
          </a:xfrm>
          <a:solidFill>
            <a:schemeClr val="bg1">
              <a:lumMod val="85000"/>
            </a:schemeClr>
          </a:solidFill>
        </p:spPr>
        <p:txBody>
          <a:bodyPr>
            <a:normAutofit fontScale="92500" lnSpcReduction="20000"/>
          </a:bodyPr>
          <a:lstStyle/>
          <a:p>
            <a:pPr marL="0" indent="0">
              <a:buNone/>
            </a:pPr>
            <a:r>
              <a:rPr lang="en-US" altLang="zh-CN" dirty="0"/>
              <a:t>&gt;&gt;&gt; for </a:t>
            </a:r>
            <a:r>
              <a:rPr lang="en-US" altLang="zh-CN" dirty="0" err="1"/>
              <a:t>i</a:t>
            </a:r>
            <a:r>
              <a:rPr lang="en-US" altLang="zh-CN" dirty="0"/>
              <a:t> in range(5):</a:t>
            </a:r>
          </a:p>
          <a:p>
            <a:pPr marL="0" indent="0">
              <a:buNone/>
            </a:pPr>
            <a:r>
              <a:rPr lang="en-US" altLang="zh-CN" dirty="0"/>
              <a:t>	print(</a:t>
            </a:r>
            <a:r>
              <a:rPr lang="en-US" altLang="zh-CN" dirty="0" err="1"/>
              <a:t>i</a:t>
            </a:r>
            <a:r>
              <a:rPr lang="en-US" altLang="zh-CN" dirty="0"/>
              <a:t>)</a:t>
            </a:r>
          </a:p>
          <a:p>
            <a:pPr marL="0" indent="0">
              <a:buNone/>
            </a:pPr>
            <a:r>
              <a:rPr lang="en-US" altLang="zh-CN" dirty="0"/>
              <a:t>========</a:t>
            </a:r>
            <a:r>
              <a:rPr lang="zh-CN" altLang="en-US" dirty="0"/>
              <a:t>运行结果：</a:t>
            </a:r>
            <a:r>
              <a:rPr lang="en-US" altLang="zh-CN" dirty="0"/>
              <a:t>	</a:t>
            </a:r>
          </a:p>
          <a:p>
            <a:pPr marL="0" indent="0">
              <a:buNone/>
            </a:pPr>
            <a:r>
              <a:rPr lang="en-US" altLang="zh-CN" dirty="0"/>
              <a:t>0</a:t>
            </a:r>
          </a:p>
          <a:p>
            <a:pPr marL="0" indent="0">
              <a:buNone/>
            </a:pPr>
            <a:r>
              <a:rPr lang="en-US" altLang="zh-CN" dirty="0"/>
              <a:t>1</a:t>
            </a:r>
          </a:p>
          <a:p>
            <a:pPr marL="0" indent="0">
              <a:buNone/>
            </a:pPr>
            <a:r>
              <a:rPr lang="en-US" altLang="zh-CN" dirty="0"/>
              <a:t>2</a:t>
            </a:r>
          </a:p>
          <a:p>
            <a:pPr marL="0" indent="0">
              <a:buNone/>
            </a:pPr>
            <a:r>
              <a:rPr lang="en-US" altLang="zh-CN" dirty="0"/>
              <a:t>3</a:t>
            </a:r>
          </a:p>
          <a:p>
            <a:pPr marL="0" indent="0">
              <a:buNone/>
            </a:pPr>
            <a:r>
              <a:rPr lang="en-US" altLang="zh-CN" dirty="0"/>
              <a:t>4</a:t>
            </a:r>
          </a:p>
        </p:txBody>
      </p:sp>
      <p:sp>
        <p:nvSpPr>
          <p:cNvPr id="4" name="矩形 3"/>
          <p:cNvSpPr/>
          <p:nvPr/>
        </p:nvSpPr>
        <p:spPr>
          <a:xfrm>
            <a:off x="921214" y="1340768"/>
            <a:ext cx="6480000" cy="55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latin typeface="+mj-ea"/>
                <a:ea typeface="+mj-ea"/>
              </a:rPr>
              <a:t>格式</a:t>
            </a:r>
            <a:r>
              <a:rPr lang="en-US" altLang="zh-CN" sz="2400" dirty="0">
                <a:latin typeface="+mj-ea"/>
                <a:ea typeface="+mj-ea"/>
              </a:rPr>
              <a:t>1</a:t>
            </a:r>
            <a:r>
              <a:rPr lang="zh-CN" altLang="en-US" sz="2400" dirty="0">
                <a:latin typeface="+mj-ea"/>
                <a:ea typeface="+mj-ea"/>
              </a:rPr>
              <a:t>：</a:t>
            </a:r>
            <a:r>
              <a:rPr lang="en-US" altLang="zh-CN" sz="2400" dirty="0">
                <a:latin typeface="+mj-ea"/>
                <a:ea typeface="+mj-ea"/>
              </a:rPr>
              <a:t>range(stop)</a:t>
            </a:r>
          </a:p>
        </p:txBody>
      </p:sp>
      <p:sp>
        <p:nvSpPr>
          <p:cNvPr id="5" name="文本框 4"/>
          <p:cNvSpPr txBox="1"/>
          <p:nvPr/>
        </p:nvSpPr>
        <p:spPr>
          <a:xfrm>
            <a:off x="3071664" y="1919619"/>
            <a:ext cx="8450411" cy="523220"/>
          </a:xfrm>
          <a:prstGeom prst="rect">
            <a:avLst/>
          </a:prstGeom>
          <a:noFill/>
        </p:spPr>
        <p:txBody>
          <a:bodyPr wrap="square" rtlCol="0">
            <a:spAutoFit/>
          </a:bodyPr>
          <a:lstStyle/>
          <a:p>
            <a:pPr algn="r"/>
            <a:r>
              <a:rPr lang="zh-CN" altLang="en-US" sz="2800" dirty="0">
                <a:latin typeface="微软雅黑" panose="020B0503020204020204" pitchFamily="34" charset="-122"/>
                <a:ea typeface="微软雅黑" panose="020B0503020204020204" pitchFamily="34" charset="-122"/>
              </a:rPr>
              <a:t>生成从</a:t>
            </a:r>
            <a:r>
              <a:rPr lang="en-US" altLang="zh-CN" sz="2800" dirty="0">
                <a:latin typeface="微软雅黑" panose="020B0503020204020204" pitchFamily="34" charset="-122"/>
                <a:ea typeface="微软雅黑" panose="020B0503020204020204" pitchFamily="34" charset="-122"/>
              </a:rPr>
              <a:t>0</a:t>
            </a:r>
            <a:r>
              <a:rPr lang="zh-CN" altLang="en-US" sz="2800" dirty="0">
                <a:latin typeface="微软雅黑" panose="020B0503020204020204" pitchFamily="34" charset="-122"/>
                <a:ea typeface="微软雅黑" panose="020B0503020204020204" pitchFamily="34" charset="-122"/>
              </a:rPr>
              <a:t>开始到</a:t>
            </a:r>
            <a:r>
              <a:rPr lang="en-US" altLang="zh-CN" sz="2800" dirty="0">
                <a:latin typeface="微软雅黑" panose="020B0503020204020204" pitchFamily="34" charset="-122"/>
                <a:ea typeface="微软雅黑" panose="020B0503020204020204" pitchFamily="34" charset="-122"/>
              </a:rPr>
              <a:t>stop-1</a:t>
            </a:r>
            <a:r>
              <a:rPr lang="zh-CN" altLang="en-US" sz="2800" dirty="0">
                <a:latin typeface="微软雅黑" panose="020B0503020204020204" pitchFamily="34" charset="-122"/>
                <a:ea typeface="微软雅黑" panose="020B0503020204020204" pitchFamily="34" charset="-122"/>
              </a:rPr>
              <a:t>的连续整数，返回</a:t>
            </a:r>
            <a:r>
              <a:rPr lang="en-US" altLang="zh-CN" sz="2800" dirty="0">
                <a:latin typeface="微软雅黑" panose="020B0503020204020204" pitchFamily="34" charset="-122"/>
                <a:ea typeface="微软雅黑" panose="020B0503020204020204" pitchFamily="34" charset="-122"/>
              </a:rPr>
              <a:t>range</a:t>
            </a:r>
            <a:r>
              <a:rPr lang="zh-CN" altLang="zh-CN" sz="2800" dirty="0">
                <a:latin typeface="微软雅黑" panose="020B0503020204020204" pitchFamily="34" charset="-122"/>
                <a:ea typeface="微软雅黑" panose="020B0503020204020204" pitchFamily="34" charset="-122"/>
              </a:rPr>
              <a:t>对象</a:t>
            </a:r>
            <a:endParaRPr lang="en-US" altLang="zh-CN" sz="2800"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4069851" y="2442839"/>
            <a:ext cx="7452224" cy="0"/>
          </a:xfrm>
          <a:prstGeom prst="line">
            <a:avLst/>
          </a:prstGeom>
          <a:ln w="19050">
            <a:solidFill>
              <a:srgbClr val="203864"/>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069851" y="3849734"/>
            <a:ext cx="7452224" cy="0"/>
          </a:xfrm>
          <a:prstGeom prst="line">
            <a:avLst/>
          </a:prstGeom>
          <a:ln w="19050">
            <a:solidFill>
              <a:srgbClr val="203864"/>
            </a:solidFill>
            <a:prstDash val="dash"/>
          </a:ln>
        </p:spPr>
        <p:style>
          <a:lnRef idx="1">
            <a:schemeClr val="accent1"/>
          </a:lnRef>
          <a:fillRef idx="0">
            <a:schemeClr val="accent1"/>
          </a:fillRef>
          <a:effectRef idx="0">
            <a:schemeClr val="accent1"/>
          </a:effectRef>
          <a:fontRef idx="minor">
            <a:schemeClr val="tx1"/>
          </a:fontRef>
        </p:style>
      </p:cxnSp>
      <p:sp>
        <p:nvSpPr>
          <p:cNvPr id="10" name="灯片编号占位符 9">
            <a:extLst>
              <a:ext uri="{FF2B5EF4-FFF2-40B4-BE49-F238E27FC236}">
                <a16:creationId xmlns:a16="http://schemas.microsoft.com/office/drawing/2014/main" id="{4A26B6F7-004C-4BEC-8A70-A6BB5F21610F}"/>
              </a:ext>
            </a:extLst>
          </p:cNvPr>
          <p:cNvSpPr>
            <a:spLocks noGrp="1"/>
          </p:cNvSpPr>
          <p:nvPr>
            <p:ph type="sldNum" sz="quarter" idx="12"/>
          </p:nvPr>
        </p:nvSpPr>
        <p:spPr/>
        <p:txBody>
          <a:bodyPr/>
          <a:lstStyle/>
          <a:p>
            <a:fld id="{49AE70B2-8BF9-45C0-BB95-33D1B9D3A854}" type="slidenum">
              <a:rPr lang="zh-CN" altLang="en-US" smtClean="0"/>
              <a:t>17</a:t>
            </a:fld>
            <a:endParaRPr lang="zh-CN" altLang="en-US"/>
          </a:p>
        </p:txBody>
      </p:sp>
    </p:spTree>
    <p:extLst>
      <p:ext uri="{BB962C8B-B14F-4D97-AF65-F5344CB8AC3E}">
        <p14:creationId xmlns:p14="http://schemas.microsoft.com/office/powerpoint/2010/main" val="194348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range</a:t>
            </a:r>
            <a:r>
              <a:rPr lang="zh-CN" altLang="en-US" dirty="0"/>
              <a:t>函数的格式</a:t>
            </a:r>
          </a:p>
        </p:txBody>
      </p:sp>
      <p:sp>
        <p:nvSpPr>
          <p:cNvPr id="3" name="内容占位符 2"/>
          <p:cNvSpPr>
            <a:spLocks noGrp="1"/>
          </p:cNvSpPr>
          <p:nvPr>
            <p:ph idx="1"/>
          </p:nvPr>
        </p:nvSpPr>
        <p:spPr>
          <a:xfrm>
            <a:off x="551384" y="2924946"/>
            <a:ext cx="10970691" cy="3744412"/>
          </a:xfrm>
          <a:solidFill>
            <a:schemeClr val="bg1">
              <a:lumMod val="85000"/>
            </a:schemeClr>
          </a:solidFill>
        </p:spPr>
        <p:txBody>
          <a:bodyPr>
            <a:normAutofit lnSpcReduction="10000"/>
          </a:bodyPr>
          <a:lstStyle/>
          <a:p>
            <a:pPr marL="0" indent="0">
              <a:buNone/>
            </a:pPr>
            <a:r>
              <a:rPr lang="en-US" altLang="zh-CN" dirty="0"/>
              <a:t>&gt;&gt;&gt; for </a:t>
            </a:r>
            <a:r>
              <a:rPr lang="en-US" altLang="zh-CN" dirty="0" err="1"/>
              <a:t>i</a:t>
            </a:r>
            <a:r>
              <a:rPr lang="en-US" altLang="zh-CN" dirty="0"/>
              <a:t> in range(3,10,3):</a:t>
            </a:r>
          </a:p>
          <a:p>
            <a:pPr marL="0" indent="0">
              <a:buNone/>
            </a:pPr>
            <a:r>
              <a:rPr lang="en-US" altLang="zh-CN" dirty="0"/>
              <a:t>	   print(</a:t>
            </a:r>
            <a:r>
              <a:rPr lang="en-US" altLang="zh-CN" dirty="0" err="1"/>
              <a:t>i</a:t>
            </a:r>
            <a:r>
              <a:rPr lang="en-US" altLang="zh-CN" dirty="0"/>
              <a:t>)</a:t>
            </a:r>
          </a:p>
          <a:p>
            <a:pPr marL="0" indent="0">
              <a:buNone/>
            </a:pPr>
            <a:endParaRPr lang="en-US" altLang="zh-CN" dirty="0"/>
          </a:p>
          <a:p>
            <a:pPr marL="0" indent="0">
              <a:buNone/>
            </a:pPr>
            <a:r>
              <a:rPr lang="en-US" altLang="zh-CN" dirty="0"/>
              <a:t>======</a:t>
            </a:r>
            <a:r>
              <a:rPr lang="zh-CN" altLang="en-US" dirty="0"/>
              <a:t>运行结果：</a:t>
            </a:r>
            <a:r>
              <a:rPr lang="en-US" altLang="zh-CN" dirty="0"/>
              <a:t>	</a:t>
            </a:r>
          </a:p>
          <a:p>
            <a:pPr marL="0" indent="0">
              <a:buNone/>
            </a:pPr>
            <a:r>
              <a:rPr lang="en-US" altLang="zh-CN" dirty="0"/>
              <a:t>3</a:t>
            </a:r>
          </a:p>
          <a:p>
            <a:pPr marL="0" indent="0">
              <a:buNone/>
            </a:pPr>
            <a:r>
              <a:rPr lang="en-US" altLang="zh-CN" dirty="0"/>
              <a:t>6</a:t>
            </a:r>
          </a:p>
          <a:p>
            <a:pPr marL="0" indent="0">
              <a:buNone/>
            </a:pPr>
            <a:r>
              <a:rPr lang="en-US" altLang="zh-CN" dirty="0"/>
              <a:t>9</a:t>
            </a:r>
          </a:p>
        </p:txBody>
      </p:sp>
      <p:cxnSp>
        <p:nvCxnSpPr>
          <p:cNvPr id="6" name="直接连接符 5"/>
          <p:cNvCxnSpPr/>
          <p:nvPr/>
        </p:nvCxnSpPr>
        <p:spPr>
          <a:xfrm>
            <a:off x="4069851" y="2442839"/>
            <a:ext cx="7452224" cy="0"/>
          </a:xfrm>
          <a:prstGeom prst="line">
            <a:avLst/>
          </a:prstGeom>
          <a:ln w="19050">
            <a:solidFill>
              <a:srgbClr val="203864"/>
            </a:solidFill>
            <a:prstDash val="dash"/>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940348" y="1173475"/>
            <a:ext cx="6480000" cy="61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latin typeface="+mj-ea"/>
                <a:ea typeface="+mj-ea"/>
              </a:rPr>
              <a:t>格式</a:t>
            </a:r>
            <a:r>
              <a:rPr lang="en-US" altLang="zh-CN" sz="2400" dirty="0">
                <a:latin typeface="+mj-ea"/>
                <a:ea typeface="+mj-ea"/>
              </a:rPr>
              <a:t>2</a:t>
            </a:r>
            <a:r>
              <a:rPr lang="zh-CN" altLang="en-US" sz="2400" dirty="0">
                <a:latin typeface="+mj-ea"/>
                <a:ea typeface="+mj-ea"/>
              </a:rPr>
              <a:t>：</a:t>
            </a:r>
            <a:r>
              <a:rPr lang="en-US" altLang="zh-CN" sz="2400" dirty="0">
                <a:latin typeface="+mj-ea"/>
                <a:ea typeface="+mj-ea"/>
              </a:rPr>
              <a:t>range(start, stop[, step])</a:t>
            </a:r>
          </a:p>
        </p:txBody>
      </p:sp>
      <p:sp>
        <p:nvSpPr>
          <p:cNvPr id="8" name="文本框 7"/>
          <p:cNvSpPr txBox="1"/>
          <p:nvPr/>
        </p:nvSpPr>
        <p:spPr>
          <a:xfrm>
            <a:off x="669926" y="1897668"/>
            <a:ext cx="10852150" cy="523220"/>
          </a:xfrm>
          <a:prstGeom prst="rect">
            <a:avLst/>
          </a:prstGeom>
          <a:noFill/>
        </p:spPr>
        <p:txBody>
          <a:bodyPr wrap="square" rtlCol="0">
            <a:spAutoFit/>
          </a:bodyPr>
          <a:lstStyle/>
          <a:p>
            <a:pPr algn="r"/>
            <a:r>
              <a:rPr lang="zh-CN" altLang="en-US" sz="2800" dirty="0">
                <a:latin typeface="微软雅黑" panose="020B0503020204020204" pitchFamily="34" charset="-122"/>
                <a:ea typeface="微软雅黑" panose="020B0503020204020204" pitchFamily="34" charset="-122"/>
              </a:rPr>
              <a:t>生成从</a:t>
            </a:r>
            <a:r>
              <a:rPr lang="en-US" altLang="zh-CN" sz="2800" dirty="0">
                <a:latin typeface="微软雅黑" panose="020B0503020204020204" pitchFamily="34" charset="-122"/>
                <a:ea typeface="微软雅黑" panose="020B0503020204020204" pitchFamily="34" charset="-122"/>
              </a:rPr>
              <a:t>start</a:t>
            </a:r>
            <a:r>
              <a:rPr lang="zh-CN" altLang="en-US" sz="2800" dirty="0">
                <a:latin typeface="微软雅黑" panose="020B0503020204020204" pitchFamily="34" charset="-122"/>
                <a:ea typeface="微软雅黑" panose="020B0503020204020204" pitchFamily="34" charset="-122"/>
              </a:rPr>
              <a:t>开始到</a:t>
            </a:r>
            <a:r>
              <a:rPr lang="en-US" altLang="zh-CN" sz="2800" dirty="0">
                <a:latin typeface="微软雅黑" panose="020B0503020204020204" pitchFamily="34" charset="-122"/>
                <a:ea typeface="微软雅黑" panose="020B0503020204020204" pitchFamily="34" charset="-122"/>
              </a:rPr>
              <a:t>stop-1</a:t>
            </a:r>
            <a:r>
              <a:rPr lang="zh-CN" altLang="en-US" sz="2800" dirty="0">
                <a:latin typeface="微软雅黑" panose="020B0503020204020204" pitchFamily="34" charset="-122"/>
                <a:ea typeface="微软雅黑" panose="020B0503020204020204" pitchFamily="34" charset="-122"/>
              </a:rPr>
              <a:t>的、间隔为</a:t>
            </a:r>
            <a:r>
              <a:rPr lang="en-US" altLang="zh-CN" sz="2800" dirty="0">
                <a:latin typeface="微软雅黑" panose="020B0503020204020204" pitchFamily="34" charset="-122"/>
                <a:ea typeface="微软雅黑" panose="020B0503020204020204" pitchFamily="34" charset="-122"/>
              </a:rPr>
              <a:t>step</a:t>
            </a:r>
            <a:r>
              <a:rPr lang="zh-CN" altLang="en-US" sz="2800" dirty="0">
                <a:latin typeface="微软雅黑" panose="020B0503020204020204" pitchFamily="34" charset="-122"/>
                <a:ea typeface="微软雅黑" panose="020B0503020204020204" pitchFamily="34" charset="-122"/>
              </a:rPr>
              <a:t>的整数，返回</a:t>
            </a:r>
            <a:r>
              <a:rPr lang="en-US" altLang="zh-CN" sz="2800" dirty="0">
                <a:latin typeface="微软雅黑" panose="020B0503020204020204" pitchFamily="34" charset="-122"/>
                <a:ea typeface="微软雅黑" panose="020B0503020204020204" pitchFamily="34" charset="-122"/>
              </a:rPr>
              <a:t>range</a:t>
            </a:r>
            <a:r>
              <a:rPr lang="zh-CN" altLang="zh-CN" sz="2800" dirty="0">
                <a:latin typeface="微软雅黑" panose="020B0503020204020204" pitchFamily="34" charset="-122"/>
                <a:ea typeface="微软雅黑" panose="020B0503020204020204" pitchFamily="34" charset="-122"/>
              </a:rPr>
              <a:t>对象</a:t>
            </a:r>
            <a:endParaRPr lang="en-US" altLang="zh-CN" sz="2800" dirty="0">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4069851" y="3849734"/>
            <a:ext cx="7452224" cy="0"/>
          </a:xfrm>
          <a:prstGeom prst="line">
            <a:avLst/>
          </a:prstGeom>
          <a:ln w="19050">
            <a:solidFill>
              <a:srgbClr val="203864"/>
            </a:solidFill>
            <a:prstDash val="dash"/>
          </a:ln>
        </p:spPr>
        <p:style>
          <a:lnRef idx="1">
            <a:schemeClr val="accent1"/>
          </a:lnRef>
          <a:fillRef idx="0">
            <a:schemeClr val="accent1"/>
          </a:fillRef>
          <a:effectRef idx="0">
            <a:schemeClr val="accent1"/>
          </a:effectRef>
          <a:fontRef idx="minor">
            <a:schemeClr val="tx1"/>
          </a:fontRef>
        </p:style>
      </p:cxnSp>
      <p:sp>
        <p:nvSpPr>
          <p:cNvPr id="10" name="灯片编号占位符 9">
            <a:extLst>
              <a:ext uri="{FF2B5EF4-FFF2-40B4-BE49-F238E27FC236}">
                <a16:creationId xmlns:a16="http://schemas.microsoft.com/office/drawing/2014/main" id="{4A26B6F7-004C-4BEC-8A70-A6BB5F21610F}"/>
              </a:ext>
            </a:extLst>
          </p:cNvPr>
          <p:cNvSpPr>
            <a:spLocks noGrp="1"/>
          </p:cNvSpPr>
          <p:nvPr>
            <p:ph type="sldNum" sz="quarter" idx="12"/>
          </p:nvPr>
        </p:nvSpPr>
        <p:spPr/>
        <p:txBody>
          <a:bodyPr/>
          <a:lstStyle/>
          <a:p>
            <a:fld id="{49AE70B2-8BF9-45C0-BB95-33D1B9D3A854}" type="slidenum">
              <a:rPr lang="zh-CN" altLang="en-US" smtClean="0"/>
              <a:t>18</a:t>
            </a:fld>
            <a:endParaRPr lang="zh-CN" altLang="en-US"/>
          </a:p>
        </p:txBody>
      </p:sp>
    </p:spTree>
    <p:extLst>
      <p:ext uri="{BB962C8B-B14F-4D97-AF65-F5344CB8AC3E}">
        <p14:creationId xmlns:p14="http://schemas.microsoft.com/office/powerpoint/2010/main" val="567920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9925" y="3140968"/>
            <a:ext cx="10538643" cy="302433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normAutofit/>
          </a:bodyPr>
          <a:lstStyle/>
          <a:p>
            <a:r>
              <a:rPr lang="zh-CN" altLang="en-US" dirty="0"/>
              <a:t>关于</a:t>
            </a:r>
            <a:r>
              <a:rPr lang="en-US" altLang="zh-CN" dirty="0"/>
              <a:t>for</a:t>
            </a:r>
            <a:r>
              <a:rPr lang="zh-CN" altLang="en-US" dirty="0"/>
              <a:t>循环的循环变量</a:t>
            </a:r>
          </a:p>
        </p:txBody>
      </p:sp>
      <p:sp>
        <p:nvSpPr>
          <p:cNvPr id="3" name="内容占位符 2"/>
          <p:cNvSpPr>
            <a:spLocks noGrp="1"/>
          </p:cNvSpPr>
          <p:nvPr>
            <p:ph idx="1"/>
          </p:nvPr>
        </p:nvSpPr>
        <p:spPr/>
        <p:txBody>
          <a:bodyPr>
            <a:normAutofit fontScale="92500" lnSpcReduction="20000"/>
          </a:bodyPr>
          <a:lstStyle/>
          <a:p>
            <a:r>
              <a:rPr lang="zh-CN" altLang="en-US" dirty="0"/>
              <a:t>循环变量是序列当前元素值的复制</a:t>
            </a:r>
            <a:endParaRPr lang="en-US" altLang="zh-CN" dirty="0"/>
          </a:p>
          <a:p>
            <a:pPr lvl="1"/>
            <a:r>
              <a:rPr lang="zh-CN" altLang="en-US" dirty="0"/>
              <a:t>修改循环变量的值，无法改变序列的值</a:t>
            </a:r>
            <a:endParaRPr lang="en-US" altLang="zh-CN" dirty="0"/>
          </a:p>
          <a:p>
            <a:pPr lvl="1"/>
            <a:r>
              <a:rPr lang="zh-CN" altLang="en-US" dirty="0"/>
              <a:t>循环变量的变化次数是恒定不变的</a:t>
            </a:r>
            <a:endParaRPr lang="en-US" altLang="zh-CN" dirty="0"/>
          </a:p>
          <a:p>
            <a:pPr marL="0" indent="0">
              <a:lnSpc>
                <a:spcPct val="120000"/>
              </a:lnSpc>
              <a:spcAft>
                <a:spcPts val="600"/>
              </a:spcAft>
              <a:buNone/>
            </a:pPr>
            <a:r>
              <a:rPr lang="en-US" altLang="zh-CN" sz="2600" dirty="0"/>
              <a:t> 	x = [1, 2]</a:t>
            </a:r>
          </a:p>
          <a:p>
            <a:pPr marL="0" indent="0">
              <a:lnSpc>
                <a:spcPct val="120000"/>
              </a:lnSpc>
              <a:spcAft>
                <a:spcPts val="600"/>
              </a:spcAft>
              <a:buNone/>
            </a:pPr>
            <a:r>
              <a:rPr lang="en-US" altLang="zh-CN" sz="2600" dirty="0"/>
              <a:t> 	for I in x:</a:t>
            </a:r>
          </a:p>
          <a:p>
            <a:pPr marL="0" indent="0">
              <a:lnSpc>
                <a:spcPct val="120000"/>
              </a:lnSpc>
              <a:spcAft>
                <a:spcPts val="600"/>
              </a:spcAft>
              <a:buNone/>
            </a:pPr>
            <a:r>
              <a:rPr lang="en-US" altLang="zh-CN" sz="2600" dirty="0"/>
              <a:t>		print(</a:t>
            </a:r>
            <a:r>
              <a:rPr lang="en-US" altLang="zh-CN" sz="2600" dirty="0" err="1"/>
              <a:t>I,end</a:t>
            </a:r>
            <a:r>
              <a:rPr lang="en-US" altLang="zh-CN" sz="2600" dirty="0"/>
              <a:t>=‘ ’)</a:t>
            </a:r>
          </a:p>
          <a:p>
            <a:pPr marL="0" indent="0">
              <a:lnSpc>
                <a:spcPct val="120000"/>
              </a:lnSpc>
              <a:spcAft>
                <a:spcPts val="600"/>
              </a:spcAft>
              <a:buNone/>
            </a:pPr>
            <a:r>
              <a:rPr lang="en-US" altLang="zh-CN" sz="2600" dirty="0"/>
              <a:t>		I = i-3</a:t>
            </a:r>
          </a:p>
          <a:p>
            <a:pPr marL="0" indent="0">
              <a:lnSpc>
                <a:spcPct val="120000"/>
              </a:lnSpc>
              <a:spcAft>
                <a:spcPts val="600"/>
              </a:spcAft>
              <a:buNone/>
            </a:pPr>
            <a:r>
              <a:rPr lang="en-US" altLang="zh-CN" sz="2600" dirty="0"/>
              <a:t>		print(</a:t>
            </a:r>
            <a:r>
              <a:rPr lang="en-US" altLang="zh-CN" sz="2600" dirty="0" err="1"/>
              <a:t>i</a:t>
            </a:r>
            <a:r>
              <a:rPr lang="en-US" altLang="zh-CN" sz="2600" dirty="0"/>
              <a:t>)</a:t>
            </a:r>
          </a:p>
          <a:p>
            <a:pPr marL="0" indent="0">
              <a:lnSpc>
                <a:spcPct val="120000"/>
              </a:lnSpc>
              <a:spcAft>
                <a:spcPts val="600"/>
              </a:spcAft>
              <a:buNone/>
            </a:pPr>
            <a:r>
              <a:rPr lang="en-US" altLang="zh-CN" sz="2600" dirty="0"/>
              <a:t>	print(x)</a:t>
            </a:r>
          </a:p>
        </p:txBody>
      </p:sp>
      <p:sp>
        <p:nvSpPr>
          <p:cNvPr id="6" name="灯片编号占位符 5">
            <a:extLst>
              <a:ext uri="{FF2B5EF4-FFF2-40B4-BE49-F238E27FC236}">
                <a16:creationId xmlns:a16="http://schemas.microsoft.com/office/drawing/2014/main" id="{1F325F3E-1B4E-42A3-92FE-E68E9B419659}"/>
              </a:ext>
            </a:extLst>
          </p:cNvPr>
          <p:cNvSpPr>
            <a:spLocks noGrp="1"/>
          </p:cNvSpPr>
          <p:nvPr>
            <p:ph type="sldNum" sz="quarter" idx="12"/>
          </p:nvPr>
        </p:nvSpPr>
        <p:spPr/>
        <p:txBody>
          <a:bodyPr/>
          <a:lstStyle/>
          <a:p>
            <a:fld id="{49AE70B2-8BF9-45C0-BB95-33D1B9D3A854}" type="slidenum">
              <a:rPr lang="zh-CN" altLang="en-US" smtClean="0"/>
              <a:t>19</a:t>
            </a:fld>
            <a:endParaRPr lang="zh-CN" altLang="en-US"/>
          </a:p>
        </p:txBody>
      </p:sp>
      <p:pic>
        <p:nvPicPr>
          <p:cNvPr id="8" name="图片 7">
            <a:extLst>
              <a:ext uri="{FF2B5EF4-FFF2-40B4-BE49-F238E27FC236}">
                <a16:creationId xmlns:a16="http://schemas.microsoft.com/office/drawing/2014/main" id="{522C3E42-A0FC-4189-A297-2EF68229B8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8091" y="3429000"/>
            <a:ext cx="2541458" cy="2304256"/>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3688813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9982" y="-21013"/>
            <a:ext cx="10852150" cy="1169150"/>
          </a:xfrm>
        </p:spPr>
        <p:txBody>
          <a:bodyPr>
            <a:normAutofit/>
          </a:bodyPr>
          <a:lstStyle/>
          <a:p>
            <a:r>
              <a:rPr lang="en-US" altLang="zh-CN" dirty="0"/>
              <a:t>for</a:t>
            </a:r>
            <a:r>
              <a:rPr lang="zh-CN" altLang="en-US" dirty="0"/>
              <a:t>循环中序列元素增加或减少（</a:t>
            </a:r>
            <a:r>
              <a:rPr lang="en-US" altLang="zh-CN" dirty="0"/>
              <a:t>1</a:t>
            </a:r>
            <a:r>
              <a:rPr lang="zh-CN" altLang="en-US" dirty="0"/>
              <a:t>）</a:t>
            </a:r>
          </a:p>
        </p:txBody>
      </p:sp>
      <p:sp>
        <p:nvSpPr>
          <p:cNvPr id="3" name="内容占位符 2"/>
          <p:cNvSpPr>
            <a:spLocks noGrp="1"/>
          </p:cNvSpPr>
          <p:nvPr>
            <p:ph idx="1"/>
          </p:nvPr>
        </p:nvSpPr>
        <p:spPr>
          <a:xfrm>
            <a:off x="335360" y="1196752"/>
            <a:ext cx="11186715" cy="5144358"/>
          </a:xfrm>
          <a:solidFill>
            <a:schemeClr val="bg1">
              <a:lumMod val="85000"/>
            </a:schemeClr>
          </a:solidFill>
        </p:spPr>
        <p:txBody>
          <a:bodyPr>
            <a:normAutofit/>
          </a:bodyPr>
          <a:lstStyle/>
          <a:p>
            <a:pPr marL="0" indent="0">
              <a:buNone/>
            </a:pPr>
            <a:r>
              <a:rPr lang="en-US" altLang="zh-CN" sz="2800" dirty="0"/>
              <a:t>#1.	x = [1, 2, 3, 4]</a:t>
            </a:r>
          </a:p>
          <a:p>
            <a:pPr marL="0" indent="0">
              <a:buNone/>
            </a:pPr>
            <a:r>
              <a:rPr lang="en-US" altLang="zh-CN" sz="2800" dirty="0"/>
              <a:t>#2.	for </a:t>
            </a:r>
            <a:r>
              <a:rPr lang="en-US" altLang="zh-CN" sz="2800" dirty="0" err="1"/>
              <a:t>i</a:t>
            </a:r>
            <a:r>
              <a:rPr lang="en-US" altLang="zh-CN" sz="2800" dirty="0"/>
              <a:t> in x:</a:t>
            </a:r>
          </a:p>
          <a:p>
            <a:pPr marL="0" indent="0">
              <a:buNone/>
            </a:pPr>
            <a:r>
              <a:rPr lang="en-US" altLang="zh-CN" sz="2800" dirty="0"/>
              <a:t>#3.	    print(</a:t>
            </a:r>
            <a:r>
              <a:rPr lang="en-US" altLang="zh-CN" sz="2800" dirty="0" err="1"/>
              <a:t>i</a:t>
            </a:r>
            <a:r>
              <a:rPr lang="en-US" altLang="zh-CN" sz="2800" dirty="0"/>
              <a:t>, end=' ')</a:t>
            </a:r>
          </a:p>
          <a:p>
            <a:pPr marL="0" indent="0">
              <a:buNone/>
            </a:pPr>
            <a:r>
              <a:rPr lang="en-US" altLang="zh-CN" sz="2800" dirty="0"/>
              <a:t>#4.	    print(</a:t>
            </a:r>
            <a:r>
              <a:rPr lang="en-US" altLang="zh-CN" sz="2800" dirty="0" err="1"/>
              <a:t>x.pop</a:t>
            </a:r>
            <a:r>
              <a:rPr lang="en-US" altLang="zh-CN" sz="2800" dirty="0"/>
              <a:t>())  </a:t>
            </a:r>
          </a:p>
          <a:p>
            <a:pPr marL="0" indent="0">
              <a:buNone/>
            </a:pPr>
            <a:r>
              <a:rPr lang="en-US" altLang="zh-CN" sz="2800" dirty="0"/>
              <a:t>           #</a:t>
            </a:r>
            <a:r>
              <a:rPr lang="zh-CN" altLang="en-US" sz="2800" dirty="0"/>
              <a:t>列表的</a:t>
            </a:r>
            <a:r>
              <a:rPr lang="en-US" altLang="zh-CN" sz="2800" dirty="0"/>
              <a:t>pop</a:t>
            </a:r>
            <a:r>
              <a:rPr lang="zh-CN" altLang="en-US" sz="2800" dirty="0"/>
              <a:t>方法将默认移除后一个元素，并返回该元素</a:t>
            </a:r>
            <a:endParaRPr lang="en-US" altLang="zh-CN" sz="2800" dirty="0"/>
          </a:p>
          <a:p>
            <a:pPr marL="0" indent="0">
              <a:buNone/>
            </a:pPr>
            <a:r>
              <a:rPr lang="en-US" altLang="zh-CN" sz="2800" dirty="0"/>
              <a:t>#5.	    print(x)</a:t>
            </a:r>
          </a:p>
          <a:p>
            <a:pPr marL="0" indent="0">
              <a:buNone/>
            </a:pPr>
            <a:r>
              <a:rPr lang="en-US" altLang="zh-CN" sz="2800" dirty="0"/>
              <a:t>#6.	print('The loop end!')</a:t>
            </a:r>
          </a:p>
          <a:p>
            <a:pPr marL="0" indent="0">
              <a:buNone/>
            </a:pPr>
            <a:r>
              <a:rPr lang="en-US" altLang="zh-CN" sz="2800" dirty="0"/>
              <a:t>#7.	print(x)</a:t>
            </a:r>
          </a:p>
        </p:txBody>
      </p:sp>
      <p:sp>
        <p:nvSpPr>
          <p:cNvPr id="5" name="灯片编号占位符 4">
            <a:extLst>
              <a:ext uri="{FF2B5EF4-FFF2-40B4-BE49-F238E27FC236}">
                <a16:creationId xmlns:a16="http://schemas.microsoft.com/office/drawing/2014/main" id="{BD5D5378-B7FE-451F-B91A-A690F5F84D7B}"/>
              </a:ext>
            </a:extLst>
          </p:cNvPr>
          <p:cNvSpPr>
            <a:spLocks noGrp="1"/>
          </p:cNvSpPr>
          <p:nvPr>
            <p:ph type="sldNum" sz="quarter" idx="12"/>
          </p:nvPr>
        </p:nvSpPr>
        <p:spPr/>
        <p:txBody>
          <a:bodyPr/>
          <a:lstStyle/>
          <a:p>
            <a:fld id="{49AE70B2-8BF9-45C0-BB95-33D1B9D3A854}" type="slidenum">
              <a:rPr lang="zh-CN" altLang="en-US" smtClean="0"/>
              <a:t>20</a:t>
            </a:fld>
            <a:endParaRPr lang="zh-CN" altLang="en-US"/>
          </a:p>
        </p:txBody>
      </p:sp>
      <p:pic>
        <p:nvPicPr>
          <p:cNvPr id="9" name="图片 8">
            <a:extLst>
              <a:ext uri="{FF2B5EF4-FFF2-40B4-BE49-F238E27FC236}">
                <a16:creationId xmlns:a16="http://schemas.microsoft.com/office/drawing/2014/main" id="{2D217414-9205-4E1A-B1BA-C8A75C0B9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43462" y="4149080"/>
            <a:ext cx="2448272" cy="2544471"/>
          </a:xfrm>
          <a:prstGeom prst="rect">
            <a:avLst/>
          </a:prstGeom>
        </p:spPr>
      </p:pic>
    </p:spTree>
    <p:extLst>
      <p:ext uri="{BB962C8B-B14F-4D97-AF65-F5344CB8AC3E}">
        <p14:creationId xmlns:p14="http://schemas.microsoft.com/office/powerpoint/2010/main" val="2674502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for</a:t>
            </a:r>
            <a:r>
              <a:rPr lang="zh-CN" altLang="en-US" dirty="0"/>
              <a:t>循环中序列元素增加或减少（</a:t>
            </a:r>
            <a:r>
              <a:rPr lang="en-US" altLang="zh-CN" dirty="0"/>
              <a:t>2</a:t>
            </a:r>
            <a:r>
              <a:rPr lang="zh-CN" altLang="en-US" dirty="0"/>
              <a:t>）</a:t>
            </a:r>
          </a:p>
        </p:txBody>
      </p:sp>
      <p:sp>
        <p:nvSpPr>
          <p:cNvPr id="3" name="内容占位符 2"/>
          <p:cNvSpPr>
            <a:spLocks noGrp="1"/>
          </p:cNvSpPr>
          <p:nvPr>
            <p:ph idx="1"/>
          </p:nvPr>
        </p:nvSpPr>
        <p:spPr>
          <a:xfrm>
            <a:off x="333610" y="1268760"/>
            <a:ext cx="11188465" cy="5072350"/>
          </a:xfrm>
          <a:solidFill>
            <a:schemeClr val="bg1">
              <a:lumMod val="85000"/>
            </a:schemeClr>
          </a:solidFill>
        </p:spPr>
        <p:txBody>
          <a:bodyPr>
            <a:normAutofit/>
          </a:bodyPr>
          <a:lstStyle/>
          <a:p>
            <a:pPr marL="0" indent="0">
              <a:buNone/>
            </a:pPr>
            <a:r>
              <a:rPr lang="en-US" altLang="zh-CN" dirty="0"/>
              <a:t>#1.	x = [1, 2]</a:t>
            </a:r>
          </a:p>
          <a:p>
            <a:pPr marL="0" indent="0">
              <a:buNone/>
            </a:pPr>
            <a:r>
              <a:rPr lang="en-US" altLang="zh-CN" dirty="0"/>
              <a:t>#2.	for </a:t>
            </a:r>
            <a:r>
              <a:rPr lang="en-US" altLang="zh-CN" dirty="0" err="1"/>
              <a:t>i</a:t>
            </a:r>
            <a:r>
              <a:rPr lang="en-US" altLang="zh-CN" dirty="0"/>
              <a:t> in x:</a:t>
            </a:r>
          </a:p>
          <a:p>
            <a:pPr marL="0" indent="0">
              <a:buNone/>
            </a:pPr>
            <a:r>
              <a:rPr lang="en-US" altLang="zh-CN" dirty="0"/>
              <a:t>#3.	    print(</a:t>
            </a:r>
            <a:r>
              <a:rPr lang="en-US" altLang="zh-CN" dirty="0" err="1"/>
              <a:t>i</a:t>
            </a:r>
            <a:r>
              <a:rPr lang="en-US" altLang="zh-CN" dirty="0"/>
              <a:t>, end=' ')</a:t>
            </a:r>
          </a:p>
          <a:p>
            <a:pPr marL="0" indent="0">
              <a:buNone/>
            </a:pPr>
            <a:r>
              <a:rPr lang="en-US" altLang="zh-CN" dirty="0"/>
              <a:t>#4.	    if </a:t>
            </a:r>
            <a:r>
              <a:rPr lang="en-US" altLang="zh-CN" dirty="0" err="1"/>
              <a:t>i</a:t>
            </a:r>
            <a:r>
              <a:rPr lang="en-US" altLang="zh-CN" dirty="0"/>
              <a:t> != 5:  </a:t>
            </a:r>
          </a:p>
          <a:p>
            <a:pPr marL="0" indent="0">
              <a:buNone/>
            </a:pPr>
            <a:r>
              <a:rPr lang="en-US" altLang="zh-CN" dirty="0"/>
              <a:t>            </a:t>
            </a:r>
            <a:r>
              <a:rPr lang="en-US" altLang="zh-CN" dirty="0" err="1"/>
              <a:t>x.append</a:t>
            </a:r>
            <a:r>
              <a:rPr lang="en-US" altLang="zh-CN" dirty="0"/>
              <a:t>(5) </a:t>
            </a:r>
            <a:r>
              <a:rPr lang="en-US" altLang="zh-CN" dirty="0">
                <a:solidFill>
                  <a:srgbClr val="FF0000"/>
                </a:solidFill>
              </a:rPr>
              <a:t>#</a:t>
            </a:r>
            <a:r>
              <a:rPr lang="zh-CN" altLang="en-US" dirty="0">
                <a:solidFill>
                  <a:srgbClr val="FF0000"/>
                </a:solidFill>
              </a:rPr>
              <a:t>列表原地增加元素</a:t>
            </a:r>
          </a:p>
          <a:p>
            <a:pPr marL="0" indent="0">
              <a:buNone/>
            </a:pPr>
            <a:r>
              <a:rPr lang="en-US" altLang="zh-CN" dirty="0"/>
              <a:t>#5.	    print(x)</a:t>
            </a:r>
          </a:p>
          <a:p>
            <a:pPr marL="0" indent="0">
              <a:buNone/>
            </a:pPr>
            <a:r>
              <a:rPr lang="en-US" altLang="zh-CN" dirty="0"/>
              <a:t>#6.	print('The loop end!')</a:t>
            </a:r>
          </a:p>
          <a:p>
            <a:pPr marL="0" indent="0">
              <a:buNone/>
            </a:pPr>
            <a:r>
              <a:rPr lang="en-US" altLang="zh-CN" dirty="0"/>
              <a:t>#7.	print(x)</a:t>
            </a:r>
          </a:p>
        </p:txBody>
      </p:sp>
      <p:sp>
        <p:nvSpPr>
          <p:cNvPr id="4" name="灯片编号占位符 3">
            <a:extLst>
              <a:ext uri="{FF2B5EF4-FFF2-40B4-BE49-F238E27FC236}">
                <a16:creationId xmlns:a16="http://schemas.microsoft.com/office/drawing/2014/main" id="{CA268689-42D2-42DA-A810-F419321C63C9}"/>
              </a:ext>
            </a:extLst>
          </p:cNvPr>
          <p:cNvSpPr>
            <a:spLocks noGrp="1"/>
          </p:cNvSpPr>
          <p:nvPr>
            <p:ph type="sldNum" sz="quarter" idx="12"/>
          </p:nvPr>
        </p:nvSpPr>
        <p:spPr/>
        <p:txBody>
          <a:bodyPr/>
          <a:lstStyle/>
          <a:p>
            <a:fld id="{49AE70B2-8BF9-45C0-BB95-33D1B9D3A854}" type="slidenum">
              <a:rPr lang="zh-CN" altLang="en-US" smtClean="0"/>
              <a:t>21</a:t>
            </a:fld>
            <a:endParaRPr lang="zh-CN" altLang="en-US"/>
          </a:p>
        </p:txBody>
      </p:sp>
      <p:pic>
        <p:nvPicPr>
          <p:cNvPr id="7" name="图片 6">
            <a:extLst>
              <a:ext uri="{FF2B5EF4-FFF2-40B4-BE49-F238E27FC236}">
                <a16:creationId xmlns:a16="http://schemas.microsoft.com/office/drawing/2014/main" id="{8A1466AF-AB7B-4388-B1E0-10B1693AC2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2264" y="4221088"/>
            <a:ext cx="2924373" cy="2559775"/>
          </a:xfrm>
          <a:prstGeom prst="rect">
            <a:avLst/>
          </a:prstGeom>
        </p:spPr>
      </p:pic>
    </p:spTree>
    <p:extLst>
      <p:ext uri="{BB962C8B-B14F-4D97-AF65-F5344CB8AC3E}">
        <p14:creationId xmlns:p14="http://schemas.microsoft.com/office/powerpoint/2010/main" val="40197876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for</a:t>
            </a:r>
            <a:r>
              <a:rPr lang="zh-CN" altLang="en-US" dirty="0"/>
              <a:t>循环中序列元素增加或减少（</a:t>
            </a:r>
            <a:r>
              <a:rPr lang="en-US" altLang="zh-CN" dirty="0"/>
              <a:t>3</a:t>
            </a:r>
            <a:r>
              <a:rPr lang="zh-CN" altLang="en-US" dirty="0"/>
              <a:t>）</a:t>
            </a:r>
          </a:p>
        </p:txBody>
      </p:sp>
      <p:sp>
        <p:nvSpPr>
          <p:cNvPr id="3" name="内容占位符 2"/>
          <p:cNvSpPr>
            <a:spLocks noGrp="1"/>
          </p:cNvSpPr>
          <p:nvPr>
            <p:ph idx="1"/>
          </p:nvPr>
        </p:nvSpPr>
        <p:spPr>
          <a:xfrm>
            <a:off x="669925" y="1268760"/>
            <a:ext cx="10852150" cy="5072350"/>
          </a:xfrm>
          <a:solidFill>
            <a:schemeClr val="bg1">
              <a:lumMod val="85000"/>
            </a:schemeClr>
          </a:solidFill>
        </p:spPr>
        <p:txBody>
          <a:bodyPr>
            <a:normAutofit/>
          </a:bodyPr>
          <a:lstStyle/>
          <a:p>
            <a:pPr marL="0" indent="0">
              <a:buNone/>
            </a:pPr>
            <a:r>
              <a:rPr lang="en-US" altLang="zh-CN" dirty="0"/>
              <a:t>#1.	x=[1, 2]</a:t>
            </a:r>
          </a:p>
          <a:p>
            <a:pPr marL="0" indent="0">
              <a:buNone/>
            </a:pPr>
            <a:r>
              <a:rPr lang="en-US" altLang="zh-CN" dirty="0"/>
              <a:t>#2.	for </a:t>
            </a:r>
            <a:r>
              <a:rPr lang="en-US" altLang="zh-CN" dirty="0" err="1"/>
              <a:t>i</a:t>
            </a:r>
            <a:r>
              <a:rPr lang="en-US" altLang="zh-CN" dirty="0"/>
              <a:t> in x:</a:t>
            </a:r>
          </a:p>
          <a:p>
            <a:pPr marL="0" indent="0">
              <a:buNone/>
            </a:pPr>
            <a:r>
              <a:rPr lang="en-US" altLang="zh-CN" dirty="0"/>
              <a:t>#3.	    print(</a:t>
            </a:r>
            <a:r>
              <a:rPr lang="en-US" altLang="zh-CN" dirty="0" err="1"/>
              <a:t>i</a:t>
            </a:r>
            <a:r>
              <a:rPr lang="en-US" altLang="zh-CN" dirty="0"/>
              <a:t>, end=' ')</a:t>
            </a:r>
          </a:p>
          <a:p>
            <a:pPr marL="0" indent="0">
              <a:buNone/>
            </a:pPr>
            <a:r>
              <a:rPr lang="en-US" altLang="zh-CN" dirty="0"/>
              <a:t>#4.	    if </a:t>
            </a:r>
            <a:r>
              <a:rPr lang="en-US" altLang="zh-CN" dirty="0" err="1"/>
              <a:t>i</a:t>
            </a:r>
            <a:r>
              <a:rPr lang="en-US" altLang="zh-CN" dirty="0"/>
              <a:t> != 5:  </a:t>
            </a:r>
          </a:p>
          <a:p>
            <a:pPr marL="0" indent="0">
              <a:buNone/>
            </a:pPr>
            <a:r>
              <a:rPr lang="en-US" altLang="zh-CN" dirty="0"/>
              <a:t>		   x = x + [5]	</a:t>
            </a:r>
            <a:r>
              <a:rPr lang="en-US" altLang="zh-CN" dirty="0">
                <a:solidFill>
                  <a:srgbClr val="FF0000"/>
                </a:solidFill>
              </a:rPr>
              <a:t># </a:t>
            </a:r>
            <a:r>
              <a:rPr lang="zh-CN" altLang="en-US" dirty="0">
                <a:solidFill>
                  <a:srgbClr val="FF0000"/>
                </a:solidFill>
              </a:rPr>
              <a:t>列表非原地增加元素</a:t>
            </a:r>
          </a:p>
          <a:p>
            <a:pPr marL="0" indent="0">
              <a:buNone/>
            </a:pPr>
            <a:r>
              <a:rPr lang="en-US" altLang="zh-CN" dirty="0"/>
              <a:t>#5.	    print(x)</a:t>
            </a:r>
          </a:p>
          <a:p>
            <a:pPr marL="0" indent="0">
              <a:buNone/>
            </a:pPr>
            <a:r>
              <a:rPr lang="en-US" altLang="zh-CN" dirty="0"/>
              <a:t>#6.	print('The loop end!')</a:t>
            </a:r>
          </a:p>
          <a:p>
            <a:pPr marL="0" indent="0">
              <a:buNone/>
            </a:pPr>
            <a:r>
              <a:rPr lang="en-US" altLang="zh-CN" dirty="0"/>
              <a:t>#7.	print(x)</a:t>
            </a:r>
          </a:p>
        </p:txBody>
      </p:sp>
      <p:sp>
        <p:nvSpPr>
          <p:cNvPr id="5" name="灯片编号占位符 4">
            <a:extLst>
              <a:ext uri="{FF2B5EF4-FFF2-40B4-BE49-F238E27FC236}">
                <a16:creationId xmlns:a16="http://schemas.microsoft.com/office/drawing/2014/main" id="{EF8C613A-DE7E-4486-B13C-825492264798}"/>
              </a:ext>
            </a:extLst>
          </p:cNvPr>
          <p:cNvSpPr>
            <a:spLocks noGrp="1"/>
          </p:cNvSpPr>
          <p:nvPr>
            <p:ph type="sldNum" sz="quarter" idx="12"/>
          </p:nvPr>
        </p:nvSpPr>
        <p:spPr/>
        <p:txBody>
          <a:bodyPr/>
          <a:lstStyle/>
          <a:p>
            <a:fld id="{49AE70B2-8BF9-45C0-BB95-33D1B9D3A854}" type="slidenum">
              <a:rPr lang="zh-CN" altLang="en-US" smtClean="0"/>
              <a:t>22</a:t>
            </a:fld>
            <a:endParaRPr lang="zh-CN" altLang="en-US"/>
          </a:p>
        </p:txBody>
      </p:sp>
      <p:pic>
        <p:nvPicPr>
          <p:cNvPr id="7" name="图片 6">
            <a:extLst>
              <a:ext uri="{FF2B5EF4-FFF2-40B4-BE49-F238E27FC236}">
                <a16:creationId xmlns:a16="http://schemas.microsoft.com/office/drawing/2014/main" id="{96D160F4-5DE8-431E-A9FB-214DAED98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2104" y="4177636"/>
            <a:ext cx="3456384" cy="2388972"/>
          </a:xfrm>
          <a:prstGeom prst="rect">
            <a:avLst/>
          </a:prstGeom>
        </p:spPr>
      </p:pic>
    </p:spTree>
    <p:extLst>
      <p:ext uri="{BB962C8B-B14F-4D97-AF65-F5344CB8AC3E}">
        <p14:creationId xmlns:p14="http://schemas.microsoft.com/office/powerpoint/2010/main" val="612112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6893A4-0F30-48E9-B0FA-CAE8A50E980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E009199-4070-4CE3-891E-06BAD2A3D243}"/>
              </a:ext>
            </a:extLst>
          </p:cNvPr>
          <p:cNvSpPr>
            <a:spLocks noGrp="1"/>
          </p:cNvSpPr>
          <p:nvPr>
            <p:ph idx="1"/>
          </p:nvPr>
        </p:nvSpPr>
        <p:spPr/>
        <p:txBody>
          <a:bodyPr>
            <a:normAutofit lnSpcReduction="10000"/>
          </a:bodyPr>
          <a:lstStyle/>
          <a:p>
            <a:pPr marL="0" indent="0">
              <a:buNone/>
            </a:pPr>
            <a:r>
              <a:rPr lang="en-US" altLang="zh-CN" dirty="0"/>
              <a:t>【</a:t>
            </a:r>
            <a:r>
              <a:rPr lang="zh-CN" altLang="en-US" dirty="0"/>
              <a:t>分析</a:t>
            </a:r>
            <a:r>
              <a:rPr lang="en-US" altLang="zh-CN" dirty="0"/>
              <a:t>】</a:t>
            </a:r>
          </a:p>
          <a:p>
            <a:r>
              <a:rPr lang="en-US" altLang="zh-CN" dirty="0" err="1"/>
              <a:t>x.append</a:t>
            </a:r>
            <a:r>
              <a:rPr lang="en-US" altLang="zh-CN" dirty="0"/>
              <a:t>(5)</a:t>
            </a:r>
            <a:r>
              <a:rPr lang="zh-CN" altLang="en-US" dirty="0"/>
              <a:t> ：</a:t>
            </a:r>
            <a:endParaRPr lang="en-US" altLang="zh-CN" dirty="0"/>
          </a:p>
          <a:p>
            <a:pPr lvl="1"/>
            <a:r>
              <a:rPr lang="zh-CN" altLang="en-US" dirty="0"/>
              <a:t>原地增加元素，将</a:t>
            </a:r>
            <a:r>
              <a:rPr lang="en-US" altLang="zh-CN" dirty="0"/>
              <a:t>5</a:t>
            </a:r>
            <a:r>
              <a:rPr lang="zh-CN" altLang="en-US" dirty="0"/>
              <a:t>这个元素添加到列表</a:t>
            </a:r>
            <a:r>
              <a:rPr lang="en-US" altLang="zh-CN" dirty="0"/>
              <a:t>x</a:t>
            </a:r>
            <a:r>
              <a:rPr lang="zh-CN" altLang="en-US" dirty="0"/>
              <a:t>的尾部，</a:t>
            </a:r>
            <a:endParaRPr lang="en-US" altLang="zh-CN" dirty="0"/>
          </a:p>
          <a:p>
            <a:pPr lvl="1"/>
            <a:r>
              <a:rPr lang="zh-CN" altLang="en-US" dirty="0"/>
              <a:t>列表在内存中的地址不变，</a:t>
            </a:r>
            <a:endParaRPr lang="en-US" altLang="zh-CN" dirty="0"/>
          </a:p>
          <a:p>
            <a:pPr lvl="1"/>
            <a:r>
              <a:rPr lang="zh-CN" altLang="en-US" dirty="0"/>
              <a:t>效率高</a:t>
            </a:r>
            <a:endParaRPr lang="en-US" altLang="zh-CN" dirty="0"/>
          </a:p>
          <a:p>
            <a:r>
              <a:rPr lang="en-US" altLang="zh-CN" dirty="0"/>
              <a:t>x + [5]</a:t>
            </a:r>
          </a:p>
          <a:p>
            <a:pPr lvl="1"/>
            <a:r>
              <a:rPr lang="zh-CN" altLang="en-US" dirty="0"/>
              <a:t>非原地增加，</a:t>
            </a:r>
            <a:endParaRPr lang="en-US" altLang="zh-CN" dirty="0"/>
          </a:p>
          <a:p>
            <a:pPr lvl="1"/>
            <a:r>
              <a:rPr lang="zh-CN" altLang="en-US" dirty="0"/>
              <a:t>在内存中重新开辟单元，将原来</a:t>
            </a:r>
            <a:r>
              <a:rPr lang="en-US" altLang="zh-CN" dirty="0"/>
              <a:t>x</a:t>
            </a:r>
            <a:r>
              <a:rPr lang="zh-CN" altLang="en-US" dirty="0"/>
              <a:t>的元素和增加的元素</a:t>
            </a:r>
            <a:r>
              <a:rPr lang="en-US" altLang="zh-CN" dirty="0"/>
              <a:t>[5]</a:t>
            </a:r>
            <a:r>
              <a:rPr lang="zh-CN" altLang="en-US" dirty="0"/>
              <a:t>复制到一起，地址改变</a:t>
            </a:r>
            <a:endParaRPr lang="en-US" altLang="zh-CN" dirty="0"/>
          </a:p>
          <a:p>
            <a:pPr lvl="1"/>
            <a:r>
              <a:rPr lang="zh-CN" altLang="en-US" dirty="0"/>
              <a:t>如果列表复杂，将有大量复制动作，效率低</a:t>
            </a:r>
          </a:p>
        </p:txBody>
      </p:sp>
      <p:sp>
        <p:nvSpPr>
          <p:cNvPr id="4" name="灯片编号占位符 3">
            <a:extLst>
              <a:ext uri="{FF2B5EF4-FFF2-40B4-BE49-F238E27FC236}">
                <a16:creationId xmlns:a16="http://schemas.microsoft.com/office/drawing/2014/main" id="{31D152E6-5475-424D-AB84-A01740E3C221}"/>
              </a:ext>
            </a:extLst>
          </p:cNvPr>
          <p:cNvSpPr>
            <a:spLocks noGrp="1"/>
          </p:cNvSpPr>
          <p:nvPr>
            <p:ph type="sldNum" sz="quarter" idx="12"/>
          </p:nvPr>
        </p:nvSpPr>
        <p:spPr/>
        <p:txBody>
          <a:bodyPr/>
          <a:lstStyle/>
          <a:p>
            <a:fld id="{49AE70B2-8BF9-45C0-BB95-33D1B9D3A854}" type="slidenum">
              <a:rPr lang="zh-CN" altLang="en-US" smtClean="0"/>
              <a:pPr/>
              <a:t>23</a:t>
            </a:fld>
            <a:endParaRPr lang="zh-CN" altLang="en-US" dirty="0"/>
          </a:p>
        </p:txBody>
      </p:sp>
    </p:spTree>
    <p:extLst>
      <p:ext uri="{BB962C8B-B14F-4D97-AF65-F5344CB8AC3E}">
        <p14:creationId xmlns:p14="http://schemas.microsoft.com/office/powerpoint/2010/main" val="4269319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9925" y="1160145"/>
            <a:ext cx="10970691" cy="28449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09982" y="-21013"/>
            <a:ext cx="11214610" cy="1169150"/>
          </a:xfrm>
        </p:spPr>
        <p:txBody>
          <a:bodyPr>
            <a:normAutofit/>
          </a:bodyPr>
          <a:lstStyle/>
          <a:p>
            <a:r>
              <a:rPr lang="en-US" altLang="zh-CN" dirty="0"/>
              <a:t>【</a:t>
            </a:r>
            <a:r>
              <a:rPr lang="zh-CN" altLang="en-US" dirty="0"/>
              <a:t>例</a:t>
            </a:r>
            <a:r>
              <a:rPr lang="en-US" altLang="zh-CN" dirty="0"/>
              <a:t>5-4】</a:t>
            </a:r>
            <a:r>
              <a:rPr lang="zh-CN" altLang="en-US" dirty="0"/>
              <a:t>用</a:t>
            </a:r>
            <a:r>
              <a:rPr lang="en-US" altLang="zh-CN" dirty="0"/>
              <a:t>for</a:t>
            </a:r>
            <a:r>
              <a:rPr lang="zh-CN" altLang="en-US" dirty="0"/>
              <a:t>语句求</a:t>
            </a:r>
            <a:r>
              <a:rPr lang="en-US" altLang="zh-CN" dirty="0"/>
              <a:t>1+2+3+…+99+100</a:t>
            </a:r>
            <a:r>
              <a:rPr lang="zh-CN" altLang="en-US" dirty="0"/>
              <a:t>。</a:t>
            </a:r>
          </a:p>
        </p:txBody>
      </p:sp>
      <p:sp>
        <p:nvSpPr>
          <p:cNvPr id="3" name="内容占位符 2"/>
          <p:cNvSpPr>
            <a:spLocks noGrp="1"/>
          </p:cNvSpPr>
          <p:nvPr>
            <p:ph idx="1"/>
          </p:nvPr>
        </p:nvSpPr>
        <p:spPr>
          <a:xfrm>
            <a:off x="209982" y="1412776"/>
            <a:ext cx="11646658" cy="4668535"/>
          </a:xfrm>
        </p:spPr>
        <p:txBody>
          <a:bodyPr/>
          <a:lstStyle/>
          <a:p>
            <a:pPr marL="0" indent="0">
              <a:buNone/>
            </a:pPr>
            <a:r>
              <a:rPr lang="en-US" altLang="zh-CN" dirty="0"/>
              <a:t>#1.	sum = 0</a:t>
            </a:r>
          </a:p>
          <a:p>
            <a:pPr marL="0" indent="0">
              <a:buNone/>
            </a:pPr>
            <a:r>
              <a:rPr lang="en-US" altLang="zh-CN" dirty="0"/>
              <a:t>#2.	for </a:t>
            </a:r>
            <a:r>
              <a:rPr lang="en-US" altLang="zh-CN" dirty="0" err="1"/>
              <a:t>i</a:t>
            </a:r>
            <a:r>
              <a:rPr lang="en-US" altLang="zh-CN" dirty="0"/>
              <a:t> in range(1, 101): #</a:t>
            </a:r>
            <a:r>
              <a:rPr lang="zh-CN" altLang="en-US" dirty="0">
                <a:solidFill>
                  <a:srgbClr val="FF0000"/>
                </a:solidFill>
              </a:rPr>
              <a:t>产生</a:t>
            </a:r>
            <a:r>
              <a:rPr lang="en-US" altLang="zh-CN" dirty="0">
                <a:solidFill>
                  <a:srgbClr val="FF0000"/>
                </a:solidFill>
              </a:rPr>
              <a:t>1</a:t>
            </a:r>
            <a:r>
              <a:rPr lang="zh-CN" altLang="en-US" dirty="0">
                <a:solidFill>
                  <a:srgbClr val="FF0000"/>
                </a:solidFill>
              </a:rPr>
              <a:t>到</a:t>
            </a:r>
            <a:r>
              <a:rPr lang="en-US" altLang="zh-CN" dirty="0">
                <a:solidFill>
                  <a:srgbClr val="FF0000"/>
                </a:solidFill>
              </a:rPr>
              <a:t>100</a:t>
            </a:r>
            <a:r>
              <a:rPr lang="zh-CN" altLang="en-US" dirty="0">
                <a:solidFill>
                  <a:srgbClr val="FF0000"/>
                </a:solidFill>
              </a:rPr>
              <a:t>的序列</a:t>
            </a:r>
            <a:r>
              <a:rPr lang="en-US" altLang="zh-CN" dirty="0">
                <a:solidFill>
                  <a:srgbClr val="FF0000"/>
                </a:solidFill>
              </a:rPr>
              <a:t>,</a:t>
            </a:r>
            <a:r>
              <a:rPr lang="zh-CN" altLang="en-US" dirty="0">
                <a:solidFill>
                  <a:srgbClr val="FF0000"/>
                </a:solidFill>
              </a:rPr>
              <a:t>不包括</a:t>
            </a:r>
            <a:r>
              <a:rPr lang="en-US" altLang="zh-CN" dirty="0">
                <a:solidFill>
                  <a:srgbClr val="FF0000"/>
                </a:solidFill>
              </a:rPr>
              <a:t>101</a:t>
            </a:r>
          </a:p>
          <a:p>
            <a:pPr marL="0" indent="0">
              <a:buNone/>
            </a:pPr>
            <a:r>
              <a:rPr lang="en-US" altLang="zh-CN" dirty="0"/>
              <a:t>#3.	    sum += </a:t>
            </a:r>
            <a:r>
              <a:rPr lang="en-US" altLang="zh-CN" dirty="0" err="1"/>
              <a:t>i</a:t>
            </a:r>
            <a:endParaRPr lang="en-US" altLang="zh-CN" dirty="0"/>
          </a:p>
          <a:p>
            <a:pPr marL="0" indent="0">
              <a:buNone/>
            </a:pPr>
            <a:r>
              <a:rPr lang="en-US" altLang="zh-CN" dirty="0"/>
              <a:t>#4.	print(sum)</a:t>
            </a:r>
          </a:p>
          <a:p>
            <a:pPr marL="0" indent="0">
              <a:buNone/>
            </a:pPr>
            <a:endParaRPr lang="en-US" altLang="zh-CN" dirty="0"/>
          </a:p>
          <a:p>
            <a:pPr marL="0" indent="0">
              <a:buNone/>
            </a:pPr>
            <a:r>
              <a:rPr lang="zh-CN" altLang="en-US" dirty="0"/>
              <a:t>运行程序，结果如下：</a:t>
            </a:r>
          </a:p>
          <a:p>
            <a:pPr marL="0" indent="0">
              <a:buNone/>
            </a:pPr>
            <a:r>
              <a:rPr lang="en-US" altLang="zh-CN" dirty="0">
                <a:solidFill>
                  <a:srgbClr val="0070C0"/>
                </a:solidFill>
              </a:rPr>
              <a:t>5050</a:t>
            </a:r>
          </a:p>
          <a:p>
            <a:pPr marL="0" indent="0">
              <a:buNone/>
            </a:pPr>
            <a:endParaRPr lang="zh-CN" altLang="en-US" dirty="0"/>
          </a:p>
        </p:txBody>
      </p:sp>
      <p:sp>
        <p:nvSpPr>
          <p:cNvPr id="5" name="灯片编号占位符 4">
            <a:extLst>
              <a:ext uri="{FF2B5EF4-FFF2-40B4-BE49-F238E27FC236}">
                <a16:creationId xmlns:a16="http://schemas.microsoft.com/office/drawing/2014/main" id="{6D85885F-9684-4690-ACB4-DF912B363E15}"/>
              </a:ext>
            </a:extLst>
          </p:cNvPr>
          <p:cNvSpPr>
            <a:spLocks noGrp="1"/>
          </p:cNvSpPr>
          <p:nvPr>
            <p:ph type="sldNum" sz="quarter" idx="12"/>
          </p:nvPr>
        </p:nvSpPr>
        <p:spPr/>
        <p:txBody>
          <a:bodyPr/>
          <a:lstStyle/>
          <a:p>
            <a:fld id="{49AE70B2-8BF9-45C0-BB95-33D1B9D3A854}" type="slidenum">
              <a:rPr lang="zh-CN" altLang="en-US" smtClean="0"/>
              <a:t>24</a:t>
            </a:fld>
            <a:endParaRPr lang="zh-CN" altLang="en-US"/>
          </a:p>
        </p:txBody>
      </p:sp>
    </p:spTree>
    <p:extLst>
      <p:ext uri="{BB962C8B-B14F-4D97-AF65-F5344CB8AC3E}">
        <p14:creationId xmlns:p14="http://schemas.microsoft.com/office/powerpoint/2010/main" val="1146080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9925" y="1160145"/>
            <a:ext cx="10970691" cy="30609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1362" y="116632"/>
            <a:ext cx="11775278" cy="1649814"/>
          </a:xfrm>
        </p:spPr>
        <p:txBody>
          <a:bodyPr>
            <a:normAutofit fontScale="90000"/>
          </a:bodyPr>
          <a:lstStyle/>
          <a:p>
            <a:r>
              <a:rPr lang="en-US" altLang="zh-CN" dirty="0"/>
              <a:t>【</a:t>
            </a:r>
            <a:r>
              <a:rPr lang="zh-CN" altLang="en-US" dirty="0"/>
              <a:t>例</a:t>
            </a:r>
            <a:r>
              <a:rPr lang="en-US" altLang="zh-CN" dirty="0"/>
              <a:t>5-5】</a:t>
            </a:r>
            <a:r>
              <a:rPr lang="zh-CN" altLang="en-US" dirty="0"/>
              <a:t>用</a:t>
            </a:r>
            <a:r>
              <a:rPr lang="en-US" altLang="zh-CN" dirty="0"/>
              <a:t>for</a:t>
            </a:r>
            <a:r>
              <a:rPr lang="zh-CN" altLang="en-US" dirty="0"/>
              <a:t>语句求一个整数的各位数字之和。</a:t>
            </a:r>
            <a:br>
              <a:rPr lang="zh-CN" altLang="en-US" dirty="0"/>
            </a:b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a:t>#1.	n = input("</a:t>
            </a:r>
            <a:r>
              <a:rPr lang="zh-CN" altLang="en-US" dirty="0"/>
              <a:t>请输入一个整数：</a:t>
            </a:r>
            <a:r>
              <a:rPr lang="en-US" altLang="zh-CN" dirty="0"/>
              <a:t>")</a:t>
            </a:r>
          </a:p>
          <a:p>
            <a:pPr marL="0" indent="0">
              <a:buNone/>
            </a:pPr>
            <a:r>
              <a:rPr lang="en-US" altLang="zh-CN" dirty="0"/>
              <a:t>#2.	sum = 0</a:t>
            </a:r>
          </a:p>
          <a:p>
            <a:pPr marL="0" indent="0">
              <a:buNone/>
            </a:pPr>
            <a:r>
              <a:rPr lang="en-US" altLang="zh-CN" dirty="0"/>
              <a:t>#3.	for </a:t>
            </a:r>
            <a:r>
              <a:rPr lang="en-US" altLang="zh-CN" dirty="0" err="1"/>
              <a:t>i</a:t>
            </a:r>
            <a:r>
              <a:rPr lang="en-US" altLang="zh-CN" dirty="0"/>
              <a:t> in n:		# n=‘123’		</a:t>
            </a:r>
          </a:p>
          <a:p>
            <a:pPr marL="0" indent="0">
              <a:buNone/>
            </a:pPr>
            <a:r>
              <a:rPr lang="en-US" altLang="zh-CN" dirty="0"/>
              <a:t>#4.	    sum += </a:t>
            </a:r>
            <a:r>
              <a:rPr lang="en-US" altLang="zh-CN" dirty="0" err="1"/>
              <a:t>int</a:t>
            </a:r>
            <a:r>
              <a:rPr lang="en-US" altLang="zh-CN" dirty="0"/>
              <a:t>(</a:t>
            </a:r>
            <a:r>
              <a:rPr lang="en-US" altLang="zh-CN" dirty="0" err="1"/>
              <a:t>i</a:t>
            </a:r>
            <a:r>
              <a:rPr lang="en-US" altLang="zh-CN" dirty="0"/>
              <a:t>)</a:t>
            </a:r>
          </a:p>
          <a:p>
            <a:pPr marL="0" indent="0">
              <a:buNone/>
            </a:pPr>
            <a:r>
              <a:rPr lang="en-US" altLang="zh-CN" dirty="0"/>
              <a:t>#5.	print(sum)</a:t>
            </a:r>
          </a:p>
          <a:p>
            <a:pPr marL="0" indent="0">
              <a:buNone/>
            </a:pPr>
            <a:endParaRPr lang="en-US" altLang="zh-CN" dirty="0"/>
          </a:p>
          <a:p>
            <a:pPr marL="0" indent="0">
              <a:buNone/>
            </a:pPr>
            <a:r>
              <a:rPr lang="zh-CN" altLang="en-US" dirty="0"/>
              <a:t>请输入一个整数：</a:t>
            </a:r>
            <a:r>
              <a:rPr lang="en-US" altLang="zh-CN" u="sng" dirty="0"/>
              <a:t>382↙</a:t>
            </a:r>
          </a:p>
          <a:p>
            <a:pPr marL="0" indent="0">
              <a:buNone/>
            </a:pPr>
            <a:r>
              <a:rPr lang="en-US" altLang="zh-CN" dirty="0">
                <a:solidFill>
                  <a:srgbClr val="0070C0"/>
                </a:solidFill>
              </a:rPr>
              <a:t>13</a:t>
            </a:r>
          </a:p>
          <a:p>
            <a:pPr marL="0" indent="0">
              <a:buNone/>
            </a:pPr>
            <a:endParaRPr lang="zh-CN" altLang="en-US" dirty="0"/>
          </a:p>
        </p:txBody>
      </p:sp>
      <p:sp>
        <p:nvSpPr>
          <p:cNvPr id="5" name="灯片编号占位符 4">
            <a:extLst>
              <a:ext uri="{FF2B5EF4-FFF2-40B4-BE49-F238E27FC236}">
                <a16:creationId xmlns:a16="http://schemas.microsoft.com/office/drawing/2014/main" id="{F314EDA6-6BB7-4EC7-9E21-8D833CB5C967}"/>
              </a:ext>
            </a:extLst>
          </p:cNvPr>
          <p:cNvSpPr>
            <a:spLocks noGrp="1"/>
          </p:cNvSpPr>
          <p:nvPr>
            <p:ph type="sldNum" sz="quarter" idx="12"/>
          </p:nvPr>
        </p:nvSpPr>
        <p:spPr/>
        <p:txBody>
          <a:bodyPr/>
          <a:lstStyle/>
          <a:p>
            <a:fld id="{49AE70B2-8BF9-45C0-BB95-33D1B9D3A854}" type="slidenum">
              <a:rPr lang="zh-CN" altLang="en-US" smtClean="0"/>
              <a:t>25</a:t>
            </a:fld>
            <a:endParaRPr lang="zh-CN" altLang="en-US"/>
          </a:p>
        </p:txBody>
      </p:sp>
    </p:spTree>
    <p:extLst>
      <p:ext uri="{BB962C8B-B14F-4D97-AF65-F5344CB8AC3E}">
        <p14:creationId xmlns:p14="http://schemas.microsoft.com/office/powerpoint/2010/main" val="3313243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9925" y="2492896"/>
            <a:ext cx="10970691" cy="331236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09982" y="-21013"/>
            <a:ext cx="10206498" cy="1169150"/>
          </a:xfrm>
        </p:spPr>
        <p:txBody>
          <a:bodyPr>
            <a:normAutofit fontScale="90000"/>
          </a:bodyPr>
          <a:lstStyle/>
          <a:p>
            <a:r>
              <a:rPr lang="en-US" altLang="zh-CN" dirty="0"/>
              <a:t>【</a:t>
            </a:r>
            <a:r>
              <a:rPr lang="zh-CN" altLang="en-US" dirty="0"/>
              <a:t>例</a:t>
            </a:r>
            <a:r>
              <a:rPr lang="en-US" altLang="zh-CN" dirty="0"/>
              <a:t>5-6】</a:t>
            </a:r>
            <a:r>
              <a:rPr lang="zh-CN" altLang="en-US" dirty="0"/>
              <a:t>编写程序找出所有三位水仙花数。</a:t>
            </a:r>
          </a:p>
        </p:txBody>
      </p:sp>
      <p:sp>
        <p:nvSpPr>
          <p:cNvPr id="3" name="内容占位符 2"/>
          <p:cNvSpPr>
            <a:spLocks noGrp="1"/>
          </p:cNvSpPr>
          <p:nvPr>
            <p:ph idx="1"/>
          </p:nvPr>
        </p:nvSpPr>
        <p:spPr/>
        <p:txBody>
          <a:bodyPr>
            <a:normAutofit/>
          </a:bodyPr>
          <a:lstStyle/>
          <a:p>
            <a:r>
              <a:rPr lang="en-US" altLang="zh-CN" dirty="0"/>
              <a:t>“</a:t>
            </a:r>
            <a:r>
              <a:rPr lang="zh-CN" altLang="en-US" dirty="0"/>
              <a:t>水仙花数</a:t>
            </a:r>
            <a:r>
              <a:rPr lang="en-US" altLang="zh-CN" dirty="0"/>
              <a:t>”:</a:t>
            </a:r>
            <a:r>
              <a:rPr lang="zh-CN" altLang="en-US" dirty="0"/>
              <a:t>各位数字的立方和等于该数本身。</a:t>
            </a:r>
            <a:endParaRPr lang="en-US" altLang="zh-CN" dirty="0"/>
          </a:p>
          <a:p>
            <a:r>
              <a:rPr lang="zh-CN" altLang="en-US" dirty="0"/>
              <a:t>例如，</a:t>
            </a:r>
            <a:r>
              <a:rPr lang="en-US" altLang="zh-CN" dirty="0"/>
              <a:t>153=1</a:t>
            </a:r>
            <a:r>
              <a:rPr lang="en-US" altLang="zh-CN" baseline="30000" dirty="0"/>
              <a:t>3</a:t>
            </a:r>
            <a:r>
              <a:rPr lang="en-US" altLang="zh-CN" dirty="0"/>
              <a:t>+5</a:t>
            </a:r>
            <a:r>
              <a:rPr lang="en-US" altLang="zh-CN" baseline="30000" dirty="0"/>
              <a:t>3</a:t>
            </a:r>
            <a:r>
              <a:rPr lang="en-US" altLang="zh-CN" dirty="0"/>
              <a:t>+3</a:t>
            </a:r>
            <a:r>
              <a:rPr lang="en-US" altLang="zh-CN" baseline="30000" dirty="0"/>
              <a:t>3</a:t>
            </a:r>
            <a:endParaRPr lang="zh-CN" altLang="en-US" dirty="0"/>
          </a:p>
          <a:p>
            <a:pPr marL="0" indent="0">
              <a:buNone/>
            </a:pPr>
            <a:endParaRPr lang="en-US" altLang="zh-CN" dirty="0"/>
          </a:p>
          <a:p>
            <a:pPr marL="0" indent="0">
              <a:buNone/>
            </a:pPr>
            <a:r>
              <a:rPr lang="en-US" altLang="zh-CN" dirty="0"/>
              <a:t>#1.	for </a:t>
            </a:r>
            <a:r>
              <a:rPr lang="en-US" altLang="zh-CN" dirty="0" err="1"/>
              <a:t>i</a:t>
            </a:r>
            <a:r>
              <a:rPr lang="en-US" altLang="zh-CN" dirty="0"/>
              <a:t> in range(100, 1000):</a:t>
            </a:r>
          </a:p>
          <a:p>
            <a:pPr marL="0" indent="0">
              <a:buNone/>
            </a:pPr>
            <a:r>
              <a:rPr lang="en-US" altLang="zh-CN" dirty="0"/>
              <a:t>#2.	    a, temp = </a:t>
            </a:r>
            <a:r>
              <a:rPr lang="en-US" altLang="zh-CN" dirty="0" err="1"/>
              <a:t>divmod</a:t>
            </a:r>
            <a:r>
              <a:rPr lang="en-US" altLang="zh-CN" dirty="0"/>
              <a:t>(</a:t>
            </a:r>
            <a:r>
              <a:rPr lang="en-US" altLang="zh-CN" dirty="0" err="1"/>
              <a:t>i</a:t>
            </a:r>
            <a:r>
              <a:rPr lang="en-US" altLang="zh-CN" dirty="0"/>
              <a:t>, 100)  # </a:t>
            </a:r>
            <a:r>
              <a:rPr lang="en-US" altLang="zh-CN" dirty="0" err="1"/>
              <a:t>i</a:t>
            </a:r>
            <a:r>
              <a:rPr lang="en-US" altLang="zh-CN" dirty="0"/>
              <a:t>=123,a=1,temp=23</a:t>
            </a:r>
          </a:p>
          <a:p>
            <a:pPr marL="0" indent="0">
              <a:buNone/>
            </a:pPr>
            <a:r>
              <a:rPr lang="en-US" altLang="zh-CN" dirty="0"/>
              <a:t>#3.	    b, c=</a:t>
            </a:r>
            <a:r>
              <a:rPr lang="en-US" altLang="zh-CN" dirty="0" err="1"/>
              <a:t>divmod</a:t>
            </a:r>
            <a:r>
              <a:rPr lang="en-US" altLang="zh-CN" dirty="0"/>
              <a:t>(temp, 10)	   # b=2,c=3</a:t>
            </a:r>
          </a:p>
          <a:p>
            <a:pPr marL="0" indent="0">
              <a:buNone/>
            </a:pPr>
            <a:r>
              <a:rPr lang="en-US" altLang="zh-CN" dirty="0"/>
              <a:t>#4.	    if a ** 3 + b ** 3 + c ** 3 == i:</a:t>
            </a:r>
          </a:p>
          <a:p>
            <a:pPr marL="0" indent="0">
              <a:buNone/>
            </a:pPr>
            <a:r>
              <a:rPr lang="en-US" altLang="zh-CN" dirty="0"/>
              <a:t>#5.	        print(</a:t>
            </a:r>
            <a:r>
              <a:rPr lang="en-US" altLang="zh-CN" dirty="0" err="1"/>
              <a:t>i</a:t>
            </a:r>
            <a:r>
              <a:rPr lang="en-US" altLang="zh-CN" dirty="0"/>
              <a:t>)</a:t>
            </a:r>
          </a:p>
          <a:p>
            <a:endParaRPr lang="zh-CN" altLang="en-US" dirty="0"/>
          </a:p>
        </p:txBody>
      </p:sp>
      <p:sp>
        <p:nvSpPr>
          <p:cNvPr id="5" name="灯片编号占位符 4">
            <a:extLst>
              <a:ext uri="{FF2B5EF4-FFF2-40B4-BE49-F238E27FC236}">
                <a16:creationId xmlns:a16="http://schemas.microsoft.com/office/drawing/2014/main" id="{566CD3D1-1AAE-4C73-A90E-0AA67043244E}"/>
              </a:ext>
            </a:extLst>
          </p:cNvPr>
          <p:cNvSpPr>
            <a:spLocks noGrp="1"/>
          </p:cNvSpPr>
          <p:nvPr>
            <p:ph type="sldNum" sz="quarter" idx="12"/>
          </p:nvPr>
        </p:nvSpPr>
        <p:spPr/>
        <p:txBody>
          <a:bodyPr/>
          <a:lstStyle/>
          <a:p>
            <a:fld id="{49AE70B2-8BF9-45C0-BB95-33D1B9D3A854}" type="slidenum">
              <a:rPr lang="zh-CN" altLang="en-US" smtClean="0"/>
              <a:t>26</a:t>
            </a:fld>
            <a:endParaRPr lang="zh-CN" altLang="en-US"/>
          </a:p>
        </p:txBody>
      </p:sp>
    </p:spTree>
    <p:extLst>
      <p:ext uri="{BB962C8B-B14F-4D97-AF65-F5344CB8AC3E}">
        <p14:creationId xmlns:p14="http://schemas.microsoft.com/office/powerpoint/2010/main" val="9512086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a:xfrm>
            <a:off x="1882775" y="2292350"/>
            <a:ext cx="8684895" cy="1151255"/>
          </a:xfrm>
        </p:spPr>
        <p:txBody>
          <a:bodyPr vert="horz" wrap="square" lIns="91440" tIns="45720" rIns="91440" bIns="45720" anchor="b"/>
          <a:lstStyle/>
          <a:p>
            <a:pPr>
              <a:buClrTx/>
              <a:buSzTx/>
              <a:buFontTx/>
              <a:buNone/>
            </a:pPr>
            <a:r>
              <a:rPr lang="en-US" kern="1200" dirty="0">
                <a:latin typeface="+mj-lt"/>
                <a:ea typeface="+mj-ea"/>
                <a:cs typeface="+mj-cs"/>
              </a:rPr>
              <a:t>5.3 </a:t>
            </a:r>
            <a:r>
              <a:rPr lang="zh-CN" altLang="en-US" kern="1200" dirty="0">
                <a:latin typeface="+mj-lt"/>
                <a:ea typeface="+mj-ea"/>
                <a:cs typeface="+mj-cs"/>
              </a:rPr>
              <a:t>循环控制语句</a:t>
            </a:r>
          </a:p>
        </p:txBody>
      </p:sp>
      <p:sp>
        <p:nvSpPr>
          <p:cNvPr id="2" name="灯片编号占位符 1">
            <a:extLst>
              <a:ext uri="{FF2B5EF4-FFF2-40B4-BE49-F238E27FC236}">
                <a16:creationId xmlns:a16="http://schemas.microsoft.com/office/drawing/2014/main" id="{03C63DCB-3909-4368-ABA9-7D0FCBDB702D}"/>
              </a:ext>
            </a:extLst>
          </p:cNvPr>
          <p:cNvSpPr>
            <a:spLocks noGrp="1"/>
          </p:cNvSpPr>
          <p:nvPr>
            <p:ph type="sldNum" sz="quarter" idx="12"/>
          </p:nvPr>
        </p:nvSpPr>
        <p:spPr/>
        <p:txBody>
          <a:bodyPr/>
          <a:lstStyle/>
          <a:p>
            <a:fld id="{49AE70B2-8BF9-45C0-BB95-33D1B9D3A854}" type="slidenum">
              <a:rPr lang="zh-CN" altLang="en-US" smtClean="0"/>
              <a:t>27</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5.3.1 break</a:t>
            </a:r>
            <a:r>
              <a:rPr lang="zh-CN" altLang="en-US" dirty="0"/>
              <a:t>语句</a:t>
            </a:r>
          </a:p>
        </p:txBody>
      </p:sp>
      <p:sp>
        <p:nvSpPr>
          <p:cNvPr id="3" name="内容占位符 2"/>
          <p:cNvSpPr>
            <a:spLocks noGrp="1"/>
          </p:cNvSpPr>
          <p:nvPr>
            <p:ph idx="1"/>
          </p:nvPr>
        </p:nvSpPr>
        <p:spPr/>
        <p:txBody>
          <a:bodyPr>
            <a:normAutofit/>
          </a:bodyPr>
          <a:lstStyle/>
          <a:p>
            <a:r>
              <a:rPr lang="zh-CN" altLang="en-US" dirty="0"/>
              <a:t>循环体中使用</a:t>
            </a:r>
            <a:r>
              <a:rPr lang="en-US" altLang="zh-CN" dirty="0"/>
              <a:t>break</a:t>
            </a:r>
            <a:r>
              <a:rPr lang="zh-CN" altLang="en-US" dirty="0"/>
              <a:t>语句，跳出该层循环，提前结束该循环</a:t>
            </a:r>
            <a:endParaRPr lang="en-US" altLang="zh-CN" dirty="0"/>
          </a:p>
          <a:p>
            <a:r>
              <a:rPr lang="zh-CN" altLang="en-US" dirty="0"/>
              <a:t>跳出循环后，继续执行后续语句。</a:t>
            </a:r>
            <a:endParaRPr lang="en-US" altLang="zh-CN" dirty="0"/>
          </a:p>
        </p:txBody>
      </p:sp>
      <p:sp>
        <p:nvSpPr>
          <p:cNvPr id="4" name="灯片编号占位符 3">
            <a:extLst>
              <a:ext uri="{FF2B5EF4-FFF2-40B4-BE49-F238E27FC236}">
                <a16:creationId xmlns:a16="http://schemas.microsoft.com/office/drawing/2014/main" id="{90427773-7CCB-4533-9FD8-C51E630CA6AA}"/>
              </a:ext>
            </a:extLst>
          </p:cNvPr>
          <p:cNvSpPr>
            <a:spLocks noGrp="1"/>
          </p:cNvSpPr>
          <p:nvPr>
            <p:ph type="sldNum" sz="quarter" idx="12"/>
          </p:nvPr>
        </p:nvSpPr>
        <p:spPr/>
        <p:txBody>
          <a:bodyPr/>
          <a:lstStyle/>
          <a:p>
            <a:fld id="{49AE70B2-8BF9-45C0-BB95-33D1B9D3A854}" type="slidenum">
              <a:rPr lang="zh-CN" altLang="en-US" smtClean="0"/>
              <a:t>28</a:t>
            </a:fld>
            <a:endParaRPr lang="zh-CN" altLang="en-US"/>
          </a:p>
        </p:txBody>
      </p:sp>
    </p:spTree>
    <p:extLst>
      <p:ext uri="{BB962C8B-B14F-4D97-AF65-F5344CB8AC3E}">
        <p14:creationId xmlns:p14="http://schemas.microsoft.com/office/powerpoint/2010/main" val="1985619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BB36B55-E58F-46D8-90A7-065982E84EFA}"/>
              </a:ext>
            </a:extLst>
          </p:cNvPr>
          <p:cNvSpPr>
            <a:spLocks noGrp="1"/>
          </p:cNvSpPr>
          <p:nvPr>
            <p:ph idx="1"/>
          </p:nvPr>
        </p:nvSpPr>
        <p:spPr>
          <a:xfrm>
            <a:off x="263352" y="476672"/>
            <a:ext cx="11242848" cy="5604639"/>
          </a:xfrm>
        </p:spPr>
        <p:txBody>
          <a:bodyPr/>
          <a:lstStyle/>
          <a:p>
            <a:pPr marL="0" indent="0">
              <a:buNone/>
            </a:pPr>
            <a:r>
              <a:rPr lang="en-US" altLang="zh-CN" sz="3600" dirty="0"/>
              <a:t>【</a:t>
            </a:r>
            <a:r>
              <a:rPr lang="zh-CN" altLang="en-US" sz="3600" dirty="0"/>
              <a:t>例</a:t>
            </a:r>
            <a:r>
              <a:rPr lang="en-US" altLang="zh-CN" sz="3600" dirty="0"/>
              <a:t>5-7】(</a:t>
            </a:r>
            <a:r>
              <a:rPr lang="zh-CN" altLang="en-US" sz="3600" dirty="0"/>
              <a:t>重要</a:t>
            </a:r>
            <a:r>
              <a:rPr lang="en-US" altLang="zh-CN" sz="3600" dirty="0"/>
              <a:t>)</a:t>
            </a:r>
            <a:r>
              <a:rPr lang="zh-CN" altLang="en-US" sz="3600" dirty="0"/>
              <a:t>输入一个正整数</a:t>
            </a:r>
            <a:r>
              <a:rPr lang="en-US" altLang="zh-CN" sz="3600" dirty="0"/>
              <a:t>n</a:t>
            </a:r>
            <a:r>
              <a:rPr lang="zh-CN" altLang="en-US" sz="3600" dirty="0"/>
              <a:t>，判断它是否为素数。</a:t>
            </a:r>
            <a:endParaRPr lang="en-US" altLang="zh-CN" sz="3600" dirty="0"/>
          </a:p>
          <a:p>
            <a:pPr marL="0" indent="0">
              <a:buNone/>
            </a:pPr>
            <a:endParaRPr lang="en-US" altLang="zh-CN" dirty="0"/>
          </a:p>
          <a:p>
            <a:r>
              <a:rPr lang="zh-CN" altLang="en-US" dirty="0"/>
              <a:t>说明：素数就是质数，只能被</a:t>
            </a:r>
            <a:r>
              <a:rPr lang="en-US" altLang="zh-CN" dirty="0"/>
              <a:t>1</a:t>
            </a:r>
            <a:r>
              <a:rPr lang="zh-CN" altLang="en-US" dirty="0"/>
              <a:t>和自身整除的整数）</a:t>
            </a:r>
            <a:endParaRPr lang="en-US" altLang="zh-CN" dirty="0"/>
          </a:p>
          <a:p>
            <a:r>
              <a:rPr lang="zh-CN" altLang="en-US" dirty="0"/>
              <a:t>算法：判断</a:t>
            </a:r>
            <a:r>
              <a:rPr lang="en-US" altLang="zh-CN" dirty="0"/>
              <a:t>n</a:t>
            </a:r>
            <a:r>
              <a:rPr lang="zh-CN" altLang="en-US" dirty="0"/>
              <a:t>是否为素数，可以按素数的定义进行，用</a:t>
            </a:r>
            <a:r>
              <a:rPr lang="en-US" altLang="zh-CN" dirty="0"/>
              <a:t>n</a:t>
            </a:r>
            <a:r>
              <a:rPr lang="zh-CN" altLang="en-US" dirty="0"/>
              <a:t>依次除以</a:t>
            </a:r>
            <a:r>
              <a:rPr lang="en-US" altLang="zh-CN" dirty="0"/>
              <a:t>2</a:t>
            </a:r>
            <a:r>
              <a:rPr lang="zh-CN" altLang="en-US" dirty="0"/>
              <a:t>到</a:t>
            </a:r>
            <a:r>
              <a:rPr lang="en-US" altLang="zh-CN" dirty="0"/>
              <a:t>n-1</a:t>
            </a:r>
            <a:r>
              <a:rPr lang="zh-CN" altLang="en-US" dirty="0"/>
              <a:t>之间的所有数，只要发现有一个数能够被</a:t>
            </a:r>
            <a:r>
              <a:rPr lang="en-US" altLang="zh-CN" dirty="0"/>
              <a:t>n</a:t>
            </a:r>
            <a:r>
              <a:rPr lang="zh-CN" altLang="en-US" dirty="0"/>
              <a:t>整除，马上可以结束循环，判定</a:t>
            </a:r>
            <a:r>
              <a:rPr lang="en-US" altLang="zh-CN" dirty="0"/>
              <a:t>n</a:t>
            </a:r>
            <a:r>
              <a:rPr lang="zh-CN" altLang="en-US" dirty="0"/>
              <a:t>不是素数。如果没有一个能够被</a:t>
            </a:r>
            <a:r>
              <a:rPr lang="en-US" altLang="zh-CN" dirty="0"/>
              <a:t>n</a:t>
            </a:r>
            <a:r>
              <a:rPr lang="zh-CN" altLang="en-US" dirty="0"/>
              <a:t>整除的数，则</a:t>
            </a:r>
            <a:r>
              <a:rPr lang="en-US" altLang="zh-CN" dirty="0"/>
              <a:t>n</a:t>
            </a:r>
            <a:r>
              <a:rPr lang="zh-CN" altLang="en-US" dirty="0"/>
              <a:t>为素数。</a:t>
            </a:r>
          </a:p>
          <a:p>
            <a:endParaRPr lang="zh-CN" altLang="en-US" dirty="0"/>
          </a:p>
        </p:txBody>
      </p:sp>
      <p:sp>
        <p:nvSpPr>
          <p:cNvPr id="4" name="灯片编号占位符 3">
            <a:extLst>
              <a:ext uri="{FF2B5EF4-FFF2-40B4-BE49-F238E27FC236}">
                <a16:creationId xmlns:a16="http://schemas.microsoft.com/office/drawing/2014/main" id="{281CBF6F-4F56-4007-81AF-E2CCD3873790}"/>
              </a:ext>
            </a:extLst>
          </p:cNvPr>
          <p:cNvSpPr>
            <a:spLocks noGrp="1"/>
          </p:cNvSpPr>
          <p:nvPr>
            <p:ph type="sldNum" sz="quarter" idx="12"/>
          </p:nvPr>
        </p:nvSpPr>
        <p:spPr/>
        <p:txBody>
          <a:bodyPr/>
          <a:lstStyle/>
          <a:p>
            <a:fld id="{49AE70B2-8BF9-45C0-BB95-33D1B9D3A854}" type="slidenum">
              <a:rPr lang="zh-CN" altLang="en-US" smtClean="0"/>
              <a:pPr/>
              <a:t>29</a:t>
            </a:fld>
            <a:endParaRPr lang="zh-CN" altLang="en-US" dirty="0"/>
          </a:p>
        </p:txBody>
      </p:sp>
    </p:spTree>
    <p:extLst>
      <p:ext uri="{BB962C8B-B14F-4D97-AF65-F5344CB8AC3E}">
        <p14:creationId xmlns:p14="http://schemas.microsoft.com/office/powerpoint/2010/main" val="1162787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9925" y="1412776"/>
            <a:ext cx="10852150" cy="4928334"/>
          </a:xfrm>
          <a:solidFill>
            <a:schemeClr val="bg1">
              <a:lumMod val="85000"/>
            </a:schemeClr>
          </a:solidFill>
        </p:spPr>
        <p:txBody>
          <a:bodyPr/>
          <a:lstStyle/>
          <a:p>
            <a:pPr marL="0" indent="0">
              <a:buNone/>
            </a:pPr>
            <a:r>
              <a:rPr lang="en-US" altLang="zh-CN" dirty="0"/>
              <a:t>#1.	n = </a:t>
            </a:r>
            <a:r>
              <a:rPr lang="en-US" altLang="zh-CN" dirty="0" err="1"/>
              <a:t>int</a:t>
            </a:r>
            <a:r>
              <a:rPr lang="en-US" altLang="zh-CN" dirty="0"/>
              <a:t>(input('</a:t>
            </a:r>
            <a:r>
              <a:rPr lang="zh-CN" altLang="en-US" dirty="0"/>
              <a:t>请输入一个整数：</a:t>
            </a:r>
            <a:r>
              <a:rPr lang="en-US" altLang="zh-CN" dirty="0"/>
              <a:t>'))</a:t>
            </a:r>
          </a:p>
          <a:p>
            <a:pPr marL="0" indent="0">
              <a:buNone/>
            </a:pPr>
            <a:r>
              <a:rPr lang="en-US" altLang="zh-CN" dirty="0"/>
              <a:t>#2.	for </a:t>
            </a:r>
            <a:r>
              <a:rPr lang="en-US" altLang="zh-CN" dirty="0" err="1"/>
              <a:t>i</a:t>
            </a:r>
            <a:r>
              <a:rPr lang="en-US" altLang="zh-CN" dirty="0"/>
              <a:t> in range(2, n):</a:t>
            </a:r>
          </a:p>
          <a:p>
            <a:pPr marL="0" indent="0">
              <a:buNone/>
            </a:pPr>
            <a:r>
              <a:rPr lang="en-US" altLang="zh-CN" dirty="0"/>
              <a:t>#3.	    if n % </a:t>
            </a:r>
            <a:r>
              <a:rPr lang="en-US" altLang="zh-CN" dirty="0" err="1"/>
              <a:t>i</a:t>
            </a:r>
            <a:r>
              <a:rPr lang="en-US" altLang="zh-CN" dirty="0"/>
              <a:t> == 0:</a:t>
            </a:r>
          </a:p>
          <a:p>
            <a:pPr marL="0" indent="0">
              <a:buNone/>
            </a:pPr>
            <a:r>
              <a:rPr lang="en-US" altLang="zh-CN" dirty="0"/>
              <a:t>#4.	        print(n, '</a:t>
            </a:r>
            <a:r>
              <a:rPr lang="zh-CN" altLang="en-US" dirty="0"/>
              <a:t>不是素数</a:t>
            </a:r>
            <a:r>
              <a:rPr lang="en-US" altLang="zh-CN" dirty="0"/>
              <a:t>')</a:t>
            </a:r>
          </a:p>
          <a:p>
            <a:pPr marL="0" indent="0">
              <a:buNone/>
            </a:pPr>
            <a:r>
              <a:rPr lang="en-US" altLang="zh-CN" dirty="0"/>
              <a:t>#5.	        break</a:t>
            </a:r>
          </a:p>
          <a:p>
            <a:pPr marL="0" indent="0">
              <a:buNone/>
            </a:pPr>
            <a:r>
              <a:rPr lang="en-US" altLang="zh-CN" dirty="0"/>
              <a:t>#6.	else:</a:t>
            </a:r>
          </a:p>
          <a:p>
            <a:pPr marL="0" indent="0">
              <a:buNone/>
            </a:pPr>
            <a:r>
              <a:rPr lang="en-US" altLang="zh-CN" dirty="0"/>
              <a:t>#7.	    print(n, '</a:t>
            </a:r>
            <a:r>
              <a:rPr lang="zh-CN" altLang="en-US" dirty="0"/>
              <a:t>是素数</a:t>
            </a:r>
            <a:r>
              <a:rPr lang="en-US" altLang="zh-CN" dirty="0"/>
              <a:t>’)</a:t>
            </a:r>
          </a:p>
          <a:p>
            <a:pPr marL="0" indent="0">
              <a:buNone/>
            </a:pPr>
            <a:r>
              <a:rPr lang="en-US" altLang="zh-CN" dirty="0"/>
              <a:t>#8. print(‘over’)</a:t>
            </a:r>
          </a:p>
        </p:txBody>
      </p:sp>
      <p:sp>
        <p:nvSpPr>
          <p:cNvPr id="4" name="灯片编号占位符 3">
            <a:extLst>
              <a:ext uri="{FF2B5EF4-FFF2-40B4-BE49-F238E27FC236}">
                <a16:creationId xmlns:a16="http://schemas.microsoft.com/office/drawing/2014/main" id="{91800EB3-ECFF-4C2E-905F-C52E9EA33FFE}"/>
              </a:ext>
            </a:extLst>
          </p:cNvPr>
          <p:cNvSpPr>
            <a:spLocks noGrp="1"/>
          </p:cNvSpPr>
          <p:nvPr>
            <p:ph type="sldNum" sz="quarter" idx="12"/>
          </p:nvPr>
        </p:nvSpPr>
        <p:spPr/>
        <p:txBody>
          <a:bodyPr/>
          <a:lstStyle/>
          <a:p>
            <a:fld id="{49AE70B2-8BF9-45C0-BB95-33D1B9D3A854}" type="slidenum">
              <a:rPr lang="zh-CN" altLang="en-US" smtClean="0"/>
              <a:t>30</a:t>
            </a:fld>
            <a:endParaRPr lang="zh-CN" altLang="en-US"/>
          </a:p>
        </p:txBody>
      </p:sp>
      <p:sp>
        <p:nvSpPr>
          <p:cNvPr id="6" name="标题 5">
            <a:extLst>
              <a:ext uri="{FF2B5EF4-FFF2-40B4-BE49-F238E27FC236}">
                <a16:creationId xmlns:a16="http://schemas.microsoft.com/office/drawing/2014/main" id="{818876DD-78EE-4327-90E2-69B8FE083DAE}"/>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117909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5.3.2 continue</a:t>
            </a:r>
            <a:r>
              <a:rPr lang="zh-CN" altLang="en-US" dirty="0"/>
              <a:t>语句</a:t>
            </a:r>
          </a:p>
        </p:txBody>
      </p:sp>
      <p:sp>
        <p:nvSpPr>
          <p:cNvPr id="3" name="内容占位符 2"/>
          <p:cNvSpPr>
            <a:spLocks noGrp="1"/>
          </p:cNvSpPr>
          <p:nvPr>
            <p:ph idx="1"/>
          </p:nvPr>
        </p:nvSpPr>
        <p:spPr/>
        <p:txBody>
          <a:bodyPr/>
          <a:lstStyle/>
          <a:p>
            <a:r>
              <a:rPr lang="en-US" altLang="zh-CN" dirty="0"/>
              <a:t>Continue</a:t>
            </a:r>
            <a:r>
              <a:rPr lang="zh-CN" altLang="en-US" dirty="0"/>
              <a:t>：提前结束本次循环</a:t>
            </a:r>
            <a:endParaRPr lang="en-US" altLang="zh-CN" dirty="0"/>
          </a:p>
          <a:p>
            <a:pPr lvl="1"/>
            <a:r>
              <a:rPr lang="zh-CN" altLang="en-US" dirty="0"/>
              <a:t>不再执行循环体中后面语句</a:t>
            </a:r>
            <a:endParaRPr lang="en-US" altLang="zh-CN" dirty="0"/>
          </a:p>
          <a:p>
            <a:pPr lvl="1"/>
            <a:r>
              <a:rPr lang="zh-CN" altLang="en-US" dirty="0"/>
              <a:t>跳回到循环首行，进行下一轮循环</a:t>
            </a:r>
          </a:p>
        </p:txBody>
      </p:sp>
      <p:sp>
        <p:nvSpPr>
          <p:cNvPr id="4" name="灯片编号占位符 3">
            <a:extLst>
              <a:ext uri="{FF2B5EF4-FFF2-40B4-BE49-F238E27FC236}">
                <a16:creationId xmlns:a16="http://schemas.microsoft.com/office/drawing/2014/main" id="{2BD97A73-C869-4D99-A26C-EC2FC02E43CF}"/>
              </a:ext>
            </a:extLst>
          </p:cNvPr>
          <p:cNvSpPr>
            <a:spLocks noGrp="1"/>
          </p:cNvSpPr>
          <p:nvPr>
            <p:ph type="sldNum" sz="quarter" idx="12"/>
          </p:nvPr>
        </p:nvSpPr>
        <p:spPr/>
        <p:txBody>
          <a:bodyPr/>
          <a:lstStyle/>
          <a:p>
            <a:fld id="{49AE70B2-8BF9-45C0-BB95-33D1B9D3A854}" type="slidenum">
              <a:rPr lang="zh-CN" altLang="en-US" smtClean="0"/>
              <a:t>31</a:t>
            </a:fld>
            <a:endParaRPr lang="zh-CN" altLang="en-US"/>
          </a:p>
        </p:txBody>
      </p:sp>
    </p:spTree>
    <p:extLst>
      <p:ext uri="{BB962C8B-B14F-4D97-AF65-F5344CB8AC3E}">
        <p14:creationId xmlns:p14="http://schemas.microsoft.com/office/powerpoint/2010/main" val="21341853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9982" y="-21013"/>
            <a:ext cx="10638546" cy="1169150"/>
          </a:xfrm>
        </p:spPr>
        <p:txBody>
          <a:bodyPr>
            <a:normAutofit fontScale="90000"/>
          </a:bodyPr>
          <a:lstStyle/>
          <a:p>
            <a:r>
              <a:rPr lang="en-US" altLang="zh-CN" dirty="0"/>
              <a:t>【</a:t>
            </a:r>
            <a:r>
              <a:rPr lang="zh-CN" altLang="en-US" dirty="0"/>
              <a:t>例</a:t>
            </a:r>
            <a:r>
              <a:rPr lang="en-US" altLang="zh-CN" dirty="0"/>
              <a:t>5-8】</a:t>
            </a:r>
            <a:r>
              <a:rPr lang="zh-CN" altLang="en-US" dirty="0"/>
              <a:t>改用</a:t>
            </a:r>
            <a:r>
              <a:rPr lang="en-US" altLang="zh-CN" dirty="0"/>
              <a:t>continue</a:t>
            </a:r>
            <a:r>
              <a:rPr lang="zh-CN" altLang="en-US" dirty="0"/>
              <a:t>找所有三位水仙花数。</a:t>
            </a:r>
          </a:p>
        </p:txBody>
      </p:sp>
      <p:sp>
        <p:nvSpPr>
          <p:cNvPr id="3" name="内容占位符 2"/>
          <p:cNvSpPr>
            <a:spLocks noGrp="1"/>
          </p:cNvSpPr>
          <p:nvPr>
            <p:ph idx="1"/>
          </p:nvPr>
        </p:nvSpPr>
        <p:spPr>
          <a:xfrm>
            <a:off x="669925" y="1412776"/>
            <a:ext cx="10852150" cy="4213071"/>
          </a:xfrm>
          <a:solidFill>
            <a:schemeClr val="bg1">
              <a:lumMod val="85000"/>
            </a:schemeClr>
          </a:solidFill>
        </p:spPr>
        <p:txBody>
          <a:bodyPr/>
          <a:lstStyle/>
          <a:p>
            <a:pPr marL="0" indent="0">
              <a:buNone/>
            </a:pPr>
            <a:r>
              <a:rPr lang="en-US" altLang="zh-CN" dirty="0"/>
              <a:t>#1.	for </a:t>
            </a:r>
            <a:r>
              <a:rPr lang="en-US" altLang="zh-CN" dirty="0" err="1"/>
              <a:t>i</a:t>
            </a:r>
            <a:r>
              <a:rPr lang="en-US" altLang="zh-CN" dirty="0"/>
              <a:t> in range(100, 1000):</a:t>
            </a:r>
          </a:p>
          <a:p>
            <a:pPr marL="0" indent="0">
              <a:buNone/>
            </a:pPr>
            <a:r>
              <a:rPr lang="en-US" altLang="zh-CN" dirty="0"/>
              <a:t>#2.	    a, temp = </a:t>
            </a:r>
            <a:r>
              <a:rPr lang="en-US" altLang="zh-CN" dirty="0" err="1"/>
              <a:t>divmod</a:t>
            </a:r>
            <a:r>
              <a:rPr lang="en-US" altLang="zh-CN" dirty="0"/>
              <a:t>(</a:t>
            </a:r>
            <a:r>
              <a:rPr lang="en-US" altLang="zh-CN" dirty="0" err="1"/>
              <a:t>i</a:t>
            </a:r>
            <a:r>
              <a:rPr lang="en-US" altLang="zh-CN" dirty="0"/>
              <a:t>, 100)</a:t>
            </a:r>
          </a:p>
          <a:p>
            <a:pPr marL="0" indent="0">
              <a:buNone/>
            </a:pPr>
            <a:r>
              <a:rPr lang="en-US" altLang="zh-CN" dirty="0"/>
              <a:t>#3.	    b, c = </a:t>
            </a:r>
            <a:r>
              <a:rPr lang="en-US" altLang="zh-CN" dirty="0" err="1"/>
              <a:t>divmod</a:t>
            </a:r>
            <a:r>
              <a:rPr lang="en-US" altLang="zh-CN" dirty="0"/>
              <a:t>(temp, 10)</a:t>
            </a:r>
          </a:p>
          <a:p>
            <a:pPr marL="0" indent="0">
              <a:buNone/>
            </a:pPr>
            <a:r>
              <a:rPr lang="en-US" altLang="zh-CN" dirty="0"/>
              <a:t>#4.	    if a ** 3 + b ** 3 + c ** 3 != i:</a:t>
            </a:r>
          </a:p>
          <a:p>
            <a:pPr marL="0" indent="0">
              <a:buNone/>
            </a:pPr>
            <a:r>
              <a:rPr lang="en-US" altLang="zh-CN" dirty="0"/>
              <a:t>#5.	        continue</a:t>
            </a:r>
          </a:p>
          <a:p>
            <a:pPr marL="0" indent="0">
              <a:buNone/>
            </a:pPr>
            <a:r>
              <a:rPr lang="en-US" altLang="zh-CN" dirty="0"/>
              <a:t>#6.	    print(</a:t>
            </a:r>
            <a:r>
              <a:rPr lang="en-US" altLang="zh-CN" dirty="0" err="1"/>
              <a:t>i</a:t>
            </a:r>
            <a:r>
              <a:rPr lang="en-US" altLang="zh-CN" dirty="0"/>
              <a:t>)</a:t>
            </a:r>
          </a:p>
          <a:p>
            <a:pPr marL="0" indent="0">
              <a:buNone/>
            </a:pPr>
            <a:r>
              <a:rPr lang="en-US" altLang="zh-CN" dirty="0"/>
              <a:t>#7. print(‘over’)</a:t>
            </a:r>
            <a:endParaRPr lang="zh-CN" altLang="en-US" dirty="0"/>
          </a:p>
        </p:txBody>
      </p:sp>
      <p:sp>
        <p:nvSpPr>
          <p:cNvPr id="4" name="灯片编号占位符 3">
            <a:extLst>
              <a:ext uri="{FF2B5EF4-FFF2-40B4-BE49-F238E27FC236}">
                <a16:creationId xmlns:a16="http://schemas.microsoft.com/office/drawing/2014/main" id="{C0C68B1C-5E20-4B80-8C11-78F120D6BC9B}"/>
              </a:ext>
            </a:extLst>
          </p:cNvPr>
          <p:cNvSpPr>
            <a:spLocks noGrp="1"/>
          </p:cNvSpPr>
          <p:nvPr>
            <p:ph type="sldNum" sz="quarter" idx="12"/>
          </p:nvPr>
        </p:nvSpPr>
        <p:spPr/>
        <p:txBody>
          <a:bodyPr/>
          <a:lstStyle/>
          <a:p>
            <a:fld id="{49AE70B2-8BF9-45C0-BB95-33D1B9D3A854}" type="slidenum">
              <a:rPr lang="zh-CN" altLang="en-US" smtClean="0"/>
              <a:t>32</a:t>
            </a:fld>
            <a:endParaRPr lang="zh-CN" altLang="en-US"/>
          </a:p>
        </p:txBody>
      </p:sp>
    </p:spTree>
    <p:extLst>
      <p:ext uri="{BB962C8B-B14F-4D97-AF65-F5344CB8AC3E}">
        <p14:creationId xmlns:p14="http://schemas.microsoft.com/office/powerpoint/2010/main" val="3692760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5.3.3 pass</a:t>
            </a:r>
            <a:r>
              <a:rPr lang="zh-CN" altLang="en-US" dirty="0"/>
              <a:t>语句</a:t>
            </a:r>
          </a:p>
        </p:txBody>
      </p:sp>
      <p:sp>
        <p:nvSpPr>
          <p:cNvPr id="3" name="内容占位符 2"/>
          <p:cNvSpPr>
            <a:spLocks noGrp="1"/>
          </p:cNvSpPr>
          <p:nvPr>
            <p:ph idx="1"/>
          </p:nvPr>
        </p:nvSpPr>
        <p:spPr/>
        <p:txBody>
          <a:bodyPr>
            <a:normAutofit/>
          </a:bodyPr>
          <a:lstStyle/>
          <a:p>
            <a:r>
              <a:rPr lang="en-US" altLang="zh-CN" dirty="0"/>
              <a:t>pass</a:t>
            </a:r>
            <a:r>
              <a:rPr lang="zh-CN" altLang="en-US" dirty="0"/>
              <a:t>语句又称空语句，不做任何操作</a:t>
            </a:r>
            <a:endParaRPr lang="en-US" altLang="zh-CN" dirty="0"/>
          </a:p>
          <a:p>
            <a:pPr lvl="1"/>
            <a:r>
              <a:rPr lang="zh-CN" altLang="en-US" dirty="0"/>
              <a:t>用</a:t>
            </a:r>
            <a:r>
              <a:rPr lang="en-US" altLang="zh-CN" dirty="0"/>
              <a:t>pass</a:t>
            </a:r>
            <a:r>
              <a:rPr lang="zh-CN" altLang="en-US" dirty="0"/>
              <a:t>语句保证控制结构的完整性。</a:t>
            </a:r>
            <a:endParaRPr lang="en-US" altLang="zh-CN" dirty="0"/>
          </a:p>
          <a:p>
            <a:pPr lvl="1"/>
            <a:r>
              <a:rPr lang="zh-CN" altLang="en-US" dirty="0"/>
              <a:t>模块化设计时，</a:t>
            </a:r>
            <a:r>
              <a:rPr lang="en-US" altLang="zh-CN" dirty="0"/>
              <a:t>pass</a:t>
            </a:r>
            <a:r>
              <a:rPr lang="zh-CN" altLang="en-US" dirty="0"/>
              <a:t>用于占位。</a:t>
            </a:r>
          </a:p>
          <a:p>
            <a:endParaRPr lang="zh-CN" altLang="en-US" dirty="0"/>
          </a:p>
        </p:txBody>
      </p:sp>
      <p:sp>
        <p:nvSpPr>
          <p:cNvPr id="4" name="灯片编号占位符 3">
            <a:extLst>
              <a:ext uri="{FF2B5EF4-FFF2-40B4-BE49-F238E27FC236}">
                <a16:creationId xmlns:a16="http://schemas.microsoft.com/office/drawing/2014/main" id="{67331744-1F33-4765-969B-F4B241A08DDC}"/>
              </a:ext>
            </a:extLst>
          </p:cNvPr>
          <p:cNvSpPr>
            <a:spLocks noGrp="1"/>
          </p:cNvSpPr>
          <p:nvPr>
            <p:ph type="sldNum" sz="quarter" idx="12"/>
          </p:nvPr>
        </p:nvSpPr>
        <p:spPr/>
        <p:txBody>
          <a:bodyPr/>
          <a:lstStyle/>
          <a:p>
            <a:fld id="{49AE70B2-8BF9-45C0-BB95-33D1B9D3A854}" type="slidenum">
              <a:rPr lang="zh-CN" altLang="en-US" smtClean="0"/>
              <a:t>33</a:t>
            </a:fld>
            <a:endParaRPr lang="zh-CN" altLang="en-US"/>
          </a:p>
        </p:txBody>
      </p:sp>
    </p:spTree>
    <p:extLst>
      <p:ext uri="{BB962C8B-B14F-4D97-AF65-F5344CB8AC3E}">
        <p14:creationId xmlns:p14="http://schemas.microsoft.com/office/powerpoint/2010/main" val="876981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97F579-3733-4D93-A962-265D0B6904E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98BF21E-DBF2-43A7-AC86-4FB8BB876005}"/>
              </a:ext>
            </a:extLst>
          </p:cNvPr>
          <p:cNvSpPr>
            <a:spLocks noGrp="1"/>
          </p:cNvSpPr>
          <p:nvPr>
            <p:ph idx="1"/>
          </p:nvPr>
        </p:nvSpPr>
        <p:spPr>
          <a:xfrm>
            <a:off x="119336" y="980728"/>
            <a:ext cx="11386864" cy="5100583"/>
          </a:xfrm>
        </p:spPr>
        <p:txBody>
          <a:bodyPr>
            <a:normAutofit fontScale="85000" lnSpcReduction="20000"/>
          </a:bodyPr>
          <a:lstStyle/>
          <a:p>
            <a:pPr marL="0" indent="0">
              <a:buNone/>
            </a:pPr>
            <a:r>
              <a:rPr lang="en-US" altLang="zh-CN" dirty="0"/>
              <a:t>【</a:t>
            </a:r>
            <a:r>
              <a:rPr lang="zh-CN" altLang="en-US" dirty="0"/>
              <a:t>例</a:t>
            </a:r>
            <a:r>
              <a:rPr lang="en-US" altLang="zh-CN" dirty="0"/>
              <a:t>】</a:t>
            </a:r>
            <a:r>
              <a:rPr lang="zh-CN" altLang="en-US" dirty="0"/>
              <a:t>输入年份和月份，输出该月几天</a:t>
            </a:r>
            <a:endParaRPr lang="en-US" altLang="zh-CN" dirty="0"/>
          </a:p>
          <a:p>
            <a:pPr marL="0" indent="0">
              <a:buNone/>
            </a:pPr>
            <a:r>
              <a:rPr lang="en-US" altLang="zh-CN" dirty="0"/>
              <a:t>x = eval(input())</a:t>
            </a:r>
          </a:p>
          <a:p>
            <a:pPr marL="0" indent="0">
              <a:buNone/>
            </a:pPr>
            <a:r>
              <a:rPr lang="en-US" altLang="zh-CN" dirty="0"/>
              <a:t>If x in [1,3,5,7,8,10,12]:</a:t>
            </a:r>
          </a:p>
          <a:p>
            <a:pPr marL="0" indent="0">
              <a:buNone/>
            </a:pPr>
            <a:r>
              <a:rPr lang="en-US" altLang="zh-CN" dirty="0"/>
              <a:t>    result = 31</a:t>
            </a:r>
          </a:p>
          <a:p>
            <a:pPr marL="0" indent="0">
              <a:buNone/>
            </a:pPr>
            <a:r>
              <a:rPr lang="en-US" altLang="zh-CN" dirty="0" err="1"/>
              <a:t>elif</a:t>
            </a:r>
            <a:r>
              <a:rPr lang="en-US" altLang="zh-CN" dirty="0"/>
              <a:t> x in [4,6,9,11]:</a:t>
            </a:r>
          </a:p>
          <a:p>
            <a:pPr marL="0" indent="0">
              <a:buNone/>
            </a:pPr>
            <a:r>
              <a:rPr lang="zh-CN" altLang="en-US" dirty="0"/>
              <a:t>    </a:t>
            </a:r>
            <a:r>
              <a:rPr lang="en-US" altLang="zh-CN" dirty="0"/>
              <a:t>result = 30</a:t>
            </a:r>
          </a:p>
          <a:p>
            <a:pPr marL="0" indent="0">
              <a:buNone/>
            </a:pPr>
            <a:r>
              <a:rPr lang="en-US" altLang="zh-CN" dirty="0" err="1"/>
              <a:t>elif</a:t>
            </a:r>
            <a:r>
              <a:rPr lang="en-US" altLang="zh-CN" dirty="0"/>
              <a:t> x%4==0 and x%100!=0:</a:t>
            </a:r>
          </a:p>
          <a:p>
            <a:pPr marL="0" indent="0">
              <a:buNone/>
            </a:pPr>
            <a:r>
              <a:rPr lang="en-US" altLang="zh-CN" dirty="0"/>
              <a:t>    pass</a:t>
            </a:r>
          </a:p>
          <a:p>
            <a:pPr marL="0" indent="0">
              <a:buNone/>
            </a:pPr>
            <a:r>
              <a:rPr lang="en-US" altLang="zh-CN" dirty="0" err="1"/>
              <a:t>elif</a:t>
            </a:r>
            <a:r>
              <a:rPr lang="en-US" altLang="zh-CN" dirty="0"/>
              <a:t> x%400==0:</a:t>
            </a:r>
          </a:p>
          <a:p>
            <a:pPr marL="0" indent="0">
              <a:buNone/>
            </a:pPr>
            <a:r>
              <a:rPr lang="zh-CN" altLang="en-US" dirty="0"/>
              <a:t>    </a:t>
            </a:r>
            <a:r>
              <a:rPr lang="en-US" altLang="zh-CN" dirty="0"/>
              <a:t>pass</a:t>
            </a:r>
          </a:p>
          <a:p>
            <a:pPr marL="0" indent="0">
              <a:buNone/>
            </a:pPr>
            <a:r>
              <a:rPr lang="en-US" altLang="zh-CN" dirty="0"/>
              <a:t>else:</a:t>
            </a:r>
          </a:p>
          <a:p>
            <a:pPr marL="0" indent="0">
              <a:buNone/>
            </a:pPr>
            <a:r>
              <a:rPr lang="en-US" altLang="zh-CN" dirty="0"/>
              <a:t>    result = 28</a:t>
            </a:r>
            <a:endParaRPr lang="zh-CN" altLang="en-US" dirty="0"/>
          </a:p>
        </p:txBody>
      </p:sp>
      <p:sp>
        <p:nvSpPr>
          <p:cNvPr id="4" name="灯片编号占位符 3">
            <a:extLst>
              <a:ext uri="{FF2B5EF4-FFF2-40B4-BE49-F238E27FC236}">
                <a16:creationId xmlns:a16="http://schemas.microsoft.com/office/drawing/2014/main" id="{F6A6EC1A-CDEE-42C3-894E-4AF82B9C0C8D}"/>
              </a:ext>
            </a:extLst>
          </p:cNvPr>
          <p:cNvSpPr>
            <a:spLocks noGrp="1"/>
          </p:cNvSpPr>
          <p:nvPr>
            <p:ph type="sldNum" sz="quarter" idx="12"/>
          </p:nvPr>
        </p:nvSpPr>
        <p:spPr/>
        <p:txBody>
          <a:bodyPr/>
          <a:lstStyle/>
          <a:p>
            <a:fld id="{49AE70B2-8BF9-45C0-BB95-33D1B9D3A854}" type="slidenum">
              <a:rPr lang="zh-CN" altLang="en-US" smtClean="0"/>
              <a:pPr/>
              <a:t>34</a:t>
            </a:fld>
            <a:endParaRPr lang="zh-CN" altLang="en-US" dirty="0"/>
          </a:p>
        </p:txBody>
      </p:sp>
    </p:spTree>
    <p:extLst>
      <p:ext uri="{BB962C8B-B14F-4D97-AF65-F5344CB8AC3E}">
        <p14:creationId xmlns:p14="http://schemas.microsoft.com/office/powerpoint/2010/main" val="1065597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a:xfrm>
            <a:off x="1779905" y="2292350"/>
            <a:ext cx="8731885" cy="1151255"/>
          </a:xfrm>
        </p:spPr>
        <p:txBody>
          <a:bodyPr vert="horz" wrap="square" lIns="91440" tIns="45720" rIns="91440" bIns="45720" anchor="b"/>
          <a:lstStyle/>
          <a:p>
            <a:pPr>
              <a:buClrTx/>
              <a:buSzTx/>
              <a:buFontTx/>
              <a:buNone/>
            </a:pPr>
            <a:r>
              <a:rPr lang="en-US" kern="1200" dirty="0">
                <a:latin typeface="+mj-lt"/>
                <a:ea typeface="+mj-ea"/>
                <a:cs typeface="+mj-cs"/>
              </a:rPr>
              <a:t>5.4 </a:t>
            </a:r>
            <a:r>
              <a:rPr lang="zh-CN" altLang="en-US" kern="1200" dirty="0">
                <a:latin typeface="+mj-lt"/>
                <a:ea typeface="+mj-ea"/>
                <a:cs typeface="+mj-cs"/>
              </a:rPr>
              <a:t>循环的嵌套</a:t>
            </a:r>
          </a:p>
        </p:txBody>
      </p:sp>
      <p:sp>
        <p:nvSpPr>
          <p:cNvPr id="2" name="灯片编号占位符 1">
            <a:extLst>
              <a:ext uri="{FF2B5EF4-FFF2-40B4-BE49-F238E27FC236}">
                <a16:creationId xmlns:a16="http://schemas.microsoft.com/office/drawing/2014/main" id="{87095FCD-A1B9-4E7F-8CB0-6F36944DDE29}"/>
              </a:ext>
            </a:extLst>
          </p:cNvPr>
          <p:cNvSpPr>
            <a:spLocks noGrp="1"/>
          </p:cNvSpPr>
          <p:nvPr>
            <p:ph type="sldNum" sz="quarter" idx="12"/>
          </p:nvPr>
        </p:nvSpPr>
        <p:spPr/>
        <p:txBody>
          <a:bodyPr/>
          <a:lstStyle/>
          <a:p>
            <a:fld id="{49AE70B2-8BF9-45C0-BB95-33D1B9D3A854}" type="slidenum">
              <a:rPr lang="zh-CN" altLang="en-US" smtClean="0"/>
              <a:t>35</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循环嵌套</a:t>
            </a:r>
          </a:p>
        </p:txBody>
      </p:sp>
      <p:sp>
        <p:nvSpPr>
          <p:cNvPr id="3" name="内容占位符 2"/>
          <p:cNvSpPr>
            <a:spLocks noGrp="1"/>
          </p:cNvSpPr>
          <p:nvPr>
            <p:ph idx="1"/>
          </p:nvPr>
        </p:nvSpPr>
        <p:spPr/>
        <p:txBody>
          <a:bodyPr>
            <a:normAutofit/>
          </a:bodyPr>
          <a:lstStyle/>
          <a:p>
            <a:r>
              <a:rPr lang="zh-CN" altLang="en-US" dirty="0"/>
              <a:t>一个循环内包含另一个循环</a:t>
            </a:r>
            <a:endParaRPr lang="en-US" altLang="zh-CN" dirty="0"/>
          </a:p>
          <a:p>
            <a:pPr lvl="1"/>
            <a:r>
              <a:rPr lang="zh-CN" altLang="en-US" dirty="0"/>
              <a:t>双重循环：外层循环，内层循环。</a:t>
            </a:r>
            <a:endParaRPr lang="en-US" altLang="zh-CN" dirty="0"/>
          </a:p>
          <a:p>
            <a:pPr lvl="1"/>
            <a:r>
              <a:rPr lang="en-US" altLang="zh-CN" dirty="0"/>
              <a:t>3</a:t>
            </a:r>
            <a:r>
              <a:rPr lang="zh-CN" altLang="en-US" dirty="0"/>
              <a:t>重循环：内循环再嵌套</a:t>
            </a:r>
            <a:endParaRPr lang="en-US" altLang="zh-CN" dirty="0"/>
          </a:p>
          <a:p>
            <a:pPr lvl="1"/>
            <a:r>
              <a:rPr lang="zh-CN" altLang="en-US" dirty="0"/>
              <a:t>外循环每执行一次，内循环就要执行</a:t>
            </a:r>
            <a:r>
              <a:rPr lang="en-US" altLang="zh-CN" dirty="0"/>
              <a:t>n</a:t>
            </a:r>
            <a:r>
              <a:rPr lang="zh-CN" altLang="en-US" dirty="0"/>
              <a:t>次（完整的循环）</a:t>
            </a:r>
          </a:p>
          <a:p>
            <a:pPr lvl="1"/>
            <a:r>
              <a:rPr lang="zh-CN" altLang="en-US" dirty="0"/>
              <a:t>可以使用不同的循环语句相互嵌套，来解决复杂问题；</a:t>
            </a:r>
          </a:p>
          <a:p>
            <a:pPr lvl="1"/>
            <a:r>
              <a:rPr lang="zh-CN" altLang="en-US" dirty="0"/>
              <a:t>使用</a:t>
            </a:r>
            <a:r>
              <a:rPr lang="en-US" altLang="zh-CN" dirty="0"/>
              <a:t>break</a:t>
            </a:r>
            <a:r>
              <a:rPr lang="zh-CN" altLang="en-US" dirty="0"/>
              <a:t>语句，只能跳出</a:t>
            </a:r>
            <a:r>
              <a:rPr lang="en-US" altLang="zh-CN" dirty="0"/>
              <a:t>break</a:t>
            </a:r>
            <a:r>
              <a:rPr lang="zh-CN" altLang="en-US" dirty="0"/>
              <a:t>语句所在那层的循环；</a:t>
            </a:r>
          </a:p>
          <a:p>
            <a:pPr lvl="1"/>
            <a:r>
              <a:rPr lang="zh-CN" altLang="en-US" dirty="0"/>
              <a:t>注意缩进，错误的缩进会导致循环错误</a:t>
            </a:r>
          </a:p>
        </p:txBody>
      </p:sp>
      <p:sp>
        <p:nvSpPr>
          <p:cNvPr id="4" name="灯片编号占位符 3">
            <a:extLst>
              <a:ext uri="{FF2B5EF4-FFF2-40B4-BE49-F238E27FC236}">
                <a16:creationId xmlns:a16="http://schemas.microsoft.com/office/drawing/2014/main" id="{7D8A91BD-FAA2-48B0-9777-49079AAB7EB3}"/>
              </a:ext>
            </a:extLst>
          </p:cNvPr>
          <p:cNvSpPr>
            <a:spLocks noGrp="1"/>
          </p:cNvSpPr>
          <p:nvPr>
            <p:ph type="sldNum" sz="quarter" idx="12"/>
          </p:nvPr>
        </p:nvSpPr>
        <p:spPr/>
        <p:txBody>
          <a:bodyPr/>
          <a:lstStyle/>
          <a:p>
            <a:fld id="{49AE70B2-8BF9-45C0-BB95-33D1B9D3A854}" type="slidenum">
              <a:rPr lang="zh-CN" altLang="en-US" smtClean="0"/>
              <a:t>36</a:t>
            </a:fld>
            <a:endParaRPr lang="zh-CN" altLang="en-US"/>
          </a:p>
        </p:txBody>
      </p:sp>
    </p:spTree>
    <p:extLst>
      <p:ext uri="{BB962C8B-B14F-4D97-AF65-F5344CB8AC3E}">
        <p14:creationId xmlns:p14="http://schemas.microsoft.com/office/powerpoint/2010/main" val="4164426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5-9】</a:t>
            </a:r>
            <a:r>
              <a:rPr lang="zh-CN" altLang="en-US" dirty="0"/>
              <a:t>打印九九乘法表。</a:t>
            </a:r>
          </a:p>
        </p:txBody>
      </p:sp>
      <p:sp>
        <p:nvSpPr>
          <p:cNvPr id="3" name="内容占位符 2"/>
          <p:cNvSpPr>
            <a:spLocks noGrp="1"/>
          </p:cNvSpPr>
          <p:nvPr>
            <p:ph idx="1"/>
          </p:nvPr>
        </p:nvSpPr>
        <p:spPr/>
        <p:txBody>
          <a:bodyPr/>
          <a:lstStyle/>
          <a:p>
            <a:pPr marL="457200" lvl="1" indent="0">
              <a:buNone/>
            </a:pPr>
            <a:endParaRPr lang="zh-CN" altLang="en-US" dirty="0"/>
          </a:p>
          <a:p>
            <a:endParaRPr lang="zh-CN" altLang="en-US" dirty="0"/>
          </a:p>
        </p:txBody>
      </p:sp>
      <p:sp>
        <p:nvSpPr>
          <p:cNvPr id="5" name="灯片编号占位符 4">
            <a:extLst>
              <a:ext uri="{FF2B5EF4-FFF2-40B4-BE49-F238E27FC236}">
                <a16:creationId xmlns:a16="http://schemas.microsoft.com/office/drawing/2014/main" id="{08C714F1-8388-4A1F-80D2-96BFD2526E58}"/>
              </a:ext>
            </a:extLst>
          </p:cNvPr>
          <p:cNvSpPr>
            <a:spLocks noGrp="1"/>
          </p:cNvSpPr>
          <p:nvPr>
            <p:ph type="sldNum" sz="quarter" idx="12"/>
          </p:nvPr>
        </p:nvSpPr>
        <p:spPr/>
        <p:txBody>
          <a:bodyPr/>
          <a:lstStyle/>
          <a:p>
            <a:fld id="{49AE70B2-8BF9-45C0-BB95-33D1B9D3A854}" type="slidenum">
              <a:rPr lang="zh-CN" altLang="en-US" smtClean="0"/>
              <a:t>37</a:t>
            </a:fld>
            <a:endParaRPr lang="zh-CN" altLang="en-US"/>
          </a:p>
        </p:txBody>
      </p:sp>
      <p:pic>
        <p:nvPicPr>
          <p:cNvPr id="7" name="图片 6">
            <a:extLst>
              <a:ext uri="{FF2B5EF4-FFF2-40B4-BE49-F238E27FC236}">
                <a16:creationId xmlns:a16="http://schemas.microsoft.com/office/drawing/2014/main" id="{DCE8AEB6-5325-459D-A8DA-CD33673B75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383" y="1052736"/>
            <a:ext cx="11180081" cy="3528392"/>
          </a:xfrm>
          <a:prstGeom prst="rect">
            <a:avLst/>
          </a:prstGeom>
        </p:spPr>
      </p:pic>
    </p:spTree>
    <p:extLst>
      <p:ext uri="{BB962C8B-B14F-4D97-AF65-F5344CB8AC3E}">
        <p14:creationId xmlns:p14="http://schemas.microsoft.com/office/powerpoint/2010/main" val="3235555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5-9】</a:t>
            </a:r>
            <a:r>
              <a:rPr lang="zh-CN" altLang="en-US" dirty="0"/>
              <a:t>打印九九乘法表。</a:t>
            </a:r>
          </a:p>
        </p:txBody>
      </p:sp>
      <p:sp>
        <p:nvSpPr>
          <p:cNvPr id="3" name="内容占位符 2"/>
          <p:cNvSpPr>
            <a:spLocks noGrp="1"/>
          </p:cNvSpPr>
          <p:nvPr>
            <p:ph idx="1"/>
          </p:nvPr>
        </p:nvSpPr>
        <p:spPr/>
        <p:txBody>
          <a:bodyPr/>
          <a:lstStyle/>
          <a:p>
            <a:pPr marL="0" indent="0">
              <a:buNone/>
            </a:pPr>
            <a:r>
              <a:rPr lang="en-US" altLang="zh-CN" dirty="0"/>
              <a:t>【</a:t>
            </a:r>
            <a:r>
              <a:rPr lang="zh-CN" altLang="en-US" dirty="0"/>
              <a:t>算法</a:t>
            </a:r>
            <a:r>
              <a:rPr lang="en-US" altLang="zh-CN" dirty="0"/>
              <a:t>】</a:t>
            </a:r>
          </a:p>
          <a:p>
            <a:pPr marL="0" indent="0">
              <a:buNone/>
            </a:pPr>
            <a:r>
              <a:rPr lang="zh-CN" altLang="en-US" dirty="0"/>
              <a:t>  程序使用双重循环，定义两个循环变量</a:t>
            </a:r>
            <a:r>
              <a:rPr lang="en-US" altLang="zh-CN" dirty="0" err="1"/>
              <a:t>i</a:t>
            </a:r>
            <a:r>
              <a:rPr lang="zh-CN" altLang="en-US" dirty="0"/>
              <a:t>和</a:t>
            </a:r>
            <a:r>
              <a:rPr lang="en-US" altLang="zh-CN" dirty="0"/>
              <a:t>j</a:t>
            </a:r>
          </a:p>
          <a:p>
            <a:pPr lvl="1"/>
            <a:r>
              <a:rPr lang="en-US" altLang="zh-CN" dirty="0" err="1"/>
              <a:t>i</a:t>
            </a:r>
            <a:r>
              <a:rPr lang="zh-CN" altLang="en-US" dirty="0"/>
              <a:t>用于控制外循环，第几行</a:t>
            </a:r>
            <a:endParaRPr lang="en-US" altLang="zh-CN" dirty="0"/>
          </a:p>
          <a:p>
            <a:pPr lvl="1"/>
            <a:r>
              <a:rPr lang="en-US" altLang="zh-CN" dirty="0"/>
              <a:t>j</a:t>
            </a:r>
            <a:r>
              <a:rPr lang="zh-CN" altLang="en-US" dirty="0"/>
              <a:t>用于控制内循环，每行内第几列</a:t>
            </a:r>
            <a:endParaRPr lang="en-US" altLang="zh-CN" dirty="0"/>
          </a:p>
          <a:p>
            <a:pPr marL="457200" lvl="1" indent="0">
              <a:buNone/>
            </a:pPr>
            <a:endParaRPr lang="zh-CN" altLang="en-US" dirty="0"/>
          </a:p>
          <a:p>
            <a:endParaRPr lang="zh-CN" altLang="en-US" dirty="0"/>
          </a:p>
        </p:txBody>
      </p:sp>
      <p:sp>
        <p:nvSpPr>
          <p:cNvPr id="5" name="灯片编号占位符 4">
            <a:extLst>
              <a:ext uri="{FF2B5EF4-FFF2-40B4-BE49-F238E27FC236}">
                <a16:creationId xmlns:a16="http://schemas.microsoft.com/office/drawing/2014/main" id="{08C714F1-8388-4A1F-80D2-96BFD2526E58}"/>
              </a:ext>
            </a:extLst>
          </p:cNvPr>
          <p:cNvSpPr>
            <a:spLocks noGrp="1"/>
          </p:cNvSpPr>
          <p:nvPr>
            <p:ph type="sldNum" sz="quarter" idx="12"/>
          </p:nvPr>
        </p:nvSpPr>
        <p:spPr/>
        <p:txBody>
          <a:bodyPr/>
          <a:lstStyle/>
          <a:p>
            <a:fld id="{49AE70B2-8BF9-45C0-BB95-33D1B9D3A854}" type="slidenum">
              <a:rPr lang="zh-CN" altLang="en-US" smtClean="0"/>
              <a:t>38</a:t>
            </a:fld>
            <a:endParaRPr lang="zh-CN" altLang="en-US"/>
          </a:p>
        </p:txBody>
      </p:sp>
    </p:spTree>
    <p:extLst>
      <p:ext uri="{BB962C8B-B14F-4D97-AF65-F5344CB8AC3E}">
        <p14:creationId xmlns:p14="http://schemas.microsoft.com/office/powerpoint/2010/main" val="1001158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5-9】</a:t>
            </a:r>
            <a:r>
              <a:rPr lang="zh-CN" altLang="en-US" dirty="0"/>
              <a:t>打印九九乘法表。</a:t>
            </a:r>
          </a:p>
        </p:txBody>
      </p:sp>
      <p:sp>
        <p:nvSpPr>
          <p:cNvPr id="3" name="内容占位符 2"/>
          <p:cNvSpPr>
            <a:spLocks noGrp="1"/>
          </p:cNvSpPr>
          <p:nvPr>
            <p:ph idx="1"/>
          </p:nvPr>
        </p:nvSpPr>
        <p:spPr>
          <a:xfrm>
            <a:off x="551384" y="1196752"/>
            <a:ext cx="11456167" cy="3888432"/>
          </a:xfrm>
          <a:solidFill>
            <a:schemeClr val="bg1">
              <a:lumMod val="85000"/>
            </a:schemeClr>
          </a:solidFill>
        </p:spPr>
        <p:txBody>
          <a:bodyPr>
            <a:normAutofit/>
          </a:bodyPr>
          <a:lstStyle/>
          <a:p>
            <a:pPr marL="0" indent="0">
              <a:buNone/>
            </a:pPr>
            <a:r>
              <a:rPr lang="en-US" altLang="zh-CN" sz="2800" dirty="0"/>
              <a:t>#1.	for </a:t>
            </a:r>
            <a:r>
              <a:rPr lang="en-US" altLang="zh-CN" sz="2800" dirty="0" err="1"/>
              <a:t>i</a:t>
            </a:r>
            <a:r>
              <a:rPr lang="en-US" altLang="zh-CN" sz="2800" dirty="0"/>
              <a:t> in range(1, 10):</a:t>
            </a:r>
          </a:p>
          <a:p>
            <a:pPr marL="0" indent="0">
              <a:buNone/>
            </a:pPr>
            <a:r>
              <a:rPr lang="en-US" altLang="zh-CN" sz="2800" dirty="0"/>
              <a:t>#2.	    for j in range(1, </a:t>
            </a:r>
            <a:r>
              <a:rPr lang="en-US" altLang="zh-CN" sz="2800" dirty="0" err="1"/>
              <a:t>i</a:t>
            </a:r>
            <a:r>
              <a:rPr lang="en-US" altLang="zh-CN" sz="2800" dirty="0"/>
              <a:t> + 1):</a:t>
            </a:r>
          </a:p>
          <a:p>
            <a:pPr marL="0" indent="0">
              <a:buNone/>
            </a:pPr>
            <a:r>
              <a:rPr lang="en-US" altLang="zh-CN" sz="2800" dirty="0"/>
              <a:t>#3.	        s = </a:t>
            </a:r>
            <a:r>
              <a:rPr lang="en-US" altLang="zh-CN" sz="2800" dirty="0" err="1"/>
              <a:t>str</a:t>
            </a:r>
            <a:r>
              <a:rPr lang="en-US" altLang="zh-CN" sz="2800" dirty="0"/>
              <a:t>(j) + '*' + </a:t>
            </a:r>
            <a:r>
              <a:rPr lang="en-US" altLang="zh-CN" sz="2800" dirty="0" err="1"/>
              <a:t>str</a:t>
            </a:r>
            <a:r>
              <a:rPr lang="en-US" altLang="zh-CN" sz="2800" dirty="0"/>
              <a:t>(</a:t>
            </a:r>
            <a:r>
              <a:rPr lang="en-US" altLang="zh-CN" sz="2800" dirty="0" err="1"/>
              <a:t>i</a:t>
            </a:r>
            <a:r>
              <a:rPr lang="en-US" altLang="zh-CN" sz="2800" dirty="0"/>
              <a:t>) + '=' + </a:t>
            </a:r>
            <a:r>
              <a:rPr lang="en-US" altLang="zh-CN" sz="2800" dirty="0" err="1"/>
              <a:t>str</a:t>
            </a:r>
            <a:r>
              <a:rPr lang="en-US" altLang="zh-CN" sz="2800" dirty="0"/>
              <a:t>(</a:t>
            </a:r>
            <a:r>
              <a:rPr lang="en-US" altLang="zh-CN" sz="2800" dirty="0" err="1"/>
              <a:t>i</a:t>
            </a:r>
            <a:r>
              <a:rPr lang="en-US" altLang="zh-CN" sz="2800" dirty="0"/>
              <a:t> * j)</a:t>
            </a:r>
          </a:p>
          <a:p>
            <a:pPr marL="0" indent="0">
              <a:buNone/>
            </a:pPr>
            <a:r>
              <a:rPr lang="en-US" altLang="zh-CN" sz="2800" dirty="0"/>
              <a:t>#4.	        print(s, end=' ')</a:t>
            </a:r>
          </a:p>
          <a:p>
            <a:pPr marL="0" indent="0">
              <a:buNone/>
            </a:pPr>
            <a:r>
              <a:rPr lang="en-US" altLang="zh-CN" sz="2800" dirty="0"/>
              <a:t>#5.	    print()	# </a:t>
            </a:r>
            <a:r>
              <a:rPr lang="zh-CN" altLang="en-US" sz="2800" dirty="0"/>
              <a:t>换行</a:t>
            </a:r>
            <a:endParaRPr lang="en-US" altLang="zh-CN" sz="2800" dirty="0"/>
          </a:p>
        </p:txBody>
      </p:sp>
      <p:sp>
        <p:nvSpPr>
          <p:cNvPr id="4" name="灯片编号占位符 3">
            <a:extLst>
              <a:ext uri="{FF2B5EF4-FFF2-40B4-BE49-F238E27FC236}">
                <a16:creationId xmlns:a16="http://schemas.microsoft.com/office/drawing/2014/main" id="{3AF81AEC-EBD5-4969-A545-97FD84BE49A5}"/>
              </a:ext>
            </a:extLst>
          </p:cNvPr>
          <p:cNvSpPr>
            <a:spLocks noGrp="1"/>
          </p:cNvSpPr>
          <p:nvPr>
            <p:ph type="sldNum" sz="quarter" idx="12"/>
          </p:nvPr>
        </p:nvSpPr>
        <p:spPr/>
        <p:txBody>
          <a:bodyPr/>
          <a:lstStyle/>
          <a:p>
            <a:fld id="{49AE70B2-8BF9-45C0-BB95-33D1B9D3A854}" type="slidenum">
              <a:rPr lang="zh-CN" altLang="en-US" smtClean="0"/>
              <a:t>39</a:t>
            </a:fld>
            <a:endParaRPr lang="zh-CN" altLang="en-US"/>
          </a:p>
        </p:txBody>
      </p:sp>
    </p:spTree>
    <p:extLst>
      <p:ext uri="{BB962C8B-B14F-4D97-AF65-F5344CB8AC3E}">
        <p14:creationId xmlns:p14="http://schemas.microsoft.com/office/powerpoint/2010/main" val="36570527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9982" y="-21013"/>
            <a:ext cx="10062482" cy="1169150"/>
          </a:xfrm>
        </p:spPr>
        <p:txBody>
          <a:bodyPr>
            <a:normAutofit/>
          </a:bodyPr>
          <a:lstStyle/>
          <a:p>
            <a:r>
              <a:rPr lang="en-US" altLang="zh-CN" dirty="0"/>
              <a:t>【</a:t>
            </a:r>
            <a:r>
              <a:rPr lang="zh-CN" altLang="en-US" dirty="0"/>
              <a:t>例</a:t>
            </a:r>
            <a:r>
              <a:rPr lang="en-US" altLang="zh-CN" dirty="0"/>
              <a:t>5-10】(</a:t>
            </a:r>
            <a:r>
              <a:rPr lang="zh-CN" altLang="en-US" dirty="0"/>
              <a:t>重要</a:t>
            </a:r>
            <a:r>
              <a:rPr lang="en-US" altLang="zh-CN" dirty="0"/>
              <a:t>)</a:t>
            </a:r>
            <a:r>
              <a:rPr lang="zh-CN" altLang="en-US" dirty="0"/>
              <a:t>求</a:t>
            </a:r>
            <a:r>
              <a:rPr lang="en-US" altLang="zh-CN" dirty="0"/>
              <a:t>100</a:t>
            </a:r>
            <a:r>
              <a:rPr lang="zh-CN" altLang="en-US" dirty="0"/>
              <a:t>以内的全部素数。</a:t>
            </a:r>
          </a:p>
        </p:txBody>
      </p:sp>
      <p:sp>
        <p:nvSpPr>
          <p:cNvPr id="3" name="内容占位符 2"/>
          <p:cNvSpPr>
            <a:spLocks noGrp="1"/>
          </p:cNvSpPr>
          <p:nvPr>
            <p:ph idx="1"/>
          </p:nvPr>
        </p:nvSpPr>
        <p:spPr/>
        <p:txBody>
          <a:bodyPr/>
          <a:lstStyle/>
          <a:p>
            <a:r>
              <a:rPr lang="zh-CN" altLang="en-US" dirty="0"/>
              <a:t>输出：</a:t>
            </a:r>
            <a:r>
              <a:rPr lang="zh-CN" altLang="zh-CN" dirty="0"/>
              <a:t>每行</a:t>
            </a:r>
            <a:r>
              <a:rPr lang="en-US" altLang="zh-CN" dirty="0"/>
              <a:t>5</a:t>
            </a:r>
            <a:r>
              <a:rPr lang="zh-CN" altLang="zh-CN" dirty="0"/>
              <a:t>个</a:t>
            </a:r>
            <a:endParaRPr lang="en-US" altLang="zh-CN" dirty="0"/>
          </a:p>
          <a:p>
            <a:r>
              <a:rPr lang="zh-CN" altLang="en-US" dirty="0"/>
              <a:t>使用二重循环，定义两个循环变量</a:t>
            </a:r>
            <a:r>
              <a:rPr lang="en-US" altLang="zh-CN" dirty="0" err="1"/>
              <a:t>i</a:t>
            </a:r>
            <a:r>
              <a:rPr lang="zh-CN" altLang="en-US" dirty="0"/>
              <a:t>和</a:t>
            </a:r>
            <a:r>
              <a:rPr lang="en-US" altLang="zh-CN" dirty="0"/>
              <a:t>j</a:t>
            </a:r>
          </a:p>
          <a:p>
            <a:pPr lvl="1"/>
            <a:r>
              <a:rPr lang="en-US" altLang="zh-CN" dirty="0" err="1"/>
              <a:t>i</a:t>
            </a:r>
            <a:r>
              <a:rPr lang="zh-CN" altLang="en-US" dirty="0"/>
              <a:t>用于控制外循环，从</a:t>
            </a:r>
            <a:r>
              <a:rPr lang="en-US" altLang="zh-CN" dirty="0"/>
              <a:t>2</a:t>
            </a:r>
            <a:r>
              <a:rPr lang="zh-CN" altLang="en-US" dirty="0"/>
              <a:t>到</a:t>
            </a:r>
            <a:r>
              <a:rPr lang="en-US" altLang="zh-CN" dirty="0"/>
              <a:t>99</a:t>
            </a:r>
          </a:p>
          <a:p>
            <a:pPr lvl="1"/>
            <a:r>
              <a:rPr lang="en-US" altLang="zh-CN" dirty="0"/>
              <a:t>j</a:t>
            </a:r>
            <a:r>
              <a:rPr lang="zh-CN" altLang="en-US" dirty="0"/>
              <a:t>用于控制内循环，从</a:t>
            </a:r>
            <a:r>
              <a:rPr lang="en-US" altLang="zh-CN" dirty="0"/>
              <a:t>2</a:t>
            </a:r>
            <a:r>
              <a:rPr lang="zh-CN" altLang="en-US" dirty="0"/>
              <a:t>到</a:t>
            </a:r>
            <a:r>
              <a:rPr lang="en-US" altLang="zh-CN" dirty="0"/>
              <a:t>i-1,</a:t>
            </a:r>
            <a:r>
              <a:rPr lang="zh-CN" altLang="en-US" dirty="0"/>
              <a:t>判断</a:t>
            </a:r>
            <a:r>
              <a:rPr lang="en-US" altLang="zh-CN" dirty="0" err="1"/>
              <a:t>i</a:t>
            </a:r>
            <a:r>
              <a:rPr lang="zh-CN" altLang="en-US" dirty="0"/>
              <a:t>是否能被</a:t>
            </a:r>
            <a:r>
              <a:rPr lang="en-US" altLang="zh-CN" dirty="0"/>
              <a:t>j</a:t>
            </a:r>
            <a:r>
              <a:rPr lang="zh-CN" altLang="en-US" dirty="0"/>
              <a:t>整除。</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86634BE4-E085-4FBA-9799-FF207C40E227}"/>
              </a:ext>
            </a:extLst>
          </p:cNvPr>
          <p:cNvSpPr>
            <a:spLocks noGrp="1"/>
          </p:cNvSpPr>
          <p:nvPr>
            <p:ph type="sldNum" sz="quarter" idx="12"/>
          </p:nvPr>
        </p:nvSpPr>
        <p:spPr/>
        <p:txBody>
          <a:bodyPr/>
          <a:lstStyle/>
          <a:p>
            <a:fld id="{49AE70B2-8BF9-45C0-BB95-33D1B9D3A854}" type="slidenum">
              <a:rPr lang="zh-CN" altLang="en-US" smtClean="0"/>
              <a:t>40</a:t>
            </a:fld>
            <a:endParaRPr lang="zh-CN" altLang="en-US"/>
          </a:p>
        </p:txBody>
      </p:sp>
    </p:spTree>
    <p:extLst>
      <p:ext uri="{BB962C8B-B14F-4D97-AF65-F5344CB8AC3E}">
        <p14:creationId xmlns:p14="http://schemas.microsoft.com/office/powerpoint/2010/main" val="1533196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5-10】</a:t>
            </a:r>
            <a:r>
              <a:rPr lang="zh-CN" altLang="en-US" dirty="0"/>
              <a:t>求</a:t>
            </a:r>
            <a:r>
              <a:rPr lang="en-US" altLang="zh-CN" dirty="0"/>
              <a:t>100</a:t>
            </a:r>
            <a:r>
              <a:rPr lang="zh-CN" altLang="en-US" dirty="0"/>
              <a:t>以内的全部素数。</a:t>
            </a:r>
          </a:p>
        </p:txBody>
      </p:sp>
      <p:sp>
        <p:nvSpPr>
          <p:cNvPr id="3" name="内容占位符 2"/>
          <p:cNvSpPr>
            <a:spLocks noGrp="1"/>
          </p:cNvSpPr>
          <p:nvPr>
            <p:ph idx="1"/>
          </p:nvPr>
        </p:nvSpPr>
        <p:spPr>
          <a:xfrm>
            <a:off x="479376" y="1052737"/>
            <a:ext cx="12025336" cy="5472608"/>
          </a:xfrm>
          <a:solidFill>
            <a:schemeClr val="bg1">
              <a:lumMod val="85000"/>
            </a:schemeClr>
          </a:solidFill>
        </p:spPr>
        <p:txBody>
          <a:bodyPr>
            <a:noAutofit/>
          </a:bodyPr>
          <a:lstStyle/>
          <a:p>
            <a:pPr marL="0" indent="0">
              <a:lnSpc>
                <a:spcPct val="100000"/>
              </a:lnSpc>
              <a:spcBef>
                <a:spcPts val="0"/>
              </a:spcBef>
              <a:buNone/>
            </a:pPr>
            <a:r>
              <a:rPr lang="en-US" altLang="zh-CN" sz="2800" dirty="0"/>
              <a:t>#1.	n = 0</a:t>
            </a:r>
          </a:p>
          <a:p>
            <a:pPr marL="0" indent="0">
              <a:lnSpc>
                <a:spcPct val="100000"/>
              </a:lnSpc>
              <a:spcBef>
                <a:spcPts val="0"/>
              </a:spcBef>
              <a:buNone/>
            </a:pPr>
            <a:r>
              <a:rPr lang="en-US" altLang="zh-CN" sz="2800" dirty="0"/>
              <a:t>#2.	for </a:t>
            </a:r>
            <a:r>
              <a:rPr lang="en-US" altLang="zh-CN" sz="2800" dirty="0" err="1"/>
              <a:t>i</a:t>
            </a:r>
            <a:r>
              <a:rPr lang="en-US" altLang="zh-CN" sz="2800" dirty="0"/>
              <a:t> in range(2, 100):</a:t>
            </a:r>
          </a:p>
          <a:p>
            <a:pPr marL="0" indent="0">
              <a:lnSpc>
                <a:spcPct val="100000"/>
              </a:lnSpc>
              <a:spcBef>
                <a:spcPts val="0"/>
              </a:spcBef>
              <a:buNone/>
            </a:pPr>
            <a:r>
              <a:rPr lang="en-US" altLang="zh-CN" sz="2800" dirty="0"/>
              <a:t>#3.	    for j in range(2, </a:t>
            </a:r>
            <a:r>
              <a:rPr lang="en-US" altLang="zh-CN" sz="2800" dirty="0" err="1"/>
              <a:t>i</a:t>
            </a:r>
            <a:r>
              <a:rPr lang="en-US" altLang="zh-CN" sz="2800" dirty="0"/>
              <a:t>):</a:t>
            </a:r>
          </a:p>
          <a:p>
            <a:pPr marL="0" indent="0">
              <a:lnSpc>
                <a:spcPct val="100000"/>
              </a:lnSpc>
              <a:spcBef>
                <a:spcPts val="0"/>
              </a:spcBef>
              <a:buNone/>
            </a:pPr>
            <a:r>
              <a:rPr lang="en-US" altLang="zh-CN" sz="2800" dirty="0"/>
              <a:t>#4.	        if </a:t>
            </a:r>
            <a:r>
              <a:rPr lang="en-US" altLang="zh-CN" sz="2800" dirty="0" err="1"/>
              <a:t>i</a:t>
            </a:r>
            <a:r>
              <a:rPr lang="en-US" altLang="zh-CN" sz="2800" dirty="0"/>
              <a:t> % j == 0:</a:t>
            </a:r>
          </a:p>
          <a:p>
            <a:pPr marL="0" indent="0">
              <a:lnSpc>
                <a:spcPct val="100000"/>
              </a:lnSpc>
              <a:spcBef>
                <a:spcPts val="0"/>
              </a:spcBef>
              <a:buNone/>
            </a:pPr>
            <a:r>
              <a:rPr lang="en-US" altLang="zh-CN" sz="2800" dirty="0"/>
              <a:t>#5.	            break</a:t>
            </a:r>
          </a:p>
          <a:p>
            <a:pPr marL="0" indent="0">
              <a:lnSpc>
                <a:spcPct val="100000"/>
              </a:lnSpc>
              <a:spcBef>
                <a:spcPts val="0"/>
              </a:spcBef>
              <a:buNone/>
            </a:pPr>
            <a:r>
              <a:rPr lang="en-US" altLang="zh-CN" sz="2800" dirty="0"/>
              <a:t>#6.	    else:</a:t>
            </a:r>
          </a:p>
          <a:p>
            <a:pPr marL="0" indent="0">
              <a:lnSpc>
                <a:spcPct val="100000"/>
              </a:lnSpc>
              <a:spcBef>
                <a:spcPts val="0"/>
              </a:spcBef>
              <a:buNone/>
            </a:pPr>
            <a:r>
              <a:rPr lang="en-US" altLang="zh-CN" sz="2800" dirty="0"/>
              <a:t>#7.	        print(</a:t>
            </a:r>
            <a:r>
              <a:rPr lang="en-US" altLang="zh-CN" sz="2800" dirty="0" err="1"/>
              <a:t>i</a:t>
            </a:r>
            <a:r>
              <a:rPr lang="en-US" altLang="zh-CN" sz="2800" dirty="0"/>
              <a:t>, end='\t')</a:t>
            </a:r>
          </a:p>
          <a:p>
            <a:pPr marL="0" indent="0">
              <a:lnSpc>
                <a:spcPct val="100000"/>
              </a:lnSpc>
              <a:spcBef>
                <a:spcPts val="0"/>
              </a:spcBef>
              <a:buNone/>
            </a:pPr>
            <a:r>
              <a:rPr lang="en-US" altLang="zh-CN" sz="2800" dirty="0"/>
              <a:t>#8.	        n += 1	</a:t>
            </a:r>
            <a:r>
              <a:rPr lang="en-US" altLang="zh-CN" sz="2800" dirty="0">
                <a:solidFill>
                  <a:srgbClr val="FF0000"/>
                </a:solidFill>
              </a:rPr>
              <a:t># n</a:t>
            </a:r>
            <a:r>
              <a:rPr lang="zh-CN" altLang="en-US" sz="2800" dirty="0">
                <a:solidFill>
                  <a:srgbClr val="FF0000"/>
                </a:solidFill>
              </a:rPr>
              <a:t>用来记录是否需要换行，每发现一个素数</a:t>
            </a:r>
            <a:r>
              <a:rPr lang="en-US" altLang="zh-CN" sz="2800" dirty="0">
                <a:solidFill>
                  <a:srgbClr val="FF0000"/>
                </a:solidFill>
              </a:rPr>
              <a:t>n</a:t>
            </a:r>
            <a:r>
              <a:rPr lang="zh-CN" altLang="en-US" sz="2800" dirty="0">
                <a:solidFill>
                  <a:srgbClr val="FF0000"/>
                </a:solidFill>
              </a:rPr>
              <a:t>加</a:t>
            </a:r>
            <a:r>
              <a:rPr lang="en-US" altLang="zh-CN" sz="2800" dirty="0">
                <a:solidFill>
                  <a:srgbClr val="FF0000"/>
                </a:solidFill>
              </a:rPr>
              <a:t>1</a:t>
            </a:r>
          </a:p>
          <a:p>
            <a:pPr marL="0" indent="0">
              <a:lnSpc>
                <a:spcPct val="100000"/>
              </a:lnSpc>
              <a:spcBef>
                <a:spcPts val="0"/>
              </a:spcBef>
              <a:buNone/>
            </a:pPr>
            <a:r>
              <a:rPr lang="en-US" altLang="zh-CN" sz="2800" dirty="0"/>
              <a:t>#9.	        if n == 5:	</a:t>
            </a:r>
            <a:r>
              <a:rPr lang="en-US" altLang="zh-CN" sz="2800" dirty="0">
                <a:solidFill>
                  <a:srgbClr val="FF0000"/>
                </a:solidFill>
              </a:rPr>
              <a:t># </a:t>
            </a:r>
            <a:r>
              <a:rPr lang="zh-CN" altLang="en-US" sz="2800" dirty="0">
                <a:solidFill>
                  <a:srgbClr val="FF0000"/>
                </a:solidFill>
              </a:rPr>
              <a:t>若</a:t>
            </a:r>
            <a:r>
              <a:rPr lang="en-US" altLang="zh-CN" sz="2800" dirty="0">
                <a:solidFill>
                  <a:srgbClr val="FF0000"/>
                </a:solidFill>
              </a:rPr>
              <a:t>n</a:t>
            </a:r>
            <a:r>
              <a:rPr lang="zh-CN" altLang="en-US" sz="2800" dirty="0">
                <a:solidFill>
                  <a:srgbClr val="FF0000"/>
                </a:solidFill>
              </a:rPr>
              <a:t>值为</a:t>
            </a:r>
            <a:r>
              <a:rPr lang="en-US" altLang="zh-CN" sz="2800" dirty="0">
                <a:solidFill>
                  <a:srgbClr val="FF0000"/>
                </a:solidFill>
              </a:rPr>
              <a:t>5</a:t>
            </a:r>
            <a:r>
              <a:rPr lang="zh-CN" altLang="en-US" sz="2800" dirty="0">
                <a:solidFill>
                  <a:srgbClr val="FF0000"/>
                </a:solidFill>
              </a:rPr>
              <a:t>则换行，并将</a:t>
            </a:r>
            <a:r>
              <a:rPr lang="en-US" altLang="zh-CN" sz="2800" dirty="0">
                <a:solidFill>
                  <a:srgbClr val="FF0000"/>
                </a:solidFill>
              </a:rPr>
              <a:t>n</a:t>
            </a:r>
            <a:r>
              <a:rPr lang="zh-CN" altLang="en-US" sz="2800" dirty="0">
                <a:solidFill>
                  <a:srgbClr val="FF0000"/>
                </a:solidFill>
              </a:rPr>
              <a:t>清零后，重新计数</a:t>
            </a:r>
          </a:p>
          <a:p>
            <a:pPr marL="0" indent="0">
              <a:lnSpc>
                <a:spcPct val="100000"/>
              </a:lnSpc>
              <a:spcBef>
                <a:spcPts val="0"/>
              </a:spcBef>
              <a:buNone/>
            </a:pPr>
            <a:r>
              <a:rPr lang="en-US" altLang="zh-CN" sz="2800" dirty="0"/>
              <a:t>#10.	            n=0</a:t>
            </a:r>
          </a:p>
          <a:p>
            <a:pPr marL="0" indent="0">
              <a:lnSpc>
                <a:spcPct val="100000"/>
              </a:lnSpc>
              <a:spcBef>
                <a:spcPts val="0"/>
              </a:spcBef>
              <a:buNone/>
            </a:pPr>
            <a:r>
              <a:rPr lang="en-US" altLang="zh-CN" sz="2800" dirty="0"/>
              <a:t>#11.	            print()</a:t>
            </a:r>
          </a:p>
        </p:txBody>
      </p:sp>
      <p:sp>
        <p:nvSpPr>
          <p:cNvPr id="4" name="灯片编号占位符 3">
            <a:extLst>
              <a:ext uri="{FF2B5EF4-FFF2-40B4-BE49-F238E27FC236}">
                <a16:creationId xmlns:a16="http://schemas.microsoft.com/office/drawing/2014/main" id="{F27661DF-82C1-4493-9ECC-1A7A7D843575}"/>
              </a:ext>
            </a:extLst>
          </p:cNvPr>
          <p:cNvSpPr>
            <a:spLocks noGrp="1"/>
          </p:cNvSpPr>
          <p:nvPr>
            <p:ph type="sldNum" sz="quarter" idx="12"/>
          </p:nvPr>
        </p:nvSpPr>
        <p:spPr/>
        <p:txBody>
          <a:bodyPr/>
          <a:lstStyle/>
          <a:p>
            <a:fld id="{49AE70B2-8BF9-45C0-BB95-33D1B9D3A854}" type="slidenum">
              <a:rPr lang="zh-CN" altLang="en-US" smtClean="0"/>
              <a:t>41</a:t>
            </a:fld>
            <a:endParaRPr lang="zh-CN" altLang="en-US"/>
          </a:p>
        </p:txBody>
      </p:sp>
    </p:spTree>
    <p:extLst>
      <p:ext uri="{BB962C8B-B14F-4D97-AF65-F5344CB8AC3E}">
        <p14:creationId xmlns:p14="http://schemas.microsoft.com/office/powerpoint/2010/main" val="39080631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A6CF7-85B1-43C8-9396-686F590C300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88B345A-9499-47FD-B93F-974AA37CA6CB}"/>
              </a:ext>
            </a:extLst>
          </p:cNvPr>
          <p:cNvSpPr>
            <a:spLocks noGrp="1"/>
          </p:cNvSpPr>
          <p:nvPr>
            <p:ph idx="1"/>
          </p:nvPr>
        </p:nvSpPr>
        <p:spPr/>
        <p:txBody>
          <a:bodyPr>
            <a:normAutofit/>
          </a:bodyPr>
          <a:lstStyle/>
          <a:p>
            <a:pPr marL="0" indent="0">
              <a:buNone/>
            </a:pPr>
            <a:r>
              <a:rPr lang="zh-CN" altLang="en-US" sz="2400" dirty="0"/>
              <a:t>运行结果：</a:t>
            </a:r>
            <a:endParaRPr lang="en-US" altLang="zh-CN" sz="2400" dirty="0"/>
          </a:p>
          <a:p>
            <a:pPr marL="0" indent="0">
              <a:buNone/>
            </a:pPr>
            <a:r>
              <a:rPr lang="zh-CN" altLang="en-US" sz="2400" dirty="0"/>
              <a:t> </a:t>
            </a:r>
            <a:r>
              <a:rPr lang="en-US" altLang="zh-CN" sz="2400" dirty="0"/>
              <a:t>====</a:t>
            </a:r>
          </a:p>
          <a:p>
            <a:pPr marL="0" indent="0">
              <a:buNone/>
            </a:pPr>
            <a:r>
              <a:rPr lang="en-US" altLang="zh-CN" sz="2400" dirty="0"/>
              <a:t>2	3	5	7	11	</a:t>
            </a:r>
          </a:p>
          <a:p>
            <a:pPr marL="0" indent="0">
              <a:buNone/>
            </a:pPr>
            <a:r>
              <a:rPr lang="en-US" altLang="zh-CN" sz="2400" dirty="0"/>
              <a:t>13	17	19	23	29	</a:t>
            </a:r>
          </a:p>
          <a:p>
            <a:pPr marL="0" indent="0">
              <a:buNone/>
            </a:pPr>
            <a:r>
              <a:rPr lang="en-US" altLang="zh-CN" sz="2400" dirty="0"/>
              <a:t>31	37	41	43	47	</a:t>
            </a:r>
          </a:p>
          <a:p>
            <a:pPr marL="0" indent="0">
              <a:buNone/>
            </a:pPr>
            <a:r>
              <a:rPr lang="en-US" altLang="zh-CN" sz="2400" dirty="0"/>
              <a:t>53	59	61	67	71	</a:t>
            </a:r>
          </a:p>
          <a:p>
            <a:pPr marL="0" indent="0">
              <a:buNone/>
            </a:pPr>
            <a:r>
              <a:rPr lang="en-US" altLang="zh-CN" sz="2400" dirty="0"/>
              <a:t>73	79	83	89	97	</a:t>
            </a:r>
          </a:p>
          <a:p>
            <a:pPr marL="0" indent="0">
              <a:buNone/>
            </a:pPr>
            <a:endParaRPr lang="zh-CN" altLang="en-US" sz="2400" dirty="0"/>
          </a:p>
        </p:txBody>
      </p:sp>
      <p:sp>
        <p:nvSpPr>
          <p:cNvPr id="4" name="灯片编号占位符 3">
            <a:extLst>
              <a:ext uri="{FF2B5EF4-FFF2-40B4-BE49-F238E27FC236}">
                <a16:creationId xmlns:a16="http://schemas.microsoft.com/office/drawing/2014/main" id="{2BB4AAAA-EB60-413A-B228-A145FBEFF095}"/>
              </a:ext>
            </a:extLst>
          </p:cNvPr>
          <p:cNvSpPr>
            <a:spLocks noGrp="1"/>
          </p:cNvSpPr>
          <p:nvPr>
            <p:ph type="sldNum" sz="quarter" idx="12"/>
          </p:nvPr>
        </p:nvSpPr>
        <p:spPr/>
        <p:txBody>
          <a:bodyPr/>
          <a:lstStyle/>
          <a:p>
            <a:fld id="{49AE70B2-8BF9-45C0-BB95-33D1B9D3A854}" type="slidenum">
              <a:rPr lang="zh-CN" altLang="en-US" smtClean="0"/>
              <a:pPr/>
              <a:t>42</a:t>
            </a:fld>
            <a:endParaRPr lang="zh-CN" altLang="en-US" dirty="0"/>
          </a:p>
        </p:txBody>
      </p:sp>
    </p:spTree>
    <p:extLst>
      <p:ext uri="{BB962C8B-B14F-4D97-AF65-F5344CB8AC3E}">
        <p14:creationId xmlns:p14="http://schemas.microsoft.com/office/powerpoint/2010/main" val="15806456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WordArt 6"/>
          <p:cNvSpPr>
            <a:spLocks noChangeArrowheads="1" noChangeShapeType="1"/>
          </p:cNvSpPr>
          <p:nvPr/>
        </p:nvSpPr>
        <p:spPr bwMode="auto">
          <a:xfrm>
            <a:off x="1882775" y="1557338"/>
            <a:ext cx="8426450" cy="2011363"/>
          </a:xfrm>
          <a:prstGeom prst="rect">
            <a:avLst/>
          </a:prstGeom>
        </p:spPr>
        <p:txBody>
          <a:bodyPr wrap="none" fromWordArt="1"/>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8500" b="1" i="0" u="none" strike="noStrike" kern="10" cap="none" spc="0" normalizeH="0" baseline="0" noProof="0" dirty="0">
              <a:ln w="9525">
                <a:noFill/>
                <a:round/>
              </a:ln>
              <a:solidFill>
                <a:schemeClr val="tx1"/>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p:txBody>
      </p:sp>
      <p:sp>
        <p:nvSpPr>
          <p:cNvPr id="10245" name="标题 1"/>
          <p:cNvSpPr>
            <a:spLocks noGrp="1"/>
          </p:cNvSpPr>
          <p:nvPr>
            <p:ph type="ctrTitle"/>
          </p:nvPr>
        </p:nvSpPr>
        <p:spPr>
          <a:xfrm>
            <a:off x="1882775" y="2292350"/>
            <a:ext cx="8573135" cy="1151255"/>
          </a:xfrm>
        </p:spPr>
        <p:txBody>
          <a:bodyPr vert="horz" wrap="square" lIns="91440" tIns="45720" rIns="91440" bIns="45720" anchor="b"/>
          <a:lstStyle/>
          <a:p>
            <a:pPr>
              <a:buClrTx/>
              <a:buSzTx/>
              <a:buFontTx/>
              <a:buNone/>
            </a:pPr>
            <a:r>
              <a:rPr lang="en-US" kern="1200" dirty="0">
                <a:latin typeface="+mj-lt"/>
                <a:ea typeface="+mj-ea"/>
                <a:cs typeface="+mj-cs"/>
              </a:rPr>
              <a:t>5.5 </a:t>
            </a:r>
            <a:r>
              <a:rPr lang="zh-CN" altLang="en-US" kern="1200" dirty="0">
                <a:latin typeface="+mj-lt"/>
                <a:ea typeface="+mj-ea"/>
                <a:cs typeface="+mj-cs"/>
              </a:rPr>
              <a:t>循环结构程序举例</a:t>
            </a:r>
          </a:p>
        </p:txBody>
      </p:sp>
      <p:sp>
        <p:nvSpPr>
          <p:cNvPr id="2" name="灯片编号占位符 1">
            <a:extLst>
              <a:ext uri="{FF2B5EF4-FFF2-40B4-BE49-F238E27FC236}">
                <a16:creationId xmlns:a16="http://schemas.microsoft.com/office/drawing/2014/main" id="{A16B5E35-6769-47BB-B219-51748E69048E}"/>
              </a:ext>
            </a:extLst>
          </p:cNvPr>
          <p:cNvSpPr>
            <a:spLocks noGrp="1"/>
          </p:cNvSpPr>
          <p:nvPr>
            <p:ph type="sldNum" sz="quarter" idx="12"/>
          </p:nvPr>
        </p:nvSpPr>
        <p:spPr/>
        <p:txBody>
          <a:bodyPr/>
          <a:lstStyle/>
          <a:p>
            <a:fld id="{49AE70B2-8BF9-45C0-BB95-33D1B9D3A854}" type="slidenum">
              <a:rPr lang="zh-CN" altLang="en-US" smtClean="0"/>
              <a:t>43</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87"/>
                                        </p:tgtEl>
                                        <p:attrNameLst>
                                          <p:attrName>style.visibility</p:attrName>
                                        </p:attrNameLst>
                                      </p:cBhvr>
                                      <p:to>
                                        <p:strVal val="visible"/>
                                      </p:to>
                                    </p:set>
                                    <p:animEffect transition="in" filter="fade">
                                      <p:cBhvr>
                                        <p:cTn id="7" dur="1000"/>
                                        <p:tgtEl>
                                          <p:spTgt spid="16387"/>
                                        </p:tgtEl>
                                      </p:cBhvr>
                                    </p:animEffect>
                                    <p:anim calcmode="lin" valueType="num">
                                      <p:cBhvr>
                                        <p:cTn id="8" dur="1000" fill="hold"/>
                                        <p:tgtEl>
                                          <p:spTgt spid="16387"/>
                                        </p:tgtEl>
                                        <p:attrNameLst>
                                          <p:attrName>ppt_x</p:attrName>
                                        </p:attrNameLst>
                                      </p:cBhvr>
                                      <p:tavLst>
                                        <p:tav tm="0">
                                          <p:val>
                                            <p:strVal val="#ppt_x"/>
                                          </p:val>
                                        </p:tav>
                                        <p:tav tm="100000">
                                          <p:val>
                                            <p:strVal val="#ppt_x"/>
                                          </p:val>
                                        </p:tav>
                                      </p:tavLst>
                                    </p:anim>
                                    <p:anim calcmode="lin" valueType="num">
                                      <p:cBhvr>
                                        <p:cTn id="9" dur="1000" fill="hold"/>
                                        <p:tgtEl>
                                          <p:spTgt spid="163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9982" y="-21013"/>
            <a:ext cx="11862682" cy="1169150"/>
          </a:xfrm>
        </p:spPr>
        <p:txBody>
          <a:bodyPr>
            <a:normAutofit fontScale="90000"/>
          </a:bodyPr>
          <a:lstStyle/>
          <a:p>
            <a:r>
              <a:rPr lang="en-US" altLang="zh-CN" dirty="0"/>
              <a:t>【</a:t>
            </a:r>
            <a:r>
              <a:rPr lang="zh-CN" altLang="en-US" dirty="0"/>
              <a:t>例</a:t>
            </a:r>
            <a:r>
              <a:rPr lang="en-US" altLang="zh-CN" dirty="0"/>
              <a:t>5-11】</a:t>
            </a:r>
            <a:r>
              <a:rPr lang="zh-CN" altLang="en-US" dirty="0"/>
              <a:t>用欧几里德算法求两个数的最大公约数</a:t>
            </a:r>
          </a:p>
        </p:txBody>
      </p:sp>
      <p:sp>
        <p:nvSpPr>
          <p:cNvPr id="3" name="内容占位符 2"/>
          <p:cNvSpPr>
            <a:spLocks noGrp="1"/>
          </p:cNvSpPr>
          <p:nvPr>
            <p:ph idx="1"/>
          </p:nvPr>
        </p:nvSpPr>
        <p:spPr>
          <a:xfrm>
            <a:off x="209982" y="1412776"/>
            <a:ext cx="11862682" cy="4668535"/>
          </a:xfrm>
        </p:spPr>
        <p:txBody>
          <a:bodyPr/>
          <a:lstStyle/>
          <a:p>
            <a:r>
              <a:rPr lang="zh-CN" altLang="en-US" dirty="0"/>
              <a:t>欧几里得算法</a:t>
            </a:r>
            <a:endParaRPr lang="en-US" altLang="zh-CN" dirty="0"/>
          </a:p>
          <a:p>
            <a:pPr lvl="1"/>
            <a:r>
              <a:rPr lang="zh-CN" altLang="en-US" dirty="0"/>
              <a:t>假设用</a:t>
            </a:r>
            <a:r>
              <a:rPr lang="en-US" altLang="zh-CN" dirty="0" err="1"/>
              <a:t>gcd</a:t>
            </a:r>
            <a:r>
              <a:rPr lang="en-US" altLang="zh-CN" dirty="0"/>
              <a:t>(m, n)</a:t>
            </a:r>
            <a:r>
              <a:rPr lang="zh-CN" altLang="en-US" dirty="0"/>
              <a:t>表示</a:t>
            </a:r>
            <a:r>
              <a:rPr lang="en-US" altLang="zh-CN" dirty="0"/>
              <a:t>m</a:t>
            </a:r>
            <a:r>
              <a:rPr lang="zh-CN" altLang="en-US" dirty="0"/>
              <a:t>和</a:t>
            </a:r>
            <a:r>
              <a:rPr lang="en-US" altLang="zh-CN" dirty="0"/>
              <a:t>n</a:t>
            </a:r>
            <a:r>
              <a:rPr lang="zh-CN" altLang="en-US" dirty="0"/>
              <a:t>的最大公约数，</a:t>
            </a:r>
            <a:endParaRPr lang="en-US" altLang="zh-CN" dirty="0"/>
          </a:p>
          <a:p>
            <a:pPr lvl="1"/>
            <a:r>
              <a:rPr lang="zh-CN" altLang="en-US" dirty="0"/>
              <a:t>则</a:t>
            </a:r>
            <a:r>
              <a:rPr lang="en-US" altLang="zh-CN" dirty="0" err="1"/>
              <a:t>gcd</a:t>
            </a:r>
            <a:r>
              <a:rPr lang="en-US" altLang="zh-CN" dirty="0"/>
              <a:t>(m, n)</a:t>
            </a:r>
            <a:r>
              <a:rPr lang="zh-CN" altLang="en-US" dirty="0"/>
              <a:t>必定等于</a:t>
            </a:r>
            <a:r>
              <a:rPr lang="en-US" altLang="zh-CN" dirty="0" err="1"/>
              <a:t>gcd</a:t>
            </a:r>
            <a:r>
              <a:rPr lang="en-US" altLang="zh-CN" dirty="0"/>
              <a:t>(n, m % n)</a:t>
            </a:r>
            <a:r>
              <a:rPr lang="zh-CN" altLang="en-US" dirty="0"/>
              <a:t>，直到</a:t>
            </a:r>
            <a:r>
              <a:rPr lang="en-US" altLang="zh-CN" dirty="0"/>
              <a:t>m % n</a:t>
            </a:r>
            <a:r>
              <a:rPr lang="zh-CN" altLang="en-US" dirty="0"/>
              <a:t>的结果为</a:t>
            </a:r>
            <a:r>
              <a:rPr lang="en-US" altLang="zh-CN" dirty="0"/>
              <a:t>0</a:t>
            </a:r>
            <a:r>
              <a:rPr lang="zh-CN" altLang="en-US" dirty="0"/>
              <a:t>。</a:t>
            </a:r>
          </a:p>
          <a:p>
            <a:endParaRPr lang="zh-CN" altLang="en-US" dirty="0"/>
          </a:p>
        </p:txBody>
      </p:sp>
      <p:sp>
        <p:nvSpPr>
          <p:cNvPr id="5" name="灯片编号占位符 4">
            <a:extLst>
              <a:ext uri="{FF2B5EF4-FFF2-40B4-BE49-F238E27FC236}">
                <a16:creationId xmlns:a16="http://schemas.microsoft.com/office/drawing/2014/main" id="{ABDC8E35-4233-48F5-9EC4-2E34C8DCC0B0}"/>
              </a:ext>
            </a:extLst>
          </p:cNvPr>
          <p:cNvSpPr>
            <a:spLocks noGrp="1"/>
          </p:cNvSpPr>
          <p:nvPr>
            <p:ph type="sldNum" sz="quarter" idx="12"/>
          </p:nvPr>
        </p:nvSpPr>
        <p:spPr/>
        <p:txBody>
          <a:bodyPr/>
          <a:lstStyle/>
          <a:p>
            <a:fld id="{49AE70B2-8BF9-45C0-BB95-33D1B9D3A854}" type="slidenum">
              <a:rPr lang="zh-CN" altLang="en-US" smtClean="0"/>
              <a:t>44</a:t>
            </a:fld>
            <a:endParaRPr lang="zh-CN" altLang="en-US"/>
          </a:p>
        </p:txBody>
      </p:sp>
      <p:pic>
        <p:nvPicPr>
          <p:cNvPr id="7" name="图片 6">
            <a:extLst>
              <a:ext uri="{FF2B5EF4-FFF2-40B4-BE49-F238E27FC236}">
                <a16:creationId xmlns:a16="http://schemas.microsoft.com/office/drawing/2014/main" id="{C1751B18-4FA7-4B47-8F08-3446E5CE1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496" y="3429000"/>
            <a:ext cx="7721824" cy="1584176"/>
          </a:xfrm>
          <a:prstGeom prst="rect">
            <a:avLst/>
          </a:prstGeom>
        </p:spPr>
      </p:pic>
    </p:spTree>
    <p:extLst>
      <p:ext uri="{BB962C8B-B14F-4D97-AF65-F5344CB8AC3E}">
        <p14:creationId xmlns:p14="http://schemas.microsoft.com/office/powerpoint/2010/main" val="31040670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t>
            </a:r>
            <a:r>
              <a:rPr lang="zh-CN" altLang="en-US" dirty="0"/>
              <a:t>例</a:t>
            </a:r>
            <a:r>
              <a:rPr lang="en-US" altLang="zh-CN" dirty="0"/>
              <a:t>5-11】(</a:t>
            </a:r>
            <a:r>
              <a:rPr lang="zh-CN" altLang="en-US" dirty="0"/>
              <a:t>重要</a:t>
            </a:r>
            <a:r>
              <a:rPr lang="en-US" altLang="zh-CN" dirty="0"/>
              <a:t>)</a:t>
            </a:r>
            <a:r>
              <a:rPr lang="zh-CN" altLang="en-US" dirty="0"/>
              <a:t>用欧几里德算法求两个数的最大公约数</a:t>
            </a:r>
          </a:p>
        </p:txBody>
      </p:sp>
      <p:sp>
        <p:nvSpPr>
          <p:cNvPr id="3" name="内容占位符 2"/>
          <p:cNvSpPr>
            <a:spLocks noGrp="1"/>
          </p:cNvSpPr>
          <p:nvPr>
            <p:ph idx="1"/>
          </p:nvPr>
        </p:nvSpPr>
        <p:spPr>
          <a:xfrm>
            <a:off x="669925" y="1412776"/>
            <a:ext cx="10852150" cy="2808312"/>
          </a:xfrm>
          <a:solidFill>
            <a:schemeClr val="bg1">
              <a:lumMod val="85000"/>
            </a:schemeClr>
          </a:solidFill>
        </p:spPr>
        <p:txBody>
          <a:bodyPr>
            <a:normAutofit/>
          </a:bodyPr>
          <a:lstStyle/>
          <a:p>
            <a:pPr marL="0" indent="0">
              <a:buNone/>
            </a:pPr>
            <a:r>
              <a:rPr lang="en-US" altLang="zh-CN" dirty="0"/>
              <a:t>#1.	m, n = </a:t>
            </a:r>
            <a:r>
              <a:rPr lang="en-US" altLang="zh-CN" dirty="0" err="1"/>
              <a:t>eval</a:t>
            </a:r>
            <a:r>
              <a:rPr lang="en-US" altLang="zh-CN" dirty="0"/>
              <a:t>(input("</a:t>
            </a:r>
            <a:r>
              <a:rPr lang="zh-CN" altLang="en-US" dirty="0"/>
              <a:t>请输入一对整数</a:t>
            </a:r>
            <a:r>
              <a:rPr lang="en-US" altLang="zh-CN" dirty="0" err="1"/>
              <a:t>m,n</a:t>
            </a:r>
            <a:r>
              <a:rPr lang="en-US" altLang="zh-CN" dirty="0"/>
              <a:t>:"))</a:t>
            </a:r>
          </a:p>
          <a:p>
            <a:pPr marL="0" indent="0">
              <a:buNone/>
            </a:pPr>
            <a:r>
              <a:rPr lang="en-US" altLang="zh-CN" dirty="0"/>
              <a:t>#2.	while n!=0:</a:t>
            </a:r>
          </a:p>
          <a:p>
            <a:pPr marL="0" indent="0">
              <a:buNone/>
            </a:pPr>
            <a:r>
              <a:rPr lang="en-US" altLang="zh-CN" dirty="0"/>
              <a:t>#3.	    m, n = n, m % n</a:t>
            </a:r>
          </a:p>
          <a:p>
            <a:pPr marL="0" indent="0">
              <a:buNone/>
            </a:pPr>
            <a:r>
              <a:rPr lang="en-US" altLang="zh-CN" dirty="0"/>
              <a:t>#4.	print(m)</a:t>
            </a:r>
            <a:endParaRPr lang="zh-CN" altLang="en-US" dirty="0"/>
          </a:p>
        </p:txBody>
      </p:sp>
      <p:sp>
        <p:nvSpPr>
          <p:cNvPr id="4" name="灯片编号占位符 3">
            <a:extLst>
              <a:ext uri="{FF2B5EF4-FFF2-40B4-BE49-F238E27FC236}">
                <a16:creationId xmlns:a16="http://schemas.microsoft.com/office/drawing/2014/main" id="{7E63F21A-D9FD-47ED-B1AC-FABA9E08765B}"/>
              </a:ext>
            </a:extLst>
          </p:cNvPr>
          <p:cNvSpPr>
            <a:spLocks noGrp="1"/>
          </p:cNvSpPr>
          <p:nvPr>
            <p:ph type="sldNum" sz="quarter" idx="12"/>
          </p:nvPr>
        </p:nvSpPr>
        <p:spPr/>
        <p:txBody>
          <a:bodyPr/>
          <a:lstStyle/>
          <a:p>
            <a:fld id="{49AE70B2-8BF9-45C0-BB95-33D1B9D3A854}" type="slidenum">
              <a:rPr lang="zh-CN" altLang="en-US" smtClean="0"/>
              <a:t>45</a:t>
            </a:fld>
            <a:endParaRPr lang="zh-CN" altLang="en-US"/>
          </a:p>
        </p:txBody>
      </p:sp>
    </p:spTree>
    <p:extLst>
      <p:ext uri="{BB962C8B-B14F-4D97-AF65-F5344CB8AC3E}">
        <p14:creationId xmlns:p14="http://schemas.microsoft.com/office/powerpoint/2010/main" val="92513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5-12】</a:t>
            </a:r>
            <a:r>
              <a:rPr lang="zh-CN" altLang="en-US" dirty="0"/>
              <a:t>猜数游戏</a:t>
            </a:r>
          </a:p>
        </p:txBody>
      </p:sp>
      <p:sp>
        <p:nvSpPr>
          <p:cNvPr id="3" name="内容占位符 2"/>
          <p:cNvSpPr>
            <a:spLocks noGrp="1"/>
          </p:cNvSpPr>
          <p:nvPr>
            <p:ph idx="1"/>
          </p:nvPr>
        </p:nvSpPr>
        <p:spPr/>
        <p:txBody>
          <a:bodyPr/>
          <a:lstStyle/>
          <a:p>
            <a:r>
              <a:rPr lang="zh-CN" altLang="en-US" dirty="0"/>
              <a:t>随机生成</a:t>
            </a:r>
            <a:r>
              <a:rPr lang="en-US" altLang="zh-CN" dirty="0"/>
              <a:t>20</a:t>
            </a:r>
            <a:r>
              <a:rPr lang="zh-CN" altLang="en-US" dirty="0"/>
              <a:t>以内的整数，用户输入整数猜测该数，程序提示输入数是偏大偏小还是正确。</a:t>
            </a:r>
          </a:p>
          <a:p>
            <a:r>
              <a:rPr lang="zh-CN" altLang="en-US" dirty="0"/>
              <a:t>本题要用到随机生成数，需要先导入模块</a:t>
            </a:r>
            <a:r>
              <a:rPr lang="en-US" altLang="zh-CN" dirty="0"/>
              <a:t>random</a:t>
            </a:r>
            <a:r>
              <a:rPr lang="zh-CN" altLang="en-US" dirty="0"/>
              <a:t>，并利用其中的</a:t>
            </a:r>
            <a:r>
              <a:rPr lang="en-US" altLang="zh-CN" dirty="0" err="1"/>
              <a:t>randint</a:t>
            </a:r>
            <a:r>
              <a:rPr lang="en-US" altLang="zh-CN" dirty="0"/>
              <a:t>()</a:t>
            </a:r>
            <a:r>
              <a:rPr lang="zh-CN" altLang="en-US" dirty="0"/>
              <a:t>函数生成指定范围的随机整数。</a:t>
            </a:r>
          </a:p>
          <a:p>
            <a:endParaRPr lang="zh-CN" altLang="en-US" dirty="0"/>
          </a:p>
        </p:txBody>
      </p:sp>
      <p:sp>
        <p:nvSpPr>
          <p:cNvPr id="4" name="灯片编号占位符 3">
            <a:extLst>
              <a:ext uri="{FF2B5EF4-FFF2-40B4-BE49-F238E27FC236}">
                <a16:creationId xmlns:a16="http://schemas.microsoft.com/office/drawing/2014/main" id="{26977DBF-88F5-4917-991C-D4913AEC1E64}"/>
              </a:ext>
            </a:extLst>
          </p:cNvPr>
          <p:cNvSpPr>
            <a:spLocks noGrp="1"/>
          </p:cNvSpPr>
          <p:nvPr>
            <p:ph type="sldNum" sz="quarter" idx="12"/>
          </p:nvPr>
        </p:nvSpPr>
        <p:spPr/>
        <p:txBody>
          <a:bodyPr/>
          <a:lstStyle/>
          <a:p>
            <a:fld id="{49AE70B2-8BF9-45C0-BB95-33D1B9D3A854}" type="slidenum">
              <a:rPr lang="zh-CN" altLang="en-US" smtClean="0"/>
              <a:t>46</a:t>
            </a:fld>
            <a:endParaRPr lang="zh-CN" altLang="en-US"/>
          </a:p>
        </p:txBody>
      </p:sp>
    </p:spTree>
    <p:extLst>
      <p:ext uri="{BB962C8B-B14F-4D97-AF65-F5344CB8AC3E}">
        <p14:creationId xmlns:p14="http://schemas.microsoft.com/office/powerpoint/2010/main" val="4359977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5-12】</a:t>
            </a:r>
            <a:r>
              <a:rPr lang="zh-CN" altLang="en-US" dirty="0"/>
              <a:t>猜数游戏</a:t>
            </a:r>
          </a:p>
        </p:txBody>
      </p:sp>
      <p:sp>
        <p:nvSpPr>
          <p:cNvPr id="3" name="内容占位符 2"/>
          <p:cNvSpPr>
            <a:spLocks noGrp="1"/>
          </p:cNvSpPr>
          <p:nvPr>
            <p:ph idx="1"/>
          </p:nvPr>
        </p:nvSpPr>
        <p:spPr>
          <a:xfrm>
            <a:off x="669925" y="1160145"/>
            <a:ext cx="10852150" cy="5365199"/>
          </a:xfrm>
          <a:solidFill>
            <a:schemeClr val="bg1">
              <a:lumMod val="85000"/>
            </a:schemeClr>
          </a:solidFill>
        </p:spPr>
        <p:txBody>
          <a:bodyPr>
            <a:noAutofit/>
          </a:bodyPr>
          <a:lstStyle/>
          <a:p>
            <a:pPr marL="0" indent="0">
              <a:lnSpc>
                <a:spcPct val="100000"/>
              </a:lnSpc>
              <a:spcBef>
                <a:spcPts val="0"/>
              </a:spcBef>
              <a:spcAft>
                <a:spcPts val="600"/>
              </a:spcAft>
              <a:buNone/>
            </a:pPr>
            <a:r>
              <a:rPr lang="en-US" altLang="zh-CN" sz="2400" dirty="0"/>
              <a:t>#1.	import random</a:t>
            </a:r>
          </a:p>
          <a:p>
            <a:pPr marL="0" indent="0">
              <a:lnSpc>
                <a:spcPct val="100000"/>
              </a:lnSpc>
              <a:spcBef>
                <a:spcPts val="0"/>
              </a:spcBef>
              <a:spcAft>
                <a:spcPts val="600"/>
              </a:spcAft>
              <a:buNone/>
            </a:pPr>
            <a:r>
              <a:rPr lang="en-US" altLang="zh-CN" sz="2400" dirty="0"/>
              <a:t>#2.	goal = </a:t>
            </a:r>
            <a:r>
              <a:rPr lang="en-US" altLang="zh-CN" sz="2400" dirty="0" err="1"/>
              <a:t>random.randint</a:t>
            </a:r>
            <a:r>
              <a:rPr lang="en-US" altLang="zh-CN" sz="2400" dirty="0"/>
              <a:t>(1, 20)</a:t>
            </a:r>
          </a:p>
          <a:p>
            <a:pPr marL="0" indent="0">
              <a:lnSpc>
                <a:spcPct val="100000"/>
              </a:lnSpc>
              <a:spcBef>
                <a:spcPts val="0"/>
              </a:spcBef>
              <a:spcAft>
                <a:spcPts val="600"/>
              </a:spcAft>
              <a:buNone/>
            </a:pPr>
            <a:r>
              <a:rPr lang="en-US" altLang="zh-CN" sz="2400" dirty="0"/>
              <a:t>#3.	x = int(input(‘</a:t>
            </a:r>
            <a:r>
              <a:rPr lang="zh-CN" altLang="en-US" sz="2400" dirty="0"/>
              <a:t>你猜：</a:t>
            </a:r>
            <a:r>
              <a:rPr lang="en-US" altLang="zh-CN" sz="2400" dirty="0"/>
              <a:t>'))</a:t>
            </a:r>
          </a:p>
          <a:p>
            <a:pPr marL="0" indent="0">
              <a:lnSpc>
                <a:spcPct val="100000"/>
              </a:lnSpc>
              <a:spcBef>
                <a:spcPts val="0"/>
              </a:spcBef>
              <a:spcAft>
                <a:spcPts val="600"/>
              </a:spcAft>
              <a:buNone/>
            </a:pPr>
            <a:r>
              <a:rPr lang="en-US" altLang="zh-CN" sz="2400" dirty="0"/>
              <a:t>#4.	n = 0</a:t>
            </a:r>
          </a:p>
          <a:p>
            <a:pPr marL="0" indent="0">
              <a:lnSpc>
                <a:spcPct val="100000"/>
              </a:lnSpc>
              <a:spcBef>
                <a:spcPts val="0"/>
              </a:spcBef>
              <a:spcAft>
                <a:spcPts val="600"/>
              </a:spcAft>
              <a:buNone/>
            </a:pPr>
            <a:r>
              <a:rPr lang="en-US" altLang="zh-CN" sz="2400" dirty="0"/>
              <a:t>#5.	while x != goal:</a:t>
            </a:r>
          </a:p>
          <a:p>
            <a:pPr marL="0" indent="0">
              <a:lnSpc>
                <a:spcPct val="100000"/>
              </a:lnSpc>
              <a:spcBef>
                <a:spcPts val="0"/>
              </a:spcBef>
              <a:spcAft>
                <a:spcPts val="600"/>
              </a:spcAft>
              <a:buNone/>
            </a:pPr>
            <a:r>
              <a:rPr lang="en-US" altLang="zh-CN" sz="2400" dirty="0"/>
              <a:t>#6.	    n += 1</a:t>
            </a:r>
          </a:p>
          <a:p>
            <a:pPr marL="0" indent="0">
              <a:lnSpc>
                <a:spcPct val="100000"/>
              </a:lnSpc>
              <a:spcBef>
                <a:spcPts val="0"/>
              </a:spcBef>
              <a:spcAft>
                <a:spcPts val="600"/>
              </a:spcAft>
              <a:buNone/>
            </a:pPr>
            <a:r>
              <a:rPr lang="en-US" altLang="zh-CN" sz="2400" dirty="0"/>
              <a:t>#7.	    if x &gt; goal:</a:t>
            </a:r>
          </a:p>
          <a:p>
            <a:pPr marL="0" indent="0">
              <a:lnSpc>
                <a:spcPct val="100000"/>
              </a:lnSpc>
              <a:spcBef>
                <a:spcPts val="0"/>
              </a:spcBef>
              <a:spcAft>
                <a:spcPts val="600"/>
              </a:spcAft>
              <a:buNone/>
            </a:pPr>
            <a:r>
              <a:rPr lang="en-US" altLang="zh-CN" sz="2400" dirty="0"/>
              <a:t>#8.	        x = </a:t>
            </a:r>
            <a:r>
              <a:rPr lang="en-US" altLang="zh-CN" sz="2400" dirty="0" err="1"/>
              <a:t>int</a:t>
            </a:r>
            <a:r>
              <a:rPr lang="en-US" altLang="zh-CN" sz="2400" dirty="0"/>
              <a:t>(input('</a:t>
            </a:r>
            <a:r>
              <a:rPr lang="zh-CN" altLang="en-US" sz="2400" dirty="0"/>
              <a:t>偏大！再猜：</a:t>
            </a:r>
            <a:r>
              <a:rPr lang="en-US" altLang="zh-CN" sz="2400" dirty="0"/>
              <a:t>'))</a:t>
            </a:r>
          </a:p>
          <a:p>
            <a:pPr marL="0" indent="0">
              <a:lnSpc>
                <a:spcPct val="100000"/>
              </a:lnSpc>
              <a:spcBef>
                <a:spcPts val="0"/>
              </a:spcBef>
              <a:spcAft>
                <a:spcPts val="600"/>
              </a:spcAft>
              <a:buNone/>
            </a:pPr>
            <a:r>
              <a:rPr lang="en-US" altLang="zh-CN" sz="2400" dirty="0"/>
              <a:t>#9.	    else:</a:t>
            </a:r>
          </a:p>
          <a:p>
            <a:pPr marL="0" indent="0">
              <a:lnSpc>
                <a:spcPct val="100000"/>
              </a:lnSpc>
              <a:spcBef>
                <a:spcPts val="0"/>
              </a:spcBef>
              <a:spcAft>
                <a:spcPts val="600"/>
              </a:spcAft>
              <a:buNone/>
            </a:pPr>
            <a:r>
              <a:rPr lang="en-US" altLang="zh-CN" sz="2400" dirty="0"/>
              <a:t>#10.	        x = </a:t>
            </a:r>
            <a:r>
              <a:rPr lang="en-US" altLang="zh-CN" sz="2400" dirty="0" err="1"/>
              <a:t>int</a:t>
            </a:r>
            <a:r>
              <a:rPr lang="en-US" altLang="zh-CN" sz="2400" dirty="0"/>
              <a:t>(input('</a:t>
            </a:r>
            <a:r>
              <a:rPr lang="zh-CN" altLang="en-US" sz="2400" dirty="0"/>
              <a:t>偏小！再猜：</a:t>
            </a:r>
            <a:r>
              <a:rPr lang="en-US" altLang="zh-CN" sz="2400" dirty="0"/>
              <a:t>'))</a:t>
            </a:r>
          </a:p>
          <a:p>
            <a:pPr marL="0" indent="0">
              <a:lnSpc>
                <a:spcPct val="100000"/>
              </a:lnSpc>
              <a:spcBef>
                <a:spcPts val="0"/>
              </a:spcBef>
              <a:spcAft>
                <a:spcPts val="600"/>
              </a:spcAft>
              <a:buNone/>
            </a:pPr>
            <a:r>
              <a:rPr lang="en-US" altLang="zh-CN" sz="2400" dirty="0"/>
              <a:t>#11.  print('</a:t>
            </a:r>
            <a:r>
              <a:rPr lang="zh-CN" altLang="en-US" sz="2400" dirty="0"/>
              <a:t>恭喜你，猜对了！共猜了</a:t>
            </a:r>
            <a:r>
              <a:rPr lang="en-US" altLang="zh-CN" sz="2400" dirty="0"/>
              <a:t>{}</a:t>
            </a:r>
            <a:r>
              <a:rPr lang="zh-CN" altLang="en-US" sz="2400" dirty="0"/>
              <a:t>次</a:t>
            </a:r>
            <a:r>
              <a:rPr lang="en-US" altLang="zh-CN" sz="2400" dirty="0"/>
              <a:t>'.format(n))</a:t>
            </a:r>
          </a:p>
        </p:txBody>
      </p:sp>
      <p:sp>
        <p:nvSpPr>
          <p:cNvPr id="4" name="灯片编号占位符 3">
            <a:extLst>
              <a:ext uri="{FF2B5EF4-FFF2-40B4-BE49-F238E27FC236}">
                <a16:creationId xmlns:a16="http://schemas.microsoft.com/office/drawing/2014/main" id="{D9C897BF-AC71-48AC-B566-364EAB3C3EE7}"/>
              </a:ext>
            </a:extLst>
          </p:cNvPr>
          <p:cNvSpPr>
            <a:spLocks noGrp="1"/>
          </p:cNvSpPr>
          <p:nvPr>
            <p:ph type="sldNum" sz="quarter" idx="12"/>
          </p:nvPr>
        </p:nvSpPr>
        <p:spPr/>
        <p:txBody>
          <a:bodyPr/>
          <a:lstStyle/>
          <a:p>
            <a:fld id="{49AE70B2-8BF9-45C0-BB95-33D1B9D3A854}" type="slidenum">
              <a:rPr lang="zh-CN" altLang="en-US" smtClean="0"/>
              <a:t>47</a:t>
            </a:fld>
            <a:endParaRPr lang="zh-CN" altLang="en-US"/>
          </a:p>
        </p:txBody>
      </p:sp>
    </p:spTree>
    <p:extLst>
      <p:ext uri="{BB962C8B-B14F-4D97-AF65-F5344CB8AC3E}">
        <p14:creationId xmlns:p14="http://schemas.microsoft.com/office/powerpoint/2010/main" val="3394866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5-13】</a:t>
            </a:r>
            <a:r>
              <a:rPr lang="zh-CN" altLang="en-US" dirty="0"/>
              <a:t>买房计划</a:t>
            </a:r>
          </a:p>
        </p:txBody>
      </p:sp>
      <p:sp>
        <p:nvSpPr>
          <p:cNvPr id="3" name="内容占位符 2"/>
          <p:cNvSpPr>
            <a:spLocks noGrp="1"/>
          </p:cNvSpPr>
          <p:nvPr>
            <p:ph idx="1"/>
          </p:nvPr>
        </p:nvSpPr>
        <p:spPr>
          <a:xfrm>
            <a:off x="669924" y="1160145"/>
            <a:ext cx="11114707" cy="5180965"/>
          </a:xfrm>
        </p:spPr>
        <p:txBody>
          <a:bodyPr>
            <a:normAutofit/>
          </a:bodyPr>
          <a:lstStyle/>
          <a:p>
            <a:r>
              <a:rPr lang="en-US" altLang="zh-CN" dirty="0"/>
              <a:t>2011</a:t>
            </a:r>
            <a:r>
              <a:rPr lang="zh-CN" altLang="en-US" dirty="0"/>
              <a:t>年张三年收入为</a:t>
            </a:r>
            <a:r>
              <a:rPr lang="en-US" altLang="zh-CN" dirty="0"/>
              <a:t>8</a:t>
            </a:r>
            <a:r>
              <a:rPr lang="zh-CN" altLang="en-US" dirty="0"/>
              <a:t>万元，其中</a:t>
            </a:r>
            <a:r>
              <a:rPr lang="en-US" altLang="zh-CN" dirty="0"/>
              <a:t>70%</a:t>
            </a:r>
            <a:r>
              <a:rPr lang="zh-CN" altLang="en-US" dirty="0"/>
              <a:t>用于存款购房，此时的房价为</a:t>
            </a:r>
            <a:r>
              <a:rPr lang="en-US" altLang="zh-CN" dirty="0"/>
              <a:t>50</a:t>
            </a:r>
            <a:r>
              <a:rPr lang="zh-CN" altLang="en-US" dirty="0"/>
              <a:t>万元，张三准备贷款购房，首付</a:t>
            </a:r>
            <a:r>
              <a:rPr lang="en-US" altLang="zh-CN" dirty="0"/>
              <a:t>50%</a:t>
            </a:r>
            <a:r>
              <a:rPr lang="zh-CN" altLang="en-US" dirty="0"/>
              <a:t>。假定张三的年收入每年以固定速度增长，房价也以每年</a:t>
            </a:r>
            <a:r>
              <a:rPr lang="en-US" altLang="zh-CN" dirty="0"/>
              <a:t>10%</a:t>
            </a:r>
            <a:r>
              <a:rPr lang="zh-CN" altLang="en-US" dirty="0"/>
              <a:t>的固定速度增长。问张三如果想在</a:t>
            </a:r>
            <a:r>
              <a:rPr lang="en-US" altLang="zh-CN" dirty="0"/>
              <a:t>6</a:t>
            </a:r>
            <a:r>
              <a:rPr lang="zh-CN" altLang="en-US" dirty="0"/>
              <a:t>年内买房，他的年收入增长最少要达到多少，要求增长率精确到小数点后两位，即精确到</a:t>
            </a:r>
            <a:r>
              <a:rPr lang="en-US" altLang="zh-CN" dirty="0" err="1"/>
              <a:t>xx.xx</a:t>
            </a:r>
            <a:r>
              <a:rPr lang="en-US" altLang="zh-CN" dirty="0"/>
              <a:t>%</a:t>
            </a:r>
            <a:r>
              <a:rPr lang="zh-CN" altLang="en-US" dirty="0"/>
              <a:t>。</a:t>
            </a:r>
          </a:p>
          <a:p>
            <a:r>
              <a:rPr lang="zh-CN" altLang="en-US" dirty="0"/>
              <a:t>解题思路</a:t>
            </a:r>
          </a:p>
          <a:p>
            <a:pPr lvl="1"/>
            <a:r>
              <a:rPr lang="zh-CN" altLang="en-US" dirty="0"/>
              <a:t>假设收入增长率为</a:t>
            </a:r>
            <a:r>
              <a:rPr lang="en-US" altLang="zh-CN" dirty="0"/>
              <a:t>r</a:t>
            </a:r>
            <a:r>
              <a:rPr lang="zh-CN" altLang="en-US" dirty="0"/>
              <a:t>，则初始化</a:t>
            </a:r>
            <a:r>
              <a:rPr lang="en-US" altLang="zh-CN" dirty="0"/>
              <a:t>r=1</a:t>
            </a:r>
            <a:r>
              <a:rPr lang="zh-CN" altLang="en-US" dirty="0"/>
              <a:t>，然后令</a:t>
            </a:r>
            <a:r>
              <a:rPr lang="en-US" altLang="zh-CN" dirty="0"/>
              <a:t>r=r+0.0001</a:t>
            </a:r>
            <a:r>
              <a:rPr lang="zh-CN" altLang="en-US" dirty="0"/>
              <a:t>，计算张三</a:t>
            </a:r>
            <a:r>
              <a:rPr lang="en-US" altLang="zh-CN" dirty="0"/>
              <a:t>6</a:t>
            </a:r>
            <a:r>
              <a:rPr lang="zh-CN" altLang="en-US" dirty="0"/>
              <a:t>年内能否存够首付，不断修改</a:t>
            </a:r>
            <a:r>
              <a:rPr lang="en-US" altLang="zh-CN" dirty="0"/>
              <a:t>r</a:t>
            </a:r>
            <a:r>
              <a:rPr lang="zh-CN" altLang="en-US" dirty="0"/>
              <a:t>值直到能存够首付为止。</a:t>
            </a:r>
          </a:p>
          <a:p>
            <a:endParaRPr lang="zh-CN" altLang="en-US" dirty="0"/>
          </a:p>
        </p:txBody>
      </p:sp>
      <p:sp>
        <p:nvSpPr>
          <p:cNvPr id="4" name="灯片编号占位符 3">
            <a:extLst>
              <a:ext uri="{FF2B5EF4-FFF2-40B4-BE49-F238E27FC236}">
                <a16:creationId xmlns:a16="http://schemas.microsoft.com/office/drawing/2014/main" id="{0E7AD84C-26E3-4E29-95A9-83774EFBCF26}"/>
              </a:ext>
            </a:extLst>
          </p:cNvPr>
          <p:cNvSpPr>
            <a:spLocks noGrp="1"/>
          </p:cNvSpPr>
          <p:nvPr>
            <p:ph type="sldNum" sz="quarter" idx="12"/>
          </p:nvPr>
        </p:nvSpPr>
        <p:spPr/>
        <p:txBody>
          <a:bodyPr/>
          <a:lstStyle/>
          <a:p>
            <a:fld id="{49AE70B2-8BF9-45C0-BB95-33D1B9D3A854}" type="slidenum">
              <a:rPr lang="zh-CN" altLang="en-US" smtClean="0"/>
              <a:t>48</a:t>
            </a:fld>
            <a:endParaRPr lang="zh-CN" altLang="en-US"/>
          </a:p>
        </p:txBody>
      </p:sp>
    </p:spTree>
    <p:extLst>
      <p:ext uri="{BB962C8B-B14F-4D97-AF65-F5344CB8AC3E}">
        <p14:creationId xmlns:p14="http://schemas.microsoft.com/office/powerpoint/2010/main" val="23186235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t>
            </a:r>
            <a:r>
              <a:rPr lang="zh-CN" altLang="en-US" dirty="0"/>
              <a:t>例</a:t>
            </a:r>
            <a:r>
              <a:rPr lang="en-US" altLang="zh-CN" dirty="0"/>
              <a:t>5-13】</a:t>
            </a:r>
            <a:r>
              <a:rPr lang="zh-CN" altLang="en-US"/>
              <a:t>买房计划</a:t>
            </a:r>
          </a:p>
        </p:txBody>
      </p:sp>
      <p:sp>
        <p:nvSpPr>
          <p:cNvPr id="3" name="内容占位符 2"/>
          <p:cNvSpPr>
            <a:spLocks noGrp="1"/>
          </p:cNvSpPr>
          <p:nvPr>
            <p:ph idx="1"/>
          </p:nvPr>
        </p:nvSpPr>
        <p:spPr>
          <a:xfrm>
            <a:off x="669925" y="1160145"/>
            <a:ext cx="10852150" cy="5437207"/>
          </a:xfrm>
          <a:solidFill>
            <a:schemeClr val="bg1">
              <a:lumMod val="85000"/>
            </a:schemeClr>
          </a:solidFill>
        </p:spPr>
        <p:txBody>
          <a:bodyPr>
            <a:noAutofit/>
          </a:bodyPr>
          <a:lstStyle/>
          <a:p>
            <a:pPr marL="0" indent="0">
              <a:lnSpc>
                <a:spcPct val="100000"/>
              </a:lnSpc>
              <a:spcBef>
                <a:spcPts val="0"/>
              </a:spcBef>
              <a:spcAft>
                <a:spcPts val="600"/>
              </a:spcAft>
              <a:buNone/>
            </a:pPr>
            <a:r>
              <a:rPr lang="en-US" altLang="zh-CN" sz="2000" dirty="0"/>
              <a:t>#1.	r = 1</a:t>
            </a:r>
          </a:p>
          <a:p>
            <a:pPr marL="0" indent="0">
              <a:lnSpc>
                <a:spcPct val="100000"/>
              </a:lnSpc>
              <a:spcBef>
                <a:spcPts val="0"/>
              </a:spcBef>
              <a:spcAft>
                <a:spcPts val="600"/>
              </a:spcAft>
              <a:buNone/>
            </a:pPr>
            <a:r>
              <a:rPr lang="en-US" altLang="zh-CN" sz="2000" dirty="0"/>
              <a:t>#2.	while True:</a:t>
            </a:r>
          </a:p>
          <a:p>
            <a:pPr marL="0" indent="0">
              <a:lnSpc>
                <a:spcPct val="100000"/>
              </a:lnSpc>
              <a:spcBef>
                <a:spcPts val="0"/>
              </a:spcBef>
              <a:spcAft>
                <a:spcPts val="600"/>
              </a:spcAft>
              <a:buNone/>
            </a:pPr>
            <a:r>
              <a:rPr lang="en-US" altLang="zh-CN" sz="2000" dirty="0"/>
              <a:t>#3.	    </a:t>
            </a:r>
            <a:r>
              <a:rPr lang="en-US" altLang="zh-CN" sz="2000" dirty="0" err="1"/>
              <a:t>sr</a:t>
            </a:r>
            <a:r>
              <a:rPr lang="en-US" altLang="zh-CN" sz="2000" dirty="0"/>
              <a:t> = 8 * 0.7    	</a:t>
            </a:r>
            <a:r>
              <a:rPr lang="en-US" altLang="zh-CN" sz="2000" dirty="0">
                <a:solidFill>
                  <a:srgbClr val="FF0000"/>
                </a:solidFill>
              </a:rPr>
              <a:t># </a:t>
            </a:r>
            <a:r>
              <a:rPr lang="zh-CN" altLang="en-US" sz="2000" dirty="0">
                <a:solidFill>
                  <a:srgbClr val="FF0000"/>
                </a:solidFill>
              </a:rPr>
              <a:t>每年的存入的金额</a:t>
            </a:r>
          </a:p>
          <a:p>
            <a:pPr marL="0" indent="0">
              <a:lnSpc>
                <a:spcPct val="100000"/>
              </a:lnSpc>
              <a:spcBef>
                <a:spcPts val="0"/>
              </a:spcBef>
              <a:spcAft>
                <a:spcPts val="600"/>
              </a:spcAft>
              <a:buNone/>
            </a:pPr>
            <a:r>
              <a:rPr lang="en-US" altLang="zh-CN" sz="2000" dirty="0"/>
              <a:t>#4.	    sum = 0       	</a:t>
            </a:r>
            <a:r>
              <a:rPr lang="en-US" altLang="zh-CN" sz="2000" dirty="0">
                <a:solidFill>
                  <a:srgbClr val="FF0000"/>
                </a:solidFill>
              </a:rPr>
              <a:t># </a:t>
            </a:r>
            <a:r>
              <a:rPr lang="zh-CN" altLang="en-US" sz="2000" dirty="0">
                <a:solidFill>
                  <a:srgbClr val="FF0000"/>
                </a:solidFill>
              </a:rPr>
              <a:t>总存款</a:t>
            </a:r>
          </a:p>
          <a:p>
            <a:pPr marL="0" indent="0">
              <a:lnSpc>
                <a:spcPct val="100000"/>
              </a:lnSpc>
              <a:spcBef>
                <a:spcPts val="0"/>
              </a:spcBef>
              <a:spcAft>
                <a:spcPts val="600"/>
              </a:spcAft>
              <a:buNone/>
            </a:pPr>
            <a:r>
              <a:rPr lang="en-US" altLang="zh-CN" sz="2000" dirty="0"/>
              <a:t>#5.	    fj = 50 * 0.5   	</a:t>
            </a:r>
            <a:r>
              <a:rPr lang="en-US" altLang="zh-CN" sz="2000" dirty="0">
                <a:solidFill>
                  <a:srgbClr val="FF0000"/>
                </a:solidFill>
              </a:rPr>
              <a:t># </a:t>
            </a:r>
            <a:r>
              <a:rPr lang="zh-CN" altLang="en-US" sz="2000" dirty="0">
                <a:solidFill>
                  <a:srgbClr val="FF0000"/>
                </a:solidFill>
              </a:rPr>
              <a:t>第一年房子的首付</a:t>
            </a:r>
          </a:p>
          <a:p>
            <a:pPr marL="0" indent="0">
              <a:lnSpc>
                <a:spcPct val="100000"/>
              </a:lnSpc>
              <a:spcBef>
                <a:spcPts val="0"/>
              </a:spcBef>
              <a:spcAft>
                <a:spcPts val="600"/>
              </a:spcAft>
              <a:buNone/>
            </a:pPr>
            <a:r>
              <a:rPr lang="en-US" altLang="zh-CN" sz="2000" dirty="0"/>
              <a:t>#6.	    r += 0.0001</a:t>
            </a:r>
          </a:p>
          <a:p>
            <a:pPr marL="0" indent="0">
              <a:lnSpc>
                <a:spcPct val="100000"/>
              </a:lnSpc>
              <a:spcBef>
                <a:spcPts val="0"/>
              </a:spcBef>
              <a:spcAft>
                <a:spcPts val="600"/>
              </a:spcAft>
              <a:buNone/>
            </a:pPr>
            <a:r>
              <a:rPr lang="en-US" altLang="zh-CN" sz="2000" dirty="0"/>
              <a:t>#7.	    for </a:t>
            </a:r>
            <a:r>
              <a:rPr lang="en-US" altLang="zh-CN" sz="2000" dirty="0" err="1"/>
              <a:t>i</a:t>
            </a:r>
            <a:r>
              <a:rPr lang="en-US" altLang="zh-CN" sz="2000" dirty="0"/>
              <a:t> in range(0, 6):</a:t>
            </a:r>
          </a:p>
          <a:p>
            <a:pPr marL="0" indent="0">
              <a:lnSpc>
                <a:spcPct val="100000"/>
              </a:lnSpc>
              <a:spcBef>
                <a:spcPts val="0"/>
              </a:spcBef>
              <a:spcAft>
                <a:spcPts val="600"/>
              </a:spcAft>
              <a:buNone/>
            </a:pPr>
            <a:r>
              <a:rPr lang="en-US" altLang="zh-CN" sz="2000" dirty="0"/>
              <a:t>#8.	        sum += </a:t>
            </a:r>
            <a:r>
              <a:rPr lang="en-US" altLang="zh-CN" sz="2000" dirty="0" err="1"/>
              <a:t>sr</a:t>
            </a:r>
            <a:r>
              <a:rPr lang="en-US" altLang="zh-CN" sz="2000" dirty="0"/>
              <a:t>    	</a:t>
            </a:r>
            <a:r>
              <a:rPr lang="en-US" altLang="zh-CN" sz="2000" dirty="0">
                <a:solidFill>
                  <a:srgbClr val="FF0000"/>
                </a:solidFill>
              </a:rPr>
              <a:t># </a:t>
            </a:r>
            <a:r>
              <a:rPr lang="zh-CN" altLang="en-US" sz="2000" dirty="0">
                <a:solidFill>
                  <a:srgbClr val="FF0000"/>
                </a:solidFill>
              </a:rPr>
              <a:t>年底的总存款</a:t>
            </a:r>
          </a:p>
          <a:p>
            <a:pPr marL="0" indent="0">
              <a:lnSpc>
                <a:spcPct val="100000"/>
              </a:lnSpc>
              <a:spcBef>
                <a:spcPts val="0"/>
              </a:spcBef>
              <a:spcAft>
                <a:spcPts val="600"/>
              </a:spcAft>
              <a:buNone/>
            </a:pPr>
            <a:r>
              <a:rPr lang="en-US" altLang="zh-CN" sz="2000" dirty="0"/>
              <a:t>#9.	        </a:t>
            </a:r>
            <a:r>
              <a:rPr lang="en-US" altLang="zh-CN" sz="2000" dirty="0" err="1"/>
              <a:t>sr</a:t>
            </a:r>
            <a:r>
              <a:rPr lang="en-US" altLang="zh-CN" sz="2000" dirty="0"/>
              <a:t> = </a:t>
            </a:r>
            <a:r>
              <a:rPr lang="en-US" altLang="zh-CN" sz="2000" dirty="0" err="1"/>
              <a:t>sr</a:t>
            </a:r>
            <a:r>
              <a:rPr lang="en-US" altLang="zh-CN" sz="2000" dirty="0"/>
              <a:t> * r     	</a:t>
            </a:r>
            <a:r>
              <a:rPr lang="en-US" altLang="zh-CN" sz="2000" dirty="0">
                <a:solidFill>
                  <a:srgbClr val="FF0000"/>
                </a:solidFill>
              </a:rPr>
              <a:t># </a:t>
            </a:r>
            <a:r>
              <a:rPr lang="zh-CN" altLang="en-US" sz="2000" dirty="0">
                <a:solidFill>
                  <a:srgbClr val="FF0000"/>
                </a:solidFill>
              </a:rPr>
              <a:t>下一年度的存入的金额</a:t>
            </a:r>
          </a:p>
          <a:p>
            <a:pPr marL="0" indent="0">
              <a:lnSpc>
                <a:spcPct val="100000"/>
              </a:lnSpc>
              <a:spcBef>
                <a:spcPts val="0"/>
              </a:spcBef>
              <a:spcAft>
                <a:spcPts val="600"/>
              </a:spcAft>
              <a:buNone/>
            </a:pPr>
            <a:r>
              <a:rPr lang="en-US" altLang="zh-CN" sz="2000" dirty="0"/>
              <a:t>#10.	        fj = fj * 1.1   	</a:t>
            </a:r>
            <a:r>
              <a:rPr lang="en-US" altLang="zh-CN" sz="2000" dirty="0">
                <a:solidFill>
                  <a:srgbClr val="FF0000"/>
                </a:solidFill>
              </a:rPr>
              <a:t># </a:t>
            </a:r>
            <a:r>
              <a:rPr lang="zh-CN" altLang="en-US" sz="2000" dirty="0">
                <a:solidFill>
                  <a:srgbClr val="FF0000"/>
                </a:solidFill>
              </a:rPr>
              <a:t>下一年度的房子首付金额</a:t>
            </a:r>
          </a:p>
          <a:p>
            <a:pPr marL="0" indent="0">
              <a:lnSpc>
                <a:spcPct val="100000"/>
              </a:lnSpc>
              <a:spcBef>
                <a:spcPts val="0"/>
              </a:spcBef>
              <a:spcAft>
                <a:spcPts val="600"/>
              </a:spcAft>
              <a:buNone/>
            </a:pPr>
            <a:r>
              <a:rPr lang="en-US" altLang="zh-CN" sz="2000" dirty="0"/>
              <a:t>#11.	    if sum &gt;= fj:</a:t>
            </a:r>
          </a:p>
          <a:p>
            <a:pPr marL="0" indent="0">
              <a:lnSpc>
                <a:spcPct val="100000"/>
              </a:lnSpc>
              <a:spcBef>
                <a:spcPts val="0"/>
              </a:spcBef>
              <a:spcAft>
                <a:spcPts val="600"/>
              </a:spcAft>
              <a:buNone/>
            </a:pPr>
            <a:r>
              <a:rPr lang="en-US" altLang="zh-CN" sz="2000" dirty="0"/>
              <a:t>#12.	        print('</a:t>
            </a:r>
            <a:r>
              <a:rPr lang="zh-CN" altLang="en-US" sz="2000" dirty="0"/>
              <a:t>最低年收入增长率是</a:t>
            </a:r>
            <a:r>
              <a:rPr lang="en-US" altLang="zh-CN" sz="2000" dirty="0"/>
              <a:t>{:.2%}'.format(r - 1))</a:t>
            </a:r>
          </a:p>
          <a:p>
            <a:pPr marL="0" indent="0">
              <a:lnSpc>
                <a:spcPct val="100000"/>
              </a:lnSpc>
              <a:spcBef>
                <a:spcPts val="0"/>
              </a:spcBef>
              <a:spcAft>
                <a:spcPts val="600"/>
              </a:spcAft>
              <a:buNone/>
            </a:pPr>
            <a:r>
              <a:rPr lang="en-US" altLang="zh-CN" sz="2000" dirty="0"/>
              <a:t>#13.	        break</a:t>
            </a:r>
          </a:p>
        </p:txBody>
      </p:sp>
      <p:sp>
        <p:nvSpPr>
          <p:cNvPr id="4" name="灯片编号占位符 3">
            <a:extLst>
              <a:ext uri="{FF2B5EF4-FFF2-40B4-BE49-F238E27FC236}">
                <a16:creationId xmlns:a16="http://schemas.microsoft.com/office/drawing/2014/main" id="{B190A65C-70C9-49DA-BBA8-6EB98EE03421}"/>
              </a:ext>
            </a:extLst>
          </p:cNvPr>
          <p:cNvSpPr>
            <a:spLocks noGrp="1"/>
          </p:cNvSpPr>
          <p:nvPr>
            <p:ph type="sldNum" sz="quarter" idx="12"/>
          </p:nvPr>
        </p:nvSpPr>
        <p:spPr/>
        <p:txBody>
          <a:bodyPr/>
          <a:lstStyle/>
          <a:p>
            <a:fld id="{49AE70B2-8BF9-45C0-BB95-33D1B9D3A854}" type="slidenum">
              <a:rPr lang="zh-CN" altLang="en-US" smtClean="0"/>
              <a:t>49</a:t>
            </a:fld>
            <a:endParaRPr lang="zh-CN" altLang="en-US"/>
          </a:p>
        </p:txBody>
      </p:sp>
    </p:spTree>
    <p:extLst>
      <p:ext uri="{BB962C8B-B14F-4D97-AF65-F5344CB8AC3E}">
        <p14:creationId xmlns:p14="http://schemas.microsoft.com/office/powerpoint/2010/main" val="1824694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75E60-CB00-3EE6-44A8-A134FBB0B403}"/>
              </a:ext>
            </a:extLst>
          </p:cNvPr>
          <p:cNvSpPr>
            <a:spLocks noGrp="1"/>
          </p:cNvSpPr>
          <p:nvPr>
            <p:ph type="title"/>
          </p:nvPr>
        </p:nvSpPr>
        <p:spPr/>
        <p:txBody>
          <a:bodyPr/>
          <a:lstStyle/>
          <a:p>
            <a:r>
              <a:rPr lang="en-US" altLang="zh-CN" dirty="0"/>
              <a:t>【</a:t>
            </a:r>
            <a:r>
              <a:rPr lang="zh-CN" altLang="en-US" dirty="0"/>
              <a:t>例</a:t>
            </a:r>
            <a:r>
              <a:rPr lang="en-US" altLang="zh-CN" dirty="0"/>
              <a:t>】(</a:t>
            </a:r>
            <a:r>
              <a:rPr lang="zh-CN" altLang="en-US" dirty="0"/>
              <a:t>较难</a:t>
            </a:r>
            <a:r>
              <a:rPr lang="en-US" altLang="zh-CN" dirty="0"/>
              <a:t>)</a:t>
            </a:r>
            <a:r>
              <a:rPr lang="zh-CN" altLang="en-US" dirty="0"/>
              <a:t>计算</a:t>
            </a:r>
            <a:r>
              <a:rPr lang="en-US" altLang="zh-CN" cap="none" dirty="0"/>
              <a:t>e</a:t>
            </a:r>
            <a:r>
              <a:rPr lang="en-US" altLang="zh-CN" cap="none" baseline="30000" dirty="0"/>
              <a:t>x</a:t>
            </a:r>
            <a:endParaRPr lang="zh-CN" altLang="en-US" baseline="30000" dirty="0"/>
          </a:p>
        </p:txBody>
      </p:sp>
      <p:sp>
        <p:nvSpPr>
          <p:cNvPr id="3" name="内容占位符 2">
            <a:extLst>
              <a:ext uri="{FF2B5EF4-FFF2-40B4-BE49-F238E27FC236}">
                <a16:creationId xmlns:a16="http://schemas.microsoft.com/office/drawing/2014/main" id="{601191B4-FC6E-710F-8C86-57220A7AE0FF}"/>
              </a:ext>
            </a:extLst>
          </p:cNvPr>
          <p:cNvSpPr>
            <a:spLocks noGrp="1"/>
          </p:cNvSpPr>
          <p:nvPr>
            <p:ph idx="1"/>
          </p:nvPr>
        </p:nvSpPr>
        <p:spPr/>
        <p:txBody>
          <a:bodyPr>
            <a:normAutofit lnSpcReduction="10000"/>
          </a:bodyPr>
          <a:lstStyle/>
          <a:p>
            <a:pPr marL="0" indent="0">
              <a:buNone/>
            </a:pPr>
            <a:r>
              <a:rPr lang="zh-CN" altLang="en-US" dirty="0"/>
              <a:t>输入任意实数</a:t>
            </a:r>
            <a:r>
              <a:rPr lang="en-US" altLang="zh-CN" dirty="0"/>
              <a:t>x</a:t>
            </a:r>
            <a:r>
              <a:rPr lang="zh-CN" altLang="en-US" dirty="0"/>
              <a:t>，计算</a:t>
            </a:r>
            <a:r>
              <a:rPr lang="en-US" altLang="zh-CN" dirty="0" err="1"/>
              <a:t>e^x</a:t>
            </a:r>
            <a:r>
              <a:rPr lang="zh-CN" altLang="en-US" dirty="0"/>
              <a:t>的近似值：</a:t>
            </a:r>
            <a:endParaRPr lang="en-US" altLang="zh-CN" dirty="0"/>
          </a:p>
          <a:p>
            <a:pPr marL="0" indent="0">
              <a:buNone/>
            </a:pPr>
            <a:r>
              <a:rPr lang="en-US" altLang="zh-CN" dirty="0" err="1"/>
              <a:t>e^x</a:t>
            </a:r>
            <a:r>
              <a:rPr lang="en-US" altLang="zh-CN" dirty="0"/>
              <a:t> = 1 + x/1! + x^22! + x^3/3! +…+ </a:t>
            </a:r>
            <a:r>
              <a:rPr lang="en-US" altLang="zh-CN" dirty="0" err="1"/>
              <a:t>x^n</a:t>
            </a:r>
            <a:r>
              <a:rPr lang="en-US" altLang="zh-CN" dirty="0"/>
              <a:t>/n!</a:t>
            </a:r>
            <a:r>
              <a:rPr lang="zh-CN" altLang="en-US" dirty="0"/>
              <a:t> ，</a:t>
            </a:r>
            <a:endParaRPr lang="en-US" altLang="zh-CN" dirty="0"/>
          </a:p>
          <a:p>
            <a:pPr marL="0" indent="0">
              <a:buNone/>
            </a:pPr>
            <a:r>
              <a:rPr lang="en-US" altLang="zh-CN" dirty="0"/>
              <a:t>  </a:t>
            </a:r>
            <a:r>
              <a:rPr lang="zh-CN" altLang="en-US" dirty="0"/>
              <a:t>使误差小于</a:t>
            </a:r>
            <a:r>
              <a:rPr lang="en-US" altLang="zh-CN" dirty="0"/>
              <a:t>10^-6(</a:t>
            </a:r>
            <a:r>
              <a:rPr lang="zh-CN" altLang="en-US" dirty="0"/>
              <a:t>当</a:t>
            </a:r>
            <a:r>
              <a:rPr lang="en-US" altLang="zh-CN" dirty="0" err="1"/>
              <a:t>x^n</a:t>
            </a:r>
            <a:r>
              <a:rPr lang="en-US" altLang="zh-CN" dirty="0"/>
              <a:t>/n!</a:t>
            </a:r>
            <a:r>
              <a:rPr lang="zh-CN" altLang="en-US" dirty="0"/>
              <a:t>的值小于</a:t>
            </a:r>
            <a:r>
              <a:rPr lang="en-US" altLang="zh-CN" dirty="0"/>
              <a:t>10^-6</a:t>
            </a:r>
            <a:r>
              <a:rPr lang="zh-CN" altLang="en-US" dirty="0"/>
              <a:t>时停止计算）。</a:t>
            </a:r>
            <a:r>
              <a:rPr lang="en-US" altLang="zh-CN" dirty="0"/>
              <a:t>(</a:t>
            </a:r>
            <a:r>
              <a:rPr lang="zh-CN" altLang="en-US" dirty="0"/>
              <a:t>公式中的</a:t>
            </a:r>
            <a:r>
              <a:rPr lang="en-US" altLang="zh-CN" dirty="0"/>
              <a:t>^</a:t>
            </a:r>
            <a:r>
              <a:rPr lang="zh-CN" altLang="en-US" dirty="0"/>
              <a:t>代表幂运算，</a:t>
            </a:r>
            <a:endParaRPr lang="en-US" altLang="zh-CN" dirty="0"/>
          </a:p>
          <a:p>
            <a:pPr marL="0" indent="0">
              <a:buNone/>
            </a:pPr>
            <a:r>
              <a:rPr lang="zh-CN" altLang="en-US" dirty="0"/>
              <a:t>  结果保留小数点后两位小数</a:t>
            </a:r>
            <a:endParaRPr lang="en-US" altLang="zh-CN" dirty="0"/>
          </a:p>
          <a:p>
            <a:pPr marL="0" indent="0">
              <a:buNone/>
            </a:pPr>
            <a:endParaRPr lang="en-US" altLang="zh-CN" dirty="0"/>
          </a:p>
          <a:p>
            <a:pPr marL="0" indent="0">
              <a:buNone/>
            </a:pPr>
            <a:r>
              <a:rPr lang="zh-CN" altLang="en-US" dirty="0"/>
              <a:t>测试</a:t>
            </a:r>
            <a:r>
              <a:rPr lang="en-US" altLang="zh-CN" dirty="0"/>
              <a:t>1</a:t>
            </a:r>
            <a:r>
              <a:rPr lang="zh-CN" altLang="en-US" dirty="0"/>
              <a:t>：（第</a:t>
            </a:r>
            <a:r>
              <a:rPr lang="en-US" altLang="zh-CN" dirty="0"/>
              <a:t>1</a:t>
            </a:r>
            <a:r>
              <a:rPr lang="zh-CN" altLang="en-US" dirty="0"/>
              <a:t>行为输入，第</a:t>
            </a:r>
            <a:r>
              <a:rPr lang="en-US" altLang="zh-CN" dirty="0"/>
              <a:t>2</a:t>
            </a:r>
            <a:r>
              <a:rPr lang="zh-CN" altLang="en-US" dirty="0"/>
              <a:t>、</a:t>
            </a:r>
            <a:r>
              <a:rPr lang="en-US" altLang="zh-CN" dirty="0"/>
              <a:t>3</a:t>
            </a:r>
            <a:r>
              <a:rPr lang="zh-CN" altLang="en-US" dirty="0"/>
              <a:t>行为输出）</a:t>
            </a:r>
          </a:p>
          <a:p>
            <a:pPr marL="0" indent="0">
              <a:buNone/>
            </a:pPr>
            <a:r>
              <a:rPr lang="en-US" altLang="zh-CN" dirty="0"/>
              <a:t>1.2</a:t>
            </a:r>
          </a:p>
          <a:p>
            <a:pPr marL="0" indent="0">
              <a:buNone/>
            </a:pPr>
            <a:r>
              <a:rPr lang="en-US" altLang="zh-CN" dirty="0"/>
              <a:t>3.32</a:t>
            </a:r>
          </a:p>
          <a:p>
            <a:pPr marL="0" indent="0">
              <a:buNone/>
            </a:pPr>
            <a:endParaRPr lang="zh-CN" altLang="en-US" dirty="0"/>
          </a:p>
        </p:txBody>
      </p:sp>
      <p:sp>
        <p:nvSpPr>
          <p:cNvPr id="4" name="灯片编号占位符 3">
            <a:extLst>
              <a:ext uri="{FF2B5EF4-FFF2-40B4-BE49-F238E27FC236}">
                <a16:creationId xmlns:a16="http://schemas.microsoft.com/office/drawing/2014/main" id="{BAAF3D61-EAC6-3C41-94FC-C7563C6AD059}"/>
              </a:ext>
            </a:extLst>
          </p:cNvPr>
          <p:cNvSpPr>
            <a:spLocks noGrp="1"/>
          </p:cNvSpPr>
          <p:nvPr>
            <p:ph type="sldNum" sz="quarter" idx="12"/>
          </p:nvPr>
        </p:nvSpPr>
        <p:spPr/>
        <p:txBody>
          <a:bodyPr/>
          <a:lstStyle/>
          <a:p>
            <a:fld id="{49AE70B2-8BF9-45C0-BB95-33D1B9D3A854}" type="slidenum">
              <a:rPr lang="zh-CN" altLang="en-US" smtClean="0"/>
              <a:pPr/>
              <a:t>50</a:t>
            </a:fld>
            <a:endParaRPr lang="zh-CN" altLang="en-US" dirty="0"/>
          </a:p>
        </p:txBody>
      </p:sp>
    </p:spTree>
    <p:extLst>
      <p:ext uri="{BB962C8B-B14F-4D97-AF65-F5344CB8AC3E}">
        <p14:creationId xmlns:p14="http://schemas.microsoft.com/office/powerpoint/2010/main" val="120201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75E60-CB00-3EE6-44A8-A134FBB0B40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01191B4-FC6E-710F-8C86-57220A7AE0FF}"/>
              </a:ext>
            </a:extLst>
          </p:cNvPr>
          <p:cNvSpPr>
            <a:spLocks noGrp="1"/>
          </p:cNvSpPr>
          <p:nvPr>
            <p:ph idx="1"/>
          </p:nvPr>
        </p:nvSpPr>
        <p:spPr/>
        <p:txBody>
          <a:bodyPr>
            <a:normAutofit fontScale="85000" lnSpcReduction="20000"/>
          </a:bodyPr>
          <a:lstStyle/>
          <a:p>
            <a:pPr marL="0" indent="0">
              <a:buNone/>
            </a:pPr>
            <a:r>
              <a:rPr lang="en-US" altLang="zh-CN" dirty="0"/>
              <a:t>x = float(input()) </a:t>
            </a:r>
          </a:p>
          <a:p>
            <a:pPr marL="0" indent="0">
              <a:buNone/>
            </a:pPr>
            <a:r>
              <a:rPr lang="en-US" altLang="zh-CN" dirty="0"/>
              <a:t>ex = 1 	# </a:t>
            </a:r>
            <a:r>
              <a:rPr lang="zh-CN" altLang="en-US" dirty="0"/>
              <a:t>前</a:t>
            </a:r>
            <a:r>
              <a:rPr lang="en-US" altLang="zh-CN" dirty="0" err="1"/>
              <a:t>i</a:t>
            </a:r>
            <a:r>
              <a:rPr lang="zh-CN" altLang="en-US" dirty="0"/>
              <a:t>项多项式的和</a:t>
            </a:r>
            <a:endParaRPr lang="en-US" altLang="zh-CN" dirty="0"/>
          </a:p>
          <a:p>
            <a:pPr marL="0" indent="0">
              <a:buNone/>
            </a:pPr>
            <a:r>
              <a:rPr lang="en-US" altLang="zh-CN" dirty="0" err="1"/>
              <a:t>i</a:t>
            </a:r>
            <a:r>
              <a:rPr lang="en-US" altLang="zh-CN" dirty="0"/>
              <a:t> = 1		# </a:t>
            </a:r>
            <a:r>
              <a:rPr lang="zh-CN" altLang="en-US" dirty="0"/>
              <a:t>第</a:t>
            </a:r>
            <a:r>
              <a:rPr lang="en-US" altLang="zh-CN" dirty="0" err="1"/>
              <a:t>i</a:t>
            </a:r>
            <a:r>
              <a:rPr lang="zh-CN" altLang="en-US" dirty="0"/>
              <a:t>项的序号</a:t>
            </a:r>
            <a:endParaRPr lang="en-US" altLang="zh-CN" dirty="0"/>
          </a:p>
          <a:p>
            <a:pPr marL="0" indent="0">
              <a:buNone/>
            </a:pPr>
            <a:r>
              <a:rPr lang="en-US" altLang="zh-CN" dirty="0" err="1"/>
              <a:t>jie</a:t>
            </a:r>
            <a:r>
              <a:rPr lang="en-US" altLang="zh-CN" dirty="0"/>
              <a:t> = 1 	# </a:t>
            </a:r>
            <a:r>
              <a:rPr lang="en-US" altLang="zh-CN" dirty="0" err="1"/>
              <a:t>jie</a:t>
            </a:r>
            <a:r>
              <a:rPr lang="zh-CN" altLang="en-US" dirty="0"/>
              <a:t>是阶乘 </a:t>
            </a:r>
            <a:r>
              <a:rPr lang="en-US" altLang="zh-CN" dirty="0" err="1"/>
              <a:t>jie</a:t>
            </a:r>
            <a:r>
              <a:rPr lang="en-US" altLang="zh-CN" dirty="0"/>
              <a:t>=</a:t>
            </a:r>
            <a:r>
              <a:rPr lang="en-US" altLang="zh-CN" dirty="0" err="1"/>
              <a:t>i</a:t>
            </a:r>
            <a:r>
              <a:rPr lang="zh-CN" altLang="en-US" dirty="0"/>
              <a:t>！</a:t>
            </a:r>
            <a:endParaRPr lang="en-US" altLang="zh-CN" dirty="0"/>
          </a:p>
          <a:p>
            <a:pPr marL="0" indent="0">
              <a:buNone/>
            </a:pPr>
            <a:r>
              <a:rPr lang="en-US" altLang="zh-CN" dirty="0"/>
              <a:t>a = 1   	# a</a:t>
            </a:r>
            <a:r>
              <a:rPr lang="zh-CN" altLang="en-US" dirty="0"/>
              <a:t>是多项式最后一项 </a:t>
            </a:r>
            <a:r>
              <a:rPr lang="en-US" altLang="zh-CN" dirty="0"/>
              <a:t>a=</a:t>
            </a:r>
            <a:r>
              <a:rPr lang="en-US" altLang="zh-CN" dirty="0" err="1"/>
              <a:t>x^i</a:t>
            </a:r>
            <a:r>
              <a:rPr lang="en-US" altLang="zh-CN" dirty="0"/>
              <a:t>/</a:t>
            </a:r>
            <a:r>
              <a:rPr lang="en-US" altLang="zh-CN" dirty="0" err="1"/>
              <a:t>i</a:t>
            </a:r>
            <a:r>
              <a:rPr lang="en-US" altLang="zh-CN" dirty="0"/>
              <a:t>!</a:t>
            </a:r>
          </a:p>
          <a:p>
            <a:pPr marL="0" indent="0">
              <a:buNone/>
            </a:pPr>
            <a:r>
              <a:rPr lang="en-US" altLang="zh-CN" dirty="0"/>
              <a:t>while (a &gt;= 1e-6): </a:t>
            </a:r>
          </a:p>
          <a:p>
            <a:pPr marL="0" indent="0">
              <a:buNone/>
            </a:pPr>
            <a:r>
              <a:rPr lang="en-US" altLang="zh-CN" dirty="0"/>
              <a:t>    </a:t>
            </a:r>
            <a:r>
              <a:rPr lang="en-US" altLang="zh-CN" dirty="0" err="1"/>
              <a:t>jie</a:t>
            </a:r>
            <a:r>
              <a:rPr lang="en-US" altLang="zh-CN" dirty="0"/>
              <a:t> *= </a:t>
            </a:r>
            <a:r>
              <a:rPr lang="en-US" altLang="zh-CN" dirty="0" err="1"/>
              <a:t>i</a:t>
            </a:r>
            <a:r>
              <a:rPr lang="en-US" altLang="zh-CN" dirty="0"/>
              <a:t> 	#</a:t>
            </a:r>
            <a:r>
              <a:rPr lang="zh-CN" altLang="en-US" dirty="0"/>
              <a:t>求阶乘</a:t>
            </a:r>
            <a:r>
              <a:rPr lang="en-US" altLang="zh-CN" dirty="0"/>
              <a:t> i!</a:t>
            </a:r>
          </a:p>
          <a:p>
            <a:pPr marL="0" indent="0">
              <a:buNone/>
            </a:pPr>
            <a:r>
              <a:rPr lang="en-US" altLang="zh-CN" dirty="0"/>
              <a:t>    a = x**</a:t>
            </a:r>
            <a:r>
              <a:rPr lang="en-US" altLang="zh-CN" dirty="0" err="1"/>
              <a:t>i</a:t>
            </a:r>
            <a:r>
              <a:rPr lang="en-US" altLang="zh-CN" dirty="0"/>
              <a:t>/</a:t>
            </a:r>
            <a:r>
              <a:rPr lang="en-US" altLang="zh-CN" dirty="0" err="1"/>
              <a:t>jie</a:t>
            </a:r>
            <a:r>
              <a:rPr lang="en-US" altLang="zh-CN" dirty="0"/>
              <a:t> #</a:t>
            </a:r>
            <a:r>
              <a:rPr lang="zh-CN" altLang="en-US" dirty="0"/>
              <a:t>求多项式最后一项</a:t>
            </a:r>
            <a:endParaRPr lang="en-US" altLang="zh-CN" dirty="0"/>
          </a:p>
          <a:p>
            <a:pPr marL="0" indent="0">
              <a:buNone/>
            </a:pPr>
            <a:r>
              <a:rPr lang="en-US" altLang="zh-CN" dirty="0"/>
              <a:t>    ex += a 	#</a:t>
            </a:r>
            <a:r>
              <a:rPr lang="zh-CN" altLang="en-US" dirty="0"/>
              <a:t>求前</a:t>
            </a:r>
            <a:r>
              <a:rPr lang="en-US" altLang="zh-CN" dirty="0"/>
              <a:t>n</a:t>
            </a:r>
            <a:r>
              <a:rPr lang="zh-CN" altLang="en-US" dirty="0"/>
              <a:t>项多项式之和</a:t>
            </a:r>
            <a:endParaRPr lang="en-US" altLang="zh-CN" dirty="0"/>
          </a:p>
          <a:p>
            <a:pPr marL="0" indent="0">
              <a:buNone/>
            </a:pPr>
            <a:r>
              <a:rPr lang="en-US" altLang="zh-CN" dirty="0"/>
              <a:t>    </a:t>
            </a:r>
            <a:r>
              <a:rPr lang="en-US" altLang="zh-CN" dirty="0" err="1"/>
              <a:t>i</a:t>
            </a:r>
            <a:r>
              <a:rPr lang="en-US" altLang="zh-CN" dirty="0"/>
              <a:t> += 1 </a:t>
            </a:r>
          </a:p>
          <a:p>
            <a:pPr marL="0" indent="0">
              <a:buNone/>
            </a:pPr>
            <a:r>
              <a:rPr lang="en-US" altLang="zh-CN" dirty="0"/>
              <a:t>print('{:.2f}'.format(ex))</a:t>
            </a:r>
            <a:endParaRPr lang="zh-CN" altLang="en-US" dirty="0"/>
          </a:p>
        </p:txBody>
      </p:sp>
      <p:sp>
        <p:nvSpPr>
          <p:cNvPr id="4" name="灯片编号占位符 3">
            <a:extLst>
              <a:ext uri="{FF2B5EF4-FFF2-40B4-BE49-F238E27FC236}">
                <a16:creationId xmlns:a16="http://schemas.microsoft.com/office/drawing/2014/main" id="{BAAF3D61-EAC6-3C41-94FC-C7563C6AD059}"/>
              </a:ext>
            </a:extLst>
          </p:cNvPr>
          <p:cNvSpPr>
            <a:spLocks noGrp="1"/>
          </p:cNvSpPr>
          <p:nvPr>
            <p:ph type="sldNum" sz="quarter" idx="12"/>
          </p:nvPr>
        </p:nvSpPr>
        <p:spPr/>
        <p:txBody>
          <a:bodyPr/>
          <a:lstStyle/>
          <a:p>
            <a:fld id="{49AE70B2-8BF9-45C0-BB95-33D1B9D3A854}" type="slidenum">
              <a:rPr lang="zh-CN" altLang="en-US" smtClean="0"/>
              <a:pPr/>
              <a:t>51</a:t>
            </a:fld>
            <a:endParaRPr lang="zh-CN" altLang="en-US" dirty="0"/>
          </a:p>
        </p:txBody>
      </p:sp>
    </p:spTree>
    <p:extLst>
      <p:ext uri="{BB962C8B-B14F-4D97-AF65-F5344CB8AC3E}">
        <p14:creationId xmlns:p14="http://schemas.microsoft.com/office/powerpoint/2010/main" val="27576801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0C2DD7-5A7C-4AFC-BA08-FBD495054710}"/>
              </a:ext>
            </a:extLst>
          </p:cNvPr>
          <p:cNvSpPr>
            <a:spLocks noGrp="1"/>
          </p:cNvSpPr>
          <p:nvPr>
            <p:ph type="ctrTitle"/>
          </p:nvPr>
        </p:nvSpPr>
        <p:spPr>
          <a:xfrm>
            <a:off x="1371600" y="1803405"/>
            <a:ext cx="9448800" cy="1049531"/>
          </a:xfrm>
        </p:spPr>
        <p:txBody>
          <a:bodyPr/>
          <a:lstStyle/>
          <a:p>
            <a:pPr algn="ctr"/>
            <a:r>
              <a:rPr lang="zh-CN" altLang="en-US" dirty="0"/>
              <a:t>本章习题  </a:t>
            </a:r>
            <a:r>
              <a:rPr lang="en-US" altLang="zh-CN" sz="3200" dirty="0"/>
              <a:t>P98</a:t>
            </a:r>
            <a:endParaRPr lang="zh-CN" altLang="en-US" sz="3200" dirty="0"/>
          </a:p>
        </p:txBody>
      </p:sp>
      <p:sp>
        <p:nvSpPr>
          <p:cNvPr id="3" name="副标题 2">
            <a:extLst>
              <a:ext uri="{FF2B5EF4-FFF2-40B4-BE49-F238E27FC236}">
                <a16:creationId xmlns:a16="http://schemas.microsoft.com/office/drawing/2014/main" id="{449AE7BC-7354-4629-8554-FC05A9081B6F}"/>
              </a:ext>
            </a:extLst>
          </p:cNvPr>
          <p:cNvSpPr>
            <a:spLocks noGrp="1"/>
          </p:cNvSpPr>
          <p:nvPr>
            <p:ph type="subTitle" idx="1"/>
          </p:nvPr>
        </p:nvSpPr>
        <p:spPr/>
        <p:txBody>
          <a:bodyPr/>
          <a:lstStyle/>
          <a:p>
            <a:endParaRPr lang="zh-CN" altLang="en-US"/>
          </a:p>
        </p:txBody>
      </p:sp>
      <p:sp>
        <p:nvSpPr>
          <p:cNvPr id="4" name="灯片编号占位符 3">
            <a:extLst>
              <a:ext uri="{FF2B5EF4-FFF2-40B4-BE49-F238E27FC236}">
                <a16:creationId xmlns:a16="http://schemas.microsoft.com/office/drawing/2014/main" id="{12291311-7409-4F84-842C-304DE1AB5873}"/>
              </a:ext>
            </a:extLst>
          </p:cNvPr>
          <p:cNvSpPr>
            <a:spLocks noGrp="1"/>
          </p:cNvSpPr>
          <p:nvPr>
            <p:ph type="sldNum" sz="quarter" idx="12"/>
          </p:nvPr>
        </p:nvSpPr>
        <p:spPr/>
        <p:txBody>
          <a:bodyPr/>
          <a:lstStyle/>
          <a:p>
            <a:fld id="{49AE70B2-8BF9-45C0-BB95-33D1B9D3A854}" type="slidenum">
              <a:rPr lang="zh-CN" altLang="en-US" smtClean="0"/>
              <a:t>52</a:t>
            </a:fld>
            <a:endParaRPr lang="zh-CN" altLang="en-US" dirty="0"/>
          </a:p>
        </p:txBody>
      </p:sp>
    </p:spTree>
    <p:extLst>
      <p:ext uri="{BB962C8B-B14F-4D97-AF65-F5344CB8AC3E}">
        <p14:creationId xmlns:p14="http://schemas.microsoft.com/office/powerpoint/2010/main" val="22838413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3F6981-AB5E-411A-8782-6B755465BF70}"/>
              </a:ext>
            </a:extLst>
          </p:cNvPr>
          <p:cNvSpPr>
            <a:spLocks noGrp="1"/>
          </p:cNvSpPr>
          <p:nvPr>
            <p:ph type="title"/>
          </p:nvPr>
        </p:nvSpPr>
        <p:spPr/>
        <p:txBody>
          <a:bodyPr/>
          <a:lstStyle/>
          <a:p>
            <a:r>
              <a:rPr lang="zh-CN" altLang="en-US" dirty="0"/>
              <a:t>课后作业</a:t>
            </a:r>
          </a:p>
        </p:txBody>
      </p:sp>
      <p:sp>
        <p:nvSpPr>
          <p:cNvPr id="3" name="内容占位符 2">
            <a:extLst>
              <a:ext uri="{FF2B5EF4-FFF2-40B4-BE49-F238E27FC236}">
                <a16:creationId xmlns:a16="http://schemas.microsoft.com/office/drawing/2014/main" id="{3D1E19F2-D970-42E6-A24E-080C6AEBF816}"/>
              </a:ext>
            </a:extLst>
          </p:cNvPr>
          <p:cNvSpPr>
            <a:spLocks noGrp="1"/>
          </p:cNvSpPr>
          <p:nvPr>
            <p:ph idx="1"/>
          </p:nvPr>
        </p:nvSpPr>
        <p:spPr/>
        <p:txBody>
          <a:bodyPr/>
          <a:lstStyle/>
          <a:p>
            <a:r>
              <a:rPr lang="en-US" altLang="zh-CN" dirty="0"/>
              <a:t>5.6</a:t>
            </a:r>
            <a:r>
              <a:rPr lang="zh-CN" altLang="en-US" dirty="0"/>
              <a:t>节习题</a:t>
            </a:r>
            <a:r>
              <a:rPr lang="en-US" altLang="zh-CN" dirty="0"/>
              <a:t>(P98):3,6,8,11,12</a:t>
            </a:r>
          </a:p>
        </p:txBody>
      </p:sp>
      <p:sp>
        <p:nvSpPr>
          <p:cNvPr id="4" name="灯片编号占位符 3">
            <a:extLst>
              <a:ext uri="{FF2B5EF4-FFF2-40B4-BE49-F238E27FC236}">
                <a16:creationId xmlns:a16="http://schemas.microsoft.com/office/drawing/2014/main" id="{28C3E4F9-A110-4164-A5AB-9FA113E67406}"/>
              </a:ext>
            </a:extLst>
          </p:cNvPr>
          <p:cNvSpPr>
            <a:spLocks noGrp="1"/>
          </p:cNvSpPr>
          <p:nvPr>
            <p:ph type="sldNum" sz="quarter" idx="12"/>
          </p:nvPr>
        </p:nvSpPr>
        <p:spPr/>
        <p:txBody>
          <a:bodyPr/>
          <a:lstStyle/>
          <a:p>
            <a:fld id="{49AE70B2-8BF9-45C0-BB95-33D1B9D3A854}" type="slidenum">
              <a:rPr lang="zh-CN" altLang="en-US" smtClean="0"/>
              <a:t>53</a:t>
            </a:fld>
            <a:endParaRPr lang="zh-CN" altLang="en-US"/>
          </a:p>
        </p:txBody>
      </p:sp>
    </p:spTree>
    <p:extLst>
      <p:ext uri="{BB962C8B-B14F-4D97-AF65-F5344CB8AC3E}">
        <p14:creationId xmlns:p14="http://schemas.microsoft.com/office/powerpoint/2010/main" val="1056231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3DF82893-125E-4C91-B971-B606E50E6F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6632"/>
            <a:ext cx="12144672" cy="1152128"/>
          </a:xfrm>
        </p:spPr>
      </p:pic>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54</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zh-CN" altLang="en-US" dirty="0"/>
              <a:t>运行结果：</a:t>
            </a:r>
            <a:endParaRPr lang="en-US" altLang="zh-CN" dirty="0"/>
          </a:p>
          <a:p>
            <a:pPr marL="0" indent="0">
              <a:buNone/>
            </a:pPr>
            <a:r>
              <a:rPr lang="en-US" altLang="zh-CN" dirty="0"/>
              <a:t>====</a:t>
            </a:r>
          </a:p>
          <a:p>
            <a:pPr marL="0" indent="0">
              <a:buNone/>
            </a:pPr>
            <a:r>
              <a:rPr lang="en-US" altLang="zh-CN" dirty="0"/>
              <a:t>1233		8833	</a:t>
            </a:r>
          </a:p>
          <a:p>
            <a:pPr marL="0" indent="0">
              <a:buNone/>
            </a:pPr>
            <a:endParaRPr lang="en-US" altLang="zh-CN" dirty="0"/>
          </a:p>
          <a:p>
            <a:endParaRPr lang="en-US" altLang="zh-CN" dirty="0"/>
          </a:p>
        </p:txBody>
      </p:sp>
      <p:sp>
        <p:nvSpPr>
          <p:cNvPr id="3" name="文本框 2">
            <a:extLst>
              <a:ext uri="{FF2B5EF4-FFF2-40B4-BE49-F238E27FC236}">
                <a16:creationId xmlns:a16="http://schemas.microsoft.com/office/drawing/2014/main" id="{D02A951F-4522-0FCE-6F5B-A6F9455B0793}"/>
              </a:ext>
            </a:extLst>
          </p:cNvPr>
          <p:cNvSpPr txBox="1"/>
          <p:nvPr/>
        </p:nvSpPr>
        <p:spPr>
          <a:xfrm>
            <a:off x="214560" y="116632"/>
            <a:ext cx="6097464" cy="400110"/>
          </a:xfrm>
          <a:prstGeom prst="rect">
            <a:avLst/>
          </a:prstGeom>
          <a:noFill/>
        </p:spPr>
        <p:txBody>
          <a:bodyPr wrap="square">
            <a:spAutoFit/>
          </a:bodyPr>
          <a:lstStyle/>
          <a:p>
            <a:r>
              <a:rPr lang="en-US" altLang="zh-CN" sz="2000" dirty="0"/>
              <a:t>ok</a:t>
            </a:r>
            <a:endParaRPr lang="zh-CN" altLang="en-US" sz="2000" dirty="0"/>
          </a:p>
        </p:txBody>
      </p:sp>
    </p:spTree>
    <p:extLst>
      <p:ext uri="{BB962C8B-B14F-4D97-AF65-F5344CB8AC3E}">
        <p14:creationId xmlns:p14="http://schemas.microsoft.com/office/powerpoint/2010/main" val="20831957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3A851A-C0D4-406B-834C-D313EAB9B87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1A53D00-7F24-46B6-BB7A-DC891E10C3DA}"/>
              </a:ext>
            </a:extLst>
          </p:cNvPr>
          <p:cNvSpPr>
            <a:spLocks noGrp="1"/>
          </p:cNvSpPr>
          <p:nvPr>
            <p:ph idx="1"/>
          </p:nvPr>
        </p:nvSpPr>
        <p:spPr/>
        <p:txBody>
          <a:bodyPr>
            <a:normAutofit/>
          </a:bodyPr>
          <a:lstStyle/>
          <a:p>
            <a:pPr marL="0" indent="0">
              <a:buNone/>
            </a:pPr>
            <a:r>
              <a:rPr lang="en-US" altLang="zh-CN" sz="2800" dirty="0"/>
              <a:t>for </a:t>
            </a:r>
            <a:r>
              <a:rPr lang="en-US" altLang="zh-CN" sz="2800" dirty="0" err="1"/>
              <a:t>i</a:t>
            </a:r>
            <a:r>
              <a:rPr lang="en-US" altLang="zh-CN" sz="2800" dirty="0"/>
              <a:t> in range(____</a:t>
            </a:r>
            <a:r>
              <a:rPr lang="en-US" altLang="zh-CN" sz="2800" u="sng" dirty="0"/>
              <a:t>1</a:t>
            </a:r>
            <a:r>
              <a:rPr lang="en-US" altLang="zh-CN" sz="2800" dirty="0"/>
              <a:t>_____):</a:t>
            </a:r>
          </a:p>
          <a:p>
            <a:pPr marL="0" indent="0">
              <a:buNone/>
            </a:pPr>
            <a:r>
              <a:rPr lang="en-US" altLang="zh-CN" sz="2800" dirty="0"/>
              <a:t>    </a:t>
            </a:r>
            <a:r>
              <a:rPr lang="en-US" altLang="zh-CN" sz="2800" dirty="0" err="1"/>
              <a:t>ab,cd</a:t>
            </a:r>
            <a:r>
              <a:rPr lang="en-US" altLang="zh-CN" sz="2800" dirty="0"/>
              <a:t> = ______</a:t>
            </a:r>
            <a:r>
              <a:rPr lang="en-US" altLang="zh-CN" sz="2800" u="sng" dirty="0"/>
              <a:t> 2</a:t>
            </a:r>
            <a:r>
              <a:rPr lang="en-US" altLang="zh-CN" sz="2800" dirty="0"/>
              <a:t>_______</a:t>
            </a:r>
          </a:p>
          <a:p>
            <a:pPr marL="0" indent="0">
              <a:buNone/>
            </a:pPr>
            <a:r>
              <a:rPr lang="en-US" altLang="zh-CN" sz="2800" dirty="0"/>
              <a:t>    if (ab + cd)**2 == i:</a:t>
            </a:r>
          </a:p>
          <a:p>
            <a:pPr marL="0" indent="0">
              <a:buNone/>
            </a:pPr>
            <a:r>
              <a:rPr lang="en-US" altLang="zh-CN" sz="2800" dirty="0"/>
              <a:t>        print(</a:t>
            </a:r>
            <a:r>
              <a:rPr lang="en-US" altLang="zh-CN" sz="2800" dirty="0" err="1"/>
              <a:t>i,end</a:t>
            </a:r>
            <a:r>
              <a:rPr lang="en-US" altLang="zh-CN" sz="2800" dirty="0"/>
              <a:t>='\t')</a:t>
            </a:r>
          </a:p>
          <a:p>
            <a:pPr marL="0" indent="0">
              <a:buNone/>
            </a:pPr>
            <a:r>
              <a:rPr lang="en-US" altLang="zh-CN" sz="2800" dirty="0"/>
              <a:t> </a:t>
            </a:r>
            <a:endParaRPr lang="zh-CN" altLang="en-US" sz="2800" dirty="0"/>
          </a:p>
        </p:txBody>
      </p:sp>
      <p:sp>
        <p:nvSpPr>
          <p:cNvPr id="4" name="灯片编号占位符 3">
            <a:extLst>
              <a:ext uri="{FF2B5EF4-FFF2-40B4-BE49-F238E27FC236}">
                <a16:creationId xmlns:a16="http://schemas.microsoft.com/office/drawing/2014/main" id="{329DB9AF-6E2A-4A02-A450-9914D6862EBF}"/>
              </a:ext>
            </a:extLst>
          </p:cNvPr>
          <p:cNvSpPr>
            <a:spLocks noGrp="1"/>
          </p:cNvSpPr>
          <p:nvPr>
            <p:ph type="sldNum" sz="quarter" idx="12"/>
          </p:nvPr>
        </p:nvSpPr>
        <p:spPr/>
        <p:txBody>
          <a:bodyPr/>
          <a:lstStyle/>
          <a:p>
            <a:fld id="{49AE70B2-8BF9-45C0-BB95-33D1B9D3A854}" type="slidenum">
              <a:rPr lang="zh-CN" altLang="en-US" smtClean="0"/>
              <a:pPr/>
              <a:t>55</a:t>
            </a:fld>
            <a:endParaRPr lang="zh-CN" altLang="en-US" dirty="0"/>
          </a:p>
        </p:txBody>
      </p:sp>
    </p:spTree>
    <p:extLst>
      <p:ext uri="{BB962C8B-B14F-4D97-AF65-F5344CB8AC3E}">
        <p14:creationId xmlns:p14="http://schemas.microsoft.com/office/powerpoint/2010/main" val="30864644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3A851A-C0D4-406B-834C-D313EAB9B87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1A53D00-7F24-46B6-BB7A-DC891E10C3DA}"/>
              </a:ext>
            </a:extLst>
          </p:cNvPr>
          <p:cNvSpPr>
            <a:spLocks noGrp="1"/>
          </p:cNvSpPr>
          <p:nvPr>
            <p:ph idx="1"/>
          </p:nvPr>
        </p:nvSpPr>
        <p:spPr/>
        <p:txBody>
          <a:bodyPr>
            <a:normAutofit/>
          </a:bodyPr>
          <a:lstStyle/>
          <a:p>
            <a:pPr marL="0" indent="0">
              <a:buNone/>
            </a:pPr>
            <a:r>
              <a:rPr lang="en-US" altLang="zh-CN" sz="2800" dirty="0"/>
              <a:t>for </a:t>
            </a:r>
            <a:r>
              <a:rPr lang="en-US" altLang="zh-CN" sz="2800" dirty="0" err="1"/>
              <a:t>i</a:t>
            </a:r>
            <a:r>
              <a:rPr lang="en-US" altLang="zh-CN" sz="2800" dirty="0"/>
              <a:t> in range(1000,10000):</a:t>
            </a:r>
          </a:p>
          <a:p>
            <a:pPr marL="0" indent="0">
              <a:buNone/>
            </a:pPr>
            <a:r>
              <a:rPr lang="en-US" altLang="zh-CN" sz="2800" dirty="0"/>
              <a:t>    </a:t>
            </a:r>
            <a:r>
              <a:rPr lang="en-US" altLang="zh-CN" sz="2800" dirty="0" err="1"/>
              <a:t>ab,cd</a:t>
            </a:r>
            <a:r>
              <a:rPr lang="en-US" altLang="zh-CN" sz="2800" dirty="0"/>
              <a:t> = </a:t>
            </a:r>
            <a:r>
              <a:rPr lang="en-US" altLang="zh-CN" sz="2800" dirty="0" err="1"/>
              <a:t>divmod</a:t>
            </a:r>
            <a:r>
              <a:rPr lang="en-US" altLang="zh-CN" sz="2800" dirty="0"/>
              <a:t>(i,100)</a:t>
            </a:r>
          </a:p>
          <a:p>
            <a:pPr marL="0" indent="0">
              <a:buNone/>
            </a:pPr>
            <a:r>
              <a:rPr lang="en-US" altLang="zh-CN" sz="2800" dirty="0"/>
              <a:t>    if (ab </a:t>
            </a:r>
            <a:r>
              <a:rPr lang="en-US" altLang="zh-CN" sz="2800"/>
              <a:t>+ cd)**</a:t>
            </a:r>
            <a:r>
              <a:rPr lang="en-US" altLang="zh-CN" sz="2800" dirty="0"/>
              <a:t>2 == i:</a:t>
            </a:r>
          </a:p>
          <a:p>
            <a:pPr marL="0" indent="0">
              <a:buNone/>
            </a:pPr>
            <a:r>
              <a:rPr lang="en-US" altLang="zh-CN" sz="2800" dirty="0"/>
              <a:t>        print(</a:t>
            </a:r>
            <a:r>
              <a:rPr lang="en-US" altLang="zh-CN" sz="2800" dirty="0" err="1"/>
              <a:t>i,end</a:t>
            </a:r>
            <a:r>
              <a:rPr lang="en-US" altLang="zh-CN" sz="2800" dirty="0"/>
              <a:t>='\t')</a:t>
            </a:r>
          </a:p>
          <a:p>
            <a:pPr marL="0" indent="0">
              <a:buNone/>
            </a:pPr>
            <a:r>
              <a:rPr lang="en-US" altLang="zh-CN" sz="2800" dirty="0"/>
              <a:t> </a:t>
            </a:r>
            <a:endParaRPr lang="zh-CN" altLang="en-US" sz="2800" dirty="0"/>
          </a:p>
        </p:txBody>
      </p:sp>
      <p:sp>
        <p:nvSpPr>
          <p:cNvPr id="4" name="灯片编号占位符 3">
            <a:extLst>
              <a:ext uri="{FF2B5EF4-FFF2-40B4-BE49-F238E27FC236}">
                <a16:creationId xmlns:a16="http://schemas.microsoft.com/office/drawing/2014/main" id="{329DB9AF-6E2A-4A02-A450-9914D6862EBF}"/>
              </a:ext>
            </a:extLst>
          </p:cNvPr>
          <p:cNvSpPr>
            <a:spLocks noGrp="1"/>
          </p:cNvSpPr>
          <p:nvPr>
            <p:ph type="sldNum" sz="quarter" idx="12"/>
          </p:nvPr>
        </p:nvSpPr>
        <p:spPr/>
        <p:txBody>
          <a:bodyPr/>
          <a:lstStyle/>
          <a:p>
            <a:fld id="{49AE70B2-8BF9-45C0-BB95-33D1B9D3A854}" type="slidenum">
              <a:rPr lang="zh-CN" altLang="en-US" smtClean="0"/>
              <a:pPr/>
              <a:t>56</a:t>
            </a:fld>
            <a:endParaRPr lang="zh-CN" altLang="en-US" dirty="0"/>
          </a:p>
        </p:txBody>
      </p:sp>
    </p:spTree>
    <p:extLst>
      <p:ext uri="{BB962C8B-B14F-4D97-AF65-F5344CB8AC3E}">
        <p14:creationId xmlns:p14="http://schemas.microsoft.com/office/powerpoint/2010/main" val="6389761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57</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zh-CN" altLang="en-US" dirty="0"/>
              <a:t>运行结果：</a:t>
            </a:r>
            <a:endParaRPr lang="en-US" altLang="zh-CN" dirty="0"/>
          </a:p>
          <a:p>
            <a:pPr marL="0" indent="0">
              <a:buNone/>
            </a:pPr>
            <a:r>
              <a:rPr lang="en-US" altLang="zh-CN" dirty="0"/>
              <a:t>======</a:t>
            </a:r>
          </a:p>
          <a:p>
            <a:pPr marL="0" indent="0">
              <a:buNone/>
            </a:pPr>
            <a:r>
              <a:rPr lang="zh-CN" altLang="en-US" dirty="0"/>
              <a:t>请输入第一次求落下的高度</a:t>
            </a:r>
            <a:r>
              <a:rPr lang="en-US" altLang="zh-CN" dirty="0"/>
              <a:t>h: 1</a:t>
            </a:r>
          </a:p>
          <a:p>
            <a:pPr marL="0" indent="0">
              <a:buNone/>
            </a:pPr>
            <a:r>
              <a:rPr lang="zh-CN" altLang="en-US" dirty="0"/>
              <a:t>第</a:t>
            </a:r>
            <a:r>
              <a:rPr lang="en-US" altLang="zh-CN" dirty="0"/>
              <a:t>10</a:t>
            </a:r>
            <a:r>
              <a:rPr lang="zh-CN" altLang="en-US" dirty="0"/>
              <a:t>次落地</a:t>
            </a:r>
            <a:r>
              <a:rPr lang="en-US" altLang="zh-CN" dirty="0"/>
              <a:t>,</a:t>
            </a:r>
            <a:r>
              <a:rPr lang="zh-CN" altLang="en-US" dirty="0"/>
              <a:t>总路程为</a:t>
            </a:r>
            <a:r>
              <a:rPr lang="en-US" altLang="zh-CN" dirty="0"/>
              <a:t>3.00m,</a:t>
            </a:r>
            <a:r>
              <a:rPr lang="zh-CN" altLang="en-US" dirty="0"/>
              <a:t>本次反弹高度为</a:t>
            </a:r>
            <a:r>
              <a:rPr lang="en-US" altLang="zh-CN" dirty="0"/>
              <a:t>0.001m</a:t>
            </a:r>
          </a:p>
          <a:p>
            <a:pPr marL="0" indent="0">
              <a:buNone/>
            </a:pPr>
            <a:endParaRPr lang="en-US" altLang="zh-CN" dirty="0"/>
          </a:p>
        </p:txBody>
      </p:sp>
      <p:pic>
        <p:nvPicPr>
          <p:cNvPr id="8" name="内容占位符 7">
            <a:extLst>
              <a:ext uri="{FF2B5EF4-FFF2-40B4-BE49-F238E27FC236}">
                <a16:creationId xmlns:a16="http://schemas.microsoft.com/office/drawing/2014/main" id="{67DF5BED-461B-4C73-91F0-7CF584EDDF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31" y="25562"/>
            <a:ext cx="12123941" cy="988965"/>
          </a:xfrm>
        </p:spPr>
      </p:pic>
    </p:spTree>
    <p:extLst>
      <p:ext uri="{BB962C8B-B14F-4D97-AF65-F5344CB8AC3E}">
        <p14:creationId xmlns:p14="http://schemas.microsoft.com/office/powerpoint/2010/main" val="1918306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F4D5B-F36B-4DC3-AA2C-FC5F69D0FEC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5032896-6199-486D-AE99-0022D421F46D}"/>
              </a:ext>
            </a:extLst>
          </p:cNvPr>
          <p:cNvSpPr>
            <a:spLocks noGrp="1"/>
          </p:cNvSpPr>
          <p:nvPr>
            <p:ph idx="1"/>
          </p:nvPr>
        </p:nvSpPr>
        <p:spPr/>
        <p:txBody>
          <a:bodyPr>
            <a:normAutofit fontScale="92500" lnSpcReduction="20000"/>
          </a:bodyPr>
          <a:lstStyle/>
          <a:p>
            <a:pPr marL="0" indent="0">
              <a:buNone/>
            </a:pPr>
            <a:r>
              <a:rPr lang="en-US" altLang="zh-CN" dirty="0"/>
              <a:t>h = float(input('</a:t>
            </a:r>
            <a:r>
              <a:rPr lang="zh-CN" altLang="en-US" dirty="0"/>
              <a:t>请输入第一次求落下的高度</a:t>
            </a:r>
            <a:r>
              <a:rPr lang="en-US" altLang="zh-CN" dirty="0"/>
              <a:t>h: '))</a:t>
            </a:r>
          </a:p>
          <a:p>
            <a:pPr marL="0" indent="0">
              <a:buNone/>
            </a:pPr>
            <a:r>
              <a:rPr lang="en-US" altLang="zh-CN" dirty="0"/>
              <a:t>s = h   # </a:t>
            </a:r>
            <a:r>
              <a:rPr lang="zh-CN" altLang="en-US" dirty="0"/>
              <a:t>路程</a:t>
            </a:r>
            <a:r>
              <a:rPr lang="en-US" altLang="zh-CN" dirty="0"/>
              <a:t>s</a:t>
            </a:r>
            <a:r>
              <a:rPr lang="zh-CN" altLang="en-US" dirty="0"/>
              <a:t>，第一次落地的</a:t>
            </a:r>
            <a:r>
              <a:rPr lang="en-US" altLang="zh-CN" dirty="0"/>
              <a:t>s</a:t>
            </a:r>
            <a:r>
              <a:rPr lang="zh-CN" altLang="en-US" dirty="0"/>
              <a:t>位</a:t>
            </a:r>
            <a:r>
              <a:rPr lang="en-US" altLang="zh-CN" dirty="0"/>
              <a:t>h</a:t>
            </a:r>
          </a:p>
          <a:p>
            <a:pPr marL="0" indent="0">
              <a:buNone/>
            </a:pPr>
            <a:r>
              <a:rPr lang="en-US" altLang="zh-CN" dirty="0"/>
              <a:t>for </a:t>
            </a:r>
            <a:r>
              <a:rPr lang="en-US" altLang="zh-CN" dirty="0" err="1"/>
              <a:t>i</a:t>
            </a:r>
            <a:r>
              <a:rPr lang="en-US" altLang="zh-CN" dirty="0"/>
              <a:t> in range(2,11):</a:t>
            </a:r>
          </a:p>
          <a:p>
            <a:pPr marL="0" indent="0">
              <a:buNone/>
            </a:pPr>
            <a:r>
              <a:rPr lang="en-US" altLang="zh-CN" dirty="0"/>
              <a:t>    h = h*0.5</a:t>
            </a:r>
          </a:p>
          <a:p>
            <a:pPr marL="0" indent="0">
              <a:buNone/>
            </a:pPr>
            <a:r>
              <a:rPr lang="en-US" altLang="zh-CN" dirty="0"/>
              <a:t>    s += h*2</a:t>
            </a:r>
          </a:p>
          <a:p>
            <a:pPr marL="0" indent="0">
              <a:buNone/>
            </a:pPr>
            <a:r>
              <a:rPr lang="en-US" altLang="zh-CN" dirty="0"/>
              <a:t>    n =</a:t>
            </a:r>
            <a:r>
              <a:rPr lang="en-US" altLang="zh-CN" dirty="0" err="1"/>
              <a:t>i</a:t>
            </a:r>
            <a:endParaRPr lang="en-US" altLang="zh-CN" dirty="0"/>
          </a:p>
          <a:p>
            <a:pPr marL="0" indent="0">
              <a:buNone/>
            </a:pPr>
            <a:r>
              <a:rPr lang="en-US" altLang="zh-CN" dirty="0"/>
              <a:t>else:</a:t>
            </a:r>
          </a:p>
          <a:p>
            <a:pPr marL="0" indent="0">
              <a:buNone/>
            </a:pPr>
            <a:r>
              <a:rPr lang="en-US" altLang="zh-CN" dirty="0"/>
              <a:t>    print('</a:t>
            </a:r>
            <a:r>
              <a:rPr lang="zh-CN" altLang="en-US" dirty="0"/>
              <a:t>第</a:t>
            </a:r>
            <a:r>
              <a:rPr lang="en-US" altLang="zh-CN" dirty="0"/>
              <a:t>{0}</a:t>
            </a:r>
            <a:r>
              <a:rPr lang="zh-CN" altLang="en-US" dirty="0"/>
              <a:t>次落地</a:t>
            </a:r>
            <a:r>
              <a:rPr lang="en-US" altLang="zh-CN" dirty="0"/>
              <a:t>,</a:t>
            </a:r>
            <a:r>
              <a:rPr lang="zh-CN" altLang="en-US" dirty="0"/>
              <a:t>总路程为</a:t>
            </a:r>
            <a:r>
              <a:rPr lang="en-US" altLang="zh-CN" dirty="0"/>
              <a:t>{1:.2f}m,</a:t>
            </a:r>
            <a:r>
              <a:rPr lang="zh-CN" altLang="en-US" dirty="0"/>
              <a:t>本次反弹高度为</a:t>
            </a:r>
            <a:r>
              <a:rPr lang="en-US" altLang="zh-CN" dirty="0"/>
              <a:t>{2:.3f}</a:t>
            </a:r>
            <a:r>
              <a:rPr lang="en-US" altLang="zh-CN" dirty="0" err="1"/>
              <a:t>m'.format</a:t>
            </a:r>
            <a:r>
              <a:rPr lang="en-US" altLang="zh-CN" dirty="0"/>
              <a:t>(</a:t>
            </a:r>
            <a:r>
              <a:rPr lang="en-US" altLang="zh-CN" dirty="0" err="1"/>
              <a:t>n,s,h</a:t>
            </a:r>
            <a:r>
              <a:rPr lang="en-US" altLang="zh-CN" dirty="0"/>
              <a:t>*0.5))</a:t>
            </a:r>
          </a:p>
          <a:p>
            <a:pPr marL="0" indent="0">
              <a:buNone/>
            </a:pPr>
            <a:r>
              <a:rPr lang="en-US" altLang="zh-CN" dirty="0"/>
              <a:t> </a:t>
            </a:r>
            <a:endParaRPr lang="zh-CN" altLang="en-US" dirty="0"/>
          </a:p>
        </p:txBody>
      </p:sp>
      <p:sp>
        <p:nvSpPr>
          <p:cNvPr id="4" name="灯片编号占位符 3">
            <a:extLst>
              <a:ext uri="{FF2B5EF4-FFF2-40B4-BE49-F238E27FC236}">
                <a16:creationId xmlns:a16="http://schemas.microsoft.com/office/drawing/2014/main" id="{22F0B0D2-8D2F-4D1C-939D-AF9ACF43076A}"/>
              </a:ext>
            </a:extLst>
          </p:cNvPr>
          <p:cNvSpPr>
            <a:spLocks noGrp="1"/>
          </p:cNvSpPr>
          <p:nvPr>
            <p:ph type="sldNum" sz="quarter" idx="12"/>
          </p:nvPr>
        </p:nvSpPr>
        <p:spPr/>
        <p:txBody>
          <a:bodyPr/>
          <a:lstStyle/>
          <a:p>
            <a:fld id="{49AE70B2-8BF9-45C0-BB95-33D1B9D3A854}" type="slidenum">
              <a:rPr lang="zh-CN" altLang="en-US" smtClean="0"/>
              <a:pPr/>
              <a:t>58</a:t>
            </a:fld>
            <a:endParaRPr lang="zh-CN" altLang="en-US" dirty="0"/>
          </a:p>
        </p:txBody>
      </p:sp>
    </p:spTree>
    <p:extLst>
      <p:ext uri="{BB962C8B-B14F-4D97-AF65-F5344CB8AC3E}">
        <p14:creationId xmlns:p14="http://schemas.microsoft.com/office/powerpoint/2010/main" val="26619745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59</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altLang="zh-CN" dirty="0"/>
              <a:t>===</a:t>
            </a:r>
          </a:p>
          <a:p>
            <a:pPr marL="0" indent="0">
              <a:buNone/>
            </a:pPr>
            <a:r>
              <a:rPr lang="zh-CN" altLang="en-US" dirty="0"/>
              <a:t>请输入人口基数</a:t>
            </a:r>
            <a:r>
              <a:rPr lang="en-US" altLang="zh-CN" dirty="0"/>
              <a:t>x</a:t>
            </a:r>
            <a:r>
              <a:rPr lang="zh-CN" altLang="en-US" dirty="0"/>
              <a:t>和年数</a:t>
            </a:r>
            <a:r>
              <a:rPr lang="en-US" altLang="zh-CN" dirty="0"/>
              <a:t>n: 100,10</a:t>
            </a:r>
          </a:p>
          <a:p>
            <a:pPr marL="0" indent="0">
              <a:buNone/>
            </a:pPr>
            <a:r>
              <a:rPr lang="en-US" altLang="zh-CN" dirty="0"/>
              <a:t>10</a:t>
            </a:r>
            <a:r>
              <a:rPr lang="zh-CN" altLang="en-US" dirty="0"/>
              <a:t>年后人口为</a:t>
            </a:r>
            <a:r>
              <a:rPr lang="en-US" altLang="zh-CN" dirty="0"/>
              <a:t>101.0045</a:t>
            </a:r>
          </a:p>
          <a:p>
            <a:pPr marL="0" indent="0">
              <a:buNone/>
            </a:pPr>
            <a:endParaRPr lang="en-US" altLang="zh-CN" dirty="0"/>
          </a:p>
        </p:txBody>
      </p:sp>
      <p:pic>
        <p:nvPicPr>
          <p:cNvPr id="6" name="内容占位符 5">
            <a:extLst>
              <a:ext uri="{FF2B5EF4-FFF2-40B4-BE49-F238E27FC236}">
                <a16:creationId xmlns:a16="http://schemas.microsoft.com/office/drawing/2014/main" id="{40B5A740-BF3D-4A13-A79F-7D66EED2E1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8153"/>
            <a:ext cx="12192000" cy="1065824"/>
          </a:xfrm>
        </p:spPr>
      </p:pic>
    </p:spTree>
    <p:extLst>
      <p:ext uri="{BB962C8B-B14F-4D97-AF65-F5344CB8AC3E}">
        <p14:creationId xmlns:p14="http://schemas.microsoft.com/office/powerpoint/2010/main" val="35053765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52C4B3-9F54-4C61-B198-19AE51DD2E8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7ED6091-9384-40DF-B45C-6ABBA9CE2328}"/>
              </a:ext>
            </a:extLst>
          </p:cNvPr>
          <p:cNvSpPr>
            <a:spLocks noGrp="1"/>
          </p:cNvSpPr>
          <p:nvPr>
            <p:ph idx="1"/>
          </p:nvPr>
        </p:nvSpPr>
        <p:spPr/>
        <p:txBody>
          <a:bodyPr>
            <a:normAutofit/>
          </a:bodyPr>
          <a:lstStyle/>
          <a:p>
            <a:pPr marL="0" indent="0">
              <a:buNone/>
            </a:pPr>
            <a:r>
              <a:rPr lang="en-US" altLang="zh-CN" sz="2800" dirty="0" err="1"/>
              <a:t>x,n</a:t>
            </a:r>
            <a:r>
              <a:rPr lang="en-US" altLang="zh-CN" sz="2800" dirty="0"/>
              <a:t>=eval(input('</a:t>
            </a:r>
            <a:r>
              <a:rPr lang="zh-CN" altLang="en-US" sz="2800" dirty="0"/>
              <a:t>请输入人口基数</a:t>
            </a:r>
            <a:r>
              <a:rPr lang="en-US" altLang="zh-CN" sz="2800" dirty="0"/>
              <a:t>x</a:t>
            </a:r>
            <a:r>
              <a:rPr lang="zh-CN" altLang="en-US" sz="2800" dirty="0"/>
              <a:t>和年数</a:t>
            </a:r>
            <a:r>
              <a:rPr lang="en-US" altLang="zh-CN" sz="2800" dirty="0"/>
              <a:t>n: '))</a:t>
            </a:r>
          </a:p>
          <a:p>
            <a:pPr marL="0" indent="0">
              <a:buNone/>
            </a:pPr>
            <a:r>
              <a:rPr lang="en-US" altLang="zh-CN" sz="2800" dirty="0"/>
              <a:t>for </a:t>
            </a:r>
            <a:r>
              <a:rPr lang="en-US" altLang="zh-CN" sz="2800" dirty="0" err="1"/>
              <a:t>i</a:t>
            </a:r>
            <a:r>
              <a:rPr lang="en-US" altLang="zh-CN" sz="2800" dirty="0"/>
              <a:t> in range(1,n+1):</a:t>
            </a:r>
          </a:p>
          <a:p>
            <a:pPr marL="0" indent="0">
              <a:buNone/>
            </a:pPr>
            <a:r>
              <a:rPr lang="en-US" altLang="zh-CN" sz="2800" dirty="0"/>
              <a:t>    x = x*1.001</a:t>
            </a:r>
          </a:p>
          <a:p>
            <a:pPr marL="0" indent="0">
              <a:buNone/>
            </a:pPr>
            <a:r>
              <a:rPr lang="en-US" altLang="zh-CN" sz="2800" dirty="0"/>
              <a:t>else:</a:t>
            </a:r>
          </a:p>
          <a:p>
            <a:pPr marL="0" indent="0">
              <a:buNone/>
            </a:pPr>
            <a:r>
              <a:rPr lang="en-US" altLang="zh-CN" sz="2800" dirty="0"/>
              <a:t>    print('{0}</a:t>
            </a:r>
            <a:r>
              <a:rPr lang="zh-CN" altLang="en-US" sz="2800" dirty="0"/>
              <a:t>年后人口为</a:t>
            </a:r>
            <a:r>
              <a:rPr lang="en-US" altLang="zh-CN" sz="2800" dirty="0"/>
              <a:t>{1:.4f}'.format(</a:t>
            </a:r>
            <a:r>
              <a:rPr lang="en-US" altLang="zh-CN" sz="2800" dirty="0" err="1"/>
              <a:t>n,x</a:t>
            </a:r>
            <a:r>
              <a:rPr lang="en-US" altLang="zh-CN" sz="2800" dirty="0"/>
              <a:t>))</a:t>
            </a:r>
          </a:p>
          <a:p>
            <a:pPr marL="0" indent="0">
              <a:buNone/>
            </a:pPr>
            <a:endParaRPr lang="zh-CN" altLang="en-US" sz="2800" dirty="0"/>
          </a:p>
        </p:txBody>
      </p:sp>
      <p:sp>
        <p:nvSpPr>
          <p:cNvPr id="4" name="灯片编号占位符 3">
            <a:extLst>
              <a:ext uri="{FF2B5EF4-FFF2-40B4-BE49-F238E27FC236}">
                <a16:creationId xmlns:a16="http://schemas.microsoft.com/office/drawing/2014/main" id="{E49001B1-ABEC-4921-9BF5-7E99EA51A802}"/>
              </a:ext>
            </a:extLst>
          </p:cNvPr>
          <p:cNvSpPr>
            <a:spLocks noGrp="1"/>
          </p:cNvSpPr>
          <p:nvPr>
            <p:ph type="sldNum" sz="quarter" idx="12"/>
          </p:nvPr>
        </p:nvSpPr>
        <p:spPr/>
        <p:txBody>
          <a:bodyPr/>
          <a:lstStyle/>
          <a:p>
            <a:fld id="{49AE70B2-8BF9-45C0-BB95-33D1B9D3A854}" type="slidenum">
              <a:rPr lang="zh-CN" altLang="en-US" smtClean="0"/>
              <a:pPr/>
              <a:t>60</a:t>
            </a:fld>
            <a:endParaRPr lang="zh-CN" altLang="en-US" dirty="0"/>
          </a:p>
        </p:txBody>
      </p:sp>
    </p:spTree>
    <p:extLst>
      <p:ext uri="{BB962C8B-B14F-4D97-AF65-F5344CB8AC3E}">
        <p14:creationId xmlns:p14="http://schemas.microsoft.com/office/powerpoint/2010/main" val="3005374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61</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altLang="zh-CN" dirty="0" err="1"/>
              <a:t>Xxxxxxxxxxxxxxxxxxxxxxxxxxx</a:t>
            </a:r>
            <a:endParaRPr lang="en-US" altLang="zh-CN" dirty="0"/>
          </a:p>
          <a:p>
            <a:endParaRPr lang="en-US" altLang="zh-CN" dirty="0"/>
          </a:p>
        </p:txBody>
      </p:sp>
      <p:pic>
        <p:nvPicPr>
          <p:cNvPr id="5" name="内容占位符 4">
            <a:extLst>
              <a:ext uri="{FF2B5EF4-FFF2-40B4-BE49-F238E27FC236}">
                <a16:creationId xmlns:a16="http://schemas.microsoft.com/office/drawing/2014/main" id="{DCF4735E-F4D6-43B5-B2D0-70CAD9D577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81" y="17991"/>
            <a:ext cx="12169353" cy="2088232"/>
          </a:xfrm>
        </p:spPr>
      </p:pic>
      <p:sp>
        <p:nvSpPr>
          <p:cNvPr id="6" name="文本框 5">
            <a:extLst>
              <a:ext uri="{FF2B5EF4-FFF2-40B4-BE49-F238E27FC236}">
                <a16:creationId xmlns:a16="http://schemas.microsoft.com/office/drawing/2014/main" id="{43DF8FFA-2A32-40F6-B8AD-24C043EB103D}"/>
              </a:ext>
            </a:extLst>
          </p:cNvPr>
          <p:cNvSpPr txBox="1"/>
          <p:nvPr/>
        </p:nvSpPr>
        <p:spPr>
          <a:xfrm>
            <a:off x="551383" y="2339440"/>
            <a:ext cx="11296217" cy="2677656"/>
          </a:xfrm>
          <a:prstGeom prst="rect">
            <a:avLst/>
          </a:prstGeom>
          <a:noFill/>
        </p:spPr>
        <p:txBody>
          <a:bodyPr wrap="square">
            <a:spAutoFit/>
          </a:bodyPr>
          <a:lstStyle/>
          <a:p>
            <a:r>
              <a:rPr lang="zh-CN" altLang="en-US" sz="2800" dirty="0"/>
              <a:t>=======</a:t>
            </a:r>
          </a:p>
          <a:p>
            <a:r>
              <a:rPr lang="zh-CN" altLang="en-US" sz="2800" dirty="0"/>
              <a:t>59,33,56,40,62,60,12,67,31,4,1,9,19,16,13,31,50,29,13,28,1,33,3,49,6,19,7,35,14,65,42,61,46,62,49,66,25,48,63,38,14,63,48,0,40,32,30,0,43,12,2,67,6,46,69,60,23,34,6,60,</a:t>
            </a:r>
          </a:p>
          <a:p>
            <a:r>
              <a:rPr lang="zh-CN" altLang="en-US" sz="2800" dirty="0"/>
              <a:t>最大空闲市场为6分钟</a:t>
            </a:r>
          </a:p>
          <a:p>
            <a:endParaRPr lang="zh-CN" altLang="en-US" sz="2800" dirty="0"/>
          </a:p>
        </p:txBody>
      </p:sp>
      <p:sp>
        <p:nvSpPr>
          <p:cNvPr id="2" name="文本框 1">
            <a:extLst>
              <a:ext uri="{FF2B5EF4-FFF2-40B4-BE49-F238E27FC236}">
                <a16:creationId xmlns:a16="http://schemas.microsoft.com/office/drawing/2014/main" id="{07B96D98-1DC3-A2C5-EC35-DAF3838D2DDF}"/>
              </a:ext>
            </a:extLst>
          </p:cNvPr>
          <p:cNvSpPr txBox="1"/>
          <p:nvPr/>
        </p:nvSpPr>
        <p:spPr>
          <a:xfrm>
            <a:off x="47328" y="116632"/>
            <a:ext cx="6097464" cy="400110"/>
          </a:xfrm>
          <a:prstGeom prst="rect">
            <a:avLst/>
          </a:prstGeom>
          <a:noFill/>
        </p:spPr>
        <p:txBody>
          <a:bodyPr wrap="square">
            <a:spAutoFit/>
          </a:bodyPr>
          <a:lstStyle/>
          <a:p>
            <a:r>
              <a:rPr lang="en-US" altLang="zh-CN" sz="2000" dirty="0"/>
              <a:t>ok</a:t>
            </a:r>
            <a:endParaRPr lang="zh-CN" altLang="en-US" sz="2000" dirty="0"/>
          </a:p>
        </p:txBody>
      </p:sp>
    </p:spTree>
    <p:extLst>
      <p:ext uri="{BB962C8B-B14F-4D97-AF65-F5344CB8AC3E}">
        <p14:creationId xmlns:p14="http://schemas.microsoft.com/office/powerpoint/2010/main" val="4527744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2E83EC-36E1-44AD-91A8-139796233A4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FDED735-6839-4258-9A20-3C0BB32B8740}"/>
              </a:ext>
            </a:extLst>
          </p:cNvPr>
          <p:cNvSpPr>
            <a:spLocks noGrp="1"/>
          </p:cNvSpPr>
          <p:nvPr>
            <p:ph idx="1"/>
          </p:nvPr>
        </p:nvSpPr>
        <p:spPr>
          <a:xfrm>
            <a:off x="184448" y="1412776"/>
            <a:ext cx="11321752" cy="5140263"/>
          </a:xfrm>
        </p:spPr>
        <p:txBody>
          <a:bodyPr>
            <a:normAutofit fontScale="70000" lnSpcReduction="20000"/>
          </a:bodyPr>
          <a:lstStyle/>
          <a:p>
            <a:pPr marL="0" indent="0">
              <a:buNone/>
            </a:pPr>
            <a:r>
              <a:rPr lang="en-US" altLang="zh-CN" dirty="0"/>
              <a:t>import random</a:t>
            </a:r>
          </a:p>
          <a:p>
            <a:pPr marL="0" indent="0">
              <a:buNone/>
            </a:pPr>
            <a:r>
              <a:rPr lang="en-US" altLang="zh-CN" dirty="0" err="1"/>
              <a:t>kongxian</a:t>
            </a:r>
            <a:r>
              <a:rPr lang="en-US" altLang="zh-CN" dirty="0"/>
              <a:t> = 0</a:t>
            </a:r>
          </a:p>
          <a:p>
            <a:pPr marL="0" indent="0">
              <a:buNone/>
            </a:pPr>
            <a:r>
              <a:rPr lang="en-US" altLang="zh-CN" dirty="0" err="1"/>
              <a:t>kongxian_max</a:t>
            </a:r>
            <a:r>
              <a:rPr lang="en-US" altLang="zh-CN" dirty="0"/>
              <a:t> = 0  #</a:t>
            </a:r>
            <a:r>
              <a:rPr lang="zh-CN" altLang="en-US" dirty="0"/>
              <a:t>最大空闲时间</a:t>
            </a:r>
          </a:p>
          <a:p>
            <a:pPr marL="0" indent="0">
              <a:buNone/>
            </a:pPr>
            <a:r>
              <a:rPr lang="en-US" altLang="zh-CN" dirty="0"/>
              <a:t>for </a:t>
            </a:r>
            <a:r>
              <a:rPr lang="en-US" altLang="zh-CN" dirty="0" err="1"/>
              <a:t>i</a:t>
            </a:r>
            <a:r>
              <a:rPr lang="en-US" altLang="zh-CN" dirty="0"/>
              <a:t> in range(1,61):</a:t>
            </a:r>
          </a:p>
          <a:p>
            <a:pPr marL="0" indent="0">
              <a:buNone/>
            </a:pPr>
            <a:r>
              <a:rPr lang="en-US" altLang="zh-CN" dirty="0"/>
              <a:t>    x = </a:t>
            </a:r>
            <a:r>
              <a:rPr lang="en-US" altLang="zh-CN" dirty="0" err="1"/>
              <a:t>random.randint</a:t>
            </a:r>
            <a:r>
              <a:rPr lang="en-US" altLang="zh-CN" dirty="0"/>
              <a:t>(0,70)</a:t>
            </a:r>
          </a:p>
          <a:p>
            <a:pPr marL="0" indent="0">
              <a:buNone/>
            </a:pPr>
            <a:r>
              <a:rPr lang="en-US" altLang="zh-CN" dirty="0"/>
              <a:t>    print(</a:t>
            </a:r>
            <a:r>
              <a:rPr lang="en-US" altLang="zh-CN" dirty="0" err="1"/>
              <a:t>x,end</a:t>
            </a:r>
            <a:r>
              <a:rPr lang="en-US" altLang="zh-CN" dirty="0"/>
              <a:t>=',')</a:t>
            </a:r>
          </a:p>
          <a:p>
            <a:pPr marL="0" indent="0">
              <a:buNone/>
            </a:pPr>
            <a:r>
              <a:rPr lang="en-US" altLang="zh-CN" dirty="0"/>
              <a:t>    if x&lt;=30:</a:t>
            </a:r>
          </a:p>
          <a:p>
            <a:pPr marL="0" indent="0">
              <a:buNone/>
            </a:pPr>
            <a:r>
              <a:rPr lang="en-US" altLang="zh-CN" dirty="0"/>
              <a:t>        </a:t>
            </a:r>
            <a:r>
              <a:rPr lang="en-US" altLang="zh-CN" dirty="0" err="1"/>
              <a:t>kongxian</a:t>
            </a:r>
            <a:r>
              <a:rPr lang="en-US" altLang="zh-CN" dirty="0"/>
              <a:t> = </a:t>
            </a:r>
            <a:r>
              <a:rPr lang="en-US" altLang="zh-CN" dirty="0" err="1"/>
              <a:t>kongxian</a:t>
            </a:r>
            <a:r>
              <a:rPr lang="en-US" altLang="zh-CN" dirty="0"/>
              <a:t> + 1</a:t>
            </a:r>
          </a:p>
          <a:p>
            <a:pPr marL="0" indent="0">
              <a:buNone/>
            </a:pPr>
            <a:r>
              <a:rPr lang="en-US" altLang="zh-CN" dirty="0"/>
              <a:t>        if </a:t>
            </a:r>
            <a:r>
              <a:rPr lang="en-US" altLang="zh-CN" dirty="0" err="1"/>
              <a:t>kongxian</a:t>
            </a:r>
            <a:r>
              <a:rPr lang="en-US" altLang="zh-CN" dirty="0"/>
              <a:t>&gt;</a:t>
            </a:r>
            <a:r>
              <a:rPr lang="en-US" altLang="zh-CN" dirty="0" err="1"/>
              <a:t>kongxian_max</a:t>
            </a:r>
            <a:r>
              <a:rPr lang="en-US" altLang="zh-CN" dirty="0"/>
              <a:t>:</a:t>
            </a:r>
          </a:p>
          <a:p>
            <a:pPr marL="0" indent="0">
              <a:buNone/>
            </a:pPr>
            <a:r>
              <a:rPr lang="en-US" altLang="zh-CN" dirty="0"/>
              <a:t>            </a:t>
            </a:r>
            <a:r>
              <a:rPr lang="en-US" altLang="zh-CN" dirty="0" err="1"/>
              <a:t>kongxian_max</a:t>
            </a:r>
            <a:r>
              <a:rPr lang="en-US" altLang="zh-CN" dirty="0"/>
              <a:t> = </a:t>
            </a:r>
            <a:r>
              <a:rPr lang="en-US" altLang="zh-CN" dirty="0" err="1"/>
              <a:t>kongxian</a:t>
            </a:r>
            <a:endParaRPr lang="en-US" altLang="zh-CN" dirty="0"/>
          </a:p>
          <a:p>
            <a:pPr marL="0" indent="0">
              <a:buNone/>
            </a:pPr>
            <a:r>
              <a:rPr lang="en-US" altLang="zh-CN" dirty="0"/>
              <a:t>    else:</a:t>
            </a:r>
          </a:p>
          <a:p>
            <a:pPr marL="0" indent="0">
              <a:buNone/>
            </a:pPr>
            <a:r>
              <a:rPr lang="en-US" altLang="zh-CN" dirty="0"/>
              <a:t>        </a:t>
            </a:r>
            <a:r>
              <a:rPr lang="en-US" altLang="zh-CN" dirty="0" err="1"/>
              <a:t>kongxian</a:t>
            </a:r>
            <a:r>
              <a:rPr lang="en-US" altLang="zh-CN" dirty="0"/>
              <a:t> = 0</a:t>
            </a:r>
          </a:p>
          <a:p>
            <a:pPr marL="0" indent="0">
              <a:buNone/>
            </a:pPr>
            <a:r>
              <a:rPr lang="en-US" altLang="zh-CN" dirty="0"/>
              <a:t>else:</a:t>
            </a:r>
          </a:p>
          <a:p>
            <a:pPr marL="0" indent="0">
              <a:buNone/>
            </a:pPr>
            <a:r>
              <a:rPr lang="en-US" altLang="zh-CN" dirty="0"/>
              <a:t>    print('\n</a:t>
            </a:r>
            <a:r>
              <a:rPr lang="zh-CN" altLang="en-US" dirty="0"/>
              <a:t>最大空闲市场为</a:t>
            </a:r>
            <a:r>
              <a:rPr lang="en-US" altLang="zh-CN" dirty="0"/>
              <a:t>{}</a:t>
            </a:r>
            <a:r>
              <a:rPr lang="zh-CN" altLang="en-US" dirty="0"/>
              <a:t>分钟</a:t>
            </a:r>
            <a:r>
              <a:rPr lang="en-US" altLang="zh-CN" dirty="0"/>
              <a:t>'.format(</a:t>
            </a:r>
            <a:r>
              <a:rPr lang="en-US" altLang="zh-CN" dirty="0" err="1"/>
              <a:t>kongxian_max</a:t>
            </a: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62CBF051-665E-40D5-8176-A3A1C944A7B7}"/>
              </a:ext>
            </a:extLst>
          </p:cNvPr>
          <p:cNvSpPr>
            <a:spLocks noGrp="1"/>
          </p:cNvSpPr>
          <p:nvPr>
            <p:ph type="sldNum" sz="quarter" idx="12"/>
          </p:nvPr>
        </p:nvSpPr>
        <p:spPr/>
        <p:txBody>
          <a:bodyPr/>
          <a:lstStyle/>
          <a:p>
            <a:fld id="{49AE70B2-8BF9-45C0-BB95-33D1B9D3A854}" type="slidenum">
              <a:rPr lang="zh-CN" altLang="en-US" smtClean="0"/>
              <a:pPr/>
              <a:t>62</a:t>
            </a:fld>
            <a:endParaRPr lang="zh-CN" altLang="en-US" dirty="0"/>
          </a:p>
        </p:txBody>
      </p:sp>
    </p:spTree>
    <p:extLst>
      <p:ext uri="{BB962C8B-B14F-4D97-AF65-F5344CB8AC3E}">
        <p14:creationId xmlns:p14="http://schemas.microsoft.com/office/powerpoint/2010/main" val="15002590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63</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altLang="zh-CN" dirty="0"/>
              <a:t>======</a:t>
            </a:r>
          </a:p>
          <a:p>
            <a:pPr marL="0" indent="0">
              <a:buNone/>
            </a:pPr>
            <a:r>
              <a:rPr lang="zh-CN" altLang="en-US" dirty="0"/>
              <a:t>请输入</a:t>
            </a:r>
            <a:r>
              <a:rPr lang="en-US" altLang="zh-CN" dirty="0" err="1"/>
              <a:t>x,y</a:t>
            </a:r>
            <a:r>
              <a:rPr lang="zh-CN" altLang="en-US" dirty="0"/>
              <a:t>和</a:t>
            </a:r>
            <a:r>
              <a:rPr lang="en-US" altLang="zh-CN" dirty="0"/>
              <a:t>n: 1,7,10</a:t>
            </a:r>
          </a:p>
          <a:p>
            <a:pPr marL="0" indent="0">
              <a:buNone/>
            </a:pPr>
            <a:r>
              <a:rPr lang="zh-CN" altLang="en-US" dirty="0"/>
              <a:t>第</a:t>
            </a:r>
            <a:r>
              <a:rPr lang="en-US" altLang="zh-CN" dirty="0"/>
              <a:t>n</a:t>
            </a:r>
            <a:r>
              <a:rPr lang="zh-CN" altLang="en-US" dirty="0"/>
              <a:t>位小数为</a:t>
            </a:r>
            <a:r>
              <a:rPr lang="en-US" altLang="zh-CN" dirty="0"/>
              <a:t>8</a:t>
            </a:r>
          </a:p>
          <a:p>
            <a:pPr marL="0" indent="0">
              <a:buNone/>
            </a:pPr>
            <a:r>
              <a:rPr lang="en-US" altLang="zh-CN" dirty="0"/>
              <a:t>&gt;&gt;&gt; 1/7</a:t>
            </a:r>
          </a:p>
          <a:p>
            <a:pPr marL="0" indent="0">
              <a:buNone/>
            </a:pPr>
            <a:r>
              <a:rPr lang="en-US" altLang="zh-CN" dirty="0"/>
              <a:t>0.14285714285714285</a:t>
            </a:r>
          </a:p>
        </p:txBody>
      </p:sp>
      <p:pic>
        <p:nvPicPr>
          <p:cNvPr id="10" name="内容占位符 9">
            <a:extLst>
              <a:ext uri="{FF2B5EF4-FFF2-40B4-BE49-F238E27FC236}">
                <a16:creationId xmlns:a16="http://schemas.microsoft.com/office/drawing/2014/main" id="{BCAB84A5-49C7-4578-B8CE-2A527256B4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327" y="90853"/>
            <a:ext cx="12144673" cy="1215319"/>
          </a:xfrm>
        </p:spPr>
      </p:pic>
    </p:spTree>
    <p:extLst>
      <p:ext uri="{BB962C8B-B14F-4D97-AF65-F5344CB8AC3E}">
        <p14:creationId xmlns:p14="http://schemas.microsoft.com/office/powerpoint/2010/main" val="20049280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C9ADD6-D6F0-4F61-AF6F-FD06BEEF5D0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7889D3C-41F8-4BC0-80CE-2C95C3DE0BB6}"/>
              </a:ext>
            </a:extLst>
          </p:cNvPr>
          <p:cNvSpPr>
            <a:spLocks noGrp="1"/>
          </p:cNvSpPr>
          <p:nvPr>
            <p:ph idx="1"/>
          </p:nvPr>
        </p:nvSpPr>
        <p:spPr>
          <a:xfrm>
            <a:off x="209982" y="1412776"/>
            <a:ext cx="11797570" cy="4668535"/>
          </a:xfrm>
        </p:spPr>
        <p:txBody>
          <a:bodyPr>
            <a:normAutofit/>
          </a:bodyPr>
          <a:lstStyle/>
          <a:p>
            <a:pPr marL="0" indent="0">
              <a:buNone/>
            </a:pPr>
            <a:r>
              <a:rPr lang="en-US" altLang="zh-CN" dirty="0"/>
              <a:t>import math</a:t>
            </a:r>
          </a:p>
          <a:p>
            <a:pPr marL="0" indent="0">
              <a:buNone/>
            </a:pPr>
            <a:r>
              <a:rPr lang="en-US" altLang="zh-CN" dirty="0" err="1"/>
              <a:t>x,y,n</a:t>
            </a:r>
            <a:r>
              <a:rPr lang="en-US" altLang="zh-CN" dirty="0"/>
              <a:t>=eval(input('</a:t>
            </a:r>
            <a:r>
              <a:rPr lang="zh-CN" altLang="en-US" dirty="0"/>
              <a:t>请输入</a:t>
            </a:r>
            <a:r>
              <a:rPr lang="en-US" altLang="zh-CN" dirty="0" err="1"/>
              <a:t>x,y</a:t>
            </a:r>
            <a:r>
              <a:rPr lang="zh-CN" altLang="en-US" dirty="0"/>
              <a:t>和</a:t>
            </a:r>
            <a:r>
              <a:rPr lang="en-US" altLang="zh-CN" dirty="0"/>
              <a:t>n: '))  #x=1,y=7,n=5</a:t>
            </a:r>
          </a:p>
          <a:p>
            <a:pPr marL="0" indent="0">
              <a:buNone/>
            </a:pPr>
            <a:r>
              <a:rPr lang="en-US" altLang="zh-CN" dirty="0"/>
              <a:t>z = </a:t>
            </a:r>
            <a:r>
              <a:rPr lang="en-US" altLang="zh-CN" dirty="0" err="1"/>
              <a:t>math.modf</a:t>
            </a:r>
            <a:r>
              <a:rPr lang="en-US" altLang="zh-CN" dirty="0"/>
              <a:t>(x/y)    # </a:t>
            </a:r>
            <a:r>
              <a:rPr lang="en-US" altLang="zh-CN" dirty="0" err="1"/>
              <a:t>modf</a:t>
            </a:r>
            <a:r>
              <a:rPr lang="en-US" altLang="zh-CN" dirty="0"/>
              <a:t>()</a:t>
            </a:r>
            <a:r>
              <a:rPr lang="zh-CN" altLang="en-US" dirty="0"/>
              <a:t>得到元组</a:t>
            </a:r>
            <a:r>
              <a:rPr lang="en-US" altLang="zh-CN" dirty="0"/>
              <a:t>(</a:t>
            </a:r>
            <a:r>
              <a:rPr lang="zh-CN" altLang="en-US" dirty="0"/>
              <a:t>小数，整数</a:t>
            </a:r>
            <a:r>
              <a:rPr lang="en-US" altLang="zh-CN" dirty="0"/>
              <a:t>)</a:t>
            </a:r>
          </a:p>
          <a:p>
            <a:pPr marL="0" indent="0">
              <a:buNone/>
            </a:pPr>
            <a:r>
              <a:rPr lang="en-US" altLang="zh-CN" dirty="0"/>
              <a:t>                      # z=</a:t>
            </a:r>
            <a:r>
              <a:rPr lang="en-US" altLang="zh-CN" dirty="0" err="1"/>
              <a:t>modf</a:t>
            </a:r>
            <a:r>
              <a:rPr lang="en-US" altLang="zh-CN" dirty="0"/>
              <a:t>(1/7)=</a:t>
            </a:r>
            <a:r>
              <a:rPr lang="zh-CN" altLang="en-US" dirty="0"/>
              <a:t>（</a:t>
            </a:r>
            <a:r>
              <a:rPr lang="en-US" altLang="zh-CN" dirty="0"/>
              <a:t>0.1428571428571,0)</a:t>
            </a:r>
          </a:p>
          <a:p>
            <a:pPr marL="0" indent="0">
              <a:buNone/>
            </a:pPr>
            <a:r>
              <a:rPr lang="en-US" altLang="zh-CN" dirty="0"/>
              <a:t>result = int(z[0]*(10**n))  #int(0.14285714*10000)=14285</a:t>
            </a:r>
          </a:p>
          <a:p>
            <a:pPr marL="0" indent="0">
              <a:buNone/>
            </a:pPr>
            <a:r>
              <a:rPr lang="en-US" altLang="zh-CN" dirty="0"/>
              <a:t>result = result % 10</a:t>
            </a:r>
          </a:p>
          <a:p>
            <a:pPr marL="0" indent="0">
              <a:buNone/>
            </a:pPr>
            <a:r>
              <a:rPr lang="en-US" altLang="zh-CN" dirty="0"/>
              <a:t>print('</a:t>
            </a:r>
            <a:r>
              <a:rPr lang="zh-CN" altLang="en-US" dirty="0"/>
              <a:t>第</a:t>
            </a:r>
            <a:r>
              <a:rPr lang="en-US" altLang="zh-CN" dirty="0"/>
              <a:t>n</a:t>
            </a:r>
            <a:r>
              <a:rPr lang="zh-CN" altLang="en-US" dirty="0"/>
              <a:t>位小数为</a:t>
            </a:r>
            <a:r>
              <a:rPr lang="en-US" altLang="zh-CN" dirty="0"/>
              <a:t>%d' % result)</a:t>
            </a:r>
          </a:p>
          <a:p>
            <a:pPr marL="0" indent="0">
              <a:buNone/>
            </a:pPr>
            <a:endParaRPr lang="zh-CN" altLang="en-US" dirty="0"/>
          </a:p>
        </p:txBody>
      </p:sp>
      <p:sp>
        <p:nvSpPr>
          <p:cNvPr id="4" name="灯片编号占位符 3">
            <a:extLst>
              <a:ext uri="{FF2B5EF4-FFF2-40B4-BE49-F238E27FC236}">
                <a16:creationId xmlns:a16="http://schemas.microsoft.com/office/drawing/2014/main" id="{E41D4FDA-87DD-425F-8929-C262744E2638}"/>
              </a:ext>
            </a:extLst>
          </p:cNvPr>
          <p:cNvSpPr>
            <a:spLocks noGrp="1"/>
          </p:cNvSpPr>
          <p:nvPr>
            <p:ph type="sldNum" sz="quarter" idx="12"/>
          </p:nvPr>
        </p:nvSpPr>
        <p:spPr/>
        <p:txBody>
          <a:bodyPr/>
          <a:lstStyle/>
          <a:p>
            <a:fld id="{49AE70B2-8BF9-45C0-BB95-33D1B9D3A854}" type="slidenum">
              <a:rPr lang="zh-CN" altLang="en-US" smtClean="0"/>
              <a:pPr/>
              <a:t>64</a:t>
            </a:fld>
            <a:endParaRPr lang="zh-CN" altLang="en-US" dirty="0"/>
          </a:p>
        </p:txBody>
      </p:sp>
    </p:spTree>
    <p:extLst>
      <p:ext uri="{BB962C8B-B14F-4D97-AF65-F5344CB8AC3E}">
        <p14:creationId xmlns:p14="http://schemas.microsoft.com/office/powerpoint/2010/main" val="4613897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65</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altLang="zh-CN" dirty="0"/>
              <a:t>=======</a:t>
            </a:r>
          </a:p>
          <a:p>
            <a:pPr marL="0" indent="0">
              <a:buNone/>
            </a:pPr>
            <a:r>
              <a:rPr lang="zh-CN" altLang="en-US" dirty="0"/>
              <a:t>请输入</a:t>
            </a:r>
            <a:r>
              <a:rPr lang="en-US" altLang="zh-CN" dirty="0"/>
              <a:t>a,b:20,40</a:t>
            </a:r>
          </a:p>
          <a:p>
            <a:pPr marL="0" indent="0">
              <a:buNone/>
            </a:pPr>
            <a:r>
              <a:rPr lang="en-US" altLang="zh-CN" dirty="0"/>
              <a:t>3</a:t>
            </a:r>
            <a:r>
              <a:rPr lang="zh-CN" altLang="en-US" dirty="0"/>
              <a:t>一共出现</a:t>
            </a:r>
            <a:r>
              <a:rPr lang="en-US" altLang="zh-CN" dirty="0"/>
              <a:t>12</a:t>
            </a:r>
            <a:r>
              <a:rPr lang="zh-CN" altLang="en-US" dirty="0"/>
              <a:t>次。</a:t>
            </a:r>
          </a:p>
          <a:p>
            <a:pPr marL="0" indent="0">
              <a:buNone/>
            </a:pPr>
            <a:r>
              <a:rPr lang="en-US" altLang="zh-CN" dirty="0"/>
              <a:t>&gt;&gt;&gt; </a:t>
            </a:r>
          </a:p>
        </p:txBody>
      </p:sp>
      <p:pic>
        <p:nvPicPr>
          <p:cNvPr id="5" name="内容占位符 4">
            <a:extLst>
              <a:ext uri="{FF2B5EF4-FFF2-40B4-BE49-F238E27FC236}">
                <a16:creationId xmlns:a16="http://schemas.microsoft.com/office/drawing/2014/main" id="{092B67BB-7F30-4D82-8785-A5C6F24132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360" y="116632"/>
            <a:ext cx="11856640" cy="720080"/>
          </a:xfrm>
        </p:spPr>
      </p:pic>
      <p:sp>
        <p:nvSpPr>
          <p:cNvPr id="2" name="文本框 1">
            <a:extLst>
              <a:ext uri="{FF2B5EF4-FFF2-40B4-BE49-F238E27FC236}">
                <a16:creationId xmlns:a16="http://schemas.microsoft.com/office/drawing/2014/main" id="{D4EAE248-6D92-F15D-F130-7E8D05147565}"/>
              </a:ext>
            </a:extLst>
          </p:cNvPr>
          <p:cNvSpPr txBox="1"/>
          <p:nvPr/>
        </p:nvSpPr>
        <p:spPr>
          <a:xfrm>
            <a:off x="-96688" y="276617"/>
            <a:ext cx="6097464" cy="400110"/>
          </a:xfrm>
          <a:prstGeom prst="rect">
            <a:avLst/>
          </a:prstGeom>
          <a:noFill/>
        </p:spPr>
        <p:txBody>
          <a:bodyPr wrap="square">
            <a:spAutoFit/>
          </a:bodyPr>
          <a:lstStyle/>
          <a:p>
            <a:r>
              <a:rPr lang="en-US" altLang="zh-CN" sz="2000" dirty="0"/>
              <a:t>ok</a:t>
            </a:r>
            <a:endParaRPr lang="zh-CN" altLang="en-US" sz="2000" dirty="0"/>
          </a:p>
        </p:txBody>
      </p:sp>
    </p:spTree>
    <p:extLst>
      <p:ext uri="{BB962C8B-B14F-4D97-AF65-F5344CB8AC3E}">
        <p14:creationId xmlns:p14="http://schemas.microsoft.com/office/powerpoint/2010/main" val="8866195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23C5C9-77DA-46F5-8B5A-F5465E3C2976}"/>
              </a:ext>
            </a:extLst>
          </p:cNvPr>
          <p:cNvSpPr>
            <a:spLocks noGrp="1"/>
          </p:cNvSpPr>
          <p:nvPr>
            <p:ph type="title"/>
          </p:nvPr>
        </p:nvSpPr>
        <p:spPr/>
        <p:txBody>
          <a:bodyPr/>
          <a:lstStyle/>
          <a:p>
            <a:r>
              <a:rPr lang="zh-CN" altLang="en-US" dirty="0"/>
              <a:t>问题在哪？</a:t>
            </a:r>
          </a:p>
        </p:txBody>
      </p:sp>
      <p:sp>
        <p:nvSpPr>
          <p:cNvPr id="4" name="灯片编号占位符 3">
            <a:extLst>
              <a:ext uri="{FF2B5EF4-FFF2-40B4-BE49-F238E27FC236}">
                <a16:creationId xmlns:a16="http://schemas.microsoft.com/office/drawing/2014/main" id="{69E1B2B2-A90F-4EDA-BF40-4D64FE444072}"/>
              </a:ext>
            </a:extLst>
          </p:cNvPr>
          <p:cNvSpPr>
            <a:spLocks noGrp="1"/>
          </p:cNvSpPr>
          <p:nvPr>
            <p:ph type="sldNum" sz="quarter" idx="12"/>
          </p:nvPr>
        </p:nvSpPr>
        <p:spPr/>
        <p:txBody>
          <a:bodyPr/>
          <a:lstStyle/>
          <a:p>
            <a:fld id="{49AE70B2-8BF9-45C0-BB95-33D1B9D3A854}" type="slidenum">
              <a:rPr lang="zh-CN" altLang="en-US" smtClean="0"/>
              <a:pPr/>
              <a:t>66</a:t>
            </a:fld>
            <a:endParaRPr lang="zh-CN" altLang="en-US" dirty="0"/>
          </a:p>
        </p:txBody>
      </p:sp>
      <p:sp>
        <p:nvSpPr>
          <p:cNvPr id="5" name="内容占位符 2">
            <a:extLst>
              <a:ext uri="{FF2B5EF4-FFF2-40B4-BE49-F238E27FC236}">
                <a16:creationId xmlns:a16="http://schemas.microsoft.com/office/drawing/2014/main" id="{63F24B12-1015-4DCA-956D-170D5A78A3F8}"/>
              </a:ext>
            </a:extLst>
          </p:cNvPr>
          <p:cNvSpPr txBox="1">
            <a:spLocks/>
          </p:cNvSpPr>
          <p:nvPr/>
        </p:nvSpPr>
        <p:spPr>
          <a:xfrm>
            <a:off x="447891" y="1268760"/>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altLang="zh-CN" dirty="0" err="1"/>
              <a:t>a,b</a:t>
            </a:r>
            <a:r>
              <a:rPr lang="en-US" altLang="zh-CN" dirty="0"/>
              <a:t> = eval(input()  # a=20,b=40</a:t>
            </a:r>
          </a:p>
          <a:p>
            <a:pPr marL="0" indent="0">
              <a:buNone/>
            </a:pPr>
            <a:r>
              <a:rPr lang="en-US" altLang="zh-CN" dirty="0"/>
              <a:t>count = 0</a:t>
            </a:r>
          </a:p>
          <a:p>
            <a:pPr marL="0" indent="0">
              <a:buNone/>
            </a:pPr>
            <a:r>
              <a:rPr lang="en-US" altLang="zh-CN" dirty="0"/>
              <a:t>for I in range(a,b+1):  # range:[20,40],</a:t>
            </a:r>
            <a:r>
              <a:rPr lang="zh-CN" altLang="en-US" dirty="0"/>
              <a:t>例如</a:t>
            </a:r>
            <a:r>
              <a:rPr lang="en-US" altLang="zh-CN" dirty="0" err="1"/>
              <a:t>i</a:t>
            </a:r>
            <a:r>
              <a:rPr lang="en-US" altLang="zh-CN" dirty="0"/>
              <a:t>=23</a:t>
            </a:r>
          </a:p>
          <a:p>
            <a:pPr marL="0" indent="0">
              <a:buNone/>
            </a:pPr>
            <a:r>
              <a:rPr lang="en-US" altLang="zh-CN" dirty="0"/>
              <a:t>    y = str(</a:t>
            </a:r>
            <a:r>
              <a:rPr lang="en-US" altLang="zh-CN" dirty="0" err="1"/>
              <a:t>i</a:t>
            </a:r>
            <a:r>
              <a:rPr lang="en-US" altLang="zh-CN" dirty="0"/>
              <a:t>)</a:t>
            </a:r>
          </a:p>
          <a:p>
            <a:pPr marL="0" indent="0">
              <a:buNone/>
            </a:pPr>
            <a:r>
              <a:rPr lang="en-US" altLang="zh-CN" dirty="0"/>
              <a:t>    for c in y:</a:t>
            </a:r>
          </a:p>
          <a:p>
            <a:pPr marL="0" indent="0">
              <a:buNone/>
            </a:pPr>
            <a:r>
              <a:rPr lang="en-US" altLang="zh-CN" dirty="0"/>
              <a:t>        if c == 3:</a:t>
            </a:r>
          </a:p>
          <a:p>
            <a:pPr marL="0" indent="0">
              <a:buNone/>
            </a:pPr>
            <a:r>
              <a:rPr lang="en-US" altLang="zh-CN" dirty="0"/>
              <a:t>		  count+=1</a:t>
            </a:r>
          </a:p>
          <a:p>
            <a:pPr marL="0" indent="0">
              <a:buNone/>
            </a:pPr>
            <a:r>
              <a:rPr lang="en-US" altLang="zh-CN" dirty="0"/>
              <a:t>print(count)</a:t>
            </a:r>
          </a:p>
        </p:txBody>
      </p:sp>
    </p:spTree>
    <p:extLst>
      <p:ext uri="{BB962C8B-B14F-4D97-AF65-F5344CB8AC3E}">
        <p14:creationId xmlns:p14="http://schemas.microsoft.com/office/powerpoint/2010/main" val="14270586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55EDED-5B38-4C2D-B8C7-510C1FDE8822}"/>
              </a:ext>
            </a:extLst>
          </p:cNvPr>
          <p:cNvSpPr>
            <a:spLocks noGrp="1"/>
          </p:cNvSpPr>
          <p:nvPr>
            <p:ph type="title"/>
          </p:nvPr>
        </p:nvSpPr>
        <p:spPr/>
        <p:txBody>
          <a:bodyPr/>
          <a:lstStyle/>
          <a:p>
            <a:r>
              <a:rPr lang="zh-CN" altLang="en-US" dirty="0"/>
              <a:t>方法</a:t>
            </a:r>
            <a:r>
              <a:rPr lang="en-US" altLang="zh-CN" dirty="0"/>
              <a:t>2</a:t>
            </a:r>
            <a:r>
              <a:rPr lang="zh-CN" altLang="en-US" dirty="0"/>
              <a:t>：</a:t>
            </a:r>
          </a:p>
        </p:txBody>
      </p:sp>
      <p:sp>
        <p:nvSpPr>
          <p:cNvPr id="3" name="内容占位符 2">
            <a:extLst>
              <a:ext uri="{FF2B5EF4-FFF2-40B4-BE49-F238E27FC236}">
                <a16:creationId xmlns:a16="http://schemas.microsoft.com/office/drawing/2014/main" id="{774C5726-4909-4C16-BAC1-8AF10473D8A8}"/>
              </a:ext>
            </a:extLst>
          </p:cNvPr>
          <p:cNvSpPr>
            <a:spLocks noGrp="1"/>
          </p:cNvSpPr>
          <p:nvPr>
            <p:ph idx="1"/>
          </p:nvPr>
        </p:nvSpPr>
        <p:spPr/>
        <p:txBody>
          <a:bodyPr>
            <a:normAutofit/>
          </a:bodyPr>
          <a:lstStyle/>
          <a:p>
            <a:pPr marL="0" indent="0">
              <a:buNone/>
            </a:pPr>
            <a:r>
              <a:rPr lang="en-US" altLang="zh-CN" dirty="0" err="1"/>
              <a:t>a,b</a:t>
            </a:r>
            <a:r>
              <a:rPr lang="en-US" altLang="zh-CN" dirty="0"/>
              <a:t>=eval(input('</a:t>
            </a:r>
            <a:r>
              <a:rPr lang="zh-CN" altLang="en-US" dirty="0"/>
              <a:t>请输入</a:t>
            </a:r>
            <a:r>
              <a:rPr lang="en-US" altLang="zh-CN" dirty="0" err="1"/>
              <a:t>a,b</a:t>
            </a:r>
            <a:r>
              <a:rPr lang="en-US" altLang="zh-CN" dirty="0"/>
              <a:t>:'))</a:t>
            </a:r>
          </a:p>
          <a:p>
            <a:pPr marL="0" indent="0">
              <a:buNone/>
            </a:pPr>
            <a:r>
              <a:rPr lang="en-US" altLang="zh-CN" dirty="0"/>
              <a:t>count = 0   # </a:t>
            </a:r>
            <a:r>
              <a:rPr lang="zh-CN" altLang="en-US" dirty="0"/>
              <a:t>出现次数</a:t>
            </a:r>
          </a:p>
          <a:p>
            <a:pPr marL="0" indent="0">
              <a:buNone/>
            </a:pPr>
            <a:r>
              <a:rPr lang="en-US" altLang="zh-CN" dirty="0"/>
              <a:t>for </a:t>
            </a:r>
            <a:r>
              <a:rPr lang="en-US" altLang="zh-CN" dirty="0" err="1"/>
              <a:t>i</a:t>
            </a:r>
            <a:r>
              <a:rPr lang="en-US" altLang="zh-CN" dirty="0"/>
              <a:t> in range(a,b+1):</a:t>
            </a:r>
          </a:p>
          <a:p>
            <a:pPr marL="0" indent="0">
              <a:buNone/>
            </a:pPr>
            <a:r>
              <a:rPr lang="en-US" altLang="zh-CN" dirty="0"/>
              <a:t>    list1=list(str(</a:t>
            </a:r>
            <a:r>
              <a:rPr lang="en-US" altLang="zh-CN" dirty="0" err="1"/>
              <a:t>i</a:t>
            </a:r>
            <a:r>
              <a:rPr lang="en-US" altLang="zh-CN" dirty="0"/>
              <a:t>))</a:t>
            </a:r>
          </a:p>
          <a:p>
            <a:pPr marL="0" indent="0">
              <a:buNone/>
            </a:pPr>
            <a:r>
              <a:rPr lang="en-US" altLang="zh-CN" dirty="0"/>
              <a:t>    count += list1.count('3')</a:t>
            </a:r>
          </a:p>
          <a:p>
            <a:pPr marL="0" indent="0">
              <a:buNone/>
            </a:pPr>
            <a:r>
              <a:rPr lang="en-US" altLang="zh-CN" dirty="0"/>
              <a:t>else:</a:t>
            </a:r>
          </a:p>
          <a:p>
            <a:pPr marL="0" indent="0">
              <a:buNone/>
            </a:pPr>
            <a:r>
              <a:rPr lang="en-US" altLang="zh-CN" dirty="0"/>
              <a:t>    print('3</a:t>
            </a:r>
            <a:r>
              <a:rPr lang="zh-CN" altLang="en-US" dirty="0"/>
              <a:t>一共出现</a:t>
            </a:r>
            <a:r>
              <a:rPr lang="en-US" altLang="zh-CN" dirty="0"/>
              <a:t>%d</a:t>
            </a:r>
            <a:r>
              <a:rPr lang="zh-CN" altLang="en-US" dirty="0"/>
              <a:t>次。</a:t>
            </a:r>
            <a:r>
              <a:rPr lang="en-US" altLang="zh-CN" dirty="0"/>
              <a:t>' % count)</a:t>
            </a:r>
          </a:p>
          <a:p>
            <a:pPr marL="0" indent="0">
              <a:buNone/>
            </a:pPr>
            <a:endParaRPr lang="zh-CN" altLang="en-US" dirty="0"/>
          </a:p>
        </p:txBody>
      </p:sp>
      <p:sp>
        <p:nvSpPr>
          <p:cNvPr id="4" name="灯片编号占位符 3">
            <a:extLst>
              <a:ext uri="{FF2B5EF4-FFF2-40B4-BE49-F238E27FC236}">
                <a16:creationId xmlns:a16="http://schemas.microsoft.com/office/drawing/2014/main" id="{F684A551-790C-45C7-AE43-AB29714AE7F6}"/>
              </a:ext>
            </a:extLst>
          </p:cNvPr>
          <p:cNvSpPr>
            <a:spLocks noGrp="1"/>
          </p:cNvSpPr>
          <p:nvPr>
            <p:ph type="sldNum" sz="quarter" idx="12"/>
          </p:nvPr>
        </p:nvSpPr>
        <p:spPr/>
        <p:txBody>
          <a:bodyPr/>
          <a:lstStyle/>
          <a:p>
            <a:fld id="{49AE70B2-8BF9-45C0-BB95-33D1B9D3A854}" type="slidenum">
              <a:rPr lang="zh-CN" altLang="en-US" smtClean="0"/>
              <a:pPr/>
              <a:t>67</a:t>
            </a:fld>
            <a:endParaRPr lang="zh-CN" altLang="en-US" dirty="0"/>
          </a:p>
        </p:txBody>
      </p:sp>
    </p:spTree>
    <p:extLst>
      <p:ext uri="{BB962C8B-B14F-4D97-AF65-F5344CB8AC3E}">
        <p14:creationId xmlns:p14="http://schemas.microsoft.com/office/powerpoint/2010/main" val="13182174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68</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184448" y="1784801"/>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altLang="zh-CN" sz="2800" dirty="0"/>
              <a:t>=====</a:t>
            </a:r>
          </a:p>
          <a:p>
            <a:pPr marL="0" indent="0">
              <a:buNone/>
            </a:pPr>
            <a:r>
              <a:rPr lang="en-US" altLang="zh-CN" sz="2800" dirty="0"/>
              <a:t>     101	110	129	138	147	156	165	174	183	192	202	211	220	239	248	257	266	275	284	293	303	312	321	330	349	358	367	376	385	394	404	413	422	431	440	459	468	477	486	495	505	514	523	532	541	550	569	578	587	596	606	615	624	633	642	651	660	679	688	697	707	716	725	734	743	752	761	770	789	798	808	817	826	835	844	853	862	871	880	899	909	918	927	936	945	954	963	972	981	990	</a:t>
            </a:r>
          </a:p>
          <a:p>
            <a:pPr marL="0" indent="0">
              <a:buNone/>
            </a:pPr>
            <a:r>
              <a:rPr lang="en-US" altLang="zh-CN" sz="2800" dirty="0"/>
              <a:t>&gt;&gt;&gt; </a:t>
            </a:r>
          </a:p>
        </p:txBody>
      </p:sp>
      <p:pic>
        <p:nvPicPr>
          <p:cNvPr id="5" name="内容占位符 4">
            <a:extLst>
              <a:ext uri="{FF2B5EF4-FFF2-40B4-BE49-F238E27FC236}">
                <a16:creationId xmlns:a16="http://schemas.microsoft.com/office/drawing/2014/main" id="{A513378B-EB42-4F27-A13B-052CDDE83F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6632"/>
            <a:ext cx="12192000" cy="1512168"/>
          </a:xfrm>
        </p:spPr>
      </p:pic>
    </p:spTree>
    <p:extLst>
      <p:ext uri="{BB962C8B-B14F-4D97-AF65-F5344CB8AC3E}">
        <p14:creationId xmlns:p14="http://schemas.microsoft.com/office/powerpoint/2010/main" val="13092229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AABB5B-F8A7-478F-AEEA-5658A4FC534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74C2E7C-C558-4C23-A116-8824F4A9B90C}"/>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30372A09-8926-4DE6-9510-81F42A4B4B0F}"/>
              </a:ext>
            </a:extLst>
          </p:cNvPr>
          <p:cNvSpPr>
            <a:spLocks noGrp="1"/>
          </p:cNvSpPr>
          <p:nvPr>
            <p:ph type="sldNum" sz="quarter" idx="12"/>
          </p:nvPr>
        </p:nvSpPr>
        <p:spPr/>
        <p:txBody>
          <a:bodyPr/>
          <a:lstStyle/>
          <a:p>
            <a:fld id="{49AE70B2-8BF9-45C0-BB95-33D1B9D3A854}" type="slidenum">
              <a:rPr lang="zh-CN" altLang="en-US" smtClean="0"/>
              <a:pPr/>
              <a:t>69</a:t>
            </a:fld>
            <a:endParaRPr lang="zh-CN" altLang="en-US" dirty="0"/>
          </a:p>
        </p:txBody>
      </p:sp>
    </p:spTree>
    <p:extLst>
      <p:ext uri="{BB962C8B-B14F-4D97-AF65-F5344CB8AC3E}">
        <p14:creationId xmlns:p14="http://schemas.microsoft.com/office/powerpoint/2010/main" val="29714055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544A4D-2427-43F7-8B2A-B4C8C0719B7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C41C80E-5E30-4CFA-B284-749A397E60CB}"/>
              </a:ext>
            </a:extLst>
          </p:cNvPr>
          <p:cNvSpPr>
            <a:spLocks noGrp="1"/>
          </p:cNvSpPr>
          <p:nvPr>
            <p:ph idx="1"/>
          </p:nvPr>
        </p:nvSpPr>
        <p:spPr/>
        <p:txBody>
          <a:bodyPr>
            <a:normAutofit/>
          </a:bodyPr>
          <a:lstStyle/>
          <a:p>
            <a:pPr marL="0" indent="0">
              <a:buNone/>
            </a:pPr>
            <a:r>
              <a:rPr lang="en-US" altLang="zh-CN" sz="2800" dirty="0"/>
              <a:t>for </a:t>
            </a:r>
            <a:r>
              <a:rPr lang="en-US" altLang="zh-CN" sz="2800" dirty="0" err="1"/>
              <a:t>i</a:t>
            </a:r>
            <a:r>
              <a:rPr lang="en-US" altLang="zh-CN" sz="2800" dirty="0"/>
              <a:t> in range(100,1000):</a:t>
            </a:r>
          </a:p>
          <a:p>
            <a:pPr marL="0" indent="0">
              <a:buNone/>
            </a:pPr>
            <a:r>
              <a:rPr lang="en-US" altLang="zh-CN" sz="2800" dirty="0"/>
              <a:t>    x1 = </a:t>
            </a:r>
            <a:r>
              <a:rPr lang="en-US" altLang="zh-CN" sz="2800" dirty="0" err="1"/>
              <a:t>i</a:t>
            </a:r>
            <a:r>
              <a:rPr lang="en-US" altLang="zh-CN" sz="2800" dirty="0"/>
              <a:t> // 100     	#</a:t>
            </a:r>
            <a:r>
              <a:rPr lang="zh-CN" altLang="en-US" sz="2800" dirty="0"/>
              <a:t>百位</a:t>
            </a:r>
            <a:endParaRPr lang="en-US" altLang="zh-CN" sz="2800" dirty="0"/>
          </a:p>
          <a:p>
            <a:pPr marL="0" indent="0">
              <a:buNone/>
            </a:pPr>
            <a:r>
              <a:rPr lang="en-US" altLang="zh-CN" sz="2800" dirty="0"/>
              <a:t>    x2 = (</a:t>
            </a:r>
            <a:r>
              <a:rPr lang="en-US" altLang="zh-CN" sz="2800" dirty="0" err="1"/>
              <a:t>i</a:t>
            </a:r>
            <a:r>
              <a:rPr lang="en-US" altLang="zh-CN" sz="2800" dirty="0"/>
              <a:t> % 100) // 10  #</a:t>
            </a:r>
            <a:r>
              <a:rPr lang="zh-CN" altLang="en-US" sz="2800" dirty="0"/>
              <a:t>十位</a:t>
            </a:r>
            <a:endParaRPr lang="en-US" altLang="zh-CN" sz="2800" dirty="0"/>
          </a:p>
          <a:p>
            <a:pPr marL="0" indent="0">
              <a:buNone/>
            </a:pPr>
            <a:r>
              <a:rPr lang="en-US" altLang="zh-CN" sz="2800" dirty="0"/>
              <a:t>    x3 = </a:t>
            </a:r>
            <a:r>
              <a:rPr lang="en-US" altLang="zh-CN" sz="2800" dirty="0" err="1"/>
              <a:t>i</a:t>
            </a:r>
            <a:r>
              <a:rPr lang="en-US" altLang="zh-CN" sz="2800" dirty="0"/>
              <a:t> % 10 	     #</a:t>
            </a:r>
            <a:r>
              <a:rPr lang="zh-CN" altLang="en-US" sz="2800" dirty="0"/>
              <a:t>个位</a:t>
            </a:r>
            <a:endParaRPr lang="en-US" altLang="zh-CN" sz="2800" dirty="0"/>
          </a:p>
          <a:p>
            <a:pPr marL="0" indent="0">
              <a:buNone/>
            </a:pPr>
            <a:r>
              <a:rPr lang="en-US" altLang="zh-CN" sz="2800" dirty="0"/>
              <a:t>    if (x2+x3) % 10 ==x1:</a:t>
            </a:r>
          </a:p>
          <a:p>
            <a:pPr marL="0" indent="0">
              <a:buNone/>
            </a:pPr>
            <a:r>
              <a:rPr lang="en-US" altLang="zh-CN" sz="2800" dirty="0"/>
              <a:t>        print(</a:t>
            </a:r>
            <a:r>
              <a:rPr lang="en-US" altLang="zh-CN" sz="2800" dirty="0" err="1"/>
              <a:t>i,end</a:t>
            </a:r>
            <a:r>
              <a:rPr lang="en-US" altLang="zh-CN" sz="2800" dirty="0"/>
              <a:t>='\t')</a:t>
            </a:r>
          </a:p>
          <a:p>
            <a:pPr marL="0" indent="0">
              <a:buNone/>
            </a:pPr>
            <a:endParaRPr lang="zh-CN" altLang="en-US" sz="2800" dirty="0"/>
          </a:p>
        </p:txBody>
      </p:sp>
      <p:sp>
        <p:nvSpPr>
          <p:cNvPr id="4" name="灯片编号占位符 3">
            <a:extLst>
              <a:ext uri="{FF2B5EF4-FFF2-40B4-BE49-F238E27FC236}">
                <a16:creationId xmlns:a16="http://schemas.microsoft.com/office/drawing/2014/main" id="{C0FD2C99-05EF-4435-81BA-43C7D7A6E747}"/>
              </a:ext>
            </a:extLst>
          </p:cNvPr>
          <p:cNvSpPr>
            <a:spLocks noGrp="1"/>
          </p:cNvSpPr>
          <p:nvPr>
            <p:ph type="sldNum" sz="quarter" idx="12"/>
          </p:nvPr>
        </p:nvSpPr>
        <p:spPr/>
        <p:txBody>
          <a:bodyPr/>
          <a:lstStyle/>
          <a:p>
            <a:fld id="{49AE70B2-8BF9-45C0-BB95-33D1B9D3A854}" type="slidenum">
              <a:rPr lang="zh-CN" altLang="en-US" smtClean="0"/>
              <a:pPr/>
              <a:t>70</a:t>
            </a:fld>
            <a:endParaRPr lang="zh-CN" altLang="en-US" dirty="0"/>
          </a:p>
        </p:txBody>
      </p:sp>
    </p:spTree>
    <p:extLst>
      <p:ext uri="{BB962C8B-B14F-4D97-AF65-F5344CB8AC3E}">
        <p14:creationId xmlns:p14="http://schemas.microsoft.com/office/powerpoint/2010/main" val="22938279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71</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altLang="zh-CN" dirty="0"/>
              <a:t>=====</a:t>
            </a:r>
          </a:p>
          <a:p>
            <a:pPr marL="0" indent="0">
              <a:buNone/>
            </a:pPr>
            <a:r>
              <a:rPr lang="zh-CN" altLang="en-US" dirty="0"/>
              <a:t>请输入</a:t>
            </a:r>
            <a:r>
              <a:rPr lang="en-US" altLang="zh-CN" dirty="0"/>
              <a:t>x</a:t>
            </a:r>
            <a:r>
              <a:rPr lang="zh-CN" altLang="en-US" dirty="0"/>
              <a:t>和</a:t>
            </a:r>
            <a:r>
              <a:rPr lang="en-US" altLang="zh-CN" dirty="0"/>
              <a:t>n: 60,3</a:t>
            </a:r>
          </a:p>
          <a:p>
            <a:pPr marL="0" indent="0">
              <a:buNone/>
            </a:pPr>
            <a:r>
              <a:rPr lang="zh-CN" altLang="en-US" dirty="0"/>
              <a:t>比</a:t>
            </a:r>
            <a:r>
              <a:rPr lang="en-US" altLang="zh-CN" dirty="0"/>
              <a:t>60</a:t>
            </a:r>
            <a:r>
              <a:rPr lang="zh-CN" altLang="en-US" dirty="0"/>
              <a:t>小的第</a:t>
            </a:r>
            <a:r>
              <a:rPr lang="en-US" altLang="zh-CN" dirty="0"/>
              <a:t>3</a:t>
            </a:r>
            <a:r>
              <a:rPr lang="zh-CN" altLang="en-US" dirty="0"/>
              <a:t>个质数是</a:t>
            </a:r>
            <a:r>
              <a:rPr lang="en-US" altLang="zh-CN" dirty="0"/>
              <a:t>47</a:t>
            </a:r>
          </a:p>
          <a:p>
            <a:pPr marL="0" indent="0">
              <a:buNone/>
            </a:pPr>
            <a:endParaRPr lang="en-US" altLang="zh-CN" dirty="0"/>
          </a:p>
          <a:p>
            <a:pPr marL="0" indent="0">
              <a:buNone/>
            </a:pPr>
            <a:r>
              <a:rPr lang="en-US" altLang="zh-CN" dirty="0"/>
              <a:t>====</a:t>
            </a:r>
          </a:p>
          <a:p>
            <a:pPr marL="0" indent="0">
              <a:buNone/>
            </a:pPr>
            <a:r>
              <a:rPr lang="zh-CN" altLang="en-US" dirty="0"/>
              <a:t>请输入</a:t>
            </a:r>
            <a:r>
              <a:rPr lang="en-US" altLang="zh-CN" dirty="0"/>
              <a:t>x</a:t>
            </a:r>
            <a:r>
              <a:rPr lang="zh-CN" altLang="en-US" dirty="0"/>
              <a:t>和</a:t>
            </a:r>
            <a:r>
              <a:rPr lang="en-US" altLang="zh-CN" dirty="0"/>
              <a:t>n: 60,20</a:t>
            </a:r>
          </a:p>
          <a:p>
            <a:pPr marL="0" indent="0">
              <a:buNone/>
            </a:pPr>
            <a:r>
              <a:rPr lang="zh-CN" altLang="en-US" dirty="0"/>
              <a:t>没有找到！</a:t>
            </a:r>
          </a:p>
        </p:txBody>
      </p:sp>
      <p:pic>
        <p:nvPicPr>
          <p:cNvPr id="5" name="内容占位符 4">
            <a:extLst>
              <a:ext uri="{FF2B5EF4-FFF2-40B4-BE49-F238E27FC236}">
                <a16:creationId xmlns:a16="http://schemas.microsoft.com/office/drawing/2014/main" id="{67AA78E1-EC50-4DF8-A4C1-BFB6624F31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85" y="116254"/>
            <a:ext cx="12172415" cy="1189919"/>
          </a:xfrm>
        </p:spPr>
      </p:pic>
    </p:spTree>
    <p:extLst>
      <p:ext uri="{BB962C8B-B14F-4D97-AF65-F5344CB8AC3E}">
        <p14:creationId xmlns:p14="http://schemas.microsoft.com/office/powerpoint/2010/main" val="8773450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47B7F4-281F-48F2-8D05-AC4033D5A664}"/>
              </a:ext>
            </a:extLst>
          </p:cNvPr>
          <p:cNvSpPr>
            <a:spLocks noGrp="1"/>
          </p:cNvSpPr>
          <p:nvPr>
            <p:ph type="title"/>
          </p:nvPr>
        </p:nvSpPr>
        <p:spPr/>
        <p:txBody>
          <a:bodyPr/>
          <a:lstStyle/>
          <a:p>
            <a:r>
              <a:rPr lang="zh-CN" altLang="en-US" dirty="0"/>
              <a:t>问题在哪？</a:t>
            </a:r>
          </a:p>
        </p:txBody>
      </p:sp>
      <p:pic>
        <p:nvPicPr>
          <p:cNvPr id="6" name="内容占位符 5">
            <a:extLst>
              <a:ext uri="{FF2B5EF4-FFF2-40B4-BE49-F238E27FC236}">
                <a16:creationId xmlns:a16="http://schemas.microsoft.com/office/drawing/2014/main" id="{CF77714A-D8D9-4015-94BF-0A1E18387C84}"/>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10000" contrast="20000"/>
                    </a14:imgEffect>
                  </a14:imgLayer>
                </a14:imgProps>
              </a:ext>
              <a:ext uri="{28A0092B-C50C-407E-A947-70E740481C1C}">
                <a14:useLocalDpi xmlns:a14="http://schemas.microsoft.com/office/drawing/2010/main" val="0"/>
              </a:ext>
            </a:extLst>
          </a:blip>
          <a:stretch>
            <a:fillRect/>
          </a:stretch>
        </p:blipFill>
        <p:spPr>
          <a:xfrm>
            <a:off x="1607562" y="1148137"/>
            <a:ext cx="5928874" cy="4061812"/>
          </a:xfrm>
        </p:spPr>
      </p:pic>
      <p:sp>
        <p:nvSpPr>
          <p:cNvPr id="4" name="灯片编号占位符 3">
            <a:extLst>
              <a:ext uri="{FF2B5EF4-FFF2-40B4-BE49-F238E27FC236}">
                <a16:creationId xmlns:a16="http://schemas.microsoft.com/office/drawing/2014/main" id="{D3F52AE9-1C43-49BB-8E3B-389A98F34ED7}"/>
              </a:ext>
            </a:extLst>
          </p:cNvPr>
          <p:cNvSpPr>
            <a:spLocks noGrp="1"/>
          </p:cNvSpPr>
          <p:nvPr>
            <p:ph type="sldNum" sz="quarter" idx="12"/>
          </p:nvPr>
        </p:nvSpPr>
        <p:spPr/>
        <p:txBody>
          <a:bodyPr/>
          <a:lstStyle/>
          <a:p>
            <a:fld id="{49AE70B2-8BF9-45C0-BB95-33D1B9D3A854}" type="slidenum">
              <a:rPr lang="zh-CN" altLang="en-US" smtClean="0"/>
              <a:pPr/>
              <a:t>72</a:t>
            </a:fld>
            <a:endParaRPr lang="zh-CN" altLang="en-US" dirty="0"/>
          </a:p>
        </p:txBody>
      </p:sp>
    </p:spTree>
    <p:extLst>
      <p:ext uri="{BB962C8B-B14F-4D97-AF65-F5344CB8AC3E}">
        <p14:creationId xmlns:p14="http://schemas.microsoft.com/office/powerpoint/2010/main" val="8969517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C195A8A-D292-476E-8977-57966C8698CF}"/>
              </a:ext>
            </a:extLst>
          </p:cNvPr>
          <p:cNvSpPr>
            <a:spLocks noGrp="1"/>
          </p:cNvSpPr>
          <p:nvPr>
            <p:ph idx="1"/>
          </p:nvPr>
        </p:nvSpPr>
        <p:spPr>
          <a:xfrm>
            <a:off x="191344" y="476672"/>
            <a:ext cx="11314856" cy="5604639"/>
          </a:xfrm>
        </p:spPr>
        <p:txBody>
          <a:bodyPr>
            <a:normAutofit fontScale="70000" lnSpcReduction="20000"/>
          </a:bodyPr>
          <a:lstStyle/>
          <a:p>
            <a:pPr marL="0" indent="0">
              <a:buNone/>
            </a:pPr>
            <a:r>
              <a:rPr lang="en-US" altLang="zh-CN" dirty="0" err="1"/>
              <a:t>x,n</a:t>
            </a:r>
            <a:r>
              <a:rPr lang="en-US" altLang="zh-CN" dirty="0"/>
              <a:t> = eval(input('</a:t>
            </a:r>
            <a:r>
              <a:rPr lang="zh-CN" altLang="en-US" dirty="0"/>
              <a:t>请输入</a:t>
            </a:r>
            <a:r>
              <a:rPr lang="en-US" altLang="zh-CN" dirty="0"/>
              <a:t>x</a:t>
            </a:r>
            <a:r>
              <a:rPr lang="zh-CN" altLang="en-US" dirty="0"/>
              <a:t>和</a:t>
            </a:r>
            <a:r>
              <a:rPr lang="en-US" altLang="zh-CN" dirty="0"/>
              <a:t>n: '))</a:t>
            </a:r>
          </a:p>
          <a:p>
            <a:pPr marL="0" indent="0">
              <a:buNone/>
            </a:pPr>
            <a:r>
              <a:rPr lang="en-US" altLang="zh-CN" dirty="0"/>
              <a:t>count = 0   # </a:t>
            </a:r>
            <a:r>
              <a:rPr lang="zh-CN" altLang="en-US" dirty="0"/>
              <a:t>找到第几个质数了</a:t>
            </a:r>
          </a:p>
          <a:p>
            <a:pPr marL="0" indent="0">
              <a:buNone/>
            </a:pPr>
            <a:r>
              <a:rPr lang="en-US" altLang="zh-CN" dirty="0"/>
              <a:t>for </a:t>
            </a:r>
            <a:r>
              <a:rPr lang="en-US" altLang="zh-CN" dirty="0" err="1"/>
              <a:t>i</a:t>
            </a:r>
            <a:r>
              <a:rPr lang="en-US" altLang="zh-CN" dirty="0"/>
              <a:t> in range(x,1,-1):   # </a:t>
            </a:r>
            <a:r>
              <a:rPr lang="zh-CN" altLang="en-US" dirty="0"/>
              <a:t>递减序列</a:t>
            </a:r>
            <a:endParaRPr lang="en-US" altLang="zh-CN" dirty="0"/>
          </a:p>
          <a:p>
            <a:pPr marL="0" indent="0">
              <a:buNone/>
            </a:pPr>
            <a:r>
              <a:rPr lang="en-US" altLang="zh-CN" dirty="0"/>
              <a:t>    flag = False		# </a:t>
            </a:r>
            <a:r>
              <a:rPr lang="zh-CN" altLang="en-US" dirty="0"/>
              <a:t>标记</a:t>
            </a:r>
            <a:r>
              <a:rPr lang="en-US" altLang="zh-CN" dirty="0" err="1"/>
              <a:t>i</a:t>
            </a:r>
            <a:r>
              <a:rPr lang="zh-CN" altLang="en-US" dirty="0"/>
              <a:t>是否质数</a:t>
            </a:r>
            <a:endParaRPr lang="en-US" altLang="zh-CN" dirty="0"/>
          </a:p>
          <a:p>
            <a:pPr marL="0" indent="0">
              <a:buNone/>
            </a:pPr>
            <a:r>
              <a:rPr lang="en-US" altLang="zh-CN" dirty="0"/>
              <a:t>    for j in range(2,i-1):</a:t>
            </a:r>
          </a:p>
          <a:p>
            <a:pPr marL="0" indent="0">
              <a:buNone/>
            </a:pPr>
            <a:r>
              <a:rPr lang="en-US" altLang="zh-CN" dirty="0"/>
              <a:t>        if </a:t>
            </a:r>
            <a:r>
              <a:rPr lang="en-US" altLang="zh-CN" dirty="0" err="1"/>
              <a:t>i</a:t>
            </a:r>
            <a:r>
              <a:rPr lang="en-US" altLang="zh-CN" dirty="0"/>
              <a:t> % j==0:</a:t>
            </a:r>
          </a:p>
          <a:p>
            <a:pPr marL="0" indent="0">
              <a:buNone/>
            </a:pPr>
            <a:r>
              <a:rPr lang="en-US" altLang="zh-CN" dirty="0"/>
              <a:t>            break</a:t>
            </a:r>
          </a:p>
          <a:p>
            <a:pPr marL="0" indent="0">
              <a:buNone/>
            </a:pPr>
            <a:r>
              <a:rPr lang="en-US" altLang="zh-CN" dirty="0"/>
              <a:t>    else: 			# </a:t>
            </a:r>
            <a:r>
              <a:rPr lang="en-US" altLang="zh-CN" dirty="0" err="1"/>
              <a:t>i</a:t>
            </a:r>
            <a:r>
              <a:rPr lang="zh-CN" altLang="en-US" dirty="0"/>
              <a:t>是质数</a:t>
            </a:r>
          </a:p>
          <a:p>
            <a:pPr marL="0" indent="0">
              <a:buNone/>
            </a:pPr>
            <a:r>
              <a:rPr lang="zh-CN" altLang="en-US" dirty="0"/>
              <a:t>        </a:t>
            </a:r>
            <a:r>
              <a:rPr lang="en-US" altLang="zh-CN" dirty="0"/>
              <a:t>flag = True</a:t>
            </a:r>
          </a:p>
          <a:p>
            <a:pPr marL="0" indent="0">
              <a:buNone/>
            </a:pPr>
            <a:r>
              <a:rPr lang="en-US" altLang="zh-CN" dirty="0"/>
              <a:t>        count +=1</a:t>
            </a:r>
          </a:p>
          <a:p>
            <a:pPr marL="0" indent="0">
              <a:buNone/>
            </a:pPr>
            <a:r>
              <a:rPr lang="en-US" altLang="zh-CN" dirty="0"/>
              <a:t>    if flag==True and count==n:</a:t>
            </a:r>
          </a:p>
          <a:p>
            <a:pPr marL="0" indent="0">
              <a:buNone/>
            </a:pPr>
            <a:r>
              <a:rPr lang="en-US" altLang="zh-CN" dirty="0"/>
              <a:t>        print('</a:t>
            </a:r>
            <a:r>
              <a:rPr lang="zh-CN" altLang="en-US" dirty="0"/>
              <a:t>比</a:t>
            </a:r>
            <a:r>
              <a:rPr lang="en-US" altLang="zh-CN" dirty="0"/>
              <a:t>{0}</a:t>
            </a:r>
            <a:r>
              <a:rPr lang="zh-CN" altLang="en-US" dirty="0"/>
              <a:t>小的第</a:t>
            </a:r>
            <a:r>
              <a:rPr lang="en-US" altLang="zh-CN" dirty="0"/>
              <a:t>{1}</a:t>
            </a:r>
            <a:r>
              <a:rPr lang="zh-CN" altLang="en-US" dirty="0"/>
              <a:t>个质数是</a:t>
            </a:r>
            <a:r>
              <a:rPr lang="en-US" altLang="zh-CN" dirty="0"/>
              <a:t>{2}'.format(</a:t>
            </a:r>
            <a:r>
              <a:rPr lang="en-US" altLang="zh-CN" dirty="0" err="1"/>
              <a:t>x,n,i</a:t>
            </a:r>
            <a:r>
              <a:rPr lang="en-US" altLang="zh-CN" dirty="0"/>
              <a:t>))</a:t>
            </a:r>
          </a:p>
          <a:p>
            <a:pPr marL="0" indent="0">
              <a:buNone/>
            </a:pPr>
            <a:r>
              <a:rPr lang="en-US" altLang="zh-CN" dirty="0"/>
              <a:t>        break</a:t>
            </a:r>
          </a:p>
          <a:p>
            <a:pPr marL="0" indent="0">
              <a:buNone/>
            </a:pPr>
            <a:r>
              <a:rPr lang="en-US" altLang="zh-CN" dirty="0"/>
              <a:t>else:</a:t>
            </a:r>
          </a:p>
          <a:p>
            <a:pPr marL="0" indent="0">
              <a:buNone/>
            </a:pPr>
            <a:r>
              <a:rPr lang="en-US" altLang="zh-CN" dirty="0"/>
              <a:t>    print('</a:t>
            </a:r>
            <a:r>
              <a:rPr lang="zh-CN" altLang="en-US" dirty="0"/>
              <a:t>没有找到！</a:t>
            </a:r>
            <a:r>
              <a:rPr lang="en-US" altLang="zh-CN" dirty="0"/>
              <a:t>')</a:t>
            </a:r>
          </a:p>
        </p:txBody>
      </p:sp>
      <p:sp>
        <p:nvSpPr>
          <p:cNvPr id="4" name="灯片编号占位符 3">
            <a:extLst>
              <a:ext uri="{FF2B5EF4-FFF2-40B4-BE49-F238E27FC236}">
                <a16:creationId xmlns:a16="http://schemas.microsoft.com/office/drawing/2014/main" id="{37B7F5EA-EAB5-47F7-A699-87F61C2EAED3}"/>
              </a:ext>
            </a:extLst>
          </p:cNvPr>
          <p:cNvSpPr>
            <a:spLocks noGrp="1"/>
          </p:cNvSpPr>
          <p:nvPr>
            <p:ph type="sldNum" sz="quarter" idx="12"/>
          </p:nvPr>
        </p:nvSpPr>
        <p:spPr/>
        <p:txBody>
          <a:bodyPr/>
          <a:lstStyle/>
          <a:p>
            <a:fld id="{49AE70B2-8BF9-45C0-BB95-33D1B9D3A854}" type="slidenum">
              <a:rPr lang="zh-CN" altLang="en-US" smtClean="0"/>
              <a:pPr/>
              <a:t>73</a:t>
            </a:fld>
            <a:endParaRPr lang="zh-CN" altLang="en-US" dirty="0"/>
          </a:p>
        </p:txBody>
      </p:sp>
    </p:spTree>
    <p:extLst>
      <p:ext uri="{BB962C8B-B14F-4D97-AF65-F5344CB8AC3E}">
        <p14:creationId xmlns:p14="http://schemas.microsoft.com/office/powerpoint/2010/main" val="26719940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74</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altLang="zh-CN" dirty="0"/>
              <a:t>====</a:t>
            </a:r>
          </a:p>
          <a:p>
            <a:pPr marL="0" indent="0">
              <a:buNone/>
            </a:pPr>
            <a:r>
              <a:rPr lang="zh-CN" altLang="en-US" dirty="0"/>
              <a:t>大鱼</a:t>
            </a:r>
            <a:r>
              <a:rPr lang="en-US" altLang="zh-CN" dirty="0"/>
              <a:t>0</a:t>
            </a:r>
            <a:r>
              <a:rPr lang="zh-CN" altLang="en-US" dirty="0"/>
              <a:t>条，中鱼</a:t>
            </a:r>
            <a:r>
              <a:rPr lang="en-US" altLang="zh-CN" dirty="0"/>
              <a:t>25</a:t>
            </a:r>
            <a:r>
              <a:rPr lang="zh-CN" altLang="en-US" dirty="0"/>
              <a:t>条，小鱼</a:t>
            </a:r>
            <a:r>
              <a:rPr lang="en-US" altLang="zh-CN" dirty="0"/>
              <a:t>75</a:t>
            </a:r>
            <a:r>
              <a:rPr lang="zh-CN" altLang="en-US" dirty="0"/>
              <a:t>条</a:t>
            </a:r>
          </a:p>
          <a:p>
            <a:pPr marL="0" indent="0">
              <a:buNone/>
            </a:pPr>
            <a:r>
              <a:rPr lang="zh-CN" altLang="en-US" dirty="0"/>
              <a:t>大鱼</a:t>
            </a:r>
            <a:r>
              <a:rPr lang="en-US" altLang="zh-CN" dirty="0"/>
              <a:t>4</a:t>
            </a:r>
            <a:r>
              <a:rPr lang="zh-CN" altLang="en-US" dirty="0"/>
              <a:t>条，中鱼</a:t>
            </a:r>
            <a:r>
              <a:rPr lang="en-US" altLang="zh-CN" dirty="0"/>
              <a:t>18</a:t>
            </a:r>
            <a:r>
              <a:rPr lang="zh-CN" altLang="en-US" dirty="0"/>
              <a:t>条，小鱼</a:t>
            </a:r>
            <a:r>
              <a:rPr lang="en-US" altLang="zh-CN" dirty="0"/>
              <a:t>78</a:t>
            </a:r>
            <a:r>
              <a:rPr lang="zh-CN" altLang="en-US" dirty="0"/>
              <a:t>条</a:t>
            </a:r>
          </a:p>
          <a:p>
            <a:pPr marL="0" indent="0">
              <a:buNone/>
            </a:pPr>
            <a:r>
              <a:rPr lang="zh-CN" altLang="en-US" dirty="0"/>
              <a:t>大鱼</a:t>
            </a:r>
            <a:r>
              <a:rPr lang="en-US" altLang="zh-CN" dirty="0"/>
              <a:t>8</a:t>
            </a:r>
            <a:r>
              <a:rPr lang="zh-CN" altLang="en-US" dirty="0"/>
              <a:t>条，中鱼</a:t>
            </a:r>
            <a:r>
              <a:rPr lang="en-US" altLang="zh-CN" dirty="0"/>
              <a:t>11</a:t>
            </a:r>
            <a:r>
              <a:rPr lang="zh-CN" altLang="en-US" dirty="0"/>
              <a:t>条，小鱼</a:t>
            </a:r>
            <a:r>
              <a:rPr lang="en-US" altLang="zh-CN" dirty="0"/>
              <a:t>81</a:t>
            </a:r>
            <a:r>
              <a:rPr lang="zh-CN" altLang="en-US" dirty="0"/>
              <a:t>条</a:t>
            </a:r>
          </a:p>
          <a:p>
            <a:pPr marL="0" indent="0">
              <a:buNone/>
            </a:pPr>
            <a:r>
              <a:rPr lang="zh-CN" altLang="en-US" dirty="0"/>
              <a:t>大鱼</a:t>
            </a:r>
            <a:r>
              <a:rPr lang="en-US" altLang="zh-CN" dirty="0"/>
              <a:t>12</a:t>
            </a:r>
            <a:r>
              <a:rPr lang="zh-CN" altLang="en-US" dirty="0"/>
              <a:t>条，中鱼</a:t>
            </a:r>
            <a:r>
              <a:rPr lang="en-US" altLang="zh-CN" dirty="0"/>
              <a:t>4</a:t>
            </a:r>
            <a:r>
              <a:rPr lang="zh-CN" altLang="en-US" dirty="0"/>
              <a:t>条，小鱼</a:t>
            </a:r>
            <a:r>
              <a:rPr lang="en-US" altLang="zh-CN" dirty="0"/>
              <a:t>84</a:t>
            </a:r>
            <a:r>
              <a:rPr lang="zh-CN" altLang="en-US" dirty="0"/>
              <a:t>条</a:t>
            </a:r>
          </a:p>
          <a:p>
            <a:pPr marL="0" indent="0">
              <a:buNone/>
            </a:pPr>
            <a:r>
              <a:rPr lang="en-US" altLang="zh-CN" dirty="0"/>
              <a:t>&gt;&gt;&gt; </a:t>
            </a:r>
          </a:p>
        </p:txBody>
      </p:sp>
      <p:pic>
        <p:nvPicPr>
          <p:cNvPr id="5" name="内容占位符 4">
            <a:extLst>
              <a:ext uri="{FF2B5EF4-FFF2-40B4-BE49-F238E27FC236}">
                <a16:creationId xmlns:a16="http://schemas.microsoft.com/office/drawing/2014/main" id="{DA4DA737-F234-44C4-ACF7-D16C612C31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328" y="188639"/>
            <a:ext cx="12144672" cy="1117533"/>
          </a:xfrm>
        </p:spPr>
      </p:pic>
      <p:sp>
        <p:nvSpPr>
          <p:cNvPr id="2" name="文本框 1">
            <a:extLst>
              <a:ext uri="{FF2B5EF4-FFF2-40B4-BE49-F238E27FC236}">
                <a16:creationId xmlns:a16="http://schemas.microsoft.com/office/drawing/2014/main" id="{54F12A28-E7B5-36D2-A865-384E1D6F0DBD}"/>
              </a:ext>
            </a:extLst>
          </p:cNvPr>
          <p:cNvSpPr txBox="1"/>
          <p:nvPr/>
        </p:nvSpPr>
        <p:spPr>
          <a:xfrm>
            <a:off x="214560" y="292586"/>
            <a:ext cx="6097464" cy="400110"/>
          </a:xfrm>
          <a:prstGeom prst="rect">
            <a:avLst/>
          </a:prstGeom>
          <a:noFill/>
        </p:spPr>
        <p:txBody>
          <a:bodyPr wrap="square">
            <a:spAutoFit/>
          </a:bodyPr>
          <a:lstStyle/>
          <a:p>
            <a:r>
              <a:rPr lang="en-US" altLang="zh-CN" sz="2000" dirty="0"/>
              <a:t>ok</a:t>
            </a:r>
            <a:endParaRPr lang="zh-CN" altLang="en-US" sz="2000" dirty="0"/>
          </a:p>
        </p:txBody>
      </p:sp>
    </p:spTree>
    <p:extLst>
      <p:ext uri="{BB962C8B-B14F-4D97-AF65-F5344CB8AC3E}">
        <p14:creationId xmlns:p14="http://schemas.microsoft.com/office/powerpoint/2010/main" val="11415222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434491-990F-483F-B97C-5B61427F2CA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96E329A-9F98-4CD6-AC22-195FB86CEE41}"/>
              </a:ext>
            </a:extLst>
          </p:cNvPr>
          <p:cNvSpPr>
            <a:spLocks noGrp="1"/>
          </p:cNvSpPr>
          <p:nvPr>
            <p:ph idx="1"/>
          </p:nvPr>
        </p:nvSpPr>
        <p:spPr>
          <a:xfrm>
            <a:off x="209982" y="1412776"/>
            <a:ext cx="11797570" cy="4668535"/>
          </a:xfrm>
        </p:spPr>
        <p:txBody>
          <a:bodyPr>
            <a:normAutofit/>
          </a:bodyPr>
          <a:lstStyle/>
          <a:p>
            <a:pPr marL="0" indent="0">
              <a:buNone/>
            </a:pPr>
            <a:r>
              <a:rPr lang="en-US" altLang="zh-CN" dirty="0"/>
              <a:t>for big in range</a:t>
            </a:r>
            <a:r>
              <a:rPr lang="en-US" altLang="zh-CN"/>
              <a:t>(0,100//5+1):   </a:t>
            </a:r>
            <a:r>
              <a:rPr lang="en-US" altLang="zh-CN" dirty="0"/>
              <a:t>#big</a:t>
            </a:r>
            <a:r>
              <a:rPr lang="zh-CN" altLang="en-US" dirty="0"/>
              <a:t>大鱼，</a:t>
            </a:r>
            <a:r>
              <a:rPr lang="en-US" altLang="zh-CN" dirty="0"/>
              <a:t>100/5=2.0</a:t>
            </a:r>
          </a:p>
          <a:p>
            <a:pPr marL="0" indent="0">
              <a:buNone/>
            </a:pPr>
            <a:r>
              <a:rPr lang="en-US" altLang="zh-CN" dirty="0"/>
              <a:t>    up = (100-5*big)//3 +1			#</a:t>
            </a:r>
            <a:r>
              <a:rPr lang="zh-CN" altLang="en-US" dirty="0"/>
              <a:t>中鱼上限</a:t>
            </a:r>
            <a:r>
              <a:rPr lang="en-US" altLang="zh-CN" dirty="0"/>
              <a:t>+1</a:t>
            </a:r>
          </a:p>
          <a:p>
            <a:pPr marL="0" indent="0">
              <a:buNone/>
            </a:pPr>
            <a:r>
              <a:rPr lang="en-US" altLang="zh-CN" dirty="0"/>
              <a:t>    for mid in range(0,up):		#mid</a:t>
            </a:r>
            <a:r>
              <a:rPr lang="zh-CN" altLang="en-US" dirty="0"/>
              <a:t>中鱼</a:t>
            </a:r>
            <a:endParaRPr lang="en-US" altLang="zh-CN" dirty="0"/>
          </a:p>
          <a:p>
            <a:pPr marL="0" indent="0">
              <a:buNone/>
            </a:pPr>
            <a:r>
              <a:rPr lang="en-US" altLang="zh-CN" dirty="0"/>
              <a:t>        small = (100-big*5-mid*3)*3	#</a:t>
            </a:r>
            <a:r>
              <a:rPr lang="zh-CN" altLang="en-US" dirty="0"/>
              <a:t>小鱼</a:t>
            </a:r>
            <a:endParaRPr lang="en-US" altLang="zh-CN" dirty="0"/>
          </a:p>
          <a:p>
            <a:pPr marL="0" indent="0">
              <a:buNone/>
            </a:pPr>
            <a:r>
              <a:rPr lang="en-US" altLang="zh-CN" dirty="0"/>
              <a:t>        if </a:t>
            </a:r>
            <a:r>
              <a:rPr lang="en-US" altLang="zh-CN" dirty="0" err="1"/>
              <a:t>big+mid+small</a:t>
            </a:r>
            <a:r>
              <a:rPr lang="en-US" altLang="zh-CN" dirty="0"/>
              <a:t> == 100:</a:t>
            </a:r>
          </a:p>
          <a:p>
            <a:pPr marL="0" indent="0">
              <a:buNone/>
            </a:pPr>
            <a:r>
              <a:rPr lang="en-US" altLang="zh-CN" dirty="0"/>
              <a:t>            print('</a:t>
            </a:r>
            <a:r>
              <a:rPr lang="zh-CN" altLang="en-US" dirty="0"/>
              <a:t>大鱼</a:t>
            </a:r>
            <a:r>
              <a:rPr lang="en-US" altLang="zh-CN" dirty="0"/>
              <a:t>{0}</a:t>
            </a:r>
            <a:r>
              <a:rPr lang="zh-CN" altLang="en-US" dirty="0"/>
              <a:t>条，中鱼</a:t>
            </a:r>
            <a:r>
              <a:rPr lang="en-US" altLang="zh-CN" dirty="0"/>
              <a:t>{1}</a:t>
            </a:r>
            <a:r>
              <a:rPr lang="zh-CN" altLang="en-US" dirty="0"/>
              <a:t>条，小鱼</a:t>
            </a:r>
            <a:r>
              <a:rPr lang="en-US" altLang="zh-CN" dirty="0"/>
              <a:t>{2}</a:t>
            </a:r>
            <a:r>
              <a:rPr lang="zh-CN" altLang="en-US" dirty="0"/>
              <a:t>条</a:t>
            </a:r>
            <a:r>
              <a:rPr lang="en-US" altLang="zh-CN" dirty="0"/>
              <a:t>'.format(</a:t>
            </a:r>
            <a:r>
              <a:rPr lang="en-US" altLang="zh-CN" dirty="0" err="1"/>
              <a:t>big,mid,small</a:t>
            </a: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07163A00-42E8-496E-9B9C-0D31743A3E55}"/>
              </a:ext>
            </a:extLst>
          </p:cNvPr>
          <p:cNvSpPr>
            <a:spLocks noGrp="1"/>
          </p:cNvSpPr>
          <p:nvPr>
            <p:ph type="sldNum" sz="quarter" idx="12"/>
          </p:nvPr>
        </p:nvSpPr>
        <p:spPr/>
        <p:txBody>
          <a:bodyPr/>
          <a:lstStyle/>
          <a:p>
            <a:fld id="{49AE70B2-8BF9-45C0-BB95-33D1B9D3A854}" type="slidenum">
              <a:rPr lang="zh-CN" altLang="en-US" smtClean="0"/>
              <a:pPr/>
              <a:t>75</a:t>
            </a:fld>
            <a:endParaRPr lang="zh-CN" altLang="en-US" dirty="0"/>
          </a:p>
        </p:txBody>
      </p:sp>
    </p:spTree>
    <p:extLst>
      <p:ext uri="{BB962C8B-B14F-4D97-AF65-F5344CB8AC3E}">
        <p14:creationId xmlns:p14="http://schemas.microsoft.com/office/powerpoint/2010/main" val="17153531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9780108-9FC9-4AD1-9114-F843371C3ECD}"/>
              </a:ext>
            </a:extLst>
          </p:cNvPr>
          <p:cNvSpPr>
            <a:spLocks noGrp="1"/>
          </p:cNvSpPr>
          <p:nvPr>
            <p:ph type="sldNum" sz="quarter" idx="12"/>
          </p:nvPr>
        </p:nvSpPr>
        <p:spPr/>
        <p:txBody>
          <a:bodyPr/>
          <a:lstStyle/>
          <a:p>
            <a:fld id="{49AE70B2-8BF9-45C0-BB95-33D1B9D3A854}" type="slidenum">
              <a:rPr lang="zh-CN" altLang="en-US" smtClean="0"/>
              <a:pPr/>
              <a:t>76</a:t>
            </a:fld>
            <a:endParaRPr lang="zh-CN" altLang="en-US"/>
          </a:p>
        </p:txBody>
      </p:sp>
      <p:sp>
        <p:nvSpPr>
          <p:cNvPr id="7" name="内容占位符 2">
            <a:extLst>
              <a:ext uri="{FF2B5EF4-FFF2-40B4-BE49-F238E27FC236}">
                <a16:creationId xmlns:a16="http://schemas.microsoft.com/office/drawing/2014/main" id="{0BCFF85F-9B15-4846-882D-9134967CB1EE}"/>
              </a:ext>
            </a:extLst>
          </p:cNvPr>
          <p:cNvSpPr txBox="1">
            <a:spLocks/>
          </p:cNvSpPr>
          <p:nvPr/>
        </p:nvSpPr>
        <p:spPr>
          <a:xfrm>
            <a:off x="209982" y="1412776"/>
            <a:ext cx="11296218" cy="46685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70000"/>
              <a:buFont typeface="Wingdings" panose="05000000000000000000" pitchFamily="2" charset="2"/>
              <a:buChar char="p"/>
              <a:defRPr sz="3200" b="1"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altLang="zh-CN" dirty="0"/>
              <a:t>=====</a:t>
            </a:r>
          </a:p>
          <a:p>
            <a:pPr marL="0" indent="0">
              <a:buNone/>
            </a:pPr>
            <a:r>
              <a:rPr lang="zh-CN" altLang="en-US" dirty="0"/>
              <a:t>共有</a:t>
            </a:r>
            <a:r>
              <a:rPr lang="en-US" altLang="zh-CN" dirty="0"/>
              <a:t>541</a:t>
            </a:r>
            <a:r>
              <a:rPr lang="zh-CN" altLang="en-US" dirty="0"/>
              <a:t>种兑换方案</a:t>
            </a:r>
          </a:p>
          <a:p>
            <a:pPr marL="0" indent="0">
              <a:buNone/>
            </a:pPr>
            <a:endParaRPr lang="en-US" altLang="zh-CN" dirty="0"/>
          </a:p>
        </p:txBody>
      </p:sp>
      <p:pic>
        <p:nvPicPr>
          <p:cNvPr id="5" name="内容占位符 4">
            <a:extLst>
              <a:ext uri="{FF2B5EF4-FFF2-40B4-BE49-F238E27FC236}">
                <a16:creationId xmlns:a16="http://schemas.microsoft.com/office/drawing/2014/main" id="{7D16EAD4-D00E-4204-90BE-FFB5E193DC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4264" y="224853"/>
            <a:ext cx="11593288" cy="588049"/>
          </a:xfrm>
        </p:spPr>
      </p:pic>
      <p:sp>
        <p:nvSpPr>
          <p:cNvPr id="2" name="文本框 1">
            <a:extLst>
              <a:ext uri="{FF2B5EF4-FFF2-40B4-BE49-F238E27FC236}">
                <a16:creationId xmlns:a16="http://schemas.microsoft.com/office/drawing/2014/main" id="{3785E05F-E5C9-CBCD-7DB7-4348B084659B}"/>
              </a:ext>
            </a:extLst>
          </p:cNvPr>
          <p:cNvSpPr txBox="1"/>
          <p:nvPr/>
        </p:nvSpPr>
        <p:spPr>
          <a:xfrm>
            <a:off x="-1464" y="292586"/>
            <a:ext cx="6097464" cy="400110"/>
          </a:xfrm>
          <a:prstGeom prst="rect">
            <a:avLst/>
          </a:prstGeom>
          <a:noFill/>
        </p:spPr>
        <p:txBody>
          <a:bodyPr wrap="square">
            <a:spAutoFit/>
          </a:bodyPr>
          <a:lstStyle/>
          <a:p>
            <a:r>
              <a:rPr lang="en-US" altLang="zh-CN" sz="2000" dirty="0"/>
              <a:t>ok</a:t>
            </a:r>
            <a:endParaRPr lang="zh-CN" altLang="en-US" sz="2000" dirty="0"/>
          </a:p>
        </p:txBody>
      </p:sp>
    </p:spTree>
    <p:extLst>
      <p:ext uri="{BB962C8B-B14F-4D97-AF65-F5344CB8AC3E}">
        <p14:creationId xmlns:p14="http://schemas.microsoft.com/office/powerpoint/2010/main" val="1602797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D2B72A-2FFD-4CE9-80B4-707B6DD29E84}"/>
              </a:ext>
            </a:extLst>
          </p:cNvPr>
          <p:cNvSpPr>
            <a:spLocks noGrp="1"/>
          </p:cNvSpPr>
          <p:nvPr>
            <p:ph type="title"/>
          </p:nvPr>
        </p:nvSpPr>
        <p:spPr/>
        <p:txBody>
          <a:bodyPr/>
          <a:lstStyle/>
          <a:p>
            <a:r>
              <a:rPr lang="zh-CN" altLang="en-US" dirty="0"/>
              <a:t>问题在哪？</a:t>
            </a:r>
          </a:p>
        </p:txBody>
      </p:sp>
      <p:pic>
        <p:nvPicPr>
          <p:cNvPr id="6" name="内容占位符 5">
            <a:extLst>
              <a:ext uri="{FF2B5EF4-FFF2-40B4-BE49-F238E27FC236}">
                <a16:creationId xmlns:a16="http://schemas.microsoft.com/office/drawing/2014/main" id="{1224257B-349C-4DDD-8992-340F78B74D07}"/>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30000" contrast="40000"/>
                    </a14:imgEffect>
                  </a14:imgLayer>
                </a14:imgProps>
              </a:ext>
              <a:ext uri="{28A0092B-C50C-407E-A947-70E740481C1C}">
                <a14:useLocalDpi xmlns:a14="http://schemas.microsoft.com/office/drawing/2010/main" val="0"/>
              </a:ext>
            </a:extLst>
          </a:blip>
          <a:stretch>
            <a:fillRect/>
          </a:stretch>
        </p:blipFill>
        <p:spPr>
          <a:xfrm>
            <a:off x="479376" y="1268760"/>
            <a:ext cx="8664691" cy="4176122"/>
          </a:xfrm>
        </p:spPr>
      </p:pic>
      <p:sp>
        <p:nvSpPr>
          <p:cNvPr id="4" name="灯片编号占位符 3">
            <a:extLst>
              <a:ext uri="{FF2B5EF4-FFF2-40B4-BE49-F238E27FC236}">
                <a16:creationId xmlns:a16="http://schemas.microsoft.com/office/drawing/2014/main" id="{E4D00C45-FF9F-47E2-8A9C-2460D2A5BB3E}"/>
              </a:ext>
            </a:extLst>
          </p:cNvPr>
          <p:cNvSpPr>
            <a:spLocks noGrp="1"/>
          </p:cNvSpPr>
          <p:nvPr>
            <p:ph type="sldNum" sz="quarter" idx="12"/>
          </p:nvPr>
        </p:nvSpPr>
        <p:spPr/>
        <p:txBody>
          <a:bodyPr/>
          <a:lstStyle/>
          <a:p>
            <a:fld id="{49AE70B2-8BF9-45C0-BB95-33D1B9D3A854}" type="slidenum">
              <a:rPr lang="zh-CN" altLang="en-US" smtClean="0"/>
              <a:pPr/>
              <a:t>77</a:t>
            </a:fld>
            <a:endParaRPr lang="zh-CN" altLang="en-US" dirty="0"/>
          </a:p>
        </p:txBody>
      </p:sp>
    </p:spTree>
    <p:extLst>
      <p:ext uri="{BB962C8B-B14F-4D97-AF65-F5344CB8AC3E}">
        <p14:creationId xmlns:p14="http://schemas.microsoft.com/office/powerpoint/2010/main" val="10816233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F0E2F-38C2-4C0E-A3FE-E06F69D2E3B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4EDA06A-5DD7-4CA4-9727-73847F58F3C1}"/>
              </a:ext>
            </a:extLst>
          </p:cNvPr>
          <p:cNvSpPr>
            <a:spLocks noGrp="1"/>
          </p:cNvSpPr>
          <p:nvPr>
            <p:ph idx="1"/>
          </p:nvPr>
        </p:nvSpPr>
        <p:spPr/>
        <p:txBody>
          <a:bodyPr/>
          <a:lstStyle/>
          <a:p>
            <a:pPr marL="0" indent="0">
              <a:buNone/>
            </a:pPr>
            <a:r>
              <a:rPr lang="en-US" altLang="zh-CN" dirty="0"/>
              <a:t>count = 0</a:t>
            </a:r>
          </a:p>
          <a:p>
            <a:pPr marL="0" indent="0">
              <a:buNone/>
            </a:pPr>
            <a:r>
              <a:rPr lang="en-US" altLang="zh-CN" dirty="0"/>
              <a:t>for i5 in range(0,100//5+1):  #i5</a:t>
            </a:r>
            <a:r>
              <a:rPr lang="zh-CN" altLang="en-US" dirty="0"/>
              <a:t>是</a:t>
            </a:r>
            <a:r>
              <a:rPr lang="en-US" altLang="zh-CN" dirty="0"/>
              <a:t>5</a:t>
            </a:r>
            <a:r>
              <a:rPr lang="zh-CN" altLang="en-US" dirty="0"/>
              <a:t>元的张数</a:t>
            </a:r>
          </a:p>
          <a:p>
            <a:pPr marL="0" indent="0">
              <a:buNone/>
            </a:pPr>
            <a:r>
              <a:rPr lang="zh-CN" altLang="en-US" dirty="0"/>
              <a:t>    </a:t>
            </a:r>
            <a:r>
              <a:rPr lang="en-US" altLang="zh-CN" dirty="0"/>
              <a:t>up2 = (100-5*i5)//2+1   #up2</a:t>
            </a:r>
            <a:r>
              <a:rPr lang="zh-CN" altLang="en-US" dirty="0"/>
              <a:t>是最多能低缓多少张</a:t>
            </a:r>
            <a:r>
              <a:rPr lang="en-US" altLang="zh-CN" dirty="0"/>
              <a:t>2</a:t>
            </a:r>
            <a:r>
              <a:rPr lang="zh-CN" altLang="en-US" dirty="0"/>
              <a:t>元</a:t>
            </a:r>
          </a:p>
          <a:p>
            <a:pPr marL="0" indent="0">
              <a:buNone/>
            </a:pPr>
            <a:r>
              <a:rPr lang="zh-CN" altLang="en-US" dirty="0"/>
              <a:t>    </a:t>
            </a:r>
            <a:r>
              <a:rPr lang="en-US" altLang="zh-CN" dirty="0"/>
              <a:t>for i2 in range(0,up2):</a:t>
            </a:r>
          </a:p>
          <a:p>
            <a:pPr marL="0" indent="0">
              <a:buNone/>
            </a:pPr>
            <a:r>
              <a:rPr lang="en-US" altLang="zh-CN" dirty="0"/>
              <a:t>        count +=1</a:t>
            </a:r>
          </a:p>
          <a:p>
            <a:pPr marL="0" indent="0">
              <a:buNone/>
            </a:pPr>
            <a:r>
              <a:rPr lang="en-US" altLang="zh-CN" dirty="0"/>
              <a:t>print('</a:t>
            </a:r>
            <a:r>
              <a:rPr lang="zh-CN" altLang="en-US" dirty="0"/>
              <a:t>共有</a:t>
            </a:r>
            <a:r>
              <a:rPr lang="en-US" altLang="zh-CN" dirty="0"/>
              <a:t>%d</a:t>
            </a:r>
            <a:r>
              <a:rPr lang="zh-CN" altLang="en-US" dirty="0"/>
              <a:t>种兑换方案</a:t>
            </a:r>
            <a:r>
              <a:rPr lang="en-US" altLang="zh-CN" dirty="0"/>
              <a:t>'%count)</a:t>
            </a:r>
          </a:p>
          <a:p>
            <a:pPr marL="0" indent="0">
              <a:buNone/>
            </a:pPr>
            <a:endParaRPr lang="zh-CN" altLang="en-US" dirty="0"/>
          </a:p>
        </p:txBody>
      </p:sp>
      <p:sp>
        <p:nvSpPr>
          <p:cNvPr id="4" name="灯片编号占位符 3">
            <a:extLst>
              <a:ext uri="{FF2B5EF4-FFF2-40B4-BE49-F238E27FC236}">
                <a16:creationId xmlns:a16="http://schemas.microsoft.com/office/drawing/2014/main" id="{73B881B8-761A-4E90-B0D4-CF94058CAB90}"/>
              </a:ext>
            </a:extLst>
          </p:cNvPr>
          <p:cNvSpPr>
            <a:spLocks noGrp="1"/>
          </p:cNvSpPr>
          <p:nvPr>
            <p:ph type="sldNum" sz="quarter" idx="12"/>
          </p:nvPr>
        </p:nvSpPr>
        <p:spPr/>
        <p:txBody>
          <a:bodyPr/>
          <a:lstStyle/>
          <a:p>
            <a:fld id="{49AE70B2-8BF9-45C0-BB95-33D1B9D3A854}" type="slidenum">
              <a:rPr lang="zh-CN" altLang="en-US" smtClean="0"/>
              <a:pPr/>
              <a:t>78</a:t>
            </a:fld>
            <a:endParaRPr lang="zh-CN" altLang="en-US" dirty="0"/>
          </a:p>
        </p:txBody>
      </p:sp>
    </p:spTree>
    <p:extLst>
      <p:ext uri="{BB962C8B-B14F-4D97-AF65-F5344CB8AC3E}">
        <p14:creationId xmlns:p14="http://schemas.microsoft.com/office/powerpoint/2010/main" val="22078295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EFCEB-AE0E-4249-B0EE-80B459D73B3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FBC52A9-5A62-4ECF-B774-765D85121FDD}"/>
              </a:ext>
            </a:extLst>
          </p:cNvPr>
          <p:cNvSpPr>
            <a:spLocks noGrp="1"/>
          </p:cNvSpPr>
          <p:nvPr>
            <p:ph idx="1"/>
          </p:nvPr>
        </p:nvSpPr>
        <p:spPr/>
        <p:txBody>
          <a:bodyPr/>
          <a:lstStyle/>
          <a:p>
            <a:r>
              <a:rPr lang="zh-CN" altLang="en-US" dirty="0"/>
              <a:t>算法改进：</a:t>
            </a:r>
            <a:endParaRPr lang="en-US" altLang="zh-CN" dirty="0"/>
          </a:p>
          <a:p>
            <a:pPr marL="0" indent="0">
              <a:buNone/>
            </a:pPr>
            <a:r>
              <a:rPr lang="en-US" altLang="zh-CN" dirty="0"/>
              <a:t>count = 0</a:t>
            </a:r>
          </a:p>
          <a:p>
            <a:pPr marL="0" indent="0">
              <a:buNone/>
            </a:pPr>
            <a:r>
              <a:rPr lang="en-US" altLang="zh-CN" dirty="0"/>
              <a:t>for i5 in range(0,100//5+1):  #is</a:t>
            </a:r>
            <a:r>
              <a:rPr lang="zh-CN" altLang="en-US" dirty="0"/>
              <a:t>是</a:t>
            </a:r>
            <a:r>
              <a:rPr lang="en-US" altLang="zh-CN" dirty="0"/>
              <a:t>5</a:t>
            </a:r>
            <a:r>
              <a:rPr lang="zh-CN" altLang="en-US" dirty="0"/>
              <a:t>元的张书</a:t>
            </a:r>
          </a:p>
          <a:p>
            <a:pPr marL="0" indent="0">
              <a:buNone/>
            </a:pPr>
            <a:r>
              <a:rPr lang="zh-CN" altLang="en-US" dirty="0"/>
              <a:t>    </a:t>
            </a:r>
            <a:r>
              <a:rPr lang="en-US" altLang="zh-CN" dirty="0"/>
              <a:t>up2 = (100-5*i5)//2   #up2</a:t>
            </a:r>
            <a:r>
              <a:rPr lang="zh-CN" altLang="en-US" dirty="0"/>
              <a:t>是最多能低缓多少张</a:t>
            </a:r>
            <a:r>
              <a:rPr lang="en-US" altLang="zh-CN" dirty="0"/>
              <a:t>2</a:t>
            </a:r>
            <a:r>
              <a:rPr lang="zh-CN" altLang="en-US" dirty="0"/>
              <a:t>元</a:t>
            </a:r>
          </a:p>
          <a:p>
            <a:pPr marL="0" indent="0">
              <a:buNone/>
            </a:pPr>
            <a:r>
              <a:rPr lang="zh-CN" altLang="en-US" dirty="0"/>
              <a:t>    </a:t>
            </a:r>
            <a:r>
              <a:rPr lang="en-US" altLang="zh-CN" dirty="0"/>
              <a:t>count = count + up2 +1</a:t>
            </a:r>
          </a:p>
          <a:p>
            <a:pPr marL="0" indent="0">
              <a:buNone/>
            </a:pPr>
            <a:r>
              <a:rPr lang="en-US" altLang="zh-CN" dirty="0"/>
              <a:t>print('</a:t>
            </a:r>
            <a:r>
              <a:rPr lang="zh-CN" altLang="en-US" dirty="0"/>
              <a:t>共有</a:t>
            </a:r>
            <a:r>
              <a:rPr lang="en-US" altLang="zh-CN" dirty="0"/>
              <a:t>%d</a:t>
            </a:r>
            <a:r>
              <a:rPr lang="zh-CN" altLang="en-US" dirty="0"/>
              <a:t>种兑换方案</a:t>
            </a:r>
            <a:r>
              <a:rPr lang="en-US" altLang="zh-CN" dirty="0"/>
              <a:t>'%count)</a:t>
            </a:r>
          </a:p>
          <a:p>
            <a:pPr marL="0" indent="0">
              <a:buNone/>
            </a:pPr>
            <a:endParaRPr lang="zh-CN" altLang="en-US" dirty="0"/>
          </a:p>
        </p:txBody>
      </p:sp>
      <p:sp>
        <p:nvSpPr>
          <p:cNvPr id="4" name="灯片编号占位符 3">
            <a:extLst>
              <a:ext uri="{FF2B5EF4-FFF2-40B4-BE49-F238E27FC236}">
                <a16:creationId xmlns:a16="http://schemas.microsoft.com/office/drawing/2014/main" id="{6BA99D93-50F0-42A6-AEAC-352BC880CF6B}"/>
              </a:ext>
            </a:extLst>
          </p:cNvPr>
          <p:cNvSpPr>
            <a:spLocks noGrp="1"/>
          </p:cNvSpPr>
          <p:nvPr>
            <p:ph type="sldNum" sz="quarter" idx="12"/>
          </p:nvPr>
        </p:nvSpPr>
        <p:spPr/>
        <p:txBody>
          <a:bodyPr/>
          <a:lstStyle/>
          <a:p>
            <a:fld id="{49AE70B2-8BF9-45C0-BB95-33D1B9D3A854}" type="slidenum">
              <a:rPr lang="zh-CN" altLang="en-US" smtClean="0"/>
              <a:pPr/>
              <a:t>79</a:t>
            </a:fld>
            <a:endParaRPr lang="zh-CN" altLang="en-US" dirty="0"/>
          </a:p>
        </p:txBody>
      </p:sp>
    </p:spTree>
    <p:extLst>
      <p:ext uri="{BB962C8B-B14F-4D97-AF65-F5344CB8AC3E}">
        <p14:creationId xmlns:p14="http://schemas.microsoft.com/office/powerpoint/2010/main" val="17871299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4327525" y="1499870"/>
            <a:ext cx="3436620" cy="922020"/>
          </a:xfrm>
          <a:prstGeom prst="rect">
            <a:avLst/>
          </a:prstGeom>
          <a:noFill/>
        </p:spPr>
        <p:txBody>
          <a:bodyPr wrap="square" rtlCol="0">
            <a:normAutofit fontScale="67500" lnSpcReduction="20000"/>
          </a:bodyPr>
          <a:lstStyle/>
          <a:p>
            <a:pPr algn="dist"/>
            <a:r>
              <a:rPr lang="zh-CN" altLang="en-US" sz="5400" dirty="0">
                <a:solidFill>
                  <a:schemeClr val="accent1"/>
                </a:solidFill>
                <a:uFillTx/>
                <a:latin typeface="Arial" panose="020B0604020202020204" pitchFamily="34" charset="0"/>
                <a:ea typeface="微软雅黑" panose="020B0503020204020204" charset="-122"/>
                <a:cs typeface="Arial" panose="020B0604020202020204" pitchFamily="34" charset="0"/>
              </a:rPr>
              <a:t>清华大学出版社</a:t>
            </a:r>
          </a:p>
        </p:txBody>
      </p:sp>
      <p:sp>
        <p:nvSpPr>
          <p:cNvPr id="4" name="标题 3"/>
          <p:cNvSpPr>
            <a:spLocks noGrp="1"/>
          </p:cNvSpPr>
          <p:nvPr>
            <p:ph type="title"/>
            <p:custDataLst>
              <p:tags r:id="rId3"/>
            </p:custDataLst>
          </p:nvPr>
        </p:nvSpPr>
        <p:spPr/>
        <p:txBody>
          <a:bodyPr/>
          <a:lstStyle/>
          <a:p>
            <a:r>
              <a:rPr lang="zh-CN" altLang="en-US" dirty="0"/>
              <a:t>谢谢观赏</a:t>
            </a:r>
          </a:p>
        </p:txBody>
      </p:sp>
      <p:sp>
        <p:nvSpPr>
          <p:cNvPr id="2" name="灯片编号占位符 1">
            <a:extLst>
              <a:ext uri="{FF2B5EF4-FFF2-40B4-BE49-F238E27FC236}">
                <a16:creationId xmlns:a16="http://schemas.microsoft.com/office/drawing/2014/main" id="{5B3ED604-9AD9-4A15-839C-CF12B31A3443}"/>
              </a:ext>
            </a:extLst>
          </p:cNvPr>
          <p:cNvSpPr>
            <a:spLocks noGrp="1"/>
          </p:cNvSpPr>
          <p:nvPr>
            <p:ph type="sldNum" sz="quarter" idx="12"/>
          </p:nvPr>
        </p:nvSpPr>
        <p:spPr/>
        <p:txBody>
          <a:bodyPr/>
          <a:lstStyle/>
          <a:p>
            <a:fld id="{49AE70B2-8BF9-45C0-BB95-33D1B9D3A854}" type="slidenum">
              <a:rPr lang="zh-CN" altLang="en-US" smtClean="0"/>
              <a:t>80</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幻灯片 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1.0"/>
  <p:tag name="KSO_WM_BEAUTIFY_FLAG" val="#wm#"/>
  <p:tag name="KSO_WM_SLIDE_BACKGROUND_TYPE" val="topBottom"/>
  <p:tag name="KSO_WM_SLIDE_BK_DARK_LIGHT" val="2"/>
  <p:tag name="KSO_WM_UNIT_TYPE" val="i"/>
  <p:tag name="KSO_WM_UNIT_INDEX"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SLIDE_BACKGROUND_TYPE" val="general"/>
  <p:tag name="KSO_WM_SLIDE_BK_DARK_LIGHT" val="2"/>
  <p:tag name="KSO_WM_UNIT_TYPE" val="i"/>
  <p:tag name="KSO_WM_UNIT_INDEX"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SLIDE_BACKGROUND_TYPE" val="frame"/>
  <p:tag name="KSO_WM_SLIDE_BK_DARK_LIGHT" val="2"/>
  <p:tag name="KSO_WM_UNIT_TYPE" val="i"/>
  <p:tag name="KSO_WM_UNIT_INDEX"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leftRight"/>
  <p:tag name="KSO_WM_SLIDE_BK_DARK_LIGHT" val="2"/>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SLIDE_BACKGROUND_TYPE" val="leftRight"/>
  <p:tag name="KSO_WM_SLIDE_BK_DARK_LIGHT" val="2"/>
  <p:tag name="KSO_WM_UNIT_TYPE" val="i"/>
  <p:tag name="KSO_WM_UNIT_INDEX"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topBottom"/>
  <p:tag name="KSO_WM_SLIDE_BK_DARK_LIGHT" val="2"/>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SLIDE_BACKGROUND_TYPE" val="topBottom"/>
  <p:tag name="KSO_WM_SLIDE_BK_DARK_LIGHT" val="2"/>
  <p:tag name="KSO_WM_UNIT_TYPE" val="i"/>
  <p:tag name="KSO_WM_UNIT_INDEX"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 name="KSO_WM_SLIDE_BK_DARK_LIGHT" val="2"/>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bottomTop"/>
  <p:tag name="KSO_WM_SLIDE_BK_DARK_LIGHT" val="2"/>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1"/>
  <p:tag name="KSO_WM_SLIDE_BACKGROUND_TYPE" val="navigation"/>
  <p:tag name="KSO_WM_SLIDE_BK_DARK_LIGHT" val="2"/>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elt"/>
  <p:tag name="KSO_WM_SLIDE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2"/>
  <p:tag name="KSO_WM_UNIT_TYPE" val="i"/>
  <p:tag name="KSO_WM_UNIT_INDEX" val="1"/>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2"/>
  <p:tag name="KSO_WM_UNIT_TYPE" val="i"/>
  <p:tag name="KSO_WM_UNIT_INDEX"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601"/>
</p:tagLst>
</file>

<file path=ppt/tags/tag103.xml><?xml version="1.0" encoding="utf-8"?>
<p:tagLst xmlns:a="http://schemas.openxmlformats.org/drawingml/2006/main" xmlns:r="http://schemas.openxmlformats.org/officeDocument/2006/relationships" xmlns:p="http://schemas.openxmlformats.org/presentationml/2006/main">
  <p:tag name="KSO_WM_SLIDE_ID" val="custom20202601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2601"/>
  <p:tag name="KSO_WM_SLIDE_LAYOUT" val="a_b"/>
  <p:tag name="KSO_WM_SLIDE_LAYOUT_CNT" val="1_2"/>
  <p:tag name="KSO_WM_SLIDE_TYPE" val="endPage"/>
  <p:tag name="KSO_WM_SLIDE_SUBTYPE" val="pureTxt"/>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2601_15*i*1"/>
  <p:tag name="KSO_WM_TEMPLATE_CATEGORY" val="custom"/>
  <p:tag name="KSO_WM_TEMPLATE_INDEX" val="20202601"/>
  <p:tag name="KSO_WM_UNIT_LAYERLEVEL" val="1"/>
  <p:tag name="KSO_WM_TAG_VERSION" val="1.0"/>
  <p:tag name="KSO_WM_BEAUTIFY_FLAG" val="#wm#"/>
  <p:tag name="KSO_WM_UNIT_ISCONTENTSTITLE" val="0"/>
  <p:tag name="KSO_WM_UNIT_NOCLEAR" val="0"/>
  <p:tag name="KSO_WM_UNIT_TYPE" val="i"/>
  <p:tag name="KSO_WM_UNIT_INDEX" val="1"/>
  <p:tag name="KSO_WM_UNIT_PRESET_TEXT" val="2019"/>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2601_15*a*1"/>
  <p:tag name="KSO_WM_TEMPLATE_CATEGORY" val="custom"/>
  <p:tag name="KSO_WM_TEMPLATE_INDEX" val="20202601"/>
  <p:tag name="KSO_WM_UNIT_LAYERLEVEL" val="1"/>
  <p:tag name="KSO_WM_TAG_VERSION" val="1.0"/>
  <p:tag name="KSO_WM_BEAUTIFY_FLAG" val="#wm#"/>
  <p:tag name="KSO_WM_UNIT_ISCONTENTSTITLE" val="0"/>
  <p:tag name="KSO_WM_UNIT_PRESET_TEXT" val="谢谢观赏"/>
  <p:tag name="KSO_WM_UNIT_NOCLEAR" val="1"/>
  <p:tag name="KSO_WM_UNIT_VALUE" val="6"/>
  <p:tag name="KSO_WM_UNIT_TYPE" val="a"/>
  <p:tag name="KSO_WM_UNIT_INDEX" val="1"/>
</p:tagLst>
</file>

<file path=ppt/theme/theme1.xml><?xml version="1.0" encoding="utf-8"?>
<a:theme xmlns:a="http://schemas.openxmlformats.org/drawingml/2006/main" name="水汽尾迹">
  <a:themeElements>
    <a:clrScheme name="水汽尾迹">
      <a:dk1>
        <a:sysClr val="windowText" lastClr="FFFFFF"/>
      </a:dk1>
      <a:lt1>
        <a:sysClr val="window" lastClr="000000"/>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水汽尾迹">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水汽尾迹">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水汽尾迹</Template>
  <TotalTime>1634</TotalTime>
  <Words>4990</Words>
  <Application>Microsoft Office PowerPoint</Application>
  <PresentationFormat>宽屏</PresentationFormat>
  <Paragraphs>590</Paragraphs>
  <Slides>80</Slides>
  <Notes>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80</vt:i4>
      </vt:variant>
    </vt:vector>
  </HeadingPairs>
  <TitlesOfParts>
    <vt:vector size="90" baseType="lpstr">
      <vt:lpstr>等线</vt:lpstr>
      <vt:lpstr>黑体</vt:lpstr>
      <vt:lpstr>华文新魏</vt:lpstr>
      <vt:lpstr>宋体</vt:lpstr>
      <vt:lpstr>微软雅黑</vt:lpstr>
      <vt:lpstr>Arial</vt:lpstr>
      <vt:lpstr>Century Gothic</vt:lpstr>
      <vt:lpstr>Viner Hand ITC</vt:lpstr>
      <vt:lpstr>Wingdings</vt:lpstr>
      <vt:lpstr>水汽尾迹</vt:lpstr>
      <vt:lpstr>PowerPoint 演示文稿</vt:lpstr>
      <vt:lpstr>目录</vt:lpstr>
      <vt:lpstr>5.1 while循环结构</vt:lpstr>
      <vt:lpstr>while循环结构</vt:lpstr>
      <vt:lpstr>基本while语句</vt:lpstr>
      <vt:lpstr>【例5-1】求累加和1+2+3+…+100</vt:lpstr>
      <vt:lpstr>【例5-1】求累加和</vt:lpstr>
      <vt:lpstr>【例5-2】求阶乘</vt:lpstr>
      <vt:lpstr>【例5-2】求阶乘</vt:lpstr>
      <vt:lpstr>【例5-3】输入一个整数，求它的各位数字之和。</vt:lpstr>
      <vt:lpstr>扩展while语句</vt:lpstr>
      <vt:lpstr>【例5-2】求阶乘（另一种写法）</vt:lpstr>
      <vt:lpstr>5.2 fOR环结构</vt:lpstr>
      <vt:lpstr>for循环结构</vt:lpstr>
      <vt:lpstr>for语句</vt:lpstr>
      <vt:lpstr>PowerPoint 演示文稿</vt:lpstr>
      <vt:lpstr>range函数的格式</vt:lpstr>
      <vt:lpstr>range函数的格式</vt:lpstr>
      <vt:lpstr>关于for循环的循环变量</vt:lpstr>
      <vt:lpstr>for循环中序列元素增加或减少（1）</vt:lpstr>
      <vt:lpstr>for循环中序列元素增加或减少（2）</vt:lpstr>
      <vt:lpstr>for循环中序列元素增加或减少（3）</vt:lpstr>
      <vt:lpstr>PowerPoint 演示文稿</vt:lpstr>
      <vt:lpstr>【例5-4】用for语句求1+2+3+…+99+100。</vt:lpstr>
      <vt:lpstr>【例5-5】用for语句求一个整数的各位数字之和。 </vt:lpstr>
      <vt:lpstr>【例5-6】编写程序找出所有三位水仙花数。</vt:lpstr>
      <vt:lpstr>5.3 循环控制语句</vt:lpstr>
      <vt:lpstr>5.3.1 break语句</vt:lpstr>
      <vt:lpstr>PowerPoint 演示文稿</vt:lpstr>
      <vt:lpstr>PowerPoint 演示文稿</vt:lpstr>
      <vt:lpstr>5.3.2 continue语句</vt:lpstr>
      <vt:lpstr>【例5-8】改用continue找所有三位水仙花数。</vt:lpstr>
      <vt:lpstr>5.3.3 pass语句</vt:lpstr>
      <vt:lpstr>PowerPoint 演示文稿</vt:lpstr>
      <vt:lpstr>5.4 循环的嵌套</vt:lpstr>
      <vt:lpstr>循环嵌套</vt:lpstr>
      <vt:lpstr>【例5-9】打印九九乘法表。</vt:lpstr>
      <vt:lpstr>【例5-9】打印九九乘法表。</vt:lpstr>
      <vt:lpstr>【例5-9】打印九九乘法表。</vt:lpstr>
      <vt:lpstr>【例5-10】(重要)求100以内的全部素数。</vt:lpstr>
      <vt:lpstr>【例5-10】求100以内的全部素数。</vt:lpstr>
      <vt:lpstr>PowerPoint 演示文稿</vt:lpstr>
      <vt:lpstr>5.5 循环结构程序举例</vt:lpstr>
      <vt:lpstr>【例5-11】用欧几里德算法求两个数的最大公约数</vt:lpstr>
      <vt:lpstr>【例5-11】(重要)用欧几里德算法求两个数的最大公约数</vt:lpstr>
      <vt:lpstr>【例5-12】猜数游戏</vt:lpstr>
      <vt:lpstr>【例5-12】猜数游戏</vt:lpstr>
      <vt:lpstr>*【例5-13】买房计划</vt:lpstr>
      <vt:lpstr>【例5-13】买房计划</vt:lpstr>
      <vt:lpstr>【例】(较难)计算ex</vt:lpstr>
      <vt:lpstr>PowerPoint 演示文稿</vt:lpstr>
      <vt:lpstr>本章习题  P98</vt:lpstr>
      <vt:lpstr>课后作业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问题在哪？</vt:lpstr>
      <vt:lpstr>方法2：</vt:lpstr>
      <vt:lpstr>PowerPoint 演示文稿</vt:lpstr>
      <vt:lpstr>PowerPoint 演示文稿</vt:lpstr>
      <vt:lpstr>PowerPoint 演示文稿</vt:lpstr>
      <vt:lpstr>PowerPoint 演示文稿</vt:lpstr>
      <vt:lpstr>问题在哪？</vt:lpstr>
      <vt:lpstr>PowerPoint 演示文稿</vt:lpstr>
      <vt:lpstr>PowerPoint 演示文稿</vt:lpstr>
      <vt:lpstr>PowerPoint 演示文稿</vt:lpstr>
      <vt:lpstr>PowerPoint 演示文稿</vt:lpstr>
      <vt:lpstr>问题在哪？</vt:lpstr>
      <vt:lpstr>PowerPoint 演示文稿</vt:lpstr>
      <vt:lpstr>PowerPoint 演示文稿</vt:lpstr>
      <vt:lpstr>谢谢观赏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当图网</dc:title>
  <dc:creator>钱毅湘</dc:creator>
  <cp:lastModifiedBy>Julia</cp:lastModifiedBy>
  <cp:revision>193</cp:revision>
  <dcterms:created xsi:type="dcterms:W3CDTF">2018-10-09T06:59:00Z</dcterms:created>
  <dcterms:modified xsi:type="dcterms:W3CDTF">2023-03-15T02:34:55Z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2052-11.1.0.9175</vt:lpwstr>
  </property>
</Properties>
</file>