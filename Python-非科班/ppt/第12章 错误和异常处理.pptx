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6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2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3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4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6" r:id="rId3"/>
    <p:sldMasterId id="2147483688" r:id="rId4"/>
    <p:sldMasterId id="2147483731" r:id="rId5"/>
  </p:sldMasterIdLst>
  <p:notesMasterIdLst>
    <p:notesMasterId r:id="rId47"/>
  </p:notesMasterIdLst>
  <p:sldIdLst>
    <p:sldId id="582" r:id="rId6"/>
    <p:sldId id="485" r:id="rId7"/>
    <p:sldId id="483" r:id="rId8"/>
    <p:sldId id="498" r:id="rId9"/>
    <p:sldId id="583" r:id="rId10"/>
    <p:sldId id="499" r:id="rId11"/>
    <p:sldId id="500" r:id="rId12"/>
    <p:sldId id="501" r:id="rId13"/>
    <p:sldId id="584" r:id="rId14"/>
    <p:sldId id="502" r:id="rId15"/>
    <p:sldId id="503" r:id="rId16"/>
    <p:sldId id="488" r:id="rId17"/>
    <p:sldId id="504" r:id="rId18"/>
    <p:sldId id="505" r:id="rId19"/>
    <p:sldId id="506" r:id="rId20"/>
    <p:sldId id="507" r:id="rId21"/>
    <p:sldId id="508" r:id="rId22"/>
    <p:sldId id="509" r:id="rId23"/>
    <p:sldId id="510" r:id="rId24"/>
    <p:sldId id="511" r:id="rId25"/>
    <p:sldId id="585" r:id="rId26"/>
    <p:sldId id="512" r:id="rId27"/>
    <p:sldId id="513" r:id="rId28"/>
    <p:sldId id="586" r:id="rId29"/>
    <p:sldId id="514" r:id="rId30"/>
    <p:sldId id="515" r:id="rId31"/>
    <p:sldId id="516" r:id="rId32"/>
    <p:sldId id="489" r:id="rId33"/>
    <p:sldId id="517" r:id="rId34"/>
    <p:sldId id="518" r:id="rId35"/>
    <p:sldId id="519" r:id="rId36"/>
    <p:sldId id="520" r:id="rId37"/>
    <p:sldId id="521" r:id="rId38"/>
    <p:sldId id="490" r:id="rId39"/>
    <p:sldId id="522" r:id="rId40"/>
    <p:sldId id="523" r:id="rId41"/>
    <p:sldId id="524" r:id="rId42"/>
    <p:sldId id="577" r:id="rId43"/>
    <p:sldId id="573" r:id="rId44"/>
    <p:sldId id="578" r:id="rId45"/>
    <p:sldId id="497" r:id="rId46"/>
  </p:sldIdLst>
  <p:sldSz cx="12192000" cy="6858000"/>
  <p:notesSz cx="6858000" cy="9144000"/>
  <p:custDataLst>
    <p:tags r:id="rId4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660"/>
  </p:normalViewPr>
  <p:slideViewPr>
    <p:cSldViewPr showGuides="1">
      <p:cViewPr varScale="1">
        <p:scale>
          <a:sx n="82" d="100"/>
          <a:sy n="82" d="100"/>
        </p:scale>
        <p:origin x="494" y="120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gs" Target="tags/tag1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75072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44553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946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28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77446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34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35172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8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7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7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9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1.png"/><Relationship Id="rId5" Type="http://schemas.openxmlformats.org/officeDocument/2006/relationships/tags" Target="../tags/tag27.xml"/><Relationship Id="rId10" Type="http://schemas.openxmlformats.org/officeDocument/2006/relationships/image" Target="../media/image10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2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6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4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1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12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5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6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8.png"/><Relationship Id="rId5" Type="http://schemas.openxmlformats.org/officeDocument/2006/relationships/tags" Target="../tags/tag93.xml"/><Relationship Id="rId10" Type="http://schemas.openxmlformats.org/officeDocument/2006/relationships/image" Target="../media/image17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F560AB-3819-40CE-8739-DD69FF9D908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00FC8EA-A446-4481-BD8D-2B835F43641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4A90456-14EB-472C-95ED-A5E962D6927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EF3036-E42C-4DF2-BB11-23C2BC81D13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79D1FC-FAE7-4562-A12E-5DEC599CC5B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068ACC-F0E2-4A4D-A498-3BD943FC3C4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080CB2E-4D90-46B3-8259-DD3F446B2DA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FA20698-CC62-45DD-8732-9EF8122F299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E47A6B-669F-4A27-9098-ABE6021CA1C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411795-D576-4EF3-807F-C84A93EAE9F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DFEBB86-1874-4CAB-8774-23467411BAB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6C094D1-9445-4B3A-9358-583ADD2361E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3D3F14B-E667-4FB3-81F0-9D441E4960D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FDE1BB-E2BA-492B-B49C-8A26815485F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9D5AB7E-072F-4761-AA4F-FCCD138D889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B57CD30-2FDE-430C-9ADB-B6B91F51E31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1E90A5-5067-4003-9EB3-7FDD3F4BBDF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8EE5EBD-9736-45FD-B26D-A82C7BBD468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9AFB85-81C7-4955-9727-112F7E3C89E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C7C44B-599F-4CDD-B6DC-9956C6FE218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01AB7A-19AB-4737-929C-F59EC8FC8A3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C032D9-B51B-432D-B243-934A810DBA9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0C8E8C-131C-4901-AACD-FD9F93F6ADE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44103C-215F-4CCB-801C-4BD8EE4BEC7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20F8D1-1C22-4B38-B582-B55F272C6F3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0BD69F-95D7-4861-85C1-5E636B41B46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20D121-1044-43D2-BAEF-7E7BA208424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6959FB-1ECB-4CA5-B88E-8C033BA3420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FD7009-D26D-48E4-B830-DECA8144BF1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862048-3C1A-4873-8DD7-290DDE74548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921CF3-27B2-4DE8-AEE2-91ECED46EF4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B6893B-8B67-4804-A871-11E6D7AE873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C585A1-E62B-49B2-BC46-B3736BAEAB5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C9AA0C-741B-4025-81B5-FA716AC51B1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2E2A82-1418-4AEB-A1F1-1E5428FBCDB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7FCFC9-42ED-420A-AD70-D0F14265318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0292BF0-D003-452D-ADA5-9D1E8D9DD23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D66FB98-3EBD-4BC7-AC80-A7D639565FF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F4A017-AD2D-4D96-92D5-74F7DC0F29C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BDD5B0-69F0-4A97-8EEA-5CB6419F79E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029BBC-02BF-41FA-BD15-D4FA58649C5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5B7A4D-A87A-403D-91BB-8AA144BA50C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6DAE7C-E10D-4FAE-B376-3EDD324223E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53C3F-1BAE-4F38-8103-2E42314D5E5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F41BF5E-B5A1-403A-831F-CD342ECC03E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807828-F3BF-4F8B-A95C-F7C4AEE96D7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FB57B7-B4C4-42D5-B719-131A4F68F99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7A38D19-81ED-403C-B369-D74F23BD58A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551A03-44C7-4270-9249-43FC8B4DAFE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AD83F9-BD19-42B3-A421-23EC3EBAF32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0883A8-633B-49CA-B0BD-266A8D0CF5C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746E5B4-64CF-424D-AB11-58312CF69BB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E05D5A3-9DB0-45AE-B711-1DDE09D6802F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096109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7033-97B9-44D5-A76D-275A4FB11D16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903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BB208C-C651-44BF-97DA-540B20D66FCD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19421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5BA-D9C8-4A11-A109-BE25DBC57F70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47459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5C00-DA6C-4E01-A996-40DA4F291BC1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4970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29-F0F7-44AE-ABC7-6B8A1A19E9E6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9263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2FD5-4C58-4AA5-B614-93269DC80824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135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8808-62B0-458A-9290-A06347F268B9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3565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6DE94-6725-4B08-87CB-DAFE03FD724D}" type="datetime1">
              <a:rPr lang="zh-CN" altLang="en-US" smtClean="0"/>
              <a:t>2023/5/5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2015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F640-1F2F-48E3-A1B9-AF6EBCFB473D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29411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BE1E57C-C3D3-409E-89BE-EE02E2CDB789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74025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CB37FD3-346B-4E7D-8929-44CC715EA778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26970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66C3E8A-6BE9-49AF-8F99-0437793375F8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27423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2BF0-30FF-4053-B132-B92352FA189C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77893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DAE13-7B02-4B81-85B0-EA4B69A1B538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43182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6D18-920A-416C-86D3-DA03035BB14A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07553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38F2C8-FD0A-40A4-AFB5-28AE867677D2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31483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0364E162-2660-4E4F-89B7-F5803B4E054C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b="1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125130461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14E1695-4AC2-47A5-9993-482B040FF611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28789305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47F7712-8CED-47C5-971B-A513EB03BDC0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6FFDB3B7-236B-49B0-A42F-56FE4C99291A}" type="datetime1">
              <a:rPr lang="zh-CN" altLang="en-US" smtClean="0"/>
              <a:t>2023/5/5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D2A9674D-E3B2-422A-AF7F-9B3307133AD8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674DBAAF-5CAF-4D01-B3C1-12445E63A8B7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3237FC48-0B4C-4DBD-8222-FE0D05F76311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BE8E526C-3477-4A91-B361-5EB367782652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C952BB3-D4D7-4F64-9D08-7E47DA5E32A5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F06C755A-3D3C-4B8F-9F1D-6D49E8098374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BDC2DD78-26F6-4D42-925B-240A95F3E923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0179EC4D-94EB-4BF0-BDC1-FC1F2FC30CD2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1DCC-6C7B-41EE-BC48-4F544BFB87B1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D98A-1225-4B8C-8E5B-2354987AFE29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FFE-AEC1-4B3A-8ADB-FF6B64AECEDE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0E4F-B0DD-451F-B959-32042788311A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51B8-530C-4F2A-A48E-7F724773056A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0D67E-1376-4AD4-903E-50C874CE93B6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0F4F-8D57-4947-8B62-6F9810785F4A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5512-394A-4ECE-9816-EDFCE944CE6A}" type="datetime1">
              <a:rPr lang="zh-CN" altLang="en-US" smtClean="0"/>
              <a:t>2023/5/5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3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45B006-4517-4A7E-B1C0-CF72263E616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D650B22-717D-4227-B3A4-25268704B9E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5F9CFD1-441F-4AB5-9142-E365023EEFE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11DA950-28D3-4A94-8E7C-1946D98B527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007" y="0"/>
            <a:ext cx="8571656" cy="881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440" y="1268760"/>
            <a:ext cx="11967120" cy="525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0BFB654-48A5-4EFB-A2A4-787AED28AA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2023/5/5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36360" y="62838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fld id="{556F17D1-8D5E-4CFF-B688-992D981BB9B1}" type="slidenum">
              <a:rPr lang="zh-CN" altLang="en-US" smtClean="0">
                <a:solidFill>
                  <a:schemeClr val="tx1"/>
                </a:solidFill>
              </a:rPr>
              <a:pPr eaLnBrk="1" hangingPunct="1"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63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08" r:id="rId20"/>
    <p:sldLayoutId id="2147483712" r:id="rId21"/>
    <p:sldLayoutId id="2147483714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p"/>
        <a:defRPr lang="zh-CN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lang="zh-CN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lang="zh-CN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lang="zh-CN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p"/>
        <a:defRPr lang="en-US" altLang="en-US" sz="3200" b="1" kern="1200" cap="all" baseline="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7.xml"/><Relationship Id="rId6" Type="http://schemas.openxmlformats.org/officeDocument/2006/relationships/slide" Target="slide34.xml"/><Relationship Id="rId5" Type="http://schemas.openxmlformats.org/officeDocument/2006/relationships/slide" Target="slide28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2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4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12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错误与异常处理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12.1 </a:t>
            </a:r>
            <a:r>
              <a:rPr sz="32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程序的错误</a:t>
            </a:r>
            <a:endParaRPr lang="zh-CN" altLang="en-US" sz="3200" dirty="0"/>
          </a:p>
          <a:p>
            <a:r>
              <a:rPr lang="en-US" altLang="zh-CN" sz="3200" dirty="0"/>
              <a:t>12.2 </a:t>
            </a:r>
            <a:r>
              <a:rPr sz="32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异常处理</a:t>
            </a:r>
            <a:endParaRPr lang="zh-CN" altLang="en-US" sz="3200" dirty="0"/>
          </a:p>
          <a:p>
            <a:r>
              <a:rPr lang="en-US" altLang="zh-CN" sz="3200" dirty="0"/>
              <a:t>12.3 </a:t>
            </a:r>
            <a:r>
              <a:rPr sz="32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断言处理</a:t>
            </a:r>
            <a:endParaRPr lang="zh-CN" altLang="en-US" sz="3200" dirty="0"/>
          </a:p>
          <a:p>
            <a:r>
              <a:rPr lang="en-US" altLang="zh-CN" sz="3200" dirty="0"/>
              <a:t>12.4 </a:t>
            </a:r>
            <a:r>
              <a:rPr lang="en-US" altLang="zh-CN" sz="3200" dirty="0">
                <a:solidFill>
                  <a:srgbClr val="F0532B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r>
              <a:rPr sz="3200" dirty="0">
                <a:solidFill>
                  <a:srgbClr val="F0532B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的调试工具</a:t>
            </a:r>
            <a:r>
              <a:rPr lang="en-US" altLang="zh-CN" sz="3200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pdb</a:t>
            </a:r>
            <a:r>
              <a:rPr lang="en-US" altLang="zh-CN" sz="3200" dirty="0"/>
              <a:t>*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71CF35-EF8D-4C25-B462-44E6F142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12.1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程序的错误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8028A6-D783-42A2-96C5-48FD7E31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错误的类型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5000"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语法错误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运行错误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逻辑错误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B4F1D0-80CC-4EFA-95E3-5215E26B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t>语法错误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20000"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代码中存在不符合Python语法规则的地方</a:t>
            </a:r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12-1】 </a:t>
            </a:r>
            <a:r>
              <a:rPr lang="en-US" altLang="zh-CN" dirty="0" err="1"/>
              <a:t>语法错误示范</a:t>
            </a: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# </a:t>
            </a:r>
            <a:r>
              <a:rPr lang="en-US" altLang="zh-CN" dirty="0" err="1"/>
              <a:t>语法错误示范一</a:t>
            </a: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if						# if </a:t>
            </a:r>
            <a:r>
              <a:rPr lang="en-US" altLang="zh-CN" dirty="0" err="1"/>
              <a:t>语句不完整</a:t>
            </a: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# </a:t>
            </a:r>
            <a:r>
              <a:rPr lang="en-US" altLang="zh-CN" dirty="0" err="1"/>
              <a:t>语法错误示范二</a:t>
            </a: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def test:			# </a:t>
            </a:r>
            <a:r>
              <a:rPr lang="en-US" altLang="zh-CN" dirty="0" err="1"/>
              <a:t>自定义函数缺少</a:t>
            </a:r>
            <a:r>
              <a:rPr lang="en-US" altLang="zh-CN" dirty="0"/>
              <a:t>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    pass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# </a:t>
            </a:r>
            <a:r>
              <a:rPr lang="en-US" altLang="zh-CN" dirty="0" err="1"/>
              <a:t>语法错误示范三</a:t>
            </a: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class Foo			# </a:t>
            </a:r>
            <a:r>
              <a:rPr lang="en-US" altLang="zh-CN" dirty="0" err="1"/>
              <a:t>行末缺少冒号</a:t>
            </a: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    pass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# </a:t>
            </a:r>
            <a:r>
              <a:rPr lang="en-US" altLang="zh-CN" dirty="0" err="1"/>
              <a:t>语法错误示范四</a:t>
            </a: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print(</a:t>
            </a:r>
            <a:r>
              <a:rPr lang="en-US" altLang="zh-CN" dirty="0" err="1"/>
              <a:t>haha</a:t>
            </a:r>
            <a:r>
              <a:rPr lang="en-US" altLang="zh-CN" dirty="0"/>
              <a:t>		# </a:t>
            </a:r>
            <a:r>
              <a:rPr lang="en-US" altLang="zh-CN" dirty="0" err="1"/>
              <a:t>行末缺少</a:t>
            </a:r>
            <a:r>
              <a:rPr lang="en-US" altLang="zh-CN" dirty="0"/>
              <a:t>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B4F1D0-80CC-4EFA-95E3-5215E26B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275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语法出错提示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DEDB08-1B1C-4873-AF5F-E5645B59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E9EF08-8707-40F6-B1E0-188A60988EAB}"/>
              </a:ext>
            </a:extLst>
          </p:cNvPr>
          <p:cNvSpPr txBox="1"/>
          <p:nvPr/>
        </p:nvSpPr>
        <p:spPr>
          <a:xfrm>
            <a:off x="263352" y="1340768"/>
            <a:ext cx="62249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Syntax error</a:t>
            </a:r>
          </a:p>
          <a:p>
            <a:r>
              <a:rPr lang="en-US" altLang="zh-CN" sz="3200" b="1" dirty="0"/>
              <a:t>Python</a:t>
            </a:r>
            <a:r>
              <a:rPr lang="zh-CN" altLang="en-US" sz="3200" b="1" dirty="0"/>
              <a:t>报错</a:t>
            </a:r>
            <a:endParaRPr lang="en-US" altLang="zh-CN" sz="3200" b="1" dirty="0"/>
          </a:p>
          <a:p>
            <a:r>
              <a:rPr lang="en-US" altLang="zh-CN" sz="3200" b="1" dirty="0"/>
              <a:t>Python</a:t>
            </a:r>
            <a:r>
              <a:rPr lang="zh-CN" altLang="en-US" sz="3200" b="1" dirty="0"/>
              <a:t>会指出在哪一行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3D42D3E-EDF2-4254-AD69-3BF85230D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3306567"/>
            <a:ext cx="2834886" cy="21947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运行时错误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07" y="1052736"/>
            <a:ext cx="12053553" cy="547260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600" dirty="0"/>
              <a:t>往往是一些不可预料或可预料但无法避免的错误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【</a:t>
            </a:r>
            <a:r>
              <a:rPr lang="zh-CN" altLang="en-US" sz="2600" dirty="0"/>
              <a:t>例</a:t>
            </a:r>
            <a:r>
              <a:rPr lang="en-US" altLang="zh-CN" sz="2600" dirty="0"/>
              <a:t>12-2】 </a:t>
            </a:r>
            <a:r>
              <a:rPr lang="en-US" altLang="zh-CN" sz="2600" dirty="0" err="1"/>
              <a:t>运行时错误示范</a:t>
            </a:r>
            <a:endParaRPr lang="en-US" altLang="zh-CN" sz="26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# </a:t>
            </a:r>
            <a:r>
              <a:rPr lang="en-US" altLang="zh-CN" sz="2600" dirty="0" err="1"/>
              <a:t>TypeError:int类型不可迭代</a:t>
            </a:r>
            <a:endParaRPr lang="en-US" altLang="zh-CN" sz="26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for </a:t>
            </a:r>
            <a:r>
              <a:rPr lang="en-US" altLang="zh-CN" sz="2600" dirty="0" err="1"/>
              <a:t>i</a:t>
            </a:r>
            <a:r>
              <a:rPr lang="en-US" altLang="zh-CN" sz="2600" dirty="0"/>
              <a:t> in 3: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    pass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26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# </a:t>
            </a:r>
            <a:r>
              <a:rPr lang="en-US" altLang="zh-CN" sz="2600" dirty="0" err="1"/>
              <a:t>ValueError</a:t>
            </a:r>
            <a:endParaRPr lang="en-US" altLang="zh-CN" sz="26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num=input("&gt;&gt;: ")   # </a:t>
            </a:r>
            <a:r>
              <a:rPr lang="en-US" altLang="zh-CN" sz="2600" dirty="0" err="1"/>
              <a:t>若输入数值，则能运行，若输入hello，则报错</a:t>
            </a:r>
            <a:endParaRPr lang="en-US" altLang="zh-CN" sz="26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int(num)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26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# </a:t>
            </a:r>
            <a:r>
              <a:rPr lang="en-US" altLang="zh-CN" sz="2600" dirty="0" err="1"/>
              <a:t>NameError</a:t>
            </a:r>
            <a:r>
              <a:rPr lang="en-US" altLang="zh-CN" sz="2600" dirty="0"/>
              <a:t>:</a:t>
            </a:r>
            <a:r>
              <a:rPr lang="zh-CN" altLang="en-US" sz="2600" dirty="0"/>
              <a:t>前面没有定义过</a:t>
            </a:r>
            <a:r>
              <a:rPr lang="en-US" altLang="zh-CN" sz="2600" dirty="0"/>
              <a:t>AAA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600" dirty="0"/>
              <a:t>Print(</a:t>
            </a:r>
            <a:r>
              <a:rPr lang="en-US" altLang="zh-CN" sz="2600" dirty="0" err="1"/>
              <a:t>aaa</a:t>
            </a:r>
            <a:r>
              <a:rPr lang="en-US" altLang="zh-CN" sz="2600" dirty="0"/>
              <a:t>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98265" y="5817870"/>
            <a:ext cx="27019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CD8882-D21F-4C93-B0D7-22DD0434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接上一页（续）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440" y="980728"/>
            <a:ext cx="11967120" cy="5544616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# IndexError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l=['egon','aa']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l[3]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# KeyError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dic={'name':'egon'}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dic['age']		# 出错提示会提示本行出错，但可能需要在上一行修改。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0C8974-F4EB-428C-831C-DF23338B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440" y="980728"/>
            <a:ext cx="11967120" cy="5544616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# AttributeError  属性错误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class Foo: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pass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Foo.x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# ZeroDivisionError:无法完成计算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res1=1/0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res2=1+'str'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0C8974-F4EB-428C-831C-DF23338B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395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运行时错误的出错提示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7070B3-0E26-4664-8F1D-257FE53A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040DA4-C136-417C-91AB-C60030BBC347}"/>
              </a:ext>
            </a:extLst>
          </p:cNvPr>
          <p:cNvSpPr txBox="1"/>
          <p:nvPr/>
        </p:nvSpPr>
        <p:spPr>
          <a:xfrm>
            <a:off x="911424" y="1935036"/>
            <a:ext cx="106571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==== RESTART: C:\Users\admin\AppData\Local\Programs\Python\Python39\test.py ====</a:t>
            </a:r>
          </a:p>
          <a:p>
            <a:r>
              <a:rPr lang="zh-CN" altLang="en-US" sz="2400" dirty="0"/>
              <a:t>Traceback (most recent call last):</a:t>
            </a:r>
          </a:p>
          <a:p>
            <a:r>
              <a:rPr lang="zh-CN" altLang="en-US" sz="2400" dirty="0"/>
              <a:t>  File "C:\Users\admin\AppData\Local\Programs\Python\Python39\test.py", line 1, in &lt;module&gt;</a:t>
            </a:r>
          </a:p>
          <a:p>
            <a:r>
              <a:rPr lang="zh-CN" altLang="en-US" sz="2400" dirty="0"/>
              <a:t>    x = 1/0</a:t>
            </a:r>
          </a:p>
          <a:p>
            <a:r>
              <a:rPr lang="zh-CN" altLang="en-US" sz="2400" dirty="0"/>
              <a:t>ZeroDivisionError: division by zero</a:t>
            </a:r>
          </a:p>
          <a:p>
            <a:r>
              <a:rPr lang="zh-CN" altLang="en-US" sz="2400" dirty="0"/>
              <a:t>&gt;&gt;&gt; 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t>逻辑错误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能够执行并会得到运行结果，只是运行结果是错误的或不是编程者预期的结果</a:t>
            </a:r>
          </a:p>
          <a:p>
            <a:endParaRPr lang="zh-CN" altLang="en-US" dirty="0"/>
          </a:p>
          <a:p>
            <a:r>
              <a:rPr lang="zh-CN" altLang="en-US" dirty="0"/>
              <a:t>没有错误提示</a:t>
            </a:r>
          </a:p>
          <a:p>
            <a:endParaRPr lang="zh-CN" altLang="en-US" dirty="0"/>
          </a:p>
          <a:p>
            <a:r>
              <a:rPr lang="zh-CN" altLang="en-US" dirty="0"/>
              <a:t>可以利用IDLE提供的一些调试工具，观察和跟踪程序运行过程中变量的变化情况和语句的执行情况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250137-DE12-4FFE-BD7D-68C7DAD4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12.2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异常处理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5C9C8B-82D2-4ED5-9374-EF57A194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12.2.1 </a:t>
            </a:r>
            <a:r>
              <a:t>异常概述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一个好的程序，应具备较强的容错能力</a:t>
            </a:r>
          </a:p>
          <a:p>
            <a:endParaRPr lang="zh-CN" altLang="en-US"/>
          </a:p>
          <a:p>
            <a:r>
              <a:rPr lang="zh-CN" altLang="en-US"/>
              <a:t>Python提供了一套异常处理方法，在一定程度上可以提高程序的健壮性</a:t>
            </a: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FF1F9-37E4-4EAB-B309-AAE56771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t>异常捕捉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发生异常时，Python系统默认的异常处理办法是用回溯（Traceback）来终止程序运行并抛出异常，即生成异常对象，并给出错提示信息。</a:t>
            </a:r>
            <a:endParaRPr lang="en-US" altLang="zh-CN" dirty="0"/>
          </a:p>
          <a:p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&gt;&gt;&gt; a = b + 3</a:t>
            </a:r>
          </a:p>
          <a:p>
            <a:pPr marL="457200" lvl="1" indent="0">
              <a:buNone/>
            </a:pPr>
            <a:r>
              <a:rPr lang="zh-CN" altLang="en-US" dirty="0"/>
              <a:t>Traceback (most recent call last):</a:t>
            </a:r>
          </a:p>
          <a:p>
            <a:pPr marL="457200" lvl="1" indent="0">
              <a:buNone/>
            </a:pPr>
            <a:r>
              <a:rPr lang="zh-CN" altLang="en-US" dirty="0"/>
              <a:t>  File "&lt;pyshell#0&gt;", line 1, in &lt;module&gt;</a:t>
            </a:r>
          </a:p>
          <a:p>
            <a:pPr marL="457200" lvl="1" indent="0">
              <a:buNone/>
            </a:pPr>
            <a:r>
              <a:rPr lang="zh-CN" altLang="en-US" dirty="0"/>
              <a:t>    a = b + 3</a:t>
            </a:r>
          </a:p>
          <a:p>
            <a:pPr marL="457200" lvl="1" indent="0">
              <a:buNone/>
            </a:pPr>
            <a:r>
              <a:rPr lang="zh-CN" altLang="en-US" dirty="0"/>
              <a:t>NameError: name 'b' is not defined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上面是出错信息。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注明了：出错位置  一场类型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631690" y="4940935"/>
            <a:ext cx="3624580" cy="114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D08EB-24D4-4F0D-9893-75E860C15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异常类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在Python中，异常也是对象，可以对其进行操作</a:t>
            </a:r>
          </a:p>
          <a:p>
            <a:r>
              <a:rPr lang="zh-CN" altLang="en-US"/>
              <a:t>Python检测到异常发生时，会生成相应的异常对象</a:t>
            </a:r>
          </a:p>
          <a:p>
            <a:endParaRPr lang="zh-CN" altLang="en-US"/>
          </a:p>
          <a:p>
            <a:r>
              <a:rPr lang="zh-CN" altLang="en-US"/>
              <a:t>所有的异常类都是基类Exception的成员</a:t>
            </a:r>
          </a:p>
          <a:p>
            <a:r>
              <a:rPr lang="zh-CN" altLang="en-US"/>
              <a:t>所有异常都是从基类Exception继承，且都在exceptions模块中定义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05A78E-5BD8-44E5-A985-523EA50E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t>中常见的异常类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61445972"/>
              </p:ext>
            </p:extLst>
          </p:nvPr>
        </p:nvGraphicFramePr>
        <p:xfrm>
          <a:off x="1216025" y="1160145"/>
          <a:ext cx="10438130" cy="5648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9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异常类名</a:t>
                      </a:r>
                      <a:endParaRPr lang="en-US" altLang="en-US" sz="20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说明</a:t>
                      </a:r>
                      <a:endParaRPr lang="en-US" altLang="en-US" sz="20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Exception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所有异常类的基类</a:t>
                      </a:r>
                      <a:r>
                        <a:rPr lang="en-US" sz="20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</a:t>
                      </a:r>
                      <a:endParaRPr lang="en-US" altLang="en-US" sz="20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AttributeError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尝试访问未知的对象属性时引发。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IOError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试图打开不存在的文件时引发</a:t>
                      </a:r>
                      <a:r>
                        <a:rPr lang="en-US" sz="20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</a:t>
                      </a:r>
                      <a:endParaRPr lang="en-US" altLang="en-US" sz="20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IndexError</a:t>
                      </a:r>
                      <a:endParaRPr lang="en-US" altLang="en-US" sz="20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使用序列中不存在的索引时引发。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KeyError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使用字典中不存在的关键字时引发。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NameError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找不到变量名时引发。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SyntaxError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语法错误时引发。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TypeError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传递给函数的参数类型不正确时引发。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ValueError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函数应用于正确类型的对象，但是该对象使用不适合的值时引发。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ZeroDivisionError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在做除法或模运算中除数为0时引发。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EOFError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发现一个不期望的文件或输入结束时引发。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SystemExit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Python解释器请求退出时引发。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KeyboardInterrupt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用户中断执行（通常是按Ctrl+C快捷键）时引发。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ImportError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导入模块或对象失败时引发。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IndentationError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000" b="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缩进错误时引发</a:t>
                      </a:r>
                      <a:r>
                        <a:rPr lang="en-US" sz="20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</a:t>
                      </a:r>
                      <a:endParaRPr lang="en-US" altLang="en-US" sz="20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1980055-0724-476C-99F3-0C093C1D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12.2.2 try-except</a:t>
            </a:r>
            <a:r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cap="none" dirty="0"/>
              <a:t>当python程序发生错误时，可以使用try-except语句捕获异常</a:t>
            </a:r>
          </a:p>
          <a:p>
            <a:r>
              <a:rPr lang="zh-CN" altLang="en-US" cap="none" dirty="0"/>
              <a:t>若不使用try-except语句，程序将终止执行</a:t>
            </a:r>
          </a:p>
          <a:p>
            <a:pPr marL="514350" indent="-514350">
              <a:buAutoNum type="arabicPeriod"/>
            </a:pPr>
            <a:r>
              <a:rPr lang="zh-CN" altLang="en-US" cap="none" dirty="0"/>
              <a:t>简单版：</a:t>
            </a:r>
          </a:p>
          <a:p>
            <a:pPr marL="457200" lvl="1" indent="0">
              <a:buNone/>
            </a:pPr>
            <a:r>
              <a:rPr lang="zh-CN" altLang="en-US" cap="none" dirty="0"/>
              <a:t>try:</a:t>
            </a:r>
          </a:p>
          <a:p>
            <a:pPr marL="457200" lvl="1" indent="0">
              <a:buNone/>
            </a:pPr>
            <a:r>
              <a:rPr lang="zh-CN" altLang="en-US" cap="none" dirty="0"/>
              <a:t>    被检测的语句块</a:t>
            </a:r>
          </a:p>
          <a:p>
            <a:pPr marL="457200" lvl="1" indent="0">
              <a:buNone/>
            </a:pPr>
            <a:r>
              <a:rPr lang="zh-CN" altLang="en-US" cap="none" dirty="0"/>
              <a:t>except:</a:t>
            </a:r>
          </a:p>
          <a:p>
            <a:pPr marL="457200" lvl="1" indent="0">
              <a:buNone/>
            </a:pPr>
            <a:r>
              <a:rPr lang="zh-CN" altLang="en-US" cap="none" dirty="0"/>
              <a:t>    异常处理语句块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D53795-7531-4BC6-9183-0F1F7EC5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06" y="0"/>
            <a:ext cx="10318465" cy="881117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例</a:t>
            </a:r>
            <a:r>
              <a:rPr lang="en-US" altLang="zh-CN" sz="4000" dirty="0"/>
              <a:t>12-3 </a:t>
            </a:r>
            <a:r>
              <a:rPr lang="en-US" altLang="zh-CN" sz="4000" dirty="0" err="1"/>
              <a:t>利用try语句判断输入数据的类型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cap="none" dirty="0"/>
              <a:t>import sys</a:t>
            </a:r>
          </a:p>
          <a:p>
            <a:pPr marL="0" indent="0">
              <a:buNone/>
            </a:pPr>
            <a:r>
              <a:rPr lang="zh-CN" altLang="en-US" cap="none" dirty="0"/>
              <a:t>x = input('请输入一个整数：')</a:t>
            </a:r>
          </a:p>
          <a:p>
            <a:pPr marL="0" indent="0">
              <a:buNone/>
            </a:pPr>
            <a:r>
              <a:rPr lang="zh-CN" altLang="en-US" cap="none" dirty="0"/>
              <a:t>try:</a:t>
            </a:r>
          </a:p>
          <a:p>
            <a:pPr marL="0" indent="0">
              <a:buNone/>
            </a:pPr>
            <a:r>
              <a:rPr lang="zh-CN" altLang="en-US" cap="none" dirty="0"/>
              <a:t>    y = int(x)</a:t>
            </a:r>
          </a:p>
          <a:p>
            <a:pPr marL="0" indent="0">
              <a:buNone/>
            </a:pPr>
            <a:r>
              <a:rPr lang="zh-CN" altLang="en-US" cap="none" dirty="0"/>
              <a:t>except:</a:t>
            </a:r>
          </a:p>
          <a:p>
            <a:pPr marL="0" indent="0">
              <a:buNone/>
            </a:pPr>
            <a:r>
              <a:rPr lang="zh-CN" altLang="en-US" cap="none" dirty="0"/>
              <a:t>    print('输入的内容无法转换为整数！')</a:t>
            </a:r>
          </a:p>
          <a:p>
            <a:pPr marL="0" indent="0">
              <a:buNone/>
            </a:pPr>
            <a:r>
              <a:rPr lang="zh-CN" altLang="en-US" cap="none" dirty="0"/>
              <a:t>    sys.exit(0)         </a:t>
            </a:r>
            <a:r>
              <a:rPr lang="en-US" altLang="zh-CN" cap="none" dirty="0"/>
              <a:t># </a:t>
            </a:r>
            <a:r>
              <a:rPr lang="zh-CN" altLang="en-US" cap="none" dirty="0"/>
              <a:t>程序正常退出</a:t>
            </a:r>
          </a:p>
          <a:p>
            <a:pPr marL="0" indent="0">
              <a:buNone/>
            </a:pPr>
            <a:r>
              <a:rPr lang="zh-CN" altLang="en-US" cap="none" dirty="0"/>
              <a:t>print(y)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C1EA2B-3E91-4AC5-B6B4-BC9AFA6F8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升级版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dirty="0" err="1"/>
              <a:t>分类的异常处理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pPr>
              <a:lnSpc>
                <a:spcPct val="80000"/>
              </a:lnSpc>
            </a:pPr>
            <a:r>
              <a:rPr lang="zh-CN" altLang="en-US"/>
              <a:t>格式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try: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    被检测的语句块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except 异常类型1[ as 错误描述1]: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    异常处理语句块1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except异常类型2[ as 错误描述2]: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    异常处理语句块2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except (异常类型3, 异常类型4,……)[ as 错误描述3]: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    异常处理语句块3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except: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    异常处理语句块n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else: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/>
              <a:t>    语句块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D9244E-5289-4921-B0F8-82E8BB78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dirty="0"/>
              <a:t>例</a:t>
            </a:r>
            <a:r>
              <a:rPr lang="en-US" altLang="zh-CN" sz="4000" dirty="0"/>
              <a:t>12-4 </a:t>
            </a:r>
            <a:r>
              <a:rPr lang="en-US" altLang="zh-CN" sz="4000" dirty="0" err="1"/>
              <a:t>对除法运算的分类异常处理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a = 12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# b = 0   		# 会引发第一个except子句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# b = 'abc'  	# 会引发第二个except子句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# b = 2   		# 会引发else子句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try: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c = a / b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except (</a:t>
            </a:r>
            <a:r>
              <a:rPr lang="en-US" altLang="zh-CN" cap="none" dirty="0"/>
              <a:t>N</a:t>
            </a:r>
            <a:r>
              <a:rPr lang="zh-CN" altLang="en-US" cap="none" dirty="0"/>
              <a:t>ame</a:t>
            </a:r>
            <a:r>
              <a:rPr lang="en-US" altLang="zh-CN" cap="none" dirty="0"/>
              <a:t>E</a:t>
            </a:r>
            <a:r>
              <a:rPr lang="zh-CN" altLang="en-US" cap="none" dirty="0"/>
              <a:t>rror, </a:t>
            </a:r>
            <a:r>
              <a:rPr lang="en-US" altLang="zh-CN" cap="none" dirty="0"/>
              <a:t>Z</a:t>
            </a:r>
            <a:r>
              <a:rPr lang="zh-CN" altLang="en-US" cap="none" dirty="0"/>
              <a:t>erodivision</a:t>
            </a:r>
            <a:r>
              <a:rPr lang="en-US" altLang="zh-CN" cap="none" dirty="0"/>
              <a:t>E</a:t>
            </a:r>
            <a:r>
              <a:rPr lang="zh-CN" altLang="en-US" cap="none" dirty="0"/>
              <a:t>rror) as 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print(111, 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except: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print(22)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else: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cap="none" dirty="0"/>
              <a:t>    print(3)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6816F5-34FD-427F-A9A7-191FAD33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60520-CF4D-4707-A622-1B619BA4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运行结果：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FDD563-6708-4360-A1AC-B6432D3F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80" y="1392383"/>
            <a:ext cx="11967120" cy="525658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==== # B=0</a:t>
            </a:r>
            <a:r>
              <a:rPr lang="zh-CN" altLang="en-US" dirty="0"/>
              <a:t>的情况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111 division by zero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 # B=‘ABC’</a:t>
            </a:r>
            <a:r>
              <a:rPr lang="zh-CN" altLang="en-US" dirty="0"/>
              <a:t>的情况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22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 # B=2 </a:t>
            </a:r>
            <a:r>
              <a:rPr lang="zh-CN" altLang="en-US" dirty="0"/>
              <a:t>的情况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1D4CC7-ADF8-4101-9F37-5669DA65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35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升级版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try…finally…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zh-CN" altLang="en-US" dirty="0"/>
              <a:t>try:</a:t>
            </a:r>
          </a:p>
          <a:p>
            <a:pPr marL="457200" lvl="1" indent="0">
              <a:buNone/>
            </a:pPr>
            <a:r>
              <a:rPr lang="zh-CN" altLang="en-US" dirty="0"/>
              <a:t>    被检测的语句块</a:t>
            </a:r>
          </a:p>
          <a:p>
            <a:pPr marL="457200" lvl="1" indent="0">
              <a:buNone/>
            </a:pPr>
            <a:r>
              <a:rPr lang="en-US" altLang="zh-CN" dirty="0"/>
              <a:t>Except </a:t>
            </a:r>
            <a:r>
              <a:rPr lang="zh-CN" altLang="en-US" dirty="0"/>
              <a:t>异常</a:t>
            </a:r>
            <a:r>
              <a:rPr lang="en-US" altLang="zh-CN" dirty="0"/>
              <a:t>1:</a:t>
            </a:r>
          </a:p>
          <a:p>
            <a:pPr marL="457200" lvl="1" indent="0">
              <a:buNone/>
            </a:pPr>
            <a:r>
              <a:rPr lang="en-US" altLang="zh-CN" dirty="0"/>
              <a:t>	  …</a:t>
            </a:r>
          </a:p>
          <a:p>
            <a:pPr marL="457200" lvl="1" indent="0">
              <a:buNone/>
            </a:pPr>
            <a:r>
              <a:rPr lang="en-US" altLang="zh-CN" dirty="0"/>
              <a:t>Except </a:t>
            </a:r>
            <a:r>
              <a:rPr lang="zh-CN" altLang="en-US" dirty="0"/>
              <a:t>异常</a:t>
            </a:r>
            <a:r>
              <a:rPr lang="en-US" altLang="zh-CN" dirty="0"/>
              <a:t>2:</a:t>
            </a:r>
          </a:p>
          <a:p>
            <a:pPr marL="457200" lvl="1" indent="0">
              <a:buNone/>
            </a:pPr>
            <a:r>
              <a:rPr lang="en-US" altLang="zh-CN" dirty="0"/>
              <a:t>	  …</a:t>
            </a:r>
          </a:p>
          <a:p>
            <a:pPr marL="457200" lvl="1" indent="0">
              <a:buNone/>
            </a:pPr>
            <a:r>
              <a:rPr lang="en-US" altLang="zh-CN" dirty="0"/>
              <a:t>Except:</a:t>
            </a:r>
          </a:p>
          <a:p>
            <a:pPr marL="457200" lvl="1" indent="0">
              <a:buNone/>
            </a:pPr>
            <a:r>
              <a:rPr lang="en-US" altLang="zh-CN" dirty="0"/>
              <a:t>	  …</a:t>
            </a:r>
          </a:p>
          <a:p>
            <a:pPr marL="457200" lvl="1" indent="0">
              <a:buNone/>
            </a:pPr>
            <a:r>
              <a:rPr lang="zh-CN" altLang="en-US" dirty="0"/>
              <a:t>finally:</a:t>
            </a:r>
          </a:p>
          <a:p>
            <a:pPr marL="457200" lvl="1" indent="0">
              <a:buNone/>
            </a:pPr>
            <a:r>
              <a:rPr lang="zh-CN" altLang="en-US" dirty="0"/>
              <a:t>    语句块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无论是否发生异常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都将执行finally后的语句块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AC3601-8762-4CFE-B328-F0BC7709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例</a:t>
            </a:r>
            <a:r>
              <a:rPr lang="en-US" altLang="zh-CN" sz="3600" dirty="0"/>
              <a:t>12-5 修改例12-4，增加finally子句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881117"/>
            <a:ext cx="11186715" cy="570002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a = 12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# b = 0   # 会引发第一个except子句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# b = 'abc'   # 会引发第二个except子句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# b = 2   # 会引发else子句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try: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c = a / b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except (NameError, ZeroDivisionError) as 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print(111, e)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except: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print(22)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else: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print(3)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finally: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print("I'm here forever!")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361D4F-F46E-4190-8C1A-9896ED8D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749C7-4524-48BD-AD49-818456AE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运行结果：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A3214-106A-43C5-B23C-69D5756BA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==== B=0 </a:t>
            </a:r>
            <a:r>
              <a:rPr lang="zh-CN" altLang="en-US" sz="2800" dirty="0"/>
              <a:t>的情况：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111 division by zero</a:t>
            </a:r>
          </a:p>
          <a:p>
            <a:pPr marL="0" indent="0">
              <a:buNone/>
            </a:pPr>
            <a:r>
              <a:rPr lang="en-US" altLang="zh-CN" sz="2800" dirty="0"/>
              <a:t>I'm here forever!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==== B=2 </a:t>
            </a:r>
            <a:r>
              <a:rPr lang="zh-CN" altLang="en-US" sz="2800" dirty="0"/>
              <a:t>的情况：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3</a:t>
            </a:r>
          </a:p>
          <a:p>
            <a:pPr marL="0" indent="0">
              <a:buNone/>
            </a:pPr>
            <a:r>
              <a:rPr lang="en-US" altLang="zh-CN" sz="2800" dirty="0"/>
              <a:t>I'm here forever!</a:t>
            </a:r>
            <a:endParaRPr lang="zh-CN" altLang="en-US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4D2D65-7163-44D2-8ABE-41D422A5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967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12.2.3 自定义异常类*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zh-CN" altLang="en-US" dirty="0"/>
              <a:t>主动引发异常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使用raise语句将主动引发异常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dirty="0"/>
              <a:t> 格式：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dirty="0"/>
              <a:t>raise 异常类型[(提示信息)]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dirty="0"/>
              <a:t>&gt;&gt;&gt; raise Exception('bad test!')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dirty="0"/>
              <a:t>Traceback (most recent call last):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dirty="0"/>
              <a:t>  File "&lt;pyshell#3&gt;", line 1, in &lt;module&gt;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dirty="0"/>
              <a:t>    raise Exception('bad test!')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dirty="0"/>
              <a:t>Exception: bad test!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8F1869-5B66-40FA-B63F-4EDCE7C2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自定义异常类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用于对应Python中没有涉及到的异常情况</a:t>
            </a:r>
          </a:p>
          <a:p>
            <a:r>
              <a:rPr lang="zh-CN" altLang="en-US"/>
              <a:t>自定义异常类必须继承Exception类</a:t>
            </a:r>
          </a:p>
          <a:p>
            <a:r>
              <a:rPr lang="zh-CN" altLang="en-US"/>
              <a:t>建议类名以Error或Exception作为后缀，表示这是异常的类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B373DA-DD54-43CA-B39B-7B05593A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12-6 raise语句与自定义异常类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dirty="0"/>
              <a:t>class TestError(Exception):    </a:t>
            </a:r>
            <a:r>
              <a:rPr lang="en-US" altLang="zh-CN" dirty="0"/>
              <a:t>#</a:t>
            </a:r>
            <a:r>
              <a:rPr lang="zh-CN" altLang="en-US" sz="3200" dirty="0"/>
              <a:t>继承自</a:t>
            </a:r>
            <a:r>
              <a:rPr lang="en-US" altLang="zh-CN" sz="3200" dirty="0"/>
              <a:t>Exception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def __init__(self, data):</a:t>
            </a:r>
          </a:p>
          <a:p>
            <a:pPr marL="0" indent="0">
              <a:buNone/>
            </a:pPr>
            <a:r>
              <a:rPr lang="zh-CN" altLang="en-US" dirty="0"/>
              <a:t>        self.data = data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a = eval(input('Please input:'))</a:t>
            </a:r>
          </a:p>
          <a:p>
            <a:pPr marL="0" indent="0">
              <a:buNone/>
            </a:pPr>
            <a:r>
              <a:rPr lang="zh-CN" altLang="en-US" dirty="0"/>
              <a:t>if a==0:</a:t>
            </a:r>
          </a:p>
          <a:p>
            <a:pPr marL="0" indent="0">
              <a:buNone/>
            </a:pPr>
            <a:r>
              <a:rPr lang="zh-CN" altLang="en-US" dirty="0"/>
              <a:t>    raise TestError(‘不能为0哦！‘)   </a:t>
            </a:r>
            <a:r>
              <a:rPr lang="en-US" altLang="zh-CN" dirty="0"/>
              <a:t>#</a:t>
            </a:r>
            <a:r>
              <a:rPr lang="zh-CN" altLang="en-US" sz="3200" dirty="0"/>
              <a:t>主动引发异常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c = 100 / a</a:t>
            </a:r>
          </a:p>
          <a:p>
            <a:pPr marL="0" indent="0">
              <a:buNone/>
            </a:pPr>
            <a:r>
              <a:rPr lang="zh-CN" altLang="en-US" dirty="0"/>
              <a:t>print(c)</a:t>
            </a: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3093720" y="1700530"/>
            <a:ext cx="1849755" cy="31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B7B14B0-1B27-4101-BF1B-231077E4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12.3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断言处理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04042C-670C-46C3-A627-69A52B58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12.3.1 断言处理概述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断言是指由assert语句引发程序终止执行</a:t>
            </a:r>
          </a:p>
          <a:p>
            <a:r>
              <a:rPr lang="zh-CN" altLang="en-US"/>
              <a:t>assert语句中包含有测试条件，根据条件引发异常</a:t>
            </a:r>
          </a:p>
          <a:p>
            <a:r>
              <a:rPr lang="zh-CN" altLang="en-US"/>
              <a:t>断言常用于测试程序</a:t>
            </a:r>
          </a:p>
          <a:p>
            <a:pPr lvl="1"/>
            <a:r>
              <a:rPr lang="zh-CN" altLang="en-US"/>
              <a:t>目的是让程序在错误条件出现的瞬间自我止损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788D68-592F-4477-B7D0-81EA906C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12.3.2 </a:t>
            </a:r>
            <a:r>
              <a:rPr lang="en-US" altLang="zh-CN" sz="3600" dirty="0" err="1"/>
              <a:t>assert语句和AssertionError类</a:t>
            </a:r>
            <a:endParaRPr lang="en-US" altLang="zh-CN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cap="none" dirty="0"/>
              <a:t>assert语句的格式</a:t>
            </a:r>
          </a:p>
          <a:p>
            <a:pPr marL="457200" lvl="1" indent="0">
              <a:buNone/>
            </a:pPr>
            <a:r>
              <a:rPr lang="zh-CN" altLang="en-US" cap="none" dirty="0"/>
              <a:t>assert 逻辑表达式 [, 字符串表达式]</a:t>
            </a:r>
          </a:p>
          <a:p>
            <a:endParaRPr lang="zh-CN" altLang="en-US" cap="none" dirty="0"/>
          </a:p>
          <a:p>
            <a:pPr marL="0" indent="0">
              <a:buNone/>
            </a:pPr>
            <a:r>
              <a:rPr lang="zh-CN" altLang="en-US" cap="none" dirty="0"/>
              <a:t>例</a:t>
            </a:r>
            <a:r>
              <a:rPr lang="en-US" altLang="zh-CN" cap="none" dirty="0"/>
              <a:t>12-7 </a:t>
            </a:r>
            <a:r>
              <a:rPr lang="en-US" altLang="zh-CN" cap="none" dirty="0" err="1"/>
              <a:t>用assert语句监测程序</a:t>
            </a:r>
            <a:endParaRPr lang="en-US" altLang="zh-CN" cap="none" dirty="0"/>
          </a:p>
          <a:p>
            <a:pPr marL="0" indent="0">
              <a:buNone/>
            </a:pPr>
            <a:r>
              <a:rPr lang="en-US" altLang="zh-CN" cap="none" dirty="0"/>
              <a:t>a = eval(input('please input:'))</a:t>
            </a:r>
          </a:p>
          <a:p>
            <a:pPr marL="0" indent="0">
              <a:buNone/>
            </a:pPr>
            <a:r>
              <a:rPr lang="en-US" altLang="zh-CN" cap="none" dirty="0"/>
              <a:t>assert a != 0, '不能为0哦！'</a:t>
            </a:r>
          </a:p>
          <a:p>
            <a:pPr marL="0" indent="0">
              <a:buNone/>
            </a:pPr>
            <a:r>
              <a:rPr lang="en-US" altLang="zh-CN" cap="none" dirty="0"/>
              <a:t>c = 100 / a</a:t>
            </a:r>
          </a:p>
          <a:p>
            <a:pPr marL="0" indent="0">
              <a:buNone/>
            </a:pPr>
            <a:r>
              <a:rPr lang="en-US" altLang="zh-CN" cap="none" dirty="0"/>
              <a:t>print(c)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00750" y="4403090"/>
            <a:ext cx="5746115" cy="1938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Please input:0↙</a:t>
            </a:r>
          </a:p>
          <a:p>
            <a:r>
              <a:rPr lang="zh-CN" altLang="en-US" sz="2400" dirty="0"/>
              <a:t>Traceback (most recent call last):</a:t>
            </a:r>
          </a:p>
          <a:p>
            <a:r>
              <a:rPr lang="zh-CN" altLang="en-US" sz="2400" dirty="0"/>
              <a:t>  File "E:\Ex12-7.py", line 2, in &lt;module&gt;</a:t>
            </a:r>
          </a:p>
          <a:p>
            <a:r>
              <a:rPr lang="zh-CN" altLang="en-US" sz="2400" dirty="0"/>
              <a:t>    assert a!=0,'不能为0哦！'</a:t>
            </a:r>
          </a:p>
          <a:p>
            <a:r>
              <a:rPr lang="zh-CN" altLang="en-US" sz="2400" dirty="0"/>
              <a:t>AssertionError: 不能为0哦！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7EF70C-BB59-4719-A286-EF9A9CBE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12-8 try-except语句捕获assert语句引发的异常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cap="none" dirty="0"/>
              <a:t>try:</a:t>
            </a:r>
          </a:p>
          <a:p>
            <a:pPr marL="0" indent="0">
              <a:buNone/>
            </a:pPr>
            <a:r>
              <a:rPr lang="zh-CN" altLang="en-US" cap="none" dirty="0"/>
              <a:t>    a = eval(input('please input:'))</a:t>
            </a:r>
          </a:p>
          <a:p>
            <a:pPr marL="0" indent="0">
              <a:buNone/>
            </a:pPr>
            <a:r>
              <a:rPr lang="zh-CN" altLang="en-US" cap="none" dirty="0"/>
              <a:t>    assert a != 0, '不能为0哦！'</a:t>
            </a:r>
          </a:p>
          <a:p>
            <a:pPr marL="0" indent="0">
              <a:buNone/>
            </a:pPr>
            <a:r>
              <a:rPr lang="zh-CN" altLang="en-US" cap="none" dirty="0"/>
              <a:t>    c = 100 / a</a:t>
            </a:r>
          </a:p>
          <a:p>
            <a:pPr marL="0" indent="0">
              <a:buNone/>
            </a:pPr>
            <a:r>
              <a:rPr lang="zh-CN" altLang="en-US" cap="none" dirty="0"/>
              <a:t>    print(c)</a:t>
            </a:r>
          </a:p>
          <a:p>
            <a:pPr marL="0" indent="0">
              <a:buNone/>
            </a:pPr>
            <a:r>
              <a:rPr lang="zh-CN" altLang="en-US" cap="none" dirty="0"/>
              <a:t>except assertionerror:</a:t>
            </a:r>
          </a:p>
          <a:p>
            <a:pPr marL="0" indent="0">
              <a:buNone/>
            </a:pPr>
            <a:r>
              <a:rPr lang="zh-CN" altLang="en-US" cap="none" dirty="0"/>
              <a:t>    print('这是断言错误!')</a:t>
            </a:r>
          </a:p>
          <a:p>
            <a:pPr marL="0" indent="0">
              <a:buNone/>
            </a:pPr>
            <a:r>
              <a:rPr lang="zh-CN" altLang="en-US" cap="none" dirty="0"/>
              <a:t>except:</a:t>
            </a:r>
          </a:p>
          <a:p>
            <a:pPr marL="0" indent="0">
              <a:buNone/>
            </a:pPr>
            <a:r>
              <a:rPr lang="zh-CN" altLang="en-US" cap="none" dirty="0"/>
              <a:t>    print('other error!')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D96E6F-39A6-439B-906D-8C9F2FE6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12.3.3 启用/禁用断言*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断言主要用于发现程序中的错误，可以使编程者及时修正程序</a:t>
            </a:r>
          </a:p>
          <a:p>
            <a:r>
              <a:rPr lang="zh-CN" altLang="en-US" dirty="0"/>
              <a:t>断言针对的是程序员的错误，而不是用户的错误</a:t>
            </a:r>
          </a:p>
          <a:p>
            <a:r>
              <a:rPr lang="zh-CN" altLang="en-US" dirty="0"/>
              <a:t>断言是针对开发的，不是针对最终产品</a:t>
            </a:r>
          </a:p>
          <a:p>
            <a:r>
              <a:rPr lang="zh-CN" altLang="en-US" dirty="0"/>
              <a:t>当将程序交付时，它应该没有缺陷，不需要进行调试检查，此时可以使用禁用断言的运行程序方式来运行</a:t>
            </a:r>
          </a:p>
          <a:p>
            <a:r>
              <a:rPr lang="zh-CN" altLang="en-US" dirty="0"/>
              <a:t>解释器的两种运行方式</a:t>
            </a:r>
          </a:p>
          <a:p>
            <a:pPr lvl="1"/>
            <a:r>
              <a:rPr lang="zh-CN" altLang="en-US" dirty="0"/>
              <a:t>调试模式</a:t>
            </a:r>
            <a:r>
              <a:rPr lang="en-US" altLang="zh-CN" dirty="0"/>
              <a:t>——</a:t>
            </a:r>
            <a:r>
              <a:rPr lang="zh-CN" altLang="en-US" sz="3200" dirty="0"/>
              <a:t>断言有效</a:t>
            </a:r>
            <a:endParaRPr lang="zh-CN" altLang="en-US" dirty="0"/>
          </a:p>
          <a:p>
            <a:pPr lvl="1"/>
            <a:r>
              <a:rPr lang="zh-CN" altLang="en-US" dirty="0"/>
              <a:t>优化模式</a:t>
            </a:r>
            <a:r>
              <a:rPr lang="en-US" altLang="zh-CN" dirty="0"/>
              <a:t>——</a:t>
            </a:r>
            <a:r>
              <a:rPr lang="zh-CN" altLang="en-US" sz="3200" dirty="0"/>
              <a:t>忽略断言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zh-CN" altLang="en-US" sz="3200" dirty="0"/>
              <a:t>优化模式只在命令行方式运行Python文件时可用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0768B6-E5B8-4539-B767-9669D92D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分别以调试模式和优化模式执行程序的效果</a:t>
            </a:r>
          </a:p>
        </p:txBody>
      </p:sp>
      <p:pic>
        <p:nvPicPr>
          <p:cNvPr id="176" name="图片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" y="1198880"/>
            <a:ext cx="10570845" cy="4729480"/>
          </a:xfrm>
          <a:prstGeom prst="rect">
            <a:avLst/>
          </a:prstGeom>
        </p:spPr>
      </p:pic>
      <p:sp>
        <p:nvSpPr>
          <p:cNvPr id="172" name="线形标注 1 172"/>
          <p:cNvSpPr/>
          <p:nvPr/>
        </p:nvSpPr>
        <p:spPr>
          <a:xfrm>
            <a:off x="4534535" y="2733675"/>
            <a:ext cx="1597660" cy="599440"/>
          </a:xfrm>
          <a:prstGeom prst="borderCallout1">
            <a:avLst>
              <a:gd name="adj1" fmla="val 29483"/>
              <a:gd name="adj2" fmla="val 537"/>
              <a:gd name="adj3" fmla="val 93896"/>
              <a:gd name="adj4" fmla="val -6346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indent="0" algn="ctr"/>
            <a:r>
              <a:rPr lang="en-US" altLang="zh-CN" sz="2400" kern="1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调试模式</a:t>
            </a:r>
          </a:p>
        </p:txBody>
      </p:sp>
      <p:sp>
        <p:nvSpPr>
          <p:cNvPr id="175" name="线形标注 1 175"/>
          <p:cNvSpPr/>
          <p:nvPr/>
        </p:nvSpPr>
        <p:spPr>
          <a:xfrm>
            <a:off x="4874260" y="4484370"/>
            <a:ext cx="1482725" cy="655955"/>
          </a:xfrm>
          <a:prstGeom prst="borderCallout1">
            <a:avLst>
              <a:gd name="adj1" fmla="val 29483"/>
              <a:gd name="adj2" fmla="val 537"/>
              <a:gd name="adj3" fmla="val -18799"/>
              <a:gd name="adj4" fmla="val -6691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indent="0" algn="ctr"/>
            <a:r>
              <a:rPr lang="en-US" altLang="zh-CN" sz="2400" kern="1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优化模式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2279650" y="4076700"/>
            <a:ext cx="431800" cy="4324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C8789B-6655-446B-9DB6-E188EE22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2082800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12.4 Python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的</a:t>
            </a:r>
            <a:br>
              <a:rPr lang="zh-CN" altLang="en-US" kern="1200" dirty="0">
                <a:latin typeface="+mj-lt"/>
                <a:ea typeface="+mj-ea"/>
                <a:cs typeface="+mj-cs"/>
              </a:rPr>
            </a:br>
            <a:r>
              <a:rPr lang="zh-CN" altLang="en-US" kern="1200" dirty="0">
                <a:latin typeface="+mj-lt"/>
                <a:ea typeface="+mj-ea"/>
                <a:cs typeface="+mj-cs"/>
              </a:rPr>
              <a:t>调试工具</a:t>
            </a:r>
            <a:r>
              <a:rPr lang="en-US" altLang="zh-CN" kern="1200" dirty="0">
                <a:latin typeface="+mj-lt"/>
                <a:ea typeface="+mj-ea"/>
                <a:cs typeface="+mj-cs"/>
              </a:rPr>
              <a:t>pdb*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A79192-4BEF-407C-A14D-8B11ECFD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t>中如何调试？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IDLE不具有调试功能，也不能在Python的命令行解释器中进行调试</a:t>
            </a:r>
          </a:p>
          <a:p>
            <a:r>
              <a:rPr lang="zh-CN" altLang="en-US"/>
              <a:t>在Windows操作系统下，必须打开Window的</a:t>
            </a:r>
            <a:r>
              <a:rPr lang="zh-CN" altLang="en-US">
                <a:solidFill>
                  <a:srgbClr val="FF0000"/>
                </a:solidFill>
              </a:rPr>
              <a:t>命令提示符窗口</a:t>
            </a:r>
            <a:r>
              <a:rPr lang="zh-CN" altLang="en-US"/>
              <a:t>，进入</a:t>
            </a:r>
            <a:r>
              <a:rPr lang="zh-CN" altLang="en-US">
                <a:solidFill>
                  <a:srgbClr val="FF0000"/>
                </a:solidFill>
              </a:rPr>
              <a:t>程序文件所在的目录</a:t>
            </a:r>
            <a:r>
              <a:rPr lang="zh-CN" altLang="en-US"/>
              <a:t>，并输入以下格式的命令后进入pdb调试模式</a:t>
            </a:r>
          </a:p>
          <a:p>
            <a:pPr lvl="1"/>
            <a:r>
              <a:rPr lang="zh-CN" altLang="en-US"/>
              <a:t>python –m pdb 文件名.py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C8408-F348-4E5F-AC48-7D322D6C5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pdb</a:t>
            </a:r>
            <a:r>
              <a:t>调试命令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272540" y="1160145"/>
          <a:ext cx="9929495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4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0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0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完整命令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简写命令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说明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Calibri" panose="020F0502020204030204" charset="0"/>
                          <a:cs typeface="Calibri" panose="020F0502020204030204" charset="0"/>
                        </a:rPr>
                        <a:t>a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rgs</a:t>
                      </a:r>
                      <a:endParaRPr lang="en-US" altLang="en-US" sz="18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打印当前函数的参数。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break</a:t>
                      </a:r>
                      <a:r>
                        <a:rPr lang="en-US" sz="1800" b="0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en-US" sz="1800" b="0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设置断点，n为断点的行号。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clear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清除断点。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condition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设置条件断点。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continue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c或cont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继续运行，直到遇到断点或者程序结束。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disable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禁用断点。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enable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启用断点。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help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查看pdb帮助。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ignore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忽略断点。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jump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j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跳转到指定行数运行。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list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列出脚本清单。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next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执行下条语句，遇到函数不进入其内部。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打印变量值，也可以用print。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quit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退出pdb。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一直运行到函数返回。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tbreak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设置临时断点，断点只中断一次。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step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执行下一条语句，遇到函数进入其内部。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where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查看所在的位置。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!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在pdb中执行语句。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CA6BC74-2AC2-474E-8468-451E7B4C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12-9 </a:t>
            </a:r>
            <a:r>
              <a:rPr lang="en-US" altLang="zh-CN" sz="3200" dirty="0" err="1"/>
              <a:t>输入以下程序，并利用pdb进行调试</a:t>
            </a:r>
            <a:endParaRPr lang="en-US" altLang="zh-CN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def test(n):</a:t>
            </a:r>
          </a:p>
          <a:p>
            <a:pPr marL="0" indent="0">
              <a:buNone/>
            </a:pPr>
            <a:r>
              <a:rPr lang="zh-CN" altLang="en-US"/>
              <a:t>    x = 100</a:t>
            </a:r>
          </a:p>
          <a:p>
            <a:pPr marL="0" indent="0">
              <a:buNone/>
            </a:pPr>
            <a:r>
              <a:rPr lang="zh-CN" altLang="en-US"/>
              <a:t>    for i in range(n):</a:t>
            </a:r>
          </a:p>
          <a:p>
            <a:pPr marL="0" indent="0">
              <a:buNone/>
            </a:pPr>
            <a:r>
              <a:rPr lang="zh-CN" altLang="en-US"/>
              <a:t>        x = x - i</a:t>
            </a:r>
          </a:p>
          <a:p>
            <a:pPr marL="0" indent="0">
              <a:buNone/>
            </a:pPr>
            <a:r>
              <a:rPr lang="zh-CN" altLang="en-US"/>
              <a:t>        print(x)</a:t>
            </a:r>
          </a:p>
          <a:p>
            <a:pPr marL="0" indent="0">
              <a:buNone/>
            </a:pPr>
            <a:r>
              <a:rPr lang="zh-CN" altLang="en-US"/>
              <a:t>    print('----end----')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test(5)</a:t>
            </a:r>
          </a:p>
        </p:txBody>
      </p:sp>
      <p:grpSp>
        <p:nvGrpSpPr>
          <p:cNvPr id="183" name="组合 183"/>
          <p:cNvGrpSpPr/>
          <p:nvPr/>
        </p:nvGrpSpPr>
        <p:grpSpPr>
          <a:xfrm>
            <a:off x="4469130" y="1352550"/>
            <a:ext cx="7289800" cy="4796790"/>
            <a:chOff x="23847" y="0"/>
            <a:chExt cx="4579958" cy="3188472"/>
          </a:xfrm>
        </p:grpSpPr>
        <p:pic>
          <p:nvPicPr>
            <p:cNvPr id="199" name="图片 199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3847" y="0"/>
              <a:ext cx="4579958" cy="3188472"/>
            </a:xfrm>
            <a:prstGeom prst="rect">
              <a:avLst/>
            </a:prstGeom>
          </p:spPr>
        </p:pic>
        <p:cxnSp>
          <p:nvCxnSpPr>
            <p:cNvPr id="196" name="直接连接符 196"/>
            <p:cNvCxnSpPr/>
            <p:nvPr/>
          </p:nvCxnSpPr>
          <p:spPr>
            <a:xfrm>
              <a:off x="47809" y="1432008"/>
              <a:ext cx="53975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7"/>
            <p:cNvCxnSpPr/>
            <p:nvPr/>
          </p:nvCxnSpPr>
          <p:spPr>
            <a:xfrm>
              <a:off x="47809" y="1654258"/>
              <a:ext cx="46799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8"/>
            <p:cNvCxnSpPr/>
            <p:nvPr/>
          </p:nvCxnSpPr>
          <p:spPr>
            <a:xfrm>
              <a:off x="40189" y="2575643"/>
              <a:ext cx="46799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2F2A1-231C-42D8-9542-F36F9296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节习题全部</a:t>
            </a:r>
            <a:r>
              <a:rPr lang="en-US" altLang="zh-CN" dirty="0"/>
              <a:t>(P69-71)</a:t>
            </a:r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将作业写在</a:t>
            </a:r>
            <a:r>
              <a:rPr lang="en-US" altLang="zh-CN" dirty="0"/>
              <a:t>word</a:t>
            </a:r>
            <a:r>
              <a:rPr lang="zh-CN" altLang="en-US" dirty="0"/>
              <a:t>文档中，写清题号，保存为</a:t>
            </a:r>
            <a:r>
              <a:rPr lang="en-US" altLang="zh-CN" dirty="0"/>
              <a:t>:</a:t>
            </a:r>
          </a:p>
          <a:p>
            <a:pPr marL="457200" lvl="1" indent="0">
              <a:buNone/>
            </a:pPr>
            <a:r>
              <a:rPr lang="en-US" altLang="zh-CN" dirty="0"/>
              <a:t>           ”</a:t>
            </a:r>
            <a:r>
              <a:rPr lang="zh-CN" altLang="en-US" dirty="0"/>
              <a:t>学号姓名</a:t>
            </a:r>
            <a:r>
              <a:rPr lang="en-US" altLang="zh-CN" dirty="0"/>
              <a:t>-</a:t>
            </a:r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章作业</a:t>
            </a:r>
            <a:r>
              <a:rPr lang="en-US" altLang="zh-CN" dirty="0"/>
              <a:t>.docx</a:t>
            </a:r>
            <a:r>
              <a:rPr lang="zh-CN" altLang="en-US" dirty="0"/>
              <a:t>“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本章是第</a:t>
            </a:r>
            <a:r>
              <a:rPr lang="en-US" altLang="zh-CN" dirty="0"/>
              <a:t>3</a:t>
            </a:r>
            <a:r>
              <a:rPr lang="zh-CN" altLang="en-US" dirty="0"/>
              <a:t>章，</a:t>
            </a:r>
            <a:r>
              <a:rPr lang="en-US" altLang="zh-CN" dirty="0"/>
              <a:t>x</a:t>
            </a:r>
            <a:r>
              <a:rPr lang="zh-CN" altLang="en-US" dirty="0"/>
              <a:t>写</a:t>
            </a:r>
            <a:r>
              <a:rPr lang="en-US" altLang="zh-CN" dirty="0"/>
              <a:t>3</a:t>
            </a:r>
            <a:r>
              <a:rPr lang="zh-CN" altLang="en-US" dirty="0"/>
              <a:t>，其他章类推。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上传作业到教学网站</a:t>
            </a:r>
            <a:r>
              <a:rPr lang="en-US" altLang="zh-CN" dirty="0"/>
              <a:t>-</a:t>
            </a:r>
            <a:r>
              <a:rPr lang="zh-CN" altLang="en-US" dirty="0"/>
              <a:t>提交作业，周次选择</a:t>
            </a:r>
            <a:r>
              <a:rPr lang="en-US" altLang="zh-CN" dirty="0"/>
              <a:t>x</a:t>
            </a:r>
            <a:r>
              <a:rPr lang="zh-CN" altLang="en-US" dirty="0"/>
              <a:t>，即第几章作业就传到周次为几。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C455446-1247-4865-A2D7-599A9500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33af9ec-1ae0-4637-b14a-a29491fb867b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1b617a3-3062-4435-82f2-c74dde67b66c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1931</Words>
  <Application>Microsoft Office PowerPoint</Application>
  <PresentationFormat>宽屏</PresentationFormat>
  <Paragraphs>414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黑体</vt:lpstr>
      <vt:lpstr>华文新魏</vt:lpstr>
      <vt:lpstr>楷体</vt:lpstr>
      <vt:lpstr>宋体</vt:lpstr>
      <vt:lpstr>微软雅黑</vt:lpstr>
      <vt:lpstr>Arial</vt:lpstr>
      <vt:lpstr>Calibri</vt:lpstr>
      <vt:lpstr>Calibri Light</vt:lpstr>
      <vt:lpstr>Century Gothic</vt:lpstr>
      <vt:lpstr>Viner Hand ITC</vt:lpstr>
      <vt:lpstr>Wingdings</vt:lpstr>
      <vt:lpstr>当图网</vt:lpstr>
      <vt:lpstr>当图网1</vt:lpstr>
      <vt:lpstr>1_当图网</vt:lpstr>
      <vt:lpstr>1_当图网1</vt:lpstr>
      <vt:lpstr>水汽尾迹</vt:lpstr>
      <vt:lpstr>PowerPoint 演示文稿</vt:lpstr>
      <vt:lpstr>目录</vt:lpstr>
      <vt:lpstr>12.1 程序的错误</vt:lpstr>
      <vt:lpstr>错误的类型</vt:lpstr>
      <vt:lpstr>1. 语法错误</vt:lpstr>
      <vt:lpstr>语法出错提示</vt:lpstr>
      <vt:lpstr>2. 运行时错误</vt:lpstr>
      <vt:lpstr>接上一页（续）</vt:lpstr>
      <vt:lpstr> </vt:lpstr>
      <vt:lpstr>运行时错误的出错提示</vt:lpstr>
      <vt:lpstr>3. 逻辑错误</vt:lpstr>
      <vt:lpstr>12.2 异常处理</vt:lpstr>
      <vt:lpstr>12.2.1 异常概述</vt:lpstr>
      <vt:lpstr>1. 异常捕捉</vt:lpstr>
      <vt:lpstr>2. 异常类</vt:lpstr>
      <vt:lpstr>Python中常见的异常类</vt:lpstr>
      <vt:lpstr>12.2.2 try-except语句</vt:lpstr>
      <vt:lpstr>例12-3 利用try语句判断输入数据的类型</vt:lpstr>
      <vt:lpstr>2. 升级版1：分类的异常处理</vt:lpstr>
      <vt:lpstr>例12-4 对除法运算的分类异常处理</vt:lpstr>
      <vt:lpstr>运行结果：</vt:lpstr>
      <vt:lpstr>3. 升级版2：try…finally…</vt:lpstr>
      <vt:lpstr>例12-5 修改例12-4，增加finally子句</vt:lpstr>
      <vt:lpstr>运行结果：</vt:lpstr>
      <vt:lpstr>12.2.3 自定义异常类*</vt:lpstr>
      <vt:lpstr>2. 自定义异常类</vt:lpstr>
      <vt:lpstr>例12-6 raise语句与自定义异常类</vt:lpstr>
      <vt:lpstr>12.3 断言处理</vt:lpstr>
      <vt:lpstr>12.3.1 断言处理概述</vt:lpstr>
      <vt:lpstr>12.3.2 assert语句和AssertionError类</vt:lpstr>
      <vt:lpstr>例12-8 try-except语句捕获assert语句引发的异常</vt:lpstr>
      <vt:lpstr>12.3.3 启用/禁用断言*</vt:lpstr>
      <vt:lpstr>分别以调试模式和优化模式执行程序的效果</vt:lpstr>
      <vt:lpstr>12.4 Python的 调试工具pdb*</vt:lpstr>
      <vt:lpstr>Python中如何调试？</vt:lpstr>
      <vt:lpstr>pdb调试命令</vt:lpstr>
      <vt:lpstr>例12-9 输入以下程序，并利用pdb进行调试</vt:lpstr>
      <vt:lpstr>本章习题  P</vt:lpstr>
      <vt:lpstr>课后作业</vt:lpstr>
      <vt:lpstr>PowerPoint 演示文稿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Julia</cp:lastModifiedBy>
  <cp:revision>56</cp:revision>
  <dcterms:created xsi:type="dcterms:W3CDTF">2018-10-09T06:59:00Z</dcterms:created>
  <dcterms:modified xsi:type="dcterms:W3CDTF">2023-05-05T04:44:48Z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