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4.xml" ContentType="application/vnd.openxmlformats-officedocument.them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1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2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3.xml" ContentType="application/vnd.openxmlformats-officedocument.presentationml.notesSlide+xml"/>
  <Override PartName="/ppt/tags/tag111.xml" ContentType="application/vnd.openxmlformats-officedocument.presentationml.tags+xml"/>
  <Override PartName="/ppt/notesSlides/notesSlide4.xml" ContentType="application/vnd.openxmlformats-officedocument.presentationml.notesSlide+xml"/>
  <Override PartName="/ppt/tags/tag112.xml" ContentType="application/vnd.openxmlformats-officedocument.presentationml.tags+xml"/>
  <Override PartName="/ppt/notesSlides/notesSlide5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701" r:id="rId3"/>
  </p:sldMasterIdLst>
  <p:notesMasterIdLst>
    <p:notesMasterId r:id="rId74"/>
  </p:notesMasterIdLst>
  <p:sldIdLst>
    <p:sldId id="484" r:id="rId4"/>
    <p:sldId id="582" r:id="rId5"/>
    <p:sldId id="485" r:id="rId6"/>
    <p:sldId id="483" r:id="rId7"/>
    <p:sldId id="486" r:id="rId8"/>
    <p:sldId id="487" r:id="rId9"/>
    <p:sldId id="494" r:id="rId10"/>
    <p:sldId id="488" r:id="rId11"/>
    <p:sldId id="495" r:id="rId12"/>
    <p:sldId id="496" r:id="rId13"/>
    <p:sldId id="497" r:id="rId14"/>
    <p:sldId id="498" r:id="rId15"/>
    <p:sldId id="499" r:id="rId16"/>
    <p:sldId id="500" r:id="rId17"/>
    <p:sldId id="501" r:id="rId18"/>
    <p:sldId id="489" r:id="rId19"/>
    <p:sldId id="502" r:id="rId20"/>
    <p:sldId id="503" r:id="rId21"/>
    <p:sldId id="504" r:id="rId22"/>
    <p:sldId id="505" r:id="rId23"/>
    <p:sldId id="506" r:id="rId24"/>
    <p:sldId id="512" r:id="rId25"/>
    <p:sldId id="507" r:id="rId26"/>
    <p:sldId id="508" r:id="rId27"/>
    <p:sldId id="509" r:id="rId28"/>
    <p:sldId id="510" r:id="rId29"/>
    <p:sldId id="511" r:id="rId30"/>
    <p:sldId id="513" r:id="rId31"/>
    <p:sldId id="514" r:id="rId32"/>
    <p:sldId id="515" r:id="rId33"/>
    <p:sldId id="516" r:id="rId34"/>
    <p:sldId id="517" r:id="rId35"/>
    <p:sldId id="518" r:id="rId36"/>
    <p:sldId id="519" r:id="rId37"/>
    <p:sldId id="520" r:id="rId38"/>
    <p:sldId id="521" r:id="rId39"/>
    <p:sldId id="522" r:id="rId40"/>
    <p:sldId id="523" r:id="rId41"/>
    <p:sldId id="524" r:id="rId42"/>
    <p:sldId id="525" r:id="rId43"/>
    <p:sldId id="526" r:id="rId44"/>
    <p:sldId id="527" r:id="rId45"/>
    <p:sldId id="528" r:id="rId46"/>
    <p:sldId id="529" r:id="rId47"/>
    <p:sldId id="530" r:id="rId48"/>
    <p:sldId id="531" r:id="rId49"/>
    <p:sldId id="532" r:id="rId50"/>
    <p:sldId id="533" r:id="rId51"/>
    <p:sldId id="534" r:id="rId52"/>
    <p:sldId id="535" r:id="rId53"/>
    <p:sldId id="536" r:id="rId54"/>
    <p:sldId id="537" r:id="rId55"/>
    <p:sldId id="538" r:id="rId56"/>
    <p:sldId id="539" r:id="rId57"/>
    <p:sldId id="540" r:id="rId58"/>
    <p:sldId id="541" r:id="rId59"/>
    <p:sldId id="490" r:id="rId60"/>
    <p:sldId id="542" r:id="rId61"/>
    <p:sldId id="543" r:id="rId62"/>
    <p:sldId id="545" r:id="rId63"/>
    <p:sldId id="546" r:id="rId64"/>
    <p:sldId id="491" r:id="rId65"/>
    <p:sldId id="547" r:id="rId66"/>
    <p:sldId id="548" r:id="rId67"/>
    <p:sldId id="549" r:id="rId68"/>
    <p:sldId id="550" r:id="rId69"/>
    <p:sldId id="577" r:id="rId70"/>
    <p:sldId id="573" r:id="rId71"/>
    <p:sldId id="578" r:id="rId72"/>
    <p:sldId id="493" r:id="rId73"/>
  </p:sldIdLst>
  <p:sldSz cx="12192000" cy="6858000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003300"/>
    <a:srgbClr val="DDDDDD"/>
    <a:srgbClr val="800080"/>
    <a:srgbClr val="660066"/>
    <a:srgbClr val="0033CC"/>
    <a:srgbClr val="990000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90" autoAdjust="0"/>
    <p:restoredTop sz="94660"/>
  </p:normalViewPr>
  <p:slideViewPr>
    <p:cSldViewPr showGuides="1">
      <p:cViewPr varScale="1">
        <p:scale>
          <a:sx n="72" d="100"/>
          <a:sy n="72" d="100"/>
        </p:scale>
        <p:origin x="596" y="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80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249CFA-C427-4C77-960D-70A82ADC9B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492488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16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57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62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Master" Target="../slideMasters/slideMaster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6" Type="http://schemas.openxmlformats.org/officeDocument/2006/relationships/image" Target="../media/image8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7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6.png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image" Target="../media/image7.png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image" Target="../media/image6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9.png"/><Relationship Id="rId5" Type="http://schemas.openxmlformats.org/officeDocument/2006/relationships/tags" Target="../tags/tag17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16.xml"/><Relationship Id="rId9" Type="http://schemas.openxmlformats.org/officeDocument/2006/relationships/tags" Target="../tags/tag21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image" Target="../media/image11.png"/><Relationship Id="rId5" Type="http://schemas.openxmlformats.org/officeDocument/2006/relationships/tags" Target="../tags/tag26.xml"/><Relationship Id="rId10" Type="http://schemas.openxmlformats.org/officeDocument/2006/relationships/image" Target="../media/image10.png"/><Relationship Id="rId4" Type="http://schemas.openxmlformats.org/officeDocument/2006/relationships/tags" Target="../tags/tag25.xml"/><Relationship Id="rId9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9" Type="http://schemas.openxmlformats.org/officeDocument/2006/relationships/image" Target="../media/image12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image" Target="../media/image6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41.xml"/><Relationship Id="rId4" Type="http://schemas.openxmlformats.org/officeDocument/2006/relationships/tags" Target="../tags/tag40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13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9" Type="http://schemas.openxmlformats.org/officeDocument/2006/relationships/image" Target="../media/image14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10" Type="http://schemas.openxmlformats.org/officeDocument/2006/relationships/image" Target="../media/image12.png"/><Relationship Id="rId4" Type="http://schemas.openxmlformats.org/officeDocument/2006/relationships/tags" Target="../tags/tag57.xml"/><Relationship Id="rId9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10" Type="http://schemas.openxmlformats.org/officeDocument/2006/relationships/image" Target="../media/image12.png"/><Relationship Id="rId4" Type="http://schemas.openxmlformats.org/officeDocument/2006/relationships/tags" Target="../tags/tag65.xml"/><Relationship Id="rId9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10" Type="http://schemas.openxmlformats.org/officeDocument/2006/relationships/image" Target="../media/image15.png"/><Relationship Id="rId4" Type="http://schemas.openxmlformats.org/officeDocument/2006/relationships/tags" Target="../tags/tag73.xml"/><Relationship Id="rId9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image" Target="../media/image16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82.xml"/><Relationship Id="rId10" Type="http://schemas.openxmlformats.org/officeDocument/2006/relationships/tags" Target="../tags/tag87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../media/image18.png"/><Relationship Id="rId5" Type="http://schemas.openxmlformats.org/officeDocument/2006/relationships/tags" Target="../tags/tag92.xml"/><Relationship Id="rId10" Type="http://schemas.openxmlformats.org/officeDocument/2006/relationships/image" Target="../media/image17.png"/><Relationship Id="rId4" Type="http://schemas.openxmlformats.org/officeDocument/2006/relationships/tags" Target="../tags/tag91.xml"/><Relationship Id="rId9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20224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1257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6960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4946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0906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534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276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550196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3921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64189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51892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515108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02488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96919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08762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65152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4437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5400" spc="600" baseline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36968572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4224039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60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55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36" Type="http://schemas.openxmlformats.org/officeDocument/2006/relationships/theme" Target="../theme/theme3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57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35" Type="http://schemas.openxmlformats.org/officeDocument/2006/relationships/slideLayout" Target="../slideLayouts/slideLayout61.xml"/><Relationship Id="rId8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0">
    <p:rand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ransition spd="slow" advClick="0" advTm="0">
    <p:random/>
  </p:transition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091" y="0"/>
            <a:ext cx="8526856" cy="90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1344" y="1196752"/>
            <a:ext cx="11737304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3241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fld id="{556F17D1-8D5E-4CFF-B688-992D981BB9B1}" type="slidenum">
              <a:rPr lang="zh-CN" altLang="en-US" smtClean="0">
                <a:solidFill>
                  <a:schemeClr val="tx1"/>
                </a:solidFill>
              </a:rPr>
              <a:pPr eaLnBrk="1" hangingPunct="1">
                <a:buFont typeface="Arial" panose="020B0604020202020204" pitchFamily="34" charset="0"/>
                <a:buNone/>
                <a:defRPr/>
              </a:pPr>
              <a:t>‹#›</a:t>
            </a:fld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9051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680" r:id="rId20"/>
    <p:sldLayoutId id="2147483684" r:id="rId21"/>
    <p:sldLayoutId id="2147483686" r:id="rId22"/>
    <p:sldLayoutId id="2147483688" r:id="rId23"/>
    <p:sldLayoutId id="2147483689" r:id="rId24"/>
    <p:sldLayoutId id="2147483690" r:id="rId25"/>
    <p:sldLayoutId id="2147483691" r:id="rId26"/>
    <p:sldLayoutId id="2147483692" r:id="rId27"/>
    <p:sldLayoutId id="2147483693" r:id="rId28"/>
    <p:sldLayoutId id="2147483694" r:id="rId29"/>
    <p:sldLayoutId id="2147483695" r:id="rId30"/>
    <p:sldLayoutId id="2147483696" r:id="rId31"/>
    <p:sldLayoutId id="2147483697" r:id="rId32"/>
    <p:sldLayoutId id="2147483698" r:id="rId33"/>
    <p:sldLayoutId id="2147483699" r:id="rId34"/>
    <p:sldLayoutId id="2147483700" r:id="rId3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all" baseline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Wingdings" panose="05000000000000000000" pitchFamily="2" charset="2"/>
        <a:buChar char="p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Wingdings" panose="05000000000000000000" pitchFamily="2" charset="2"/>
        <a:buChar char="p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Wingdings" panose="05000000000000000000" pitchFamily="2" charset="2"/>
        <a:buChar char="p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Wingdings" panose="05000000000000000000" pitchFamily="2" charset="2"/>
        <a:buChar char="p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Wingdings" panose="05000000000000000000" pitchFamily="2" charset="2"/>
        <a:buChar char="p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4.xml"/><Relationship Id="rId1" Type="http://schemas.openxmlformats.org/officeDocument/2006/relationships/tags" Target="../tags/tag9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62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97.xml"/><Relationship Id="rId6" Type="http://schemas.openxmlformats.org/officeDocument/2006/relationships/slide" Target="slide57.xml"/><Relationship Id="rId5" Type="http://schemas.openxmlformats.org/officeDocument/2006/relationships/slide" Target="slide16.xml"/><Relationship Id="rId4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9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9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0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tags" Target="../tags/tag10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10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0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0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0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0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0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0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tags" Target="../tags/tag10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1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://httpd.apache.org/" TargetMode="External"/><Relationship Id="rId1" Type="http://schemas.openxmlformats.org/officeDocument/2006/relationships/slideLayout" Target="../slideLayouts/slideLayout2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11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1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4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3"/>
          <p:cNvSpPr>
            <a:spLocks noGrp="1"/>
          </p:cNvSpPr>
          <p:nvPr>
            <p:ph type="ctrTitle"/>
          </p:nvPr>
        </p:nvSpPr>
        <p:spPr>
          <a:xfrm>
            <a:off x="1073785" y="2292350"/>
            <a:ext cx="9974580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zh-CN" altLang="en-US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第</a:t>
            </a:r>
            <a:r>
              <a:rPr lang="en-US" altLang="zh-CN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15</a:t>
            </a:r>
            <a:r>
              <a:rPr lang="zh-CN" altLang="en-US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章 </a:t>
            </a:r>
            <a:r>
              <a:rPr lang="en-US" altLang="zh-CN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Python</a:t>
            </a:r>
            <a:r>
              <a:rPr lang="zh-CN" altLang="en-US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网站开发</a:t>
            </a:r>
            <a:r>
              <a:rPr lang="en-US" altLang="zh-CN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*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2642D7B-FA05-4FCD-A9A6-95B2DAA19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1A328-B82A-40C2-9D12-E0A11AD4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18C0B5-3581-4416-8319-33F15C2BC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CN" sz="4000" dirty="0"/>
          </a:p>
          <a:p>
            <a:pPr marL="0" indent="0">
              <a:buNone/>
            </a:pPr>
            <a:r>
              <a:rPr lang="en-US" altLang="zh-CN" sz="4000" dirty="0"/>
              <a:t>			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第</a:t>
            </a:r>
            <a:r>
              <a:rPr lang="en-US" altLang="zh-CN" sz="4000" b="1" dirty="0">
                <a:latin typeface="+mj-ea"/>
                <a:ea typeface="+mj-ea"/>
                <a:sym typeface="+mn-ea"/>
              </a:rPr>
              <a:t>15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章 </a:t>
            </a:r>
            <a:r>
              <a:rPr lang="en-US" altLang="zh-CN" sz="4000" b="1" dirty="0">
                <a:latin typeface="+mj-ea"/>
                <a:ea typeface="+mj-ea"/>
                <a:sym typeface="+mn-ea"/>
              </a:rPr>
              <a:t>Python</a:t>
            </a:r>
            <a:r>
              <a:rPr lang="zh-CN" altLang="en-US" sz="4000" b="1">
                <a:latin typeface="+mj-ea"/>
                <a:ea typeface="+mj-ea"/>
                <a:sym typeface="+mn-ea"/>
              </a:rPr>
              <a:t>网站开发*</a:t>
            </a:r>
            <a:endParaRPr lang="zh-CN" altLang="en-US" sz="4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B31E4-9FCF-41A5-8696-E656E82E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678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Autofit/>
          </a:bodyPr>
          <a:lstStyle/>
          <a:p>
            <a:pPr algn="ctr">
              <a:buNone/>
            </a:pPr>
            <a:r>
              <a:rPr lang="zh-CN" altLang="en-US" sz="4000" dirty="0"/>
              <a:t>目录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sz="3200" dirty="0"/>
              <a:t>15.1 </a:t>
            </a:r>
            <a:r>
              <a:rPr lang="en-US" altLang="zh-CN" sz="3200" dirty="0">
                <a:hlinkClick r:id="rId3" action="ppaction://hlinksldjump"/>
              </a:rPr>
              <a:t>Web</a:t>
            </a:r>
            <a:r>
              <a:rPr lang="zh-CN" altLang="en-US" sz="3200" dirty="0">
                <a:hlinkClick r:id="rId3" action="ppaction://hlinksldjump"/>
              </a:rPr>
              <a:t>开发框架概述</a:t>
            </a:r>
            <a:endParaRPr lang="zh-CN" altLang="en-US" sz="3200" dirty="0"/>
          </a:p>
          <a:p>
            <a:r>
              <a:rPr lang="en-US" altLang="zh-CN" sz="3200" dirty="0"/>
              <a:t>15.2 </a:t>
            </a:r>
            <a:r>
              <a:rPr lang="en-US" altLang="zh-CN" sz="3200" dirty="0">
                <a:hlinkClick r:id="rId4" action="ppaction://hlinksldjump"/>
              </a:rPr>
              <a:t>Django</a:t>
            </a:r>
            <a:r>
              <a:rPr lang="zh-CN" altLang="en-US" sz="3200" dirty="0">
                <a:hlinkClick r:id="rId4" action="ppaction://hlinksldjump"/>
              </a:rPr>
              <a:t>开发环境的搭建</a:t>
            </a:r>
            <a:endParaRPr lang="zh-CN" altLang="en-US" sz="3200" dirty="0"/>
          </a:p>
          <a:p>
            <a:r>
              <a:rPr lang="en-US" altLang="zh-CN" sz="3200" dirty="0"/>
              <a:t>15.3 </a:t>
            </a:r>
            <a:r>
              <a:rPr lang="en-US" altLang="zh-CN" sz="3200" dirty="0">
                <a:hlinkClick r:id="rId5" action="ppaction://hlinksldjump"/>
              </a:rPr>
              <a:t>Dajngo</a:t>
            </a:r>
            <a:r>
              <a:rPr lang="zh-CN" altLang="en-US" sz="3200" dirty="0">
                <a:hlinkClick r:id="rId5" action="ppaction://hlinksldjump"/>
              </a:rPr>
              <a:t>框架的应用</a:t>
            </a:r>
            <a:endParaRPr lang="zh-CN" altLang="en-US" sz="3200" dirty="0"/>
          </a:p>
          <a:p>
            <a:r>
              <a:rPr lang="en-US" altLang="zh-CN" sz="3200" dirty="0"/>
              <a:t>15.4 </a:t>
            </a:r>
            <a:r>
              <a:rPr lang="en-US" altLang="zh-CN" sz="3200" dirty="0">
                <a:hlinkClick r:id="rId6" action="ppaction://hlinksldjump"/>
              </a:rPr>
              <a:t>Django</a:t>
            </a:r>
            <a:r>
              <a:rPr lang="zh-CN" altLang="en-US" sz="3200" dirty="0">
                <a:hlinkClick r:id="rId6" action="ppaction://hlinksldjump"/>
              </a:rPr>
              <a:t>框架的高级应用</a:t>
            </a:r>
            <a:endParaRPr lang="zh-CN" altLang="en-US" sz="3200" dirty="0"/>
          </a:p>
          <a:p>
            <a:r>
              <a:rPr lang="en-US" altLang="zh-CN" sz="3200" dirty="0"/>
              <a:t>15.5 </a:t>
            </a:r>
            <a:r>
              <a:rPr lang="en-US" altLang="zh-CN" sz="3200" dirty="0">
                <a:hlinkClick r:id="rId7" action="ppaction://hlinksldjump"/>
              </a:rPr>
              <a:t>Web</a:t>
            </a:r>
            <a:r>
              <a:rPr lang="zh-CN" altLang="en-US" sz="3200" dirty="0">
                <a:hlinkClick r:id="rId7" action="ppaction://hlinksldjump"/>
              </a:rPr>
              <a:t>开发应用案例</a:t>
            </a:r>
            <a:r>
              <a:rPr lang="en-US" altLang="zh-CN" sz="3200" dirty="0"/>
              <a:t>——</a:t>
            </a:r>
            <a:r>
              <a:rPr lang="zh-CN" altLang="en-US" sz="3200" dirty="0"/>
              <a:t>小型图书管理系统</a:t>
            </a:r>
          </a:p>
          <a:p>
            <a:endParaRPr lang="zh-CN" altLang="en-US" sz="32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687161A-473D-4352-A8D0-E24E34C7A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Click="0" advTm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483360" y="2292350"/>
            <a:ext cx="922591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altLang="zh-CN" kern="1200" dirty="0">
                <a:latin typeface="+mj-lt"/>
                <a:ea typeface="+mj-ea"/>
                <a:cs typeface="+mj-cs"/>
              </a:rPr>
              <a:t>15.1 Web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开发框架概述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10BCB1D-4168-44CB-A1FF-26AF890A5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>
              <a:buNone/>
            </a:pPr>
            <a:r>
              <a:rPr lang="zh-CN" altLang="en-US" dirty="0"/>
              <a:t>框架干什么用的？</a:t>
            </a:r>
          </a:p>
        </p:txBody>
      </p:sp>
      <p:sp>
        <p:nvSpPr>
          <p:cNvPr id="3" name="圆角矩形标注 2"/>
          <p:cNvSpPr/>
          <p:nvPr/>
        </p:nvSpPr>
        <p:spPr>
          <a:xfrm>
            <a:off x="5241925" y="791845"/>
            <a:ext cx="2819400" cy="1741170"/>
          </a:xfrm>
          <a:prstGeom prst="wedgeRoundRectCallout">
            <a:avLst>
              <a:gd name="adj1" fmla="val -96283"/>
              <a:gd name="adj2" fmla="val -4894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框架是一套可快速开发应用程序的编程工具</a:t>
            </a:r>
          </a:p>
        </p:txBody>
      </p:sp>
      <p:sp>
        <p:nvSpPr>
          <p:cNvPr id="4" name="云形标注 3"/>
          <p:cNvSpPr/>
          <p:nvPr/>
        </p:nvSpPr>
        <p:spPr>
          <a:xfrm>
            <a:off x="3434080" y="3203575"/>
            <a:ext cx="5688965" cy="244856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用于</a:t>
            </a:r>
            <a:r>
              <a:rPr lang="en-US" altLang="zh-CN" sz="2400"/>
              <a:t>Web</a:t>
            </a:r>
            <a:r>
              <a:rPr lang="zh-CN" altLang="en-US" sz="2400"/>
              <a:t>开发的常用框架有哪些？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DCBE2D7-6B26-4761-9482-7E2ED1866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Click="0" advTm="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>
              <a:buNone/>
            </a:pPr>
            <a:r>
              <a:rPr lang="en-US" altLang="zh-CN" dirty="0"/>
              <a:t>15.1.1 </a:t>
            </a:r>
            <a:r>
              <a:rPr dirty="0"/>
              <a:t>常用的</a:t>
            </a:r>
            <a:r>
              <a:rPr lang="en-US" altLang="zh-CN" dirty="0"/>
              <a:t>Web</a:t>
            </a:r>
            <a:r>
              <a:rPr dirty="0"/>
              <a:t>开发框架</a:t>
            </a:r>
            <a:endParaRPr lang="zh-CN" altLang="en-US" dirty="0"/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>
            <a:normAutofit/>
          </a:bodyPr>
          <a:lstStyle/>
          <a:p>
            <a:pPr eaLnBrk="1" hangingPunct="1"/>
            <a:r>
              <a:rPr lang="en-US" altLang="zh-CN" dirty="0"/>
              <a:t>Flask</a:t>
            </a:r>
          </a:p>
          <a:p>
            <a:pPr lvl="1" eaLnBrk="1" hangingPunct="1"/>
            <a:r>
              <a:rPr lang="en-US" altLang="zh-CN" dirty="0"/>
              <a:t>轻量级</a:t>
            </a:r>
            <a:r>
              <a:rPr dirty="0"/>
              <a:t>、简单</a:t>
            </a:r>
          </a:p>
          <a:p>
            <a:pPr eaLnBrk="1" hangingPunct="1"/>
            <a:r>
              <a:rPr lang="en-US" altLang="zh-CN" dirty="0"/>
              <a:t>Web2py</a:t>
            </a:r>
          </a:p>
          <a:p>
            <a:pPr lvl="1" eaLnBrk="1" hangingPunct="1"/>
            <a:r>
              <a:rPr dirty="0"/>
              <a:t>免费、开源、敏捷开发</a:t>
            </a:r>
          </a:p>
          <a:p>
            <a:pPr eaLnBrk="1" hangingPunct="1"/>
            <a:r>
              <a:rPr lang="en-US" altLang="zh-CN" dirty="0"/>
              <a:t>CherryPy</a:t>
            </a:r>
          </a:p>
          <a:p>
            <a:pPr lvl="1" eaLnBrk="1" hangingPunct="1"/>
            <a:r>
              <a:rPr dirty="0"/>
              <a:t>简单、实用</a:t>
            </a:r>
          </a:p>
          <a:p>
            <a:pPr eaLnBrk="1" hangingPunct="1"/>
            <a:r>
              <a:rPr lang="en-US" altLang="zh-CN" dirty="0"/>
              <a:t>Django</a:t>
            </a:r>
          </a:p>
          <a:p>
            <a:pPr lvl="1" eaLnBrk="1" hangingPunct="1"/>
            <a:r>
              <a:rPr dirty="0"/>
              <a:t>使用最广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9C345DA-A45B-483B-8CD8-0637E7685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Click="0" advTm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/>
              <a:t>15.1.2 MVC和MTV模式简介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7500" lnSpcReduction="10000"/>
          </a:bodyPr>
          <a:lstStyle/>
          <a:p>
            <a:r>
              <a:rPr lang="en-US" altLang="zh-CN" sz="2800"/>
              <a:t>MVC</a:t>
            </a:r>
            <a:r>
              <a:rPr sz="2800"/>
              <a:t>模式</a:t>
            </a:r>
          </a:p>
          <a:p>
            <a:pPr lvl="1"/>
            <a:r>
              <a:rPr sz="2800"/>
              <a:t>模型（</a:t>
            </a:r>
            <a:r>
              <a:rPr lang="en-US" altLang="zh-CN" sz="2800"/>
              <a:t>Model</a:t>
            </a:r>
            <a:r>
              <a:rPr sz="2800"/>
              <a:t>）</a:t>
            </a:r>
          </a:p>
          <a:p>
            <a:pPr marL="914400" lvl="2" indent="0">
              <a:buNone/>
            </a:pPr>
            <a:r>
              <a:rPr sz="2800"/>
              <a:t>负责在数据库中存取数据</a:t>
            </a:r>
          </a:p>
          <a:p>
            <a:pPr lvl="1"/>
            <a:r>
              <a:rPr sz="2800"/>
              <a:t>视图（</a:t>
            </a:r>
            <a:r>
              <a:rPr lang="en-US" altLang="zh-CN" sz="2800"/>
              <a:t>View</a:t>
            </a:r>
            <a:r>
              <a:rPr sz="2800"/>
              <a:t>）</a:t>
            </a:r>
          </a:p>
          <a:p>
            <a:pPr marL="914400" lvl="2" indent="0">
              <a:buNone/>
            </a:pPr>
            <a:r>
              <a:rPr sz="2800"/>
              <a:t>负责展示界面</a:t>
            </a:r>
          </a:p>
          <a:p>
            <a:pPr lvl="1"/>
            <a:r>
              <a:rPr sz="2800"/>
              <a:t>控制器（</a:t>
            </a:r>
            <a:r>
              <a:rPr lang="en-US" altLang="zh-CN" sz="2800"/>
              <a:t>Controller</a:t>
            </a:r>
            <a:r>
              <a:rPr sz="2800"/>
              <a:t>）</a:t>
            </a:r>
          </a:p>
          <a:p>
            <a:pPr marL="914400" lvl="2" indent="0">
              <a:buNone/>
            </a:pPr>
            <a:r>
              <a:rPr sz="2800"/>
              <a:t>负责业务逻辑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7500" lnSpcReduction="10000"/>
          </a:bodyPr>
          <a:lstStyle/>
          <a:p>
            <a:r>
              <a:rPr lang="en-US" altLang="zh-CN" sz="2800"/>
              <a:t>MTV</a:t>
            </a:r>
            <a:r>
              <a:rPr lang="zh-CN" altLang="en-US" sz="2800"/>
              <a:t>模式</a:t>
            </a:r>
          </a:p>
          <a:p>
            <a:pPr lvl="1"/>
            <a:r>
              <a:rPr lang="zh-CN" altLang="en-US" sz="2800"/>
              <a:t>模型（</a:t>
            </a:r>
            <a:r>
              <a:rPr lang="en-US" altLang="zh-CN" sz="2800"/>
              <a:t>Model</a:t>
            </a:r>
            <a:r>
              <a:rPr lang="zh-CN" altLang="en-US" sz="2800"/>
              <a:t>）</a:t>
            </a:r>
          </a:p>
          <a:p>
            <a:pPr marL="914400" lvl="2" indent="0">
              <a:buNone/>
            </a:pPr>
            <a:r>
              <a:rPr lang="zh-CN" altLang="en-US" sz="2800"/>
              <a:t>数据存取层：负责处理与数据相关的所有事务</a:t>
            </a:r>
          </a:p>
          <a:p>
            <a:pPr lvl="1"/>
            <a:r>
              <a:rPr lang="zh-CN" altLang="en-US" sz="2800"/>
              <a:t>模板（</a:t>
            </a:r>
            <a:r>
              <a:rPr lang="en-US" altLang="zh-CN" sz="2800"/>
              <a:t>Template</a:t>
            </a:r>
            <a:r>
              <a:rPr lang="zh-CN" altLang="en-US" sz="2800"/>
              <a:t>）</a:t>
            </a:r>
          </a:p>
          <a:p>
            <a:pPr marL="914400" lvl="2" indent="0">
              <a:buNone/>
            </a:pPr>
            <a:r>
              <a:rPr lang="zh-CN" altLang="en-US" sz="2800"/>
              <a:t>表现层：负责把页面展示给用户</a:t>
            </a:r>
          </a:p>
          <a:p>
            <a:pPr lvl="1"/>
            <a:r>
              <a:rPr lang="zh-CN" altLang="en-US" sz="2800"/>
              <a:t>视图（</a:t>
            </a:r>
            <a:r>
              <a:rPr lang="en-US" altLang="zh-CN" sz="2800"/>
              <a:t>View</a:t>
            </a:r>
            <a:r>
              <a:rPr lang="zh-CN" altLang="en-US" sz="2800"/>
              <a:t>）</a:t>
            </a:r>
          </a:p>
          <a:p>
            <a:pPr marL="914400" lvl="2" indent="0">
              <a:buNone/>
            </a:pPr>
            <a:r>
              <a:rPr lang="zh-CN" altLang="en-US" sz="2800"/>
              <a:t>业务逻辑层：负责调用模型和模板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A918C8E-1C3B-448E-8B2C-037382AE4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2216785" y="2292350"/>
            <a:ext cx="7759065" cy="2307590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15.2 Django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开发环境的搭建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344538-FC14-4670-801E-B577FAB6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15.2.1 Django框架的安装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安装命令</a:t>
            </a:r>
          </a:p>
          <a:p>
            <a:pPr marL="457200" lvl="1" indent="0">
              <a:buNone/>
            </a:pPr>
            <a:r>
              <a:rPr lang="en-US" altLang="zh-CN"/>
              <a:t>pip install django==2.1.4</a:t>
            </a:r>
          </a:p>
          <a:p>
            <a:endParaRPr lang="zh-CN" altLang="en-US"/>
          </a:p>
          <a:p>
            <a:r>
              <a:rPr lang="zh-CN" altLang="en-US"/>
              <a:t>测试是否成功</a:t>
            </a:r>
          </a:p>
          <a:p>
            <a:pPr marL="457200" lvl="1" indent="0">
              <a:buNone/>
            </a:pPr>
            <a:r>
              <a:rPr lang="zh-CN" altLang="en-US"/>
              <a:t>&gt;&gt;&gt; import django</a:t>
            </a:r>
          </a:p>
          <a:p>
            <a:pPr marL="457200" lvl="1" indent="0">
              <a:buNone/>
            </a:pPr>
            <a:r>
              <a:rPr lang="zh-CN" altLang="en-US"/>
              <a:t>&gt;&gt;&gt; django.get_version()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4511675" y="1772920"/>
            <a:ext cx="1152525" cy="79248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线形标注 1 4"/>
          <p:cNvSpPr/>
          <p:nvPr/>
        </p:nvSpPr>
        <p:spPr>
          <a:xfrm>
            <a:off x="6600190" y="1196975"/>
            <a:ext cx="2592070" cy="1224280"/>
          </a:xfrm>
          <a:prstGeom prst="borderCallout1">
            <a:avLst>
              <a:gd name="adj1" fmla="val 25622"/>
              <a:gd name="adj2" fmla="val 97"/>
              <a:gd name="adj3" fmla="val 67219"/>
              <a:gd name="adj4" fmla="val -364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版本号</a:t>
            </a:r>
          </a:p>
          <a:p>
            <a:pPr algn="ctr"/>
            <a:r>
              <a:rPr lang="zh-CN" altLang="en-US" sz="2400"/>
              <a:t>可随意选择需要的版本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5D13D0-748C-43FC-B5B7-0B8A3146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15.2.2 </a:t>
            </a:r>
            <a:r>
              <a:t>创建第一个</a:t>
            </a:r>
            <a:r>
              <a:rPr lang="en-US" altLang="zh-CN"/>
              <a:t>Django</a:t>
            </a:r>
            <a:r>
              <a:t>项目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第一步：创建Django项目</a:t>
            </a:r>
          </a:p>
          <a:p>
            <a:r>
              <a:rPr lang="zh-CN" altLang="en-US"/>
              <a:t>第二步：创建Django应用</a:t>
            </a:r>
          </a:p>
          <a:p>
            <a:r>
              <a:rPr lang="zh-CN" altLang="en-US"/>
              <a:t>第三步：检测项目是否正常</a:t>
            </a:r>
          </a:p>
          <a:p>
            <a:r>
              <a:rPr lang="zh-CN" altLang="en-US"/>
              <a:t>第四步：配置简单视图</a:t>
            </a:r>
          </a:p>
          <a:p>
            <a:r>
              <a:rPr lang="zh-CN" altLang="en-US"/>
              <a:t>第五步：绑定URL与视图函数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90D570-656D-4CA6-A2DE-C83A38C3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t>）创建</a:t>
            </a:r>
            <a:r>
              <a:rPr lang="en-US" altLang="zh-CN"/>
              <a:t>Django</a:t>
            </a:r>
            <a:r>
              <a:t>项目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在DOS命令行下输入命令：</a:t>
            </a:r>
          </a:p>
          <a:p>
            <a:pPr marL="457200" lvl="1" indent="0">
              <a:buNone/>
            </a:pPr>
            <a:r>
              <a:rPr lang="zh-CN" altLang="en-US"/>
              <a:t>django-admin.py startproject mysite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6240145" y="1845310"/>
            <a:ext cx="1511935" cy="72009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线形标注 1 4"/>
          <p:cNvSpPr/>
          <p:nvPr/>
        </p:nvSpPr>
        <p:spPr>
          <a:xfrm>
            <a:off x="8688070" y="1628775"/>
            <a:ext cx="2685415" cy="1152525"/>
          </a:xfrm>
          <a:prstGeom prst="borderCallout1">
            <a:avLst>
              <a:gd name="adj1" fmla="val 27493"/>
              <a:gd name="adj2" fmla="val 425"/>
              <a:gd name="adj3" fmla="val 42534"/>
              <a:gd name="adj4" fmla="val -339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项目名</a:t>
            </a:r>
          </a:p>
          <a:p>
            <a:pPr algn="ctr"/>
            <a:r>
              <a:rPr lang="zh-CN" altLang="en-US" sz="2400"/>
              <a:t>（可随意设置）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C82C89-CABE-44CB-9E8B-3401CE911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t>）创建</a:t>
            </a:r>
            <a:r>
              <a:rPr lang="en-US" altLang="zh-CN"/>
              <a:t>Django</a:t>
            </a:r>
            <a:r>
              <a:t>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在DOS命令行下输入命令：</a:t>
            </a:r>
          </a:p>
          <a:p>
            <a:pPr marL="457200" lvl="1" indent="0">
              <a:buNone/>
            </a:pPr>
            <a:r>
              <a:rPr lang="zh-CN" altLang="en-US"/>
              <a:t>python manage.py startapp polls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951855" y="1845310"/>
            <a:ext cx="1296670" cy="6477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线形标注 1 4"/>
          <p:cNvSpPr/>
          <p:nvPr/>
        </p:nvSpPr>
        <p:spPr>
          <a:xfrm>
            <a:off x="8472170" y="1052830"/>
            <a:ext cx="2520315" cy="1152525"/>
          </a:xfrm>
          <a:prstGeom prst="borderCallout1">
            <a:avLst>
              <a:gd name="adj1" fmla="val 23085"/>
              <a:gd name="adj2" fmla="val 982"/>
              <a:gd name="adj3" fmla="val 84793"/>
              <a:gd name="adj4" fmla="val -489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应用名</a:t>
            </a:r>
          </a:p>
          <a:p>
            <a:pPr algn="ctr"/>
            <a:r>
              <a:rPr lang="zh-CN" altLang="en-US" sz="2400"/>
              <a:t>（可随意命名）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7B2B01-B7C9-4024-ABDF-9A08D693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zh-CN" altLang="zh-CN" dirty="0"/>
              <a:t>检测项目是否正常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进入</a:t>
            </a:r>
            <a:r>
              <a:rPr lang="en-US" altLang="zh-CN" dirty="0" err="1"/>
              <a:t>mysite</a:t>
            </a:r>
            <a:r>
              <a:rPr lang="zh-CN" altLang="zh-CN" dirty="0"/>
              <a:t>目录，输入命令</a:t>
            </a:r>
            <a:r>
              <a:rPr lang="zh-CN" altLang="en-US" dirty="0"/>
              <a:t>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python manage.py </a:t>
            </a:r>
            <a:r>
              <a:rPr lang="en-US" altLang="zh-CN" dirty="0" err="1"/>
              <a:t>runserver</a:t>
            </a:r>
            <a:endParaRPr lang="en-US" altLang="zh-CN" dirty="0"/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1683886" y="2526348"/>
            <a:ext cx="5544616" cy="371096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圆角矩形 4"/>
          <p:cNvSpPr/>
          <p:nvPr/>
        </p:nvSpPr>
        <p:spPr>
          <a:xfrm>
            <a:off x="3791744" y="5373216"/>
            <a:ext cx="1584176" cy="3600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线形标注 1 5"/>
          <p:cNvSpPr/>
          <p:nvPr/>
        </p:nvSpPr>
        <p:spPr>
          <a:xfrm>
            <a:off x="8400256" y="1772816"/>
            <a:ext cx="3240360" cy="1656184"/>
          </a:xfrm>
          <a:prstGeom prst="borderCallout1">
            <a:avLst>
              <a:gd name="adj1" fmla="val 27611"/>
              <a:gd name="adj2" fmla="val 28"/>
              <a:gd name="adj3" fmla="val 215425"/>
              <a:gd name="adj4" fmla="val -937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启动服务器后，打开浏览器，输入网址：</a:t>
            </a:r>
            <a:endParaRPr lang="en-US" altLang="zh-CN" sz="2400" dirty="0"/>
          </a:p>
          <a:p>
            <a:pPr algn="ctr"/>
            <a:r>
              <a:rPr lang="en-US" altLang="zh-CN" sz="2400" dirty="0"/>
              <a:t>http://127.0.0.1:8000</a:t>
            </a:r>
            <a:endParaRPr lang="zh-CN" altLang="en-US" sz="240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4FC538-178E-4F3C-B814-9DBA3A426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zh-CN" altLang="zh-CN" dirty="0"/>
              <a:t>配置简单视图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打开</a:t>
            </a:r>
            <a:r>
              <a:rPr lang="en-US" altLang="zh-CN" dirty="0"/>
              <a:t>polls</a:t>
            </a:r>
            <a:r>
              <a:rPr lang="zh-CN" altLang="zh-CN" dirty="0"/>
              <a:t>目录中的</a:t>
            </a:r>
            <a:r>
              <a:rPr lang="en-US" altLang="zh-CN" dirty="0">
                <a:solidFill>
                  <a:srgbClr val="FF0000"/>
                </a:solidFill>
              </a:rPr>
              <a:t>views.py</a:t>
            </a:r>
            <a:r>
              <a:rPr lang="zh-CN" altLang="zh-CN" dirty="0"/>
              <a:t>文件，输入以下代码：</a:t>
            </a:r>
            <a:endParaRPr lang="en-US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1343472" y="2348880"/>
            <a:ext cx="8208912" cy="2246769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lvl="2"/>
            <a:r>
              <a:rPr lang="en-US" altLang="zh-CN" sz="2800" dirty="0"/>
              <a:t>from </a:t>
            </a:r>
            <a:r>
              <a:rPr lang="en-US" altLang="zh-CN" sz="2800" dirty="0" err="1"/>
              <a:t>django.http</a:t>
            </a:r>
            <a:r>
              <a:rPr lang="en-US" altLang="zh-CN" sz="2800" dirty="0"/>
              <a:t> import </a:t>
            </a:r>
            <a:r>
              <a:rPr lang="en-US" altLang="zh-CN" sz="2800" dirty="0" err="1"/>
              <a:t>HttpResponse</a:t>
            </a:r>
            <a:endParaRPr lang="zh-CN" altLang="zh-CN" sz="2800" dirty="0"/>
          </a:p>
          <a:p>
            <a:pPr lvl="2"/>
            <a:r>
              <a:rPr lang="en-US" altLang="zh-CN" sz="2800" dirty="0"/>
              <a:t> </a:t>
            </a:r>
            <a:endParaRPr lang="zh-CN" altLang="zh-CN" sz="2800" dirty="0"/>
          </a:p>
          <a:p>
            <a:pPr lvl="2"/>
            <a:r>
              <a:rPr lang="en-US" altLang="zh-CN" sz="2800" dirty="0" err="1"/>
              <a:t>def</a:t>
            </a:r>
            <a:r>
              <a:rPr lang="en-US" altLang="zh-CN" sz="2800" dirty="0"/>
              <a:t> index(request):</a:t>
            </a:r>
            <a:endParaRPr lang="zh-CN" altLang="zh-CN" sz="2800" dirty="0"/>
          </a:p>
          <a:p>
            <a:pPr lvl="2"/>
            <a:r>
              <a:rPr lang="en-US" altLang="zh-CN" sz="2800" dirty="0"/>
              <a:t>    return </a:t>
            </a:r>
            <a:r>
              <a:rPr lang="en-US" altLang="zh-CN" sz="2800" dirty="0" err="1"/>
              <a:t>HttpResponse</a:t>
            </a:r>
            <a:r>
              <a:rPr lang="en-US" altLang="zh-CN" sz="2800" dirty="0"/>
              <a:t>("Hello world ! ")</a:t>
            </a:r>
            <a:endParaRPr lang="zh-CN" altLang="zh-CN" sz="2800" dirty="0"/>
          </a:p>
          <a:p>
            <a:endParaRPr lang="zh-CN" altLang="en-US" sz="28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4A0A94-4A6D-4808-89DF-D5C9DC815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zh-CN" sz="2800" dirty="0"/>
              <a:t>（</a:t>
            </a:r>
            <a:r>
              <a:rPr lang="en-US" altLang="zh-CN" sz="2800" dirty="0"/>
              <a:t>5</a:t>
            </a:r>
            <a:r>
              <a:rPr lang="zh-CN" altLang="zh-CN" sz="2800" dirty="0"/>
              <a:t>）绑定</a:t>
            </a:r>
            <a:r>
              <a:rPr lang="en-US" altLang="zh-CN" sz="2800" dirty="0"/>
              <a:t>URL</a:t>
            </a:r>
            <a:r>
              <a:rPr lang="zh-CN" altLang="zh-CN" sz="2800" dirty="0"/>
              <a:t>与视图函数</a:t>
            </a:r>
            <a:endParaRPr lang="zh-CN" altLang="en-US" sz="280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191344" y="952509"/>
            <a:ext cx="5976664" cy="4708740"/>
          </a:xfrm>
          <a:solidFill>
            <a:schemeClr val="accent2">
              <a:lumMod val="20000"/>
              <a:lumOff val="80000"/>
            </a:schemeClr>
          </a:solidFill>
          <a:ln>
            <a:solidFill>
              <a:srgbClr val="003300"/>
            </a:solidFill>
          </a:ln>
        </p:spPr>
        <p:txBody>
          <a:bodyPr>
            <a:normAutofit/>
          </a:bodyPr>
          <a:lstStyle/>
          <a:p>
            <a:r>
              <a:rPr lang="en-US" altLang="zh-CN" sz="2400" dirty="0"/>
              <a:t>polls</a:t>
            </a:r>
            <a:r>
              <a:rPr lang="zh-CN" altLang="zh-CN" sz="2400" dirty="0"/>
              <a:t>中创建</a:t>
            </a:r>
            <a:r>
              <a:rPr lang="en-US" altLang="zh-CN" sz="2400" dirty="0"/>
              <a:t>urls.py</a:t>
            </a:r>
            <a:r>
              <a:rPr lang="zh-CN" altLang="zh-CN" sz="2400" dirty="0"/>
              <a:t>文件，输入以下代码：</a:t>
            </a:r>
            <a:endParaRPr lang="en-US" altLang="zh-CN" sz="2400" dirty="0"/>
          </a:p>
          <a:p>
            <a:pPr marL="0" lvl="0" indent="0">
              <a:buNone/>
            </a:pPr>
            <a:r>
              <a:rPr lang="en-US" altLang="zh-CN" sz="2400" dirty="0"/>
              <a:t>from </a:t>
            </a:r>
            <a:r>
              <a:rPr lang="en-US" altLang="zh-CN" sz="2400" dirty="0" err="1"/>
              <a:t>django.urls</a:t>
            </a:r>
            <a:r>
              <a:rPr lang="en-US" altLang="zh-CN" sz="2400" dirty="0"/>
              <a:t> import path</a:t>
            </a:r>
            <a:endParaRPr lang="zh-CN" altLang="zh-CN" sz="2400" dirty="0"/>
          </a:p>
          <a:p>
            <a:pPr marL="0" lvl="0" indent="0">
              <a:buNone/>
            </a:pPr>
            <a:r>
              <a:rPr lang="en-US" altLang="zh-CN" sz="2400" dirty="0"/>
              <a:t>from . import views</a:t>
            </a:r>
            <a:endParaRPr lang="zh-CN" altLang="zh-CN" sz="2400" dirty="0"/>
          </a:p>
          <a:p>
            <a:pPr marL="0" lvl="0" indent="0">
              <a:buNone/>
            </a:pPr>
            <a:r>
              <a:rPr lang="en-US" altLang="zh-CN" sz="2400" dirty="0"/>
              <a:t> </a:t>
            </a:r>
            <a:endParaRPr lang="zh-CN" altLang="zh-CN" sz="2400" dirty="0"/>
          </a:p>
          <a:p>
            <a:pPr marL="0" lvl="0" indent="0">
              <a:buNone/>
            </a:pPr>
            <a:r>
              <a:rPr lang="en-US" altLang="zh-CN" sz="2400" dirty="0" err="1"/>
              <a:t>urlpatterns</a:t>
            </a:r>
            <a:r>
              <a:rPr lang="en-US" altLang="zh-CN" sz="2400" dirty="0"/>
              <a:t> = [</a:t>
            </a:r>
            <a:endParaRPr lang="zh-CN" altLang="zh-CN" sz="2400" dirty="0"/>
          </a:p>
          <a:p>
            <a:pPr marL="0" lvl="0" indent="0">
              <a:buNone/>
            </a:pPr>
            <a:r>
              <a:rPr lang="en-US" altLang="zh-CN" sz="2400" dirty="0"/>
              <a:t>    path('', </a:t>
            </a:r>
            <a:r>
              <a:rPr lang="en-US" altLang="zh-CN" sz="2400" dirty="0" err="1"/>
              <a:t>views.index</a:t>
            </a:r>
            <a:r>
              <a:rPr lang="en-US" altLang="zh-CN" sz="2400" dirty="0"/>
              <a:t>, name='index'),</a:t>
            </a:r>
            <a:endParaRPr lang="zh-CN" altLang="zh-CN" sz="2400" dirty="0"/>
          </a:p>
          <a:p>
            <a:pPr marL="0" lvl="0" indent="0">
              <a:buNone/>
            </a:pPr>
            <a:r>
              <a:rPr lang="en-US" altLang="zh-CN" sz="2400" dirty="0"/>
              <a:t>]</a:t>
            </a:r>
            <a:endParaRPr lang="zh-CN" altLang="zh-CN" sz="2400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>
          <a:xfrm>
            <a:off x="6168008" y="952509"/>
            <a:ext cx="5904656" cy="4708740"/>
          </a:xfrm>
          <a:solidFill>
            <a:schemeClr val="accent4">
              <a:lumMod val="20000"/>
              <a:lumOff val="80000"/>
            </a:schemeClr>
          </a:solidFill>
          <a:ln>
            <a:solidFill>
              <a:srgbClr val="003300"/>
            </a:solidFill>
          </a:ln>
        </p:spPr>
        <p:txBody>
          <a:bodyPr>
            <a:noAutofit/>
          </a:bodyPr>
          <a:lstStyle/>
          <a:p>
            <a:r>
              <a:rPr lang="zh-CN" altLang="zh-CN" sz="2400" dirty="0"/>
              <a:t>修改内层</a:t>
            </a:r>
            <a:r>
              <a:rPr lang="en-US" altLang="zh-CN" sz="2400" dirty="0" err="1"/>
              <a:t>mysite</a:t>
            </a:r>
            <a:r>
              <a:rPr lang="zh-CN" altLang="zh-CN" sz="2400" dirty="0"/>
              <a:t>中的</a:t>
            </a:r>
            <a:r>
              <a:rPr lang="en-US" altLang="zh-CN" sz="2400" dirty="0"/>
              <a:t>urls.py</a:t>
            </a:r>
            <a:r>
              <a:rPr lang="zh-CN" altLang="zh-CN" sz="2400" dirty="0"/>
              <a:t>文件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0" lvl="0" indent="0">
              <a:buNone/>
            </a:pPr>
            <a:r>
              <a:rPr lang="en-US" altLang="zh-CN" sz="2400" dirty="0"/>
              <a:t>from </a:t>
            </a:r>
            <a:r>
              <a:rPr lang="en-US" altLang="zh-CN" sz="2400" dirty="0" err="1"/>
              <a:t>django.contrib</a:t>
            </a:r>
            <a:r>
              <a:rPr lang="en-US" altLang="zh-CN" sz="2400" dirty="0"/>
              <a:t> import admin</a:t>
            </a:r>
            <a:endParaRPr lang="zh-CN" altLang="zh-CN" sz="2400" dirty="0"/>
          </a:p>
          <a:p>
            <a:pPr marL="0" lvl="0" indent="0">
              <a:buNone/>
            </a:pPr>
            <a:r>
              <a:rPr lang="en-US" altLang="zh-CN" sz="2400" dirty="0"/>
              <a:t>from </a:t>
            </a:r>
            <a:r>
              <a:rPr lang="en-US" altLang="zh-CN" sz="2400" dirty="0" err="1"/>
              <a:t>django.urls</a:t>
            </a:r>
            <a:r>
              <a:rPr lang="en-US" altLang="zh-CN" sz="2400" dirty="0"/>
              <a:t> import include, path</a:t>
            </a:r>
            <a:endParaRPr lang="zh-CN" altLang="zh-CN" sz="2400" dirty="0"/>
          </a:p>
          <a:p>
            <a:pPr marL="0" lvl="0" indent="0">
              <a:buNone/>
            </a:pPr>
            <a:r>
              <a:rPr lang="en-US" altLang="zh-CN" sz="2400" dirty="0"/>
              <a:t> </a:t>
            </a:r>
            <a:endParaRPr lang="zh-CN" altLang="zh-CN" sz="2400" dirty="0"/>
          </a:p>
          <a:p>
            <a:pPr marL="0" lvl="0" indent="0">
              <a:buNone/>
            </a:pPr>
            <a:r>
              <a:rPr lang="en-US" altLang="zh-CN" sz="2400" dirty="0" err="1"/>
              <a:t>urlpatterns</a:t>
            </a:r>
            <a:r>
              <a:rPr lang="en-US" altLang="zh-CN" sz="2400" dirty="0"/>
              <a:t> = [</a:t>
            </a:r>
            <a:endParaRPr lang="zh-CN" altLang="zh-CN" sz="2400" dirty="0"/>
          </a:p>
          <a:p>
            <a:pPr marL="0" lvl="0" indent="0">
              <a:buNone/>
            </a:pPr>
            <a:r>
              <a:rPr lang="en-US" altLang="zh-CN" sz="2400" dirty="0"/>
              <a:t>    path('polls/', include('</a:t>
            </a:r>
            <a:r>
              <a:rPr lang="en-US" altLang="zh-CN" sz="2400" dirty="0" err="1"/>
              <a:t>polls.urls</a:t>
            </a:r>
            <a:r>
              <a:rPr lang="en-US" altLang="zh-CN" sz="2400" dirty="0"/>
              <a:t>')),</a:t>
            </a:r>
            <a:endParaRPr lang="zh-CN" altLang="zh-CN" sz="2400" dirty="0"/>
          </a:p>
          <a:p>
            <a:pPr marL="0" lvl="0" indent="0">
              <a:buNone/>
            </a:pPr>
            <a:r>
              <a:rPr lang="en-US" altLang="zh-CN" sz="2400" dirty="0"/>
              <a:t>    path('admin/', </a:t>
            </a:r>
            <a:r>
              <a:rPr lang="en-US" altLang="zh-CN" sz="2400" dirty="0" err="1"/>
              <a:t>admin.site.urls</a:t>
            </a:r>
            <a:r>
              <a:rPr lang="en-US" altLang="zh-CN" sz="2400" dirty="0"/>
              <a:t>),</a:t>
            </a:r>
            <a:endParaRPr lang="zh-CN" altLang="zh-CN" sz="2400" dirty="0"/>
          </a:p>
          <a:p>
            <a:pPr marL="0" lvl="0" indent="0">
              <a:buNone/>
            </a:pPr>
            <a:r>
              <a:rPr lang="en-US" altLang="zh-CN" sz="2400" dirty="0"/>
              <a:t>]</a:t>
            </a:r>
            <a:endParaRPr lang="zh-CN" altLang="zh-CN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919536" y="5877272"/>
            <a:ext cx="8136904" cy="523220"/>
          </a:xfrm>
          <a:prstGeom prst="rect">
            <a:avLst/>
          </a:prstGeom>
          <a:solidFill>
            <a:srgbClr val="FFFF66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浏览器地址栏中输入：</a:t>
            </a:r>
            <a:r>
              <a:rPr lang="en-US" altLang="zh-CN" sz="2800" dirty="0"/>
              <a:t>http://127.0.0.1:8000/polls</a:t>
            </a:r>
            <a:endParaRPr lang="zh-CN" altLang="en-US" sz="28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5959D6F-649C-4A9F-AF78-8E62F16C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087755" y="2292350"/>
            <a:ext cx="990409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15.3 Django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框架的应用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921207-7EBE-4D6D-AF1E-2754F65C7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16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15.3.1 </a:t>
            </a:r>
            <a:r>
              <a:rPr lang="zh-CN" altLang="en-US" dirty="0"/>
              <a:t>数据库配置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1124745"/>
            <a:ext cx="10852237" cy="3240360"/>
          </a:xfrm>
        </p:spPr>
        <p:txBody>
          <a:bodyPr/>
          <a:lstStyle/>
          <a:p>
            <a:r>
              <a:rPr lang="zh-CN" altLang="zh-CN" dirty="0"/>
              <a:t>数据库配置</a:t>
            </a:r>
            <a:r>
              <a:rPr lang="zh-CN" altLang="en-US" dirty="0"/>
              <a:t>在</a:t>
            </a:r>
            <a:r>
              <a:rPr lang="zh-CN" altLang="zh-CN" dirty="0"/>
              <a:t>一般步骤：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983432" y="2492896"/>
            <a:ext cx="10441160" cy="1512168"/>
            <a:chOff x="3720" y="380125"/>
            <a:chExt cx="7530" cy="840"/>
          </a:xfrm>
        </p:grpSpPr>
        <p:sp>
          <p:nvSpPr>
            <p:cNvPr id="5" name="文本框 26"/>
            <p:cNvSpPr txBox="1"/>
            <p:nvPr/>
          </p:nvSpPr>
          <p:spPr>
            <a:xfrm>
              <a:off x="3720" y="380140"/>
              <a:ext cx="1471" cy="811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indent="266700" algn="ctr">
                <a:spcAft>
                  <a:spcPts val="0"/>
                </a:spcAft>
              </a:pPr>
              <a:r>
                <a:rPr lang="zh-CN" sz="2400" kern="100" dirty="0">
                  <a:effectLst/>
                  <a:ea typeface="宋体"/>
                  <a:cs typeface="Times New Roman"/>
                </a:rPr>
                <a:t>选择一个数据库服务器</a:t>
              </a:r>
            </a:p>
          </p:txBody>
        </p:sp>
        <p:sp>
          <p:nvSpPr>
            <p:cNvPr id="6" name="文本框 27"/>
            <p:cNvSpPr txBox="1"/>
            <p:nvPr/>
          </p:nvSpPr>
          <p:spPr>
            <a:xfrm>
              <a:off x="5670" y="380125"/>
              <a:ext cx="1485" cy="825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indent="266700" algn="ctr">
                <a:spcAft>
                  <a:spcPts val="0"/>
                </a:spcAft>
              </a:pPr>
              <a:r>
                <a:rPr lang="zh-CN" sz="2400" kern="100">
                  <a:effectLst/>
                  <a:ea typeface="宋体"/>
                  <a:cs typeface="Times New Roman"/>
                </a:rPr>
                <a:t>下载安装相应的适配器</a:t>
              </a:r>
            </a:p>
          </p:txBody>
        </p:sp>
        <p:sp>
          <p:nvSpPr>
            <p:cNvPr id="7" name="文本框 28"/>
            <p:cNvSpPr txBox="1"/>
            <p:nvPr/>
          </p:nvSpPr>
          <p:spPr>
            <a:xfrm>
              <a:off x="7575" y="380140"/>
              <a:ext cx="1546" cy="81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indent="266700" algn="ctr">
                <a:spcAft>
                  <a:spcPts val="0"/>
                </a:spcAft>
              </a:pPr>
              <a:r>
                <a:rPr lang="zh-CN" sz="2400" kern="100">
                  <a:effectLst/>
                  <a:ea typeface="宋体"/>
                  <a:cs typeface="Times New Roman"/>
                </a:rPr>
                <a:t>创建数据库</a:t>
              </a:r>
            </a:p>
          </p:txBody>
        </p:sp>
        <p:sp>
          <p:nvSpPr>
            <p:cNvPr id="8" name="文本框 29"/>
            <p:cNvSpPr txBox="1"/>
            <p:nvPr/>
          </p:nvSpPr>
          <p:spPr>
            <a:xfrm>
              <a:off x="9645" y="380125"/>
              <a:ext cx="1605" cy="84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indent="266700" algn="ctr">
                <a:spcAft>
                  <a:spcPts val="0"/>
                </a:spcAft>
              </a:pPr>
              <a:r>
                <a:rPr lang="zh-CN" sz="2400" kern="100">
                  <a:effectLst/>
                  <a:ea typeface="宋体"/>
                  <a:cs typeface="Times New Roman"/>
                </a:rPr>
                <a:t>在配置文件中配置数据库</a:t>
              </a:r>
            </a:p>
          </p:txBody>
        </p:sp>
        <p:cxnSp>
          <p:nvCxnSpPr>
            <p:cNvPr id="9" name="直接箭头连接符 8"/>
            <p:cNvCxnSpPr>
              <a:stCxn id="5" idx="3"/>
              <a:endCxn id="6" idx="1"/>
            </p:cNvCxnSpPr>
            <p:nvPr/>
          </p:nvCxnSpPr>
          <p:spPr>
            <a:xfrm flipV="1">
              <a:off x="5191" y="380538"/>
              <a:ext cx="479" cy="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>
              <a:stCxn id="6" idx="3"/>
              <a:endCxn id="7" idx="1"/>
            </p:cNvCxnSpPr>
            <p:nvPr/>
          </p:nvCxnSpPr>
          <p:spPr>
            <a:xfrm>
              <a:off x="7155" y="380538"/>
              <a:ext cx="420" cy="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>
              <a:stCxn id="7" idx="3"/>
              <a:endCxn id="8" idx="1"/>
            </p:cNvCxnSpPr>
            <p:nvPr/>
          </p:nvCxnSpPr>
          <p:spPr>
            <a:xfrm>
              <a:off x="9121" y="380545"/>
              <a:ext cx="5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1703512" y="4869160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Django</a:t>
            </a:r>
            <a:r>
              <a:rPr lang="zh-CN" altLang="zh-CN" dirty="0"/>
              <a:t>默认使用的数据库是</a:t>
            </a:r>
            <a:r>
              <a:rPr lang="en-US" altLang="zh-CN" dirty="0"/>
              <a:t>SQLite</a:t>
            </a:r>
            <a:endParaRPr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164F054D-0E54-4C0B-92C0-C5CE3D1D2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399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数据库在配置信息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1124745"/>
            <a:ext cx="10852237" cy="864096"/>
          </a:xfrm>
        </p:spPr>
        <p:txBody>
          <a:bodyPr/>
          <a:lstStyle/>
          <a:p>
            <a:r>
              <a:rPr lang="en-US" altLang="zh-CN" dirty="0"/>
              <a:t>settings.py</a:t>
            </a:r>
            <a:r>
              <a:rPr lang="zh-CN" altLang="zh-CN" dirty="0"/>
              <a:t>文件中，</a:t>
            </a:r>
            <a:r>
              <a:rPr lang="en-US" altLang="zh-CN" dirty="0">
                <a:solidFill>
                  <a:srgbClr val="FF0000"/>
                </a:solidFill>
              </a:rPr>
              <a:t>DATABASES</a:t>
            </a:r>
            <a:r>
              <a:rPr lang="zh-CN" altLang="en-US" dirty="0"/>
              <a:t>部分</a:t>
            </a:r>
            <a:r>
              <a:rPr lang="zh-CN" altLang="zh-CN" dirty="0"/>
              <a:t>，其一般格式为：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99456" y="1844824"/>
            <a:ext cx="9649072" cy="37856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DATABASES = {</a:t>
            </a:r>
            <a:endParaRPr lang="zh-CN" altLang="zh-CN" sz="2400" dirty="0"/>
          </a:p>
          <a:p>
            <a:r>
              <a:rPr lang="en-US" altLang="zh-CN" sz="2400" dirty="0"/>
              <a:t>    'default': {</a:t>
            </a:r>
            <a:endParaRPr lang="zh-CN" altLang="zh-CN" sz="2400" dirty="0"/>
          </a:p>
          <a:p>
            <a:r>
              <a:rPr lang="en-US" altLang="zh-CN" sz="2400" dirty="0"/>
              <a:t>        'ENGINE': '</a:t>
            </a:r>
            <a:r>
              <a:rPr lang="en-US" altLang="zh-CN" sz="2400" dirty="0" err="1"/>
              <a:t>django.db.backends.mysql</a:t>
            </a:r>
            <a:r>
              <a:rPr lang="en-US" altLang="zh-CN" sz="2400" dirty="0"/>
              <a:t>',   # </a:t>
            </a:r>
            <a:r>
              <a:rPr lang="zh-CN" altLang="zh-CN" sz="2400" dirty="0"/>
              <a:t>数据库引擎</a:t>
            </a:r>
          </a:p>
          <a:p>
            <a:r>
              <a:rPr lang="en-US" altLang="zh-CN" sz="2400" dirty="0"/>
              <a:t>        'NAME': '</a:t>
            </a:r>
            <a:r>
              <a:rPr lang="en-US" altLang="zh-CN" sz="2400" dirty="0" err="1"/>
              <a:t>mydb</a:t>
            </a:r>
            <a:r>
              <a:rPr lang="en-US" altLang="zh-CN" sz="2400" dirty="0"/>
              <a:t>',               # </a:t>
            </a:r>
            <a:r>
              <a:rPr lang="zh-CN" altLang="zh-CN" sz="2400" dirty="0"/>
              <a:t>你要存储数据的库名，事先要创建之</a:t>
            </a:r>
          </a:p>
          <a:p>
            <a:r>
              <a:rPr lang="en-US" altLang="zh-CN" sz="2400" dirty="0"/>
              <a:t>        'USER': 'root',                  # </a:t>
            </a:r>
            <a:r>
              <a:rPr lang="zh-CN" altLang="zh-CN" sz="2400" dirty="0"/>
              <a:t>数据库用户名</a:t>
            </a:r>
          </a:p>
          <a:p>
            <a:r>
              <a:rPr lang="en-US" altLang="zh-CN" sz="2400" dirty="0"/>
              <a:t>        'PASSWORD': '1234',       # </a:t>
            </a:r>
            <a:r>
              <a:rPr lang="zh-CN" altLang="zh-CN" sz="2400" dirty="0"/>
              <a:t>密码</a:t>
            </a:r>
          </a:p>
          <a:p>
            <a:r>
              <a:rPr lang="en-US" altLang="zh-CN" sz="2400" dirty="0"/>
              <a:t>        'HOST': '</a:t>
            </a:r>
            <a:r>
              <a:rPr lang="en-US" altLang="zh-CN" sz="2400" dirty="0" err="1"/>
              <a:t>localhost</a:t>
            </a:r>
            <a:r>
              <a:rPr lang="en-US" altLang="zh-CN" sz="2400" dirty="0"/>
              <a:t>',          # </a:t>
            </a:r>
            <a:r>
              <a:rPr lang="zh-CN" altLang="zh-CN" sz="2400" dirty="0"/>
              <a:t>主机</a:t>
            </a:r>
          </a:p>
          <a:p>
            <a:r>
              <a:rPr lang="en-US" altLang="zh-CN" sz="2400" dirty="0"/>
              <a:t>        'PORT': '3306',               # </a:t>
            </a:r>
            <a:r>
              <a:rPr lang="zh-CN" altLang="zh-CN" sz="2400" dirty="0"/>
              <a:t>数据库使用的端口</a:t>
            </a:r>
          </a:p>
          <a:p>
            <a:r>
              <a:rPr lang="en-US" altLang="zh-CN" sz="2400" dirty="0"/>
              <a:t>    }</a:t>
            </a:r>
            <a:endParaRPr lang="zh-CN" altLang="zh-CN" sz="2400" dirty="0"/>
          </a:p>
          <a:p>
            <a:r>
              <a:rPr lang="en-US" altLang="zh-CN" sz="2400" dirty="0"/>
              <a:t>}</a:t>
            </a:r>
            <a:endParaRPr lang="zh-CN" altLang="zh-CN" sz="24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8A07D2-D534-4AA4-9844-2A7C91616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137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</a:t>
            </a:r>
            <a:r>
              <a:rPr lang="zh-CN" altLang="zh-CN" dirty="0"/>
              <a:t>数据库引擎设置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411053"/>
              </p:ext>
            </p:extLst>
          </p:nvPr>
        </p:nvGraphicFramePr>
        <p:xfrm>
          <a:off x="1199456" y="1340768"/>
          <a:ext cx="993710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4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9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2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设置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数据库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适配器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postgresql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PostgreSQL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psycopg</a:t>
                      </a:r>
                      <a:r>
                        <a:rPr lang="zh-CN" sz="2400" kern="100">
                          <a:effectLst/>
                        </a:rPr>
                        <a:t>版本</a:t>
                      </a:r>
                      <a:r>
                        <a:rPr lang="en-US" sz="2400" kern="100">
                          <a:effectLst/>
                        </a:rPr>
                        <a:t>1.x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postgresql_psycopg2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PostgreSQL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psycopg</a:t>
                      </a:r>
                      <a:r>
                        <a:rPr lang="zh-CN" sz="2400" kern="100">
                          <a:effectLst/>
                        </a:rPr>
                        <a:t>版本</a:t>
                      </a:r>
                      <a:r>
                        <a:rPr lang="en-US" sz="2400" kern="100">
                          <a:effectLst/>
                        </a:rPr>
                        <a:t>2.x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mysql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MySQL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MySQLdb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sqlite3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SQLite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Python 2.5+</a:t>
                      </a:r>
                      <a:r>
                        <a:rPr lang="zh-CN" sz="2400" kern="100">
                          <a:effectLst/>
                        </a:rPr>
                        <a:t>内建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oracle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Oracle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 dirty="0" err="1">
                          <a:effectLst/>
                        </a:rPr>
                        <a:t>cx_Oracle</a:t>
                      </a:r>
                      <a:endParaRPr lang="zh-CN" sz="24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71464" y="4077072"/>
            <a:ext cx="9433048" cy="16858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使用</a:t>
            </a:r>
            <a:r>
              <a:rPr lang="en-US" altLang="zh-CN" sz="2400" dirty="0"/>
              <a:t>MySQL</a:t>
            </a:r>
            <a:r>
              <a:rPr lang="zh-CN" altLang="zh-CN" sz="2400" dirty="0"/>
              <a:t>时需在</a:t>
            </a:r>
            <a:r>
              <a:rPr lang="en-US" altLang="zh-CN" sz="2400" dirty="0" err="1"/>
              <a:t>mysite</a:t>
            </a:r>
            <a:r>
              <a:rPr lang="zh-CN" altLang="zh-CN" sz="2400" dirty="0"/>
              <a:t>文件夹下的</a:t>
            </a:r>
            <a:r>
              <a:rPr lang="en-US" altLang="zh-CN" sz="2400" dirty="0"/>
              <a:t>__init.py__</a:t>
            </a:r>
            <a:r>
              <a:rPr lang="zh-CN" altLang="zh-CN" sz="2400" dirty="0"/>
              <a:t>中加入如下代码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import </a:t>
            </a:r>
            <a:r>
              <a:rPr lang="en-US" altLang="zh-CN" sz="2400" dirty="0" err="1"/>
              <a:t>pymysql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 err="1"/>
              <a:t>pymysql.install_as_MySQLdb</a:t>
            </a:r>
            <a:r>
              <a:rPr lang="en-US" altLang="zh-CN" sz="2400" dirty="0"/>
              <a:t>()</a:t>
            </a:r>
            <a:endParaRPr lang="zh-CN" altLang="zh-CN" sz="24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81721E3-6880-43DF-96C1-12F89302B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554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r>
              <a:rPr lang="zh-CN" altLang="zh-CN" dirty="0"/>
              <a:t>数据库配置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配置完成后，在</a:t>
            </a:r>
            <a:r>
              <a:rPr lang="en-US" altLang="zh-CN" dirty="0"/>
              <a:t>Python</a:t>
            </a:r>
            <a:r>
              <a:rPr lang="zh-CN" altLang="zh-CN" dirty="0"/>
              <a:t>的交互界面下，输入命令</a:t>
            </a:r>
            <a:r>
              <a:rPr lang="zh-CN" altLang="en-US" dirty="0"/>
              <a:t>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&gt;&gt;&gt; from </a:t>
            </a:r>
            <a:r>
              <a:rPr lang="en-US" altLang="zh-CN" dirty="0" err="1"/>
              <a:t>django.db</a:t>
            </a:r>
            <a:r>
              <a:rPr lang="en-US" altLang="zh-CN" dirty="0"/>
              <a:t> import connection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&gt;&gt;&gt; cursor = </a:t>
            </a:r>
            <a:r>
              <a:rPr lang="en-US" altLang="zh-CN" dirty="0" err="1"/>
              <a:t>connection.cursor</a:t>
            </a:r>
            <a:r>
              <a:rPr lang="en-US" altLang="zh-CN" dirty="0"/>
              <a:t>()</a:t>
            </a:r>
            <a:endParaRPr lang="zh-CN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如果没有出错，就说明配置正确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4F879B-FEA3-4361-99DB-7CEA3CB5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419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15.3.2 </a:t>
            </a:r>
            <a:r>
              <a:rPr lang="zh-CN" altLang="en-US" dirty="0"/>
              <a:t>创建数据模型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51584" y="1556792"/>
            <a:ext cx="734481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zh-CN" sz="2800" dirty="0"/>
              <a:t>数据模型（</a:t>
            </a:r>
            <a:r>
              <a:rPr lang="en-US" altLang="zh-CN" sz="2800" dirty="0"/>
              <a:t>Data Model</a:t>
            </a:r>
            <a:r>
              <a:rPr lang="zh-CN" altLang="zh-CN" sz="2800" dirty="0"/>
              <a:t>）是</a:t>
            </a:r>
            <a:r>
              <a:rPr lang="zh-CN" altLang="zh-CN" sz="2800" dirty="0">
                <a:solidFill>
                  <a:srgbClr val="FF0000"/>
                </a:solidFill>
              </a:rPr>
              <a:t>数据特征的抽象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47528" y="2708920"/>
            <a:ext cx="3888432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ORM</a:t>
            </a:r>
            <a:r>
              <a:rPr lang="zh-CN" altLang="en-US" sz="2400" dirty="0"/>
              <a:t>机制：</a:t>
            </a:r>
            <a:endParaRPr lang="en-US" altLang="zh-CN" sz="2400" dirty="0"/>
          </a:p>
          <a:p>
            <a:r>
              <a:rPr lang="zh-CN" altLang="en-US" sz="2400" dirty="0"/>
              <a:t>“类”映射为 “表”</a:t>
            </a:r>
            <a:endParaRPr lang="en-US" altLang="zh-CN" sz="2400" dirty="0"/>
          </a:p>
          <a:p>
            <a:r>
              <a:rPr lang="zh-CN" altLang="en-US" sz="2400" dirty="0"/>
              <a:t>“对象”映射为“行”</a:t>
            </a:r>
            <a:endParaRPr lang="en-US" altLang="zh-CN" sz="2400" dirty="0"/>
          </a:p>
          <a:p>
            <a:r>
              <a:rPr lang="zh-CN" altLang="en-US" sz="2400" dirty="0"/>
              <a:t>“属性”映射为“列”</a:t>
            </a:r>
          </a:p>
        </p:txBody>
      </p:sp>
      <p:sp>
        <p:nvSpPr>
          <p:cNvPr id="6" name="云形标注 5"/>
          <p:cNvSpPr/>
          <p:nvPr/>
        </p:nvSpPr>
        <p:spPr>
          <a:xfrm>
            <a:off x="6672064" y="2717056"/>
            <a:ext cx="3312368" cy="1656184"/>
          </a:xfrm>
          <a:prstGeom prst="cloudCallout">
            <a:avLst>
              <a:gd name="adj1" fmla="val -77067"/>
              <a:gd name="adj2" fmla="val 2978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Python</a:t>
            </a:r>
            <a:r>
              <a:rPr lang="zh-CN" altLang="en-US" sz="2400" dirty="0"/>
              <a:t>中利用“类”来操作数据库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03C06DB-0F22-41BB-A02D-753C3FDA2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375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常用的数据模型字段类型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966585"/>
              </p:ext>
            </p:extLst>
          </p:nvPr>
        </p:nvGraphicFramePr>
        <p:xfrm>
          <a:off x="1343472" y="1124744"/>
          <a:ext cx="7920880" cy="56166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9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类型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说明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AutoField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一个自动增加的整数类型字段。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BooleanField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布尔值类型，默认值是</a:t>
                      </a:r>
                      <a:r>
                        <a:rPr lang="en-US" sz="900" kern="100">
                          <a:effectLst/>
                        </a:rPr>
                        <a:t>None</a:t>
                      </a:r>
                      <a:r>
                        <a:rPr lang="zh-CN" sz="900" kern="100">
                          <a:effectLst/>
                        </a:rPr>
                        <a:t>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CharField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字符串类型，必须通过</a:t>
                      </a:r>
                      <a:r>
                        <a:rPr lang="en-US" sz="900" kern="100">
                          <a:effectLst/>
                        </a:rPr>
                        <a:t>max_length</a:t>
                      </a:r>
                      <a:r>
                        <a:rPr lang="zh-CN" sz="900" kern="100">
                          <a:effectLst/>
                        </a:rPr>
                        <a:t>参数指定字符串最大长度。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CommaSeparatedIntegerField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用逗号分隔开的整数字段。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DateField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日期类型。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DateTimeField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日期时间类型。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EmailField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邮箱类型，可以自动进行邮箱地址合法性验证。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FileField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文件上传字段。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FilePathField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文件系统中某个目录下的文件名。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FloatField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浮点数类型。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GenericIPAddressField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IPV4</a:t>
                      </a:r>
                      <a:r>
                        <a:rPr lang="zh-CN" sz="900" kern="100">
                          <a:effectLst/>
                        </a:rPr>
                        <a:t>或者</a:t>
                      </a:r>
                      <a:r>
                        <a:rPr lang="en-US" sz="900" kern="100">
                          <a:effectLst/>
                        </a:rPr>
                        <a:t>IPV6</a:t>
                      </a:r>
                      <a:r>
                        <a:rPr lang="zh-CN" sz="900" kern="100">
                          <a:effectLst/>
                        </a:rPr>
                        <a:t>地址，字符串形式。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ImageField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同</a:t>
                      </a:r>
                      <a:r>
                        <a:rPr lang="en-US" sz="900" kern="100">
                          <a:effectLst/>
                        </a:rPr>
                        <a:t>FileField</a:t>
                      </a:r>
                      <a:r>
                        <a:rPr lang="zh-CN" sz="900" kern="100">
                          <a:effectLst/>
                        </a:rPr>
                        <a:t>字段，只是验证上传的对象是一个有效的图片。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IntegerField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整数类型，取值范围是</a:t>
                      </a:r>
                      <a:r>
                        <a:rPr lang="en-US" sz="900" kern="100">
                          <a:effectLst/>
                        </a:rPr>
                        <a:t>-2147483648</a:t>
                      </a:r>
                      <a:r>
                        <a:rPr lang="zh-CN" sz="900" kern="100">
                          <a:effectLst/>
                        </a:rPr>
                        <a:t>到</a:t>
                      </a:r>
                      <a:r>
                        <a:rPr lang="en-US" sz="900" kern="100">
                          <a:effectLst/>
                        </a:rPr>
                        <a:t>2147483647</a:t>
                      </a:r>
                      <a:r>
                        <a:rPr lang="zh-CN" sz="900" kern="100">
                          <a:effectLst/>
                        </a:rPr>
                        <a:t>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IPAddressField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IP</a:t>
                      </a:r>
                      <a:r>
                        <a:rPr lang="zh-CN" sz="900" kern="100">
                          <a:effectLst/>
                        </a:rPr>
                        <a:t>地址字段，以字符串格式表示。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NullBooleanField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同</a:t>
                      </a:r>
                      <a:r>
                        <a:rPr lang="en-US" sz="900" kern="100">
                          <a:effectLst/>
                        </a:rPr>
                        <a:t>BooleanField</a:t>
                      </a:r>
                      <a:r>
                        <a:rPr lang="zh-CN" sz="900" kern="100">
                          <a:effectLst/>
                        </a:rPr>
                        <a:t>字段，但它支持</a:t>
                      </a:r>
                      <a:r>
                        <a:rPr lang="en-US" sz="900" kern="100">
                          <a:effectLst/>
                        </a:rPr>
                        <a:t>None/Null</a:t>
                      </a:r>
                      <a:r>
                        <a:rPr lang="zh-CN" sz="900" kern="100">
                          <a:effectLst/>
                        </a:rPr>
                        <a:t>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8735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PhoneNumberField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它是一个</a:t>
                      </a:r>
                      <a:r>
                        <a:rPr lang="en-US" sz="900" kern="100">
                          <a:effectLst/>
                        </a:rPr>
                        <a:t>CharField</a:t>
                      </a:r>
                      <a:r>
                        <a:rPr lang="zh-CN" sz="900" kern="100">
                          <a:effectLst/>
                        </a:rPr>
                        <a:t>，并且会检查值是否是一个合法的美式电话格式。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PositiveIntegerField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和</a:t>
                      </a:r>
                      <a:r>
                        <a:rPr lang="en-US" sz="900" kern="100">
                          <a:effectLst/>
                        </a:rPr>
                        <a:t>IntegerField</a:t>
                      </a:r>
                      <a:r>
                        <a:rPr lang="zh-CN" sz="900" kern="100">
                          <a:effectLst/>
                        </a:rPr>
                        <a:t>类似，但必须是正值。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8735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PositiveSmallIntegerField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和</a:t>
                      </a:r>
                      <a:r>
                        <a:rPr lang="en-US" sz="900" kern="100">
                          <a:effectLst/>
                        </a:rPr>
                        <a:t>PositiveIntegerField</a:t>
                      </a:r>
                      <a:r>
                        <a:rPr lang="zh-CN" sz="900" kern="100">
                          <a:effectLst/>
                        </a:rPr>
                        <a:t>类似，但只允许小于一定值，最大值取决于数据库。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8735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SmallIntegerField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同</a:t>
                      </a:r>
                      <a:r>
                        <a:rPr lang="en-US" sz="900" kern="100">
                          <a:effectLst/>
                        </a:rPr>
                        <a:t>IntegerField</a:t>
                      </a:r>
                      <a:r>
                        <a:rPr lang="zh-CN" sz="900" kern="100">
                          <a:effectLst/>
                        </a:rPr>
                        <a:t>类似，但是只允许是在一个与数据库相关的范围内的数值。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TextField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一个不限长度的文本内容。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TimeField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时间字段。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URLField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</a:rPr>
                        <a:t>一个用于保存</a:t>
                      </a:r>
                      <a:r>
                        <a:rPr lang="en-US" sz="900" kern="100">
                          <a:effectLst/>
                        </a:rPr>
                        <a:t>URL</a:t>
                      </a:r>
                      <a:r>
                        <a:rPr lang="zh-CN" sz="900" kern="100">
                          <a:effectLst/>
                        </a:rPr>
                        <a:t>地址的字符串类型，默认最大长度</a:t>
                      </a:r>
                      <a:r>
                        <a:rPr lang="en-US" sz="900" kern="100">
                          <a:effectLst/>
                        </a:rPr>
                        <a:t>200</a:t>
                      </a:r>
                      <a:r>
                        <a:rPr lang="zh-CN" sz="900" kern="100">
                          <a:effectLst/>
                        </a:rPr>
                        <a:t>。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8735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XMLField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900" kern="100" dirty="0">
                          <a:effectLst/>
                        </a:rPr>
                        <a:t>它就是一个</a:t>
                      </a:r>
                      <a:r>
                        <a:rPr lang="en-US" sz="900" kern="100" dirty="0" err="1">
                          <a:effectLst/>
                        </a:rPr>
                        <a:t>TextField</a:t>
                      </a:r>
                      <a:r>
                        <a:rPr lang="zh-CN" sz="900" kern="100" dirty="0">
                          <a:effectLst/>
                        </a:rPr>
                        <a:t>，只不过要检查值是否匹配指定</a:t>
                      </a:r>
                      <a:r>
                        <a:rPr lang="en-US" sz="900" kern="100" dirty="0">
                          <a:effectLst/>
                        </a:rPr>
                        <a:t>schema</a:t>
                      </a:r>
                      <a:r>
                        <a:rPr lang="zh-CN" sz="900" kern="100" dirty="0">
                          <a:effectLst/>
                        </a:rPr>
                        <a:t>的合法</a:t>
                      </a:r>
                      <a:r>
                        <a:rPr lang="en-US" sz="900" kern="100" dirty="0">
                          <a:effectLst/>
                        </a:rPr>
                        <a:t>XML</a:t>
                      </a:r>
                      <a:r>
                        <a:rPr lang="zh-CN" sz="900" kern="100" dirty="0">
                          <a:effectLst/>
                        </a:rPr>
                        <a:t>。</a:t>
                      </a:r>
                      <a:endParaRPr lang="zh-CN" sz="105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DC68002-E174-4D49-8E35-E29A639FD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056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创建数据模型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polls</a:t>
            </a:r>
            <a:r>
              <a:rPr lang="zh-CN" altLang="en-US" dirty="0"/>
              <a:t>文件夹中的</a:t>
            </a:r>
            <a:r>
              <a:rPr lang="en-US" altLang="zh-CN" dirty="0"/>
              <a:t>models.py</a:t>
            </a:r>
            <a:r>
              <a:rPr lang="zh-CN" altLang="en-US" dirty="0"/>
              <a:t>中输入：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from </a:t>
            </a:r>
            <a:r>
              <a:rPr lang="en-US" altLang="zh-CN" dirty="0" err="1"/>
              <a:t>django.db</a:t>
            </a:r>
            <a:r>
              <a:rPr lang="en-US" altLang="zh-CN" dirty="0"/>
              <a:t> import models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class Question(</a:t>
            </a:r>
            <a:r>
              <a:rPr lang="en-US" altLang="zh-CN" dirty="0" err="1"/>
              <a:t>models.Model</a:t>
            </a:r>
            <a:r>
              <a:rPr lang="en-US" altLang="zh-CN" dirty="0"/>
              <a:t>):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question_text</a:t>
            </a:r>
            <a:r>
              <a:rPr lang="en-US" altLang="zh-CN" dirty="0"/>
              <a:t> = </a:t>
            </a:r>
            <a:r>
              <a:rPr lang="en-US" altLang="zh-CN" dirty="0" err="1"/>
              <a:t>models.CharField</a:t>
            </a:r>
            <a:r>
              <a:rPr lang="en-US" altLang="zh-CN" dirty="0"/>
              <a:t>(</a:t>
            </a:r>
            <a:r>
              <a:rPr lang="en-US" altLang="zh-CN" dirty="0" err="1"/>
              <a:t>max_length</a:t>
            </a:r>
            <a:r>
              <a:rPr lang="en-US" altLang="zh-CN" dirty="0"/>
              <a:t>=200)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pub_date</a:t>
            </a:r>
            <a:r>
              <a:rPr lang="en-US" altLang="zh-CN" dirty="0"/>
              <a:t> = </a:t>
            </a:r>
            <a:r>
              <a:rPr lang="en-US" altLang="zh-CN" dirty="0" err="1"/>
              <a:t>models.DateTimeField</a:t>
            </a:r>
            <a:r>
              <a:rPr lang="en-US" altLang="zh-CN" dirty="0"/>
              <a:t>('date published')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class Choice(</a:t>
            </a:r>
            <a:r>
              <a:rPr lang="en-US" altLang="zh-CN" dirty="0" err="1"/>
              <a:t>models.Model</a:t>
            </a:r>
            <a:r>
              <a:rPr lang="en-US" altLang="zh-CN" dirty="0"/>
              <a:t>):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    question = </a:t>
            </a:r>
            <a:r>
              <a:rPr lang="en-US" altLang="zh-CN" dirty="0" err="1"/>
              <a:t>models.ForeignKey</a:t>
            </a:r>
            <a:r>
              <a:rPr lang="en-US" altLang="zh-CN" dirty="0"/>
              <a:t>(Question, </a:t>
            </a:r>
            <a:r>
              <a:rPr lang="en-US" altLang="zh-CN" dirty="0" err="1"/>
              <a:t>on_delete</a:t>
            </a:r>
            <a:r>
              <a:rPr lang="en-US" altLang="zh-CN" dirty="0"/>
              <a:t>=</a:t>
            </a:r>
            <a:r>
              <a:rPr lang="en-US" altLang="zh-CN" dirty="0" err="1"/>
              <a:t>models.CASCADE</a:t>
            </a:r>
            <a:r>
              <a:rPr lang="en-US" altLang="zh-CN" dirty="0"/>
              <a:t>)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choice_text</a:t>
            </a:r>
            <a:r>
              <a:rPr lang="en-US" altLang="zh-CN" dirty="0"/>
              <a:t> = </a:t>
            </a:r>
            <a:r>
              <a:rPr lang="en-US" altLang="zh-CN" dirty="0" err="1"/>
              <a:t>models.CharField</a:t>
            </a:r>
            <a:r>
              <a:rPr lang="en-US" altLang="zh-CN" dirty="0"/>
              <a:t>(</a:t>
            </a:r>
            <a:r>
              <a:rPr lang="en-US" altLang="zh-CN" dirty="0" err="1"/>
              <a:t>max_length</a:t>
            </a:r>
            <a:r>
              <a:rPr lang="en-US" altLang="zh-CN" dirty="0"/>
              <a:t>=200)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    votes = </a:t>
            </a:r>
            <a:r>
              <a:rPr lang="en-US" altLang="zh-CN" dirty="0" err="1"/>
              <a:t>models.IntegerField</a:t>
            </a:r>
            <a:r>
              <a:rPr lang="en-US" altLang="zh-CN" dirty="0"/>
              <a:t>(default=0)</a:t>
            </a:r>
            <a:endParaRPr lang="zh-CN" altLang="zh-CN" dirty="0"/>
          </a:p>
        </p:txBody>
      </p:sp>
      <p:sp>
        <p:nvSpPr>
          <p:cNvPr id="4" name="圆角矩形 3"/>
          <p:cNvSpPr/>
          <p:nvPr/>
        </p:nvSpPr>
        <p:spPr>
          <a:xfrm>
            <a:off x="1055440" y="2420888"/>
            <a:ext cx="7488832" cy="165618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线形标注 1 4"/>
          <p:cNvSpPr/>
          <p:nvPr/>
        </p:nvSpPr>
        <p:spPr>
          <a:xfrm>
            <a:off x="9264352" y="1484784"/>
            <a:ext cx="2088232" cy="1008112"/>
          </a:xfrm>
          <a:prstGeom prst="borderCallout1">
            <a:avLst>
              <a:gd name="adj1" fmla="val 20990"/>
              <a:gd name="adj2" fmla="val -1305"/>
              <a:gd name="adj3" fmla="val 102422"/>
              <a:gd name="adj4" fmla="val -367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Question</a:t>
            </a:r>
            <a:r>
              <a:rPr lang="zh-CN" altLang="en-US" sz="2400" dirty="0"/>
              <a:t>表：</a:t>
            </a:r>
            <a:endParaRPr lang="en-US" altLang="zh-CN" sz="2400" dirty="0"/>
          </a:p>
          <a:p>
            <a:pPr algn="ctr"/>
            <a:r>
              <a:rPr lang="zh-CN" altLang="en-US" sz="2400" dirty="0"/>
              <a:t>有</a:t>
            </a:r>
            <a:r>
              <a:rPr lang="en-US" altLang="zh-CN" sz="2400" dirty="0"/>
              <a:t>2</a:t>
            </a:r>
            <a:r>
              <a:rPr lang="zh-CN" altLang="en-US" sz="2400" dirty="0"/>
              <a:t>个字段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055440" y="4293096"/>
            <a:ext cx="10081120" cy="20162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线形标注 1 6"/>
          <p:cNvSpPr/>
          <p:nvPr/>
        </p:nvSpPr>
        <p:spPr>
          <a:xfrm>
            <a:off x="9264352" y="3140968"/>
            <a:ext cx="2088232" cy="864096"/>
          </a:xfrm>
          <a:prstGeom prst="borderCallout1">
            <a:avLst>
              <a:gd name="adj1" fmla="val 25282"/>
              <a:gd name="adj2" fmla="val 317"/>
              <a:gd name="adj3" fmla="val 130790"/>
              <a:gd name="adj4" fmla="val -291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Choice</a:t>
            </a:r>
            <a:r>
              <a:rPr lang="zh-CN" altLang="en-US" sz="2400" dirty="0"/>
              <a:t>表：</a:t>
            </a:r>
            <a:endParaRPr lang="en-US" altLang="zh-CN" sz="2400" dirty="0"/>
          </a:p>
          <a:p>
            <a:pPr algn="ctr"/>
            <a:r>
              <a:rPr lang="zh-CN" altLang="en-US" sz="2400" dirty="0"/>
              <a:t>有</a:t>
            </a:r>
            <a:r>
              <a:rPr lang="en-US" altLang="zh-CN" sz="2400" dirty="0"/>
              <a:t>3</a:t>
            </a:r>
            <a:r>
              <a:rPr lang="zh-CN" altLang="en-US" sz="2400" dirty="0"/>
              <a:t>个字段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EAC713B-92A8-45E8-BEFE-BF0EBCA3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664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激活数据模型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1124745"/>
            <a:ext cx="10852237" cy="792088"/>
          </a:xfrm>
        </p:spPr>
        <p:txBody>
          <a:bodyPr/>
          <a:lstStyle/>
          <a:p>
            <a:r>
              <a:rPr lang="en-US" altLang="zh-CN" dirty="0" err="1"/>
              <a:t>mysite</a:t>
            </a:r>
            <a:r>
              <a:rPr lang="zh-CN" altLang="zh-CN" dirty="0"/>
              <a:t>中的</a:t>
            </a:r>
            <a:r>
              <a:rPr lang="en-US" altLang="zh-CN" dirty="0"/>
              <a:t>settings.py</a:t>
            </a:r>
            <a:r>
              <a:rPr lang="zh-CN" altLang="zh-CN" dirty="0"/>
              <a:t>文件，</a:t>
            </a:r>
            <a:r>
              <a:rPr lang="en-US" altLang="zh-CN" dirty="0"/>
              <a:t>INSTALLED_APPS</a:t>
            </a:r>
            <a:r>
              <a:rPr lang="zh-CN" altLang="zh-CN" dirty="0"/>
              <a:t>项</a:t>
            </a:r>
            <a:r>
              <a:rPr lang="zh-CN" altLang="en-US" dirty="0"/>
              <a:t>改为：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7528" y="1916832"/>
            <a:ext cx="8136904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/>
              <a:t>INSTALLED_APPS = [</a:t>
            </a:r>
            <a:endParaRPr lang="zh-CN" altLang="zh-CN" sz="2800" dirty="0"/>
          </a:p>
          <a:p>
            <a:pPr lvl="0"/>
            <a:r>
              <a:rPr lang="en-US" altLang="zh-CN" sz="2800" dirty="0"/>
              <a:t>    '</a:t>
            </a:r>
            <a:r>
              <a:rPr lang="en-US" altLang="zh-CN" sz="2800" dirty="0" err="1"/>
              <a:t>polls.apps.PollsConfig</a:t>
            </a:r>
            <a:r>
              <a:rPr lang="en-US" altLang="zh-CN" sz="2800" dirty="0"/>
              <a:t>',</a:t>
            </a:r>
            <a:endParaRPr lang="zh-CN" altLang="zh-CN" sz="2800" dirty="0"/>
          </a:p>
          <a:p>
            <a:pPr lvl="0"/>
            <a:r>
              <a:rPr lang="en-US" altLang="zh-CN" sz="2800" dirty="0"/>
              <a:t>    '</a:t>
            </a:r>
            <a:r>
              <a:rPr lang="en-US" altLang="zh-CN" sz="2800" dirty="0" err="1"/>
              <a:t>django.contrib.admin</a:t>
            </a:r>
            <a:r>
              <a:rPr lang="en-US" altLang="zh-CN" sz="2800" dirty="0"/>
              <a:t>',</a:t>
            </a:r>
            <a:endParaRPr lang="zh-CN" altLang="zh-CN" sz="2800" dirty="0"/>
          </a:p>
          <a:p>
            <a:pPr lvl="0"/>
            <a:r>
              <a:rPr lang="en-US" altLang="zh-CN" sz="2800" dirty="0"/>
              <a:t>    '</a:t>
            </a:r>
            <a:r>
              <a:rPr lang="en-US" altLang="zh-CN" sz="2800" dirty="0" err="1"/>
              <a:t>django.contrib.auth</a:t>
            </a:r>
            <a:r>
              <a:rPr lang="en-US" altLang="zh-CN" sz="2800" dirty="0"/>
              <a:t>',</a:t>
            </a:r>
            <a:endParaRPr lang="zh-CN" altLang="zh-CN" sz="2800" dirty="0"/>
          </a:p>
          <a:p>
            <a:pPr lvl="0"/>
            <a:r>
              <a:rPr lang="en-US" altLang="zh-CN" sz="2800" dirty="0"/>
              <a:t>    '</a:t>
            </a:r>
            <a:r>
              <a:rPr lang="en-US" altLang="zh-CN" sz="2800" dirty="0" err="1"/>
              <a:t>django.contrib.contenttypes</a:t>
            </a:r>
            <a:r>
              <a:rPr lang="en-US" altLang="zh-CN" sz="2800" dirty="0"/>
              <a:t>',</a:t>
            </a:r>
            <a:endParaRPr lang="zh-CN" altLang="zh-CN" sz="2800" dirty="0"/>
          </a:p>
          <a:p>
            <a:pPr lvl="0"/>
            <a:r>
              <a:rPr lang="en-US" altLang="zh-CN" sz="2800" dirty="0"/>
              <a:t>    '</a:t>
            </a:r>
            <a:r>
              <a:rPr lang="en-US" altLang="zh-CN" sz="2800" dirty="0" err="1"/>
              <a:t>django.contrib.sessions</a:t>
            </a:r>
            <a:r>
              <a:rPr lang="en-US" altLang="zh-CN" sz="2800" dirty="0"/>
              <a:t>',</a:t>
            </a:r>
            <a:endParaRPr lang="zh-CN" altLang="zh-CN" sz="2800" dirty="0"/>
          </a:p>
          <a:p>
            <a:pPr lvl="0"/>
            <a:r>
              <a:rPr lang="en-US" altLang="zh-CN" sz="2800" dirty="0"/>
              <a:t>    '</a:t>
            </a:r>
            <a:r>
              <a:rPr lang="en-US" altLang="zh-CN" sz="2800" dirty="0" err="1"/>
              <a:t>django.contrib.messages</a:t>
            </a:r>
            <a:r>
              <a:rPr lang="en-US" altLang="zh-CN" sz="2800" dirty="0"/>
              <a:t>',</a:t>
            </a:r>
            <a:endParaRPr lang="zh-CN" altLang="zh-CN" sz="2800" dirty="0"/>
          </a:p>
          <a:p>
            <a:pPr lvl="0"/>
            <a:r>
              <a:rPr lang="en-US" altLang="zh-CN" sz="2800" dirty="0"/>
              <a:t>    '</a:t>
            </a:r>
            <a:r>
              <a:rPr lang="en-US" altLang="zh-CN" sz="2800" dirty="0" err="1"/>
              <a:t>django.contrib.staticfiles</a:t>
            </a:r>
            <a:r>
              <a:rPr lang="en-US" altLang="zh-CN" sz="2800" dirty="0"/>
              <a:t>',</a:t>
            </a:r>
            <a:endParaRPr lang="zh-CN" altLang="zh-CN" sz="2800" dirty="0"/>
          </a:p>
          <a:p>
            <a:pPr lvl="0"/>
            <a:r>
              <a:rPr lang="en-US" altLang="zh-CN" sz="2800" dirty="0"/>
              <a:t>]</a:t>
            </a:r>
            <a:endParaRPr lang="zh-CN" altLang="zh-CN" sz="28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6E1ED2-E463-485B-AD86-834F13703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376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同步数据库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从</a:t>
            </a:r>
            <a:r>
              <a:rPr lang="en-US" altLang="zh-CN" dirty="0" err="1"/>
              <a:t>cmd</a:t>
            </a:r>
            <a:r>
              <a:rPr lang="zh-CN" altLang="zh-CN" dirty="0"/>
              <a:t>窗口进入</a:t>
            </a:r>
            <a:r>
              <a:rPr lang="en-US" altLang="zh-CN" dirty="0"/>
              <a:t>manage.py</a:t>
            </a:r>
            <a:r>
              <a:rPr lang="zh-CN" altLang="zh-CN" dirty="0"/>
              <a:t>所在的目录，执行以下命令</a:t>
            </a:r>
            <a:r>
              <a:rPr lang="zh-CN" altLang="en-US" dirty="0"/>
              <a:t>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python manage.py </a:t>
            </a:r>
            <a:r>
              <a:rPr lang="en-US" altLang="zh-CN" dirty="0" err="1"/>
              <a:t>makemigrations</a:t>
            </a:r>
            <a:endParaRPr lang="zh-CN" altLang="zh-CN" dirty="0"/>
          </a:p>
          <a:p>
            <a:pPr lvl="1"/>
            <a:endParaRPr lang="en-US" altLang="zh-CN" dirty="0"/>
          </a:p>
          <a:p>
            <a:r>
              <a:rPr lang="zh-CN" altLang="zh-CN" dirty="0"/>
              <a:t>继续执行命令：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python manage.py migrate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CFFD78-A744-4FF3-85B6-B54C72DC9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392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在命令行下输入如下命令：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python manage.py shell</a:t>
            </a:r>
          </a:p>
          <a:p>
            <a:endParaRPr lang="en-US" altLang="zh-CN" dirty="0"/>
          </a:p>
          <a:p>
            <a:r>
              <a:rPr lang="zh-CN" altLang="en-US" dirty="0"/>
              <a:t>进入</a:t>
            </a:r>
            <a:r>
              <a:rPr lang="en-US" altLang="zh-CN" dirty="0"/>
              <a:t>Python</a:t>
            </a:r>
            <a:r>
              <a:rPr lang="zh-CN" altLang="en-US" dirty="0"/>
              <a:t>的交互模式，可以</a:t>
            </a:r>
            <a:r>
              <a:rPr lang="zh-CN" altLang="zh-CN" dirty="0"/>
              <a:t>与</a:t>
            </a:r>
            <a:r>
              <a:rPr lang="en-US" altLang="zh-CN" dirty="0"/>
              <a:t>manage.py</a:t>
            </a:r>
            <a:r>
              <a:rPr lang="zh-CN" altLang="zh-CN" dirty="0"/>
              <a:t>交互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（语句略，这些语句的目的是准备好需要的数据）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EC11C7-6623-4F1C-9866-73F2725F4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9402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加入站点管理</a:t>
            </a:r>
          </a:p>
        </p:txBody>
      </p:sp>
      <p:sp>
        <p:nvSpPr>
          <p:cNvPr id="4" name="云形标注 3"/>
          <p:cNvSpPr/>
          <p:nvPr/>
        </p:nvSpPr>
        <p:spPr>
          <a:xfrm>
            <a:off x="6528048" y="1736812"/>
            <a:ext cx="3888432" cy="1512168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站点管理是</a:t>
            </a:r>
            <a:r>
              <a:rPr lang="zh-CN" altLang="en-US" sz="2400" dirty="0">
                <a:solidFill>
                  <a:srgbClr val="FFFF00"/>
                </a:solidFill>
              </a:rPr>
              <a:t>管理员</a:t>
            </a:r>
            <a:r>
              <a:rPr lang="zh-CN" altLang="en-US" sz="2400" dirty="0"/>
              <a:t>使用的功能</a:t>
            </a:r>
          </a:p>
        </p:txBody>
      </p:sp>
      <p:sp>
        <p:nvSpPr>
          <p:cNvPr id="5" name="矩形 4"/>
          <p:cNvSpPr/>
          <p:nvPr/>
        </p:nvSpPr>
        <p:spPr>
          <a:xfrm>
            <a:off x="1991544" y="1844824"/>
            <a:ext cx="165618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网站用户</a:t>
            </a:r>
          </a:p>
        </p:txBody>
      </p:sp>
      <p:sp>
        <p:nvSpPr>
          <p:cNvPr id="6" name="矩形 5"/>
          <p:cNvSpPr/>
          <p:nvPr/>
        </p:nvSpPr>
        <p:spPr>
          <a:xfrm>
            <a:off x="1127448" y="3356992"/>
            <a:ext cx="136815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管理员</a:t>
            </a:r>
          </a:p>
        </p:txBody>
      </p:sp>
      <p:sp>
        <p:nvSpPr>
          <p:cNvPr id="7" name="矩形 6"/>
          <p:cNvSpPr/>
          <p:nvPr/>
        </p:nvSpPr>
        <p:spPr>
          <a:xfrm>
            <a:off x="3215680" y="3356992"/>
            <a:ext cx="136815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访问者</a:t>
            </a:r>
          </a:p>
        </p:txBody>
      </p:sp>
      <p:cxnSp>
        <p:nvCxnSpPr>
          <p:cNvPr id="9" name="直接连接符 8"/>
          <p:cNvCxnSpPr>
            <a:stCxn id="5" idx="2"/>
            <a:endCxn id="6" idx="0"/>
          </p:cNvCxnSpPr>
          <p:nvPr/>
        </p:nvCxnSpPr>
        <p:spPr>
          <a:xfrm flipH="1">
            <a:off x="1811524" y="2492896"/>
            <a:ext cx="1008112" cy="864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5" idx="2"/>
            <a:endCxn id="7" idx="0"/>
          </p:cNvCxnSpPr>
          <p:nvPr/>
        </p:nvCxnSpPr>
        <p:spPr>
          <a:xfrm>
            <a:off x="2819636" y="2492896"/>
            <a:ext cx="1080120" cy="864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1AF8D23-6001-44CC-911F-D55241F12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6871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）创建管理者账号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命令行下输入：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python manage.py </a:t>
            </a:r>
            <a:r>
              <a:rPr lang="en-US" altLang="zh-CN" dirty="0" err="1"/>
              <a:t>createsuperuser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输入</a:t>
            </a:r>
            <a:r>
              <a:rPr lang="zh-CN" altLang="en-US" dirty="0">
                <a:solidFill>
                  <a:srgbClr val="FF0000"/>
                </a:solidFill>
              </a:rPr>
              <a:t>用户名</a:t>
            </a:r>
            <a:r>
              <a:rPr lang="zh-CN" altLang="en-US" dirty="0"/>
              <a:t>、显示的</a:t>
            </a:r>
            <a:r>
              <a:rPr lang="zh-CN" altLang="en-US" dirty="0">
                <a:solidFill>
                  <a:srgbClr val="FF0000"/>
                </a:solidFill>
              </a:rPr>
              <a:t>邮箱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密码</a:t>
            </a:r>
            <a:r>
              <a:rPr lang="zh-CN" altLang="en-US" dirty="0"/>
              <a:t>即可创建账号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4127DF-A947-4D12-9C4E-61642A70C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963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）启动开发服务器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确保是启动服务器状态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python manage.py </a:t>
            </a:r>
            <a:r>
              <a:rPr lang="en-US" altLang="zh-CN" dirty="0" err="1"/>
              <a:t>runserver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访问网址：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http://127.0.0.1:8000/admin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ED58EF-D3F7-4DEB-942A-5460D1F1C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45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）登录管理者账号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695400" y="1617894"/>
            <a:ext cx="5112568" cy="2880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6312024" y="1617894"/>
            <a:ext cx="5256584" cy="310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F05F7F7-0BDA-453D-A599-822659CD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3536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）注册模型类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admin.py</a:t>
            </a:r>
            <a:r>
              <a:rPr lang="zh-CN" altLang="en-US" dirty="0"/>
              <a:t>中注册</a:t>
            </a:r>
            <a:r>
              <a:rPr lang="en-US" altLang="zh-CN" dirty="0"/>
              <a:t>Question</a:t>
            </a:r>
            <a:r>
              <a:rPr lang="zh-CN" altLang="zh-CN" dirty="0"/>
              <a:t>对象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from </a:t>
            </a:r>
            <a:r>
              <a:rPr lang="en-US" altLang="zh-CN" dirty="0" err="1"/>
              <a:t>django.contrib</a:t>
            </a:r>
            <a:r>
              <a:rPr lang="en-US" altLang="zh-CN" dirty="0"/>
              <a:t> import admin</a:t>
            </a:r>
            <a:endParaRPr lang="zh-CN" altLang="zh-CN" dirty="0"/>
          </a:p>
          <a:p>
            <a:pPr marL="914400" lvl="2" indent="0">
              <a:buNone/>
            </a:pPr>
            <a:r>
              <a:rPr lang="en-US" altLang="zh-CN" dirty="0"/>
              <a:t>from .models import Question</a:t>
            </a:r>
            <a:endParaRPr lang="zh-CN" altLang="zh-CN" dirty="0"/>
          </a:p>
          <a:p>
            <a:pPr marL="914400" lvl="2" indent="0">
              <a:buNone/>
            </a:pPr>
            <a:r>
              <a:rPr lang="en-US" altLang="zh-CN" dirty="0" err="1"/>
              <a:t>admin.site.register</a:t>
            </a:r>
            <a:r>
              <a:rPr lang="en-US" altLang="zh-CN" dirty="0"/>
              <a:t>(Question)      # </a:t>
            </a:r>
            <a:r>
              <a:rPr lang="zh-CN" altLang="zh-CN" dirty="0"/>
              <a:t>注册模型类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87688" y="3861048"/>
            <a:ext cx="4554855" cy="2397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圆角矩形 4"/>
          <p:cNvSpPr/>
          <p:nvPr/>
        </p:nvSpPr>
        <p:spPr>
          <a:xfrm>
            <a:off x="3287688" y="5805264"/>
            <a:ext cx="648072" cy="3600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507505-355C-4ADC-875C-0814D8A2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3281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15.3.3 </a:t>
            </a:r>
            <a:r>
              <a:rPr lang="zh-CN" altLang="en-US" dirty="0"/>
              <a:t>创建视图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视图是</a:t>
            </a:r>
            <a:r>
              <a:rPr lang="en-US" altLang="zh-CN" dirty="0"/>
              <a:t>Django</a:t>
            </a:r>
            <a:r>
              <a:rPr lang="zh-CN" altLang="zh-CN" dirty="0"/>
              <a:t>应用的一个页面，提供了某个特定功能</a:t>
            </a:r>
            <a:endParaRPr lang="en-US" altLang="zh-CN" dirty="0"/>
          </a:p>
          <a:p>
            <a:r>
              <a:rPr lang="zh-CN" altLang="en-US" dirty="0"/>
              <a:t>本示例中的视图：</a:t>
            </a:r>
            <a:endParaRPr lang="en-US" altLang="zh-CN" dirty="0"/>
          </a:p>
          <a:p>
            <a:pPr lvl="1"/>
            <a:r>
              <a:rPr lang="en-US" altLang="zh-CN" dirty="0"/>
              <a:t>Question</a:t>
            </a:r>
            <a:r>
              <a:rPr lang="zh-CN" altLang="zh-CN" dirty="0"/>
              <a:t>的</a:t>
            </a:r>
            <a:r>
              <a:rPr lang="en-US" altLang="zh-CN" dirty="0"/>
              <a:t>index</a:t>
            </a:r>
            <a:r>
              <a:rPr lang="zh-CN" altLang="zh-CN" dirty="0"/>
              <a:t>页面</a:t>
            </a:r>
            <a:r>
              <a:rPr lang="en-US" altLang="zh-CN" dirty="0"/>
              <a:t>——</a:t>
            </a:r>
            <a:r>
              <a:rPr lang="zh-CN" altLang="zh-CN" dirty="0"/>
              <a:t>显示列举的问题</a:t>
            </a:r>
          </a:p>
          <a:p>
            <a:pPr lvl="1"/>
            <a:r>
              <a:rPr lang="en-US" altLang="zh-CN" dirty="0"/>
              <a:t>Question</a:t>
            </a:r>
            <a:r>
              <a:rPr lang="zh-CN" altLang="zh-CN" dirty="0"/>
              <a:t>的</a:t>
            </a:r>
            <a:r>
              <a:rPr lang="en-US" altLang="zh-CN" dirty="0"/>
              <a:t>detail</a:t>
            </a:r>
            <a:r>
              <a:rPr lang="zh-CN" altLang="zh-CN" dirty="0"/>
              <a:t>页面</a:t>
            </a:r>
            <a:r>
              <a:rPr lang="en-US" altLang="zh-CN" dirty="0"/>
              <a:t>——</a:t>
            </a:r>
            <a:r>
              <a:rPr lang="zh-CN" altLang="zh-CN" dirty="0"/>
              <a:t>显示问题的内容，不带结果</a:t>
            </a:r>
          </a:p>
          <a:p>
            <a:pPr lvl="1"/>
            <a:r>
              <a:rPr lang="en-US" altLang="zh-CN" dirty="0"/>
              <a:t>Question</a:t>
            </a:r>
            <a:r>
              <a:rPr lang="zh-CN" altLang="zh-CN" dirty="0"/>
              <a:t>的</a:t>
            </a:r>
            <a:r>
              <a:rPr lang="en-US" altLang="zh-CN" dirty="0"/>
              <a:t>results</a:t>
            </a:r>
            <a:r>
              <a:rPr lang="zh-CN" altLang="zh-CN" dirty="0"/>
              <a:t>页面</a:t>
            </a:r>
            <a:r>
              <a:rPr lang="en-US" altLang="zh-CN" dirty="0"/>
              <a:t>——</a:t>
            </a:r>
            <a:r>
              <a:rPr lang="zh-CN" altLang="zh-CN" dirty="0"/>
              <a:t>显示某个问题的投票结果</a:t>
            </a:r>
          </a:p>
          <a:p>
            <a:pPr lvl="1"/>
            <a:r>
              <a:rPr lang="en-US" altLang="zh-CN" dirty="0"/>
              <a:t>Vote</a:t>
            </a:r>
            <a:r>
              <a:rPr lang="zh-CN" altLang="zh-CN" dirty="0"/>
              <a:t>行为</a:t>
            </a:r>
            <a:r>
              <a:rPr lang="en-US" altLang="zh-CN" dirty="0"/>
              <a:t>——</a:t>
            </a:r>
            <a:r>
              <a:rPr lang="zh-CN" altLang="zh-CN" dirty="0"/>
              <a:t>处理某个问题选项的投票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0ED40F-37C9-4CDF-B80F-D08107A1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0997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视图函数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1124745"/>
            <a:ext cx="10852237" cy="720080"/>
          </a:xfrm>
        </p:spPr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views.py</a:t>
            </a:r>
            <a:r>
              <a:rPr lang="zh-CN" altLang="en-US" dirty="0"/>
              <a:t>中定义视图函数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7368" y="1916832"/>
            <a:ext cx="11449272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err="1"/>
              <a:t>def</a:t>
            </a:r>
            <a:r>
              <a:rPr lang="en-US" altLang="zh-CN" sz="2800" dirty="0"/>
              <a:t> detail(request, </a:t>
            </a:r>
            <a:r>
              <a:rPr lang="en-US" altLang="zh-CN" sz="2800" dirty="0" err="1"/>
              <a:t>question_id</a:t>
            </a:r>
            <a:r>
              <a:rPr lang="en-US" altLang="zh-CN" sz="2800" dirty="0"/>
              <a:t>):</a:t>
            </a:r>
            <a:endParaRPr lang="zh-CN" altLang="zh-CN" sz="2800" dirty="0"/>
          </a:p>
          <a:p>
            <a:pPr lvl="0"/>
            <a:r>
              <a:rPr lang="en-US" altLang="zh-CN" sz="2800" dirty="0"/>
              <a:t>    return </a:t>
            </a:r>
            <a:r>
              <a:rPr lang="en-US" altLang="zh-CN" sz="2800" dirty="0" err="1"/>
              <a:t>HttpResponse</a:t>
            </a:r>
            <a:r>
              <a:rPr lang="en-US" altLang="zh-CN" sz="2800" dirty="0"/>
              <a:t>("You're looking at question %s." % </a:t>
            </a:r>
            <a:r>
              <a:rPr lang="en-US" altLang="zh-CN" sz="2800" dirty="0" err="1"/>
              <a:t>question_id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pPr lvl="0"/>
            <a:r>
              <a:rPr lang="en-US" altLang="zh-CN" sz="2800" dirty="0"/>
              <a:t> </a:t>
            </a:r>
            <a:endParaRPr lang="zh-CN" altLang="zh-CN" sz="2800" dirty="0"/>
          </a:p>
          <a:p>
            <a:pPr lvl="0"/>
            <a:r>
              <a:rPr lang="en-US" altLang="zh-CN" sz="2800" dirty="0" err="1"/>
              <a:t>def</a:t>
            </a:r>
            <a:r>
              <a:rPr lang="en-US" altLang="zh-CN" sz="2800" dirty="0"/>
              <a:t> results(request, </a:t>
            </a:r>
            <a:r>
              <a:rPr lang="en-US" altLang="zh-CN" sz="2800" dirty="0" err="1"/>
              <a:t>question_id</a:t>
            </a:r>
            <a:r>
              <a:rPr lang="en-US" altLang="zh-CN" sz="2800" dirty="0"/>
              <a:t>):</a:t>
            </a:r>
            <a:endParaRPr lang="zh-CN" altLang="zh-CN" sz="2800" dirty="0"/>
          </a:p>
          <a:p>
            <a:pPr lvl="0"/>
            <a:r>
              <a:rPr lang="en-US" altLang="zh-CN" sz="2800" dirty="0"/>
              <a:t>    response = "You're looking at the results of question %s."</a:t>
            </a:r>
            <a:endParaRPr lang="zh-CN" altLang="zh-CN" sz="2800" dirty="0"/>
          </a:p>
          <a:p>
            <a:pPr lvl="0"/>
            <a:r>
              <a:rPr lang="en-US" altLang="zh-CN" sz="2800" dirty="0"/>
              <a:t>    return </a:t>
            </a:r>
            <a:r>
              <a:rPr lang="en-US" altLang="zh-CN" sz="2800" dirty="0" err="1"/>
              <a:t>HttpResponse</a:t>
            </a:r>
            <a:r>
              <a:rPr lang="en-US" altLang="zh-CN" sz="2800" dirty="0"/>
              <a:t>(response % </a:t>
            </a:r>
            <a:r>
              <a:rPr lang="en-US" altLang="zh-CN" sz="2800" dirty="0" err="1"/>
              <a:t>question_id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pPr lvl="0"/>
            <a:r>
              <a:rPr lang="en-US" altLang="zh-CN" sz="2800" dirty="0"/>
              <a:t> </a:t>
            </a:r>
            <a:endParaRPr lang="zh-CN" altLang="zh-CN" sz="2800" dirty="0"/>
          </a:p>
          <a:p>
            <a:pPr lvl="0"/>
            <a:r>
              <a:rPr lang="en-US" altLang="zh-CN" sz="2800" dirty="0" err="1"/>
              <a:t>def</a:t>
            </a:r>
            <a:r>
              <a:rPr lang="en-US" altLang="zh-CN" sz="2800" dirty="0"/>
              <a:t> vote(request, </a:t>
            </a:r>
            <a:r>
              <a:rPr lang="en-US" altLang="zh-CN" sz="2800" dirty="0" err="1"/>
              <a:t>question_id</a:t>
            </a:r>
            <a:r>
              <a:rPr lang="en-US" altLang="zh-CN" sz="2800" dirty="0"/>
              <a:t>):</a:t>
            </a:r>
            <a:endParaRPr lang="zh-CN" altLang="zh-CN" sz="2800" dirty="0"/>
          </a:p>
          <a:p>
            <a:pPr lvl="0"/>
            <a:r>
              <a:rPr lang="en-US" altLang="zh-CN" sz="2800" dirty="0"/>
              <a:t>    return </a:t>
            </a:r>
            <a:r>
              <a:rPr lang="en-US" altLang="zh-CN" sz="2800" dirty="0" err="1"/>
              <a:t>HttpResponse</a:t>
            </a:r>
            <a:r>
              <a:rPr lang="en-US" altLang="zh-CN" sz="2800" dirty="0"/>
              <a:t>("You're voting on question %s." % </a:t>
            </a:r>
            <a:r>
              <a:rPr lang="en-US" altLang="zh-CN" sz="2800" dirty="0" err="1"/>
              <a:t>question_id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endParaRPr lang="zh-CN" altLang="en-US" sz="28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F6865B-FE3D-47F6-A9AD-C33B3E80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5669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将视图导入</a:t>
            </a:r>
            <a:r>
              <a:rPr lang="en-US" altLang="zh-CN" dirty="0" err="1"/>
              <a:t>urls</a:t>
            </a:r>
            <a:r>
              <a:rPr lang="zh-CN" altLang="zh-CN" dirty="0"/>
              <a:t>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1124745"/>
            <a:ext cx="10852237" cy="648072"/>
          </a:xfrm>
        </p:spPr>
        <p:txBody>
          <a:bodyPr>
            <a:normAutofit/>
          </a:bodyPr>
          <a:lstStyle/>
          <a:p>
            <a:r>
              <a:rPr lang="en-US" altLang="zh-CN" dirty="0"/>
              <a:t>polls</a:t>
            </a:r>
            <a:r>
              <a:rPr lang="zh-CN" altLang="zh-CN" dirty="0"/>
              <a:t>文件夹的</a:t>
            </a:r>
            <a:r>
              <a:rPr lang="en-US" altLang="zh-CN" dirty="0"/>
              <a:t>urls.py</a:t>
            </a:r>
            <a:r>
              <a:rPr lang="zh-CN" altLang="zh-CN" dirty="0"/>
              <a:t>文件</a:t>
            </a:r>
            <a:r>
              <a:rPr lang="zh-CN" altLang="en-US" dirty="0"/>
              <a:t>中修改</a:t>
            </a:r>
            <a:r>
              <a:rPr lang="en-US" altLang="zh-CN" dirty="0" err="1"/>
              <a:t>urlpatterns</a:t>
            </a:r>
            <a:r>
              <a:rPr lang="zh-CN" altLang="zh-CN" dirty="0"/>
              <a:t>列表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5400" y="1808272"/>
            <a:ext cx="10441160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/>
              <a:t>from </a:t>
            </a:r>
            <a:r>
              <a:rPr lang="en-US" altLang="zh-CN" sz="2800" dirty="0" err="1"/>
              <a:t>django.urls</a:t>
            </a:r>
            <a:r>
              <a:rPr lang="en-US" altLang="zh-CN" sz="2800" dirty="0"/>
              <a:t> import path</a:t>
            </a:r>
            <a:endParaRPr lang="zh-CN" altLang="zh-CN" sz="2800" dirty="0"/>
          </a:p>
          <a:p>
            <a:pPr lvl="0"/>
            <a:r>
              <a:rPr lang="en-US" altLang="zh-CN" sz="2800" dirty="0"/>
              <a:t> </a:t>
            </a:r>
            <a:endParaRPr lang="zh-CN" altLang="zh-CN" sz="2800" dirty="0"/>
          </a:p>
          <a:p>
            <a:pPr lvl="0"/>
            <a:r>
              <a:rPr lang="en-US" altLang="zh-CN" sz="2800" dirty="0"/>
              <a:t>from . import views</a:t>
            </a:r>
            <a:endParaRPr lang="zh-CN" altLang="zh-CN" sz="2800" dirty="0"/>
          </a:p>
          <a:p>
            <a:pPr lvl="0"/>
            <a:r>
              <a:rPr lang="en-US" altLang="zh-CN" sz="2800" dirty="0"/>
              <a:t> </a:t>
            </a:r>
            <a:endParaRPr lang="zh-CN" altLang="zh-CN" sz="2800" dirty="0"/>
          </a:p>
          <a:p>
            <a:pPr lvl="0"/>
            <a:r>
              <a:rPr lang="en-US" altLang="zh-CN" sz="2800" dirty="0" err="1"/>
              <a:t>urlpatterns</a:t>
            </a:r>
            <a:r>
              <a:rPr lang="en-US" altLang="zh-CN" sz="2800" dirty="0"/>
              <a:t> = [</a:t>
            </a:r>
            <a:endParaRPr lang="zh-CN" altLang="zh-CN" sz="2800" dirty="0"/>
          </a:p>
          <a:p>
            <a:pPr lvl="0"/>
            <a:r>
              <a:rPr lang="en-US" altLang="zh-CN" sz="2800" dirty="0"/>
              <a:t>    path('', </a:t>
            </a:r>
            <a:r>
              <a:rPr lang="en-US" altLang="zh-CN" sz="2800" dirty="0" err="1"/>
              <a:t>views.index</a:t>
            </a:r>
            <a:r>
              <a:rPr lang="en-US" altLang="zh-CN" sz="2800" dirty="0"/>
              <a:t>, name='index'),</a:t>
            </a:r>
            <a:endParaRPr lang="zh-CN" altLang="zh-CN" sz="2800" dirty="0"/>
          </a:p>
          <a:p>
            <a:pPr lvl="0"/>
            <a:r>
              <a:rPr lang="en-US" altLang="zh-CN" sz="2800" dirty="0"/>
              <a:t>    path('&lt;</a:t>
            </a:r>
            <a:r>
              <a:rPr lang="en-US" altLang="zh-CN" sz="2800" dirty="0" err="1"/>
              <a:t>int:question_id</a:t>
            </a:r>
            <a:r>
              <a:rPr lang="en-US" altLang="zh-CN" sz="2800" dirty="0"/>
              <a:t>&gt;/', </a:t>
            </a:r>
            <a:r>
              <a:rPr lang="en-US" altLang="zh-CN" sz="2800" dirty="0" err="1"/>
              <a:t>views.detail</a:t>
            </a:r>
            <a:r>
              <a:rPr lang="en-US" altLang="zh-CN" sz="2800" dirty="0"/>
              <a:t>, name='detail'),</a:t>
            </a:r>
            <a:endParaRPr lang="zh-CN" altLang="zh-CN" sz="2800" dirty="0"/>
          </a:p>
          <a:p>
            <a:pPr lvl="0"/>
            <a:r>
              <a:rPr lang="en-US" altLang="zh-CN" sz="2800" dirty="0"/>
              <a:t>    path('&lt;</a:t>
            </a:r>
            <a:r>
              <a:rPr lang="en-US" altLang="zh-CN" sz="2800" dirty="0" err="1"/>
              <a:t>int:question_id</a:t>
            </a:r>
            <a:r>
              <a:rPr lang="en-US" altLang="zh-CN" sz="2800" dirty="0"/>
              <a:t>&gt;/results/', </a:t>
            </a:r>
            <a:r>
              <a:rPr lang="en-US" altLang="zh-CN" sz="2800" dirty="0" err="1"/>
              <a:t>views.results</a:t>
            </a:r>
            <a:r>
              <a:rPr lang="en-US" altLang="zh-CN" sz="2800" dirty="0"/>
              <a:t>, name='results'),</a:t>
            </a:r>
            <a:endParaRPr lang="zh-CN" altLang="zh-CN" sz="2800" dirty="0"/>
          </a:p>
          <a:p>
            <a:pPr lvl="0"/>
            <a:r>
              <a:rPr lang="en-US" altLang="zh-CN" sz="2800" dirty="0"/>
              <a:t>    path('&lt;</a:t>
            </a:r>
            <a:r>
              <a:rPr lang="en-US" altLang="zh-CN" sz="2800" dirty="0" err="1"/>
              <a:t>int:question_id</a:t>
            </a:r>
            <a:r>
              <a:rPr lang="en-US" altLang="zh-CN" sz="2800" dirty="0"/>
              <a:t>&gt;/vote/', </a:t>
            </a:r>
            <a:r>
              <a:rPr lang="en-US" altLang="zh-CN" sz="2800" dirty="0" err="1"/>
              <a:t>views.vote</a:t>
            </a:r>
            <a:r>
              <a:rPr lang="en-US" altLang="zh-CN" sz="2800" dirty="0"/>
              <a:t>, name='vote'),</a:t>
            </a:r>
            <a:endParaRPr lang="zh-CN" altLang="zh-CN" sz="2800" dirty="0"/>
          </a:p>
          <a:p>
            <a:pPr lvl="0"/>
            <a:r>
              <a:rPr lang="en-US" altLang="zh-CN" sz="2800" dirty="0"/>
              <a:t>]</a:t>
            </a:r>
            <a:endParaRPr lang="zh-CN" altLang="en-US" sz="28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810130-0A0E-4833-965B-33242FD4A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0904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测试视图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测试 </a:t>
            </a:r>
            <a:r>
              <a:rPr lang="en-US" altLang="zh-CN" dirty="0"/>
              <a:t>detail()</a:t>
            </a:r>
          </a:p>
          <a:p>
            <a:pPr marL="457200" lvl="1" indent="0">
              <a:buNone/>
            </a:pPr>
            <a:r>
              <a:rPr lang="zh-CN" altLang="en-US" dirty="0"/>
              <a:t>浏览器</a:t>
            </a:r>
            <a:r>
              <a:rPr lang="zh-CN" altLang="zh-CN" dirty="0"/>
              <a:t>地址栏中输入“</a:t>
            </a:r>
            <a:r>
              <a:rPr lang="en-US" altLang="zh-CN" dirty="0"/>
              <a:t>127.0.0.1/8000/polls/34</a:t>
            </a:r>
            <a:r>
              <a:rPr lang="zh-CN" altLang="zh-CN" dirty="0"/>
              <a:t>”</a:t>
            </a:r>
            <a:endParaRPr lang="en-US" altLang="zh-CN" dirty="0"/>
          </a:p>
          <a:p>
            <a:r>
              <a:rPr lang="zh-CN" altLang="en-US" dirty="0"/>
              <a:t>测试 </a:t>
            </a:r>
            <a:r>
              <a:rPr lang="en-US" altLang="zh-CN" dirty="0"/>
              <a:t>results()</a:t>
            </a:r>
          </a:p>
          <a:p>
            <a:pPr marL="457200" lvl="1" indent="0">
              <a:buNone/>
            </a:pPr>
            <a:r>
              <a:rPr lang="zh-CN" altLang="en-US" dirty="0"/>
              <a:t>浏览器</a:t>
            </a:r>
            <a:r>
              <a:rPr lang="zh-CN" altLang="zh-CN" dirty="0"/>
              <a:t>地址栏中输入“</a:t>
            </a:r>
            <a:r>
              <a:rPr lang="en-US" altLang="zh-CN" dirty="0"/>
              <a:t>127.0.0.1/8000/polls/34/results</a:t>
            </a:r>
            <a:r>
              <a:rPr lang="zh-CN" altLang="zh-CN" dirty="0"/>
              <a:t>”</a:t>
            </a:r>
            <a:endParaRPr lang="en-US" altLang="zh-CN" dirty="0"/>
          </a:p>
          <a:p>
            <a:r>
              <a:rPr lang="zh-CN" altLang="en-US" dirty="0"/>
              <a:t>测试 </a:t>
            </a:r>
            <a:r>
              <a:rPr lang="en-US" altLang="zh-CN" dirty="0"/>
              <a:t>vote()</a:t>
            </a:r>
          </a:p>
          <a:p>
            <a:pPr marL="457200" lvl="1" indent="0">
              <a:buNone/>
            </a:pPr>
            <a:r>
              <a:rPr lang="zh-CN" altLang="zh-CN" dirty="0"/>
              <a:t>浏览器地址栏中输入“</a:t>
            </a:r>
            <a:r>
              <a:rPr lang="en-US" altLang="zh-CN" dirty="0"/>
              <a:t>127.0.0.1/8000/polls/34/vote</a:t>
            </a:r>
            <a:r>
              <a:rPr lang="zh-CN" altLang="zh-CN" dirty="0"/>
              <a:t>”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5D1B26-A504-4760-87BC-738850E3C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222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实际使用的视图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1124745"/>
            <a:ext cx="10852237" cy="1368152"/>
          </a:xfrm>
        </p:spPr>
        <p:txBody>
          <a:bodyPr/>
          <a:lstStyle/>
          <a:p>
            <a:r>
              <a:rPr lang="zh-CN" altLang="en-US" dirty="0"/>
              <a:t>改进</a:t>
            </a:r>
            <a:r>
              <a:rPr lang="en-US" altLang="zh-CN" dirty="0"/>
              <a:t>index()</a:t>
            </a:r>
            <a:endParaRPr lang="zh-CN" altLang="en-US" dirty="0"/>
          </a:p>
          <a:p>
            <a:pPr lvl="1"/>
            <a:r>
              <a:rPr lang="zh-CN" altLang="zh-CN" dirty="0"/>
              <a:t>修改</a:t>
            </a:r>
            <a:r>
              <a:rPr lang="en-US" altLang="zh-CN" dirty="0"/>
              <a:t>polls</a:t>
            </a:r>
            <a:r>
              <a:rPr lang="zh-CN" altLang="zh-CN" dirty="0"/>
              <a:t>文件夹下的</a:t>
            </a:r>
            <a:r>
              <a:rPr lang="en-US" altLang="zh-CN" dirty="0"/>
              <a:t>views.py</a:t>
            </a:r>
            <a:r>
              <a:rPr lang="zh-CN" altLang="zh-CN" dirty="0"/>
              <a:t>文件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9112" y="2689880"/>
            <a:ext cx="10657184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/>
              <a:t>from </a:t>
            </a:r>
            <a:r>
              <a:rPr lang="en-US" altLang="zh-CN" sz="2800" dirty="0" err="1"/>
              <a:t>django.http</a:t>
            </a:r>
            <a:r>
              <a:rPr lang="en-US" altLang="zh-CN" sz="2800" dirty="0"/>
              <a:t> import </a:t>
            </a:r>
            <a:r>
              <a:rPr lang="en-US" altLang="zh-CN" sz="2800" dirty="0" err="1"/>
              <a:t>HttpResponse</a:t>
            </a:r>
            <a:endParaRPr lang="zh-CN" altLang="zh-CN" sz="2800" dirty="0"/>
          </a:p>
          <a:p>
            <a:pPr lvl="0"/>
            <a:r>
              <a:rPr lang="en-US" altLang="zh-CN" sz="2800" dirty="0"/>
              <a:t>from .models import Question</a:t>
            </a:r>
            <a:endParaRPr lang="zh-CN" altLang="zh-CN" sz="2800" dirty="0"/>
          </a:p>
          <a:p>
            <a:pPr lvl="0"/>
            <a:r>
              <a:rPr lang="en-US" altLang="zh-CN" sz="2800" dirty="0"/>
              <a:t> </a:t>
            </a:r>
            <a:endParaRPr lang="zh-CN" altLang="zh-CN" sz="2800" dirty="0"/>
          </a:p>
          <a:p>
            <a:pPr lvl="0"/>
            <a:r>
              <a:rPr lang="en-US" altLang="zh-CN" sz="2800" dirty="0" err="1"/>
              <a:t>def</a:t>
            </a:r>
            <a:r>
              <a:rPr lang="en-US" altLang="zh-CN" sz="2800" dirty="0"/>
              <a:t> index(request):</a:t>
            </a:r>
            <a:endParaRPr lang="zh-CN" altLang="zh-CN" sz="2800" dirty="0"/>
          </a:p>
          <a:p>
            <a:pPr lvl="0"/>
            <a:r>
              <a:rPr lang="en-US" altLang="zh-CN" sz="2800" dirty="0"/>
              <a:t>    </a:t>
            </a:r>
            <a:r>
              <a:rPr lang="en-US" altLang="zh-CN" sz="2800" dirty="0" err="1"/>
              <a:t>latest_question_list</a:t>
            </a:r>
            <a:r>
              <a:rPr lang="en-US" altLang="zh-CN" sz="2800" dirty="0"/>
              <a:t> = </a:t>
            </a:r>
            <a:r>
              <a:rPr lang="en-US" altLang="zh-CN" sz="2800" dirty="0" err="1"/>
              <a:t>Question.objects.order_by</a:t>
            </a:r>
            <a:r>
              <a:rPr lang="en-US" altLang="zh-CN" sz="2800" dirty="0"/>
              <a:t>('-</a:t>
            </a:r>
            <a:r>
              <a:rPr lang="en-US" altLang="zh-CN" sz="2800" dirty="0" err="1"/>
              <a:t>pub_date</a:t>
            </a:r>
            <a:r>
              <a:rPr lang="en-US" altLang="zh-CN" sz="2800" dirty="0"/>
              <a:t>')[:5]</a:t>
            </a:r>
            <a:endParaRPr lang="zh-CN" altLang="zh-CN" sz="2800" dirty="0"/>
          </a:p>
          <a:p>
            <a:pPr lvl="0"/>
            <a:r>
              <a:rPr lang="en-US" altLang="zh-CN" sz="2800" dirty="0"/>
              <a:t>    output = ', '.join([</a:t>
            </a:r>
            <a:r>
              <a:rPr lang="en-US" altLang="zh-CN" sz="2800" dirty="0" err="1"/>
              <a:t>q.question_text</a:t>
            </a:r>
            <a:r>
              <a:rPr lang="en-US" altLang="zh-CN" sz="2800" dirty="0"/>
              <a:t> for q in </a:t>
            </a:r>
            <a:r>
              <a:rPr lang="en-US" altLang="zh-CN" sz="2800" dirty="0" err="1"/>
              <a:t>latest_question_list</a:t>
            </a:r>
            <a:r>
              <a:rPr lang="en-US" altLang="zh-CN" sz="2800" dirty="0"/>
              <a:t>])</a:t>
            </a:r>
            <a:endParaRPr lang="zh-CN" altLang="zh-CN" sz="2800" dirty="0"/>
          </a:p>
          <a:p>
            <a:pPr lvl="0"/>
            <a:r>
              <a:rPr lang="en-US" altLang="zh-CN" sz="2800" dirty="0"/>
              <a:t>    return </a:t>
            </a:r>
            <a:r>
              <a:rPr lang="en-US" altLang="zh-CN" sz="2800" dirty="0" err="1"/>
              <a:t>HttpResponse</a:t>
            </a:r>
            <a:r>
              <a:rPr lang="en-US" altLang="zh-CN" sz="2800" dirty="0"/>
              <a:t>(output)</a:t>
            </a:r>
            <a:endParaRPr lang="zh-CN" altLang="zh-CN" sz="28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5523BD-2841-428A-BE59-EFDC5366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0013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引发</a:t>
            </a:r>
            <a:r>
              <a:rPr lang="en-US" altLang="zh-CN" dirty="0"/>
              <a:t>404</a:t>
            </a:r>
            <a:r>
              <a:rPr lang="zh-CN" altLang="en-US" dirty="0"/>
              <a:t>错误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1124745"/>
            <a:ext cx="10852237" cy="720080"/>
          </a:xfrm>
        </p:spPr>
        <p:txBody>
          <a:bodyPr/>
          <a:lstStyle/>
          <a:p>
            <a:r>
              <a:rPr lang="zh-CN" altLang="zh-CN" dirty="0"/>
              <a:t>修改</a:t>
            </a:r>
            <a:r>
              <a:rPr lang="en-US" altLang="zh-CN" dirty="0"/>
              <a:t> polls </a:t>
            </a:r>
            <a:r>
              <a:rPr lang="zh-CN" altLang="zh-CN" dirty="0"/>
              <a:t>文件夹的</a:t>
            </a:r>
            <a:r>
              <a:rPr lang="en-US" altLang="zh-CN" dirty="0"/>
              <a:t> views.py </a:t>
            </a:r>
            <a:r>
              <a:rPr lang="zh-CN" altLang="zh-CN" dirty="0"/>
              <a:t>中的</a:t>
            </a:r>
            <a:r>
              <a:rPr lang="en-US" altLang="zh-CN" dirty="0"/>
              <a:t> detail()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7408" y="1772816"/>
            <a:ext cx="10513168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/>
              <a:t>from </a:t>
            </a:r>
            <a:r>
              <a:rPr lang="en-US" altLang="zh-CN" sz="2800" dirty="0" err="1"/>
              <a:t>django.http</a:t>
            </a:r>
            <a:r>
              <a:rPr lang="en-US" altLang="zh-CN" sz="2800" dirty="0"/>
              <a:t> import </a:t>
            </a:r>
            <a:r>
              <a:rPr lang="en-US" altLang="zh-CN" sz="2800" dirty="0" err="1"/>
              <a:t>HttpResponse</a:t>
            </a:r>
            <a:endParaRPr lang="zh-CN" altLang="zh-CN" sz="2800" dirty="0"/>
          </a:p>
          <a:p>
            <a:pPr lvl="0"/>
            <a:r>
              <a:rPr lang="en-US" altLang="zh-CN" sz="2800" dirty="0"/>
              <a:t>from .models import Question</a:t>
            </a:r>
            <a:endParaRPr lang="zh-CN" altLang="zh-CN" sz="2800" dirty="0"/>
          </a:p>
          <a:p>
            <a:pPr lvl="0"/>
            <a:r>
              <a:rPr lang="en-US" altLang="zh-CN" sz="2800" dirty="0"/>
              <a:t>from </a:t>
            </a:r>
            <a:r>
              <a:rPr lang="en-US" altLang="zh-CN" sz="2800" dirty="0" err="1"/>
              <a:t>django.http</a:t>
            </a:r>
            <a:r>
              <a:rPr lang="en-US" altLang="zh-CN" sz="2800" dirty="0"/>
              <a:t> import Http404</a:t>
            </a:r>
            <a:endParaRPr lang="zh-CN" altLang="zh-CN" sz="2800" dirty="0"/>
          </a:p>
          <a:p>
            <a:pPr lvl="0"/>
            <a:r>
              <a:rPr lang="en-US" altLang="zh-CN" sz="2800" dirty="0"/>
              <a:t>from </a:t>
            </a:r>
            <a:r>
              <a:rPr lang="en-US" altLang="zh-CN" sz="2800" dirty="0" err="1"/>
              <a:t>django.shortcuts</a:t>
            </a:r>
            <a:r>
              <a:rPr lang="en-US" altLang="zh-CN" sz="2800" dirty="0"/>
              <a:t> import render</a:t>
            </a:r>
            <a:endParaRPr lang="zh-CN" altLang="zh-CN" sz="2800" dirty="0"/>
          </a:p>
          <a:p>
            <a:pPr lvl="0"/>
            <a:r>
              <a:rPr lang="en-US" altLang="zh-CN" sz="2800" dirty="0"/>
              <a:t> </a:t>
            </a:r>
            <a:endParaRPr lang="zh-CN" altLang="zh-CN" sz="2800" dirty="0"/>
          </a:p>
          <a:p>
            <a:pPr lvl="0"/>
            <a:r>
              <a:rPr lang="en-US" altLang="zh-CN" sz="2800" dirty="0" err="1"/>
              <a:t>def</a:t>
            </a:r>
            <a:r>
              <a:rPr lang="en-US" altLang="zh-CN" sz="2800" dirty="0"/>
              <a:t> detail(request, </a:t>
            </a:r>
            <a:r>
              <a:rPr lang="en-US" altLang="zh-CN" sz="2800" dirty="0" err="1"/>
              <a:t>question_id</a:t>
            </a:r>
            <a:r>
              <a:rPr lang="en-US" altLang="zh-CN" sz="2800" dirty="0"/>
              <a:t>):</a:t>
            </a:r>
            <a:endParaRPr lang="zh-CN" altLang="zh-CN" sz="2800" dirty="0"/>
          </a:p>
          <a:p>
            <a:pPr lvl="0"/>
            <a:r>
              <a:rPr lang="en-US" altLang="zh-CN" sz="2800" dirty="0"/>
              <a:t>    try:</a:t>
            </a:r>
            <a:endParaRPr lang="zh-CN" altLang="zh-CN" sz="2800" dirty="0"/>
          </a:p>
          <a:p>
            <a:pPr lvl="0"/>
            <a:r>
              <a:rPr lang="en-US" altLang="zh-CN" sz="2800" dirty="0"/>
              <a:t>        Question = </a:t>
            </a:r>
            <a:r>
              <a:rPr lang="en-US" altLang="zh-CN" sz="2800" dirty="0" err="1"/>
              <a:t>Question.objects.get</a:t>
            </a:r>
            <a:r>
              <a:rPr lang="en-US" altLang="zh-CN" sz="2800" dirty="0"/>
              <a:t>(</a:t>
            </a:r>
            <a:r>
              <a:rPr lang="en-US" altLang="zh-CN" sz="2800" dirty="0" err="1"/>
              <a:t>pk</a:t>
            </a:r>
            <a:r>
              <a:rPr lang="en-US" altLang="zh-CN" sz="2800" dirty="0"/>
              <a:t>=</a:t>
            </a:r>
            <a:r>
              <a:rPr lang="en-US" altLang="zh-CN" sz="2800" dirty="0" err="1"/>
              <a:t>question_id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pPr lvl="0"/>
            <a:r>
              <a:rPr lang="en-US" altLang="zh-CN" sz="2800" dirty="0"/>
              <a:t>    except </a:t>
            </a:r>
            <a:r>
              <a:rPr lang="en-US" altLang="zh-CN" sz="2800" dirty="0" err="1"/>
              <a:t>Question.DoesNotExist</a:t>
            </a:r>
            <a:r>
              <a:rPr lang="en-US" altLang="zh-CN" sz="2800" dirty="0"/>
              <a:t>:</a:t>
            </a:r>
            <a:endParaRPr lang="zh-CN" altLang="zh-CN" sz="2800" dirty="0"/>
          </a:p>
          <a:p>
            <a:pPr lvl="0"/>
            <a:r>
              <a:rPr lang="en-US" altLang="zh-CN" sz="2800" dirty="0"/>
              <a:t>        raise Http404("Question does not exist")</a:t>
            </a:r>
            <a:endParaRPr lang="zh-CN" altLang="zh-CN" sz="2800" dirty="0"/>
          </a:p>
          <a:p>
            <a:pPr lvl="0"/>
            <a:r>
              <a:rPr lang="en-US" altLang="zh-CN" sz="2800" dirty="0"/>
              <a:t>    return render(request, 'polls/detail.html', {'question': question})</a:t>
            </a:r>
            <a:endParaRPr lang="zh-CN" altLang="zh-CN" sz="28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BC55CB-2F2C-4539-94EA-A65B87AC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4030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15.3.4 </a:t>
            </a:r>
            <a:r>
              <a:rPr lang="zh-CN" altLang="en-US" dirty="0"/>
              <a:t>模板系统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9456" y="1484784"/>
            <a:ext cx="5256584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zh-CN" sz="2800" dirty="0"/>
              <a:t>模板包含两部分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r>
              <a:rPr lang="zh-CN" altLang="zh-CN" sz="2800" b="1" dirty="0">
                <a:solidFill>
                  <a:srgbClr val="FF0000"/>
                </a:solidFill>
              </a:rPr>
              <a:t>静态部分</a:t>
            </a:r>
            <a:r>
              <a:rPr lang="zh-CN" altLang="zh-CN" sz="2800" dirty="0"/>
              <a:t>，包含</a:t>
            </a:r>
            <a:r>
              <a:rPr lang="en-US" altLang="zh-CN" sz="2800" dirty="0"/>
              <a:t>html</a:t>
            </a:r>
            <a:r>
              <a:rPr lang="zh-CN" altLang="zh-CN" sz="2800" dirty="0"/>
              <a:t>、</a:t>
            </a:r>
            <a:r>
              <a:rPr lang="en-US" altLang="zh-CN" sz="2800" dirty="0" err="1"/>
              <a:t>css</a:t>
            </a:r>
            <a:r>
              <a:rPr lang="zh-CN" altLang="zh-CN" sz="2800" dirty="0"/>
              <a:t>、</a:t>
            </a:r>
            <a:r>
              <a:rPr lang="en-US" altLang="zh-CN" sz="2800" dirty="0" err="1"/>
              <a:t>js</a:t>
            </a:r>
            <a:endParaRPr lang="en-US" altLang="zh-CN" sz="2800" dirty="0"/>
          </a:p>
          <a:p>
            <a:r>
              <a:rPr lang="zh-CN" altLang="zh-CN" sz="2800" b="1" dirty="0">
                <a:solidFill>
                  <a:srgbClr val="FF0000"/>
                </a:solidFill>
              </a:rPr>
              <a:t>动态部分</a:t>
            </a:r>
            <a:r>
              <a:rPr lang="zh-CN" altLang="zh-CN" sz="2800" dirty="0"/>
              <a:t>，就是模板语言</a:t>
            </a:r>
            <a:endParaRPr lang="zh-CN" altLang="en-US" sz="2800" dirty="0"/>
          </a:p>
        </p:txBody>
      </p:sp>
      <p:sp>
        <p:nvSpPr>
          <p:cNvPr id="5" name="云形标注 4"/>
          <p:cNvSpPr/>
          <p:nvPr/>
        </p:nvSpPr>
        <p:spPr>
          <a:xfrm>
            <a:off x="7392144" y="1268760"/>
            <a:ext cx="3744416" cy="3384376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模板文件是个</a:t>
            </a:r>
            <a:r>
              <a:rPr lang="en-US" altLang="zh-CN" sz="2400" dirty="0"/>
              <a:t>.html</a:t>
            </a:r>
            <a:r>
              <a:rPr lang="zh-CN" altLang="en-US" sz="2400" dirty="0"/>
              <a:t>文件，但</a:t>
            </a:r>
            <a:r>
              <a:rPr lang="zh-CN" altLang="zh-CN" sz="2400" dirty="0"/>
              <a:t>不是普通的</a:t>
            </a:r>
            <a:r>
              <a:rPr lang="en-US" altLang="zh-CN" sz="2400" dirty="0"/>
              <a:t>html</a:t>
            </a:r>
            <a:r>
              <a:rPr lang="zh-CN" altLang="zh-CN" sz="2400" dirty="0"/>
              <a:t>文件</a:t>
            </a:r>
            <a:r>
              <a:rPr lang="zh-CN" altLang="en-US" sz="2400" dirty="0"/>
              <a:t>，里面含有</a:t>
            </a:r>
            <a:r>
              <a:rPr lang="zh-CN" altLang="zh-CN" sz="2400" dirty="0"/>
              <a:t>模板语法</a:t>
            </a:r>
            <a:endParaRPr lang="zh-CN" altLang="en-US" sz="24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CDE6A93-F50A-4688-881C-D686851B0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3230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设置模板文件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polls </a:t>
            </a:r>
            <a:r>
              <a:rPr lang="zh-CN" altLang="en-US" dirty="0"/>
              <a:t>文件夹下，创建一个 </a:t>
            </a:r>
            <a:r>
              <a:rPr lang="en-US" altLang="zh-CN" dirty="0"/>
              <a:t>templates </a:t>
            </a:r>
            <a:r>
              <a:rPr lang="zh-CN" altLang="zh-CN" dirty="0"/>
              <a:t>文件夹</a:t>
            </a:r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5231904" y="1052736"/>
            <a:ext cx="3384376" cy="86409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线形标注 1 4"/>
          <p:cNvSpPr/>
          <p:nvPr/>
        </p:nvSpPr>
        <p:spPr>
          <a:xfrm>
            <a:off x="7896200" y="2492896"/>
            <a:ext cx="2736304" cy="1512168"/>
          </a:xfrm>
          <a:prstGeom prst="borderCallout1">
            <a:avLst>
              <a:gd name="adj1" fmla="val 29836"/>
              <a:gd name="adj2" fmla="val -536"/>
              <a:gd name="adj3" fmla="val -55807"/>
              <a:gd name="adj4" fmla="val -4111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所有模板文件都存放在此处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92" y="3018147"/>
            <a:ext cx="6829008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在</a:t>
            </a:r>
            <a:r>
              <a:rPr lang="en-US" altLang="zh-CN" sz="2800" dirty="0"/>
              <a:t>templates</a:t>
            </a:r>
            <a:r>
              <a:rPr lang="zh-CN" altLang="en-US" sz="2800" dirty="0"/>
              <a:t>文件夹下</a:t>
            </a:r>
            <a:r>
              <a:rPr lang="zh-CN" altLang="en-US" sz="2800" dirty="0">
                <a:solidFill>
                  <a:srgbClr val="FF0000"/>
                </a:solidFill>
              </a:rPr>
              <a:t>再建一个文件夹 </a:t>
            </a:r>
            <a:r>
              <a:rPr lang="en-US" altLang="zh-CN" sz="2800" dirty="0">
                <a:solidFill>
                  <a:srgbClr val="FF0000"/>
                </a:solidFill>
              </a:rPr>
              <a:t>polls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线形标注 1 6"/>
          <p:cNvSpPr/>
          <p:nvPr/>
        </p:nvSpPr>
        <p:spPr>
          <a:xfrm>
            <a:off x="3647728" y="4725144"/>
            <a:ext cx="2448272" cy="1368152"/>
          </a:xfrm>
          <a:prstGeom prst="borderCallout1">
            <a:avLst>
              <a:gd name="adj1" fmla="val -3528"/>
              <a:gd name="adj2" fmla="val 62630"/>
              <a:gd name="adj3" fmla="val -90232"/>
              <a:gd name="adj4" fmla="val 1260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存放</a:t>
            </a:r>
            <a:r>
              <a:rPr lang="en-US" altLang="zh-CN" sz="2400" dirty="0"/>
              <a:t>index()</a:t>
            </a:r>
            <a:r>
              <a:rPr lang="zh-CN" altLang="en-US" sz="2400" dirty="0"/>
              <a:t>对应的模板文件</a:t>
            </a:r>
            <a:r>
              <a:rPr lang="en-US" altLang="zh-CN" sz="2400" dirty="0"/>
              <a:t>index.html</a:t>
            </a:r>
            <a:endParaRPr lang="zh-CN" altLang="en-US" sz="2400" dirty="0"/>
          </a:p>
        </p:txBody>
      </p:sp>
      <p:sp>
        <p:nvSpPr>
          <p:cNvPr id="8" name="线形标注 1 7"/>
          <p:cNvSpPr/>
          <p:nvPr/>
        </p:nvSpPr>
        <p:spPr>
          <a:xfrm>
            <a:off x="6672064" y="4725144"/>
            <a:ext cx="2376264" cy="1512168"/>
          </a:xfrm>
          <a:prstGeom prst="borderCallout1">
            <a:avLst>
              <a:gd name="adj1" fmla="val -399"/>
              <a:gd name="adj2" fmla="val 32072"/>
              <a:gd name="adj3" fmla="val -84026"/>
              <a:gd name="adj4" fmla="val 110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detail()</a:t>
            </a:r>
            <a:r>
              <a:rPr lang="zh-CN" altLang="en-US" sz="2400" dirty="0"/>
              <a:t>对应的模板文件</a:t>
            </a:r>
            <a:r>
              <a:rPr lang="en-US" altLang="zh-CN" sz="2400" dirty="0"/>
              <a:t>detail.html</a:t>
            </a:r>
            <a:r>
              <a:rPr lang="zh-CN" altLang="en-US" sz="2400" dirty="0"/>
              <a:t>也在此处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1D7BD6F-A2B9-43FA-A900-21A1E3A4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5027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Index.html</a:t>
            </a:r>
            <a:r>
              <a:rPr lang="zh-CN" altLang="en-US" dirty="0"/>
              <a:t>中的代码：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{% if </a:t>
            </a:r>
            <a:r>
              <a:rPr lang="en-US" altLang="zh-CN" dirty="0" err="1"/>
              <a:t>latest_question_list</a:t>
            </a:r>
            <a:r>
              <a:rPr lang="en-US" altLang="zh-CN" dirty="0"/>
              <a:t> %}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&lt;</a:t>
            </a:r>
            <a:r>
              <a:rPr lang="en-US" altLang="zh-CN" dirty="0" err="1"/>
              <a:t>ul</a:t>
            </a:r>
            <a:r>
              <a:rPr lang="en-US" altLang="zh-CN" dirty="0"/>
              <a:t>&gt;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{% for question in </a:t>
            </a:r>
            <a:r>
              <a:rPr lang="en-US" altLang="zh-CN" dirty="0" err="1"/>
              <a:t>latest_question_list</a:t>
            </a:r>
            <a:r>
              <a:rPr lang="en-US" altLang="zh-CN" dirty="0"/>
              <a:t> %}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&lt;li&gt;&lt;a </a:t>
            </a:r>
            <a:r>
              <a:rPr lang="en-US" altLang="zh-CN" dirty="0" err="1"/>
              <a:t>href</a:t>
            </a:r>
            <a:r>
              <a:rPr lang="en-US" altLang="zh-CN" dirty="0"/>
              <a:t>="/polls/{{ question.id }}/"&gt;{{ </a:t>
            </a:r>
            <a:r>
              <a:rPr lang="en-US" altLang="zh-CN" dirty="0" err="1"/>
              <a:t>question.question_text</a:t>
            </a:r>
            <a:r>
              <a:rPr lang="en-US" altLang="zh-CN" dirty="0"/>
              <a:t> }}&lt;/a&gt;&lt;/li&gt;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{% </a:t>
            </a:r>
            <a:r>
              <a:rPr lang="en-US" altLang="zh-CN" dirty="0" err="1"/>
              <a:t>endfor</a:t>
            </a:r>
            <a:r>
              <a:rPr lang="en-US" altLang="zh-CN" dirty="0"/>
              <a:t> %}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&lt;/</a:t>
            </a:r>
            <a:r>
              <a:rPr lang="en-US" altLang="zh-CN" dirty="0" err="1"/>
              <a:t>ul</a:t>
            </a:r>
            <a:r>
              <a:rPr lang="en-US" altLang="zh-CN" dirty="0"/>
              <a:t>&gt;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{% else %}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&lt;p&gt;No polls are available.&lt;/p&gt;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{% </a:t>
            </a:r>
            <a:r>
              <a:rPr lang="en-US" altLang="zh-CN" dirty="0" err="1"/>
              <a:t>endif</a:t>
            </a:r>
            <a:r>
              <a:rPr lang="en-US" altLang="zh-CN" dirty="0"/>
              <a:t> %}</a:t>
            </a:r>
            <a:endParaRPr lang="zh-C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270B18-72CE-4714-88E5-EBF07959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914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detail.html</a:t>
            </a:r>
            <a:r>
              <a:rPr lang="zh-CN" altLang="en-US" dirty="0"/>
              <a:t>中的内容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很简单的一句话：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{{ question }}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云形标注 3"/>
          <p:cNvSpPr/>
          <p:nvPr/>
        </p:nvSpPr>
        <p:spPr>
          <a:xfrm>
            <a:off x="4583832" y="1916832"/>
            <a:ext cx="2880320" cy="1944216"/>
          </a:xfrm>
          <a:prstGeom prst="cloudCallout">
            <a:avLst>
              <a:gd name="adj1" fmla="val -84326"/>
              <a:gd name="adj2" fmla="val -354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如果没有这部分内容，会出错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7FA6E-3243-43CF-A929-49A480138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6407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去除</a:t>
            </a:r>
            <a:r>
              <a:rPr lang="zh-CN" altLang="zh-CN" dirty="0"/>
              <a:t>模板中的</a:t>
            </a:r>
            <a:r>
              <a:rPr lang="en-US" altLang="zh-CN" dirty="0"/>
              <a:t>URL</a:t>
            </a:r>
            <a:r>
              <a:rPr lang="zh-CN" altLang="zh-CN" dirty="0"/>
              <a:t>硬代码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1124744"/>
            <a:ext cx="11161240" cy="5216671"/>
          </a:xfrm>
        </p:spPr>
        <p:txBody>
          <a:bodyPr/>
          <a:lstStyle/>
          <a:p>
            <a:r>
              <a:rPr lang="zh-CN" altLang="en-US" dirty="0"/>
              <a:t>把</a:t>
            </a:r>
            <a:r>
              <a:rPr lang="en-US" altLang="zh-CN" dirty="0"/>
              <a:t>index.html</a:t>
            </a:r>
            <a:r>
              <a:rPr lang="zh-CN" altLang="en-US" dirty="0"/>
              <a:t>中的代码：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&lt;li&gt;&lt;a </a:t>
            </a:r>
            <a:r>
              <a:rPr lang="en-US" altLang="zh-CN" dirty="0" err="1"/>
              <a:t>href</a:t>
            </a:r>
            <a:r>
              <a:rPr lang="en-US" altLang="zh-CN" dirty="0"/>
              <a:t>="/polls/{{ question.id }}/"&gt;{{ </a:t>
            </a:r>
            <a:r>
              <a:rPr lang="en-US" altLang="zh-CN" dirty="0" err="1"/>
              <a:t>question.question_text</a:t>
            </a:r>
            <a:r>
              <a:rPr lang="en-US" altLang="zh-CN" dirty="0"/>
              <a:t> }}&lt;/a&gt;&lt;/li&gt;</a:t>
            </a:r>
          </a:p>
          <a:p>
            <a:r>
              <a:rPr lang="zh-CN" altLang="en-US" dirty="0"/>
              <a:t>改为：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&lt;li&gt;&lt;a </a:t>
            </a:r>
            <a:r>
              <a:rPr lang="en-US" altLang="zh-CN" dirty="0" err="1"/>
              <a:t>href</a:t>
            </a:r>
            <a:r>
              <a:rPr lang="en-US" altLang="zh-CN" dirty="0"/>
              <a:t>="{% </a:t>
            </a:r>
            <a:r>
              <a:rPr lang="en-US" altLang="zh-CN" dirty="0" err="1"/>
              <a:t>url</a:t>
            </a:r>
            <a:r>
              <a:rPr lang="en-US" altLang="zh-CN" dirty="0"/>
              <a:t> 'detail' question.id %} " &gt;{{ </a:t>
            </a:r>
            <a:r>
              <a:rPr lang="en-US" altLang="zh-CN" dirty="0" err="1"/>
              <a:t>question.question_text</a:t>
            </a:r>
            <a:r>
              <a:rPr lang="en-US" altLang="zh-CN" dirty="0"/>
              <a:t> }}&lt;/a&gt;&lt;/li&gt;</a:t>
            </a:r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3287688" y="2276872"/>
            <a:ext cx="2808312" cy="79208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431704" y="4293096"/>
            <a:ext cx="5040560" cy="64807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线形标注 1 5"/>
          <p:cNvSpPr/>
          <p:nvPr/>
        </p:nvSpPr>
        <p:spPr>
          <a:xfrm>
            <a:off x="9048328" y="3501008"/>
            <a:ext cx="2520280" cy="1440160"/>
          </a:xfrm>
          <a:prstGeom prst="borderCallout1">
            <a:avLst>
              <a:gd name="adj1" fmla="val 17385"/>
              <a:gd name="adj2" fmla="val 542"/>
              <a:gd name="adj3" fmla="val 54742"/>
              <a:gd name="adj4" fmla="val -269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/>
              <a:t>可以在</a:t>
            </a:r>
            <a:r>
              <a:rPr lang="en-US" altLang="zh-CN" sz="2400" dirty="0" err="1"/>
              <a:t>polls.urls</a:t>
            </a:r>
            <a:r>
              <a:rPr lang="zh-CN" altLang="zh-CN" sz="2400" dirty="0"/>
              <a:t>模块中查找</a:t>
            </a:r>
            <a:r>
              <a:rPr lang="en-US" altLang="zh-CN" sz="2400" dirty="0"/>
              <a:t>URL</a:t>
            </a:r>
            <a:r>
              <a:rPr lang="zh-CN" altLang="zh-CN" sz="2400" dirty="0"/>
              <a:t>定义</a:t>
            </a:r>
            <a:endParaRPr lang="zh-CN" altLang="en-US" sz="240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6C5076-B749-4F7B-9B67-66C56B38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3712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zh-CN" dirty="0"/>
              <a:t>添加</a:t>
            </a:r>
            <a:r>
              <a:rPr lang="en-US" altLang="zh-CN" dirty="0"/>
              <a:t>URL</a:t>
            </a:r>
            <a:r>
              <a:rPr lang="zh-CN" altLang="zh-CN" dirty="0"/>
              <a:t>名称空间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sz="4200" dirty="0"/>
              <a:t>在</a:t>
            </a:r>
            <a:r>
              <a:rPr lang="en-US" altLang="zh-CN" sz="4200" dirty="0"/>
              <a:t>polls</a:t>
            </a:r>
            <a:r>
              <a:rPr lang="zh-CN" altLang="zh-CN" sz="4200" dirty="0"/>
              <a:t>文件夹的</a:t>
            </a:r>
            <a:r>
              <a:rPr lang="en-US" altLang="zh-CN" sz="4200" dirty="0"/>
              <a:t>urls.py</a:t>
            </a:r>
            <a:r>
              <a:rPr lang="zh-CN" altLang="en-US" sz="4200" dirty="0"/>
              <a:t>中添加</a:t>
            </a:r>
            <a:r>
              <a:rPr lang="en-US" altLang="zh-CN" sz="4200" dirty="0" err="1"/>
              <a:t>app_name</a:t>
            </a:r>
            <a:r>
              <a:rPr lang="zh-CN" altLang="zh-CN" sz="4200" dirty="0"/>
              <a:t>变量</a:t>
            </a:r>
            <a:r>
              <a:rPr lang="zh-CN" altLang="en-US" sz="4200" dirty="0"/>
              <a:t>，代码如下：</a:t>
            </a:r>
            <a:endParaRPr lang="en-US" altLang="zh-CN" sz="4200" dirty="0"/>
          </a:p>
          <a:p>
            <a:pPr marL="457200" lvl="1" indent="0">
              <a:buNone/>
            </a:pPr>
            <a:r>
              <a:rPr lang="en-US" altLang="zh-CN" sz="3600" dirty="0"/>
              <a:t>from </a:t>
            </a:r>
            <a:r>
              <a:rPr lang="en-US" altLang="zh-CN" sz="3600" dirty="0" err="1"/>
              <a:t>django.urls</a:t>
            </a:r>
            <a:r>
              <a:rPr lang="en-US" altLang="zh-CN" sz="3600" dirty="0"/>
              <a:t> import path</a:t>
            </a:r>
            <a:endParaRPr lang="zh-CN" altLang="zh-CN" sz="3600" dirty="0"/>
          </a:p>
          <a:p>
            <a:pPr marL="457200" lvl="1" indent="0">
              <a:buNone/>
            </a:pPr>
            <a:r>
              <a:rPr lang="en-US" altLang="zh-CN" sz="3600" dirty="0"/>
              <a:t> </a:t>
            </a:r>
            <a:endParaRPr lang="zh-CN" altLang="zh-CN" sz="3600" dirty="0"/>
          </a:p>
          <a:p>
            <a:pPr marL="457200" lvl="1" indent="0">
              <a:buNone/>
            </a:pPr>
            <a:r>
              <a:rPr lang="en-US" altLang="zh-CN" sz="3600" dirty="0"/>
              <a:t>from . import views</a:t>
            </a:r>
            <a:endParaRPr lang="zh-CN" altLang="zh-CN" sz="3600" dirty="0"/>
          </a:p>
          <a:p>
            <a:pPr marL="457200" lvl="1" indent="0">
              <a:buNone/>
            </a:pPr>
            <a:r>
              <a:rPr lang="en-US" altLang="zh-CN" sz="3600" dirty="0"/>
              <a:t> </a:t>
            </a:r>
            <a:endParaRPr lang="zh-CN" altLang="zh-CN" sz="3600" dirty="0"/>
          </a:p>
          <a:p>
            <a:pPr marL="457200" lvl="1" indent="0">
              <a:buNone/>
            </a:pPr>
            <a:r>
              <a:rPr lang="en-US" altLang="zh-CN" sz="3600" dirty="0" err="1"/>
              <a:t>app_name</a:t>
            </a:r>
            <a:r>
              <a:rPr lang="en-US" altLang="zh-CN" sz="3600" dirty="0"/>
              <a:t> = 'polls'</a:t>
            </a:r>
            <a:endParaRPr lang="zh-CN" altLang="zh-CN" sz="3600" dirty="0"/>
          </a:p>
          <a:p>
            <a:pPr marL="457200" lvl="1" indent="0">
              <a:buNone/>
            </a:pPr>
            <a:r>
              <a:rPr lang="en-US" altLang="zh-CN" sz="3600" dirty="0" err="1"/>
              <a:t>urlpatterns</a:t>
            </a:r>
            <a:r>
              <a:rPr lang="en-US" altLang="zh-CN" sz="3600" dirty="0"/>
              <a:t> = [</a:t>
            </a:r>
            <a:endParaRPr lang="zh-CN" altLang="zh-CN" sz="3600" dirty="0"/>
          </a:p>
          <a:p>
            <a:pPr marL="457200" lvl="1" indent="0">
              <a:buNone/>
            </a:pPr>
            <a:r>
              <a:rPr lang="en-US" altLang="zh-CN" sz="3600" dirty="0"/>
              <a:t>    path('', </a:t>
            </a:r>
            <a:r>
              <a:rPr lang="en-US" altLang="zh-CN" sz="3600" dirty="0" err="1"/>
              <a:t>views.index</a:t>
            </a:r>
            <a:r>
              <a:rPr lang="en-US" altLang="zh-CN" sz="3600" dirty="0"/>
              <a:t>, name='index'),</a:t>
            </a:r>
            <a:endParaRPr lang="zh-CN" altLang="zh-CN" sz="3600" dirty="0"/>
          </a:p>
          <a:p>
            <a:pPr marL="457200" lvl="1" indent="0">
              <a:buNone/>
            </a:pPr>
            <a:r>
              <a:rPr lang="en-US" altLang="zh-CN" sz="3600" dirty="0"/>
              <a:t>    path('&lt;</a:t>
            </a:r>
            <a:r>
              <a:rPr lang="en-US" altLang="zh-CN" sz="3600" dirty="0" err="1"/>
              <a:t>int:question_id</a:t>
            </a:r>
            <a:r>
              <a:rPr lang="en-US" altLang="zh-CN" sz="3600" dirty="0"/>
              <a:t>&gt;/', </a:t>
            </a:r>
            <a:r>
              <a:rPr lang="en-US" altLang="zh-CN" sz="3600" dirty="0" err="1"/>
              <a:t>views.detail</a:t>
            </a:r>
            <a:r>
              <a:rPr lang="en-US" altLang="zh-CN" sz="3600" dirty="0"/>
              <a:t>, name='detail'),</a:t>
            </a:r>
            <a:endParaRPr lang="zh-CN" altLang="zh-CN" sz="3600" dirty="0"/>
          </a:p>
          <a:p>
            <a:pPr marL="457200" lvl="1" indent="0">
              <a:buNone/>
            </a:pPr>
            <a:r>
              <a:rPr lang="en-US" altLang="zh-CN" sz="3600" dirty="0"/>
              <a:t>    path('&lt;</a:t>
            </a:r>
            <a:r>
              <a:rPr lang="en-US" altLang="zh-CN" sz="3600" dirty="0" err="1"/>
              <a:t>int:question_id</a:t>
            </a:r>
            <a:r>
              <a:rPr lang="en-US" altLang="zh-CN" sz="3600" dirty="0"/>
              <a:t>&gt;/results/', </a:t>
            </a:r>
            <a:r>
              <a:rPr lang="en-US" altLang="zh-CN" sz="3600" dirty="0" err="1"/>
              <a:t>views.results</a:t>
            </a:r>
            <a:r>
              <a:rPr lang="en-US" altLang="zh-CN" sz="3600" dirty="0"/>
              <a:t>, name='results'),</a:t>
            </a:r>
            <a:endParaRPr lang="zh-CN" altLang="zh-CN" sz="3600" dirty="0"/>
          </a:p>
          <a:p>
            <a:pPr marL="457200" lvl="1" indent="0">
              <a:buNone/>
            </a:pPr>
            <a:r>
              <a:rPr lang="en-US" altLang="zh-CN" sz="3600" dirty="0"/>
              <a:t>    path('&lt;</a:t>
            </a:r>
            <a:r>
              <a:rPr lang="en-US" altLang="zh-CN" sz="3600" dirty="0" err="1"/>
              <a:t>int:question_id</a:t>
            </a:r>
            <a:r>
              <a:rPr lang="en-US" altLang="zh-CN" sz="3600" dirty="0"/>
              <a:t>&gt;/vote/', </a:t>
            </a:r>
            <a:r>
              <a:rPr lang="en-US" altLang="zh-CN" sz="3600" dirty="0" err="1"/>
              <a:t>views.vote</a:t>
            </a:r>
            <a:r>
              <a:rPr lang="en-US" altLang="zh-CN" sz="3600" dirty="0"/>
              <a:t>, name='vote'),</a:t>
            </a:r>
            <a:endParaRPr lang="zh-CN" altLang="zh-CN" sz="3600" dirty="0"/>
          </a:p>
          <a:p>
            <a:pPr marL="457200" lvl="1" indent="0">
              <a:buNone/>
            </a:pPr>
            <a:r>
              <a:rPr lang="en-US" altLang="zh-CN" sz="3600" dirty="0"/>
              <a:t>]</a:t>
            </a:r>
            <a:endParaRPr lang="zh-CN" altLang="zh-CN" sz="36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23992" y="1988840"/>
            <a:ext cx="5616624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再把</a:t>
            </a:r>
            <a:r>
              <a:rPr lang="en-US" altLang="zh-CN" sz="2000" dirty="0"/>
              <a:t>polls</a:t>
            </a:r>
            <a:r>
              <a:rPr lang="zh-CN" altLang="zh-CN" sz="2000" dirty="0"/>
              <a:t>文件夹中的</a:t>
            </a:r>
            <a:r>
              <a:rPr lang="en-US" altLang="zh-CN" sz="2000" dirty="0"/>
              <a:t>index.html</a:t>
            </a:r>
            <a:r>
              <a:rPr lang="zh-CN" altLang="zh-CN" sz="2000" dirty="0"/>
              <a:t>模板中的内容：</a:t>
            </a:r>
            <a:endParaRPr lang="en-US" altLang="zh-CN" sz="2000" dirty="0"/>
          </a:p>
          <a:p>
            <a:r>
              <a:rPr lang="en-US" altLang="zh-CN" sz="2000" dirty="0"/>
              <a:t>&lt;li&gt;&lt;a </a:t>
            </a:r>
            <a:r>
              <a:rPr lang="en-US" altLang="zh-CN" sz="2000" dirty="0" err="1"/>
              <a:t>href</a:t>
            </a:r>
            <a:r>
              <a:rPr lang="en-US" altLang="zh-CN" sz="2000" dirty="0"/>
              <a:t>="{% </a:t>
            </a:r>
            <a:r>
              <a:rPr lang="en-US" altLang="zh-CN" sz="2000" dirty="0" err="1"/>
              <a:t>url</a:t>
            </a:r>
            <a:r>
              <a:rPr lang="en-US" altLang="zh-CN" sz="2000" dirty="0"/>
              <a:t> 'detail' question.id %}"&gt;{{ </a:t>
            </a:r>
            <a:r>
              <a:rPr lang="en-US" altLang="zh-CN" sz="2000" dirty="0" err="1"/>
              <a:t>question.question_text</a:t>
            </a:r>
            <a:r>
              <a:rPr lang="en-US" altLang="zh-CN" sz="2000" dirty="0"/>
              <a:t> }}&lt;/a&gt;&lt;/li&gt;</a:t>
            </a:r>
            <a:endParaRPr lang="zh-CN" altLang="zh-CN" sz="2000" dirty="0"/>
          </a:p>
          <a:p>
            <a:r>
              <a:rPr lang="zh-CN" altLang="en-US" sz="2000" dirty="0"/>
              <a:t>改为：</a:t>
            </a:r>
            <a:endParaRPr lang="en-US" altLang="zh-CN" sz="2000" dirty="0"/>
          </a:p>
          <a:p>
            <a:r>
              <a:rPr lang="en-US" altLang="zh-CN" sz="2000" dirty="0"/>
              <a:t>&lt;li&gt;&lt;a </a:t>
            </a:r>
            <a:r>
              <a:rPr lang="en-US" altLang="zh-CN" sz="2000" dirty="0" err="1"/>
              <a:t>href</a:t>
            </a:r>
            <a:r>
              <a:rPr lang="en-US" altLang="zh-CN" sz="2000" dirty="0"/>
              <a:t>="{% </a:t>
            </a:r>
            <a:r>
              <a:rPr lang="en-US" altLang="zh-CN" sz="2000" dirty="0" err="1"/>
              <a:t>url</a:t>
            </a:r>
            <a:r>
              <a:rPr lang="en-US" altLang="zh-CN" sz="2000" dirty="0"/>
              <a:t> '</a:t>
            </a:r>
            <a:r>
              <a:rPr lang="en-US" altLang="zh-CN" sz="2000" dirty="0" err="1"/>
              <a:t>polls:detail</a:t>
            </a:r>
            <a:r>
              <a:rPr lang="en-US" altLang="zh-CN" sz="2000" dirty="0"/>
              <a:t>' question.id %}"&gt;{{ </a:t>
            </a:r>
            <a:r>
              <a:rPr lang="en-US" altLang="zh-CN" sz="2000" dirty="0" err="1"/>
              <a:t>question.question_text</a:t>
            </a:r>
            <a:r>
              <a:rPr lang="en-US" altLang="zh-CN" sz="2000" dirty="0"/>
              <a:t> }}&lt;/a&gt;&lt;/li&gt;</a:t>
            </a:r>
            <a:endParaRPr lang="zh-CN" altLang="zh-CN" sz="20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8B3D67-A284-4FCA-8482-D6EFF79C9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7234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表单处理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1124745"/>
            <a:ext cx="10852237" cy="648072"/>
          </a:xfrm>
        </p:spPr>
        <p:txBody>
          <a:bodyPr>
            <a:normAutofit fontScale="85000" lnSpcReduction="10000"/>
          </a:bodyPr>
          <a:lstStyle/>
          <a:p>
            <a:r>
              <a:rPr lang="zh-CN" altLang="zh-CN" dirty="0"/>
              <a:t>修改</a:t>
            </a:r>
            <a:r>
              <a:rPr lang="en-US" altLang="zh-CN" dirty="0"/>
              <a:t>polls</a:t>
            </a:r>
            <a:r>
              <a:rPr lang="zh-CN" altLang="zh-CN" dirty="0"/>
              <a:t>文件夹的</a:t>
            </a:r>
            <a:r>
              <a:rPr lang="en-US" altLang="zh-CN" dirty="0"/>
              <a:t>views.py</a:t>
            </a:r>
            <a:r>
              <a:rPr lang="zh-CN" altLang="zh-CN" dirty="0"/>
              <a:t>中</a:t>
            </a:r>
            <a:r>
              <a:rPr lang="zh-CN" altLang="en-US" dirty="0"/>
              <a:t>的</a:t>
            </a:r>
            <a:r>
              <a:rPr lang="en-US" altLang="zh-CN" dirty="0"/>
              <a:t>results()</a:t>
            </a:r>
            <a:r>
              <a:rPr lang="zh-CN" altLang="zh-CN" dirty="0"/>
              <a:t>和</a:t>
            </a:r>
            <a:r>
              <a:rPr lang="en-US" altLang="zh-CN" dirty="0"/>
              <a:t>vote()</a:t>
            </a:r>
            <a:r>
              <a:rPr lang="zh-CN" altLang="en-US" dirty="0"/>
              <a:t>，</a:t>
            </a:r>
            <a:r>
              <a:rPr lang="zh-CN" altLang="zh-CN" dirty="0"/>
              <a:t>代码如下：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07368" y="1988840"/>
            <a:ext cx="4968552" cy="36933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US" altLang="zh-CN" dirty="0"/>
              <a:t>from </a:t>
            </a:r>
            <a:r>
              <a:rPr lang="en-US" altLang="zh-CN" dirty="0" err="1"/>
              <a:t>django.http</a:t>
            </a:r>
            <a:r>
              <a:rPr lang="en-US" altLang="zh-CN" dirty="0"/>
              <a:t> import </a:t>
            </a:r>
            <a:r>
              <a:rPr lang="en-US" altLang="zh-CN" dirty="0" err="1"/>
              <a:t>HttpResponse</a:t>
            </a:r>
            <a:r>
              <a:rPr lang="en-US" altLang="zh-CN" dirty="0"/>
              <a:t>, </a:t>
            </a:r>
            <a:r>
              <a:rPr lang="en-US" altLang="zh-CN" dirty="0" err="1"/>
              <a:t>HttpResponseRedirect</a:t>
            </a:r>
            <a:endParaRPr lang="zh-CN" altLang="zh-CN" dirty="0"/>
          </a:p>
          <a:p>
            <a:pPr lvl="0"/>
            <a:r>
              <a:rPr lang="en-US" altLang="zh-CN" dirty="0"/>
              <a:t>from .models import Question, Choice</a:t>
            </a:r>
            <a:endParaRPr lang="zh-CN" altLang="zh-CN" dirty="0"/>
          </a:p>
          <a:p>
            <a:pPr lvl="0"/>
            <a:r>
              <a:rPr lang="en-US" altLang="zh-CN" dirty="0"/>
              <a:t>from </a:t>
            </a:r>
            <a:r>
              <a:rPr lang="en-US" altLang="zh-CN" dirty="0" err="1"/>
              <a:t>django.http</a:t>
            </a:r>
            <a:r>
              <a:rPr lang="en-US" altLang="zh-CN" dirty="0"/>
              <a:t> import Http404</a:t>
            </a:r>
            <a:endParaRPr lang="zh-CN" altLang="zh-CN" dirty="0"/>
          </a:p>
          <a:p>
            <a:pPr lvl="0"/>
            <a:r>
              <a:rPr lang="en-US" altLang="zh-CN" dirty="0"/>
              <a:t>from </a:t>
            </a:r>
            <a:r>
              <a:rPr lang="en-US" altLang="zh-CN" dirty="0" err="1"/>
              <a:t>django.shortcuts</a:t>
            </a:r>
            <a:r>
              <a:rPr lang="en-US" altLang="zh-CN" dirty="0"/>
              <a:t> import render, get_object_or_404</a:t>
            </a:r>
            <a:endParaRPr lang="zh-CN" altLang="zh-CN" dirty="0"/>
          </a:p>
          <a:p>
            <a:pPr lvl="0"/>
            <a:r>
              <a:rPr lang="en-US" altLang="zh-CN" dirty="0"/>
              <a:t>from </a:t>
            </a:r>
            <a:r>
              <a:rPr lang="en-US" altLang="zh-CN" dirty="0" err="1"/>
              <a:t>django.urls</a:t>
            </a:r>
            <a:r>
              <a:rPr lang="en-US" altLang="zh-CN" dirty="0"/>
              <a:t> import reverse</a:t>
            </a:r>
            <a:endParaRPr lang="zh-CN" altLang="zh-CN" dirty="0"/>
          </a:p>
          <a:p>
            <a:pPr lvl="0"/>
            <a:r>
              <a:rPr lang="en-US" altLang="zh-CN" dirty="0"/>
              <a:t> </a:t>
            </a:r>
            <a:endParaRPr lang="zh-CN" altLang="zh-CN" dirty="0"/>
          </a:p>
          <a:p>
            <a:pPr lvl="0"/>
            <a:r>
              <a:rPr lang="en-US" altLang="zh-CN" dirty="0" err="1"/>
              <a:t>def</a:t>
            </a:r>
            <a:r>
              <a:rPr lang="en-US" altLang="zh-CN" dirty="0"/>
              <a:t> results(request, </a:t>
            </a:r>
            <a:r>
              <a:rPr lang="en-US" altLang="zh-CN" dirty="0" err="1"/>
              <a:t>question_id</a:t>
            </a:r>
            <a:r>
              <a:rPr lang="en-US" altLang="zh-CN" dirty="0"/>
              <a:t>):</a:t>
            </a:r>
            <a:endParaRPr lang="zh-CN" altLang="zh-CN" dirty="0"/>
          </a:p>
          <a:p>
            <a:pPr lvl="0"/>
            <a:r>
              <a:rPr lang="en-US" altLang="zh-CN" dirty="0"/>
              <a:t>    question = get_object_or_404(Question, </a:t>
            </a:r>
            <a:r>
              <a:rPr lang="en-US" altLang="zh-CN" dirty="0" err="1"/>
              <a:t>pk</a:t>
            </a:r>
            <a:r>
              <a:rPr lang="en-US" altLang="zh-CN" dirty="0"/>
              <a:t>=</a:t>
            </a:r>
            <a:r>
              <a:rPr lang="en-US" altLang="zh-CN" dirty="0" err="1"/>
              <a:t>question_id</a:t>
            </a:r>
            <a:r>
              <a:rPr lang="en-US" altLang="zh-CN" dirty="0"/>
              <a:t>)</a:t>
            </a:r>
            <a:endParaRPr lang="zh-CN" altLang="zh-CN" dirty="0"/>
          </a:p>
          <a:p>
            <a:pPr lvl="0"/>
            <a:r>
              <a:rPr lang="en-US" altLang="zh-CN" dirty="0"/>
              <a:t>    return render(request, 'polls/results.html', {'question': question}) 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879976" y="1988840"/>
            <a:ext cx="5976664" cy="48013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US" altLang="zh-CN" dirty="0" err="1"/>
              <a:t>def</a:t>
            </a:r>
            <a:r>
              <a:rPr lang="en-US" altLang="zh-CN" dirty="0"/>
              <a:t> vote(request, </a:t>
            </a:r>
            <a:r>
              <a:rPr lang="en-US" altLang="zh-CN" dirty="0" err="1"/>
              <a:t>question_id</a:t>
            </a:r>
            <a:r>
              <a:rPr lang="en-US" altLang="zh-CN" dirty="0"/>
              <a:t>):</a:t>
            </a:r>
            <a:endParaRPr lang="zh-CN" altLang="zh-CN" dirty="0"/>
          </a:p>
          <a:p>
            <a:pPr lvl="0"/>
            <a:r>
              <a:rPr lang="en-US" altLang="zh-CN" dirty="0"/>
              <a:t>    question = get_object_or_404(Question, </a:t>
            </a:r>
            <a:r>
              <a:rPr lang="en-US" altLang="zh-CN" dirty="0" err="1"/>
              <a:t>pk</a:t>
            </a:r>
            <a:r>
              <a:rPr lang="en-US" altLang="zh-CN" dirty="0"/>
              <a:t>=</a:t>
            </a:r>
            <a:r>
              <a:rPr lang="en-US" altLang="zh-CN" dirty="0" err="1"/>
              <a:t>question_id</a:t>
            </a:r>
            <a:r>
              <a:rPr lang="en-US" altLang="zh-CN" dirty="0"/>
              <a:t>)</a:t>
            </a:r>
            <a:endParaRPr lang="zh-CN" altLang="zh-CN" dirty="0"/>
          </a:p>
          <a:p>
            <a:pPr lvl="0"/>
            <a:r>
              <a:rPr lang="en-US" altLang="zh-CN" dirty="0"/>
              <a:t>    try:</a:t>
            </a:r>
            <a:endParaRPr lang="zh-CN" altLang="zh-CN" dirty="0"/>
          </a:p>
          <a:p>
            <a:pPr lvl="0"/>
            <a:r>
              <a:rPr lang="en-US" altLang="zh-CN" dirty="0"/>
              <a:t>        </a:t>
            </a:r>
            <a:r>
              <a:rPr lang="en-US" altLang="zh-CN" dirty="0" err="1"/>
              <a:t>selected_choice</a:t>
            </a:r>
            <a:r>
              <a:rPr lang="en-US" altLang="zh-CN" dirty="0"/>
              <a:t> = </a:t>
            </a:r>
            <a:r>
              <a:rPr lang="en-US" altLang="zh-CN" dirty="0" err="1"/>
              <a:t>question.choice_set.get</a:t>
            </a:r>
            <a:r>
              <a:rPr lang="en-US" altLang="zh-CN" dirty="0"/>
              <a:t>(</a:t>
            </a:r>
            <a:r>
              <a:rPr lang="en-US" altLang="zh-CN" dirty="0" err="1"/>
              <a:t>pk</a:t>
            </a:r>
            <a:r>
              <a:rPr lang="en-US" altLang="zh-CN" dirty="0"/>
              <a:t>=</a:t>
            </a:r>
            <a:r>
              <a:rPr lang="en-US" altLang="zh-CN" dirty="0" err="1"/>
              <a:t>request.POST</a:t>
            </a:r>
            <a:r>
              <a:rPr lang="en-US" altLang="zh-CN" dirty="0"/>
              <a:t>['choice'])</a:t>
            </a:r>
            <a:endParaRPr lang="zh-CN" altLang="zh-CN" dirty="0"/>
          </a:p>
          <a:p>
            <a:pPr lvl="0"/>
            <a:r>
              <a:rPr lang="en-US" altLang="zh-CN" dirty="0"/>
              <a:t>    except (</a:t>
            </a:r>
            <a:r>
              <a:rPr lang="en-US" altLang="zh-CN" dirty="0" err="1"/>
              <a:t>KeyError</a:t>
            </a:r>
            <a:r>
              <a:rPr lang="en-US" altLang="zh-CN" dirty="0"/>
              <a:t>, </a:t>
            </a:r>
            <a:r>
              <a:rPr lang="en-US" altLang="zh-CN" dirty="0" err="1"/>
              <a:t>Choice.DoesNotExist</a:t>
            </a:r>
            <a:r>
              <a:rPr lang="en-US" altLang="zh-CN" dirty="0"/>
              <a:t>):</a:t>
            </a:r>
            <a:endParaRPr lang="zh-CN" altLang="zh-CN" dirty="0"/>
          </a:p>
          <a:p>
            <a:pPr lvl="0"/>
            <a:r>
              <a:rPr lang="en-US" altLang="zh-CN" dirty="0"/>
              <a:t>        # Redisplay the question voting form.</a:t>
            </a:r>
            <a:endParaRPr lang="zh-CN" altLang="zh-CN" dirty="0"/>
          </a:p>
          <a:p>
            <a:pPr lvl="0"/>
            <a:r>
              <a:rPr lang="en-US" altLang="zh-CN" dirty="0"/>
              <a:t>        return render(request, 'polls/detail.html', {</a:t>
            </a:r>
            <a:endParaRPr lang="zh-CN" altLang="zh-CN" dirty="0"/>
          </a:p>
          <a:p>
            <a:pPr lvl="0"/>
            <a:r>
              <a:rPr lang="en-US" altLang="zh-CN" dirty="0"/>
              <a:t>            'question': question,</a:t>
            </a:r>
            <a:endParaRPr lang="zh-CN" altLang="zh-CN" dirty="0"/>
          </a:p>
          <a:p>
            <a:pPr lvl="0"/>
            <a:r>
              <a:rPr lang="en-US" altLang="zh-CN" dirty="0"/>
              <a:t>            '</a:t>
            </a:r>
            <a:r>
              <a:rPr lang="en-US" altLang="zh-CN" dirty="0" err="1"/>
              <a:t>error_message</a:t>
            </a:r>
            <a:r>
              <a:rPr lang="en-US" altLang="zh-CN" dirty="0"/>
              <a:t>': "You didn't select a choice.",</a:t>
            </a:r>
            <a:endParaRPr lang="zh-CN" altLang="zh-CN" dirty="0"/>
          </a:p>
          <a:p>
            <a:pPr lvl="0"/>
            <a:r>
              <a:rPr lang="en-US" altLang="zh-CN" dirty="0"/>
              <a:t>        })</a:t>
            </a:r>
            <a:endParaRPr lang="zh-CN" altLang="zh-CN" dirty="0"/>
          </a:p>
          <a:p>
            <a:pPr lvl="0"/>
            <a:r>
              <a:rPr lang="en-US" altLang="zh-CN" dirty="0"/>
              <a:t>    else:</a:t>
            </a:r>
            <a:endParaRPr lang="zh-CN" altLang="zh-CN" dirty="0"/>
          </a:p>
          <a:p>
            <a:pPr lvl="0"/>
            <a:r>
              <a:rPr lang="en-US" altLang="zh-CN" dirty="0"/>
              <a:t>        </a:t>
            </a:r>
            <a:r>
              <a:rPr lang="en-US" altLang="zh-CN" dirty="0" err="1"/>
              <a:t>selected_choice.votes</a:t>
            </a:r>
            <a:r>
              <a:rPr lang="en-US" altLang="zh-CN" dirty="0"/>
              <a:t> += 1</a:t>
            </a:r>
            <a:endParaRPr lang="zh-CN" altLang="zh-CN" dirty="0"/>
          </a:p>
          <a:p>
            <a:pPr lvl="0"/>
            <a:r>
              <a:rPr lang="en-US" altLang="zh-CN" dirty="0"/>
              <a:t>        </a:t>
            </a:r>
            <a:r>
              <a:rPr lang="en-US" altLang="zh-CN" dirty="0" err="1"/>
              <a:t>selected_choice.save</a:t>
            </a:r>
            <a:r>
              <a:rPr lang="en-US" altLang="zh-CN" dirty="0"/>
              <a:t>()</a:t>
            </a:r>
            <a:endParaRPr lang="zh-CN" altLang="zh-CN" dirty="0"/>
          </a:p>
          <a:p>
            <a:pPr lvl="0"/>
            <a:r>
              <a:rPr lang="en-US" altLang="zh-CN" dirty="0"/>
              <a:t>        return </a:t>
            </a:r>
            <a:r>
              <a:rPr lang="en-US" altLang="zh-CN" dirty="0" err="1"/>
              <a:t>HttpResponseRedirect</a:t>
            </a:r>
            <a:r>
              <a:rPr lang="en-US" altLang="zh-CN" dirty="0"/>
              <a:t>(reverse('</a:t>
            </a:r>
            <a:r>
              <a:rPr lang="en-US" altLang="zh-CN" dirty="0" err="1"/>
              <a:t>polls:results</a:t>
            </a:r>
            <a:r>
              <a:rPr lang="en-US" altLang="zh-CN" dirty="0"/>
              <a:t>', </a:t>
            </a:r>
            <a:r>
              <a:rPr lang="en-US" altLang="zh-CN" dirty="0" err="1"/>
              <a:t>args</a:t>
            </a:r>
            <a:r>
              <a:rPr lang="en-US" altLang="zh-CN" dirty="0"/>
              <a:t>=(question.id,)))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8AFEB6-280A-4248-9AF5-1D90A1C2A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4213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/>
              <a:t>创建</a:t>
            </a:r>
            <a:r>
              <a:rPr lang="en-US" altLang="zh-CN" dirty="0"/>
              <a:t>polls</a:t>
            </a:r>
            <a:r>
              <a:rPr lang="zh-CN" altLang="zh-CN" dirty="0"/>
              <a:t>文件夹下的</a:t>
            </a:r>
            <a:r>
              <a:rPr lang="en-US" altLang="zh-CN" dirty="0"/>
              <a:t>results.html</a:t>
            </a:r>
            <a:r>
              <a:rPr lang="zh-CN" altLang="zh-CN" dirty="0"/>
              <a:t>模板，内容如下：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&lt;h1&gt;{{ </a:t>
            </a:r>
            <a:r>
              <a:rPr lang="en-US" altLang="zh-CN" dirty="0" err="1"/>
              <a:t>question.question_text</a:t>
            </a:r>
            <a:r>
              <a:rPr lang="en-US" altLang="zh-CN" dirty="0"/>
              <a:t> }}&lt;/h1&gt;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&lt;</a:t>
            </a:r>
            <a:r>
              <a:rPr lang="en-US" altLang="zh-CN" dirty="0" err="1"/>
              <a:t>ul</a:t>
            </a:r>
            <a:r>
              <a:rPr lang="en-US" altLang="zh-CN" dirty="0"/>
              <a:t>&gt;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{% for choice in </a:t>
            </a:r>
            <a:r>
              <a:rPr lang="en-US" altLang="zh-CN" dirty="0" err="1"/>
              <a:t>question.choice_set.all</a:t>
            </a:r>
            <a:r>
              <a:rPr lang="en-US" altLang="zh-CN" dirty="0"/>
              <a:t> %}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&lt;li&gt;{{ </a:t>
            </a:r>
            <a:r>
              <a:rPr lang="en-US" altLang="zh-CN" dirty="0" err="1"/>
              <a:t>choice.choice_text</a:t>
            </a:r>
            <a:r>
              <a:rPr lang="en-US" altLang="zh-CN" dirty="0"/>
              <a:t> }} -- {{ </a:t>
            </a:r>
            <a:r>
              <a:rPr lang="en-US" altLang="zh-CN" dirty="0" err="1"/>
              <a:t>choice.votes</a:t>
            </a:r>
            <a:r>
              <a:rPr lang="en-US" altLang="zh-CN" dirty="0"/>
              <a:t> }} vote{{ </a:t>
            </a:r>
            <a:r>
              <a:rPr lang="en-US" altLang="zh-CN" dirty="0" err="1"/>
              <a:t>choice.votes|pluralize</a:t>
            </a:r>
            <a:r>
              <a:rPr lang="en-US" altLang="zh-CN" dirty="0"/>
              <a:t> }}&lt;/li&gt;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{% </a:t>
            </a:r>
            <a:r>
              <a:rPr lang="en-US" altLang="zh-CN" dirty="0" err="1"/>
              <a:t>endfor</a:t>
            </a:r>
            <a:r>
              <a:rPr lang="en-US" altLang="zh-CN" dirty="0"/>
              <a:t> %}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&lt;/</a:t>
            </a:r>
            <a:r>
              <a:rPr lang="en-US" altLang="zh-CN" dirty="0" err="1"/>
              <a:t>ul</a:t>
            </a:r>
            <a:r>
              <a:rPr lang="en-US" altLang="zh-CN" dirty="0"/>
              <a:t>&gt;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&lt;a </a:t>
            </a:r>
            <a:r>
              <a:rPr lang="en-US" altLang="zh-CN" dirty="0" err="1"/>
              <a:t>href</a:t>
            </a:r>
            <a:r>
              <a:rPr lang="en-US" altLang="zh-CN" dirty="0"/>
              <a:t>="{% </a:t>
            </a:r>
            <a:r>
              <a:rPr lang="en-US" altLang="zh-CN" dirty="0" err="1"/>
              <a:t>url</a:t>
            </a:r>
            <a:r>
              <a:rPr lang="en-US" altLang="zh-CN" dirty="0"/>
              <a:t> '</a:t>
            </a:r>
            <a:r>
              <a:rPr lang="en-US" altLang="zh-CN" dirty="0" err="1"/>
              <a:t>polls:detail</a:t>
            </a:r>
            <a:r>
              <a:rPr lang="en-US" altLang="zh-CN" dirty="0"/>
              <a:t>' question.id %}"&gt;Vote again?&lt;/a&gt;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2D879B-2159-49EA-B448-8F1A84AA1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4627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泛型视图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1600" dirty="0"/>
              <a:t>把</a:t>
            </a:r>
            <a:r>
              <a:rPr lang="en-US" altLang="zh-CN" sz="1600" dirty="0"/>
              <a:t>polls</a:t>
            </a:r>
            <a:r>
              <a:rPr lang="zh-CN" altLang="zh-CN" sz="1600" dirty="0"/>
              <a:t>文件夹下的</a:t>
            </a:r>
            <a:r>
              <a:rPr lang="en-US" altLang="zh-CN" sz="1600" dirty="0"/>
              <a:t>urls.py</a:t>
            </a:r>
            <a:r>
              <a:rPr lang="zh-CN" altLang="zh-CN" sz="1600" dirty="0"/>
              <a:t>文件，修改代码如下：</a:t>
            </a:r>
            <a:endParaRPr lang="en-US" altLang="zh-CN" sz="1600" dirty="0"/>
          </a:p>
          <a:p>
            <a:pPr marL="457200" lvl="1" indent="0">
              <a:buNone/>
            </a:pPr>
            <a:r>
              <a:rPr lang="en-US" altLang="zh-CN" sz="1600" dirty="0"/>
              <a:t>from </a:t>
            </a:r>
            <a:r>
              <a:rPr lang="en-US" altLang="zh-CN" sz="1600" dirty="0" err="1"/>
              <a:t>django.urls</a:t>
            </a:r>
            <a:r>
              <a:rPr lang="en-US" altLang="zh-CN" sz="1600" dirty="0"/>
              <a:t> import path</a:t>
            </a:r>
            <a:endParaRPr lang="zh-CN" altLang="zh-CN" sz="1600" dirty="0"/>
          </a:p>
          <a:p>
            <a:pPr marL="457200" lvl="1" indent="0">
              <a:buNone/>
            </a:pPr>
            <a:r>
              <a:rPr lang="en-US" altLang="zh-CN" sz="1600" dirty="0"/>
              <a:t> </a:t>
            </a:r>
            <a:endParaRPr lang="zh-CN" altLang="zh-CN" sz="1600" dirty="0"/>
          </a:p>
          <a:p>
            <a:pPr marL="457200" lvl="1" indent="0">
              <a:buNone/>
            </a:pPr>
            <a:r>
              <a:rPr lang="en-US" altLang="zh-CN" sz="1600" dirty="0"/>
              <a:t>from . import views</a:t>
            </a:r>
            <a:endParaRPr lang="zh-CN" altLang="zh-CN" sz="1600" dirty="0"/>
          </a:p>
          <a:p>
            <a:pPr marL="457200" lvl="1" indent="0">
              <a:buNone/>
            </a:pPr>
            <a:r>
              <a:rPr lang="en-US" altLang="zh-CN" sz="1600" dirty="0"/>
              <a:t> </a:t>
            </a:r>
            <a:endParaRPr lang="zh-CN" altLang="zh-CN" sz="1600" dirty="0"/>
          </a:p>
          <a:p>
            <a:pPr marL="457200" lvl="1" indent="0">
              <a:buNone/>
            </a:pPr>
            <a:r>
              <a:rPr lang="en-US" altLang="zh-CN" sz="1600" dirty="0" err="1"/>
              <a:t>app_name</a:t>
            </a:r>
            <a:r>
              <a:rPr lang="en-US" altLang="zh-CN" sz="1600" dirty="0"/>
              <a:t> = 'polls'</a:t>
            </a:r>
            <a:endParaRPr lang="zh-CN" altLang="zh-CN" sz="1600" dirty="0"/>
          </a:p>
          <a:p>
            <a:pPr marL="457200" lvl="1" indent="0">
              <a:buNone/>
            </a:pPr>
            <a:r>
              <a:rPr lang="en-US" altLang="zh-CN" sz="1600" dirty="0" err="1"/>
              <a:t>urlpatterns</a:t>
            </a:r>
            <a:r>
              <a:rPr lang="en-US" altLang="zh-CN" sz="1600" dirty="0"/>
              <a:t> = [</a:t>
            </a:r>
            <a:endParaRPr lang="zh-CN" altLang="zh-CN" sz="1600" dirty="0"/>
          </a:p>
          <a:p>
            <a:pPr marL="457200" lvl="1" indent="0">
              <a:buNone/>
            </a:pPr>
            <a:r>
              <a:rPr lang="en-US" altLang="zh-CN" sz="1600" dirty="0"/>
              <a:t>    path('', </a:t>
            </a:r>
            <a:r>
              <a:rPr lang="en-US" altLang="zh-CN" sz="1600" dirty="0" err="1"/>
              <a:t>views.IndexView.as_view</a:t>
            </a:r>
            <a:r>
              <a:rPr lang="en-US" altLang="zh-CN" sz="1600" dirty="0"/>
              <a:t>(), name='index'),</a:t>
            </a:r>
            <a:endParaRPr lang="zh-CN" altLang="zh-CN" sz="1600" dirty="0"/>
          </a:p>
          <a:p>
            <a:pPr marL="457200" lvl="1" indent="0">
              <a:buNone/>
            </a:pPr>
            <a:r>
              <a:rPr lang="en-US" altLang="zh-CN" sz="1600" dirty="0"/>
              <a:t>    path('&lt;</a:t>
            </a:r>
            <a:r>
              <a:rPr lang="en-US" altLang="zh-CN" sz="1600" dirty="0" err="1"/>
              <a:t>int:pk</a:t>
            </a:r>
            <a:r>
              <a:rPr lang="en-US" altLang="zh-CN" sz="1600" dirty="0"/>
              <a:t>&gt;/', </a:t>
            </a:r>
            <a:r>
              <a:rPr lang="en-US" altLang="zh-CN" sz="1600" dirty="0" err="1"/>
              <a:t>views.DetailView.as_view</a:t>
            </a:r>
            <a:r>
              <a:rPr lang="en-US" altLang="zh-CN" sz="1600" dirty="0"/>
              <a:t>(), name='detail'),</a:t>
            </a:r>
            <a:endParaRPr lang="zh-CN" altLang="zh-CN" sz="1600" dirty="0"/>
          </a:p>
          <a:p>
            <a:pPr marL="457200" lvl="1" indent="0">
              <a:buNone/>
            </a:pPr>
            <a:r>
              <a:rPr lang="en-US" altLang="zh-CN" sz="1600" dirty="0"/>
              <a:t>    path('&lt;</a:t>
            </a:r>
            <a:r>
              <a:rPr lang="en-US" altLang="zh-CN" sz="1600" dirty="0" err="1"/>
              <a:t>int:pk</a:t>
            </a:r>
            <a:r>
              <a:rPr lang="en-US" altLang="zh-CN" sz="1600" dirty="0"/>
              <a:t>&gt;/results/', </a:t>
            </a:r>
            <a:r>
              <a:rPr lang="en-US" altLang="zh-CN" sz="1600" dirty="0" err="1"/>
              <a:t>views.ResultsView.as_view</a:t>
            </a:r>
            <a:r>
              <a:rPr lang="en-US" altLang="zh-CN" sz="1600" dirty="0"/>
              <a:t>(), name='results'),</a:t>
            </a:r>
            <a:endParaRPr lang="zh-CN" altLang="zh-CN" sz="1600" dirty="0"/>
          </a:p>
          <a:p>
            <a:pPr marL="457200" lvl="1" indent="0">
              <a:buNone/>
            </a:pPr>
            <a:r>
              <a:rPr lang="en-US" altLang="zh-CN" sz="1600" dirty="0"/>
              <a:t>    path('&lt;</a:t>
            </a:r>
            <a:r>
              <a:rPr lang="en-US" altLang="zh-CN" sz="1600" dirty="0" err="1"/>
              <a:t>int:question_id</a:t>
            </a:r>
            <a:r>
              <a:rPr lang="en-US" altLang="zh-CN" sz="1600" dirty="0"/>
              <a:t>&gt;/vote/', </a:t>
            </a:r>
            <a:r>
              <a:rPr lang="en-US" altLang="zh-CN" sz="1600" dirty="0" err="1"/>
              <a:t>views.vote</a:t>
            </a:r>
            <a:r>
              <a:rPr lang="en-US" altLang="zh-CN" sz="1600" dirty="0"/>
              <a:t>, name='vote'),</a:t>
            </a:r>
            <a:endParaRPr lang="zh-CN" altLang="zh-CN" sz="1600" dirty="0"/>
          </a:p>
          <a:p>
            <a:pPr marL="457200" lvl="1" indent="0">
              <a:buNone/>
            </a:pPr>
            <a:r>
              <a:rPr lang="en-US" altLang="zh-CN" sz="1600" dirty="0"/>
              <a:t>]</a:t>
            </a:r>
            <a:endParaRPr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6777AC-40D1-423E-A130-6DF1024D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7884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polls</a:t>
            </a:r>
            <a:r>
              <a:rPr lang="zh-CN" altLang="zh-CN" dirty="0"/>
              <a:t>文件夹中的</a:t>
            </a:r>
            <a:r>
              <a:rPr lang="en-US" altLang="zh-CN" dirty="0"/>
              <a:t>views.py</a:t>
            </a:r>
            <a:r>
              <a:rPr lang="zh-CN" altLang="zh-CN" dirty="0"/>
              <a:t>修改代码如下：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dirty="0"/>
              <a:t>from </a:t>
            </a:r>
            <a:r>
              <a:rPr lang="en-US" altLang="zh-CN" dirty="0" err="1"/>
              <a:t>django.http</a:t>
            </a:r>
            <a:r>
              <a:rPr lang="en-US" altLang="zh-CN" dirty="0"/>
              <a:t> import </a:t>
            </a:r>
            <a:r>
              <a:rPr lang="en-US" altLang="zh-CN" dirty="0" err="1"/>
              <a:t>HttpResponse</a:t>
            </a:r>
            <a:r>
              <a:rPr lang="en-US" altLang="zh-CN" dirty="0"/>
              <a:t>, </a:t>
            </a:r>
            <a:r>
              <a:rPr lang="en-US" altLang="zh-CN" dirty="0" err="1"/>
              <a:t>HttpResponseRedirect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from .models import Question, Choice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from </a:t>
            </a:r>
            <a:r>
              <a:rPr lang="en-US" altLang="zh-CN" dirty="0" err="1"/>
              <a:t>django.http</a:t>
            </a:r>
            <a:r>
              <a:rPr lang="en-US" altLang="zh-CN" dirty="0"/>
              <a:t> import Http404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from </a:t>
            </a:r>
            <a:r>
              <a:rPr lang="en-US" altLang="zh-CN" dirty="0" err="1"/>
              <a:t>django.shortcuts</a:t>
            </a:r>
            <a:r>
              <a:rPr lang="en-US" altLang="zh-CN" dirty="0"/>
              <a:t> import render, get_object_or_404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from </a:t>
            </a:r>
            <a:r>
              <a:rPr lang="en-US" altLang="zh-CN" dirty="0" err="1"/>
              <a:t>django.urls</a:t>
            </a:r>
            <a:r>
              <a:rPr lang="en-US" altLang="zh-CN" dirty="0"/>
              <a:t> import reverse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from </a:t>
            </a:r>
            <a:r>
              <a:rPr lang="en-US" altLang="zh-CN" dirty="0" err="1"/>
              <a:t>django.views</a:t>
            </a:r>
            <a:r>
              <a:rPr lang="en-US" altLang="zh-CN" dirty="0"/>
              <a:t> import generic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367808" y="5949280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AF8CB3-AC6E-4546-B932-7D1A4DE4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6082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接上一页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dirty="0"/>
              <a:t>class </a:t>
            </a:r>
            <a:r>
              <a:rPr lang="en-US" altLang="zh-CN" dirty="0" err="1"/>
              <a:t>IndexView</a:t>
            </a:r>
            <a:r>
              <a:rPr lang="en-US" altLang="zh-CN" dirty="0"/>
              <a:t>(</a:t>
            </a:r>
            <a:r>
              <a:rPr lang="en-US" altLang="zh-CN" dirty="0" err="1"/>
              <a:t>generic.ListView</a:t>
            </a:r>
            <a:r>
              <a:rPr lang="en-US" altLang="zh-CN" dirty="0"/>
              <a:t>):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template_name</a:t>
            </a:r>
            <a:r>
              <a:rPr lang="en-US" altLang="zh-CN" dirty="0"/>
              <a:t> = 'polls/index.html'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context_object_name</a:t>
            </a:r>
            <a:r>
              <a:rPr lang="en-US" altLang="zh-CN" dirty="0"/>
              <a:t> = '</a:t>
            </a:r>
            <a:r>
              <a:rPr lang="en-US" altLang="zh-CN" dirty="0" err="1"/>
              <a:t>latest_question_list</a:t>
            </a:r>
            <a:r>
              <a:rPr lang="en-US" altLang="zh-CN" dirty="0"/>
              <a:t>'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err="1"/>
              <a:t>get_queryset</a:t>
            </a:r>
            <a:r>
              <a:rPr lang="en-US" altLang="zh-CN" dirty="0"/>
              <a:t>(self):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        #</a:t>
            </a:r>
            <a:r>
              <a:rPr lang="zh-CN" altLang="zh-CN" dirty="0"/>
              <a:t>返回最新的</a:t>
            </a:r>
            <a:r>
              <a:rPr lang="en-US" altLang="zh-CN" dirty="0"/>
              <a:t>5</a:t>
            </a:r>
            <a:r>
              <a:rPr lang="zh-CN" altLang="zh-CN" dirty="0"/>
              <a:t>个问题</a:t>
            </a:r>
          </a:p>
          <a:p>
            <a:pPr marL="0" lvl="0" indent="0">
              <a:buNone/>
            </a:pPr>
            <a:r>
              <a:rPr lang="en-US" altLang="zh-CN" dirty="0"/>
              <a:t>        return </a:t>
            </a:r>
            <a:r>
              <a:rPr lang="en-US" altLang="zh-CN" dirty="0" err="1"/>
              <a:t>Question.objects.order_by</a:t>
            </a:r>
            <a:r>
              <a:rPr lang="en-US" altLang="zh-CN" dirty="0"/>
              <a:t>('-</a:t>
            </a:r>
            <a:r>
              <a:rPr lang="en-US" altLang="zh-CN" dirty="0" err="1"/>
              <a:t>pub_date</a:t>
            </a:r>
            <a:r>
              <a:rPr lang="en-US" altLang="zh-CN" dirty="0"/>
              <a:t>')[:5]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75720" y="5445224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4A7D3C-62CB-45E6-BBF5-A0E1D3288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1052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接上一页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altLang="zh-CN" dirty="0"/>
              <a:t>class </a:t>
            </a:r>
            <a:r>
              <a:rPr lang="en-US" altLang="zh-CN" dirty="0" err="1"/>
              <a:t>DetailView</a:t>
            </a:r>
            <a:r>
              <a:rPr lang="en-US" altLang="zh-CN" dirty="0"/>
              <a:t>(</a:t>
            </a:r>
            <a:r>
              <a:rPr lang="en-US" altLang="zh-CN" dirty="0" err="1"/>
              <a:t>generic.DetailView</a:t>
            </a:r>
            <a:r>
              <a:rPr lang="en-US" altLang="zh-CN" dirty="0"/>
              <a:t>):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    model = Question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template_name</a:t>
            </a:r>
            <a:r>
              <a:rPr lang="en-US" altLang="zh-CN" dirty="0"/>
              <a:t> = 'polls/detail.html'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class </a:t>
            </a:r>
            <a:r>
              <a:rPr lang="en-US" altLang="zh-CN" dirty="0" err="1"/>
              <a:t>ResultsView</a:t>
            </a:r>
            <a:r>
              <a:rPr lang="en-US" altLang="zh-CN" dirty="0"/>
              <a:t>(</a:t>
            </a:r>
            <a:r>
              <a:rPr lang="en-US" altLang="zh-CN" dirty="0" err="1"/>
              <a:t>generic.DetailView</a:t>
            </a:r>
            <a:r>
              <a:rPr lang="en-US" altLang="zh-CN" dirty="0"/>
              <a:t>):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    model = Question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template_name</a:t>
            </a:r>
            <a:r>
              <a:rPr lang="en-US" altLang="zh-CN" dirty="0"/>
              <a:t>='polls/results.html'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 err="1"/>
              <a:t>def</a:t>
            </a:r>
            <a:r>
              <a:rPr lang="en-US" altLang="zh-CN" dirty="0"/>
              <a:t> vote(request, </a:t>
            </a:r>
            <a:r>
              <a:rPr lang="en-US" altLang="zh-CN" dirty="0" err="1"/>
              <a:t>question_id</a:t>
            </a:r>
            <a:r>
              <a:rPr lang="en-US" altLang="zh-CN" dirty="0"/>
              <a:t>):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    #</a:t>
            </a:r>
            <a:r>
              <a:rPr lang="zh-CN" altLang="zh-CN" dirty="0"/>
              <a:t>这个视图代码保持不变，省略显示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6D7A8C-C100-49BD-BD85-AF0B206A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9370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15.3.5 </a:t>
            </a:r>
            <a:r>
              <a:rPr lang="zh-CN" altLang="en-US" dirty="0"/>
              <a:t>部署</a:t>
            </a:r>
            <a:r>
              <a:rPr lang="en-US" altLang="zh-CN" dirty="0" err="1"/>
              <a:t>Django</a:t>
            </a:r>
            <a:r>
              <a:rPr lang="zh-CN" altLang="zh-CN" dirty="0"/>
              <a:t>项目</a:t>
            </a:r>
            <a:endParaRPr lang="zh-CN" altLang="en-US" dirty="0"/>
          </a:p>
        </p:txBody>
      </p:sp>
      <p:sp>
        <p:nvSpPr>
          <p:cNvPr id="4" name="云形标注 3"/>
          <p:cNvSpPr/>
          <p:nvPr/>
        </p:nvSpPr>
        <p:spPr>
          <a:xfrm>
            <a:off x="1631504" y="1772816"/>
            <a:ext cx="4680520" cy="2088232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以前一直使用的是开发服务器，性能较差，需要部署到正式服务器上提高性能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8128" y="1628800"/>
            <a:ext cx="2952328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常用服务器：</a:t>
            </a:r>
            <a:endParaRPr lang="en-US" altLang="zh-CN" sz="2800" dirty="0"/>
          </a:p>
          <a:p>
            <a:r>
              <a:rPr lang="en-US" altLang="zh-CN" sz="2800" dirty="0"/>
              <a:t>Apache</a:t>
            </a:r>
          </a:p>
          <a:p>
            <a:r>
              <a:rPr lang="en-US" altLang="zh-CN" sz="2800" dirty="0" err="1"/>
              <a:t>Nginx</a:t>
            </a:r>
            <a:endParaRPr lang="zh-CN" altLang="en-US" sz="2800" dirty="0"/>
          </a:p>
        </p:txBody>
      </p:sp>
      <p:sp>
        <p:nvSpPr>
          <p:cNvPr id="6" name="圆角矩形 5"/>
          <p:cNvSpPr/>
          <p:nvPr/>
        </p:nvSpPr>
        <p:spPr>
          <a:xfrm>
            <a:off x="7032104" y="2132856"/>
            <a:ext cx="1692188" cy="43204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线形标注 1 6"/>
          <p:cNvSpPr/>
          <p:nvPr/>
        </p:nvSpPr>
        <p:spPr>
          <a:xfrm>
            <a:off x="8724292" y="3501008"/>
            <a:ext cx="1908212" cy="720080"/>
          </a:xfrm>
          <a:prstGeom prst="borderCallout1">
            <a:avLst>
              <a:gd name="adj1" fmla="val 26589"/>
              <a:gd name="adj2" fmla="val -494"/>
              <a:gd name="adj3" fmla="val -128930"/>
              <a:gd name="adj4" fmla="val -226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使用量最多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7829FFA-D5BD-4ED1-886F-9E71B018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1641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）安装</a:t>
            </a:r>
            <a:r>
              <a:rPr lang="en-US" altLang="zh-CN" dirty="0"/>
              <a:t>Apache2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官方网</a:t>
            </a:r>
            <a:r>
              <a:rPr lang="zh-CN" altLang="en-US" dirty="0"/>
              <a:t>址：</a:t>
            </a:r>
            <a:r>
              <a:rPr lang="en-US" altLang="zh-CN" dirty="0">
                <a:hlinkClick r:id="rId2"/>
              </a:rPr>
              <a:t>http://httpd.apache.org/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2.4.41</a:t>
            </a:r>
            <a:r>
              <a:rPr lang="zh-CN" altLang="zh-CN" dirty="0"/>
              <a:t>版是最新的稳定版本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修改</a:t>
            </a:r>
            <a:r>
              <a:rPr lang="en-US" altLang="zh-CN" dirty="0" err="1"/>
              <a:t>conf</a:t>
            </a:r>
            <a:r>
              <a:rPr lang="en-US" altLang="zh-CN" dirty="0"/>
              <a:t>/</a:t>
            </a:r>
            <a:r>
              <a:rPr lang="en-US" altLang="zh-CN" dirty="0" err="1"/>
              <a:t>httpd.conf</a:t>
            </a:r>
            <a:r>
              <a:rPr lang="zh-CN" altLang="zh-CN" dirty="0"/>
              <a:t>文件</a:t>
            </a:r>
            <a:endParaRPr lang="en-US" altLang="zh-CN" dirty="0"/>
          </a:p>
          <a:p>
            <a:pPr lvl="1"/>
            <a:r>
              <a:rPr lang="en-US" altLang="zh-CN" dirty="0"/>
              <a:t>${SRVROOT} </a:t>
            </a:r>
            <a:r>
              <a:rPr lang="zh-CN" altLang="en-US" dirty="0"/>
              <a:t>改为 </a:t>
            </a:r>
            <a:r>
              <a:rPr lang="en-US" altLang="zh-CN" dirty="0"/>
              <a:t>Apache</a:t>
            </a:r>
            <a:r>
              <a:rPr lang="zh-CN" altLang="en-US" dirty="0"/>
              <a:t>的安装地址（本例</a:t>
            </a:r>
            <a:r>
              <a:rPr lang="en-US" altLang="zh-CN" dirty="0"/>
              <a:t>E:/Apache24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80</a:t>
            </a:r>
            <a:r>
              <a:rPr lang="zh-CN" altLang="zh-CN" dirty="0"/>
              <a:t>端口改为</a:t>
            </a:r>
            <a:r>
              <a:rPr lang="en-US" altLang="zh-CN" dirty="0"/>
              <a:t>8089</a:t>
            </a:r>
            <a:r>
              <a:rPr lang="zh-CN" altLang="zh-CN" dirty="0"/>
              <a:t>端口</a:t>
            </a:r>
            <a:r>
              <a:rPr lang="zh-CN" altLang="en-US" dirty="0"/>
              <a:t>（也可以是其他）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20136" y="1916832"/>
            <a:ext cx="4320480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以管理员身份启动命令窗口，</a:t>
            </a:r>
            <a:endParaRPr lang="en-US" altLang="zh-CN" sz="2400" dirty="0"/>
          </a:p>
          <a:p>
            <a:r>
              <a:rPr lang="zh-CN" altLang="zh-CN" sz="2400" dirty="0"/>
              <a:t>在</a:t>
            </a:r>
            <a:r>
              <a:rPr lang="en-US" altLang="zh-CN" sz="2400" dirty="0"/>
              <a:t>E:/Apache24/bin</a:t>
            </a:r>
            <a:r>
              <a:rPr lang="zh-CN" altLang="zh-CN" sz="2400" dirty="0"/>
              <a:t>下运行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r>
              <a:rPr lang="en-US" altLang="zh-CN" sz="2400" dirty="0" err="1"/>
              <a:t>httpd</a:t>
            </a:r>
            <a:r>
              <a:rPr lang="en-US" altLang="zh-CN" sz="2400" dirty="0"/>
              <a:t> -k install</a:t>
            </a:r>
            <a:endParaRPr lang="zh-CN" altLang="en-US" sz="24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9ECFA7-FBE5-4DDF-8186-35A52CFD3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4408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）安装</a:t>
            </a:r>
            <a:r>
              <a:rPr lang="en-US" altLang="zh-CN" dirty="0" err="1"/>
              <a:t>mod_wsgi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下载合适的</a:t>
            </a:r>
            <a:r>
              <a:rPr lang="en-US" altLang="zh-CN" dirty="0" err="1"/>
              <a:t>mod_wsgi</a:t>
            </a:r>
            <a:r>
              <a:rPr lang="zh-CN" altLang="zh-CN" dirty="0"/>
              <a:t>模块</a:t>
            </a:r>
            <a:endParaRPr lang="en-US" altLang="zh-CN" dirty="0"/>
          </a:p>
          <a:p>
            <a:r>
              <a:rPr lang="zh-CN" altLang="zh-CN" dirty="0"/>
              <a:t>将下载的</a:t>
            </a:r>
            <a:r>
              <a:rPr lang="en-US" altLang="zh-CN" dirty="0"/>
              <a:t>.so</a:t>
            </a:r>
            <a:r>
              <a:rPr lang="zh-CN" altLang="zh-CN" dirty="0"/>
              <a:t>文件重命名为</a:t>
            </a:r>
            <a:r>
              <a:rPr lang="en-US" altLang="zh-CN" dirty="0"/>
              <a:t>mod_wsgi.so</a:t>
            </a:r>
          </a:p>
          <a:p>
            <a:r>
              <a:rPr lang="zh-CN" altLang="zh-CN" dirty="0"/>
              <a:t>复制到</a:t>
            </a:r>
            <a:r>
              <a:rPr lang="en-US" altLang="zh-CN" dirty="0"/>
              <a:t>Apache</a:t>
            </a:r>
            <a:r>
              <a:rPr lang="zh-CN" altLang="zh-CN" dirty="0"/>
              <a:t>的</a:t>
            </a:r>
            <a:r>
              <a:rPr lang="en-US" altLang="zh-CN" dirty="0"/>
              <a:t>modules</a:t>
            </a:r>
            <a:r>
              <a:rPr lang="zh-CN" altLang="zh-CN" dirty="0"/>
              <a:t>文件夹中</a:t>
            </a:r>
            <a:endParaRPr lang="en-US" altLang="zh-CN" dirty="0"/>
          </a:p>
          <a:p>
            <a:r>
              <a:rPr lang="zh-CN" altLang="zh-CN" dirty="0"/>
              <a:t>在配置文件</a:t>
            </a:r>
            <a:r>
              <a:rPr lang="en-US" altLang="zh-CN" dirty="0" err="1"/>
              <a:t>httpd.conf</a:t>
            </a:r>
            <a:r>
              <a:rPr lang="zh-CN" altLang="zh-CN" dirty="0"/>
              <a:t>中加载</a:t>
            </a:r>
            <a:r>
              <a:rPr lang="en-US" altLang="zh-CN" dirty="0"/>
              <a:t>mod_wsgi.so</a:t>
            </a:r>
          </a:p>
          <a:p>
            <a:pPr marL="457200" lvl="1" indent="0">
              <a:buNone/>
            </a:pPr>
            <a:r>
              <a:rPr lang="en-US" altLang="zh-CN" dirty="0" err="1"/>
              <a:t>LoadModule</a:t>
            </a:r>
            <a:r>
              <a:rPr lang="en-US" altLang="zh-CN" dirty="0"/>
              <a:t> </a:t>
            </a:r>
            <a:r>
              <a:rPr lang="en-US" altLang="zh-CN" dirty="0" err="1"/>
              <a:t>wsgi_module</a:t>
            </a:r>
            <a:r>
              <a:rPr lang="en-US" altLang="zh-CN" dirty="0"/>
              <a:t> modules/mod_wsgi.so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66FAEA-9F15-4C1F-B0D1-F314B75D8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5558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）发布</a:t>
            </a:r>
            <a:r>
              <a:rPr lang="en-US" altLang="zh-CN" dirty="0" err="1"/>
              <a:t>Django</a:t>
            </a:r>
            <a:r>
              <a:rPr lang="zh-CN" altLang="zh-CN" dirty="0"/>
              <a:t>项目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将整个项目文件夹</a:t>
            </a:r>
            <a:r>
              <a:rPr lang="en-US" altLang="zh-CN" dirty="0" err="1"/>
              <a:t>mysite</a:t>
            </a:r>
            <a:r>
              <a:rPr lang="zh-CN" altLang="zh-CN" dirty="0"/>
              <a:t>复制到</a:t>
            </a:r>
            <a:r>
              <a:rPr lang="en-US" altLang="zh-CN" dirty="0"/>
              <a:t>D:\</a:t>
            </a:r>
            <a:r>
              <a:rPr lang="zh-CN" altLang="zh-CN" dirty="0"/>
              <a:t>，并在</a:t>
            </a:r>
            <a:r>
              <a:rPr lang="en-US" altLang="zh-CN" dirty="0" err="1"/>
              <a:t>httpd.conf</a:t>
            </a:r>
            <a:r>
              <a:rPr lang="zh-CN" altLang="zh-CN" dirty="0"/>
              <a:t>文件的尾部添加如下代码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59496" y="2492896"/>
            <a:ext cx="92170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#</a:t>
            </a:r>
            <a:r>
              <a:rPr lang="zh-CN" altLang="zh-CN" dirty="0"/>
              <a:t>添加</a:t>
            </a:r>
            <a:r>
              <a:rPr lang="en-US" altLang="zh-CN" dirty="0"/>
              <a:t>mod_wsgi.so </a:t>
            </a:r>
            <a:r>
              <a:rPr lang="zh-CN" altLang="zh-CN" dirty="0"/>
              <a:t>模块 </a:t>
            </a:r>
          </a:p>
          <a:p>
            <a:r>
              <a:rPr lang="en-US" altLang="zh-CN" dirty="0" err="1"/>
              <a:t>LoadFile</a:t>
            </a:r>
            <a:r>
              <a:rPr lang="en-US" altLang="zh-CN" dirty="0"/>
              <a:t> "C:/Users/Holly/AppData/Local/Programs/Python/python36-32/python3.dll"</a:t>
            </a:r>
            <a:endParaRPr lang="zh-CN" altLang="zh-CN" dirty="0"/>
          </a:p>
          <a:p>
            <a:r>
              <a:rPr lang="en-US" altLang="zh-CN" dirty="0" err="1"/>
              <a:t>LoadModule</a:t>
            </a:r>
            <a:r>
              <a:rPr lang="en-US" altLang="zh-CN" dirty="0"/>
              <a:t> </a:t>
            </a:r>
            <a:r>
              <a:rPr lang="en-US" altLang="zh-CN" dirty="0" err="1"/>
              <a:t>wsgi_module</a:t>
            </a:r>
            <a:r>
              <a:rPr lang="en-US" altLang="zh-CN" dirty="0"/>
              <a:t> "C:/Users/Holly/AppData/Local/Programs/Python/python36-32/lib/site-packages/mod_wsgi/server/mod_wsgi.pyd"</a:t>
            </a:r>
            <a:endParaRPr lang="zh-CN" altLang="zh-CN" dirty="0"/>
          </a:p>
          <a:p>
            <a:r>
              <a:rPr lang="en-US" altLang="zh-CN" dirty="0" err="1"/>
              <a:t>WSGIPythonHome</a:t>
            </a:r>
            <a:r>
              <a:rPr lang="en-US" altLang="zh-CN" dirty="0"/>
              <a:t> "C:/Users/Holly/Local/Programs/Python/python36-32"</a:t>
            </a:r>
            <a:endParaRPr lang="zh-CN" altLang="zh-CN" dirty="0"/>
          </a:p>
          <a:p>
            <a:r>
              <a:rPr lang="en-US" altLang="zh-CN" dirty="0"/>
              <a:t>  </a:t>
            </a:r>
            <a:endParaRPr lang="zh-CN" altLang="zh-CN" dirty="0"/>
          </a:p>
          <a:p>
            <a:r>
              <a:rPr lang="en-US" altLang="zh-CN" dirty="0"/>
              <a:t>#</a:t>
            </a:r>
            <a:r>
              <a:rPr lang="zh-CN" altLang="zh-CN" dirty="0"/>
              <a:t>指定</a:t>
            </a:r>
            <a:r>
              <a:rPr lang="en-US" altLang="zh-CN" dirty="0" err="1"/>
              <a:t>myweb</a:t>
            </a:r>
            <a:r>
              <a:rPr lang="zh-CN" altLang="zh-CN" dirty="0"/>
              <a:t>项目的</a:t>
            </a:r>
            <a:r>
              <a:rPr lang="en-US" altLang="zh-CN" dirty="0"/>
              <a:t>wsgi.py</a:t>
            </a:r>
            <a:r>
              <a:rPr lang="zh-CN" altLang="zh-CN" dirty="0"/>
              <a:t>配置文件路径 </a:t>
            </a:r>
          </a:p>
          <a:p>
            <a:r>
              <a:rPr lang="en-US" altLang="zh-CN" dirty="0" err="1"/>
              <a:t>WSGIScriptAlias</a:t>
            </a:r>
            <a:r>
              <a:rPr lang="en-US" altLang="zh-CN" dirty="0"/>
              <a:t> /D:/mysite/mysite/wsgi.py</a:t>
            </a:r>
            <a:endParaRPr lang="zh-CN" altLang="zh-CN" dirty="0"/>
          </a:p>
          <a:p>
            <a:r>
              <a:rPr lang="en-US" altLang="zh-CN" dirty="0"/>
              <a:t>  </a:t>
            </a:r>
            <a:endParaRPr lang="zh-CN" altLang="zh-CN" dirty="0"/>
          </a:p>
          <a:p>
            <a:r>
              <a:rPr lang="en-US" altLang="zh-CN" dirty="0"/>
              <a:t>#</a:t>
            </a:r>
            <a:r>
              <a:rPr lang="zh-CN" altLang="zh-CN" dirty="0"/>
              <a:t>指定项目路径</a:t>
            </a:r>
          </a:p>
          <a:p>
            <a:r>
              <a:rPr lang="en-US" altLang="zh-CN" dirty="0" err="1"/>
              <a:t>WSGIPythonPath</a:t>
            </a:r>
            <a:r>
              <a:rPr lang="en-US" altLang="zh-CN" dirty="0"/>
              <a:t> D:/mysite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367808" y="5805264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下一页（续）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A51F75-8E45-4855-8935-66E5138B2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0363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接上一页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&lt;Directory D:/mysite/mysite&gt;</a:t>
            </a:r>
            <a:endParaRPr lang="zh-CN" altLang="zh-C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&lt;Files wsgi.py&gt;</a:t>
            </a:r>
            <a:endParaRPr lang="zh-CN" altLang="zh-C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  Require all granted</a:t>
            </a:r>
            <a:endParaRPr lang="zh-CN" altLang="zh-C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&lt;/Files&gt;</a:t>
            </a:r>
            <a:endParaRPr lang="zh-CN" altLang="zh-C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&lt;/Directory&gt;</a:t>
            </a:r>
            <a:endParaRPr lang="zh-CN" altLang="zh-C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  </a:t>
            </a:r>
            <a:endParaRPr lang="zh-CN" altLang="zh-C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Alias /static D:/mysite/static</a:t>
            </a:r>
            <a:endParaRPr lang="zh-CN" altLang="zh-C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&lt;Directory D:/mysite/static&gt;</a:t>
            </a:r>
            <a:endParaRPr lang="zh-CN" altLang="zh-C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  </a:t>
            </a:r>
            <a:r>
              <a:rPr lang="en-US" altLang="zh-CN" sz="1800" dirty="0" err="1"/>
              <a:t>AllowOverride</a:t>
            </a:r>
            <a:r>
              <a:rPr lang="en-US" altLang="zh-CN" sz="1800" dirty="0"/>
              <a:t> None</a:t>
            </a:r>
            <a:endParaRPr lang="zh-CN" altLang="zh-C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  Options None</a:t>
            </a:r>
            <a:endParaRPr lang="zh-CN" altLang="zh-C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  Require all granted</a:t>
            </a:r>
            <a:endParaRPr lang="zh-CN" altLang="zh-C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&lt;/Directory&gt;</a:t>
            </a:r>
            <a:endParaRPr lang="zh-CN" altLang="zh-CN" sz="1800" dirty="0"/>
          </a:p>
          <a:p>
            <a:pPr marL="0" indent="0">
              <a:lnSpc>
                <a:spcPct val="100000"/>
              </a:lnSpc>
              <a:buNone/>
            </a:pPr>
            <a:endParaRPr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8F610B-2343-4B82-AFFD-8972B7A8D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6287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）修改</a:t>
            </a:r>
            <a:r>
              <a:rPr lang="en-US" altLang="zh-CN" dirty="0"/>
              <a:t>settings.py</a:t>
            </a:r>
            <a:r>
              <a:rPr lang="zh-CN" altLang="en-US" dirty="0"/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发布后应关闭调试模式</a:t>
            </a:r>
            <a:endParaRPr lang="en-US" altLang="zh-CN" dirty="0"/>
          </a:p>
          <a:p>
            <a:pPr lvl="1"/>
            <a:r>
              <a:rPr lang="zh-CN" altLang="zh-CN" dirty="0"/>
              <a:t>打开</a:t>
            </a:r>
            <a:r>
              <a:rPr lang="en-US" altLang="zh-CN" dirty="0" err="1"/>
              <a:t>mysite</a:t>
            </a:r>
            <a:r>
              <a:rPr lang="zh-CN" altLang="zh-CN" dirty="0"/>
              <a:t>文件夹中的</a:t>
            </a:r>
            <a:r>
              <a:rPr lang="en-US" altLang="zh-CN" dirty="0"/>
              <a:t>settings.py</a:t>
            </a:r>
            <a:r>
              <a:rPr lang="zh-CN" altLang="zh-CN" dirty="0"/>
              <a:t>文件，找到</a:t>
            </a:r>
            <a:r>
              <a:rPr lang="en-US" altLang="zh-CN" dirty="0"/>
              <a:t>debug</a:t>
            </a:r>
            <a:r>
              <a:rPr lang="zh-CN" altLang="zh-CN" dirty="0"/>
              <a:t>和</a:t>
            </a:r>
            <a:r>
              <a:rPr lang="en-US" altLang="zh-CN" dirty="0" err="1"/>
              <a:t>TemplateDebug</a:t>
            </a:r>
            <a:r>
              <a:rPr lang="zh-CN" altLang="zh-CN" dirty="0"/>
              <a:t>项，把它们的值都设为</a:t>
            </a:r>
            <a:r>
              <a:rPr lang="en-US" altLang="zh-CN" dirty="0"/>
              <a:t>False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3E61CA-711F-4B9C-987F-6C02BCE8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2588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）重启</a:t>
            </a:r>
            <a:r>
              <a:rPr lang="en-US" altLang="zh-CN" dirty="0"/>
              <a:t>Apache</a:t>
            </a:r>
            <a:r>
              <a:rPr lang="zh-CN" altLang="en-US" dirty="0"/>
              <a:t>服务器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重启服务器，然后在浏览器中输入地址，如果能看到网页，就是发布成功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2BC652-7883-4989-A31F-5D8B468BA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5568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2216785" y="2292350"/>
            <a:ext cx="8092440" cy="2278380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15.4 Django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框架的高级应用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FC3515-BFFB-42E5-B4B5-6CD6D2D8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57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15.4.1 Session</a:t>
            </a:r>
            <a:endParaRPr lang="zh-CN" altLang="en-US" dirty="0"/>
          </a:p>
        </p:txBody>
      </p:sp>
      <p:sp>
        <p:nvSpPr>
          <p:cNvPr id="4" name="线形标注 1 3"/>
          <p:cNvSpPr/>
          <p:nvPr/>
        </p:nvSpPr>
        <p:spPr>
          <a:xfrm>
            <a:off x="4367808" y="1556792"/>
            <a:ext cx="1872208" cy="936104"/>
          </a:xfrm>
          <a:prstGeom prst="borderCallout1">
            <a:avLst>
              <a:gd name="adj1" fmla="val 19956"/>
              <a:gd name="adj2" fmla="val -1097"/>
              <a:gd name="adj3" fmla="val -70803"/>
              <a:gd name="adj4" fmla="val -389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会话控制</a:t>
            </a:r>
          </a:p>
        </p:txBody>
      </p:sp>
      <p:sp>
        <p:nvSpPr>
          <p:cNvPr id="5" name="云形标注 4"/>
          <p:cNvSpPr/>
          <p:nvPr/>
        </p:nvSpPr>
        <p:spPr>
          <a:xfrm>
            <a:off x="7392144" y="1844824"/>
            <a:ext cx="3960440" cy="2232248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在会话期，保存在</a:t>
            </a:r>
            <a:r>
              <a:rPr lang="en-US" altLang="zh-CN" sz="2400" dirty="0"/>
              <a:t>Session</a:t>
            </a:r>
            <a:r>
              <a:rPr lang="zh-CN" altLang="en-US" sz="2400" dirty="0"/>
              <a:t>中的变量可以在不同网页间传递信息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9B1842A-40CD-4EEA-9633-36BB3FEEE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6590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启用</a:t>
            </a:r>
            <a:r>
              <a:rPr lang="en-US" altLang="zh-CN" dirty="0"/>
              <a:t>Session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1124744"/>
            <a:ext cx="11042742" cy="5216671"/>
          </a:xfrm>
        </p:spPr>
        <p:txBody>
          <a:bodyPr/>
          <a:lstStyle/>
          <a:p>
            <a:r>
              <a:rPr lang="zh-CN" altLang="zh-CN" dirty="0"/>
              <a:t>修改</a:t>
            </a:r>
            <a:r>
              <a:rPr lang="en-US" altLang="zh-CN" dirty="0"/>
              <a:t>settings.py</a:t>
            </a:r>
            <a:r>
              <a:rPr lang="zh-CN" altLang="zh-CN" dirty="0"/>
              <a:t>文件中的</a:t>
            </a:r>
            <a:r>
              <a:rPr lang="en-US" altLang="zh-CN" dirty="0"/>
              <a:t>MIDDLEWARE_CLASSES</a:t>
            </a:r>
            <a:r>
              <a:rPr lang="zh-CN" altLang="zh-CN" dirty="0"/>
              <a:t>元组类型的属性值</a:t>
            </a:r>
            <a:endParaRPr lang="en-US" altLang="zh-CN" dirty="0"/>
          </a:p>
          <a:p>
            <a:pPr lvl="1"/>
            <a:r>
              <a:rPr lang="zh-CN" altLang="zh-CN" dirty="0"/>
              <a:t>元组中加入</a:t>
            </a:r>
            <a:r>
              <a:rPr lang="en-US" altLang="zh-CN" dirty="0"/>
              <a:t>'</a:t>
            </a:r>
            <a:r>
              <a:rPr lang="en-US" altLang="zh-CN" dirty="0" err="1"/>
              <a:t>django.contrib.sessions.middleware.SessionMiddleware</a:t>
            </a:r>
            <a:r>
              <a:rPr lang="en-US" altLang="zh-CN" dirty="0"/>
              <a:t>'</a:t>
            </a:r>
          </a:p>
          <a:p>
            <a:pPr lvl="1"/>
            <a:r>
              <a:rPr lang="en-US" altLang="zh-CN" dirty="0"/>
              <a:t>INSTALLED_APPS</a:t>
            </a:r>
            <a:r>
              <a:rPr lang="zh-CN" altLang="zh-CN" dirty="0"/>
              <a:t>元素类型的属性值中加入</a:t>
            </a:r>
            <a:r>
              <a:rPr lang="en-US" altLang="zh-CN" dirty="0"/>
              <a:t>'</a:t>
            </a:r>
            <a:r>
              <a:rPr lang="en-US" altLang="zh-CN" dirty="0" err="1"/>
              <a:t>django.contrib.sessions</a:t>
            </a:r>
            <a:r>
              <a:rPr lang="en-US" altLang="zh-CN" dirty="0"/>
              <a:t>'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674405-A9EA-4DFC-9CE6-6E21B6F28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169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Session</a:t>
            </a:r>
            <a:r>
              <a:rPr lang="zh-CN" altLang="en-US" dirty="0"/>
              <a:t>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 err="1"/>
              <a:t>Django</a:t>
            </a:r>
            <a:r>
              <a:rPr lang="zh-CN" altLang="zh-CN" dirty="0"/>
              <a:t>提供了</a:t>
            </a:r>
            <a:r>
              <a:rPr lang="en-US" altLang="zh-CN" dirty="0"/>
              <a:t>5</a:t>
            </a:r>
            <a:r>
              <a:rPr lang="zh-CN" altLang="zh-CN" dirty="0"/>
              <a:t>种</a:t>
            </a:r>
            <a:r>
              <a:rPr lang="en-US" altLang="zh-CN" dirty="0"/>
              <a:t>Session</a:t>
            </a:r>
          </a:p>
          <a:p>
            <a:pPr lvl="1"/>
            <a:r>
              <a:rPr lang="zh-CN" altLang="zh-CN" dirty="0"/>
              <a:t>数据库</a:t>
            </a:r>
            <a:r>
              <a:rPr lang="en-US" altLang="zh-CN" dirty="0"/>
              <a:t>Session</a:t>
            </a:r>
          </a:p>
          <a:p>
            <a:pPr marL="914400" lvl="2" indent="0">
              <a:buNone/>
            </a:pPr>
            <a:r>
              <a:rPr lang="en-US" altLang="zh-CN" dirty="0"/>
              <a:t>SESSION_ENGINE = '</a:t>
            </a:r>
            <a:r>
              <a:rPr lang="en-US" altLang="zh-CN" dirty="0" err="1"/>
              <a:t>django.contrib.sessions.backends.db</a:t>
            </a:r>
            <a:r>
              <a:rPr lang="en-US" altLang="zh-CN" dirty="0"/>
              <a:t>'</a:t>
            </a:r>
          </a:p>
          <a:p>
            <a:pPr lvl="1"/>
            <a:r>
              <a:rPr lang="zh-CN" altLang="zh-CN" dirty="0"/>
              <a:t>缓存</a:t>
            </a:r>
            <a:r>
              <a:rPr lang="en-US" altLang="zh-CN" dirty="0"/>
              <a:t>Session</a:t>
            </a:r>
          </a:p>
          <a:p>
            <a:pPr marL="914400" lvl="2" indent="0">
              <a:buNone/>
            </a:pPr>
            <a:r>
              <a:rPr lang="en-US" altLang="zh-CN" dirty="0"/>
              <a:t>SESSION_ENGINE = '</a:t>
            </a:r>
            <a:r>
              <a:rPr lang="en-US" altLang="zh-CN" dirty="0" err="1"/>
              <a:t>django.contrib.sessions.backends.cache</a:t>
            </a:r>
            <a:r>
              <a:rPr lang="en-US" altLang="zh-CN" dirty="0"/>
              <a:t>' </a:t>
            </a:r>
            <a:endParaRPr lang="zh-CN" altLang="zh-CN" dirty="0"/>
          </a:p>
          <a:p>
            <a:pPr marL="914400" lvl="2" indent="0">
              <a:buNone/>
            </a:pPr>
            <a:r>
              <a:rPr lang="en-US" altLang="zh-CN" dirty="0"/>
              <a:t>SESSION_CACHE_ALIAS = 'default'</a:t>
            </a:r>
          </a:p>
          <a:p>
            <a:pPr lvl="1"/>
            <a:r>
              <a:rPr lang="zh-CN" altLang="zh-CN" dirty="0"/>
              <a:t>文件</a:t>
            </a:r>
            <a:r>
              <a:rPr lang="en-US" altLang="zh-CN" dirty="0"/>
              <a:t>Session</a:t>
            </a:r>
          </a:p>
          <a:p>
            <a:pPr marL="914400" lvl="2" indent="0">
              <a:buNone/>
            </a:pPr>
            <a:r>
              <a:rPr lang="en-US" altLang="zh-CN" dirty="0"/>
              <a:t>SESSION_ENGINE = '</a:t>
            </a:r>
            <a:r>
              <a:rPr lang="en-US" altLang="zh-CN" dirty="0" err="1"/>
              <a:t>django.contrib.sessions.backends.file</a:t>
            </a:r>
            <a:r>
              <a:rPr lang="en-US" altLang="zh-CN" dirty="0"/>
              <a:t>'</a:t>
            </a:r>
            <a:endParaRPr lang="zh-CN" altLang="zh-CN" dirty="0"/>
          </a:p>
          <a:p>
            <a:pPr marL="914400" lvl="2" indent="0">
              <a:buNone/>
            </a:pPr>
            <a:r>
              <a:rPr lang="en-US" altLang="zh-CN" dirty="0"/>
              <a:t>SESSION_FILE_PATH = None</a:t>
            </a:r>
          </a:p>
          <a:p>
            <a:pPr lvl="1"/>
            <a:r>
              <a:rPr lang="zh-CN" altLang="zh-CN" dirty="0"/>
              <a:t>缓存</a:t>
            </a:r>
            <a:r>
              <a:rPr lang="en-US" altLang="zh-CN" dirty="0"/>
              <a:t>+</a:t>
            </a:r>
            <a:r>
              <a:rPr lang="zh-CN" altLang="zh-CN" dirty="0"/>
              <a:t>数据库</a:t>
            </a:r>
            <a:r>
              <a:rPr lang="en-US" altLang="zh-CN" dirty="0"/>
              <a:t>Session</a:t>
            </a:r>
          </a:p>
          <a:p>
            <a:pPr marL="914400" lvl="2" indent="0">
              <a:buNone/>
            </a:pPr>
            <a:r>
              <a:rPr lang="en-US" altLang="zh-CN" dirty="0"/>
              <a:t>SESSION_ENGINE = '</a:t>
            </a:r>
            <a:r>
              <a:rPr lang="en-US" altLang="zh-CN" dirty="0" err="1"/>
              <a:t>django.contrib.sessions.backends.cached_db</a:t>
            </a:r>
            <a:r>
              <a:rPr lang="en-US" altLang="zh-CN" dirty="0"/>
              <a:t>'</a:t>
            </a:r>
          </a:p>
          <a:p>
            <a:pPr lvl="1"/>
            <a:r>
              <a:rPr lang="zh-CN" altLang="zh-CN" dirty="0"/>
              <a:t>加密</a:t>
            </a:r>
            <a:r>
              <a:rPr lang="en-US" altLang="zh-CN" dirty="0"/>
              <a:t>Cookie Session</a:t>
            </a:r>
          </a:p>
          <a:p>
            <a:pPr marL="914400" lvl="2" indent="0">
              <a:buNone/>
            </a:pPr>
            <a:r>
              <a:rPr lang="en-US" altLang="zh-CN" dirty="0"/>
              <a:t>SESSION_ENGINE = '</a:t>
            </a:r>
            <a:r>
              <a:rPr lang="en-US" altLang="zh-CN" dirty="0" err="1"/>
              <a:t>django.contrib.sessions.backends.signed_cookies</a:t>
            </a:r>
            <a:r>
              <a:rPr lang="en-US" altLang="zh-CN" dirty="0"/>
              <a:t>'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B5A028-7614-4BC2-BAB0-C1912FDA9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3641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使用</a:t>
            </a:r>
            <a:r>
              <a:rPr lang="en-US" altLang="zh-CN" dirty="0"/>
              <a:t>Session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在视图中把数据存放到</a:t>
            </a:r>
            <a:r>
              <a:rPr lang="en-US" altLang="zh-CN" dirty="0"/>
              <a:t>Session</a:t>
            </a:r>
            <a:r>
              <a:rPr lang="zh-CN" altLang="zh-CN" dirty="0"/>
              <a:t>中</a:t>
            </a:r>
            <a:endParaRPr lang="en-US" altLang="zh-CN" dirty="0"/>
          </a:p>
          <a:p>
            <a:pPr lvl="1"/>
            <a:r>
              <a:rPr lang="en-US" altLang="zh-CN" dirty="0" err="1"/>
              <a:t>request.session</a:t>
            </a:r>
            <a:r>
              <a:rPr lang="en-US" altLang="zh-CN" dirty="0"/>
              <a:t>[key] = value</a:t>
            </a:r>
          </a:p>
          <a:p>
            <a:r>
              <a:rPr lang="zh-CN" altLang="zh-CN" dirty="0"/>
              <a:t>在视图中从</a:t>
            </a:r>
            <a:r>
              <a:rPr lang="en-US" altLang="zh-CN" dirty="0"/>
              <a:t>Session</a:t>
            </a:r>
            <a:r>
              <a:rPr lang="zh-CN" altLang="zh-CN" dirty="0"/>
              <a:t>中取出数据</a:t>
            </a:r>
            <a:endParaRPr lang="en-US" altLang="zh-CN" dirty="0"/>
          </a:p>
          <a:p>
            <a:pPr lvl="1"/>
            <a:r>
              <a:rPr lang="en-US" altLang="zh-CN" dirty="0" err="1"/>
              <a:t>request.session.get</a:t>
            </a:r>
            <a:r>
              <a:rPr lang="en-US" altLang="zh-CN" dirty="0"/>
              <a:t>(key, default=None)</a:t>
            </a:r>
          </a:p>
          <a:p>
            <a:r>
              <a:rPr lang="zh-CN" altLang="zh-CN" dirty="0"/>
              <a:t>删除</a:t>
            </a:r>
            <a:r>
              <a:rPr lang="en-US" altLang="zh-CN" dirty="0"/>
              <a:t>Session</a:t>
            </a:r>
          </a:p>
          <a:p>
            <a:pPr lvl="1"/>
            <a:r>
              <a:rPr lang="en-US" altLang="zh-CN" dirty="0"/>
              <a:t>del </a:t>
            </a:r>
            <a:r>
              <a:rPr lang="en-US" altLang="zh-CN" dirty="0" err="1"/>
              <a:t>request.session</a:t>
            </a:r>
            <a:r>
              <a:rPr lang="en-US" altLang="zh-CN" dirty="0"/>
              <a:t>[key]</a:t>
            </a:r>
          </a:p>
          <a:p>
            <a:r>
              <a:rPr lang="zh-CN" altLang="zh-CN" dirty="0"/>
              <a:t>在</a:t>
            </a:r>
            <a:r>
              <a:rPr lang="en-US" altLang="zh-CN" dirty="0" err="1"/>
              <a:t>Django</a:t>
            </a:r>
            <a:r>
              <a:rPr lang="zh-CN" altLang="zh-CN" dirty="0"/>
              <a:t>模板中使用</a:t>
            </a:r>
            <a:r>
              <a:rPr lang="en-US" altLang="zh-CN" dirty="0"/>
              <a:t>Session</a:t>
            </a:r>
            <a:r>
              <a:rPr lang="zh-CN" altLang="zh-CN" dirty="0"/>
              <a:t>数据</a:t>
            </a:r>
            <a:endParaRPr lang="en-US" altLang="zh-CN" dirty="0"/>
          </a:p>
          <a:p>
            <a:pPr lvl="1"/>
            <a:r>
              <a:rPr lang="zh-CN" altLang="zh-CN" dirty="0"/>
              <a:t>使用</a:t>
            </a:r>
            <a:r>
              <a:rPr lang="en-US" altLang="zh-CN" dirty="0"/>
              <a:t>items()</a:t>
            </a:r>
            <a:r>
              <a:rPr lang="zh-CN" altLang="zh-CN" dirty="0"/>
              <a:t>方法查看所有</a:t>
            </a:r>
            <a:r>
              <a:rPr lang="en-US" altLang="zh-CN" dirty="0"/>
              <a:t>Session</a:t>
            </a:r>
            <a:r>
              <a:rPr lang="zh-CN" altLang="zh-CN" dirty="0"/>
              <a:t>值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96200" y="3838718"/>
            <a:ext cx="3816424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例如：</a:t>
            </a:r>
            <a:endParaRPr lang="en-US" altLang="zh-CN" sz="2000" dirty="0"/>
          </a:p>
          <a:p>
            <a:r>
              <a:rPr lang="en-US" altLang="zh-CN" sz="2000" dirty="0"/>
              <a:t>{% for key, value in </a:t>
            </a:r>
            <a:r>
              <a:rPr lang="en-US" altLang="zh-CN" sz="2000" dirty="0" err="1"/>
              <a:t>request.session.items</a:t>
            </a:r>
            <a:r>
              <a:rPr lang="en-US" altLang="zh-CN" sz="2000" dirty="0"/>
              <a:t> %}</a:t>
            </a:r>
            <a:endParaRPr lang="zh-CN" altLang="zh-CN" sz="2000" dirty="0"/>
          </a:p>
          <a:p>
            <a:r>
              <a:rPr lang="en-US" altLang="zh-CN" sz="2000" dirty="0"/>
              <a:t>    {% </a:t>
            </a:r>
            <a:r>
              <a:rPr lang="en-US" altLang="zh-CN" sz="2000" dirty="0" err="1"/>
              <a:t>ifequal</a:t>
            </a:r>
            <a:r>
              <a:rPr lang="en-US" altLang="zh-CN" sz="2000" dirty="0"/>
              <a:t> 'username' key %}</a:t>
            </a:r>
            <a:endParaRPr lang="zh-CN" altLang="zh-CN" sz="2000" dirty="0"/>
          </a:p>
          <a:p>
            <a:r>
              <a:rPr lang="en-US" altLang="zh-CN" sz="2000" dirty="0"/>
              <a:t>        &lt;h1&gt;{{ value }}&lt;/h1&gt;</a:t>
            </a:r>
            <a:endParaRPr lang="zh-CN" altLang="zh-CN" sz="2000" dirty="0"/>
          </a:p>
          <a:p>
            <a:r>
              <a:rPr lang="en-US" altLang="zh-CN" sz="2000" dirty="0"/>
              <a:t>    {% </a:t>
            </a:r>
            <a:r>
              <a:rPr lang="en-US" altLang="zh-CN" sz="2000" dirty="0" err="1"/>
              <a:t>endifequal</a:t>
            </a:r>
            <a:r>
              <a:rPr lang="en-US" altLang="zh-CN" sz="2000" dirty="0"/>
              <a:t> %}</a:t>
            </a:r>
            <a:endParaRPr lang="zh-CN" altLang="zh-CN" sz="2000" dirty="0"/>
          </a:p>
          <a:p>
            <a:r>
              <a:rPr lang="en-US" altLang="zh-CN" sz="2000" dirty="0"/>
              <a:t>{% </a:t>
            </a:r>
            <a:r>
              <a:rPr lang="en-US" altLang="zh-CN" sz="2000" dirty="0" err="1"/>
              <a:t>endfor</a:t>
            </a:r>
            <a:r>
              <a:rPr lang="en-US" altLang="zh-CN" sz="2000" dirty="0"/>
              <a:t> %}</a:t>
            </a:r>
            <a:endParaRPr lang="zh-CN" altLang="en-US" sz="20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C994AE-996E-4DEE-9C77-98CC596D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9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6" name="副标题 2"/>
          <p:cNvSpPr>
            <a:spLocks noGrp="1"/>
          </p:cNvSpPr>
          <p:nvPr>
            <p:ph type="subTitle" idx="1"/>
          </p:nvPr>
        </p:nvSpPr>
        <p:spPr>
          <a:xfrm>
            <a:off x="2216785" y="3503930"/>
            <a:ext cx="7759065" cy="956945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algn="r">
              <a:buClrTx/>
              <a:buSzTx/>
              <a:buFontTx/>
            </a:pPr>
            <a:r>
              <a:rPr lang="en-US" altLang="zh-CN" sz="4000" kern="1200" dirty="0">
                <a:latin typeface="+mn-lt"/>
                <a:ea typeface="+mn-ea"/>
                <a:cs typeface="+mn-cs"/>
              </a:rPr>
              <a:t>——</a:t>
            </a:r>
            <a:r>
              <a:rPr lang="zh-CN" altLang="en-US" sz="4000" kern="1200" dirty="0">
                <a:latin typeface="+mn-lt"/>
                <a:ea typeface="+mn-ea"/>
                <a:cs typeface="+mn-cs"/>
              </a:rPr>
              <a:t>小型图书管理系统</a:t>
            </a: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399540" y="2292350"/>
            <a:ext cx="931862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15.5 Web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开发应用案例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CAE32F-5490-48D9-ABEF-B6A33CE37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62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118556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15-1</a:t>
            </a:r>
            <a:r>
              <a:rPr lang="zh-CN" altLang="zh-CN" dirty="0"/>
              <a:t>编写一个小型的图书管理系统，实现展示、添加和编辑出版社、书籍和作者等功能。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1772816"/>
            <a:ext cx="10852237" cy="4568599"/>
          </a:xfrm>
        </p:spPr>
        <p:txBody>
          <a:bodyPr/>
          <a:lstStyle/>
          <a:p>
            <a:r>
              <a:rPr lang="zh-CN" altLang="zh-CN" dirty="0"/>
              <a:t>新建</a:t>
            </a:r>
            <a:endParaRPr lang="en-US" altLang="zh-CN" dirty="0"/>
          </a:p>
          <a:p>
            <a:pPr lvl="1"/>
            <a:r>
              <a:rPr lang="zh-CN" altLang="zh-CN" dirty="0"/>
              <a:t>项目</a:t>
            </a:r>
            <a:r>
              <a:rPr lang="zh-CN" altLang="en-US" dirty="0"/>
              <a:t>名：</a:t>
            </a:r>
            <a:r>
              <a:rPr lang="en-US" altLang="zh-CN" dirty="0" err="1"/>
              <a:t>BookProject</a:t>
            </a:r>
            <a:endParaRPr lang="en-US" altLang="zh-CN" dirty="0"/>
          </a:p>
          <a:p>
            <a:pPr lvl="1"/>
            <a:r>
              <a:rPr lang="zh-CN" altLang="zh-CN" dirty="0"/>
              <a:t>应用</a:t>
            </a:r>
            <a:r>
              <a:rPr lang="zh-CN" altLang="en-US" dirty="0"/>
              <a:t>名</a:t>
            </a:r>
            <a:r>
              <a:rPr lang="zh-CN" altLang="zh-CN" dirty="0"/>
              <a:t>：</a:t>
            </a:r>
            <a:r>
              <a:rPr lang="en-US" altLang="zh-CN" dirty="0"/>
              <a:t>Book</a:t>
            </a:r>
            <a:endParaRPr lang="zh-CN" altLang="en-US" dirty="0"/>
          </a:p>
          <a:p>
            <a:r>
              <a:rPr lang="zh-CN" altLang="en-US" dirty="0"/>
              <a:t>设置</a:t>
            </a:r>
            <a:r>
              <a:rPr lang="zh-CN" altLang="zh-CN" dirty="0"/>
              <a:t>数据库连接</a:t>
            </a:r>
            <a:r>
              <a:rPr lang="zh-CN" altLang="en-US" dirty="0"/>
              <a:t>（</a:t>
            </a:r>
            <a:r>
              <a:rPr lang="en-US" altLang="zh-CN" dirty="0"/>
              <a:t>MySQL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修改</a:t>
            </a:r>
            <a:r>
              <a:rPr lang="en-US" altLang="zh-CN" dirty="0"/>
              <a:t>settings.py</a:t>
            </a:r>
            <a:r>
              <a:rPr lang="zh-CN" altLang="zh-CN" dirty="0"/>
              <a:t>文件</a:t>
            </a:r>
            <a:r>
              <a:rPr lang="zh-CN" altLang="en-US" dirty="0"/>
              <a:t>中的</a:t>
            </a:r>
            <a:r>
              <a:rPr lang="en-US" altLang="zh-CN" dirty="0"/>
              <a:t>DATABASES</a:t>
            </a:r>
            <a:r>
              <a:rPr lang="zh-CN" altLang="en-US" dirty="0"/>
              <a:t>部分代码</a:t>
            </a:r>
            <a:endParaRPr lang="en-US" altLang="zh-CN" dirty="0"/>
          </a:p>
          <a:p>
            <a:pPr lvl="1"/>
            <a:r>
              <a:rPr lang="zh-CN" altLang="en-US" dirty="0"/>
              <a:t>修改</a:t>
            </a:r>
            <a:r>
              <a:rPr lang="en-US" altLang="zh-CN" dirty="0"/>
              <a:t>__init__.py</a:t>
            </a:r>
            <a:r>
              <a:rPr lang="zh-CN" altLang="zh-CN" dirty="0"/>
              <a:t>文件</a:t>
            </a:r>
            <a:r>
              <a:rPr lang="zh-CN" altLang="en-US" dirty="0"/>
              <a:t>，添加代码</a:t>
            </a:r>
            <a:endParaRPr lang="en-US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5735960" y="1556792"/>
            <a:ext cx="6126608" cy="28623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DATABASES = {</a:t>
            </a:r>
            <a:endParaRPr lang="zh-CN" altLang="zh-CN" dirty="0"/>
          </a:p>
          <a:p>
            <a:r>
              <a:rPr lang="en-US" altLang="zh-CN" dirty="0"/>
              <a:t>'default': {</a:t>
            </a:r>
            <a:endParaRPr lang="zh-CN" altLang="zh-CN" dirty="0"/>
          </a:p>
          <a:p>
            <a:r>
              <a:rPr lang="en-US" altLang="zh-CN" dirty="0"/>
              <a:t>    'ENGINE': '</a:t>
            </a:r>
            <a:r>
              <a:rPr lang="en-US" altLang="zh-CN" dirty="0" err="1"/>
              <a:t>django.db.backends.mysql</a:t>
            </a:r>
            <a:r>
              <a:rPr lang="en-US" altLang="zh-CN" dirty="0"/>
              <a:t>',     # </a:t>
            </a:r>
            <a:r>
              <a:rPr lang="zh-CN" altLang="zh-CN" dirty="0"/>
              <a:t>数据库引擎</a:t>
            </a:r>
          </a:p>
          <a:p>
            <a:r>
              <a:rPr lang="en-US" altLang="zh-CN" dirty="0"/>
              <a:t>    'NAME': "book",                       # </a:t>
            </a:r>
            <a:r>
              <a:rPr lang="zh-CN" altLang="zh-CN" dirty="0"/>
              <a:t>数据库名称</a:t>
            </a:r>
          </a:p>
          <a:p>
            <a:r>
              <a:rPr lang="en-US" altLang="zh-CN" dirty="0"/>
              <a:t>    'USER': 'root',                         # </a:t>
            </a:r>
            <a:r>
              <a:rPr lang="zh-CN" altLang="zh-CN" dirty="0"/>
              <a:t>数据库用户名</a:t>
            </a:r>
          </a:p>
          <a:p>
            <a:r>
              <a:rPr lang="en-US" altLang="zh-CN" dirty="0"/>
              <a:t>    'PASSWORD': '123456',                 # </a:t>
            </a:r>
            <a:r>
              <a:rPr lang="zh-CN" altLang="zh-CN" dirty="0"/>
              <a:t>数据库密码</a:t>
            </a:r>
          </a:p>
          <a:p>
            <a:r>
              <a:rPr lang="en-US" altLang="zh-CN" dirty="0"/>
              <a:t>    'HOST': "127.0.0.1",                    # </a:t>
            </a:r>
            <a:r>
              <a:rPr lang="zh-CN" altLang="zh-CN" dirty="0"/>
              <a:t>数据库主机</a:t>
            </a:r>
          </a:p>
          <a:p>
            <a:r>
              <a:rPr lang="en-US" altLang="zh-CN" dirty="0"/>
              <a:t>    'PORT': 3306,                         # </a:t>
            </a:r>
            <a:r>
              <a:rPr lang="zh-CN" altLang="zh-CN" dirty="0"/>
              <a:t>数据库端口</a:t>
            </a:r>
          </a:p>
          <a:p>
            <a:r>
              <a:rPr lang="en-US" altLang="zh-CN" dirty="0"/>
              <a:t>    }</a:t>
            </a:r>
            <a:endParaRPr lang="zh-CN" altLang="zh-CN" dirty="0"/>
          </a:p>
          <a:p>
            <a:r>
              <a:rPr lang="en-US" altLang="zh-CN" dirty="0"/>
              <a:t>}</a:t>
            </a:r>
            <a:endParaRPr lang="zh-CN" altLang="zh-CN" dirty="0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7680176" y="3789040"/>
            <a:ext cx="216024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284970" y="5445224"/>
            <a:ext cx="3508436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import </a:t>
            </a:r>
            <a:r>
              <a:rPr lang="en-US" altLang="zh-CN" dirty="0" err="1"/>
              <a:t>pymysql</a:t>
            </a:r>
            <a:endParaRPr lang="zh-CN" altLang="zh-CN" dirty="0"/>
          </a:p>
          <a:p>
            <a:r>
              <a:rPr lang="en-US" altLang="zh-CN" dirty="0" err="1"/>
              <a:t>pymysql.install_as_MySQLdb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cxnSp>
        <p:nvCxnSpPr>
          <p:cNvPr id="9" name="直接箭头连接符 8"/>
          <p:cNvCxnSpPr>
            <a:endCxn id="7" idx="1"/>
          </p:cNvCxnSpPr>
          <p:nvPr/>
        </p:nvCxnSpPr>
        <p:spPr>
          <a:xfrm>
            <a:off x="6744072" y="5445224"/>
            <a:ext cx="540898" cy="3231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9D8329-2E01-4503-B63A-5BA4AD37C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3976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15-1 </a:t>
            </a:r>
            <a:r>
              <a:rPr lang="zh-CN" altLang="en-US" dirty="0"/>
              <a:t>（续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添加静态文件的路径</a:t>
            </a:r>
            <a:endParaRPr lang="en-US" altLang="zh-CN" dirty="0"/>
          </a:p>
          <a:p>
            <a:pPr lvl="1"/>
            <a:r>
              <a:rPr lang="zh-CN" altLang="zh-CN" dirty="0"/>
              <a:t>在</a:t>
            </a:r>
            <a:r>
              <a:rPr lang="en-US" altLang="zh-CN" dirty="0"/>
              <a:t>settings.py</a:t>
            </a:r>
            <a:r>
              <a:rPr lang="zh-CN" altLang="zh-CN" dirty="0"/>
              <a:t>文件中添加</a:t>
            </a:r>
            <a:r>
              <a:rPr lang="zh-CN" altLang="en-US" dirty="0"/>
              <a:t>代码</a:t>
            </a:r>
            <a:endParaRPr lang="en-US" altLang="zh-CN" dirty="0"/>
          </a:p>
          <a:p>
            <a:r>
              <a:rPr lang="zh-CN" altLang="en-US" dirty="0"/>
              <a:t>建立数据模型</a:t>
            </a:r>
            <a:endParaRPr lang="en-US" altLang="zh-CN" dirty="0"/>
          </a:p>
          <a:p>
            <a:pPr lvl="1"/>
            <a:r>
              <a:rPr lang="zh-CN" altLang="en-US" dirty="0"/>
              <a:t>修改</a:t>
            </a:r>
            <a:r>
              <a:rPr lang="en-US" altLang="zh-CN" dirty="0"/>
              <a:t>models.py</a:t>
            </a:r>
            <a:r>
              <a:rPr lang="zh-CN" altLang="zh-CN" dirty="0"/>
              <a:t>文件</a:t>
            </a:r>
            <a:r>
              <a:rPr lang="zh-CN" altLang="en-US" dirty="0"/>
              <a:t>（略）</a:t>
            </a:r>
            <a:endParaRPr lang="en-US" altLang="zh-CN" dirty="0"/>
          </a:p>
          <a:p>
            <a:r>
              <a:rPr lang="zh-CN" altLang="en-US" dirty="0"/>
              <a:t>安装应用</a:t>
            </a:r>
            <a:endParaRPr lang="en-US" altLang="zh-CN" dirty="0"/>
          </a:p>
          <a:p>
            <a:pPr lvl="1"/>
            <a:r>
              <a:rPr lang="zh-CN" altLang="en-US" dirty="0"/>
              <a:t>修改</a:t>
            </a:r>
            <a:r>
              <a:rPr lang="en-US" altLang="zh-CN" dirty="0"/>
              <a:t>settings.py</a:t>
            </a:r>
            <a:r>
              <a:rPr lang="zh-CN" altLang="zh-CN" dirty="0"/>
              <a:t>文件</a:t>
            </a:r>
            <a:r>
              <a:rPr lang="zh-CN" altLang="en-US" dirty="0"/>
              <a:t>的</a:t>
            </a:r>
            <a:r>
              <a:rPr lang="en-US" altLang="zh-CN" dirty="0"/>
              <a:t>INSTALLED_APPS</a:t>
            </a:r>
            <a:r>
              <a:rPr lang="zh-CN" altLang="zh-CN" dirty="0"/>
              <a:t>变量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248128" y="1124744"/>
            <a:ext cx="4063457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STATIC_URL = '/static/'</a:t>
            </a:r>
            <a:endParaRPr lang="zh-CN" altLang="zh-CN" dirty="0"/>
          </a:p>
          <a:p>
            <a:r>
              <a:rPr lang="en-US" altLang="zh-CN" dirty="0"/>
              <a:t>STATICFILES_DIRS = [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os.path.join</a:t>
            </a:r>
            <a:r>
              <a:rPr lang="en-US" altLang="zh-CN" dirty="0"/>
              <a:t>(BASE_DIR, "static")</a:t>
            </a:r>
            <a:endParaRPr lang="zh-CN" altLang="zh-CN" dirty="0"/>
          </a:p>
          <a:p>
            <a:r>
              <a:rPr lang="en-US" altLang="zh-CN" dirty="0"/>
              <a:t>]</a:t>
            </a:r>
            <a:endParaRPr lang="zh-CN" altLang="en-US" dirty="0"/>
          </a:p>
        </p:txBody>
      </p:sp>
      <p:cxnSp>
        <p:nvCxnSpPr>
          <p:cNvPr id="6" name="直接箭头连接符 5"/>
          <p:cNvCxnSpPr>
            <a:endCxn id="4" idx="1"/>
          </p:cNvCxnSpPr>
          <p:nvPr/>
        </p:nvCxnSpPr>
        <p:spPr>
          <a:xfrm flipV="1">
            <a:off x="6384032" y="1724909"/>
            <a:ext cx="864096" cy="3359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09767" y="5285349"/>
            <a:ext cx="3140177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INSTALLED_APPS = [</a:t>
            </a:r>
            <a:endParaRPr lang="zh-CN" altLang="zh-CN" dirty="0"/>
          </a:p>
          <a:p>
            <a:r>
              <a:rPr lang="en-US" altLang="zh-CN" dirty="0"/>
              <a:t>    ……,</a:t>
            </a:r>
            <a:endParaRPr lang="zh-CN" altLang="zh-CN" dirty="0"/>
          </a:p>
          <a:p>
            <a:r>
              <a:rPr lang="en-US" altLang="zh-CN" dirty="0"/>
              <a:t>    'book',       # </a:t>
            </a:r>
            <a:r>
              <a:rPr lang="zh-CN" altLang="zh-CN" dirty="0"/>
              <a:t>添加应用</a:t>
            </a:r>
          </a:p>
          <a:p>
            <a:r>
              <a:rPr lang="en-US" altLang="zh-CN" dirty="0"/>
              <a:t>]</a:t>
            </a:r>
            <a:endParaRPr lang="zh-CN" altLang="zh-CN" dirty="0"/>
          </a:p>
        </p:txBody>
      </p:sp>
      <p:cxnSp>
        <p:nvCxnSpPr>
          <p:cNvPr id="9" name="直接箭头连接符 8"/>
          <p:cNvCxnSpPr/>
          <p:nvPr/>
        </p:nvCxnSpPr>
        <p:spPr>
          <a:xfrm>
            <a:off x="8112224" y="4869160"/>
            <a:ext cx="432048" cy="4161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B820ED-42FE-4910-999C-7F0EC7446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7378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15-1 </a:t>
            </a:r>
            <a:r>
              <a:rPr lang="zh-CN" altLang="en-US" dirty="0"/>
              <a:t>（续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模型导入数据库</a:t>
            </a:r>
            <a:endParaRPr lang="en-US" altLang="zh-CN" dirty="0"/>
          </a:p>
          <a:p>
            <a:pPr lvl="1"/>
            <a:r>
              <a:rPr lang="en-US" altLang="zh-CN" dirty="0"/>
              <a:t>python manage.py </a:t>
            </a:r>
            <a:r>
              <a:rPr lang="en-US" altLang="zh-CN" dirty="0" err="1"/>
              <a:t>makemigrations</a:t>
            </a:r>
            <a:endParaRPr lang="zh-CN" altLang="zh-CN" dirty="0"/>
          </a:p>
          <a:p>
            <a:pPr lvl="1"/>
            <a:r>
              <a:rPr lang="en-US" altLang="zh-CN" dirty="0"/>
              <a:t>python manage.py migrate</a:t>
            </a:r>
          </a:p>
          <a:p>
            <a:r>
              <a:rPr lang="zh-CN" altLang="zh-CN" dirty="0"/>
              <a:t>创建视图</a:t>
            </a:r>
            <a:endParaRPr lang="en-US" altLang="zh-CN" dirty="0"/>
          </a:p>
          <a:p>
            <a:pPr lvl="1"/>
            <a:r>
              <a:rPr lang="zh-CN" altLang="en-US" dirty="0"/>
              <a:t>修改</a:t>
            </a:r>
            <a:r>
              <a:rPr lang="en-US" altLang="zh-CN" dirty="0"/>
              <a:t>views</a:t>
            </a:r>
            <a:r>
              <a:rPr lang="zh-CN" altLang="zh-CN" dirty="0"/>
              <a:t>文件</a:t>
            </a:r>
            <a:r>
              <a:rPr lang="zh-CN" altLang="en-US" dirty="0"/>
              <a:t>中</a:t>
            </a:r>
            <a:r>
              <a:rPr lang="zh-CN" altLang="zh-CN" dirty="0"/>
              <a:t>的代码</a:t>
            </a:r>
            <a:r>
              <a:rPr lang="zh-CN" altLang="en-US" dirty="0"/>
              <a:t>（略）</a:t>
            </a:r>
            <a:endParaRPr lang="en-US" altLang="zh-CN" dirty="0"/>
          </a:p>
          <a:p>
            <a:r>
              <a:rPr lang="zh-CN" altLang="zh-CN" dirty="0"/>
              <a:t>修改项目文件夹中的</a:t>
            </a:r>
            <a:r>
              <a:rPr lang="en-US" altLang="zh-CN" dirty="0"/>
              <a:t>urls.py</a:t>
            </a:r>
            <a:r>
              <a:rPr lang="zh-CN" altLang="zh-CN" dirty="0"/>
              <a:t>文件</a:t>
            </a:r>
            <a:endParaRPr lang="en-US" altLang="zh-CN" dirty="0"/>
          </a:p>
          <a:p>
            <a:pPr lvl="1"/>
            <a:r>
              <a:rPr lang="zh-CN" altLang="en-US" dirty="0"/>
              <a:t>目的是把每个</a:t>
            </a:r>
            <a:r>
              <a:rPr lang="en-US" altLang="zh-CN" dirty="0"/>
              <a:t>view</a:t>
            </a:r>
            <a:r>
              <a:rPr lang="zh-CN" altLang="en-US" dirty="0"/>
              <a:t>函数与页面建立起关系（代码略）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7FB1A5-9F98-42CE-A78F-A164E112B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4571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15-1 </a:t>
            </a:r>
            <a:r>
              <a:rPr lang="zh-CN" altLang="en-US" dirty="0"/>
              <a:t>（续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创建模板</a:t>
            </a:r>
            <a:endParaRPr lang="en-US" altLang="zh-CN" dirty="0"/>
          </a:p>
          <a:p>
            <a:pPr lvl="1"/>
            <a:r>
              <a:rPr lang="zh-CN" altLang="en-US" dirty="0"/>
              <a:t>模板文件名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01541"/>
              </p:ext>
            </p:extLst>
          </p:nvPr>
        </p:nvGraphicFramePr>
        <p:xfrm>
          <a:off x="1991544" y="2564904"/>
          <a:ext cx="6408712" cy="35283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73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5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839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功能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模板文件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展示出版社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publishe_list.html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添加出版社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add_publisher.html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编辑出版社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edit_publisher.html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展示书籍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book_list.html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添加书籍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add_book.html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编辑书籍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edit_book.html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展示作者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author_list.html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添加作者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add_author.html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编辑作者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edit_author.html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云形标注 4"/>
          <p:cNvSpPr/>
          <p:nvPr/>
        </p:nvSpPr>
        <p:spPr>
          <a:xfrm>
            <a:off x="9120336" y="2276872"/>
            <a:ext cx="2448272" cy="1728192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模板文件具体代码略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7E644E-D5B2-423F-A224-4FF02D6BB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3896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C2DD7-5A7C-4AFC-BA08-FBD49505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049531"/>
          </a:xfrm>
        </p:spPr>
        <p:txBody>
          <a:bodyPr/>
          <a:lstStyle/>
          <a:p>
            <a:pPr algn="ctr"/>
            <a:r>
              <a:rPr lang="zh-CN" altLang="en-US" dirty="0"/>
              <a:t>本章习题  </a:t>
            </a:r>
            <a:r>
              <a:rPr lang="en-US" altLang="zh-CN" sz="3200" dirty="0"/>
              <a:t>P</a:t>
            </a:r>
            <a:endParaRPr lang="zh-CN" altLang="en-US" sz="32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9AE7BC-7354-4629-8554-FC05A9081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91311-7409-4F84-842C-304DE1AB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38413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F6981-AB5E-411A-8782-6B755465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1E19F2-D970-42E6-A24E-080C6AEBF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3.5</a:t>
            </a:r>
            <a:r>
              <a:rPr lang="zh-CN" altLang="en-US" dirty="0"/>
              <a:t>节习题全部</a:t>
            </a:r>
            <a:r>
              <a:rPr lang="en-US" altLang="zh-CN" dirty="0"/>
              <a:t>(P69-71)</a:t>
            </a:r>
          </a:p>
          <a:p>
            <a:r>
              <a:rPr lang="zh-CN" altLang="en-US" dirty="0"/>
              <a:t>要求：</a:t>
            </a:r>
            <a:endParaRPr lang="en-US" altLang="zh-CN" dirty="0"/>
          </a:p>
          <a:p>
            <a:pPr lvl="1"/>
            <a:r>
              <a:rPr lang="zh-CN" altLang="en-US" dirty="0"/>
              <a:t>将作业写在</a:t>
            </a:r>
            <a:r>
              <a:rPr lang="en-US" altLang="zh-CN" dirty="0"/>
              <a:t>word</a:t>
            </a:r>
            <a:r>
              <a:rPr lang="zh-CN" altLang="en-US" dirty="0"/>
              <a:t>文档中，写清题号，保存为</a:t>
            </a:r>
            <a:r>
              <a:rPr lang="en-US" altLang="zh-CN" dirty="0"/>
              <a:t>:</a:t>
            </a:r>
          </a:p>
          <a:p>
            <a:pPr marL="457200" lvl="1" indent="0">
              <a:buNone/>
            </a:pPr>
            <a:r>
              <a:rPr lang="en-US" altLang="zh-CN" dirty="0"/>
              <a:t>           ”</a:t>
            </a:r>
            <a:r>
              <a:rPr lang="zh-CN" altLang="en-US" dirty="0"/>
              <a:t>学号姓名</a:t>
            </a:r>
            <a:r>
              <a:rPr lang="en-US" altLang="zh-CN" dirty="0"/>
              <a:t>-</a:t>
            </a:r>
            <a:r>
              <a:rPr lang="zh-CN" altLang="en-US" dirty="0"/>
              <a:t>第</a:t>
            </a:r>
            <a:r>
              <a:rPr lang="en-US" altLang="zh-CN" dirty="0"/>
              <a:t>x</a:t>
            </a:r>
            <a:r>
              <a:rPr lang="zh-CN" altLang="en-US" dirty="0"/>
              <a:t>章作业</a:t>
            </a:r>
            <a:r>
              <a:rPr lang="en-US" altLang="zh-CN" dirty="0"/>
              <a:t>.docx</a:t>
            </a:r>
            <a:r>
              <a:rPr lang="zh-CN" altLang="en-US" dirty="0"/>
              <a:t>“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本章是第</a:t>
            </a:r>
            <a:r>
              <a:rPr lang="en-US" altLang="zh-CN" dirty="0"/>
              <a:t>3</a:t>
            </a:r>
            <a:r>
              <a:rPr lang="zh-CN" altLang="en-US" dirty="0"/>
              <a:t>章，</a:t>
            </a:r>
            <a:r>
              <a:rPr lang="en-US" altLang="zh-CN" dirty="0"/>
              <a:t>x</a:t>
            </a:r>
            <a:r>
              <a:rPr lang="zh-CN" altLang="en-US" dirty="0"/>
              <a:t>写</a:t>
            </a:r>
            <a:r>
              <a:rPr lang="en-US" altLang="zh-CN" dirty="0"/>
              <a:t>3</a:t>
            </a:r>
            <a:r>
              <a:rPr lang="zh-CN" altLang="en-US" dirty="0"/>
              <a:t>，其他章类推。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上传作业到教学网站</a:t>
            </a:r>
            <a:r>
              <a:rPr lang="en-US" altLang="zh-CN" dirty="0"/>
              <a:t>-</a:t>
            </a:r>
            <a:r>
              <a:rPr lang="zh-CN" altLang="en-US" dirty="0"/>
              <a:t>提交作业，周次选择</a:t>
            </a:r>
            <a:r>
              <a:rPr lang="en-US" altLang="zh-CN" dirty="0"/>
              <a:t>x</a:t>
            </a:r>
            <a:r>
              <a:rPr lang="zh-CN" altLang="en-US" dirty="0"/>
              <a:t>，即第几章作业就传到周次为几。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3E4F9-A110-4164-A5AB-9FA113E6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231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1957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327525" y="1499870"/>
            <a:ext cx="3436620" cy="922020"/>
          </a:xfrm>
          <a:prstGeom prst="rect">
            <a:avLst/>
          </a:prstGeom>
          <a:noFill/>
        </p:spPr>
        <p:txBody>
          <a:bodyPr wrap="square" rtlCol="0">
            <a:normAutofit fontScale="67500" lnSpcReduction="20000"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清华大学出版社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谢谢观赏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CD3DB42-A761-4D80-B07E-C65985A3E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2601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2"/>
  <p:tag name="KSO_WM_SLIDE_TYPE" val="endPage"/>
  <p:tag name="KSO_WM_SLIDE_SUBTYPE" val="pureTx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i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NOCLEAR" val="0"/>
  <p:tag name="KSO_WM_UNIT_TYPE" val="i"/>
  <p:tag name="KSO_WM_UNIT_INDEX" val="1"/>
  <p:tag name="KSO_WM_UNIT_PRESET_TEXT" val="2019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a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PRESET_TEXT" val="谢谢观赏"/>
  <p:tag name="KSO_WM_UNIT_NOCLEAR" val="1"/>
  <p:tag name="KSO_WM_UNIT_VALUE" val="6"/>
  <p:tag name="KSO_WM_UNIT_TYPE" val="a"/>
  <p:tag name="KSO_WM_UNIT_INDEX" val="1"/>
</p:tagLst>
</file>

<file path=ppt/theme/theme1.xml><?xml version="1.0" encoding="utf-8"?>
<a:theme xmlns:a="http://schemas.openxmlformats.org/drawingml/2006/main" name="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当图网1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水汽尾迹">
  <a:themeElements>
    <a:clrScheme name="水汽尾迹">
      <a:dk1>
        <a:sysClr val="windowText" lastClr="FFFFFF"/>
      </a:dk1>
      <a:lt1>
        <a:sysClr val="window" lastClr="000000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水汽尾迹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汽尾迹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4216</Words>
  <Application>Microsoft Office PowerPoint</Application>
  <PresentationFormat>宽屏</PresentationFormat>
  <Paragraphs>682</Paragraphs>
  <Slides>70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70</vt:i4>
      </vt:variant>
    </vt:vector>
  </HeadingPairs>
  <TitlesOfParts>
    <vt:vector size="83" baseType="lpstr">
      <vt:lpstr>黑体</vt:lpstr>
      <vt:lpstr>华文新魏</vt:lpstr>
      <vt:lpstr>宋体</vt:lpstr>
      <vt:lpstr>微软雅黑</vt:lpstr>
      <vt:lpstr>Arial</vt:lpstr>
      <vt:lpstr>Calibri</vt:lpstr>
      <vt:lpstr>Calibri Light</vt:lpstr>
      <vt:lpstr>Century Gothic</vt:lpstr>
      <vt:lpstr>Viner Hand ITC</vt:lpstr>
      <vt:lpstr>Wingdings</vt:lpstr>
      <vt:lpstr>当图网</vt:lpstr>
      <vt:lpstr>当图网1</vt:lpstr>
      <vt:lpstr>水汽尾迹</vt:lpstr>
      <vt:lpstr>第15章 Python网站开发*</vt:lpstr>
      <vt:lpstr>PowerPoint 演示文稿</vt:lpstr>
      <vt:lpstr>目录</vt:lpstr>
      <vt:lpstr>15.1 Web开发框架概述</vt:lpstr>
      <vt:lpstr>框架干什么用的？</vt:lpstr>
      <vt:lpstr>15.1.1 常用的Web开发框架</vt:lpstr>
      <vt:lpstr>15.1.2 MVC和MTV模式简介</vt:lpstr>
      <vt:lpstr>15.2 Django开发环境的搭建</vt:lpstr>
      <vt:lpstr>15.2.1 Django框架的安装</vt:lpstr>
      <vt:lpstr>15.2.2 创建第一个Django项目</vt:lpstr>
      <vt:lpstr>（1）创建Django项目</vt:lpstr>
      <vt:lpstr>（2）创建Django应用</vt:lpstr>
      <vt:lpstr>（3）检测项目是否正常</vt:lpstr>
      <vt:lpstr>（4）配置简单视图</vt:lpstr>
      <vt:lpstr>（5）绑定URL与视图函数</vt:lpstr>
      <vt:lpstr>15.3 Django框架的应用</vt:lpstr>
      <vt:lpstr>15.3.1 数据库配置</vt:lpstr>
      <vt:lpstr>数据库在配置信息</vt:lpstr>
      <vt:lpstr>常见数据库引擎设置</vt:lpstr>
      <vt:lpstr>测试数据库配置</vt:lpstr>
      <vt:lpstr>15.3.2 创建数据模型</vt:lpstr>
      <vt:lpstr>常用的数据模型字段类型</vt:lpstr>
      <vt:lpstr>创建数据模型</vt:lpstr>
      <vt:lpstr>激活数据模型</vt:lpstr>
      <vt:lpstr>同步数据库</vt:lpstr>
      <vt:lpstr>数据访问</vt:lpstr>
      <vt:lpstr>加入站点管理</vt:lpstr>
      <vt:lpstr>（1）创建管理者账号</vt:lpstr>
      <vt:lpstr>（2）启动开发服务器</vt:lpstr>
      <vt:lpstr>（3）登录管理者账号</vt:lpstr>
      <vt:lpstr>（4）注册模型类</vt:lpstr>
      <vt:lpstr>15.3.3 创建视图</vt:lpstr>
      <vt:lpstr>1. 视图函数</vt:lpstr>
      <vt:lpstr>将视图导入urls中</vt:lpstr>
      <vt:lpstr>测试视图</vt:lpstr>
      <vt:lpstr>2. 实际使用的视图</vt:lpstr>
      <vt:lpstr>3. 引发404错误</vt:lpstr>
      <vt:lpstr>15.3.4 模板系统</vt:lpstr>
      <vt:lpstr>1. 设置模板文件</vt:lpstr>
      <vt:lpstr>Index.html中的代码：</vt:lpstr>
      <vt:lpstr>detail.html中的内容</vt:lpstr>
      <vt:lpstr>2. 去除模板中的URL硬代码</vt:lpstr>
      <vt:lpstr>3.添加URL名称空间</vt:lpstr>
      <vt:lpstr>4. 表单处理</vt:lpstr>
      <vt:lpstr>创建polls文件夹下的results.html模板，内容如下：</vt:lpstr>
      <vt:lpstr>5. 泛型视图</vt:lpstr>
      <vt:lpstr>polls文件夹中的views.py修改代码如下：</vt:lpstr>
      <vt:lpstr>接上一页</vt:lpstr>
      <vt:lpstr>接上一页</vt:lpstr>
      <vt:lpstr>15.3.5 部署Django项目</vt:lpstr>
      <vt:lpstr>（1）安装Apache2</vt:lpstr>
      <vt:lpstr>（2）安装mod_wsgi</vt:lpstr>
      <vt:lpstr>（3）发布Django项目</vt:lpstr>
      <vt:lpstr>接上一页</vt:lpstr>
      <vt:lpstr>（4）修改settings.py文件</vt:lpstr>
      <vt:lpstr>（5）重启Apache服务器</vt:lpstr>
      <vt:lpstr>15.4 Django框架的高级应用</vt:lpstr>
      <vt:lpstr>15.4.1 Session</vt:lpstr>
      <vt:lpstr>1. 启用Session</vt:lpstr>
      <vt:lpstr>2. Session配置</vt:lpstr>
      <vt:lpstr>3. 使用Session</vt:lpstr>
      <vt:lpstr>15.5 Web开发应用案例</vt:lpstr>
      <vt:lpstr>例15-1编写一个小型的图书管理系统，实现展示、添加和编辑出版社、书籍和作者等功能。</vt:lpstr>
      <vt:lpstr>例15-1 （续1）</vt:lpstr>
      <vt:lpstr>例15-1 （续2）</vt:lpstr>
      <vt:lpstr>例15-1 （续3）</vt:lpstr>
      <vt:lpstr>本章习题  P</vt:lpstr>
      <vt:lpstr>课后作业</vt:lpstr>
      <vt:lpstr>PowerPoint 演示文稿</vt:lpstr>
      <vt:lpstr>谢谢观赏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当图网</dc:title>
  <dc:creator>钱毅湘</dc:creator>
  <cp:lastModifiedBy>Ge Julia</cp:lastModifiedBy>
  <cp:revision>63</cp:revision>
  <dcterms:created xsi:type="dcterms:W3CDTF">2018-10-09T06:59:00Z</dcterms:created>
  <dcterms:modified xsi:type="dcterms:W3CDTF">2021-03-16T05:06:28Z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