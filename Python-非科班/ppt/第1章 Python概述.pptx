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6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1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2.xml" ContentType="application/vnd.openxmlformats-officedocument.presentationml.notesSlide+xml"/>
  <Override PartName="/ppt/tags/tag1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1.xml" ContentType="application/vnd.openxmlformats-officedocument.presentationml.tags+xml"/>
  <Override PartName="/ppt/notesSlides/notesSlide5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6" r:id="rId3"/>
    <p:sldMasterId id="2147483688" r:id="rId4"/>
    <p:sldMasterId id="2147483745" r:id="rId5"/>
  </p:sldMasterIdLst>
  <p:notesMasterIdLst>
    <p:notesMasterId r:id="rId58"/>
  </p:notesMasterIdLst>
  <p:sldIdLst>
    <p:sldId id="484" r:id="rId6"/>
    <p:sldId id="485" r:id="rId7"/>
    <p:sldId id="483" r:id="rId8"/>
    <p:sldId id="498" r:id="rId9"/>
    <p:sldId id="502" r:id="rId10"/>
    <p:sldId id="503" r:id="rId11"/>
    <p:sldId id="504" r:id="rId12"/>
    <p:sldId id="505" r:id="rId13"/>
    <p:sldId id="508" r:id="rId14"/>
    <p:sldId id="542" r:id="rId15"/>
    <p:sldId id="488" r:id="rId16"/>
    <p:sldId id="499" r:id="rId17"/>
    <p:sldId id="506" r:id="rId18"/>
    <p:sldId id="507" r:id="rId19"/>
    <p:sldId id="509" r:id="rId20"/>
    <p:sldId id="510" r:id="rId21"/>
    <p:sldId id="511" r:id="rId22"/>
    <p:sldId id="513" r:id="rId23"/>
    <p:sldId id="512" r:id="rId24"/>
    <p:sldId id="515" r:id="rId25"/>
    <p:sldId id="514" r:id="rId26"/>
    <p:sldId id="516" r:id="rId27"/>
    <p:sldId id="517" r:id="rId28"/>
    <p:sldId id="489" r:id="rId29"/>
    <p:sldId id="500" r:id="rId30"/>
    <p:sldId id="518" r:id="rId31"/>
    <p:sldId id="531" r:id="rId32"/>
    <p:sldId id="532" r:id="rId33"/>
    <p:sldId id="520" r:id="rId34"/>
    <p:sldId id="521" r:id="rId35"/>
    <p:sldId id="523" r:id="rId36"/>
    <p:sldId id="524" r:id="rId37"/>
    <p:sldId id="525" r:id="rId38"/>
    <p:sldId id="526" r:id="rId39"/>
    <p:sldId id="538" r:id="rId40"/>
    <p:sldId id="527" r:id="rId41"/>
    <p:sldId id="528" r:id="rId42"/>
    <p:sldId id="529" r:id="rId43"/>
    <p:sldId id="530" r:id="rId44"/>
    <p:sldId id="490" r:id="rId45"/>
    <p:sldId id="501" r:id="rId46"/>
    <p:sldId id="539" r:id="rId47"/>
    <p:sldId id="540" r:id="rId48"/>
    <p:sldId id="541" r:id="rId49"/>
    <p:sldId id="543" r:id="rId50"/>
    <p:sldId id="533" r:id="rId51"/>
    <p:sldId id="534" r:id="rId52"/>
    <p:sldId id="535" r:id="rId53"/>
    <p:sldId id="536" r:id="rId54"/>
    <p:sldId id="544" r:id="rId55"/>
    <p:sldId id="537" r:id="rId56"/>
    <p:sldId id="497" r:id="rId57"/>
  </p:sldIdLst>
  <p:sldSz cx="12192000" cy="6858000"/>
  <p:notesSz cx="6858000" cy="9144000"/>
  <p:custDataLst>
    <p:tags r:id="rId5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660066"/>
    <a:srgbClr val="DDDDDD"/>
    <a:srgbClr val="003300"/>
    <a:srgbClr val="800080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howGuides="1">
      <p:cViewPr varScale="1">
        <p:scale>
          <a:sx n="75" d="100"/>
          <a:sy n="75" d="100"/>
        </p:scale>
        <p:origin x="60" y="116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presProps" Target="pres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196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24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6936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40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7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6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6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5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8.pn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10.png"/><Relationship Id="rId5" Type="http://schemas.openxmlformats.org/officeDocument/2006/relationships/tags" Target="../tags/tag27.xml"/><Relationship Id="rId10" Type="http://schemas.openxmlformats.org/officeDocument/2006/relationships/image" Target="../media/image9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11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5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2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3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11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11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4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5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7.png"/><Relationship Id="rId5" Type="http://schemas.openxmlformats.org/officeDocument/2006/relationships/tags" Target="../tags/tag93.xml"/><Relationship Id="rId10" Type="http://schemas.openxmlformats.org/officeDocument/2006/relationships/image" Target="../media/image16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9916E1-1CB0-4110-A39B-4783D430491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C3C0BA-23A0-4099-AA81-DAF9F0B4105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71047B-BD43-4600-BD89-6258A1DDCF1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1E4C40-8CAC-4086-B3D5-16ACB03FED7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4BEFC3-C38D-4381-8C75-BF64706F376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56F8726-BFAC-4C77-8324-177267D7B6D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F87727B-8CA2-4E9D-9C7F-2843D10E715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160132-05E1-4525-ABAC-231EFBB7981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C52D2D-2688-4D28-9D8A-7861EC3F2DB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19FDBB-1997-4E5E-AF3D-DB0FD851F0D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06BF9E-01D3-478F-8C2B-B75D7DE1711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71EC00C-3CE7-442F-8381-DC672A17696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019F93-70F3-47C4-AFB3-5B00FA4A82B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799CBE2-4E40-4B7F-B176-A2E6E1DC620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65A1E8C-BBD9-44FC-B275-EB474CCBEC1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397A8-00F8-4CDA-9366-9C345BBD5F2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DFAC07-0ABA-45FB-AE22-30554D651E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DFDF131-D3B5-4168-8BA6-54F718389B8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40139F-84FD-430D-BEA0-62A22F93DDE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F182449-AC82-4EBC-A4FB-DA7AD07F6BD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AED0148-FCC5-4F59-BC7B-4B9366B8225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FF30B3E-8042-4272-94D7-D3A29722C59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79FDD8D-4F3A-4F22-BD56-83F955D098F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2ADA03-D30A-430F-804F-41C712A495F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19E313-7D9F-454B-8551-B53D2AE0F4E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C7CB090-20EB-4A70-ACCB-AA609A73766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E2EFAB3-6CC1-428C-8ED2-B514A633595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80A97F9-CE7E-4A08-95C4-9BDB5448656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320B6BE-CB48-45D2-96C8-9A4E606C2F3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BCAF4DB-1D51-40E9-A08B-AAE94086381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37F15BD-22C5-429A-B309-1D98757BE3B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3725680-43FB-42F6-B6FB-D57B5832CE4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A87DB2-DE02-4BAE-A6BD-D5109B79534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FFAF1F0-6F3E-4F6F-9BCF-AD6C12626D9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FA7AD2-B60B-4B41-88BE-B118B05944B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3FEED0-4DAA-405A-8E4F-C2635BF0FA6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F405CB9-6EF3-4281-A4CE-491F1993B6C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04E518-DD6D-4673-B61D-2CDCD859427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ACEB5D-91A6-4C59-A7A6-FC54F19B905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B1D4C7F-5C3D-4886-9100-8AD7B6EBD97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F508039-3816-4D32-96CD-1C661714FF2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BE4DA1-2EFA-4B06-B188-E09B9F98CB9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1A2969-23CD-4913-B35E-854487D37BC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3B38F7-7AAE-48B6-A578-FC8B25A5AA1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EAD0BD5-EBFE-403D-A84D-9A61AC3F495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D1F7AC-C947-42F4-83FD-A2828274D9F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2D93DB9-ED51-46E8-9FE8-78AFA7ECB86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919F51-CBE9-48DE-870B-E70C3476CD9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2EDE8E-D007-403C-A3F0-B1B21F9FEC0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1DD15B4-88E2-4F8D-8D22-E96C2994F7D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DB1220-8963-4134-9DDC-03F5422DE6F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BBC9433-4BC6-49F4-AD0C-EE64FC56A5B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93DE8-6194-44D4-ADFE-DD8E6CA46B3C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65734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  <a:lvl2pPr>
              <a:defRPr sz="3200" b="1">
                <a:solidFill>
                  <a:schemeClr val="tx1"/>
                </a:solidFill>
              </a:defRPr>
            </a:lvl2pPr>
            <a:lvl3pPr>
              <a:defRPr sz="3200" b="1">
                <a:solidFill>
                  <a:schemeClr val="tx1"/>
                </a:solidFill>
              </a:defRPr>
            </a:lvl3pPr>
            <a:lvl4pPr>
              <a:defRPr sz="3200" b="1">
                <a:solidFill>
                  <a:schemeClr val="tx1"/>
                </a:solidFill>
              </a:defRPr>
            </a:lvl4pPr>
            <a:lvl5pPr>
              <a:defRPr sz="32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CC86-D715-467B-8FA5-46489D600A4F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64352" y="6276384"/>
            <a:ext cx="2743200" cy="365125"/>
          </a:xfrm>
        </p:spPr>
        <p:txBody>
          <a:bodyPr/>
          <a:lstStyle>
            <a:lvl1pPr>
              <a:defRPr sz="2800" b="1"/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29353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B525-6713-4ACC-AC72-C853B6A0727A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3850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08268-524B-46E6-8D05-D2830F7AF26A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3720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ED0D-11D8-4B9F-93AF-E22608880DE8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0779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F7E7B-CAB9-414C-9ECD-41874FEDB512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2277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6FC7B-7D95-4256-9481-F9E9F74BEA8E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3961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9A432-AE63-47F4-9ACC-B4663A2B6C75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67217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0AA4-9CA8-45B4-96DC-380CC961C87C}" type="datetime1">
              <a:rPr lang="zh-CN" altLang="en-US" smtClean="0"/>
              <a:t>2024/2/26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3594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2EA-5F44-4898-AB51-BC1B8C993B57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774473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E7A-2252-4B22-8D0D-DD9CCED9FACB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64155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10566ADD-4ACE-4822-A1E4-772485A6E272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b="1" spc="600" baseline="0">
                <a:solidFill>
                  <a:schemeClr val="tx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15038130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379E2F7-517E-4496-8F2A-8038F79476BF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26743077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305195E8-678B-4D93-921D-CAE0B26941C7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B61E670B-BF42-4ACA-95D4-8D9E361A44D3}" type="datetime1">
              <a:rPr lang="zh-CN" altLang="en-US" smtClean="0"/>
              <a:t>2024/2/26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8D92BAEF-5A7E-44F0-B8BF-0FC81C2C9EB8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75368F4-27DC-462C-A545-E2645997B789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BC588CF8-4B4E-420D-9DB7-FD4B3EB40CD4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ACA4C37D-75CC-4700-BDEB-D74A3E24BB10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603A261-3F0E-4BD3-A5AD-D059A847E24A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BBBA916B-91DD-4533-B137-1C61D1B7CFF4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4DAC6F51-9C9A-4EF3-9323-B46EEA1807D3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83797A2F-98A7-4D71-B7C4-E356E761EA2C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B0175-425C-409A-9F3E-616943FCAE08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37912-C6C2-4D98-9F14-43F72A53B203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4FA6-8EA9-47BB-A3EB-62931F264F35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ED127-3210-4DFE-8953-087FD231342D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DF56-0C91-4992-A806-0C99933FC66E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43F6-5B03-472A-B85D-C70A9626B88B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357-A8EC-43D6-80F8-E7F5880C778B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9AA0F-1376-4B5F-8F13-1ACE6F10B65E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39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73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theme" Target="../theme/theme5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1A7B75-B1EC-4A2F-AF73-CFAC019DCD0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D93F69-3622-469A-8F1F-CDBC2649E56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43D9066-58DB-4C0E-9629-D68A95761E0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00B877-BFD2-4A60-BA9A-5E23DB01746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transition/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4F213CF-E7D2-4A4F-A8A9-3A4BFDC0D4F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3263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08" r:id="rId14"/>
    <p:sldLayoutId id="2147483712" r:id="rId15"/>
    <p:sldLayoutId id="2147483714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tags" Target="../tags/tag9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9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10" Type="http://schemas.openxmlformats.org/officeDocument/2006/relationships/slideLayout" Target="../slideLayouts/slideLayout54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0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5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5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5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5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5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5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5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2540" y="2292350"/>
            <a:ext cx="9437370" cy="1151255"/>
          </a:xfrm>
        </p:spPr>
        <p:txBody>
          <a:bodyPr/>
          <a:lstStyle/>
          <a:p>
            <a:r>
              <a:rPr lang="zh-CN" altLang="en-US" dirty="0">
                <a:latin typeface="+mj-lt"/>
                <a:ea typeface="+mj-ea"/>
                <a:sym typeface="+mn-ea"/>
              </a:rPr>
              <a:t>第</a:t>
            </a:r>
            <a:r>
              <a:rPr lang="en-US" altLang="zh-CN" dirty="0">
                <a:latin typeface="+mj-lt"/>
                <a:ea typeface="+mj-ea"/>
                <a:sym typeface="+mn-ea"/>
              </a:rPr>
              <a:t>1</a:t>
            </a:r>
            <a:r>
              <a:rPr lang="zh-CN" altLang="en-US" dirty="0">
                <a:latin typeface="+mj-lt"/>
                <a:ea typeface="+mj-ea"/>
                <a:sym typeface="+mn-ea"/>
              </a:rPr>
              <a:t>章 </a:t>
            </a:r>
            <a:r>
              <a:rPr lang="en-US" altLang="zh-CN" dirty="0">
                <a:latin typeface="+mj-lt"/>
                <a:ea typeface="+mj-ea"/>
                <a:sym typeface="+mn-ea"/>
              </a:rPr>
              <a:t>Python</a:t>
            </a:r>
            <a:r>
              <a:rPr lang="zh-CN" altLang="en-US" dirty="0">
                <a:latin typeface="+mj-lt"/>
                <a:ea typeface="+mj-ea"/>
                <a:sym typeface="+mn-ea"/>
              </a:rPr>
              <a:t>概述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82A42E-F62F-4BE6-A748-893C1551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 advClick="0" advTm="0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1.1 Python</a:t>
            </a:r>
            <a:r>
              <a:rPr sz="3200" dirty="0"/>
              <a:t>简介</a:t>
            </a:r>
            <a:endParaRPr lang="zh-CN" altLang="en-US" sz="3200" dirty="0"/>
          </a:p>
          <a:p>
            <a:r>
              <a:rPr lang="en-US" altLang="zh-CN" sz="3200" dirty="0"/>
              <a:t>1.2 Python</a:t>
            </a:r>
            <a:r>
              <a:rPr sz="3200" dirty="0"/>
              <a:t>开发环境</a:t>
            </a:r>
            <a:endParaRPr lang="zh-CN" altLang="en-US" sz="3200" dirty="0"/>
          </a:p>
          <a:p>
            <a:r>
              <a:rPr lang="en-US" altLang="zh-CN" sz="3200" dirty="0"/>
              <a:t>1.3 </a:t>
            </a:r>
            <a:r>
              <a:rPr sz="3200" dirty="0"/>
              <a:t>编写并运行一个</a:t>
            </a:r>
            <a:r>
              <a:rPr lang="en-US" altLang="zh-CN" sz="3200" dirty="0"/>
              <a:t>Python</a:t>
            </a:r>
            <a:r>
              <a:rPr sz="3200" dirty="0"/>
              <a:t>程序</a:t>
            </a:r>
            <a:endParaRPr lang="zh-CN" altLang="en-US" sz="3200" dirty="0"/>
          </a:p>
          <a:p>
            <a:r>
              <a:rPr lang="en-US" altLang="zh-CN" sz="3200" dirty="0"/>
              <a:t>1.4 </a:t>
            </a:r>
            <a:r>
              <a:rPr sz="3200" dirty="0"/>
              <a:t>安装扩展库的方法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68AC05E-FA45-40FF-B86E-1A9BA45D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1276350"/>
          </a:xfrm>
        </p:spPr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1.1 Python</a:t>
            </a:r>
            <a:r>
              <a:rPr lang="zh-CN" altLang="en-US" dirty="0">
                <a:latin typeface="+mj-lt"/>
                <a:ea typeface="+mj-ea"/>
                <a:sym typeface="+mn-ea"/>
              </a:rPr>
              <a:t>简介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FC4D93F-8E68-4CD8-B7C6-D0FD599A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1.1.1 Python</a:t>
            </a:r>
            <a:r>
              <a:rPr lang="zh-CN" altLang="en-US" dirty="0"/>
              <a:t>的发展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gray">
          <a:xfrm rot="18445331">
            <a:off x="4654453" y="3195218"/>
            <a:ext cx="1469033" cy="793751"/>
          </a:xfrm>
          <a:prstGeom prst="rightArrow">
            <a:avLst>
              <a:gd name="adj1" fmla="val 49380"/>
              <a:gd name="adj2" fmla="val 68709"/>
            </a:avLst>
          </a:prstGeom>
          <a:noFill/>
          <a:ln w="19050">
            <a:solidFill>
              <a:schemeClr val="tx1"/>
            </a:solidFill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endParaRPr lang="zh-CN" altLang="zh-CN" sz="2400">
              <a:solidFill>
                <a:schemeClr val="accent1"/>
              </a:solidFill>
              <a:cs typeface="+mn-ea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gray">
          <a:xfrm rot="3096833">
            <a:off x="6861492" y="3231482"/>
            <a:ext cx="1480327" cy="821267"/>
          </a:xfrm>
          <a:prstGeom prst="rightArrow">
            <a:avLst>
              <a:gd name="adj1" fmla="val 49380"/>
              <a:gd name="adj2" fmla="val 60486"/>
            </a:avLst>
          </a:prstGeom>
          <a:noFill/>
          <a:ln w="19050">
            <a:solidFill>
              <a:schemeClr val="tx1"/>
            </a:solidFill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endParaRPr lang="zh-CN" altLang="zh-CN" sz="2400">
              <a:solidFill>
                <a:schemeClr val="accent1"/>
              </a:solidFill>
              <a:cs typeface="+mn-ea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14941" y="3992751"/>
            <a:ext cx="491033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F3F3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buClr>
                <a:schemeClr val="folHlink"/>
              </a:buClr>
            </a:pPr>
            <a:r>
              <a:rPr lang="zh-CN" altLang="en-US" sz="2000" b="1" dirty="0">
                <a:cs typeface="+mn-ea"/>
              </a:rPr>
              <a:t>包含了一系列的文法和语法的要求</a:t>
            </a:r>
            <a:endParaRPr lang="en-US" altLang="zh-CN" sz="2000" b="1" dirty="0">
              <a:cs typeface="+mn-ea"/>
            </a:endParaRPr>
          </a:p>
          <a:p>
            <a:pPr algn="ctr" eaLnBrk="1" hangingPunct="1">
              <a:buClr>
                <a:schemeClr val="folHlink"/>
              </a:buClr>
            </a:pPr>
            <a:r>
              <a:rPr lang="zh-CN" altLang="en-US" sz="2000" b="1" dirty="0">
                <a:cs typeface="+mn-ea"/>
              </a:rPr>
              <a:t>按照这些规则编写的程序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519936" y="1334970"/>
            <a:ext cx="1832554" cy="1697567"/>
            <a:chOff x="3729217" y="1124619"/>
            <a:chExt cx="1374416" cy="1273175"/>
          </a:xfrm>
          <a:noFill/>
        </p:grpSpPr>
        <p:sp>
          <p:nvSpPr>
            <p:cNvPr id="8" name="Oval 8"/>
            <p:cNvSpPr>
              <a:spLocks noChangeArrowheads="1"/>
            </p:cNvSpPr>
            <p:nvPr/>
          </p:nvSpPr>
          <p:spPr bwMode="gray">
            <a:xfrm>
              <a:off x="3771900" y="1124619"/>
              <a:ext cx="1289050" cy="1273175"/>
            </a:xfrm>
            <a:prstGeom prst="ellipse">
              <a:avLst/>
            </a:prstGeom>
            <a:grpFill/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endParaRPr lang="zh-CN" altLang="zh-CN" sz="3200">
                <a:solidFill>
                  <a:schemeClr val="accent1"/>
                </a:solidFill>
                <a:cs typeface="+mn-ea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gray">
            <a:xfrm>
              <a:off x="3729217" y="1547473"/>
              <a:ext cx="1374416" cy="438581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zh-CN" altLang="en-US" sz="3200" b="1" dirty="0">
                  <a:solidFill>
                    <a:schemeClr val="accent1"/>
                  </a:solidFill>
                  <a:cs typeface="+mn-ea"/>
                </a:rPr>
                <a:t>程序设计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513600" y="4351221"/>
            <a:ext cx="1718733" cy="1697567"/>
            <a:chOff x="5224463" y="3386807"/>
            <a:chExt cx="1289050" cy="1273175"/>
          </a:xfrm>
          <a:noFill/>
        </p:grpSpPr>
        <p:sp>
          <p:nvSpPr>
            <p:cNvPr id="11" name="Oval 12"/>
            <p:cNvSpPr>
              <a:spLocks noChangeArrowheads="1"/>
            </p:cNvSpPr>
            <p:nvPr/>
          </p:nvSpPr>
          <p:spPr bwMode="gray">
            <a:xfrm>
              <a:off x="5224463" y="3386807"/>
              <a:ext cx="1289050" cy="1273175"/>
            </a:xfrm>
            <a:prstGeom prst="ellipse">
              <a:avLst/>
            </a:prstGeom>
            <a:grpFill/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endParaRPr lang="zh-CN" altLang="zh-CN" sz="2400">
                <a:solidFill>
                  <a:schemeClr val="accent1"/>
                </a:solidFill>
                <a:cs typeface="+mn-ea"/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gray">
            <a:xfrm>
              <a:off x="5490759" y="3770775"/>
              <a:ext cx="756458" cy="438581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zh-CN" altLang="en-US" sz="3200" b="1" dirty="0">
                  <a:solidFill>
                    <a:schemeClr val="accent1"/>
                  </a:solidFill>
                  <a:cs typeface="+mn-ea"/>
                </a:rPr>
                <a:t>程序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697248" y="4351221"/>
            <a:ext cx="1718733" cy="1697567"/>
            <a:chOff x="2362200" y="3386807"/>
            <a:chExt cx="1289050" cy="1273175"/>
          </a:xfrm>
          <a:noFill/>
        </p:grpSpPr>
        <p:sp>
          <p:nvSpPr>
            <p:cNvPr id="14" name="Oval 16"/>
            <p:cNvSpPr>
              <a:spLocks noChangeArrowheads="1"/>
            </p:cNvSpPr>
            <p:nvPr/>
          </p:nvSpPr>
          <p:spPr bwMode="gray">
            <a:xfrm>
              <a:off x="2362200" y="3386807"/>
              <a:ext cx="1289050" cy="1273175"/>
            </a:xfrm>
            <a:prstGeom prst="ellipse">
              <a:avLst/>
            </a:prstGeom>
            <a:grpFill/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endParaRPr lang="zh-CN" altLang="zh-CN" sz="2400">
                <a:solidFill>
                  <a:schemeClr val="accent1"/>
                </a:solidFill>
                <a:cs typeface="+mn-ea"/>
              </a:endParaRPr>
            </a:p>
          </p:txBody>
        </p:sp>
        <p:sp>
          <p:nvSpPr>
            <p:cNvPr id="15" name="Rectangle 18"/>
            <p:cNvSpPr>
              <a:spLocks noChangeArrowheads="1"/>
            </p:cNvSpPr>
            <p:nvPr/>
          </p:nvSpPr>
          <p:spPr bwMode="gray">
            <a:xfrm>
              <a:off x="2392841" y="3676008"/>
              <a:ext cx="1220527" cy="715580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accent1"/>
                  </a:solidFill>
                  <a:cs typeface="+mn-ea"/>
                </a:rPr>
                <a:t>程序设计</a:t>
              </a:r>
              <a:endParaRPr lang="en-US" altLang="zh-CN" sz="2800" b="1" dirty="0">
                <a:solidFill>
                  <a:schemeClr val="accent1"/>
                </a:solidFill>
                <a:cs typeface="+mn-ea"/>
              </a:endParaRPr>
            </a:p>
            <a:p>
              <a:pPr algn="ctr" eaLnBrk="1" hangingPunct="1"/>
              <a:r>
                <a:rPr lang="zh-CN" altLang="en-US" sz="2800" b="1" dirty="0">
                  <a:solidFill>
                    <a:schemeClr val="accent1"/>
                  </a:solidFill>
                  <a:cs typeface="+mn-ea"/>
                </a:rPr>
                <a:t>语言</a:t>
              </a:r>
            </a:p>
          </p:txBody>
        </p:sp>
      </p:grp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7087030" y="1362572"/>
            <a:ext cx="358351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F3F3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buClr>
                <a:schemeClr val="folHlink"/>
              </a:buClr>
            </a:pPr>
            <a:r>
              <a:rPr lang="zh-CN" altLang="en-US" sz="2400" b="1" dirty="0">
                <a:cs typeface="+mn-ea"/>
              </a:rPr>
              <a:t>编写程序的过程</a:t>
            </a:r>
          </a:p>
          <a:p>
            <a:pPr eaLnBrk="1" hangingPunct="1">
              <a:buClr>
                <a:schemeClr val="folHlink"/>
              </a:buClr>
              <a:buFont typeface="Wingdings" pitchFamily="2" charset="2"/>
              <a:buNone/>
            </a:pPr>
            <a:endParaRPr lang="zh-CN" altLang="en-US" sz="2400" b="1" dirty="0">
              <a:cs typeface="+mn-ea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7995361" y="4244443"/>
            <a:ext cx="3860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F3F3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buClr>
                <a:schemeClr val="folHlink"/>
              </a:buClr>
            </a:pPr>
            <a:r>
              <a:rPr lang="zh-CN" altLang="en-US" sz="2400" b="1" dirty="0">
                <a:cs typeface="+mn-ea"/>
              </a:rPr>
              <a:t>    可以连续执行的</a:t>
            </a:r>
            <a:endParaRPr lang="en-US" altLang="zh-CN" sz="2400" b="1" dirty="0">
              <a:cs typeface="+mn-ea"/>
            </a:endParaRPr>
          </a:p>
          <a:p>
            <a:pPr algn="r" eaLnBrk="1" hangingPunct="1">
              <a:buClr>
                <a:schemeClr val="folHlink"/>
              </a:buClr>
            </a:pPr>
            <a:r>
              <a:rPr lang="zh-CN" altLang="en-US" sz="2400" b="1" dirty="0">
                <a:cs typeface="+mn-ea"/>
              </a:rPr>
              <a:t>一条条指令的序列</a:t>
            </a:r>
          </a:p>
          <a:p>
            <a:pPr algn="ctr" eaLnBrk="1" hangingPunct="1">
              <a:buClr>
                <a:schemeClr val="folHlink"/>
              </a:buClr>
              <a:buFont typeface="Wingdings" pitchFamily="2" charset="2"/>
              <a:buNone/>
            </a:pPr>
            <a:endParaRPr lang="zh-CN" altLang="en-US" sz="2400" b="1" dirty="0">
              <a:cs typeface="+mn-ea"/>
            </a:endParaRP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46FD4F43-857E-4222-B604-5A786E69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343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程序设计概述</a:t>
            </a:r>
          </a:p>
        </p:txBody>
      </p:sp>
      <p:sp>
        <p:nvSpPr>
          <p:cNvPr id="4" name="矩形 3"/>
          <p:cNvSpPr/>
          <p:nvPr/>
        </p:nvSpPr>
        <p:spPr>
          <a:xfrm>
            <a:off x="4727848" y="1556792"/>
            <a:ext cx="5260199" cy="1189025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216000" rIns="75520" bIns="3776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tx1"/>
                </a:solidFill>
              </a:rPr>
              <a:t>接近人类日常语言的程序设计语言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</a:rPr>
              <a:t>C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Java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C++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C#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Python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PHP</a:t>
            </a:r>
            <a:r>
              <a:rPr lang="zh-CN" altLang="en-US" sz="2000" dirty="0">
                <a:solidFill>
                  <a:schemeClr val="tx1"/>
                </a:solidFill>
              </a:rPr>
              <a:t>等</a:t>
            </a:r>
          </a:p>
        </p:txBody>
      </p:sp>
      <p:sp>
        <p:nvSpPr>
          <p:cNvPr id="5" name="矩形 4"/>
          <p:cNvSpPr/>
          <p:nvPr/>
        </p:nvSpPr>
        <p:spPr>
          <a:xfrm>
            <a:off x="5415730" y="1380614"/>
            <a:ext cx="3875245" cy="46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高级语言</a:t>
            </a:r>
          </a:p>
        </p:txBody>
      </p:sp>
      <p:sp>
        <p:nvSpPr>
          <p:cNvPr id="6" name="六边形 5"/>
          <p:cNvSpPr/>
          <p:nvPr/>
        </p:nvSpPr>
        <p:spPr>
          <a:xfrm>
            <a:off x="1919536" y="2745817"/>
            <a:ext cx="2111239" cy="1778805"/>
          </a:xfrm>
          <a:prstGeom prst="hexagon">
            <a:avLst/>
          </a:pr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7760" rIns="0" bIns="37760" rtlCol="0" anchor="ctr"/>
          <a:lstStyle/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程序设计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语言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接箭头连接符 6"/>
          <p:cNvCxnSpPr>
            <a:stCxn id="6" idx="5"/>
            <a:endCxn id="4" idx="1"/>
          </p:cNvCxnSpPr>
          <p:nvPr/>
        </p:nvCxnSpPr>
        <p:spPr>
          <a:xfrm flipV="1">
            <a:off x="3586074" y="2151305"/>
            <a:ext cx="1141774" cy="594512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6" idx="0"/>
            <a:endCxn id="11" idx="1"/>
          </p:cNvCxnSpPr>
          <p:nvPr/>
        </p:nvCxnSpPr>
        <p:spPr>
          <a:xfrm>
            <a:off x="4030775" y="3635220"/>
            <a:ext cx="697073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6" idx="1"/>
            <a:endCxn id="14" idx="1"/>
          </p:cNvCxnSpPr>
          <p:nvPr/>
        </p:nvCxnSpPr>
        <p:spPr>
          <a:xfrm>
            <a:off x="3586074" y="4524622"/>
            <a:ext cx="1141774" cy="59451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727848" y="3040707"/>
            <a:ext cx="5260199" cy="1189025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216000" rIns="75520" bIns="3776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低级语言最接近机器语言，学习和使用难度都比较大</a:t>
            </a:r>
          </a:p>
        </p:txBody>
      </p:sp>
      <p:sp>
        <p:nvSpPr>
          <p:cNvPr id="12" name="矩形 11"/>
          <p:cNvSpPr/>
          <p:nvPr/>
        </p:nvSpPr>
        <p:spPr>
          <a:xfrm>
            <a:off x="5415730" y="2864529"/>
            <a:ext cx="3875245" cy="46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中、低级语言</a:t>
            </a:r>
          </a:p>
        </p:txBody>
      </p:sp>
      <p:sp>
        <p:nvSpPr>
          <p:cNvPr id="14" name="矩形 13"/>
          <p:cNvSpPr/>
          <p:nvPr/>
        </p:nvSpPr>
        <p:spPr>
          <a:xfrm>
            <a:off x="4727848" y="4524622"/>
            <a:ext cx="5260199" cy="1189025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216000" rIns="75520" bIns="3776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tx1"/>
                </a:solidFill>
              </a:rPr>
              <a:t>计算机可以直接识别和运行的语言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是一种二进制代码语言</a:t>
            </a:r>
          </a:p>
        </p:txBody>
      </p:sp>
      <p:sp>
        <p:nvSpPr>
          <p:cNvPr id="15" name="矩形 14"/>
          <p:cNvSpPr/>
          <p:nvPr/>
        </p:nvSpPr>
        <p:spPr>
          <a:xfrm>
            <a:off x="5415730" y="4348444"/>
            <a:ext cx="3875245" cy="46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机器语言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83BD666-7CE1-47E7-BF6D-767C8CD33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977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程序设计概述</a:t>
            </a:r>
          </a:p>
        </p:txBody>
      </p:sp>
      <p:sp>
        <p:nvSpPr>
          <p:cNvPr id="13" name="右箭头 12"/>
          <p:cNvSpPr>
            <a:spLocks noChangeArrowheads="1"/>
          </p:cNvSpPr>
          <p:nvPr/>
        </p:nvSpPr>
        <p:spPr bwMode="auto">
          <a:xfrm>
            <a:off x="4061906" y="2545776"/>
            <a:ext cx="4016752" cy="874496"/>
          </a:xfrm>
          <a:prstGeom prst="rightArrow">
            <a:avLst>
              <a:gd name="adj1" fmla="val 50000"/>
              <a:gd name="adj2" fmla="val 50092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lIns="108283" tIns="54141" rIns="108283" bIns="54141" anchor="ctr"/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zh-CN" altLang="en-US" sz="2100" b="1" kern="0" dirty="0">
              <a:solidFill>
                <a:sysClr val="window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/>
          <p:cNvSpPr>
            <a:spLocks noChangeArrowheads="1"/>
          </p:cNvSpPr>
          <p:nvPr/>
        </p:nvSpPr>
        <p:spPr bwMode="auto">
          <a:xfrm>
            <a:off x="1983208" y="1916832"/>
            <a:ext cx="2117140" cy="213238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lIns="108283" tIns="54141" rIns="108283" bIns="54141" anchor="ctr"/>
          <a:lstStyle/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高级语言</a:t>
            </a:r>
            <a:endParaRPr lang="en-US" altLang="zh-CN" sz="240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源程序</a:t>
            </a:r>
          </a:p>
        </p:txBody>
      </p:sp>
      <p:sp>
        <p:nvSpPr>
          <p:cNvPr id="18" name="椭圆 17"/>
          <p:cNvSpPr>
            <a:spLocks noChangeArrowheads="1"/>
          </p:cNvSpPr>
          <p:nvPr/>
        </p:nvSpPr>
        <p:spPr bwMode="auto">
          <a:xfrm>
            <a:off x="8040216" y="1916832"/>
            <a:ext cx="2119015" cy="213238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lIns="108283" tIns="54141" rIns="108283" bIns="54141" anchor="ctr"/>
          <a:lstStyle/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二进制机器指令</a:t>
            </a:r>
          </a:p>
        </p:txBody>
      </p:sp>
      <p:sp>
        <p:nvSpPr>
          <p:cNvPr id="19" name="矩形 18"/>
          <p:cNvSpPr/>
          <p:nvPr/>
        </p:nvSpPr>
        <p:spPr>
          <a:xfrm>
            <a:off x="5084847" y="2322911"/>
            <a:ext cx="1678335" cy="1395778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sx="97000" sy="97000" algn="ctr" rotWithShape="0">
              <a:srgbClr val="000000">
                <a:alpha val="40000"/>
              </a:srgbClr>
            </a:outerShdw>
          </a:effectLst>
        </p:spPr>
        <p:txBody>
          <a:bodyPr lIns="108283" tIns="54141" rIns="108283" bIns="54141" anchor="ctr"/>
          <a:lstStyle/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语言处理</a:t>
            </a:r>
            <a:endParaRPr lang="en-US" altLang="zh-CN" sz="2000" kern="0" dirty="0">
              <a:latin typeface="微软雅黑" pitchFamily="34" charset="-122"/>
              <a:ea typeface="微软雅黑" pitchFamily="34" charset="-122"/>
            </a:endParaRPr>
          </a:p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程序</a:t>
            </a:r>
          </a:p>
        </p:txBody>
      </p:sp>
      <p:sp>
        <p:nvSpPr>
          <p:cNvPr id="3" name="上箭头标注 2"/>
          <p:cNvSpPr/>
          <p:nvPr/>
        </p:nvSpPr>
        <p:spPr>
          <a:xfrm>
            <a:off x="4233347" y="3745182"/>
            <a:ext cx="3168352" cy="1584176"/>
          </a:xfrm>
          <a:prstGeom prst="upArrowCallou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解释方式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编译方式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BA1458-EFE0-47FD-98DB-3DC57B5B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2510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zh-CN" dirty="0"/>
              <a:t>的起源</a:t>
            </a:r>
            <a:endParaRPr lang="zh-CN" altLang="en-US" dirty="0"/>
          </a:p>
        </p:txBody>
      </p:sp>
      <p:sp>
        <p:nvSpPr>
          <p:cNvPr id="4" name="圆角矩形 3"/>
          <p:cNvSpPr>
            <a:spLocks noChangeArrowheads="1"/>
          </p:cNvSpPr>
          <p:nvPr/>
        </p:nvSpPr>
        <p:spPr bwMode="auto">
          <a:xfrm>
            <a:off x="1254124" y="2044700"/>
            <a:ext cx="5705971" cy="1098232"/>
          </a:xfrm>
          <a:prstGeom prst="roundRect">
            <a:avLst>
              <a:gd name="adj" fmla="val 9083"/>
            </a:avLst>
          </a:prstGeom>
          <a:noFill/>
          <a:ln w="12700">
            <a:solidFill>
              <a:srgbClr val="ADBAC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200000"/>
              </a:lnSpc>
            </a:pPr>
            <a:r>
              <a:rPr lang="zh-CN" altLang="en-US" sz="2800" dirty="0"/>
              <a:t>荷兰人，</a:t>
            </a:r>
            <a:r>
              <a:rPr lang="en-US" altLang="zh-CN" sz="2800" dirty="0"/>
              <a:t>Guido von Rossum</a:t>
            </a:r>
            <a:endParaRPr lang="zh-CN" altLang="en-US" sz="2800" dirty="0"/>
          </a:p>
        </p:txBody>
      </p:sp>
      <p:sp>
        <p:nvSpPr>
          <p:cNvPr id="5" name="圆角矩形 5"/>
          <p:cNvSpPr>
            <a:spLocks noChangeArrowheads="1"/>
          </p:cNvSpPr>
          <p:nvPr/>
        </p:nvSpPr>
        <p:spPr bwMode="auto">
          <a:xfrm>
            <a:off x="1254124" y="3717032"/>
            <a:ext cx="5705971" cy="2088232"/>
          </a:xfrm>
          <a:prstGeom prst="roundRect">
            <a:avLst>
              <a:gd name="adj" fmla="val 9083"/>
            </a:avLst>
          </a:prstGeom>
          <a:noFill/>
          <a:ln w="12700">
            <a:solidFill>
              <a:srgbClr val="ADBAC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dirty="0"/>
              <a:t>C</a:t>
            </a:r>
            <a:r>
              <a:rPr lang="zh-CN" altLang="en-US" sz="2000" dirty="0"/>
              <a:t>语言：</a:t>
            </a:r>
            <a:endParaRPr lang="en-US" altLang="zh-CN" sz="2000" dirty="0"/>
          </a:p>
          <a:p>
            <a:pPr lvl="1" eaLnBrk="1" hangingPunct="1"/>
            <a:r>
              <a:rPr lang="zh-CN" altLang="en-US" sz="2000" dirty="0"/>
              <a:t>整个编写过程需要耗费大量的时间</a:t>
            </a:r>
            <a:endParaRPr lang="en-US" altLang="zh-CN" sz="20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dirty="0"/>
              <a:t>UNIX</a:t>
            </a:r>
            <a:r>
              <a:rPr lang="zh-CN" altLang="en-US" sz="2000" dirty="0"/>
              <a:t>系统的解释器：</a:t>
            </a:r>
            <a:endParaRPr lang="en-US" altLang="zh-CN" sz="2000" dirty="0"/>
          </a:p>
          <a:p>
            <a:pPr lvl="1" eaLnBrk="1" hangingPunct="1"/>
            <a:r>
              <a:rPr lang="zh-CN" altLang="en-US" sz="2000" dirty="0"/>
              <a:t>简单；没有数值型的数据类型，要实现加法运算都很复杂</a:t>
            </a:r>
          </a:p>
        </p:txBody>
      </p:sp>
      <p:sp>
        <p:nvSpPr>
          <p:cNvPr id="6" name="圆角矩形 7"/>
          <p:cNvSpPr>
            <a:spLocks noChangeArrowheads="1"/>
          </p:cNvSpPr>
          <p:nvPr/>
        </p:nvSpPr>
        <p:spPr bwMode="auto">
          <a:xfrm>
            <a:off x="2068981" y="1809750"/>
            <a:ext cx="4076257" cy="46196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dirty="0">
                <a:solidFill>
                  <a:schemeClr val="lt1"/>
                </a:solidFill>
              </a:rPr>
              <a:t>创始人</a:t>
            </a:r>
          </a:p>
        </p:txBody>
      </p:sp>
      <p:sp>
        <p:nvSpPr>
          <p:cNvPr id="7" name="圆角矩形 9"/>
          <p:cNvSpPr>
            <a:spLocks noChangeArrowheads="1"/>
          </p:cNvSpPr>
          <p:nvPr/>
        </p:nvSpPr>
        <p:spPr bwMode="auto">
          <a:xfrm>
            <a:off x="2068981" y="3523357"/>
            <a:ext cx="4076257" cy="461963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dirty="0">
                <a:solidFill>
                  <a:schemeClr val="lt1"/>
                </a:solidFill>
              </a:rPr>
              <a:t>编程选择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216" y="2044700"/>
            <a:ext cx="3017759" cy="3686914"/>
          </a:xfrm>
          <a:prstGeom prst="rect">
            <a:avLst/>
          </a:prstGeom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59655F-66D0-48CA-A56C-E279DF17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32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zh-CN" dirty="0"/>
              <a:t>的</a:t>
            </a:r>
            <a:r>
              <a:rPr lang="zh-CN" altLang="en-US" dirty="0"/>
              <a:t>版本</a:t>
            </a:r>
          </a:p>
        </p:txBody>
      </p:sp>
      <p:sp>
        <p:nvSpPr>
          <p:cNvPr id="4" name="圆角矩形 3"/>
          <p:cNvSpPr>
            <a:spLocks noChangeArrowheads="1"/>
          </p:cNvSpPr>
          <p:nvPr/>
        </p:nvSpPr>
        <p:spPr bwMode="auto">
          <a:xfrm>
            <a:off x="4439816" y="1916832"/>
            <a:ext cx="5705971" cy="1098232"/>
          </a:xfrm>
          <a:prstGeom prst="roundRect">
            <a:avLst>
              <a:gd name="adj" fmla="val 9083"/>
            </a:avLst>
          </a:prstGeom>
          <a:noFill/>
          <a:ln w="12700">
            <a:solidFill>
              <a:srgbClr val="ADBAC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/>
              <a:t>一种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Shell</a:t>
            </a:r>
            <a:r>
              <a:rPr lang="zh-CN" altLang="en-US" sz="2400" b="1" dirty="0"/>
              <a:t>之间、功能全面、易学易用、可拓展的语言。</a:t>
            </a:r>
          </a:p>
        </p:txBody>
      </p:sp>
      <p:sp>
        <p:nvSpPr>
          <p:cNvPr id="5" name="圆角矩形 5"/>
          <p:cNvSpPr>
            <a:spLocks noChangeArrowheads="1"/>
          </p:cNvSpPr>
          <p:nvPr/>
        </p:nvSpPr>
        <p:spPr bwMode="auto">
          <a:xfrm>
            <a:off x="4439816" y="3589164"/>
            <a:ext cx="5705971" cy="2088232"/>
          </a:xfrm>
          <a:prstGeom prst="roundRect">
            <a:avLst>
              <a:gd name="adj" fmla="val 9083"/>
            </a:avLst>
          </a:prstGeom>
          <a:noFill/>
          <a:ln w="12700">
            <a:solidFill>
              <a:srgbClr val="ADBAC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400" dirty="0"/>
              <a:t>Python 2.7</a:t>
            </a:r>
          </a:p>
          <a:p>
            <a:pPr lvl="1" eaLnBrk="1" hangingPunct="1"/>
            <a:r>
              <a:rPr lang="zh-CN" altLang="en-US" sz="2000" dirty="0"/>
              <a:t>在</a:t>
            </a:r>
            <a:r>
              <a:rPr lang="en-US" altLang="zh-CN" sz="2000" dirty="0"/>
              <a:t>2020</a:t>
            </a:r>
            <a:r>
              <a:rPr lang="zh-CN" altLang="en-US" sz="2000" dirty="0"/>
              <a:t>年完全停止</a:t>
            </a:r>
            <a:endParaRPr lang="en-US" altLang="zh-CN" sz="20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400" dirty="0"/>
              <a:t>Python 3</a:t>
            </a:r>
          </a:p>
          <a:p>
            <a:pPr lvl="1" eaLnBrk="1" hangingPunct="1"/>
            <a:r>
              <a:rPr lang="en-US" altLang="zh-CN" sz="2000" dirty="0"/>
              <a:t>2008</a:t>
            </a:r>
            <a:r>
              <a:rPr lang="zh-CN" altLang="en-US" sz="2000" dirty="0"/>
              <a:t>年年末发布，清理代码库并删除冗余，</a:t>
            </a:r>
            <a:endParaRPr lang="en-US" altLang="zh-CN" sz="2000" dirty="0"/>
          </a:p>
          <a:p>
            <a:pPr lvl="1" eaLnBrk="1" hangingPunct="1"/>
            <a:r>
              <a:rPr lang="zh-CN" altLang="en-US" sz="2000" dirty="0"/>
              <a:t>只能用一种方式来执行给定的任务</a:t>
            </a:r>
          </a:p>
        </p:txBody>
      </p:sp>
      <p:sp>
        <p:nvSpPr>
          <p:cNvPr id="6" name="圆角矩形 7"/>
          <p:cNvSpPr>
            <a:spLocks noChangeArrowheads="1"/>
          </p:cNvSpPr>
          <p:nvPr/>
        </p:nvSpPr>
        <p:spPr bwMode="auto">
          <a:xfrm>
            <a:off x="5254673" y="1685850"/>
            <a:ext cx="4076257" cy="4619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800" b="1" dirty="0">
                <a:solidFill>
                  <a:schemeClr val="lt1"/>
                </a:solidFill>
              </a:rPr>
              <a:t>Python</a:t>
            </a:r>
            <a:r>
              <a:rPr lang="zh-CN" altLang="en-US" sz="2800" b="1" dirty="0">
                <a:solidFill>
                  <a:schemeClr val="lt1"/>
                </a:solidFill>
              </a:rPr>
              <a:t>语言的设计理念</a:t>
            </a:r>
          </a:p>
        </p:txBody>
      </p:sp>
      <p:sp>
        <p:nvSpPr>
          <p:cNvPr id="7" name="圆角矩形 9"/>
          <p:cNvSpPr>
            <a:spLocks noChangeArrowheads="1"/>
          </p:cNvSpPr>
          <p:nvPr/>
        </p:nvSpPr>
        <p:spPr bwMode="auto">
          <a:xfrm>
            <a:off x="5254673" y="3441079"/>
            <a:ext cx="4076257" cy="4619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800" b="1" dirty="0">
                <a:solidFill>
                  <a:schemeClr val="lt1"/>
                </a:solidFill>
              </a:rPr>
              <a:t>Python</a:t>
            </a:r>
            <a:r>
              <a:rPr lang="zh-CN" altLang="en-US" sz="2800" b="1" dirty="0">
                <a:solidFill>
                  <a:schemeClr val="lt1"/>
                </a:solidFill>
              </a:rPr>
              <a:t>的版本</a:t>
            </a:r>
          </a:p>
        </p:txBody>
      </p:sp>
      <p:pic>
        <p:nvPicPr>
          <p:cNvPr id="1026" name="Picture 2" descr="https://timgsa.baidu.com/timg?image&amp;quality=80&amp;size=b9999_10000&amp;sec=1574412048989&amp;di=db16cbc7cbcbd4a5e7bdf8e5368213bd&amp;imgtype=jpg&amp;src=http%3A%2F%2Fimg3.imgtn.bdimg.com%2Fit%2Fu%3D1346390108%2C1970569923%26fm%3D214%26gp%3D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2101491"/>
            <a:ext cx="2975346" cy="297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1E9E62-15FF-4CA4-B52B-9F2624C67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39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的特点</a:t>
            </a:r>
          </a:p>
        </p:txBody>
      </p:sp>
      <p:sp>
        <p:nvSpPr>
          <p:cNvPr id="5" name="MH_SubTitle_1"/>
          <p:cNvSpPr/>
          <p:nvPr>
            <p:custDataLst>
              <p:tags r:id="rId1"/>
            </p:custDataLst>
          </p:nvPr>
        </p:nvSpPr>
        <p:spPr>
          <a:xfrm>
            <a:off x="574407" y="1845673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+mn-ea"/>
                <a:sym typeface="+mn-lt"/>
              </a:rPr>
              <a:t>简单</a:t>
            </a:r>
          </a:p>
        </p:txBody>
      </p:sp>
      <p:sp>
        <p:nvSpPr>
          <p:cNvPr id="10" name="MH_SubTitle_2"/>
          <p:cNvSpPr/>
          <p:nvPr>
            <p:custDataLst>
              <p:tags r:id="rId2"/>
            </p:custDataLst>
          </p:nvPr>
        </p:nvSpPr>
        <p:spPr>
          <a:xfrm>
            <a:off x="2722514" y="1852368"/>
            <a:ext cx="2171697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rmAutofit/>
          </a:bodyPr>
          <a:lstStyle/>
          <a:p>
            <a:pPr algn="ctr">
              <a:lnSpc>
                <a:spcPct val="140000"/>
              </a:lnSpc>
              <a:defRPr/>
            </a:pPr>
            <a:r>
              <a:rPr lang="zh-CN" altLang="en-US" sz="4100" b="1" dirty="0">
                <a:solidFill>
                  <a:schemeClr val="tx1"/>
                </a:solidFill>
                <a:cs typeface="+mn-ea"/>
                <a:sym typeface="+mn-lt"/>
              </a:rPr>
              <a:t>开源性</a:t>
            </a:r>
          </a:p>
        </p:txBody>
      </p:sp>
      <p:sp>
        <p:nvSpPr>
          <p:cNvPr id="39" name="MH_SubTitle_2"/>
          <p:cNvSpPr/>
          <p:nvPr>
            <p:custDataLst>
              <p:tags r:id="rId3"/>
            </p:custDataLst>
          </p:nvPr>
        </p:nvSpPr>
        <p:spPr>
          <a:xfrm>
            <a:off x="7018730" y="1852368"/>
            <a:ext cx="2171697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+mn-ea"/>
                <a:sym typeface="+mn-lt"/>
              </a:rPr>
              <a:t>可移植性</a:t>
            </a:r>
          </a:p>
        </p:txBody>
      </p:sp>
      <p:sp>
        <p:nvSpPr>
          <p:cNvPr id="43" name="MH_SubTitle_1"/>
          <p:cNvSpPr/>
          <p:nvPr>
            <p:custDataLst>
              <p:tags r:id="rId4"/>
            </p:custDataLst>
          </p:nvPr>
        </p:nvSpPr>
        <p:spPr>
          <a:xfrm>
            <a:off x="3761186" y="3845092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+mn-ea"/>
                <a:sym typeface="+mn-lt"/>
              </a:rPr>
              <a:t>可扩展性</a:t>
            </a:r>
          </a:p>
        </p:txBody>
      </p:sp>
      <p:sp>
        <p:nvSpPr>
          <p:cNvPr id="47" name="MH_SubTitle_2"/>
          <p:cNvSpPr/>
          <p:nvPr>
            <p:custDataLst>
              <p:tags r:id="rId5"/>
            </p:custDataLst>
          </p:nvPr>
        </p:nvSpPr>
        <p:spPr>
          <a:xfrm>
            <a:off x="1127449" y="3840352"/>
            <a:ext cx="2633738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+mn-ea"/>
                <a:sym typeface="+mn-lt"/>
              </a:rPr>
              <a:t>面向对象编程</a:t>
            </a:r>
          </a:p>
        </p:txBody>
      </p:sp>
      <p:sp>
        <p:nvSpPr>
          <p:cNvPr id="51" name="MH_SubTitle_1"/>
          <p:cNvSpPr/>
          <p:nvPr>
            <p:custDataLst>
              <p:tags r:id="rId6"/>
            </p:custDataLst>
          </p:nvPr>
        </p:nvSpPr>
        <p:spPr>
          <a:xfrm>
            <a:off x="4870622" y="1845673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+mn-ea"/>
                <a:sym typeface="+mn-lt"/>
              </a:rPr>
              <a:t>高级语言</a:t>
            </a:r>
          </a:p>
        </p:txBody>
      </p:sp>
      <p:sp>
        <p:nvSpPr>
          <p:cNvPr id="55" name="MH_SubTitle_1"/>
          <p:cNvSpPr/>
          <p:nvPr>
            <p:custDataLst>
              <p:tags r:id="rId7"/>
            </p:custDataLst>
          </p:nvPr>
        </p:nvSpPr>
        <p:spPr>
          <a:xfrm>
            <a:off x="9190427" y="1845673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+mn-ea"/>
                <a:sym typeface="+mn-lt"/>
              </a:rPr>
              <a:t>解释执行</a:t>
            </a:r>
          </a:p>
        </p:txBody>
      </p:sp>
      <p:sp>
        <p:nvSpPr>
          <p:cNvPr id="62" name="MH_SubTitle_1"/>
          <p:cNvSpPr/>
          <p:nvPr>
            <p:custDataLst>
              <p:tags r:id="rId8"/>
            </p:custDataLst>
          </p:nvPr>
        </p:nvSpPr>
        <p:spPr>
          <a:xfrm>
            <a:off x="8104579" y="3846809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+mn-ea"/>
                <a:sym typeface="+mn-lt"/>
              </a:rPr>
              <a:t>丰富的库</a:t>
            </a:r>
          </a:p>
        </p:txBody>
      </p:sp>
      <p:sp>
        <p:nvSpPr>
          <p:cNvPr id="63" name="MH_SubTitle_2"/>
          <p:cNvSpPr/>
          <p:nvPr>
            <p:custDataLst>
              <p:tags r:id="rId9"/>
            </p:custDataLst>
          </p:nvPr>
        </p:nvSpPr>
        <p:spPr>
          <a:xfrm>
            <a:off x="5932882" y="3842069"/>
            <a:ext cx="2171697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+mn-ea"/>
                <a:sym typeface="+mn-lt"/>
              </a:rPr>
              <a:t>可嵌入性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C4B2F8-6872-4FD9-85BB-CF6D2599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7115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简单：</a:t>
            </a:r>
            <a:endParaRPr lang="en-US" altLang="zh-CN" dirty="0"/>
          </a:p>
          <a:p>
            <a:pPr lvl="1"/>
            <a:r>
              <a:rPr lang="zh-CN" altLang="en-US" dirty="0"/>
              <a:t>简单主义思想的语言，读代码象读一篇比较简单的文章</a:t>
            </a:r>
            <a:endParaRPr lang="en-US" altLang="zh-CN" dirty="0"/>
          </a:p>
          <a:p>
            <a:pPr lvl="1"/>
            <a:r>
              <a:rPr lang="zh-CN" altLang="en-US" dirty="0"/>
              <a:t>容易上手：语法简单，代码精炼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5416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1.2 Python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开发环境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F6C8D5-8049-4A72-AD53-12DAAF4C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1.2.1 Python</a:t>
            </a:r>
            <a:r>
              <a:rPr lang="zh-CN" altLang="en-US" dirty="0"/>
              <a:t>语言解释器的下载与安装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556792"/>
            <a:ext cx="10852150" cy="4784318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zh-CN" dirty="0"/>
              <a:t>Python</a:t>
            </a:r>
            <a:r>
              <a:rPr lang="zh-CN" altLang="en-US" dirty="0"/>
              <a:t>官网下载页面的地址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/>
              <a:t>https://www.python.org/downloads/</a:t>
            </a:r>
          </a:p>
          <a:p>
            <a:endParaRPr lang="en-US" altLang="zh-CN" dirty="0"/>
          </a:p>
          <a:p>
            <a:r>
              <a:rPr lang="zh-CN" altLang="en-US" dirty="0"/>
              <a:t>本书使用</a:t>
            </a:r>
            <a:r>
              <a:rPr lang="en-US" altLang="zh-CN" dirty="0"/>
              <a:t>Python 3.5.2</a:t>
            </a:r>
            <a:r>
              <a:rPr lang="zh-CN" altLang="en-US" dirty="0"/>
              <a:t>版本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B23522-EDC9-43FB-8B00-58C24737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755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1.2.1 Python</a:t>
            </a:r>
            <a:r>
              <a:rPr lang="zh-CN" altLang="en-US" dirty="0"/>
              <a:t>语言解释器的下载与安装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务必勾选“</a:t>
            </a:r>
            <a:r>
              <a:rPr lang="en-US" altLang="zh-CN" dirty="0"/>
              <a:t>Add Python 3.5 to PATH</a:t>
            </a:r>
            <a:r>
              <a:rPr lang="zh-CN" altLang="zh-CN" dirty="0"/>
              <a:t>”复选框</a:t>
            </a:r>
            <a:endParaRPr lang="en-US" altLang="zh-CN" dirty="0"/>
          </a:p>
          <a:p>
            <a:pPr lvl="1"/>
            <a:r>
              <a:rPr lang="zh-CN" altLang="en-US" dirty="0"/>
              <a:t>该选项用于安装</a:t>
            </a:r>
            <a:r>
              <a:rPr lang="en-US" altLang="zh-CN" dirty="0"/>
              <a:t>pip</a:t>
            </a:r>
            <a:r>
              <a:rPr lang="zh-CN" altLang="en-US" dirty="0"/>
              <a:t>工具包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678911"/>
              </p:ext>
            </p:extLst>
          </p:nvPr>
        </p:nvGraphicFramePr>
        <p:xfrm>
          <a:off x="5663952" y="2952245"/>
          <a:ext cx="5755240" cy="3573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6342857" imgH="3905795" progId="Paint.Picture">
                  <p:embed/>
                </p:oleObj>
              </mc:Choice>
              <mc:Fallback>
                <p:oleObj name="BMP 图像" r:id="rId2" imgW="6342857" imgH="3905795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2952245"/>
                        <a:ext cx="5755240" cy="35730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6BD078-0209-464E-B274-243D5F60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3519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的常用开发环境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IDLE</a:t>
            </a:r>
          </a:p>
          <a:p>
            <a:pPr lvl="1"/>
            <a:r>
              <a:rPr lang="en-US" altLang="zh-CN" dirty="0"/>
              <a:t>Python's Integrated </a:t>
            </a:r>
            <a:r>
              <a:rPr lang="en-US" altLang="zh-CN" dirty="0" err="1"/>
              <a:t>DeveLopment</a:t>
            </a:r>
            <a:r>
              <a:rPr lang="en-US" altLang="zh-CN" dirty="0"/>
              <a:t> Environment</a:t>
            </a:r>
            <a:r>
              <a:rPr lang="zh-CN" altLang="en-US" dirty="0"/>
              <a:t>，是</a:t>
            </a:r>
            <a:r>
              <a:rPr lang="en-US" altLang="zh-CN" dirty="0"/>
              <a:t>Python</a:t>
            </a:r>
            <a:r>
              <a:rPr lang="zh-CN" altLang="en-US" dirty="0"/>
              <a:t>自带的一个</a:t>
            </a:r>
            <a:r>
              <a:rPr lang="en-US" altLang="zh-CN" dirty="0"/>
              <a:t>IDE</a:t>
            </a:r>
            <a:r>
              <a:rPr lang="zh-CN" altLang="en-US" dirty="0"/>
              <a:t>，一个简洁实用的编辑器</a:t>
            </a:r>
            <a:endParaRPr lang="en-US" altLang="zh-CN" dirty="0"/>
          </a:p>
          <a:p>
            <a:r>
              <a:rPr lang="en-US" altLang="zh-CN" dirty="0" err="1"/>
              <a:t>PyCharm</a:t>
            </a:r>
            <a:endParaRPr lang="en-US" altLang="zh-CN" dirty="0"/>
          </a:p>
          <a:p>
            <a:pPr lvl="1"/>
            <a:r>
              <a:rPr lang="zh-CN" altLang="en-US" dirty="0"/>
              <a:t>由</a:t>
            </a:r>
            <a:r>
              <a:rPr lang="en-US" altLang="zh-CN" dirty="0" err="1"/>
              <a:t>JetBrains</a:t>
            </a:r>
            <a:r>
              <a:rPr lang="zh-CN" altLang="en-US" dirty="0"/>
              <a:t>打造的一个</a:t>
            </a:r>
            <a:r>
              <a:rPr lang="en-US" altLang="zh-CN" dirty="0"/>
              <a:t>Python IDE</a:t>
            </a:r>
            <a:r>
              <a:rPr lang="zh-CN" altLang="en-US" dirty="0"/>
              <a:t>，带有一整套可以帮助用户在使用</a:t>
            </a:r>
            <a:r>
              <a:rPr lang="en-US" altLang="zh-CN" dirty="0"/>
              <a:t>Python</a:t>
            </a:r>
            <a:r>
              <a:rPr lang="zh-CN" altLang="en-US" dirty="0"/>
              <a:t>语言开发时提高效率的工具</a:t>
            </a:r>
            <a:endParaRPr lang="en-US" altLang="zh-CN" dirty="0"/>
          </a:p>
          <a:p>
            <a:r>
              <a:rPr lang="en-US" altLang="zh-CN" b="1" dirty="0" err="1"/>
              <a:t>Jupyter</a:t>
            </a:r>
            <a:r>
              <a:rPr lang="zh-CN" altLang="en-US" b="1" dirty="0"/>
              <a:t>：安装</a:t>
            </a:r>
            <a:r>
              <a:rPr lang="en-US" altLang="zh-CN" b="1" dirty="0"/>
              <a:t>Anaconda</a:t>
            </a:r>
            <a:r>
              <a:rPr lang="zh-CN" altLang="en-US" b="1" dirty="0"/>
              <a:t>自带的高级开发环境，数据科学家的首选</a:t>
            </a:r>
            <a:endParaRPr lang="en-US" altLang="zh-CN" b="1" dirty="0"/>
          </a:p>
          <a:p>
            <a:r>
              <a:rPr lang="en-US" altLang="zh-CN" b="1" dirty="0"/>
              <a:t>Python Tutor</a:t>
            </a:r>
            <a:r>
              <a:rPr lang="zh-CN" altLang="en-US" b="1" dirty="0"/>
              <a:t>：在线开发环境，网址</a:t>
            </a:r>
            <a:r>
              <a:rPr lang="en-US" altLang="zh-CN" b="1" dirty="0"/>
              <a:t>http:#www.pythontutor.com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9067F4-C170-4326-A945-9F256276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5993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官网地址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/>
              <a:t>https://www.jetbrains.com/pycharm/</a:t>
            </a:r>
          </a:p>
          <a:p>
            <a:endParaRPr lang="en-US" altLang="zh-CN" dirty="0"/>
          </a:p>
          <a:p>
            <a:r>
              <a:rPr lang="en-US" altLang="zh-CN" dirty="0"/>
              <a:t>PyCharm</a:t>
            </a:r>
            <a:r>
              <a:rPr lang="zh-CN" altLang="en-US" dirty="0"/>
              <a:t>有</a:t>
            </a:r>
            <a:r>
              <a:rPr lang="en-US" altLang="zh-CN" dirty="0"/>
              <a:t>Professional</a:t>
            </a:r>
            <a:r>
              <a:rPr lang="zh-CN" altLang="en-US" dirty="0"/>
              <a:t>（专业版）和</a:t>
            </a:r>
            <a:r>
              <a:rPr lang="en-US" altLang="zh-CN" dirty="0"/>
              <a:t>Community</a:t>
            </a:r>
            <a:r>
              <a:rPr lang="zh-CN" altLang="en-US" dirty="0"/>
              <a:t>（社区版）两个版本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56C8B2-36A5-41E2-B7D2-933804E8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7964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的激活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对于学生或教师使用者，</a:t>
            </a:r>
            <a:r>
              <a:rPr lang="en-US" altLang="zh-CN" dirty="0" err="1"/>
              <a:t>PyCharm</a:t>
            </a:r>
            <a:r>
              <a:rPr lang="zh-CN" altLang="en-US" dirty="0"/>
              <a:t>可以给予免费的授权，但不是永久性的，需要学生提供校园邮箱或是国际学生证（</a:t>
            </a:r>
            <a:r>
              <a:rPr lang="en-US" altLang="zh-CN" dirty="0"/>
              <a:t>ISIC</a:t>
            </a:r>
            <a:r>
              <a:rPr lang="zh-CN" altLang="en-US" dirty="0"/>
              <a:t>）。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9656" y="2919546"/>
            <a:ext cx="6480720" cy="371052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8265C9-FF8D-4B97-AE02-56123FB0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134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首次运行时，需要选择软件的界面风格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87688" y="2492896"/>
            <a:ext cx="6984777" cy="4752528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DD883C-0B08-4DC7-8693-D25BB97D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635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3" y="1460544"/>
            <a:ext cx="4489971" cy="5180965"/>
          </a:xfrm>
        </p:spPr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的启动界面中选</a:t>
            </a:r>
            <a:r>
              <a:rPr lang="en-US" altLang="zh-CN" dirty="0"/>
              <a:t>Settings</a:t>
            </a:r>
            <a:endParaRPr lang="zh-CN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109738"/>
              </p:ext>
            </p:extLst>
          </p:nvPr>
        </p:nvGraphicFramePr>
        <p:xfrm>
          <a:off x="5303912" y="464974"/>
          <a:ext cx="5904656" cy="5815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6409524" imgH="6314286" progId="Paint.Picture">
                  <p:embed/>
                </p:oleObj>
              </mc:Choice>
              <mc:Fallback>
                <p:oleObj name="BMP 图像" r:id="rId2" imgW="6409524" imgH="6314286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912" y="464974"/>
                        <a:ext cx="5904656" cy="58151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989" y="2620412"/>
            <a:ext cx="2247940" cy="3809953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1349396" y="4725144"/>
            <a:ext cx="1656184" cy="2160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0EFC61-CF82-4293-B23E-887E1DD9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57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配置菜单和工具栏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3215680" y="2623879"/>
            <a:ext cx="6696744" cy="4005054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088870-21CF-44FA-8CA3-767E033BF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5363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2783632" y="2636912"/>
            <a:ext cx="6048672" cy="38884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编辑器的个性化配色方案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747DCA-B051-44D0-BBCA-8B30017A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93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“Project Interpreter”</a:t>
            </a:r>
            <a:r>
              <a:rPr lang="zh-CN" altLang="en-US" dirty="0"/>
              <a:t>可以设置默认的</a:t>
            </a:r>
            <a:r>
              <a:rPr lang="en-US" altLang="zh-CN" dirty="0" err="1"/>
              <a:t>PyCharm</a:t>
            </a:r>
            <a:r>
              <a:rPr lang="zh-CN" altLang="en-US" dirty="0"/>
              <a:t>的解释器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2639616" y="2492895"/>
            <a:ext cx="7370291" cy="4167089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2639616" y="4320000"/>
            <a:ext cx="1656184" cy="2160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8EC191-B81A-4E59-969D-9C18EF07C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9660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 err="1"/>
              <a:t>PyCharm</a:t>
            </a:r>
            <a:r>
              <a:rPr lang="zh-CN" altLang="en-US" dirty="0"/>
              <a:t>的解释器后，选择某版本的</a:t>
            </a:r>
            <a:r>
              <a:rPr lang="en-US" altLang="zh-CN" dirty="0"/>
              <a:t>Python</a:t>
            </a:r>
            <a:r>
              <a:rPr lang="zh-CN" altLang="en-US" dirty="0"/>
              <a:t>解释器后，单击右侧的</a:t>
            </a:r>
            <a:r>
              <a:rPr lang="en-US" altLang="zh-CN" dirty="0"/>
              <a:t>+</a:t>
            </a:r>
            <a:r>
              <a:rPr lang="zh-CN" altLang="en-US" dirty="0"/>
              <a:t>按钮，可以进行第三方库（扩展库）的安装</a:t>
            </a:r>
          </a:p>
        </p:txBody>
      </p:sp>
      <p:pic>
        <p:nvPicPr>
          <p:cNvPr id="7" name="图片 6" descr="C:\Users\Admin\Documents\Tencent Files\67701348\Image\C2C\X2IYNZ6@5`W0B%P@PW4ZPKU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7728" y="3429000"/>
            <a:ext cx="612068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椭圆 4"/>
          <p:cNvSpPr/>
          <p:nvPr/>
        </p:nvSpPr>
        <p:spPr>
          <a:xfrm>
            <a:off x="9408368" y="2976490"/>
            <a:ext cx="360040" cy="2544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847941" y="2628000"/>
            <a:ext cx="4729590" cy="3216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CA254-C962-4299-A0DE-80C3E1BF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1320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的配置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添加扩展库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4799856" y="1628800"/>
            <a:ext cx="6840760" cy="5112567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4439816" y="6341111"/>
            <a:ext cx="1080120" cy="2562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2D4958-DC0E-4417-AB1E-3A00343F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2753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2110740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sz="5400" kern="1200" dirty="0">
                <a:latin typeface="+mj-lt"/>
                <a:ea typeface="+mj-ea"/>
                <a:cs typeface="+mj-cs"/>
              </a:rPr>
              <a:t>1.3 </a:t>
            </a:r>
            <a:r>
              <a:rPr lang="zh-CN" altLang="en-US" sz="5400" kern="1200" dirty="0">
                <a:latin typeface="+mj-lt"/>
                <a:ea typeface="+mj-ea"/>
                <a:cs typeface="+mj-cs"/>
              </a:rPr>
              <a:t>编写并运行一个</a:t>
            </a:r>
            <a:r>
              <a:rPr lang="en-US" altLang="zh-CN" sz="5400" kern="1200" dirty="0">
                <a:latin typeface="+mj-lt"/>
                <a:ea typeface="+mj-ea"/>
                <a:cs typeface="+mj-cs"/>
              </a:rPr>
              <a:t>Python</a:t>
            </a:r>
            <a:r>
              <a:rPr lang="zh-CN" altLang="en-US" sz="5400" kern="1200" dirty="0">
                <a:latin typeface="+mj-lt"/>
                <a:ea typeface="+mj-ea"/>
                <a:cs typeface="+mj-cs"/>
              </a:rPr>
              <a:t>程序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81CDAE6-2123-4BD9-8FDB-177CDBD0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</a:t>
            </a:r>
            <a:r>
              <a:rPr lang="en-US" altLang="zh-CN" dirty="0"/>
              <a:t>Python</a:t>
            </a:r>
            <a:r>
              <a:rPr lang="zh-CN" altLang="en-US" dirty="0"/>
              <a:t>程序有两种方式</a:t>
            </a:r>
          </a:p>
        </p:txBody>
      </p:sp>
      <p:sp>
        <p:nvSpPr>
          <p:cNvPr id="4" name="矩形 3"/>
          <p:cNvSpPr/>
          <p:nvPr/>
        </p:nvSpPr>
        <p:spPr>
          <a:xfrm>
            <a:off x="2463717" y="2170472"/>
            <a:ext cx="3060927" cy="3580223"/>
          </a:xfrm>
          <a:prstGeom prst="rect">
            <a:avLst/>
          </a:prstGeom>
          <a:noFill/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80000" bIns="37760" rtlCol="0" anchor="ctr"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指</a:t>
            </a:r>
            <a:r>
              <a:rPr lang="en-US" altLang="zh-CN" sz="2400" dirty="0">
                <a:solidFill>
                  <a:schemeClr val="tx1"/>
                </a:solidFill>
              </a:rPr>
              <a:t>Python</a:t>
            </a:r>
            <a:r>
              <a:rPr lang="zh-CN" altLang="en-US" sz="2400" dirty="0">
                <a:solidFill>
                  <a:schemeClr val="tx1"/>
                </a:solidFill>
              </a:rPr>
              <a:t>的指令逐条输入并由</a:t>
            </a:r>
            <a:r>
              <a:rPr lang="en-US" altLang="zh-CN" sz="2400" dirty="0">
                <a:solidFill>
                  <a:schemeClr val="tx1"/>
                </a:solidFill>
              </a:rPr>
              <a:t>Python</a:t>
            </a:r>
            <a:r>
              <a:rPr lang="zh-CN" altLang="en-US" sz="2400" dirty="0">
                <a:solidFill>
                  <a:schemeClr val="tx1"/>
                </a:solidFill>
              </a:rPr>
              <a:t>解释器逐条执行</a:t>
            </a:r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2463717" y="1844824"/>
            <a:ext cx="3060927" cy="651295"/>
          </a:xfrm>
          <a:prstGeom prst="homePlate">
            <a:avLst>
              <a:gd name="adj" fmla="val 63872"/>
            </a:avLst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交互式</a:t>
            </a:r>
          </a:p>
        </p:txBody>
      </p:sp>
      <p:sp>
        <p:nvSpPr>
          <p:cNvPr id="6" name="矩形 5"/>
          <p:cNvSpPr/>
          <p:nvPr/>
        </p:nvSpPr>
        <p:spPr>
          <a:xfrm>
            <a:off x="6096000" y="2170472"/>
            <a:ext cx="3060927" cy="3580223"/>
          </a:xfrm>
          <a:prstGeom prst="rect">
            <a:avLst/>
          </a:prstGeom>
          <a:noFill/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80000" bIns="37760" rtlCol="0" anchor="ctr"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将需要执行的多条语句存放在文件中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 flipH="1">
            <a:off x="6096000" y="1844824"/>
            <a:ext cx="3060927" cy="651295"/>
          </a:xfrm>
          <a:prstGeom prst="homePlate">
            <a:avLst>
              <a:gd name="adj" fmla="val 63872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文件式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A458FC0-FC3D-40E0-A0BD-BD4B2708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873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1.3.1 </a:t>
            </a:r>
            <a:r>
              <a:rPr lang="zh-CN" altLang="en-US" dirty="0"/>
              <a:t>交互式执行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84784"/>
            <a:ext cx="10852150" cy="4856326"/>
          </a:xfrm>
        </p:spPr>
        <p:txBody>
          <a:bodyPr/>
          <a:lstStyle/>
          <a:p>
            <a:pPr lvl="1"/>
            <a:r>
              <a:rPr lang="zh-CN" altLang="en-US" dirty="0"/>
              <a:t>在开始菜单单击</a:t>
            </a:r>
            <a:r>
              <a:rPr lang="en-US" altLang="zh-CN" dirty="0"/>
              <a:t>”Python</a:t>
            </a:r>
            <a:r>
              <a:rPr lang="zh-CN" altLang="en-US" dirty="0"/>
              <a:t>图标“</a:t>
            </a:r>
            <a:r>
              <a:rPr lang="en-US" altLang="zh-CN" dirty="0"/>
              <a:t>Python 3.5 (64-bit)”</a:t>
            </a:r>
            <a:r>
              <a:rPr lang="zh-CN" altLang="en-US" dirty="0"/>
              <a:t>或者“</a:t>
            </a:r>
            <a:r>
              <a:rPr lang="en-US" altLang="zh-CN" dirty="0"/>
              <a:t>IDLE (Python 3.5 64-bit)”</a:t>
            </a:r>
          </a:p>
          <a:p>
            <a:pPr lvl="1"/>
            <a:r>
              <a:rPr lang="zh-CN" altLang="en-US" dirty="0"/>
              <a:t>在命令提示符</a:t>
            </a:r>
            <a:r>
              <a:rPr lang="en-US" altLang="zh-CN" dirty="0"/>
              <a:t>&gt;&gt;&gt;</a:t>
            </a:r>
            <a:r>
              <a:rPr lang="zh-CN" altLang="en-US" dirty="0"/>
              <a:t>后输入</a:t>
            </a:r>
            <a:r>
              <a:rPr lang="en-US" altLang="zh-CN" dirty="0"/>
              <a:t>Python</a:t>
            </a:r>
            <a:r>
              <a:rPr lang="zh-CN" altLang="en-US" dirty="0"/>
              <a:t>指令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68" y="3771022"/>
            <a:ext cx="3110704" cy="2342629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250773" y="4671854"/>
            <a:ext cx="2641358" cy="5409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-1" r="1524" b="56803"/>
          <a:stretch/>
        </p:blipFill>
        <p:spPr>
          <a:xfrm>
            <a:off x="3105436" y="3573016"/>
            <a:ext cx="8835792" cy="3113522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C4F7DC-CF70-49C3-8FE1-037A8DDE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0002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IDLE</a:t>
            </a:r>
            <a:r>
              <a:rPr lang="zh-CN" altLang="en-US" dirty="0"/>
              <a:t>中的一些常用快捷键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IDLE</a:t>
            </a:r>
            <a:r>
              <a:rPr lang="zh-CN" altLang="en-US" dirty="0"/>
              <a:t>的命令提示符</a:t>
            </a:r>
            <a:r>
              <a:rPr lang="en-US" altLang="zh-CN" dirty="0"/>
              <a:t>&gt;&gt;&gt;</a:t>
            </a:r>
            <a:r>
              <a:rPr lang="zh-CN" altLang="en-US" dirty="0"/>
              <a:t>后</a:t>
            </a:r>
            <a:endParaRPr lang="en-US" altLang="zh-CN" dirty="0"/>
          </a:p>
          <a:p>
            <a:pPr lvl="1"/>
            <a:r>
              <a:rPr lang="en-US" altLang="zh-CN" dirty="0" err="1"/>
              <a:t>Alt+P</a:t>
            </a:r>
            <a:r>
              <a:rPr lang="zh-CN" altLang="en-US" dirty="0"/>
              <a:t>浏览历史命令中的上一条命令</a:t>
            </a:r>
            <a:endParaRPr lang="en-US" altLang="zh-CN" dirty="0"/>
          </a:p>
          <a:p>
            <a:pPr lvl="1"/>
            <a:r>
              <a:rPr lang="en-US" altLang="zh-CN" dirty="0" err="1"/>
              <a:t>Alt+N</a:t>
            </a:r>
            <a:r>
              <a:rPr lang="zh-CN" altLang="en-US" dirty="0"/>
              <a:t>浏览历史命令中的下一条命令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137151-9699-4253-B505-01956FAF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0830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261095"/>
            <a:ext cx="11018440" cy="79164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3979" y="938894"/>
            <a:ext cx="10801201" cy="4980211"/>
          </a:xfrm>
        </p:spPr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93129"/>
              </p:ext>
            </p:extLst>
          </p:nvPr>
        </p:nvGraphicFramePr>
        <p:xfrm>
          <a:off x="1158190" y="1346826"/>
          <a:ext cx="10873208" cy="5112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7768">
                  <a:extLst>
                    <a:ext uri="{9D8B030D-6E8A-4147-A177-3AD203B41FA5}">
                      <a16:colId xmlns:a16="http://schemas.microsoft.com/office/drawing/2014/main" val="4206923803"/>
                    </a:ext>
                  </a:extLst>
                </a:gridCol>
                <a:gridCol w="8085440">
                  <a:extLst>
                    <a:ext uri="{9D8B030D-6E8A-4147-A177-3AD203B41FA5}">
                      <a16:colId xmlns:a16="http://schemas.microsoft.com/office/drawing/2014/main" val="1898126940"/>
                    </a:ext>
                  </a:extLst>
                </a:gridCol>
              </a:tblGrid>
              <a:tr h="51121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快捷键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作用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165190"/>
                  </a:ext>
                </a:extLst>
              </a:tr>
              <a:tr h="511212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Alt+/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自动补全代码（查找编辑器内已经写过的代码来补全）。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844521"/>
                  </a:ext>
                </a:extLst>
              </a:tr>
              <a:tr h="511212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solidFill>
                            <a:schemeClr val="tx1"/>
                          </a:solidFill>
                          <a:effectLst/>
                        </a:rPr>
                        <a:t>Ctrl+Shift+Space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补全代码提示。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654802"/>
                  </a:ext>
                </a:extLst>
              </a:tr>
              <a:tr h="511212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Ctrl+]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增加当前行代码的缩进。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766513"/>
                  </a:ext>
                </a:extLst>
              </a:tr>
              <a:tr h="511212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ctrl+[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减少当前行代码的缩进。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302864"/>
                  </a:ext>
                </a:extLst>
              </a:tr>
              <a:tr h="511212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Alt+3</a:t>
                      </a:r>
                      <a:endParaRPr lang="zh-CN" sz="3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在当前行代码首字符前加注释标记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##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830781"/>
                  </a:ext>
                </a:extLst>
              </a:tr>
              <a:tr h="511212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Alt+4</a:t>
                      </a:r>
                      <a:endParaRPr lang="zh-CN" sz="3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减少在当前行代码首字符开始处的注释标记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##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176368"/>
                  </a:ext>
                </a:extLst>
              </a:tr>
              <a:tr h="511212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Ctrl+N</a:t>
                      </a:r>
                      <a:endParaRPr lang="zh-CN" sz="3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新建文件。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286164"/>
                  </a:ext>
                </a:extLst>
              </a:tr>
              <a:tr h="511212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Ctrl+S</a:t>
                      </a:r>
                      <a:endParaRPr lang="zh-CN" sz="3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保存文件。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432117"/>
                  </a:ext>
                </a:extLst>
              </a:tr>
              <a:tr h="511212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F5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运行文件。</a:t>
                      </a:r>
                      <a:endParaRPr lang="zh-CN" sz="3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472107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89D93B-3B70-42FF-AA61-3A6102FD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3621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1.3.2 </a:t>
            </a:r>
            <a:r>
              <a:rPr lang="zh-CN" altLang="en-US" dirty="0"/>
              <a:t>文件式执行</a:t>
            </a:r>
          </a:p>
        </p:txBody>
      </p:sp>
      <p:sp>
        <p:nvSpPr>
          <p:cNvPr id="4" name="Oval 22"/>
          <p:cNvSpPr>
            <a:spLocks noChangeArrowheads="1"/>
          </p:cNvSpPr>
          <p:nvPr/>
        </p:nvSpPr>
        <p:spPr bwMode="auto">
          <a:xfrm>
            <a:off x="4279269" y="1387467"/>
            <a:ext cx="1302980" cy="1302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75493" tIns="37746" rIns="75493" bIns="37746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文件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类型</a:t>
            </a:r>
            <a:endParaRPr lang="zh-CN" altLang="en-US" sz="3200" baseline="-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Line 23"/>
          <p:cNvSpPr>
            <a:spLocks noChangeShapeType="1"/>
          </p:cNvSpPr>
          <p:nvPr/>
        </p:nvSpPr>
        <p:spPr bwMode="auto">
          <a:xfrm flipH="1">
            <a:off x="1116328" y="2040186"/>
            <a:ext cx="3162941" cy="0"/>
          </a:xfrm>
          <a:prstGeom prst="line">
            <a:avLst/>
          </a:prstGeom>
          <a:noFill/>
          <a:ln w="5" cap="flat">
            <a:solidFill>
              <a:schemeClr val="tx1"/>
            </a:solidFill>
            <a:prstDash val="dash"/>
            <a:miter lim="800000"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75493" tIns="37746" rIns="75493" bIns="3774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Freeform 24"/>
          <p:cNvSpPr>
            <a:spLocks noEditPoints="1"/>
          </p:cNvSpPr>
          <p:nvPr/>
        </p:nvSpPr>
        <p:spPr bwMode="auto">
          <a:xfrm>
            <a:off x="3323529" y="1862173"/>
            <a:ext cx="367084" cy="365918"/>
          </a:xfrm>
          <a:custGeom>
            <a:avLst/>
            <a:gdLst>
              <a:gd name="T0" fmla="*/ 23 w 47"/>
              <a:gd name="T1" fmla="*/ 0 h 47"/>
              <a:gd name="T2" fmla="*/ 47 w 47"/>
              <a:gd name="T3" fmla="*/ 24 h 47"/>
              <a:gd name="T4" fmla="*/ 23 w 47"/>
              <a:gd name="T5" fmla="*/ 47 h 47"/>
              <a:gd name="T6" fmla="*/ 0 w 47"/>
              <a:gd name="T7" fmla="*/ 24 h 47"/>
              <a:gd name="T8" fmla="*/ 23 w 47"/>
              <a:gd name="T9" fmla="*/ 0 h 47"/>
              <a:gd name="T10" fmla="*/ 23 w 47"/>
              <a:gd name="T11" fmla="*/ 15 h 47"/>
              <a:gd name="T12" fmla="*/ 15 w 47"/>
              <a:gd name="T13" fmla="*/ 24 h 47"/>
              <a:gd name="T14" fmla="*/ 23 w 47"/>
              <a:gd name="T15" fmla="*/ 32 h 47"/>
              <a:gd name="T16" fmla="*/ 32 w 47"/>
              <a:gd name="T17" fmla="*/ 24 h 47"/>
              <a:gd name="T18" fmla="*/ 23 w 47"/>
              <a:gd name="T19" fmla="*/ 15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7" h="47">
                <a:moveTo>
                  <a:pt x="23" y="0"/>
                </a:moveTo>
                <a:cubicBezTo>
                  <a:pt x="36" y="0"/>
                  <a:pt x="47" y="11"/>
                  <a:pt x="47" y="24"/>
                </a:cubicBezTo>
                <a:cubicBezTo>
                  <a:pt x="47" y="37"/>
                  <a:pt x="36" y="47"/>
                  <a:pt x="23" y="47"/>
                </a:cubicBezTo>
                <a:cubicBezTo>
                  <a:pt x="10" y="47"/>
                  <a:pt x="0" y="37"/>
                  <a:pt x="0" y="24"/>
                </a:cubicBezTo>
                <a:cubicBezTo>
                  <a:pt x="0" y="11"/>
                  <a:pt x="10" y="0"/>
                  <a:pt x="23" y="0"/>
                </a:cubicBezTo>
                <a:close/>
                <a:moveTo>
                  <a:pt x="23" y="15"/>
                </a:moveTo>
                <a:cubicBezTo>
                  <a:pt x="19" y="15"/>
                  <a:pt x="15" y="19"/>
                  <a:pt x="15" y="24"/>
                </a:cubicBezTo>
                <a:cubicBezTo>
                  <a:pt x="15" y="28"/>
                  <a:pt x="19" y="32"/>
                  <a:pt x="23" y="32"/>
                </a:cubicBezTo>
                <a:cubicBezTo>
                  <a:pt x="28" y="32"/>
                  <a:pt x="32" y="28"/>
                  <a:pt x="32" y="24"/>
                </a:cubicBezTo>
                <a:cubicBezTo>
                  <a:pt x="32" y="19"/>
                  <a:pt x="28" y="15"/>
                  <a:pt x="23" y="1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75493" tIns="37746" rIns="75493" bIns="3774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Freeform 25"/>
          <p:cNvSpPr>
            <a:spLocks noEditPoints="1"/>
          </p:cNvSpPr>
          <p:nvPr/>
        </p:nvSpPr>
        <p:spPr bwMode="auto">
          <a:xfrm>
            <a:off x="2463694" y="1862173"/>
            <a:ext cx="370391" cy="365918"/>
          </a:xfrm>
          <a:custGeom>
            <a:avLst/>
            <a:gdLst>
              <a:gd name="T0" fmla="*/ 24 w 47"/>
              <a:gd name="T1" fmla="*/ 0 h 47"/>
              <a:gd name="T2" fmla="*/ 47 w 47"/>
              <a:gd name="T3" fmla="*/ 24 h 47"/>
              <a:gd name="T4" fmla="*/ 24 w 47"/>
              <a:gd name="T5" fmla="*/ 47 h 47"/>
              <a:gd name="T6" fmla="*/ 0 w 47"/>
              <a:gd name="T7" fmla="*/ 24 h 47"/>
              <a:gd name="T8" fmla="*/ 24 w 47"/>
              <a:gd name="T9" fmla="*/ 0 h 47"/>
              <a:gd name="T10" fmla="*/ 24 w 47"/>
              <a:gd name="T11" fmla="*/ 15 h 47"/>
              <a:gd name="T12" fmla="*/ 15 w 47"/>
              <a:gd name="T13" fmla="*/ 24 h 47"/>
              <a:gd name="T14" fmla="*/ 24 w 47"/>
              <a:gd name="T15" fmla="*/ 32 h 47"/>
              <a:gd name="T16" fmla="*/ 32 w 47"/>
              <a:gd name="T17" fmla="*/ 24 h 47"/>
              <a:gd name="T18" fmla="*/ 24 w 47"/>
              <a:gd name="T19" fmla="*/ 15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7" h="47">
                <a:moveTo>
                  <a:pt x="24" y="0"/>
                </a:moveTo>
                <a:cubicBezTo>
                  <a:pt x="37" y="0"/>
                  <a:pt x="47" y="11"/>
                  <a:pt x="47" y="24"/>
                </a:cubicBezTo>
                <a:cubicBezTo>
                  <a:pt x="47" y="37"/>
                  <a:pt x="37" y="47"/>
                  <a:pt x="24" y="47"/>
                </a:cubicBezTo>
                <a:cubicBezTo>
                  <a:pt x="11" y="47"/>
                  <a:pt x="0" y="37"/>
                  <a:pt x="0" y="24"/>
                </a:cubicBezTo>
                <a:cubicBezTo>
                  <a:pt x="0" y="11"/>
                  <a:pt x="11" y="0"/>
                  <a:pt x="24" y="0"/>
                </a:cubicBezTo>
                <a:close/>
                <a:moveTo>
                  <a:pt x="24" y="15"/>
                </a:moveTo>
                <a:cubicBezTo>
                  <a:pt x="19" y="15"/>
                  <a:pt x="15" y="19"/>
                  <a:pt x="15" y="24"/>
                </a:cubicBezTo>
                <a:cubicBezTo>
                  <a:pt x="15" y="28"/>
                  <a:pt x="19" y="32"/>
                  <a:pt x="24" y="32"/>
                </a:cubicBezTo>
                <a:cubicBezTo>
                  <a:pt x="28" y="32"/>
                  <a:pt x="32" y="28"/>
                  <a:pt x="32" y="24"/>
                </a:cubicBezTo>
                <a:cubicBezTo>
                  <a:pt x="32" y="19"/>
                  <a:pt x="28" y="15"/>
                  <a:pt x="24" y="1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75493" tIns="37746" rIns="75493" bIns="3774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26"/>
          <p:cNvSpPr>
            <a:spLocks noEditPoints="1"/>
          </p:cNvSpPr>
          <p:nvPr/>
        </p:nvSpPr>
        <p:spPr bwMode="auto">
          <a:xfrm>
            <a:off x="1607167" y="1862173"/>
            <a:ext cx="373697" cy="365918"/>
          </a:xfrm>
          <a:custGeom>
            <a:avLst/>
            <a:gdLst>
              <a:gd name="T0" fmla="*/ 24 w 48"/>
              <a:gd name="T1" fmla="*/ 0 h 47"/>
              <a:gd name="T2" fmla="*/ 48 w 48"/>
              <a:gd name="T3" fmla="*/ 24 h 47"/>
              <a:gd name="T4" fmla="*/ 24 w 48"/>
              <a:gd name="T5" fmla="*/ 47 h 47"/>
              <a:gd name="T6" fmla="*/ 0 w 48"/>
              <a:gd name="T7" fmla="*/ 24 h 47"/>
              <a:gd name="T8" fmla="*/ 24 w 48"/>
              <a:gd name="T9" fmla="*/ 0 h 47"/>
              <a:gd name="T10" fmla="*/ 24 w 48"/>
              <a:gd name="T11" fmla="*/ 15 h 47"/>
              <a:gd name="T12" fmla="*/ 15 w 48"/>
              <a:gd name="T13" fmla="*/ 24 h 47"/>
              <a:gd name="T14" fmla="*/ 24 w 48"/>
              <a:gd name="T15" fmla="*/ 32 h 47"/>
              <a:gd name="T16" fmla="*/ 32 w 48"/>
              <a:gd name="T17" fmla="*/ 24 h 47"/>
              <a:gd name="T18" fmla="*/ 24 w 48"/>
              <a:gd name="T19" fmla="*/ 15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" h="47">
                <a:moveTo>
                  <a:pt x="24" y="0"/>
                </a:moveTo>
                <a:cubicBezTo>
                  <a:pt x="37" y="0"/>
                  <a:pt x="48" y="11"/>
                  <a:pt x="48" y="24"/>
                </a:cubicBezTo>
                <a:cubicBezTo>
                  <a:pt x="48" y="37"/>
                  <a:pt x="37" y="47"/>
                  <a:pt x="24" y="47"/>
                </a:cubicBezTo>
                <a:cubicBezTo>
                  <a:pt x="11" y="47"/>
                  <a:pt x="0" y="37"/>
                  <a:pt x="0" y="24"/>
                </a:cubicBezTo>
                <a:cubicBezTo>
                  <a:pt x="0" y="11"/>
                  <a:pt x="11" y="0"/>
                  <a:pt x="24" y="0"/>
                </a:cubicBezTo>
                <a:close/>
                <a:moveTo>
                  <a:pt x="24" y="15"/>
                </a:moveTo>
                <a:cubicBezTo>
                  <a:pt x="19" y="15"/>
                  <a:pt x="15" y="19"/>
                  <a:pt x="15" y="24"/>
                </a:cubicBezTo>
                <a:cubicBezTo>
                  <a:pt x="15" y="28"/>
                  <a:pt x="19" y="32"/>
                  <a:pt x="24" y="32"/>
                </a:cubicBezTo>
                <a:cubicBezTo>
                  <a:pt x="29" y="32"/>
                  <a:pt x="32" y="28"/>
                  <a:pt x="32" y="24"/>
                </a:cubicBezTo>
                <a:cubicBezTo>
                  <a:pt x="32" y="19"/>
                  <a:pt x="29" y="15"/>
                  <a:pt x="24" y="1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75493" tIns="37746" rIns="75493" bIns="3774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27"/>
          <p:cNvSpPr>
            <a:spLocks/>
          </p:cNvSpPr>
          <p:nvPr/>
        </p:nvSpPr>
        <p:spPr bwMode="auto">
          <a:xfrm>
            <a:off x="3432661" y="2142379"/>
            <a:ext cx="1742819" cy="1480155"/>
          </a:xfrm>
          <a:custGeom>
            <a:avLst/>
            <a:gdLst>
              <a:gd name="T0" fmla="*/ 172 w 223"/>
              <a:gd name="T1" fmla="*/ 172 h 190"/>
              <a:gd name="T2" fmla="*/ 50 w 223"/>
              <a:gd name="T3" fmla="*/ 122 h 190"/>
              <a:gd name="T4" fmla="*/ 0 w 223"/>
              <a:gd name="T5" fmla="*/ 0 h 190"/>
              <a:gd name="T6" fmla="*/ 22 w 223"/>
              <a:gd name="T7" fmla="*/ 0 h 190"/>
              <a:gd name="T8" fmla="*/ 66 w 223"/>
              <a:gd name="T9" fmla="*/ 106 h 190"/>
              <a:gd name="T10" fmla="*/ 172 w 223"/>
              <a:gd name="T11" fmla="*/ 150 h 190"/>
              <a:gd name="T12" fmla="*/ 172 w 223"/>
              <a:gd name="T13" fmla="*/ 132 h 190"/>
              <a:gd name="T14" fmla="*/ 223 w 223"/>
              <a:gd name="T15" fmla="*/ 163 h 190"/>
              <a:gd name="T16" fmla="*/ 172 w 223"/>
              <a:gd name="T17" fmla="*/ 190 h 190"/>
              <a:gd name="T18" fmla="*/ 172 w 223"/>
              <a:gd name="T19" fmla="*/ 172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3" h="190">
                <a:moveTo>
                  <a:pt x="172" y="172"/>
                </a:moveTo>
                <a:cubicBezTo>
                  <a:pt x="124" y="172"/>
                  <a:pt x="81" y="153"/>
                  <a:pt x="50" y="122"/>
                </a:cubicBezTo>
                <a:cubicBezTo>
                  <a:pt x="19" y="91"/>
                  <a:pt x="0" y="48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41"/>
                  <a:pt x="39" y="79"/>
                  <a:pt x="66" y="106"/>
                </a:cubicBezTo>
                <a:cubicBezTo>
                  <a:pt x="93" y="133"/>
                  <a:pt x="131" y="150"/>
                  <a:pt x="172" y="150"/>
                </a:cubicBezTo>
                <a:cubicBezTo>
                  <a:pt x="172" y="132"/>
                  <a:pt x="172" y="132"/>
                  <a:pt x="172" y="132"/>
                </a:cubicBezTo>
                <a:cubicBezTo>
                  <a:pt x="223" y="163"/>
                  <a:pt x="223" y="163"/>
                  <a:pt x="223" y="163"/>
                </a:cubicBezTo>
                <a:cubicBezTo>
                  <a:pt x="172" y="190"/>
                  <a:pt x="172" y="190"/>
                  <a:pt x="172" y="190"/>
                </a:cubicBezTo>
                <a:lnTo>
                  <a:pt x="172" y="172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75493" tIns="37746" rIns="75493" bIns="3774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Freeform 28"/>
          <p:cNvSpPr>
            <a:spLocks/>
          </p:cNvSpPr>
          <p:nvPr/>
        </p:nvSpPr>
        <p:spPr bwMode="auto">
          <a:xfrm>
            <a:off x="2549678" y="2142380"/>
            <a:ext cx="2625803" cy="2360336"/>
          </a:xfrm>
          <a:custGeom>
            <a:avLst/>
            <a:gdLst>
              <a:gd name="T0" fmla="*/ 285 w 336"/>
              <a:gd name="T1" fmla="*/ 285 h 303"/>
              <a:gd name="T2" fmla="*/ 84 w 336"/>
              <a:gd name="T3" fmla="*/ 202 h 303"/>
              <a:gd name="T4" fmla="*/ 0 w 336"/>
              <a:gd name="T5" fmla="*/ 0 h 303"/>
              <a:gd name="T6" fmla="*/ 23 w 336"/>
              <a:gd name="T7" fmla="*/ 0 h 303"/>
              <a:gd name="T8" fmla="*/ 100 w 336"/>
              <a:gd name="T9" fmla="*/ 186 h 303"/>
              <a:gd name="T10" fmla="*/ 285 w 336"/>
              <a:gd name="T11" fmla="*/ 262 h 303"/>
              <a:gd name="T12" fmla="*/ 285 w 336"/>
              <a:gd name="T13" fmla="*/ 245 h 303"/>
              <a:gd name="T14" fmla="*/ 336 w 336"/>
              <a:gd name="T15" fmla="*/ 275 h 303"/>
              <a:gd name="T16" fmla="*/ 285 w 336"/>
              <a:gd name="T17" fmla="*/ 303 h 303"/>
              <a:gd name="T18" fmla="*/ 285 w 336"/>
              <a:gd name="T19" fmla="*/ 285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6" h="303">
                <a:moveTo>
                  <a:pt x="285" y="285"/>
                </a:moveTo>
                <a:cubicBezTo>
                  <a:pt x="206" y="285"/>
                  <a:pt x="135" y="253"/>
                  <a:pt x="84" y="202"/>
                </a:cubicBezTo>
                <a:cubicBezTo>
                  <a:pt x="32" y="150"/>
                  <a:pt x="0" y="7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72"/>
                  <a:pt x="52" y="138"/>
                  <a:pt x="100" y="186"/>
                </a:cubicBezTo>
                <a:cubicBezTo>
                  <a:pt x="147" y="233"/>
                  <a:pt x="213" y="262"/>
                  <a:pt x="285" y="262"/>
                </a:cubicBezTo>
                <a:cubicBezTo>
                  <a:pt x="285" y="245"/>
                  <a:pt x="285" y="245"/>
                  <a:pt x="285" y="245"/>
                </a:cubicBezTo>
                <a:cubicBezTo>
                  <a:pt x="336" y="275"/>
                  <a:pt x="336" y="275"/>
                  <a:pt x="336" y="275"/>
                </a:cubicBezTo>
                <a:cubicBezTo>
                  <a:pt x="285" y="303"/>
                  <a:pt x="285" y="303"/>
                  <a:pt x="285" y="303"/>
                </a:cubicBezTo>
                <a:lnTo>
                  <a:pt x="285" y="28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75493" tIns="37746" rIns="75493" bIns="3774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Freeform 29"/>
          <p:cNvSpPr>
            <a:spLocks/>
          </p:cNvSpPr>
          <p:nvPr/>
        </p:nvSpPr>
        <p:spPr bwMode="auto">
          <a:xfrm>
            <a:off x="1693151" y="2041797"/>
            <a:ext cx="3482331" cy="3842099"/>
          </a:xfrm>
          <a:custGeom>
            <a:avLst/>
            <a:gdLst>
              <a:gd name="T0" fmla="*/ 395 w 446"/>
              <a:gd name="T1" fmla="*/ 395 h 413"/>
              <a:gd name="T2" fmla="*/ 116 w 446"/>
              <a:gd name="T3" fmla="*/ 279 h 413"/>
              <a:gd name="T4" fmla="*/ 0 w 446"/>
              <a:gd name="T5" fmla="*/ 0 h 413"/>
              <a:gd name="T6" fmla="*/ 23 w 446"/>
              <a:gd name="T7" fmla="*/ 0 h 413"/>
              <a:gd name="T8" fmla="*/ 132 w 446"/>
              <a:gd name="T9" fmla="*/ 263 h 413"/>
              <a:gd name="T10" fmla="*/ 395 w 446"/>
              <a:gd name="T11" fmla="*/ 373 h 413"/>
              <a:gd name="T12" fmla="*/ 395 w 446"/>
              <a:gd name="T13" fmla="*/ 355 h 413"/>
              <a:gd name="T14" fmla="*/ 446 w 446"/>
              <a:gd name="T15" fmla="*/ 385 h 413"/>
              <a:gd name="T16" fmla="*/ 395 w 446"/>
              <a:gd name="T17" fmla="*/ 413 h 413"/>
              <a:gd name="T18" fmla="*/ 395 w 446"/>
              <a:gd name="T19" fmla="*/ 3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6" h="413">
                <a:moveTo>
                  <a:pt x="395" y="395"/>
                </a:moveTo>
                <a:cubicBezTo>
                  <a:pt x="286" y="395"/>
                  <a:pt x="187" y="351"/>
                  <a:pt x="116" y="279"/>
                </a:cubicBezTo>
                <a:cubicBezTo>
                  <a:pt x="44" y="208"/>
                  <a:pt x="0" y="10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103"/>
                  <a:pt x="64" y="196"/>
                  <a:pt x="132" y="263"/>
                </a:cubicBezTo>
                <a:cubicBezTo>
                  <a:pt x="199" y="331"/>
                  <a:pt x="292" y="372"/>
                  <a:pt x="395" y="373"/>
                </a:cubicBezTo>
                <a:cubicBezTo>
                  <a:pt x="395" y="355"/>
                  <a:pt x="395" y="355"/>
                  <a:pt x="395" y="355"/>
                </a:cubicBezTo>
                <a:cubicBezTo>
                  <a:pt x="446" y="385"/>
                  <a:pt x="446" y="385"/>
                  <a:pt x="446" y="385"/>
                </a:cubicBezTo>
                <a:cubicBezTo>
                  <a:pt x="395" y="413"/>
                  <a:pt x="395" y="413"/>
                  <a:pt x="395" y="413"/>
                </a:cubicBezTo>
                <a:lnTo>
                  <a:pt x="395" y="39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75493" tIns="37746" rIns="75493" bIns="3774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5274801" y="2739693"/>
            <a:ext cx="966786" cy="768726"/>
          </a:xfrm>
          <a:prstGeom prst="rect">
            <a:avLst/>
          </a:prstGeom>
          <a:noFill/>
        </p:spPr>
        <p:txBody>
          <a:bodyPr wrap="none" lIns="75493" tIns="37746" rIns="75493" bIns="37746" rtlCol="0" anchor="ctr">
            <a:spAutoFit/>
          </a:bodyPr>
          <a:lstStyle/>
          <a:p>
            <a:r>
              <a:rPr lang="en-US" altLang="zh-CN" sz="4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.</a:t>
            </a:r>
            <a:r>
              <a:rPr lang="en-US" altLang="zh-CN" sz="4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py</a:t>
            </a:r>
            <a:endParaRPr lang="zh-CN" altLang="en-US" sz="4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8"/>
          <p:cNvSpPr txBox="1"/>
          <p:nvPr/>
        </p:nvSpPr>
        <p:spPr>
          <a:xfrm>
            <a:off x="5305208" y="3872095"/>
            <a:ext cx="1253852" cy="768726"/>
          </a:xfrm>
          <a:prstGeom prst="rect">
            <a:avLst/>
          </a:prstGeom>
          <a:noFill/>
        </p:spPr>
        <p:txBody>
          <a:bodyPr wrap="none" lIns="75493" tIns="37746" rIns="75493" bIns="37746" rtlCol="0" anchor="ctr">
            <a:spAutoFit/>
          </a:bodyPr>
          <a:lstStyle/>
          <a:p>
            <a:r>
              <a:rPr lang="en-US" altLang="zh-CN" sz="4500" dirty="0">
                <a:latin typeface="微软雅黑" pitchFamily="34" charset="-122"/>
                <a:ea typeface="微软雅黑" pitchFamily="34" charset="-122"/>
              </a:rPr>
              <a:t>.</a:t>
            </a:r>
            <a:r>
              <a:rPr lang="en-US" altLang="zh-CN" sz="4500" dirty="0" err="1">
                <a:latin typeface="微软雅黑" pitchFamily="34" charset="-122"/>
                <a:ea typeface="微软雅黑" pitchFamily="34" charset="-122"/>
              </a:rPr>
              <a:t>pyc</a:t>
            </a:r>
            <a:endParaRPr lang="zh-CN" altLang="en-US" sz="45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5317807" y="5115176"/>
            <a:ext cx="1330796" cy="768726"/>
          </a:xfrm>
          <a:prstGeom prst="rect">
            <a:avLst/>
          </a:prstGeom>
          <a:noFill/>
        </p:spPr>
        <p:txBody>
          <a:bodyPr wrap="none" lIns="75493" tIns="37746" rIns="75493" bIns="37746" rtlCol="0" anchor="ctr">
            <a:spAutoFit/>
          </a:bodyPr>
          <a:lstStyle/>
          <a:p>
            <a:r>
              <a:rPr lang="en-US" altLang="zh-CN" sz="4500" dirty="0">
                <a:latin typeface="微软雅黑" pitchFamily="34" charset="-122"/>
                <a:ea typeface="微软雅黑" pitchFamily="34" charset="-122"/>
              </a:rPr>
              <a:t>.</a:t>
            </a:r>
            <a:r>
              <a:rPr lang="en-US" altLang="zh-CN" sz="4500" dirty="0" err="1">
                <a:latin typeface="微软雅黑" pitchFamily="34" charset="-122"/>
                <a:ea typeface="微软雅黑" pitchFamily="34" charset="-122"/>
              </a:rPr>
              <a:t>pyo</a:t>
            </a:r>
            <a:endParaRPr lang="zh-CN" altLang="en-US" sz="45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20"/>
          <p:cNvSpPr txBox="1"/>
          <p:nvPr/>
        </p:nvSpPr>
        <p:spPr>
          <a:xfrm>
            <a:off x="6795100" y="2758665"/>
            <a:ext cx="4985817" cy="581817"/>
          </a:xfrm>
          <a:prstGeom prst="rect">
            <a:avLst/>
          </a:prstGeom>
          <a:noFill/>
        </p:spPr>
        <p:txBody>
          <a:bodyPr wrap="square" lIns="75493" tIns="37746" rIns="75493" bIns="37746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程序解释，不需要编译</a:t>
            </a:r>
          </a:p>
        </p:txBody>
      </p:sp>
      <p:sp>
        <p:nvSpPr>
          <p:cNvPr id="16" name="TextBox 21"/>
          <p:cNvSpPr txBox="1"/>
          <p:nvPr/>
        </p:nvSpPr>
        <p:spPr>
          <a:xfrm>
            <a:off x="6722635" y="3517519"/>
            <a:ext cx="5553016" cy="1702124"/>
          </a:xfrm>
          <a:prstGeom prst="rect">
            <a:avLst/>
          </a:prstGeom>
          <a:noFill/>
        </p:spPr>
        <p:txBody>
          <a:bodyPr wrap="square" lIns="75493" tIns="37746" rIns="75493" bIns="37746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py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源文件编译而成的二进制字节码文件，由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加载执行，速度快，能隐藏源代码</a:t>
            </a:r>
          </a:p>
        </p:txBody>
      </p:sp>
      <p:sp>
        <p:nvSpPr>
          <p:cNvPr id="17" name="TextBox 22"/>
          <p:cNvSpPr txBox="1"/>
          <p:nvPr/>
        </p:nvSpPr>
        <p:spPr>
          <a:xfrm>
            <a:off x="6726807" y="5424695"/>
            <a:ext cx="5378409" cy="1141970"/>
          </a:xfrm>
          <a:prstGeom prst="rect">
            <a:avLst/>
          </a:prstGeom>
          <a:noFill/>
        </p:spPr>
        <p:txBody>
          <a:bodyPr wrap="square" lIns="75493" tIns="37746" rIns="75493" bIns="37746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优化编译后的程序，也是二进制文件，适合用于嵌入式系统</a:t>
            </a: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4CF27849-B93C-404F-8721-8D9DE934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128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400"/>
                            </p:stCondLst>
                            <p:childTnLst>
                              <p:par>
                                <p:cTn id="3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9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400"/>
                            </p:stCondLst>
                            <p:childTnLst>
                              <p:par>
                                <p:cTn id="5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9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400"/>
                            </p:stCondLst>
                            <p:childTnLst>
                              <p:par>
                                <p:cTn id="6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不同文件的转换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8784" y="1628800"/>
            <a:ext cx="10515600" cy="4351338"/>
          </a:xfrm>
        </p:spPr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zh-CN" altLang="en-US" dirty="0"/>
              <a:t>文件转换为</a:t>
            </a:r>
            <a:r>
              <a:rPr lang="en-US" altLang="zh-CN" dirty="0"/>
              <a:t>.</a:t>
            </a:r>
            <a:r>
              <a:rPr lang="en-US" altLang="zh-CN" dirty="0" err="1"/>
              <a:t>pyc</a:t>
            </a:r>
            <a:r>
              <a:rPr lang="zh-CN" altLang="en-US" dirty="0"/>
              <a:t>文件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400" dirty="0"/>
              <a:t>&gt;&gt;&gt;import </a:t>
            </a:r>
            <a:r>
              <a:rPr lang="en-US" altLang="zh-CN" sz="2400" dirty="0" err="1"/>
              <a:t>py_compile</a:t>
            </a:r>
            <a:endParaRPr lang="zh-CN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&gt;&gt;&gt;</a:t>
            </a:r>
            <a:r>
              <a:rPr lang="en-US" altLang="zh-CN" sz="2400" dirty="0" err="1"/>
              <a:t>py_compile</a:t>
            </a:r>
            <a:r>
              <a:rPr lang="en-US" altLang="zh-CN" sz="2400" dirty="0"/>
              <a:t>. compile(</a:t>
            </a:r>
            <a:r>
              <a:rPr lang="zh-CN" altLang="zh-CN" sz="2400" dirty="0"/>
              <a:t>文件名</a:t>
            </a:r>
            <a:r>
              <a:rPr lang="en-US" altLang="zh-CN" sz="2400" dirty="0"/>
              <a:t>)</a:t>
            </a:r>
          </a:p>
          <a:p>
            <a:r>
              <a:rPr lang="zh-CN" altLang="en-US" dirty="0"/>
              <a:t>将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zh-CN" altLang="en-US" dirty="0"/>
              <a:t>源文件转换为</a:t>
            </a:r>
            <a:r>
              <a:rPr lang="en-US" altLang="zh-CN" dirty="0"/>
              <a:t>.</a:t>
            </a:r>
            <a:r>
              <a:rPr lang="en-US" altLang="zh-CN" dirty="0" err="1"/>
              <a:t>pyo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的命令提示符窗口下，输入以下格式命令：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800" dirty="0"/>
              <a:t>   python –O –m </a:t>
            </a:r>
            <a:r>
              <a:rPr lang="en-US" altLang="zh-CN" sz="2800" dirty="0" err="1"/>
              <a:t>py_compile</a:t>
            </a:r>
            <a:r>
              <a:rPr lang="en-US" altLang="zh-CN" sz="2800" dirty="0"/>
              <a:t> </a:t>
            </a:r>
            <a:r>
              <a:rPr lang="zh-CN" altLang="zh-CN" sz="2800" dirty="0"/>
              <a:t>文件名</a:t>
            </a:r>
            <a:endParaRPr lang="zh-CN" altLang="en-US" sz="280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5349F1-C1B3-480A-A74C-0B94A7F6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8849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IDLE</a:t>
            </a:r>
            <a:r>
              <a:rPr lang="zh-CN" altLang="en-US" dirty="0"/>
              <a:t>中执行</a:t>
            </a:r>
            <a:r>
              <a:rPr lang="en-US" altLang="zh-CN" dirty="0"/>
              <a:t>Python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打开</a:t>
            </a:r>
            <a:r>
              <a:rPr lang="en-US" altLang="zh-CN" dirty="0"/>
              <a:t>IDLE</a:t>
            </a:r>
            <a:r>
              <a:rPr lang="zh-CN" altLang="en-US" dirty="0"/>
              <a:t>，选择菜单</a:t>
            </a:r>
            <a:r>
              <a:rPr lang="en-US" altLang="zh-CN" dirty="0"/>
              <a:t>File-&gt;New File</a:t>
            </a:r>
            <a:r>
              <a:rPr lang="zh-CN" altLang="en-US" dirty="0"/>
              <a:t>或按快捷键</a:t>
            </a:r>
            <a:r>
              <a:rPr lang="en-US" altLang="zh-CN" dirty="0" err="1"/>
              <a:t>Ctrl+N</a:t>
            </a:r>
            <a:endParaRPr lang="en-US" altLang="zh-CN" dirty="0"/>
          </a:p>
          <a:p>
            <a:pPr lvl="1"/>
            <a:r>
              <a:rPr lang="zh-CN" altLang="en-US" dirty="0"/>
              <a:t>在新窗口中输入代码，并保存为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选择菜单</a:t>
            </a:r>
            <a:r>
              <a:rPr lang="en-US" altLang="zh-CN" dirty="0"/>
              <a:t>Run-&gt;Run Module</a:t>
            </a:r>
            <a:r>
              <a:rPr lang="zh-CN" altLang="en-US" dirty="0"/>
              <a:t>或按快捷键</a:t>
            </a:r>
            <a:r>
              <a:rPr lang="en-US" altLang="zh-CN" dirty="0"/>
              <a:t>F5</a:t>
            </a:r>
            <a:r>
              <a:rPr lang="zh-CN" altLang="en-US" dirty="0"/>
              <a:t>运行文件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E25239-67B2-4DF7-8D82-45932FA3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31761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09B7CD87-D866-42DE-B9DC-B58C52C49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50" y="1462761"/>
            <a:ext cx="11064083" cy="5381551"/>
          </a:xfrm>
          <a:prstGeom prst="rect">
            <a:avLst/>
          </a:prstGeom>
        </p:spPr>
      </p:pic>
      <p:sp>
        <p:nvSpPr>
          <p:cNvPr id="4" name="Rectangle 2"/>
          <p:cNvSpPr>
            <a:spLocks noChangeAspect="1"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83392" y="157451"/>
            <a:ext cx="10608000" cy="107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384032" y="3140968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程序窗口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55440" y="4581128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运行结果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06677FD-7A3B-4069-84DF-E297CB71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3959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1.3.3 </a:t>
            </a:r>
            <a:r>
              <a:rPr lang="zh-CN" altLang="en-US" dirty="0"/>
              <a:t>使用</a:t>
            </a:r>
            <a:r>
              <a:rPr lang="en-US" altLang="zh-CN" dirty="0" err="1"/>
              <a:t>PyCharm</a:t>
            </a:r>
            <a:r>
              <a:rPr lang="zh-CN" altLang="en-US" dirty="0"/>
              <a:t>编写第一个程序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启动</a:t>
            </a:r>
            <a:r>
              <a:rPr lang="en-US" altLang="zh-CN" dirty="0"/>
              <a:t>PyCharm</a:t>
            </a:r>
          </a:p>
          <a:p>
            <a:r>
              <a:rPr lang="zh-CN" altLang="en-US" dirty="0"/>
              <a:t>选菜单</a:t>
            </a:r>
            <a:r>
              <a:rPr lang="en-US" altLang="zh-CN" dirty="0"/>
              <a:t>[File]/[New Project]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来新建一个项目。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336C534-AD04-4AF6-BFB5-0D2045F1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E3923C9-A20E-4693-B4A0-9091ABA8A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1484784"/>
            <a:ext cx="3293850" cy="529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80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4F172E7-8092-41C4-BEA5-1493FDD0F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70198"/>
            <a:ext cx="10729192" cy="6687802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3359696" y="476672"/>
            <a:ext cx="5616624" cy="5760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D712888-225E-4B09-B546-9D583DC3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5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1108" y="1556792"/>
            <a:ext cx="10515600" cy="4351338"/>
          </a:xfrm>
        </p:spPr>
        <p:txBody>
          <a:bodyPr/>
          <a:lstStyle/>
          <a:p>
            <a:r>
              <a:rPr lang="en-US" altLang="zh-CN" dirty="0"/>
              <a:t>“Location”</a:t>
            </a:r>
            <a:r>
              <a:rPr lang="zh-CN" altLang="en-US" dirty="0"/>
              <a:t>是项目存放的文件夹位置和文件夹名</a:t>
            </a:r>
            <a:endParaRPr lang="en-US" altLang="zh-CN" dirty="0"/>
          </a:p>
          <a:p>
            <a:r>
              <a:rPr lang="en-US" altLang="zh-CN" dirty="0"/>
              <a:t>“Existing </a:t>
            </a:r>
            <a:r>
              <a:rPr lang="en-US" altLang="zh-CN" dirty="0" err="1"/>
              <a:t>interperter</a:t>
            </a:r>
            <a:r>
              <a:rPr lang="en-US" altLang="zh-CN" dirty="0"/>
              <a:t>”</a:t>
            </a:r>
            <a:r>
              <a:rPr lang="zh-CN" altLang="en-US" dirty="0"/>
              <a:t>选之前配置好的</a:t>
            </a:r>
            <a:r>
              <a:rPr lang="en-US" altLang="zh-CN" dirty="0"/>
              <a:t>Python</a:t>
            </a:r>
            <a:r>
              <a:rPr lang="zh-CN" altLang="en-US" dirty="0"/>
              <a:t>解释器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095044" y="4629016"/>
            <a:ext cx="3967728" cy="4561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D712888-225E-4B09-B546-9D583DC3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993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D3BFFAE-7CDC-4FC2-9A1D-1E5A8B129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67" y="1550564"/>
            <a:ext cx="9649073" cy="52695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项目管理窗口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59466" y="4739350"/>
            <a:ext cx="1800200" cy="95410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当前项目内容列表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128380" y="4830382"/>
            <a:ext cx="2016224" cy="95410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正在编辑的当前内容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37817D-6031-4677-8083-7CD2170F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816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新建</a:t>
            </a:r>
            <a:r>
              <a:rPr lang="en-US" altLang="zh-CN" dirty="0"/>
              <a:t>Python</a:t>
            </a:r>
            <a:r>
              <a:rPr lang="zh-CN" altLang="en-US" dirty="0"/>
              <a:t>文件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选择主菜单</a:t>
            </a:r>
            <a:r>
              <a:rPr lang="en-US" altLang="zh-CN" dirty="0"/>
              <a:t>File-&gt;New</a:t>
            </a:r>
            <a:r>
              <a:rPr lang="zh-CN" altLang="en-US" dirty="0"/>
              <a:t>，弹出</a:t>
            </a:r>
            <a:r>
              <a:rPr lang="en-US" altLang="zh-CN" dirty="0"/>
              <a:t>New</a:t>
            </a:r>
            <a:r>
              <a:rPr lang="zh-CN" altLang="en-US" dirty="0"/>
              <a:t>的</a:t>
            </a:r>
            <a:br>
              <a:rPr lang="en-US" altLang="zh-CN" dirty="0"/>
            </a:br>
            <a:r>
              <a:rPr lang="zh-CN" altLang="en-US" dirty="0"/>
              <a:t>快捷菜单</a:t>
            </a:r>
            <a:endParaRPr lang="en-US" altLang="zh-CN" dirty="0"/>
          </a:p>
          <a:p>
            <a:r>
              <a:rPr lang="zh-CN" altLang="en-US" dirty="0"/>
              <a:t>选择</a:t>
            </a:r>
            <a:r>
              <a:rPr lang="en-US" altLang="zh-CN" dirty="0"/>
              <a:t>“Python File”</a:t>
            </a:r>
            <a:r>
              <a:rPr lang="zh-CN" altLang="en-US" dirty="0"/>
              <a:t>并输入文件名</a:t>
            </a:r>
            <a:endParaRPr lang="en-US" altLang="zh-CN" dirty="0"/>
          </a:p>
          <a:p>
            <a:r>
              <a:rPr lang="zh-CN" altLang="en-US" dirty="0"/>
              <a:t>在右侧窗口输入代码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772816-D802-4C51-976D-02BE9D93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FE566D-1195-4D8B-AE0A-F3AE0C69E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323" y="2754839"/>
            <a:ext cx="4865541" cy="373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05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</a:t>
            </a:r>
            <a:r>
              <a:rPr lang="en-US" altLang="zh-CN" dirty="0"/>
              <a:t>Python</a:t>
            </a:r>
            <a:r>
              <a:rPr lang="zh-CN" altLang="en-US" dirty="0"/>
              <a:t>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1825625"/>
            <a:ext cx="10874424" cy="4351338"/>
          </a:xfrm>
        </p:spPr>
        <p:txBody>
          <a:bodyPr/>
          <a:lstStyle/>
          <a:p>
            <a:r>
              <a:rPr lang="zh-CN" altLang="en-US" dirty="0"/>
              <a:t>在左侧栏的文件名上右击鼠标</a:t>
            </a:r>
            <a:endParaRPr lang="en-US" altLang="zh-CN" dirty="0"/>
          </a:p>
          <a:p>
            <a:r>
              <a:rPr lang="zh-CN" altLang="en-US" dirty="0"/>
              <a:t>选择</a:t>
            </a:r>
            <a:r>
              <a:rPr lang="en-US" altLang="zh-CN" dirty="0"/>
              <a:t>“Run ‘Py1-1main.py’”</a:t>
            </a:r>
            <a:r>
              <a:rPr lang="zh-CN" altLang="en-US" dirty="0"/>
              <a:t>运行程序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BA2C40-9A92-4B00-A207-BBA34BFE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EF8220-3F6E-4CBB-BA8B-DE3348122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044" y="700479"/>
            <a:ext cx="5040560" cy="590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91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12565AF3-456E-40D1-9CD3-3560A2711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1550908"/>
            <a:ext cx="7609786" cy="5262531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程序的运行结果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847528" y="5373215"/>
            <a:ext cx="4752528" cy="11196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18C86D-6C93-4A3E-AA58-41350E9AE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241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1.4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安装扩展库的方法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658E8E-1C4F-4932-94EB-D55DEAB2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扩展库概述</a:t>
            </a:r>
          </a:p>
        </p:txBody>
      </p:sp>
      <p:sp>
        <p:nvSpPr>
          <p:cNvPr id="4" name="同侧圆角矩形 3"/>
          <p:cNvSpPr/>
          <p:nvPr/>
        </p:nvSpPr>
        <p:spPr>
          <a:xfrm rot="5400000" flipH="1">
            <a:off x="7944421" y="14082"/>
            <a:ext cx="685707" cy="49447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 w="9525">
            <a:solidFill>
              <a:schemeClr val="bg1"/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同侧圆角矩形 4"/>
          <p:cNvSpPr/>
          <p:nvPr/>
        </p:nvSpPr>
        <p:spPr>
          <a:xfrm rot="16200000">
            <a:off x="3305114" y="-766017"/>
            <a:ext cx="685707" cy="49447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 w="9525">
            <a:solidFill>
              <a:schemeClr val="bg1"/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20"/>
          <p:cNvSpPr>
            <a:spLocks noChangeAspect="1"/>
          </p:cNvSpPr>
          <p:nvPr/>
        </p:nvSpPr>
        <p:spPr>
          <a:xfrm>
            <a:off x="4221649" y="1340065"/>
            <a:ext cx="3718062" cy="1512871"/>
          </a:xfrm>
          <a:prstGeom prst="ellipse">
            <a:avLst/>
          </a:prstGeom>
          <a:solidFill>
            <a:schemeClr val="bg1"/>
          </a:solidFill>
          <a:ln w="15875">
            <a:solidFill>
              <a:srgbClr val="20386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20"/>
          <p:cNvSpPr>
            <a:spLocks noChangeAspect="1"/>
          </p:cNvSpPr>
          <p:nvPr/>
        </p:nvSpPr>
        <p:spPr>
          <a:xfrm>
            <a:off x="4367808" y="1484784"/>
            <a:ext cx="3419818" cy="122900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bg1"/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007838" y="1713701"/>
            <a:ext cx="2241020" cy="74231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lIns="91436" tIns="45718" rIns="91436" bIns="45718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代码复用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8200" y="1484781"/>
            <a:ext cx="3804980" cy="59791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应用程序编程接口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054052" y="2265957"/>
            <a:ext cx="1441003" cy="453453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开源库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24879" y="3459721"/>
            <a:ext cx="3060927" cy="2849600"/>
          </a:xfrm>
          <a:prstGeom prst="rect">
            <a:avLst/>
          </a:prstGeom>
          <a:solidFill>
            <a:schemeClr val="tx2">
              <a:lumMod val="10000"/>
            </a:schemeClr>
          </a:solidFill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44000" bIns="37760"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库</a:t>
            </a:r>
            <a:r>
              <a:rPr lang="zh-CN" altLang="en-US" sz="2400" b="1" dirty="0">
                <a:solidFill>
                  <a:schemeClr val="tx1"/>
                </a:solidFill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</a:rPr>
              <a:t>library</a:t>
            </a:r>
            <a:r>
              <a:rPr lang="zh-CN" altLang="en-US" sz="2400" b="1" dirty="0">
                <a:solidFill>
                  <a:schemeClr val="tx1"/>
                </a:solidFill>
              </a:rPr>
              <a:t>）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模块</a:t>
            </a:r>
            <a:r>
              <a:rPr lang="zh-CN" altLang="en-US" sz="2400" b="1" dirty="0">
                <a:solidFill>
                  <a:schemeClr val="tx1"/>
                </a:solidFill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</a:rPr>
              <a:t>module</a:t>
            </a:r>
            <a:r>
              <a:rPr lang="zh-CN" altLang="en-US" sz="2400" b="1" dirty="0">
                <a:solidFill>
                  <a:schemeClr val="tx1"/>
                </a:solidFill>
              </a:rPr>
              <a:t>）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</a:t>
            </a:r>
            <a:r>
              <a:rPr lang="zh-CN" altLang="en-US" sz="2400" b="1" dirty="0">
                <a:solidFill>
                  <a:schemeClr val="tx1"/>
                </a:solidFill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</a:rPr>
              <a:t>class</a:t>
            </a:r>
            <a:r>
              <a:rPr lang="zh-CN" altLang="en-US" sz="2400" b="1" dirty="0">
                <a:solidFill>
                  <a:schemeClr val="tx1"/>
                </a:solidFill>
              </a:rPr>
              <a:t>）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程序包</a:t>
            </a:r>
            <a:r>
              <a:rPr lang="zh-CN" altLang="en-US" sz="2400" b="1" dirty="0">
                <a:solidFill>
                  <a:schemeClr val="tx1"/>
                </a:solidFill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</a:rPr>
              <a:t>Package</a:t>
            </a:r>
            <a:r>
              <a:rPr lang="zh-CN" altLang="en-US" sz="2400" b="1" dirty="0">
                <a:solidFill>
                  <a:schemeClr val="tx1"/>
                </a:solidFill>
              </a:rPr>
              <a:t>）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8" name="AutoShape 12"/>
          <p:cNvSpPr>
            <a:spLocks noChangeArrowheads="1"/>
          </p:cNvSpPr>
          <p:nvPr/>
        </p:nvSpPr>
        <p:spPr bwMode="auto">
          <a:xfrm>
            <a:off x="2624878" y="2832481"/>
            <a:ext cx="3060927" cy="651295"/>
          </a:xfrm>
          <a:prstGeom prst="homePlate">
            <a:avLst>
              <a:gd name="adj" fmla="val 63872"/>
            </a:avLst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pPr algn="ctr"/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可复用代码</a:t>
            </a:r>
          </a:p>
        </p:txBody>
      </p:sp>
      <p:sp>
        <p:nvSpPr>
          <p:cNvPr id="19" name="矩形 18"/>
          <p:cNvSpPr/>
          <p:nvPr/>
        </p:nvSpPr>
        <p:spPr>
          <a:xfrm>
            <a:off x="6257162" y="3459720"/>
            <a:ext cx="3060927" cy="2849601"/>
          </a:xfrm>
          <a:prstGeom prst="rect">
            <a:avLst/>
          </a:prstGeom>
          <a:solidFill>
            <a:schemeClr val="tx2">
              <a:lumMod val="10000"/>
            </a:schemeClr>
          </a:solidFill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80000" bIns="37760"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标准库</a:t>
            </a:r>
            <a:r>
              <a:rPr lang="zh-CN" altLang="en-US" sz="2400" b="1" dirty="0">
                <a:solidFill>
                  <a:schemeClr val="tx1"/>
                </a:solidFill>
              </a:rPr>
              <a:t>：内置的库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扩展库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</a:rPr>
              <a:t>第三方库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</a:rPr>
              <a:t>其他的库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algn="r">
              <a:lnSpc>
                <a:spcPct val="150000"/>
              </a:lnSpc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 algn="r">
              <a:lnSpc>
                <a:spcPct val="150000"/>
              </a:lnSpc>
            </a:pP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20" name="AutoShape 12"/>
          <p:cNvSpPr>
            <a:spLocks noChangeArrowheads="1"/>
          </p:cNvSpPr>
          <p:nvPr/>
        </p:nvSpPr>
        <p:spPr bwMode="auto">
          <a:xfrm flipH="1">
            <a:off x="6257162" y="2801884"/>
            <a:ext cx="3060927" cy="651295"/>
          </a:xfrm>
          <a:prstGeom prst="homePlate">
            <a:avLst>
              <a:gd name="adj" fmla="val 63872"/>
            </a:avLst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pPr algn="ctr"/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的库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8E7B41A6-C40B-449C-884B-3184FCD0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666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A6DEC-3D8A-4218-A328-D2C160D4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扩展库 </a:t>
            </a:r>
            <a:r>
              <a:rPr lang="en-US" altLang="zh-CN" dirty="0"/>
              <a:t>&amp; </a:t>
            </a:r>
            <a:r>
              <a:rPr lang="zh-CN" altLang="en-US" dirty="0"/>
              <a:t>代码复用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FC0D1-6A1C-4610-A7B0-7821F8A6B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现在程序设计的流行方式</a:t>
            </a:r>
            <a:r>
              <a:rPr lang="en-US" altLang="zh-CN" dirty="0"/>
              <a:t>——</a:t>
            </a:r>
            <a:r>
              <a:rPr lang="zh-CN" altLang="en-US" dirty="0"/>
              <a:t>代码复用</a:t>
            </a:r>
            <a:endParaRPr lang="en-US" altLang="zh-CN" dirty="0"/>
          </a:p>
          <a:p>
            <a:r>
              <a:rPr lang="zh-CN" altLang="en-US" dirty="0"/>
              <a:t>标准库：安装</a:t>
            </a:r>
            <a:r>
              <a:rPr lang="en-US" altLang="zh-CN" dirty="0"/>
              <a:t>python</a:t>
            </a:r>
            <a:r>
              <a:rPr lang="zh-CN" altLang="en-US" dirty="0"/>
              <a:t>时同时安装好，一般不太大</a:t>
            </a:r>
            <a:endParaRPr lang="en-US" altLang="zh-CN" dirty="0"/>
          </a:p>
          <a:p>
            <a:r>
              <a:rPr lang="zh-CN" altLang="en-US" dirty="0"/>
              <a:t>扩展库（第三方库）：不是</a:t>
            </a:r>
            <a:r>
              <a:rPr lang="en-US" altLang="zh-CN" dirty="0"/>
              <a:t>python</a:t>
            </a:r>
            <a:r>
              <a:rPr lang="zh-CN" altLang="en-US" dirty="0"/>
              <a:t>自带的，需要另外安装</a:t>
            </a:r>
            <a:endParaRPr lang="en-US" altLang="zh-CN" dirty="0"/>
          </a:p>
          <a:p>
            <a:r>
              <a:rPr lang="zh-CN" altLang="en-US" dirty="0"/>
              <a:t>最方便的安装工具：</a:t>
            </a:r>
            <a:r>
              <a:rPr lang="en-US" altLang="zh-CN" dirty="0"/>
              <a:t>pip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3E7551-A475-4649-8804-5D8D3D4B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3709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A6DEC-3D8A-4218-A328-D2C160D4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扩展库 </a:t>
            </a:r>
            <a:r>
              <a:rPr lang="en-US" altLang="zh-CN" dirty="0"/>
              <a:t>&amp; </a:t>
            </a:r>
            <a:r>
              <a:rPr lang="zh-CN" altLang="en-US" dirty="0"/>
              <a:t>代码复用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FC0D1-6A1C-4610-A7B0-7821F8A6B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扩展库：</a:t>
            </a:r>
            <a:endParaRPr lang="en-US" altLang="zh-CN" dirty="0"/>
          </a:p>
          <a:p>
            <a:pPr lvl="1"/>
            <a:r>
              <a:rPr lang="zh-CN" altLang="en-US" dirty="0"/>
              <a:t>面向各专业领域的需求，有人专门开发</a:t>
            </a:r>
            <a:endParaRPr lang="en-US" altLang="zh-CN" dirty="0"/>
          </a:p>
          <a:p>
            <a:pPr lvl="1"/>
            <a:r>
              <a:rPr lang="zh-CN" altLang="en-US" dirty="0"/>
              <a:t>封装性</a:t>
            </a:r>
            <a:r>
              <a:rPr lang="en-US" altLang="zh-CN" dirty="0"/>
              <a:t>——</a:t>
            </a:r>
            <a:r>
              <a:rPr lang="zh-CN" altLang="en-US" dirty="0"/>
              <a:t>用户直接通过接口调用，不用深入研究该领域的问题及算法，拿来主义，</a:t>
            </a:r>
            <a:r>
              <a:rPr lang="en-US" altLang="zh-CN" dirty="0" err="1"/>
              <a:t>eg</a:t>
            </a:r>
            <a:r>
              <a:rPr lang="zh-CN" altLang="en-US" dirty="0"/>
              <a:t>地图上找路径</a:t>
            </a:r>
            <a:endParaRPr lang="en-US" altLang="zh-CN" dirty="0"/>
          </a:p>
          <a:p>
            <a:pPr lvl="1"/>
            <a:r>
              <a:rPr lang="zh-CN" altLang="en-US" dirty="0"/>
              <a:t>好处</a:t>
            </a:r>
            <a:r>
              <a:rPr lang="en-US" altLang="zh-CN" dirty="0"/>
              <a:t>——</a:t>
            </a:r>
            <a:r>
              <a:rPr lang="zh-CN" altLang="en-US" dirty="0"/>
              <a:t>降低程序员的编程难度，提高编程效率</a:t>
            </a:r>
            <a:endParaRPr lang="en-US" altLang="zh-CN" dirty="0"/>
          </a:p>
          <a:p>
            <a:pPr lvl="1"/>
            <a:r>
              <a:rPr lang="zh-CN" altLang="en-US" dirty="0"/>
              <a:t>丰富的扩展库，是</a:t>
            </a:r>
            <a:r>
              <a:rPr lang="en-US" altLang="zh-CN" dirty="0"/>
              <a:t>python</a:t>
            </a:r>
            <a:r>
              <a:rPr lang="zh-CN" altLang="en-US" dirty="0"/>
              <a:t>的一大优势</a:t>
            </a:r>
            <a:endParaRPr lang="en-US" altLang="zh-CN" dirty="0"/>
          </a:p>
          <a:p>
            <a:pPr lvl="2"/>
            <a:r>
              <a:rPr lang="zh-CN" altLang="en-US" dirty="0"/>
              <a:t>某个新邻域兴起，就会出现</a:t>
            </a:r>
            <a:r>
              <a:rPr lang="en-US" altLang="zh-CN" dirty="0"/>
              <a:t>C/C++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的扩展库，例如：大数据，机器人</a:t>
            </a:r>
            <a:endParaRPr lang="en-US" altLang="zh-CN" dirty="0"/>
          </a:p>
          <a:p>
            <a:pPr lvl="2"/>
            <a:r>
              <a:rPr lang="en-US" altLang="zh-CN" dirty="0"/>
              <a:t>Why Python</a:t>
            </a:r>
            <a:r>
              <a:rPr lang="zh-CN" altLang="en-US" dirty="0"/>
              <a:t>有如此丰富的扩展库呢？</a:t>
            </a:r>
            <a:br>
              <a:rPr lang="en-US" altLang="zh-CN" dirty="0"/>
            </a:br>
            <a:r>
              <a:rPr lang="zh-CN" altLang="en-US" dirty="0"/>
              <a:t>“胶水语言”</a:t>
            </a:r>
            <a:r>
              <a:rPr lang="en-US" altLang="zh-CN" dirty="0"/>
              <a:t>——</a:t>
            </a:r>
            <a:r>
              <a:rPr lang="zh-CN" altLang="en-US" dirty="0"/>
              <a:t>与</a:t>
            </a:r>
            <a:r>
              <a:rPr lang="en-US" altLang="zh-CN" dirty="0"/>
              <a:t>C</a:t>
            </a:r>
            <a:r>
              <a:rPr lang="zh-CN" altLang="en-US" dirty="0"/>
              <a:t>的良好互操作性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3E7551-A475-4649-8804-5D8D3D4B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01402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2B940-DE5C-45EE-940A-5178B6324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常用扩展库 </a:t>
            </a:r>
            <a:r>
              <a:rPr lang="en-US" altLang="zh-CN" dirty="0"/>
              <a:t>P23</a:t>
            </a:r>
            <a:r>
              <a:rPr lang="zh-CN" altLang="en-US" dirty="0"/>
              <a:t>表</a:t>
            </a:r>
            <a:r>
              <a:rPr lang="en-US" altLang="zh-CN" dirty="0"/>
              <a:t>1-2 (</a:t>
            </a:r>
            <a:r>
              <a:rPr lang="zh-CN" altLang="en-US" dirty="0"/>
              <a:t>部分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49E2A3-FA45-4D7F-87ED-2BCEC0A4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44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24965F-898B-409F-9EC9-DD13E0A7B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5" y="1542855"/>
            <a:ext cx="7992888" cy="48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1. turtle</a:t>
            </a:r>
            <a:r>
              <a:rPr lang="zh-CN" altLang="en-US" dirty="0"/>
              <a:t>库：标准库，入门级的图形绘制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2. random</a:t>
            </a:r>
            <a:r>
              <a:rPr lang="zh-CN" altLang="en-US" dirty="0"/>
              <a:t>库：标准库，随机数</a:t>
            </a:r>
            <a:endParaRPr lang="en-US" altLang="zh-CN" dirty="0"/>
          </a:p>
          <a:p>
            <a:r>
              <a:rPr lang="en-US" altLang="zh-CN" dirty="0"/>
              <a:t> 3. </a:t>
            </a:r>
            <a:r>
              <a:rPr lang="en-US" altLang="zh-CN" dirty="0" err="1"/>
              <a:t>Jieba</a:t>
            </a:r>
            <a:r>
              <a:rPr lang="zh-CN" altLang="en-US" dirty="0"/>
              <a:t>库：第三方库，中文分词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43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2255723" y="4737920"/>
            <a:ext cx="3912531" cy="0"/>
          </a:xfrm>
          <a:prstGeom prst="line">
            <a:avLst/>
          </a:prstGeom>
          <a:noFill/>
          <a:ln w="9525">
            <a:solidFill>
              <a:schemeClr val="accent1">
                <a:lumMod val="75000"/>
              </a:schemeClr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安装扩展库</a:t>
            </a: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4177612" y="1807118"/>
            <a:ext cx="1477521" cy="1488231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235" tIns="40618" rIns="81235" bIns="40618" anchor="ctr"/>
          <a:lstStyle/>
          <a:p>
            <a:endParaRPr lang="ko-KR" altLang="en-US">
              <a:solidFill>
                <a:srgbClr val="000000"/>
              </a:solidFill>
              <a:latin typeface="굴림" pitchFamily="34" charset="-127"/>
              <a:ea typeface="굴림" pitchFamily="34" charset="-127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4177612" y="2251506"/>
            <a:ext cx="1477521" cy="1043843"/>
          </a:xfrm>
          <a:custGeom>
            <a:avLst/>
            <a:gdLst/>
            <a:ahLst/>
            <a:cxnLst/>
            <a:rect l="l" t="t" r="r" b="b"/>
            <a:pathLst>
              <a:path w="1667532" h="1169451">
                <a:moveTo>
                  <a:pt x="71654" y="0"/>
                </a:moveTo>
                <a:lnTo>
                  <a:pt x="1595878" y="0"/>
                </a:lnTo>
                <a:cubicBezTo>
                  <a:pt x="1642324" y="102389"/>
                  <a:pt x="1667532" y="216148"/>
                  <a:pt x="1667532" y="335794"/>
                </a:cubicBezTo>
                <a:cubicBezTo>
                  <a:pt x="1667532" y="796210"/>
                  <a:pt x="1294242" y="1169451"/>
                  <a:pt x="833766" y="1169451"/>
                </a:cubicBezTo>
                <a:cubicBezTo>
                  <a:pt x="373290" y="1169451"/>
                  <a:pt x="0" y="796210"/>
                  <a:pt x="0" y="335794"/>
                </a:cubicBezTo>
                <a:cubicBezTo>
                  <a:pt x="0" y="216148"/>
                  <a:pt x="25208" y="102389"/>
                  <a:pt x="716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>
            <a:noFill/>
            <a:round/>
            <a:headEnd/>
            <a:tailEnd/>
          </a:ln>
        </p:spPr>
        <p:txBody>
          <a:bodyPr wrap="none" lIns="81235" tIns="40618" rIns="81235" bIns="40618" anchor="ctr"/>
          <a:lstStyle/>
          <a:p>
            <a:endParaRPr lang="ko-KR" altLang="en-US">
              <a:solidFill>
                <a:srgbClr val="000000"/>
              </a:solidFill>
              <a:latin typeface="굴림" pitchFamily="34" charset="-127"/>
              <a:ea typeface="굴림" pitchFamily="34" charset="-127"/>
            </a:endParaRP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2783878" y="2490652"/>
            <a:ext cx="1821019" cy="1834458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235" tIns="40618" rIns="81235" bIns="40618" anchor="ctr"/>
          <a:lstStyle/>
          <a:p>
            <a:endParaRPr lang="ko-KR" altLang="en-US">
              <a:solidFill>
                <a:srgbClr val="000000"/>
              </a:solidFill>
              <a:latin typeface="굴림" pitchFamily="34" charset="-127"/>
              <a:ea typeface="굴림" pitchFamily="34" charset="-127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783878" y="3392481"/>
            <a:ext cx="1821019" cy="932629"/>
          </a:xfrm>
          <a:custGeom>
            <a:avLst/>
            <a:gdLst/>
            <a:ahLst/>
            <a:cxnLst/>
            <a:rect l="l" t="t" r="r" b="b"/>
            <a:pathLst>
              <a:path w="2055204" h="1044854">
                <a:moveTo>
                  <a:pt x="871" y="0"/>
                </a:moveTo>
                <a:lnTo>
                  <a:pt x="2054333" y="0"/>
                </a:lnTo>
                <a:cubicBezTo>
                  <a:pt x="2055157" y="5732"/>
                  <a:pt x="2055204" y="11487"/>
                  <a:pt x="2055204" y="17253"/>
                </a:cubicBezTo>
                <a:cubicBezTo>
                  <a:pt x="2055204" y="584781"/>
                  <a:pt x="1595131" y="1044854"/>
                  <a:pt x="1027602" y="1044854"/>
                </a:cubicBezTo>
                <a:cubicBezTo>
                  <a:pt x="460073" y="1044854"/>
                  <a:pt x="0" y="584781"/>
                  <a:pt x="0" y="17253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>
            <a:noFill/>
            <a:round/>
            <a:headEnd/>
            <a:tailEnd/>
          </a:ln>
        </p:spPr>
        <p:txBody>
          <a:bodyPr wrap="none" lIns="81235" tIns="40618" rIns="81235" bIns="40618" anchor="ctr"/>
          <a:lstStyle/>
          <a:p>
            <a:endParaRPr lang="ko-KR" altLang="en-US">
              <a:solidFill>
                <a:srgbClr val="000000"/>
              </a:solidFill>
              <a:latin typeface="굴림" pitchFamily="34" charset="-127"/>
              <a:ea typeface="굴림" pitchFamily="34" charset="-127"/>
            </a:endParaRPr>
          </a:p>
        </p:txBody>
      </p:sp>
      <p:sp>
        <p:nvSpPr>
          <p:cNvPr id="8" name="Oval 4"/>
          <p:cNvSpPr>
            <a:spLocks noChangeArrowheads="1"/>
          </p:cNvSpPr>
          <p:nvPr/>
        </p:nvSpPr>
        <p:spPr bwMode="auto">
          <a:xfrm>
            <a:off x="1138172" y="3368641"/>
            <a:ext cx="2235102" cy="2251599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235" tIns="40618" rIns="81235" bIns="40618" anchor="ctr"/>
          <a:lstStyle/>
          <a:p>
            <a:endParaRPr lang="ko-KR" altLang="en-US">
              <a:solidFill>
                <a:srgbClr val="000000"/>
              </a:solidFill>
              <a:latin typeface="굴림" pitchFamily="34" charset="-127"/>
              <a:ea typeface="굴림" pitchFamily="34" charset="-127"/>
            </a:endParaRPr>
          </a:p>
        </p:txBody>
      </p:sp>
      <p:sp>
        <p:nvSpPr>
          <p:cNvPr id="9" name="Oval 4"/>
          <p:cNvSpPr>
            <a:spLocks noChangeArrowheads="1"/>
          </p:cNvSpPr>
          <p:nvPr/>
        </p:nvSpPr>
        <p:spPr bwMode="auto">
          <a:xfrm>
            <a:off x="1330739" y="5126184"/>
            <a:ext cx="1849969" cy="494055"/>
          </a:xfrm>
          <a:custGeom>
            <a:avLst/>
            <a:gdLst/>
            <a:ahLst/>
            <a:cxnLst/>
            <a:rect l="l" t="t" r="r" b="b"/>
            <a:pathLst>
              <a:path w="2087877" h="553506">
                <a:moveTo>
                  <a:pt x="0" y="0"/>
                </a:moveTo>
                <a:lnTo>
                  <a:pt x="2087877" y="0"/>
                </a:lnTo>
                <a:cubicBezTo>
                  <a:pt x="1861113" y="334090"/>
                  <a:pt x="1478149" y="553506"/>
                  <a:pt x="1043938" y="553506"/>
                </a:cubicBezTo>
                <a:cubicBezTo>
                  <a:pt x="609727" y="553506"/>
                  <a:pt x="226764" y="334090"/>
                  <a:pt x="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>
            <a:noFill/>
            <a:round/>
            <a:headEnd/>
            <a:tailEnd/>
          </a:ln>
        </p:spPr>
        <p:txBody>
          <a:bodyPr wrap="none" lIns="81235" tIns="40618" rIns="81235" bIns="40618" anchor="ctr"/>
          <a:lstStyle/>
          <a:p>
            <a:endParaRPr lang="ko-KR" altLang="en-US">
              <a:solidFill>
                <a:srgbClr val="000000"/>
              </a:solidFill>
              <a:latin typeface="굴림" pitchFamily="34" charset="-127"/>
              <a:ea typeface="굴림" pitchFamily="34" charset="-127"/>
            </a:endParaRPr>
          </a:p>
        </p:txBody>
      </p:sp>
      <p:sp>
        <p:nvSpPr>
          <p:cNvPr id="10" name="TextBox 31"/>
          <p:cNvSpPr txBox="1"/>
          <p:nvPr/>
        </p:nvSpPr>
        <p:spPr>
          <a:xfrm>
            <a:off x="1275211" y="4179506"/>
            <a:ext cx="1905497" cy="697582"/>
          </a:xfrm>
          <a:prstGeom prst="rect">
            <a:avLst/>
          </a:prstGeom>
          <a:solidFill>
            <a:schemeClr val="bg1"/>
          </a:solidFill>
        </p:spPr>
        <p:txBody>
          <a:bodyPr wrap="square" lIns="81235" tIns="40618" rIns="81235" bIns="40618" rtlCol="0" anchor="ctr">
            <a:spAutoFit/>
          </a:bodyPr>
          <a:lstStyle/>
          <a:p>
            <a:pPr algn="ctr"/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pip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工具</a:t>
            </a:r>
          </a:p>
        </p:txBody>
      </p:sp>
      <p:sp>
        <p:nvSpPr>
          <p:cNvPr id="11" name="TextBox 32"/>
          <p:cNvSpPr txBox="1"/>
          <p:nvPr/>
        </p:nvSpPr>
        <p:spPr>
          <a:xfrm>
            <a:off x="2714677" y="2924944"/>
            <a:ext cx="1959420" cy="512917"/>
          </a:xfrm>
          <a:prstGeom prst="rect">
            <a:avLst/>
          </a:prstGeom>
          <a:solidFill>
            <a:schemeClr val="bg1"/>
          </a:solidFill>
        </p:spPr>
        <p:txBody>
          <a:bodyPr wrap="none" lIns="81235" tIns="40618" rIns="81235" bIns="40618" rtlCol="0" anchor="ctr">
            <a:spAutoFit/>
          </a:bodyPr>
          <a:lstStyle/>
          <a:p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自定义安装</a:t>
            </a:r>
          </a:p>
        </p:txBody>
      </p:sp>
      <p:sp>
        <p:nvSpPr>
          <p:cNvPr id="12" name="TextBox 33"/>
          <p:cNvSpPr txBox="1"/>
          <p:nvPr/>
        </p:nvSpPr>
        <p:spPr>
          <a:xfrm>
            <a:off x="4223792" y="2276872"/>
            <a:ext cx="1395163" cy="451361"/>
          </a:xfrm>
          <a:prstGeom prst="rect">
            <a:avLst/>
          </a:prstGeom>
          <a:solidFill>
            <a:schemeClr val="bg1"/>
          </a:solidFill>
        </p:spPr>
        <p:txBody>
          <a:bodyPr wrap="none" lIns="81235" tIns="40618" rIns="81235" bIns="40618" rtlCol="0" anchor="ctr"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文件安装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4906481" y="2830344"/>
            <a:ext cx="1261773" cy="0"/>
          </a:xfrm>
          <a:prstGeom prst="line">
            <a:avLst/>
          </a:prstGeom>
          <a:noFill/>
          <a:ln w="9525">
            <a:solidFill>
              <a:schemeClr val="accent1">
                <a:lumMod val="75000"/>
              </a:schemeClr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652585" y="3764609"/>
            <a:ext cx="2515669" cy="0"/>
          </a:xfrm>
          <a:prstGeom prst="line">
            <a:avLst/>
          </a:prstGeom>
          <a:noFill/>
          <a:ln w="9525">
            <a:solidFill>
              <a:schemeClr val="accent1">
                <a:lumMod val="75000"/>
              </a:schemeClr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Box 38"/>
          <p:cNvSpPr txBox="1"/>
          <p:nvPr/>
        </p:nvSpPr>
        <p:spPr>
          <a:xfrm>
            <a:off x="6067802" y="4396260"/>
            <a:ext cx="5700985" cy="1147770"/>
          </a:xfrm>
          <a:prstGeom prst="rect">
            <a:avLst/>
          </a:prstGeom>
          <a:noFill/>
        </p:spPr>
        <p:txBody>
          <a:bodyPr wrap="square" lIns="81235" tIns="40618" rIns="81235" bIns="406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最常用且高效的扩展库安装工具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由官方提供并维护</a:t>
            </a:r>
          </a:p>
        </p:txBody>
      </p:sp>
      <p:sp>
        <p:nvSpPr>
          <p:cNvPr id="18" name="TextBox 39"/>
          <p:cNvSpPr txBox="1"/>
          <p:nvPr/>
        </p:nvSpPr>
        <p:spPr>
          <a:xfrm>
            <a:off x="6011638" y="2888111"/>
            <a:ext cx="6074029" cy="1147770"/>
          </a:xfrm>
          <a:prstGeom prst="rect">
            <a:avLst/>
          </a:prstGeom>
          <a:noFill/>
        </p:spPr>
        <p:txBody>
          <a:bodyPr wrap="square" lIns="81235" tIns="40618" rIns="81235" bIns="406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按照扩展库提供方提供的步骤和方式安装</a:t>
            </a:r>
          </a:p>
        </p:txBody>
      </p:sp>
      <p:sp>
        <p:nvSpPr>
          <p:cNvPr id="19" name="TextBox 40"/>
          <p:cNvSpPr txBox="1"/>
          <p:nvPr/>
        </p:nvSpPr>
        <p:spPr>
          <a:xfrm>
            <a:off x="5951567" y="1432191"/>
            <a:ext cx="6124169" cy="1147770"/>
          </a:xfrm>
          <a:prstGeom prst="rect">
            <a:avLst/>
          </a:prstGeom>
          <a:noFill/>
        </p:spPr>
        <p:txBody>
          <a:bodyPr wrap="square" lIns="81235" tIns="40618" rIns="81235" bIns="406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仅提供源代码的扩展库，使用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pip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下载后无法在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Windows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系统下编译安装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A1D8B2C6-69D4-486C-9629-F8B6E9DA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985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4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42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42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6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0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600"/>
                                </p:stCondLst>
                                <p:childTnLst>
                                  <p:par>
                                    <p:cTn id="2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600"/>
                                </p:stCondLst>
                                <p:childTnLst>
                                  <p:par>
                                    <p:cTn id="2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3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36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4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5100"/>
                                </p:stCondLst>
                                <p:childTnLst>
                                  <p:par>
                                    <p:cTn id="4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5600"/>
                                </p:stCondLst>
                                <p:childTnLst>
                                  <p:par>
                                    <p:cTn id="5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6100"/>
                                </p:stCondLst>
                                <p:childTnLst>
                                  <p:par>
                                    <p:cTn id="54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6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6600"/>
                                </p:stCondLst>
                                <p:childTnLst>
                                  <p:par>
                                    <p:cTn id="58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7600"/>
                                </p:stCondLst>
                                <p:childTnLst>
                                  <p:par>
                                    <p:cTn id="6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6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8100"/>
                                </p:stCondLst>
                                <p:childTnLst>
                                  <p:par>
                                    <p:cTn id="6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7" grpId="0"/>
          <p:bldP spid="18" grpId="0"/>
          <p:bldP spid="1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0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600"/>
                                </p:stCondLst>
                                <p:childTnLst>
                                  <p:par>
                                    <p:cTn id="2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600"/>
                                </p:stCondLst>
                                <p:childTnLst>
                                  <p:par>
                                    <p:cTn id="2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3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36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4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5100"/>
                                </p:stCondLst>
                                <p:childTnLst>
                                  <p:par>
                                    <p:cTn id="4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5600"/>
                                </p:stCondLst>
                                <p:childTnLst>
                                  <p:par>
                                    <p:cTn id="5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6100"/>
                                </p:stCondLst>
                                <p:childTnLst>
                                  <p:par>
                                    <p:cTn id="54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6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6600"/>
                                </p:stCondLst>
                                <p:childTnLst>
                                  <p:par>
                                    <p:cTn id="58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7600"/>
                                </p:stCondLst>
                                <p:childTnLst>
                                  <p:par>
                                    <p:cTn id="6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6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8100"/>
                                </p:stCondLst>
                                <p:childTnLst>
                                  <p:par>
                                    <p:cTn id="6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/>
          <p:bldP spid="11" grpId="0" animBg="1"/>
          <p:bldP spid="12" grpId="0" animBg="1"/>
          <p:bldP spid="17" grpId="0"/>
          <p:bldP spid="18" grpId="0"/>
          <p:bldP spid="19" grpId="0"/>
        </p:bldLst>
      </p:timing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</a:t>
            </a:r>
            <a:r>
              <a:rPr lang="zh-CN" altLang="en-US" dirty="0"/>
              <a:t>工具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Python</a:t>
            </a:r>
            <a:r>
              <a:rPr lang="zh-CN" altLang="en-US" dirty="0"/>
              <a:t>解释器时，应勾选</a:t>
            </a:r>
            <a:r>
              <a:rPr lang="en-US" altLang="zh-CN" dirty="0"/>
              <a:t>“Add Python 3.5 to PATH”</a:t>
            </a:r>
            <a:r>
              <a:rPr lang="zh-CN" altLang="en-US" dirty="0"/>
              <a:t>复选框。</a:t>
            </a:r>
            <a:endParaRPr lang="en-US" altLang="zh-CN" dirty="0"/>
          </a:p>
          <a:p>
            <a:pPr lvl="1"/>
            <a:r>
              <a:rPr lang="zh-CN" altLang="en-US" dirty="0"/>
              <a:t>若未勾选，则可以重新运行安装程序来添加</a:t>
            </a:r>
            <a:r>
              <a:rPr lang="en-US" altLang="zh-CN" dirty="0"/>
              <a:t>pip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pip</a:t>
            </a:r>
            <a:r>
              <a:rPr lang="zh-CN" altLang="en-US" dirty="0"/>
              <a:t>工具需要在</a:t>
            </a:r>
            <a:r>
              <a:rPr lang="en-US" altLang="zh-CN" dirty="0"/>
              <a:t>Windows</a:t>
            </a:r>
            <a:r>
              <a:rPr lang="zh-CN" altLang="en-US" dirty="0"/>
              <a:t>的命令提示符窗口下使用</a:t>
            </a:r>
            <a:endParaRPr lang="en-US" altLang="zh-CN" dirty="0"/>
          </a:p>
          <a:p>
            <a:pPr lvl="1"/>
            <a:r>
              <a:rPr lang="zh-CN" altLang="en-US" dirty="0"/>
              <a:t>按</a:t>
            </a:r>
            <a:r>
              <a:rPr lang="en-US" altLang="zh-CN" dirty="0" err="1"/>
              <a:t>Win+R</a:t>
            </a:r>
            <a:r>
              <a:rPr lang="zh-CN" altLang="en-US" dirty="0"/>
              <a:t>，打开“运行”对话框</a:t>
            </a:r>
            <a:endParaRPr lang="en-US" altLang="zh-CN" dirty="0"/>
          </a:p>
          <a:p>
            <a:pPr lvl="1"/>
            <a:r>
              <a:rPr lang="zh-CN" altLang="en-US" dirty="0"/>
              <a:t>在“打开”文本框中输入</a:t>
            </a:r>
            <a:r>
              <a:rPr lang="en-US" altLang="zh-CN" dirty="0" err="1"/>
              <a:t>cmd</a:t>
            </a:r>
            <a:r>
              <a:rPr lang="zh-CN" altLang="en-US" dirty="0"/>
              <a:t>命令，点击“确定”按钮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889530-AEF1-40E6-AA6E-26879E11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78562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en-US" altLang="zh-CN" dirty="0"/>
              <a:t>Windows</a:t>
            </a:r>
            <a:r>
              <a:rPr lang="zh-CN" altLang="en-US" dirty="0"/>
              <a:t>命令提示符窗口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A65D211-B4FD-4A44-8066-420325C1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134385-844B-49BD-AB1F-9C02624CE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690688"/>
            <a:ext cx="6336704" cy="34701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856" y="3212976"/>
            <a:ext cx="6159542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591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531914"/>
            <a:ext cx="10852150" cy="1476767"/>
          </a:xfrm>
        </p:spPr>
        <p:txBody>
          <a:bodyPr/>
          <a:lstStyle/>
          <a:p>
            <a:r>
              <a:rPr lang="en-US" altLang="zh-CN" dirty="0"/>
              <a:t>pip</a:t>
            </a:r>
            <a:r>
              <a:rPr lang="zh-CN" altLang="en-US" dirty="0"/>
              <a:t>命令的基本格式：</a:t>
            </a:r>
          </a:p>
          <a:p>
            <a:pPr marL="457200" lvl="1" indent="0">
              <a:buNone/>
            </a:pPr>
            <a:r>
              <a:rPr lang="en-US" altLang="zh-CN" dirty="0"/>
              <a:t>pip  &lt;command&gt;  [options]</a:t>
            </a:r>
            <a:endParaRPr lang="zh-CN" alt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4871864" y="3019467"/>
            <a:ext cx="7135688" cy="668720"/>
            <a:chOff x="3431704" y="2325486"/>
            <a:chExt cx="4493419" cy="1078965"/>
          </a:xfrm>
          <a:solidFill>
            <a:schemeClr val="tx2">
              <a:lumMod val="25000"/>
            </a:schemeClr>
          </a:solidFill>
        </p:grpSpPr>
        <p:sp>
          <p:nvSpPr>
            <p:cNvPr id="21" name="矩形 20"/>
            <p:cNvSpPr/>
            <p:nvPr/>
          </p:nvSpPr>
          <p:spPr>
            <a:xfrm>
              <a:off x="3431704" y="2325486"/>
              <a:ext cx="1429103" cy="10789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4830569" y="2325486"/>
              <a:ext cx="3094554" cy="10789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endParaRPr lang="zh-CN" altLang="en-US" sz="2800" b="1" dirty="0"/>
            </a:p>
          </p:txBody>
        </p:sp>
      </p:grp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F876859-1C8A-4289-8CC2-DE70F46D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829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查看已安装的库  </a:t>
            </a:r>
            <a:r>
              <a:rPr lang="en-US" altLang="zh-CN" dirty="0"/>
              <a:t>	pip list</a:t>
            </a:r>
          </a:p>
          <a:p>
            <a:r>
              <a:rPr lang="zh-CN" altLang="en-US" dirty="0"/>
              <a:t>安装库</a:t>
            </a:r>
            <a:r>
              <a:rPr lang="en-US" altLang="zh-CN" dirty="0"/>
              <a:t>			pip install &lt;</a:t>
            </a:r>
            <a:r>
              <a:rPr lang="zh-CN" altLang="en-US" dirty="0"/>
              <a:t>库名</a:t>
            </a:r>
            <a:r>
              <a:rPr lang="en-US" altLang="zh-CN" dirty="0"/>
              <a:t>1&gt;[ &lt;</a:t>
            </a:r>
            <a:r>
              <a:rPr lang="zh-CN" altLang="en-US" dirty="0"/>
              <a:t>库名</a:t>
            </a:r>
            <a:r>
              <a:rPr lang="en-US" altLang="zh-CN" dirty="0"/>
              <a:t>2&gt;…]</a:t>
            </a:r>
            <a:endParaRPr lang="zh-CN" altLang="en-US" dirty="0"/>
          </a:p>
          <a:p>
            <a:r>
              <a:rPr lang="zh-CN" altLang="en-US" dirty="0"/>
              <a:t>更新已安装的库</a:t>
            </a:r>
            <a:r>
              <a:rPr lang="en-US" altLang="zh-CN" dirty="0"/>
              <a:t>	pip install –U [</a:t>
            </a:r>
            <a:r>
              <a:rPr lang="zh-CN" altLang="en-US" dirty="0"/>
              <a:t>库名</a:t>
            </a:r>
            <a:r>
              <a:rPr lang="en-US" altLang="zh-CN" dirty="0"/>
              <a:t>]</a:t>
            </a:r>
            <a:endParaRPr lang="zh-CN" altLang="en-US" dirty="0"/>
          </a:p>
          <a:p>
            <a:r>
              <a:rPr lang="zh-CN" altLang="en-US" dirty="0"/>
              <a:t>查询一个库</a:t>
            </a:r>
            <a:r>
              <a:rPr lang="en-US" altLang="zh-CN" dirty="0"/>
              <a:t>		pip show &lt;</a:t>
            </a:r>
            <a:r>
              <a:rPr lang="zh-CN" altLang="en-US" dirty="0"/>
              <a:t>库名</a:t>
            </a:r>
            <a:r>
              <a:rPr lang="en-US" altLang="zh-CN" dirty="0"/>
              <a:t>&gt;</a:t>
            </a:r>
            <a:endParaRPr lang="zh-CN" altLang="en-US" dirty="0"/>
          </a:p>
          <a:p>
            <a:r>
              <a:rPr lang="zh-CN" altLang="en-US" dirty="0"/>
              <a:t>卸载一个库</a:t>
            </a:r>
            <a:r>
              <a:rPr lang="en-US" altLang="zh-CN" dirty="0"/>
              <a:t>		pip uninstall &lt;</a:t>
            </a:r>
            <a:r>
              <a:rPr lang="zh-CN" altLang="en-US" dirty="0"/>
              <a:t>库名</a:t>
            </a:r>
            <a:r>
              <a:rPr lang="en-US" altLang="zh-CN" dirty="0"/>
              <a:t>&gt;</a:t>
            </a:r>
            <a:endParaRPr lang="zh-CN" altLang="en-US" dirty="0"/>
          </a:p>
          <a:p>
            <a:r>
              <a:rPr lang="zh-CN" altLang="en-US" dirty="0"/>
              <a:t>下载一个库</a:t>
            </a:r>
            <a:r>
              <a:rPr lang="en-US" altLang="zh-CN" dirty="0"/>
              <a:t>		pip download &lt;</a:t>
            </a:r>
            <a:r>
              <a:rPr lang="zh-CN" altLang="en-US" dirty="0"/>
              <a:t>库名</a:t>
            </a:r>
            <a:r>
              <a:rPr lang="en-US" altLang="zh-CN" dirty="0"/>
              <a:t>&gt;</a:t>
            </a: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91570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安装扩展库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12776"/>
            <a:ext cx="10852150" cy="5697855"/>
          </a:xfrm>
        </p:spPr>
        <p:txBody>
          <a:bodyPr>
            <a:normAutofit/>
          </a:bodyPr>
          <a:lstStyle/>
          <a:p>
            <a:r>
              <a:rPr lang="zh-CN" altLang="en-US" dirty="0"/>
              <a:t>自定义安装</a:t>
            </a:r>
          </a:p>
          <a:p>
            <a:pPr lvl="1">
              <a:spcAft>
                <a:spcPts val="600"/>
              </a:spcAft>
            </a:pPr>
            <a:r>
              <a:rPr lang="zh-CN" altLang="en-US" sz="2600" dirty="0"/>
              <a:t>打开扩展库的维护主页，下载扩展库的相关文档，并根据指示步骤安装。</a:t>
            </a:r>
          </a:p>
          <a:p>
            <a:pPr lvl="1">
              <a:spcAft>
                <a:spcPts val="600"/>
              </a:spcAft>
            </a:pPr>
            <a:r>
              <a:rPr lang="zh-CN" altLang="en-US" sz="2600" dirty="0"/>
              <a:t>当无法使用</a:t>
            </a:r>
            <a:r>
              <a:rPr lang="en-US" altLang="zh-CN" sz="2600" dirty="0"/>
              <a:t>pip</a:t>
            </a:r>
            <a:r>
              <a:rPr lang="zh-CN" altLang="en-US" sz="2600" dirty="0"/>
              <a:t>安装扩展库时，可以进行自定义安装。</a:t>
            </a:r>
            <a:endParaRPr lang="en-US" altLang="zh-CN" sz="2600" dirty="0"/>
          </a:p>
          <a:p>
            <a:r>
              <a:rPr lang="zh-CN" altLang="en-US" dirty="0"/>
              <a:t>文件安装</a:t>
            </a:r>
            <a:endParaRPr lang="en-US" altLang="zh-CN" dirty="0"/>
          </a:p>
          <a:p>
            <a:pPr lvl="1">
              <a:spcAft>
                <a:spcPts val="600"/>
              </a:spcAft>
            </a:pPr>
            <a:r>
              <a:rPr lang="zh-CN" altLang="en-US" sz="2600" dirty="0"/>
              <a:t>美国加州大学提供的网页</a:t>
            </a:r>
            <a:r>
              <a:rPr lang="en-US" altLang="zh-CN" sz="2600" dirty="0"/>
              <a:t>http://www.lfd.uci.edu/~gohlke/pythonlibs/</a:t>
            </a:r>
          </a:p>
          <a:p>
            <a:pPr lvl="1">
              <a:spcAft>
                <a:spcPts val="600"/>
              </a:spcAft>
            </a:pPr>
            <a:r>
              <a:rPr lang="zh-CN" altLang="en-US" sz="2600" dirty="0"/>
              <a:t>下载后使用</a:t>
            </a:r>
            <a:r>
              <a:rPr lang="en-US" altLang="zh-CN" sz="2600" dirty="0"/>
              <a:t>pip</a:t>
            </a:r>
            <a:r>
              <a:rPr lang="zh-CN" altLang="en-US" sz="2600" dirty="0"/>
              <a:t>命令的安装子命令进行安装                          </a:t>
            </a:r>
            <a:r>
              <a:rPr lang="en-US" altLang="zh-CN" dirty="0"/>
              <a:t>  </a:t>
            </a:r>
            <a:r>
              <a:rPr lang="en-US" altLang="zh-CN" sz="2600" dirty="0"/>
              <a:t>pip install &lt;</a:t>
            </a:r>
            <a:r>
              <a:rPr lang="zh-CN" altLang="en-US" sz="2600" dirty="0"/>
              <a:t>含路径的文件名</a:t>
            </a:r>
            <a:r>
              <a:rPr lang="en-US" altLang="zh-CN" sz="2600" dirty="0"/>
              <a:t>&gt;</a:t>
            </a:r>
            <a:endParaRPr lang="zh-CN" altLang="en-US" sz="26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C2F542-EFF7-45F1-95E6-2235CAA6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4421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谢谢观赏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8BAA917-016C-4A5A-8A3A-190599CA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1674</Words>
  <Application>Microsoft Office PowerPoint</Application>
  <PresentationFormat>宽屏</PresentationFormat>
  <Paragraphs>299</Paragraphs>
  <Slides>52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8" baseType="lpstr">
      <vt:lpstr>굴림</vt:lpstr>
      <vt:lpstr>汉仪旗黑-85S</vt:lpstr>
      <vt:lpstr>黑体</vt:lpstr>
      <vt:lpstr>华文新魏</vt:lpstr>
      <vt:lpstr>微软雅黑</vt:lpstr>
      <vt:lpstr>Arial</vt:lpstr>
      <vt:lpstr>Calibri</vt:lpstr>
      <vt:lpstr>Calibri Light</vt:lpstr>
      <vt:lpstr>Viner Hand ITC</vt:lpstr>
      <vt:lpstr>Wingdings</vt:lpstr>
      <vt:lpstr>当图网</vt:lpstr>
      <vt:lpstr>当图网1</vt:lpstr>
      <vt:lpstr>1_当图网</vt:lpstr>
      <vt:lpstr>1_当图网1</vt:lpstr>
      <vt:lpstr>Office Theme</vt:lpstr>
      <vt:lpstr>BMP 图像</vt:lpstr>
      <vt:lpstr>第1章 Python概述</vt:lpstr>
      <vt:lpstr>目录</vt:lpstr>
      <vt:lpstr>1.1 Python简介</vt:lpstr>
      <vt:lpstr>1.1.1 Python的发展</vt:lpstr>
      <vt:lpstr>程序设计概述</vt:lpstr>
      <vt:lpstr>程序设计概述</vt:lpstr>
      <vt:lpstr>Python的起源</vt:lpstr>
      <vt:lpstr>Python的版本</vt:lpstr>
      <vt:lpstr>Python的特点</vt:lpstr>
      <vt:lpstr>PowerPoint 演示文稿</vt:lpstr>
      <vt:lpstr>1.2 Python开发环境</vt:lpstr>
      <vt:lpstr>1.2.1 Python语言解释器的下载与安装</vt:lpstr>
      <vt:lpstr>1.2.1 Python语言解释器的下载与安装</vt:lpstr>
      <vt:lpstr>Python的常用开发环境</vt:lpstr>
      <vt:lpstr>PyCharm的安装</vt:lpstr>
      <vt:lpstr>PyCharm的激活 </vt:lpstr>
      <vt:lpstr>PyCharm的配置</vt:lpstr>
      <vt:lpstr>PyCharm的配置</vt:lpstr>
      <vt:lpstr>PyCharm的配置</vt:lpstr>
      <vt:lpstr>PyCharm的配置</vt:lpstr>
      <vt:lpstr>PyCharm的配置</vt:lpstr>
      <vt:lpstr>PyCharm的配置</vt:lpstr>
      <vt:lpstr>PyCharm的配置</vt:lpstr>
      <vt:lpstr>1.3 编写并运行一个Python程序</vt:lpstr>
      <vt:lpstr>运行Python程序有两种方式</vt:lpstr>
      <vt:lpstr>1.3.1 交互式执行</vt:lpstr>
      <vt:lpstr>IDLE中的一些常用快捷键</vt:lpstr>
      <vt:lpstr>PowerPoint 演示文稿</vt:lpstr>
      <vt:lpstr>1.3.2 文件式执行</vt:lpstr>
      <vt:lpstr>不同文件的转换</vt:lpstr>
      <vt:lpstr>在IDLE中执行Python文件</vt:lpstr>
      <vt:lpstr>PowerPoint 演示文稿</vt:lpstr>
      <vt:lpstr>1.3.3 使用PyCharm编写第一个程序</vt:lpstr>
      <vt:lpstr>PowerPoint 演示文稿</vt:lpstr>
      <vt:lpstr> </vt:lpstr>
      <vt:lpstr>Python项目管理窗口</vt:lpstr>
      <vt:lpstr>新建Python文件</vt:lpstr>
      <vt:lpstr>运行Python程序</vt:lpstr>
      <vt:lpstr>程序的运行结果</vt:lpstr>
      <vt:lpstr>1.4 安装扩展库的方法</vt:lpstr>
      <vt:lpstr>扩展库概述</vt:lpstr>
      <vt:lpstr>扩展库 &amp; 代码复用</vt:lpstr>
      <vt:lpstr>扩展库 &amp; 代码复用</vt:lpstr>
      <vt:lpstr>Python常用扩展库 P23表1-2 (部分)</vt:lpstr>
      <vt:lpstr>基本库</vt:lpstr>
      <vt:lpstr>安装扩展库</vt:lpstr>
      <vt:lpstr>pip工具</vt:lpstr>
      <vt:lpstr>打开Windows命令提示符窗口</vt:lpstr>
      <vt:lpstr>pip命令</vt:lpstr>
      <vt:lpstr>PowerPoint 演示文稿</vt:lpstr>
      <vt:lpstr>安装扩展库</vt:lpstr>
      <vt:lpstr>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Julia Ge</cp:lastModifiedBy>
  <cp:revision>193</cp:revision>
  <dcterms:created xsi:type="dcterms:W3CDTF">2018-10-09T06:59:00Z</dcterms:created>
  <dcterms:modified xsi:type="dcterms:W3CDTF">2024-02-26T14:23:16Z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