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heme/theme2.xml" ContentType="application/vnd.openxmlformats-officedocument.theme+xml"/>
  <Override PartName="/ppt/tags/tag97.xml" ContentType="application/vnd.openxmlformats-officedocument.presentationml.tags+xml"/>
  <Override PartName="/ppt/tags/tag98.xml" ContentType="application/vnd.openxmlformats-officedocument.presentationml.tags+xml"/>
  <Override PartName="/ppt/notesSlides/notesSlide1.xml" ContentType="application/vnd.openxmlformats-officedocument.presentationml.notesSlide+xml"/>
  <Override PartName="/ppt/tags/tag99.xml" ContentType="application/vnd.openxmlformats-officedocument.presentationml.tags+xml"/>
  <Override PartName="/ppt/notesSlides/notesSlide2.xml" ContentType="application/vnd.openxmlformats-officedocument.presentationml.notesSlide+xml"/>
  <Override PartName="/ppt/tags/tag100.xml" ContentType="application/vnd.openxmlformats-officedocument.presentationml.tags+xml"/>
  <Override PartName="/ppt/notesSlides/notesSlide3.xml" ContentType="application/vnd.openxmlformats-officedocument.presentationml.notesSlide+xml"/>
  <Override PartName="/ppt/tags/tag101.xml" ContentType="application/vnd.openxmlformats-officedocument.presentationml.tags+xml"/>
  <Override PartName="/ppt/notesSlides/notesSlide4.xml" ContentType="application/vnd.openxmlformats-officedocument.presentationml.notesSlide+xml"/>
  <Override PartName="/ppt/tags/tag102.xml" ContentType="application/vnd.openxmlformats-officedocument.presentationml.tags+xml"/>
  <Override PartName="/ppt/notesSlides/notesSlide5.xml" ContentType="application/vnd.openxmlformats-officedocument.presentationml.notesSlide+xml"/>
  <Override PartName="/ppt/tags/tag103.xml" ContentType="application/vnd.openxmlformats-officedocument.presentationml.tags+xml"/>
  <Override PartName="/ppt/notesSlides/notesSlide6.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1" r:id="rId1"/>
  </p:sldMasterIdLst>
  <p:notesMasterIdLst>
    <p:notesMasterId r:id="rId96"/>
  </p:notesMasterIdLst>
  <p:sldIdLst>
    <p:sldId id="592" r:id="rId2"/>
    <p:sldId id="485" r:id="rId3"/>
    <p:sldId id="483" r:id="rId4"/>
    <p:sldId id="498" r:id="rId5"/>
    <p:sldId id="504" r:id="rId6"/>
    <p:sldId id="505" r:id="rId7"/>
    <p:sldId id="508" r:id="rId8"/>
    <p:sldId id="509" r:id="rId9"/>
    <p:sldId id="510" r:id="rId10"/>
    <p:sldId id="511" r:id="rId11"/>
    <p:sldId id="512" r:id="rId12"/>
    <p:sldId id="516" r:id="rId13"/>
    <p:sldId id="517" r:id="rId14"/>
    <p:sldId id="488" r:id="rId15"/>
    <p:sldId id="499" r:id="rId16"/>
    <p:sldId id="518" r:id="rId17"/>
    <p:sldId id="519" r:id="rId18"/>
    <p:sldId id="520" r:id="rId19"/>
    <p:sldId id="521" r:id="rId20"/>
    <p:sldId id="523" r:id="rId21"/>
    <p:sldId id="522" r:id="rId22"/>
    <p:sldId id="524" r:id="rId23"/>
    <p:sldId id="527" r:id="rId24"/>
    <p:sldId id="528" r:id="rId25"/>
    <p:sldId id="530" r:id="rId26"/>
    <p:sldId id="531" r:id="rId27"/>
    <p:sldId id="532" r:id="rId28"/>
    <p:sldId id="533" r:id="rId29"/>
    <p:sldId id="534" r:id="rId30"/>
    <p:sldId id="535" r:id="rId31"/>
    <p:sldId id="536" r:id="rId32"/>
    <p:sldId id="537" r:id="rId33"/>
    <p:sldId id="538" r:id="rId34"/>
    <p:sldId id="539" r:id="rId35"/>
    <p:sldId id="542" r:id="rId36"/>
    <p:sldId id="543" r:id="rId37"/>
    <p:sldId id="544" r:id="rId38"/>
    <p:sldId id="540" r:id="rId39"/>
    <p:sldId id="541" r:id="rId40"/>
    <p:sldId id="545" r:id="rId41"/>
    <p:sldId id="546" r:id="rId42"/>
    <p:sldId id="547" r:id="rId43"/>
    <p:sldId id="548" r:id="rId44"/>
    <p:sldId id="549" r:id="rId45"/>
    <p:sldId id="550" r:id="rId46"/>
    <p:sldId id="551" r:id="rId47"/>
    <p:sldId id="552" r:id="rId48"/>
    <p:sldId id="553" r:id="rId49"/>
    <p:sldId id="554" r:id="rId50"/>
    <p:sldId id="555" r:id="rId51"/>
    <p:sldId id="556" r:id="rId52"/>
    <p:sldId id="557" r:id="rId53"/>
    <p:sldId id="558" r:id="rId54"/>
    <p:sldId id="559" r:id="rId55"/>
    <p:sldId id="560" r:id="rId56"/>
    <p:sldId id="561" r:id="rId57"/>
    <p:sldId id="562" r:id="rId58"/>
    <p:sldId id="489" r:id="rId59"/>
    <p:sldId id="500" r:id="rId60"/>
    <p:sldId id="563" r:id="rId61"/>
    <p:sldId id="564" r:id="rId62"/>
    <p:sldId id="565" r:id="rId63"/>
    <p:sldId id="566" r:id="rId64"/>
    <p:sldId id="567" r:id="rId65"/>
    <p:sldId id="568" r:id="rId66"/>
    <p:sldId id="569" r:id="rId67"/>
    <p:sldId id="570" r:id="rId68"/>
    <p:sldId id="490" r:id="rId69"/>
    <p:sldId id="501" r:id="rId70"/>
    <p:sldId id="571" r:id="rId71"/>
    <p:sldId id="572" r:id="rId72"/>
    <p:sldId id="573" r:id="rId73"/>
    <p:sldId id="574" r:id="rId74"/>
    <p:sldId id="575" r:id="rId75"/>
    <p:sldId id="576" r:id="rId76"/>
    <p:sldId id="577" r:id="rId77"/>
    <p:sldId id="491" r:id="rId78"/>
    <p:sldId id="502" r:id="rId79"/>
    <p:sldId id="580" r:id="rId80"/>
    <p:sldId id="579" r:id="rId81"/>
    <p:sldId id="581" r:id="rId82"/>
    <p:sldId id="582" r:id="rId83"/>
    <p:sldId id="583" r:id="rId84"/>
    <p:sldId id="586" r:id="rId85"/>
    <p:sldId id="587" r:id="rId86"/>
    <p:sldId id="585" r:id="rId87"/>
    <p:sldId id="588" r:id="rId88"/>
    <p:sldId id="589" r:id="rId89"/>
    <p:sldId id="492" r:id="rId90"/>
    <p:sldId id="503" r:id="rId91"/>
    <p:sldId id="590" r:id="rId92"/>
    <p:sldId id="591" r:id="rId93"/>
    <p:sldId id="578" r:id="rId94"/>
    <p:sldId id="497" r:id="rId95"/>
  </p:sldIdLst>
  <p:sldSz cx="12192000" cy="6858000"/>
  <p:notesSz cx="6858000" cy="9144000"/>
  <p:custDataLst>
    <p:tags r:id="rId9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9">
          <p15:clr>
            <a:srgbClr val="A4A3A4"/>
          </p15:clr>
        </p15:guide>
        <p15:guide id="2" pos="3840">
          <p15:clr>
            <a:srgbClr val="A4A3A4"/>
          </p15:clr>
        </p15:guide>
      </p15:sldGuideLst>
    </p:ext>
    <p:ext uri="{505F2C04-C923-438B-8C0F-E0CD2BADF298}">
      <wppc:fontMiss xmlns:wppc="http://www.wps.cn/officeDocument/PresentationCustomData" xmlns="" type="true"/>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66"/>
    <a:srgbClr val="DDDDDD"/>
    <a:srgbClr val="003300"/>
    <a:srgbClr val="800080"/>
    <a:srgbClr val="660066"/>
    <a:srgbClr val="0033CC"/>
    <a:srgbClr val="9900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2" d="100"/>
          <a:sy n="72" d="100"/>
        </p:scale>
        <p:origin x="432" y="36"/>
      </p:cViewPr>
      <p:guideLst>
        <p:guide orient="horz" pos="2169"/>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commentAuthors" Target="commentAuthor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buFont typeface="Arial" panose="020B0604020202020204" pitchFamily="34" charset="0"/>
              <a:buNone/>
              <a:defRPr sz="1200" smtClean="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buFont typeface="Arial" panose="020B0604020202020204" pitchFamily="34" charset="0"/>
              <a:buNone/>
              <a:defRPr sz="1200" smtClean="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220" name="Rectangle 4"/>
          <p:cNvSpPr>
            <a:spLocks noGrp="1" noRot="1" noChangeAspect="1"/>
          </p:cNvSpPr>
          <p:nvPr>
            <p:ph type="sldImg" idx="2"/>
          </p:nvPr>
        </p:nvSpPr>
        <p:spPr>
          <a:xfrm>
            <a:off x="381000" y="685800"/>
            <a:ext cx="6096000" cy="3429000"/>
          </a:xfrm>
          <a:prstGeom prst="rect">
            <a:avLst/>
          </a:prstGeom>
          <a:noFill/>
          <a:ln w="9525">
            <a:noFill/>
          </a:ln>
        </p:spPr>
      </p:sp>
      <p:sp>
        <p:nvSpPr>
          <p:cNvPr id="4101" name="Rectangle 5"/>
          <p:cNvSpPr>
            <a:spLocks noGrp="1" noRot="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buFont typeface="Arial" panose="020B0604020202020204" pitchFamily="34" charset="0"/>
              <a:buNone/>
              <a:defRPr sz="1200" smtClean="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buFont typeface="Arial" panose="020B0604020202020204" pitchFamily="34" charset="0"/>
              <a:buNone/>
              <a:defRPr sz="1200" smtClean="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0249CFA-C427-4C77-960D-70A82ADC9BFA}"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p:txBody>
          <a:bodyPr wrap="square" lIns="91440" tIns="45720" rIns="91440" bIns="45720" anchor="ctr"/>
          <a:lstStyle/>
          <a:p>
            <a:pPr lvl="0" eaLnBrk="1" hangingPunct="1"/>
            <a:endParaRPr lang="zh-CN" altLang="en-US" dirty="0"/>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3</a:t>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p:txBody>
          <a:bodyPr wrap="square" lIns="91440" tIns="45720" rIns="91440" bIns="45720" anchor="ctr"/>
          <a:lstStyle/>
          <a:p>
            <a:pPr lvl="0" eaLnBrk="1" hangingPunct="1"/>
            <a:endParaRPr lang="zh-CN" altLang="en-US" dirty="0"/>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14</a:t>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p:txBody>
          <a:bodyPr wrap="square" lIns="91440" tIns="45720" rIns="91440" bIns="45720" anchor="ctr"/>
          <a:lstStyle/>
          <a:p>
            <a:pPr lvl="0" eaLnBrk="1" hangingPunct="1"/>
            <a:endParaRPr lang="zh-CN" altLang="en-US" dirty="0"/>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58</a:t>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p:txBody>
          <a:bodyPr wrap="square" lIns="91440" tIns="45720" rIns="91440" bIns="45720" anchor="ctr"/>
          <a:lstStyle/>
          <a:p>
            <a:pPr lvl="0" eaLnBrk="1" hangingPunct="1"/>
            <a:endParaRPr lang="zh-CN" altLang="en-US" dirty="0"/>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68</a:t>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p:txBody>
          <a:bodyPr wrap="square" lIns="91440" tIns="45720" rIns="91440" bIns="45720" anchor="ctr"/>
          <a:lstStyle/>
          <a:p>
            <a:pPr lvl="0" eaLnBrk="1" hangingPunct="1"/>
            <a:endParaRPr lang="zh-CN" altLang="en-US" dirty="0"/>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77</a:t>
            </a:fld>
            <a:endParaRPr lang="zh-CN" alt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p:txBody>
          <a:bodyPr wrap="square" lIns="91440" tIns="45720" rIns="91440" bIns="45720" anchor="ctr"/>
          <a:lstStyle/>
          <a:p>
            <a:pPr lvl="0" eaLnBrk="1" hangingPunct="1"/>
            <a:endParaRPr lang="zh-CN" altLang="en-US" dirty="0"/>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89</a:t>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Master" Target="../slideMasters/slideMaster1.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6" Type="http://schemas.openxmlformats.org/officeDocument/2006/relationships/image" Target="../media/image4.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image" Target="../media/image3.png"/><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image" Target="../media/image3.png"/><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image" Target="../media/image2.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image" Target="../media/image5.png"/><Relationship Id="rId5" Type="http://schemas.openxmlformats.org/officeDocument/2006/relationships/tags" Target="../tags/tag18.xml"/><Relationship Id="rId10" Type="http://schemas.openxmlformats.org/officeDocument/2006/relationships/slideMaster" Target="../slideMasters/slideMaster1.xml"/><Relationship Id="rId4" Type="http://schemas.openxmlformats.org/officeDocument/2006/relationships/tags" Target="../tags/tag17.xml"/><Relationship Id="rId9" Type="http://schemas.openxmlformats.org/officeDocument/2006/relationships/tags" Target="../tags/tag22.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7.png"/><Relationship Id="rId5" Type="http://schemas.openxmlformats.org/officeDocument/2006/relationships/tags" Target="../tags/tag27.xml"/><Relationship Id="rId10" Type="http://schemas.openxmlformats.org/officeDocument/2006/relationships/image" Target="../media/image6.png"/><Relationship Id="rId4" Type="http://schemas.openxmlformats.org/officeDocument/2006/relationships/tags" Target="../tags/tag26.xml"/><Relationship Id="rId9"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9"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image" Target="../media/image2.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slideMaster" Target="../slideMasters/slideMaster1.xml"/><Relationship Id="rId5" Type="http://schemas.openxmlformats.org/officeDocument/2006/relationships/tags" Target="../tags/tag42.xml"/><Relationship Id="rId4" Type="http://schemas.openxmlformats.org/officeDocument/2006/relationships/tags" Target="../tags/tag41.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image" Target="../media/image9.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Master" Target="../slideMasters/slideMaster1.xml"/><Relationship Id="rId5" Type="http://schemas.openxmlformats.org/officeDocument/2006/relationships/tags" Target="../tags/tag47.xml"/><Relationship Id="rId4" Type="http://schemas.openxmlformats.org/officeDocument/2006/relationships/tags" Target="../tags/tag46.xml"/></Relationships>
</file>

<file path=ppt/slideLayouts/_rels/slideLayout2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0.xml"/><Relationship Id="rId7" Type="http://schemas.openxmlformats.org/officeDocument/2006/relationships/tags" Target="../tags/tag54.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9"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10" Type="http://schemas.openxmlformats.org/officeDocument/2006/relationships/image" Target="../media/image8.png"/><Relationship Id="rId4" Type="http://schemas.openxmlformats.org/officeDocument/2006/relationships/tags" Target="../tags/tag58.xml"/><Relationship Id="rId9"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70.xml"/><Relationship Id="rId3" Type="http://schemas.openxmlformats.org/officeDocument/2006/relationships/tags" Target="../tags/tag65.xml"/><Relationship Id="rId7" Type="http://schemas.openxmlformats.org/officeDocument/2006/relationships/tags" Target="../tags/tag69.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5" Type="http://schemas.openxmlformats.org/officeDocument/2006/relationships/tags" Target="../tags/tag67.xml"/><Relationship Id="rId10" Type="http://schemas.openxmlformats.org/officeDocument/2006/relationships/image" Target="../media/image8.png"/><Relationship Id="rId4" Type="http://schemas.openxmlformats.org/officeDocument/2006/relationships/tags" Target="../tags/tag66.xml"/><Relationship Id="rId9"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78.xml"/><Relationship Id="rId3" Type="http://schemas.openxmlformats.org/officeDocument/2006/relationships/tags" Target="../tags/tag73.xml"/><Relationship Id="rId7" Type="http://schemas.openxmlformats.org/officeDocument/2006/relationships/tags" Target="../tags/tag77.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5" Type="http://schemas.openxmlformats.org/officeDocument/2006/relationships/tags" Target="../tags/tag75.xml"/><Relationship Id="rId10" Type="http://schemas.openxmlformats.org/officeDocument/2006/relationships/image" Target="../media/image11.png"/><Relationship Id="rId4" Type="http://schemas.openxmlformats.org/officeDocument/2006/relationships/tags" Target="../tags/tag74.xml"/><Relationship Id="rId9"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image" Target="../media/image12.png"/><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slideMaster" Target="../slideMasters/slideMaster1.xml"/><Relationship Id="rId5" Type="http://schemas.openxmlformats.org/officeDocument/2006/relationships/tags" Target="../tags/tag83.xml"/><Relationship Id="rId10" Type="http://schemas.openxmlformats.org/officeDocument/2006/relationships/tags" Target="../tags/tag88.xml"/><Relationship Id="rId4" Type="http://schemas.openxmlformats.org/officeDocument/2006/relationships/tags" Target="../tags/tag82.xml"/><Relationship Id="rId9" Type="http://schemas.openxmlformats.org/officeDocument/2006/relationships/tags" Target="../tags/tag87.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96.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image" Target="../media/image14.png"/><Relationship Id="rId5" Type="http://schemas.openxmlformats.org/officeDocument/2006/relationships/tags" Target="../tags/tag93.xml"/><Relationship Id="rId10" Type="http://schemas.openxmlformats.org/officeDocument/2006/relationships/image" Target="../media/image13.png"/><Relationship Id="rId4" Type="http://schemas.openxmlformats.org/officeDocument/2006/relationships/tags" Target="../tags/tag92.xml"/><Relationship Id="rId9"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solidFill>
                  <a:schemeClr val="tx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1D9492F2-D67E-41DC-945F-56085709F77C}" type="datetime1">
              <a:rPr lang="zh-CN" altLang="en-US" smtClean="0"/>
              <a:t>2021/3/16</a:t>
            </a:fld>
            <a:endParaRPr lang="zh-CN" altLang="en-US"/>
          </a:p>
        </p:txBody>
      </p:sp>
      <p:sp>
        <p:nvSpPr>
          <p:cNvPr id="5" name="Footer Placeholder 4"/>
          <p:cNvSpPr>
            <a:spLocks noGrp="1"/>
          </p:cNvSpPr>
          <p:nvPr>
            <p:ph type="ftr" sz="quarter" idx="11"/>
          </p:nvPr>
        </p:nvSpPr>
        <p:spPr>
          <a:xfrm>
            <a:off x="1371600" y="4323845"/>
            <a:ext cx="6400800" cy="365125"/>
          </a:xfrm>
        </p:spPr>
        <p:txBody>
          <a:bodyPr/>
          <a:lstStyle/>
          <a:p>
            <a:endParaRPr lang="zh-CN" altLang="en-US" dirty="0"/>
          </a:p>
        </p:txBody>
      </p:sp>
      <p:sp>
        <p:nvSpPr>
          <p:cNvPr id="6" name="Slide Number Placeholder 5"/>
          <p:cNvSpPr>
            <a:spLocks noGrp="1"/>
          </p:cNvSpPr>
          <p:nvPr>
            <p:ph type="sldNum" sz="quarter" idx="12"/>
          </p:nvPr>
        </p:nvSpPr>
        <p:spPr>
          <a:xfrm>
            <a:off x="8077200" y="1430866"/>
            <a:ext cx="2743200" cy="365125"/>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302890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8E5E795-FB66-470B-A230-AFE8EC10F590}" type="datetime1">
              <a:rPr lang="zh-CN" altLang="en-US" smtClean="0"/>
              <a:t>2021/3/16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752734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zh-CN" altLang="en-US"/>
              <a:t>单击此处编辑母版标题样式</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7B92EE0C-0295-4B9D-9025-B386F9A1E62A}" type="datetime1">
              <a:rPr lang="zh-CN" altLang="en-US" smtClean="0"/>
              <a:t>2021/3/16</a:t>
            </a:fld>
            <a:endParaRPr lang="zh-CN" altLang="en-US"/>
          </a:p>
        </p:txBody>
      </p:sp>
      <p:sp>
        <p:nvSpPr>
          <p:cNvPr id="5" name="Footer Placeholder 4"/>
          <p:cNvSpPr>
            <a:spLocks noGrp="1"/>
          </p:cNvSpPr>
          <p:nvPr>
            <p:ph type="ftr" sz="quarter" idx="11"/>
          </p:nvPr>
        </p:nvSpPr>
        <p:spPr>
          <a:xfrm>
            <a:off x="685800" y="381001"/>
            <a:ext cx="6991492" cy="364065"/>
          </a:xfrm>
        </p:spPr>
        <p:txBody>
          <a:bodyPr/>
          <a:lstStyle/>
          <a:p>
            <a:endParaRPr lang="zh-CN" altLang="en-US"/>
          </a:p>
        </p:txBody>
      </p:sp>
      <p:sp>
        <p:nvSpPr>
          <p:cNvPr id="6" name="Slide Number Placeholder 5"/>
          <p:cNvSpPr>
            <a:spLocks noGrp="1"/>
          </p:cNvSpPr>
          <p:nvPr>
            <p:ph type="sldNum" sz="quarter" idx="12"/>
          </p:nvPr>
        </p:nvSpPr>
        <p:spPr>
          <a:xfrm>
            <a:off x="10862452" y="381000"/>
            <a:ext cx="643748" cy="365125"/>
          </a:xfrm>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579629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29248483-C582-4611-86B2-8B646A167B4B}" type="datetime1">
              <a:rPr lang="zh-CN" altLang="en-US" smtClean="0"/>
              <a:t>2021/3/16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57786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85800" y="3132666"/>
            <a:ext cx="5311775" cy="308601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3132666"/>
            <a:ext cx="5334000" cy="308601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8EC89F4-470C-4839-A630-419D63CC38E5}" type="datetime1">
              <a:rPr lang="zh-CN" altLang="en-US" smtClean="0"/>
              <a:t>2021/3/16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4011526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34866D57-7145-4308-B43C-ABF4E4C0047E}" type="datetime1">
              <a:rPr lang="zh-CN" altLang="en-US" smtClean="0"/>
              <a:t>2021/3/16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07731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C9B319-CE6C-419C-950F-8835A838BD47}" type="datetime1">
              <a:rPr lang="zh-CN" altLang="en-US" smtClean="0"/>
              <a:t>2021/3/16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19002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ACC93D5-C697-43EF-8D3A-13ECE9F6FA33}" type="datetime1">
              <a:rPr lang="zh-CN" altLang="en-US" smtClean="0"/>
              <a:t>2021/3/16</a:t>
            </a:fld>
            <a:endParaRPr lang="zh-CN" altLang="en-US"/>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416678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BF55773-D3C1-4508-B5A4-8BF0A5090100}" type="datetime1">
              <a:rPr lang="zh-CN" altLang="en-US" smtClean="0"/>
              <a:t>2021/3/16</a:t>
            </a:fld>
            <a:endParaRPr lang="zh-CN" altLang="en-US" dirty="0"/>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FABC47A4-756D-490B-A52F-7D9E2C9FC05F}" type="slidenum">
              <a:rPr lang="zh-CN" altLang="en-US" smtClean="0"/>
              <a:t>‹#›</a:t>
            </a:fld>
            <a:endParaRPr lang="zh-CN" altLang="en-US"/>
          </a:p>
        </p:txBody>
      </p:sp>
    </p:spTree>
    <p:extLst>
      <p:ext uri="{BB962C8B-B14F-4D97-AF65-F5344CB8AC3E}">
        <p14:creationId xmlns:p14="http://schemas.microsoft.com/office/powerpoint/2010/main" val="1981220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23684EC-C846-4B8C-BB95-A24CB0A16F82}" type="datetime1">
              <a:rPr lang="zh-CN" altLang="en-US" smtClean="0"/>
              <a:t>2021/3/16</a:t>
            </a:fld>
            <a:endParaRPr lang="zh-CN" altLang="en-US"/>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2375491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标题和描述">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84E7562-309F-4674-AC82-E1D53E31D87D}" type="datetime1">
              <a:rPr lang="zh-CN" altLang="en-US" smtClean="0"/>
              <a:t>2021/3/16</a:t>
            </a:fld>
            <a:endParaRPr lang="zh-CN" altLang="en-US"/>
          </a:p>
        </p:txBody>
      </p:sp>
      <p:sp>
        <p:nvSpPr>
          <p:cNvPr id="6" name="Footer Placeholder 5"/>
          <p:cNvSpPr>
            <a:spLocks noGrp="1"/>
          </p:cNvSpPr>
          <p:nvPr>
            <p:ph type="ftr" sz="quarter" idx="11"/>
          </p:nvPr>
        </p:nvSpPr>
        <p:spPr>
          <a:xfrm>
            <a:off x="685800" y="379941"/>
            <a:ext cx="6991492" cy="365125"/>
          </a:xfrm>
        </p:spPr>
        <p:txBody>
          <a:bodyPr/>
          <a:lstStyle/>
          <a:p>
            <a:endParaRPr lang="zh-CN" altLang="en-US" dirty="0"/>
          </a:p>
        </p:txBody>
      </p:sp>
      <p:sp>
        <p:nvSpPr>
          <p:cNvPr id="7" name="Slide Number Placeholder 6"/>
          <p:cNvSpPr>
            <a:spLocks noGrp="1"/>
          </p:cNvSpPr>
          <p:nvPr>
            <p:ph type="sldNum" sz="quarter" idx="12"/>
          </p:nvPr>
        </p:nvSpPr>
        <p:spPr>
          <a:xfrm>
            <a:off x="10862452" y="381000"/>
            <a:ext cx="643748" cy="365125"/>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0607112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带描述的引言">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82D6C54C-3DA0-43CF-800F-87E3C715E79E}" type="datetime1">
              <a:rPr lang="zh-CN" altLang="en-US" smtClean="0"/>
              <a:t>2021/3/16</a:t>
            </a:fld>
            <a:endParaRPr lang="zh-CN" altLang="en-US"/>
          </a:p>
        </p:txBody>
      </p:sp>
      <p:sp>
        <p:nvSpPr>
          <p:cNvPr id="6" name="Footer Placeholder 5"/>
          <p:cNvSpPr>
            <a:spLocks noGrp="1"/>
          </p:cNvSpPr>
          <p:nvPr>
            <p:ph type="ftr" sz="quarter" idx="11"/>
          </p:nvPr>
        </p:nvSpPr>
        <p:spPr>
          <a:xfrm>
            <a:off x="685800" y="379941"/>
            <a:ext cx="6991492" cy="365125"/>
          </a:xfrm>
        </p:spPr>
        <p:txBody>
          <a:bodyPr/>
          <a:lstStyle/>
          <a:p>
            <a:endParaRPr lang="zh-CN" altLang="en-US" dirty="0"/>
          </a:p>
        </p:txBody>
      </p:sp>
      <p:sp>
        <p:nvSpPr>
          <p:cNvPr id="7" name="Slide Number Placeholder 6"/>
          <p:cNvSpPr>
            <a:spLocks noGrp="1"/>
          </p:cNvSpPr>
          <p:nvPr>
            <p:ph type="sldNum" sz="quarter" idx="12"/>
          </p:nvPr>
        </p:nvSpPr>
        <p:spPr>
          <a:xfrm>
            <a:off x="10862452" y="381000"/>
            <a:ext cx="643748" cy="365125"/>
          </a:xfrm>
        </p:spPr>
        <p:txBody>
          <a:bodyPr/>
          <a:lstStyle/>
          <a:p>
            <a:fld id="{49AE70B2-8BF9-45C0-BB95-33D1B9D3A854}" type="slidenum">
              <a:rPr lang="zh-CN" altLang="en-US" smtClean="0"/>
              <a:t>‹#›</a:t>
            </a:fld>
            <a:endParaRPr lang="zh-CN" alt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90433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名片">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F363E3AE-6776-425C-B009-FAC4A60F8FBD}" type="datetime1">
              <a:rPr lang="zh-CN" altLang="en-US" smtClean="0"/>
              <a:t>2021/3/16</a:t>
            </a:fld>
            <a:endParaRPr lang="zh-CN" altLang="en-US"/>
          </a:p>
        </p:txBody>
      </p:sp>
      <p:sp>
        <p:nvSpPr>
          <p:cNvPr id="6" name="Footer Placeholder 5"/>
          <p:cNvSpPr>
            <a:spLocks noGrp="1"/>
          </p:cNvSpPr>
          <p:nvPr>
            <p:ph type="ftr" sz="quarter" idx="11"/>
          </p:nvPr>
        </p:nvSpPr>
        <p:spPr>
          <a:xfrm>
            <a:off x="685800" y="378883"/>
            <a:ext cx="6991492" cy="365125"/>
          </a:xfrm>
        </p:spPr>
        <p:txBody>
          <a:bodyPr/>
          <a:lstStyle/>
          <a:p>
            <a:endParaRPr lang="zh-CN" altLang="en-US" dirty="0"/>
          </a:p>
        </p:txBody>
      </p:sp>
      <p:sp>
        <p:nvSpPr>
          <p:cNvPr id="7" name="Slide Number Placeholder 6"/>
          <p:cNvSpPr>
            <a:spLocks noGrp="1"/>
          </p:cNvSpPr>
          <p:nvPr>
            <p:ph type="sldNum" sz="quarter" idx="12"/>
          </p:nvPr>
        </p:nvSpPr>
        <p:spPr>
          <a:xfrm>
            <a:off x="10862452" y="381000"/>
            <a:ext cx="643748" cy="365125"/>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26219843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zh-CN" altLang="en-US"/>
              <a:t>单击此处编辑母版标题样式</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97ECCE63-EDD1-454C-BE2A-6E39A75151E4}" type="datetime1">
              <a:rPr lang="zh-CN" altLang="en-US" smtClean="0"/>
              <a:t>2021/3/16</a:t>
            </a:fld>
            <a:endParaRPr lang="zh-CN" altLang="en-US"/>
          </a:p>
        </p:txBody>
      </p:sp>
      <p:sp>
        <p:nvSpPr>
          <p:cNvPr id="4" name="Footer Placeholder 3"/>
          <p:cNvSpPr>
            <a:spLocks noGrp="1"/>
          </p:cNvSpPr>
          <p:nvPr>
            <p:ph type="ftr" sz="quarter" idx="11"/>
          </p:nvPr>
        </p:nvSpPr>
        <p:spPr/>
        <p:txBody>
          <a:bodyPr/>
          <a:lstStyle/>
          <a:p>
            <a:endParaRPr lang="zh-CN" altLang="en-US" dirty="0"/>
          </a:p>
        </p:txBody>
      </p:sp>
      <p:sp>
        <p:nvSpPr>
          <p:cNvPr id="5" name="Slide Number Placeholder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2333832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zh-CN" altLang="en-US"/>
              <a:t>单击此处编辑母版标题样式</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F771E355-68DE-402B-B20A-C5F1DEF6EA79}" type="datetime1">
              <a:rPr lang="zh-CN" altLang="en-US" smtClean="0"/>
              <a:t>2021/3/16</a:t>
            </a:fld>
            <a:endParaRPr lang="zh-CN" altLang="en-US"/>
          </a:p>
        </p:txBody>
      </p:sp>
      <p:sp>
        <p:nvSpPr>
          <p:cNvPr id="4" name="Footer Placeholder 3"/>
          <p:cNvSpPr>
            <a:spLocks noGrp="1"/>
          </p:cNvSpPr>
          <p:nvPr>
            <p:ph type="ftr" sz="quarter" idx="11"/>
          </p:nvPr>
        </p:nvSpPr>
        <p:spPr/>
        <p:txBody>
          <a:bodyPr/>
          <a:lstStyle/>
          <a:p>
            <a:endParaRPr lang="zh-CN" altLang="en-US" dirty="0"/>
          </a:p>
        </p:txBody>
      </p:sp>
      <p:sp>
        <p:nvSpPr>
          <p:cNvPr id="5" name="Slide Number Placeholder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28844623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05A211-5D1B-4FCE-9F67-AE15B40EB2EA}" type="datetime1">
              <a:rPr lang="zh-CN" altLang="en-US" smtClean="0"/>
              <a:t>2021/3/16</a:t>
            </a:fld>
            <a:endParaRPr lang="zh-CN" altLang="en-US"/>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37984097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1CB78D5-13A6-4321-9C7A-000BCFD98A30}" type="datetime1">
              <a:rPr lang="zh-CN" altLang="en-US" smtClean="0"/>
              <a:t>2021/3/16</a:t>
            </a:fld>
            <a:endParaRPr lang="zh-CN" altLang="en-US"/>
          </a:p>
        </p:txBody>
      </p:sp>
      <p:sp>
        <p:nvSpPr>
          <p:cNvPr id="5" name="Footer Placeholder 4"/>
          <p:cNvSpPr>
            <a:spLocks noGrp="1"/>
          </p:cNvSpPr>
          <p:nvPr>
            <p:ph type="ftr" sz="quarter" idx="11"/>
          </p:nvPr>
        </p:nvSpPr>
        <p:spPr>
          <a:xfrm>
            <a:off x="685800" y="381000"/>
            <a:ext cx="6991492" cy="365125"/>
          </a:xfrm>
        </p:spPr>
        <p:txBody>
          <a:bodyPr/>
          <a:lstStyle/>
          <a:p>
            <a:endParaRPr lang="zh-CN" altLang="en-US"/>
          </a:p>
        </p:txBody>
      </p:sp>
      <p:sp>
        <p:nvSpPr>
          <p:cNvPr id="6" name="Slide Number Placeholder 5"/>
          <p:cNvSpPr>
            <a:spLocks noGrp="1"/>
          </p:cNvSpPr>
          <p:nvPr>
            <p:ph type="sldNum" sz="quarter" idx="12"/>
          </p:nvPr>
        </p:nvSpPr>
        <p:spPr>
          <a:xfrm>
            <a:off x="10862452" y="381000"/>
            <a:ext cx="643748" cy="365125"/>
          </a:xfrm>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6297228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标题幻灯片">
    <p:bg>
      <p:bgPr>
        <a:solidFill>
          <a:schemeClr val="bg1"/>
        </a:solidFill>
        <a:effectLst/>
      </p:bgPr>
    </p:bg>
    <p:spTree>
      <p:nvGrpSpPr>
        <p:cNvPr id="1" name=""/>
        <p:cNvGrpSpPr/>
        <p:nvPr/>
      </p:nvGrpSpPr>
      <p:grpSpPr>
        <a:xfrm>
          <a:off x="0" y="0"/>
          <a:ext cx="0" cy="0"/>
          <a:chOff x="0" y="0"/>
          <a:chExt cx="0" cy="0"/>
        </a:xfrm>
      </p:grpSpPr>
      <p:grpSp>
        <p:nvGrpSpPr>
          <p:cNvPr id="4" name="组合 3"/>
          <p:cNvGrpSpPr/>
          <p:nvPr>
            <p:custDataLst>
              <p:tags r:id="rId1"/>
            </p:custDataLst>
          </p:nvPr>
        </p:nvGrpSpPr>
        <p:grpSpPr>
          <a:xfrm>
            <a:off x="0" y="0"/>
            <a:ext cx="12192000" cy="7454900"/>
            <a:chOff x="0" y="0"/>
            <a:chExt cx="19200" cy="11740"/>
          </a:xfrm>
        </p:grpSpPr>
        <p:grpSp>
          <p:nvGrpSpPr>
            <p:cNvPr id="6" name="组合 5"/>
            <p:cNvGrpSpPr/>
            <p:nvPr userDrawn="1">
              <p:custDataLst>
                <p:tags r:id="rId9"/>
              </p:custDataLst>
            </p:nvPr>
          </p:nvGrpSpPr>
          <p:grpSpPr>
            <a:xfrm>
              <a:off x="0" y="0"/>
              <a:ext cx="19200" cy="3223"/>
              <a:chOff x="0" y="0"/>
              <a:chExt cx="12192000" cy="2046605"/>
            </a:xfrm>
          </p:grpSpPr>
          <p:pic>
            <p:nvPicPr>
              <p:cNvPr id="7" name="图片 6"/>
              <p:cNvPicPr>
                <a:picLocks noChangeAspect="1"/>
              </p:cNvPicPr>
              <p:nvPr userDrawn="1">
                <p:custDataLst>
                  <p:tags r:id="rId11"/>
                </p:custDataLst>
              </p:nvPr>
            </p:nvPicPr>
            <p:blipFill>
              <a:blip r:embed="rId14"/>
              <a:stretch>
                <a:fillRect/>
              </a:stretch>
            </p:blipFill>
            <p:spPr>
              <a:xfrm>
                <a:off x="0" y="0"/>
                <a:ext cx="12192000" cy="2046605"/>
              </a:xfrm>
              <a:prstGeom prst="rect">
                <a:avLst/>
              </a:prstGeom>
            </p:spPr>
          </p:pic>
          <p:pic>
            <p:nvPicPr>
              <p:cNvPr id="9" name="图片 8"/>
              <p:cNvPicPr>
                <a:picLocks noChangeAspect="1"/>
              </p:cNvPicPr>
              <p:nvPr userDrawn="1">
                <p:custDataLst>
                  <p:tags r:id="rId12"/>
                </p:custDataLst>
              </p:nvPr>
            </p:nvPicPr>
            <p:blipFill rotWithShape="1">
              <a:blip r:embed="rId15"/>
              <a:srcRect/>
              <a:stretch>
                <a:fillRect/>
              </a:stretch>
            </p:blipFill>
            <p:spPr>
              <a:xfrm>
                <a:off x="0" y="10686"/>
                <a:ext cx="12192000" cy="1704978"/>
              </a:xfrm>
              <a:prstGeom prst="rect">
                <a:avLst/>
              </a:prstGeom>
            </p:spPr>
          </p:pic>
        </p:grpSp>
        <p:pic>
          <p:nvPicPr>
            <p:cNvPr id="8" name="图片 7"/>
            <p:cNvPicPr>
              <a:picLocks noChangeAspect="1"/>
            </p:cNvPicPr>
            <p:nvPr userDrawn="1">
              <p:custDataLst>
                <p:tags r:id="rId10"/>
              </p:custDataLst>
            </p:nvPr>
          </p:nvPicPr>
          <p:blipFill>
            <a:blip r:embed="rId16"/>
            <a:stretch>
              <a:fillRect/>
            </a:stretch>
          </p:blipFill>
          <p:spPr>
            <a:xfrm>
              <a:off x="0" y="9728"/>
              <a:ext cx="19200" cy="2012"/>
            </a:xfrm>
            <a:prstGeom prst="rect">
              <a:avLst/>
            </a:prstGeom>
          </p:spPr>
        </p:pic>
      </p:grpSp>
      <p:sp>
        <p:nvSpPr>
          <p:cNvPr id="16" name="日期占位符 15"/>
          <p:cNvSpPr>
            <a:spLocks noGrp="1"/>
          </p:cNvSpPr>
          <p:nvPr>
            <p:ph type="dt" sz="half" idx="10"/>
            <p:custDataLst>
              <p:tags r:id="rId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5EEA551-27C4-4A21-B702-D7D65570E04F}" type="datetime1">
              <a:rPr lang="zh-CN" altLang="en-US" smtClean="0"/>
              <a:t>2021/3/16</a:t>
            </a:fld>
            <a:endParaRPr lang="zh-CN" altLang="en-US"/>
          </a:p>
        </p:txBody>
      </p:sp>
      <p:sp>
        <p:nvSpPr>
          <p:cNvPr id="17" name="页脚占位符 16"/>
          <p:cNvSpPr>
            <a:spLocks noGrp="1"/>
          </p:cNvSpPr>
          <p:nvPr>
            <p:ph type="ftr" sz="quarter" idx="11"/>
            <p:custDataLst>
              <p:tags r:id="rId3"/>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3" name="副标题 2"/>
          <p:cNvSpPr>
            <a:spLocks noGrp="1"/>
          </p:cNvSpPr>
          <p:nvPr>
            <p:ph type="subTitle" idx="1" hasCustomPrompt="1"/>
            <p:custDataLst>
              <p:tags r:id="rId5"/>
            </p:custDataLst>
          </p:nvPr>
        </p:nvSpPr>
        <p:spPr>
          <a:xfrm>
            <a:off x="2216785" y="3503930"/>
            <a:ext cx="7759065" cy="491490"/>
          </a:xfrm>
        </p:spPr>
        <p:txBody>
          <a:bodyPr lIns="90000" tIns="46800" rIns="90000" bIns="46800">
            <a:normAutofit/>
          </a:bodyPr>
          <a:lstStyle>
            <a:lvl1pPr marL="0" indent="0" algn="ctr" eaLnBrk="1" fontAlgn="auto" latinLnBrk="0" hangingPunct="1">
              <a:lnSpc>
                <a:spcPct val="100000"/>
              </a:lnSpc>
              <a:buNone/>
              <a:defRPr sz="2000" u="none" strike="noStrike" kern="1200" cap="none" spc="0" normalizeH="0" baseline="0">
                <a:solidFill>
                  <a:schemeClr val="accent1"/>
                </a:solidFill>
                <a:uFillTx/>
                <a:latin typeface="Arial" panose="020B0604020202020204" pitchFamily="34" charset="0"/>
                <a:ea typeface="微软雅黑"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2" name="标题 1"/>
          <p:cNvSpPr>
            <a:spLocks noGrp="1"/>
          </p:cNvSpPr>
          <p:nvPr>
            <p:ph type="ctrTitle" hasCustomPrompt="1"/>
            <p:custDataLst>
              <p:tags r:id="rId6"/>
            </p:custDataLst>
          </p:nvPr>
        </p:nvSpPr>
        <p:spPr>
          <a:xfrm>
            <a:off x="2216468" y="2292046"/>
            <a:ext cx="7759065" cy="1150960"/>
          </a:xfrm>
        </p:spPr>
        <p:txBody>
          <a:bodyPr lIns="90000" tIns="46800" rIns="90000" bIns="46800" anchor="b" anchorCtr="0">
            <a:noAutofit/>
          </a:bodyPr>
          <a:lstStyle>
            <a:lvl1pPr algn="ctr">
              <a:defRPr sz="6000" b="1" spc="600" baseline="0">
                <a:solidFill>
                  <a:schemeClr val="tx1"/>
                </a:solidFill>
                <a:latin typeface="黑体" panose="02010609060101010101" pitchFamily="49" charset="-122"/>
                <a:ea typeface="黑体" panose="02010609060101010101" pitchFamily="49" charset="-122"/>
              </a:defRPr>
            </a:lvl1pPr>
          </a:lstStyle>
          <a:p>
            <a:r>
              <a:rPr lang="zh-CN" altLang="en-US" dirty="0"/>
              <a:t>单击此处编辑标题</a:t>
            </a:r>
          </a:p>
        </p:txBody>
      </p:sp>
      <p:sp>
        <p:nvSpPr>
          <p:cNvPr id="5" name="文本占位符 4"/>
          <p:cNvSpPr>
            <a:spLocks noGrp="1"/>
          </p:cNvSpPr>
          <p:nvPr>
            <p:ph type="body" sz="quarter" idx="13" hasCustomPrompt="1"/>
            <p:custDataLst>
              <p:tags r:id="rId7"/>
            </p:custDataLst>
          </p:nvPr>
        </p:nvSpPr>
        <p:spPr>
          <a:xfrm>
            <a:off x="4511039" y="4490846"/>
            <a:ext cx="1383093" cy="474726"/>
          </a:xfrm>
          <a:solidFill>
            <a:schemeClr val="accent1"/>
          </a:solidFill>
        </p:spPr>
        <p:txBody>
          <a:bodyPr lIns="90000" tIns="46800" rIns="90000" bIns="46800" anchor="ctr">
            <a:normAutofit/>
          </a:bodyPr>
          <a:lstStyle>
            <a:lvl1pPr marL="0" indent="0" algn="ctr">
              <a:buNone/>
              <a:defRPr u="none" strike="noStrike" kern="1200" cap="none" spc="0" normalizeH="0">
                <a:solidFill>
                  <a:schemeClr val="bg1"/>
                </a:solidFill>
                <a:latin typeface="Arial" panose="020B0604020202020204" pitchFamily="34" charset="0"/>
                <a:ea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编辑文本</a:t>
            </a:r>
          </a:p>
        </p:txBody>
      </p:sp>
      <p:sp>
        <p:nvSpPr>
          <p:cNvPr id="14" name="文本占位符 13"/>
          <p:cNvSpPr>
            <a:spLocks noGrp="1"/>
          </p:cNvSpPr>
          <p:nvPr>
            <p:ph type="body" sz="quarter" idx="14" hasCustomPrompt="1"/>
            <p:custDataLst>
              <p:tags r:id="rId8"/>
            </p:custDataLst>
          </p:nvPr>
        </p:nvSpPr>
        <p:spPr>
          <a:xfrm>
            <a:off x="6096000" y="4490846"/>
            <a:ext cx="1383092" cy="474726"/>
          </a:xfrm>
          <a:ln>
            <a:solidFill>
              <a:schemeClr val="accent1"/>
            </a:solidFill>
          </a:ln>
        </p:spPr>
        <p:txBody>
          <a:bodyPr lIns="90000" tIns="46800" rIns="90000" bIns="46800" anchor="ctr">
            <a:normAutofit/>
          </a:bodyPr>
          <a:lstStyle>
            <a:lvl1pPr marL="0" indent="0" algn="ctr">
              <a:buNone/>
              <a:defRPr u="none" strike="noStrike" kern="1200" cap="none" spc="0" normalizeH="0">
                <a:ln>
                  <a:noFill/>
                </a:ln>
                <a:solidFill>
                  <a:schemeClr val="accent1"/>
                </a:solidFill>
                <a:latin typeface="Arial" panose="020B0604020202020204" pitchFamily="34" charset="0"/>
                <a:ea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编辑文本</a:t>
            </a:r>
          </a:p>
        </p:txBody>
      </p:sp>
    </p:spTree>
    <p:extLst>
      <p:ext uri="{BB962C8B-B14F-4D97-AF65-F5344CB8AC3E}">
        <p14:creationId xmlns:p14="http://schemas.microsoft.com/office/powerpoint/2010/main" val="17662258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末尾幻灯片">
    <p:bg>
      <p:bgPr>
        <a:solidFill>
          <a:schemeClr val="bg2"/>
        </a:solidFill>
        <a:effectLst/>
      </p:bgPr>
    </p:bg>
    <p:spTree>
      <p:nvGrpSpPr>
        <p:cNvPr id="1" name=""/>
        <p:cNvGrpSpPr/>
        <p:nvPr/>
      </p:nvGrpSpPr>
      <p:grpSpPr>
        <a:xfrm>
          <a:off x="0" y="0"/>
          <a:ext cx="0" cy="0"/>
          <a:chOff x="0" y="0"/>
          <a:chExt cx="0" cy="0"/>
        </a:xfrm>
      </p:grpSpPr>
      <p:pic>
        <p:nvPicPr>
          <p:cNvPr id="10" name="图片 9"/>
          <p:cNvPicPr>
            <a:picLocks noChangeAspect="1"/>
          </p:cNvPicPr>
          <p:nvPr>
            <p:custDataLst>
              <p:tags r:id="rId1"/>
            </p:custDataLst>
          </p:nvPr>
        </p:nvPicPr>
        <p:blipFill>
          <a:blip r:embed="rId11"/>
          <a:stretch>
            <a:fillRect/>
          </a:stretch>
        </p:blipFill>
        <p:spPr>
          <a:xfrm>
            <a:off x="0" y="6177281"/>
            <a:ext cx="12192000" cy="1165911"/>
          </a:xfrm>
          <a:prstGeom prst="rect">
            <a:avLst/>
          </a:prstGeom>
        </p:spPr>
      </p:pic>
      <p:pic>
        <p:nvPicPr>
          <p:cNvPr id="6" name="图片 5"/>
          <p:cNvPicPr>
            <a:picLocks noChangeAspect="1"/>
          </p:cNvPicPr>
          <p:nvPr>
            <p:custDataLst>
              <p:tags r:id="rId2"/>
            </p:custDataLst>
          </p:nvPr>
        </p:nvPicPr>
        <p:blipFill>
          <a:blip r:embed="rId12"/>
          <a:stretch>
            <a:fillRect/>
          </a:stretch>
        </p:blipFill>
        <p:spPr>
          <a:xfrm>
            <a:off x="0" y="35560"/>
            <a:ext cx="12192000" cy="2046605"/>
          </a:xfrm>
          <a:prstGeom prst="rect">
            <a:avLst/>
          </a:prstGeom>
        </p:spPr>
      </p:pic>
      <p:sp>
        <p:nvSpPr>
          <p:cNvPr id="2" name="标题 1"/>
          <p:cNvSpPr>
            <a:spLocks noGrp="1"/>
          </p:cNvSpPr>
          <p:nvPr>
            <p:ph type="title" hasCustomPrompt="1"/>
            <p:custDataLst>
              <p:tags r:id="rId3"/>
            </p:custDataLst>
          </p:nvPr>
        </p:nvSpPr>
        <p:spPr>
          <a:xfrm>
            <a:off x="3125639" y="2421777"/>
            <a:ext cx="5940722" cy="1336635"/>
          </a:xfrm>
        </p:spPr>
        <p:txBody>
          <a:bodyPr vert="horz" lIns="90000" tIns="46800" rIns="90000" bIns="46800" rtlCol="0" anchor="b" anchorCtr="0">
            <a:normAutofit/>
          </a:bodyPr>
          <a:lstStyle>
            <a:lvl1pPr marL="0" marR="0" algn="ctr"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4"/>
            </p:custDataLst>
          </p:nvPr>
        </p:nvSpPr>
        <p:spPr/>
        <p:txBody>
          <a:bodyPr/>
          <a:lstStyle/>
          <a:p>
            <a:fld id="{F97720A7-D781-4EC8-9E07-19E818EBD617}" type="datetime1">
              <a:rPr lang="zh-CN" altLang="en-US" smtClean="0"/>
              <a:t>2021/3/16</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pic>
        <p:nvPicPr>
          <p:cNvPr id="9" name="图片 8"/>
          <p:cNvPicPr>
            <a:picLocks noChangeAspect="1"/>
          </p:cNvPicPr>
          <p:nvPr>
            <p:custDataLst>
              <p:tags r:id="rId7"/>
            </p:custDataLst>
          </p:nvPr>
        </p:nvPicPr>
        <p:blipFill rotWithShape="1">
          <a:blip r:embed="rId13"/>
          <a:srcRect/>
          <a:stretch>
            <a:fillRect/>
          </a:stretch>
        </p:blipFill>
        <p:spPr>
          <a:xfrm>
            <a:off x="0" y="-3"/>
            <a:ext cx="12192000" cy="1704978"/>
          </a:xfrm>
          <a:prstGeom prst="rect">
            <a:avLst/>
          </a:prstGeom>
        </p:spPr>
      </p:pic>
      <p:sp>
        <p:nvSpPr>
          <p:cNvPr id="13" name="文本占位符 12"/>
          <p:cNvSpPr>
            <a:spLocks noGrp="1"/>
          </p:cNvSpPr>
          <p:nvPr>
            <p:ph type="body" sz="quarter" idx="13" hasCustomPrompt="1"/>
            <p:custDataLst>
              <p:tags r:id="rId8"/>
            </p:custDataLst>
          </p:nvPr>
        </p:nvSpPr>
        <p:spPr>
          <a:xfrm>
            <a:off x="4632702" y="4417887"/>
            <a:ext cx="1302101" cy="485285"/>
          </a:xfrm>
          <a:solidFill>
            <a:schemeClr val="accent1"/>
          </a:solidFill>
        </p:spPr>
        <p:txBody>
          <a:bodyPr/>
          <a:lstStyle>
            <a:lvl1pPr marL="0" indent="0" algn="r">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编辑文本</a:t>
            </a:r>
          </a:p>
        </p:txBody>
      </p:sp>
      <p:sp>
        <p:nvSpPr>
          <p:cNvPr id="15" name="文本占位符 14"/>
          <p:cNvSpPr>
            <a:spLocks noGrp="1"/>
          </p:cNvSpPr>
          <p:nvPr>
            <p:ph type="body" sz="quarter" idx="14" hasCustomPrompt="1"/>
            <p:custDataLst>
              <p:tags r:id="rId9"/>
            </p:custDataLst>
          </p:nvPr>
        </p:nvSpPr>
        <p:spPr>
          <a:xfrm>
            <a:off x="6257198" y="4417887"/>
            <a:ext cx="1302102" cy="485285"/>
          </a:xfrm>
          <a:ln>
            <a:solidFill>
              <a:schemeClr val="accent1"/>
            </a:solidFill>
          </a:ln>
        </p:spPr>
        <p:txBody>
          <a:bodyPr/>
          <a:lstStyle>
            <a:lvl1pPr marL="0" indent="0">
              <a:buNone/>
              <a:defRPr>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编辑文本</a:t>
            </a:r>
          </a:p>
        </p:txBody>
      </p:sp>
    </p:spTree>
    <p:extLst>
      <p:ext uri="{BB962C8B-B14F-4D97-AF65-F5344CB8AC3E}">
        <p14:creationId xmlns:p14="http://schemas.microsoft.com/office/powerpoint/2010/main" val="1506142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90000" tIns="46800" rIns="90000" bIns="46800" rtlCol="0" anchor="t" anchorCtr="0">
            <a:noAutofit/>
          </a:bodyPr>
          <a:lstStyle>
            <a:lvl1pPr marL="0" marR="0" lvl="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1124744"/>
            <a:ext cx="5283242" cy="5216671"/>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38877" y="1124744"/>
            <a:ext cx="5283242" cy="5216671"/>
          </a:xfrm>
        </p:spPr>
        <p:txBody>
          <a:bodyPr lIns="90000" tIns="46800" rIns="90000" bIns="46800">
            <a:normAutofit/>
          </a:bodyPr>
          <a:lstStyle>
            <a:lvl1pPr>
              <a:defRPr sz="2400" baseline="0">
                <a:solidFill>
                  <a:schemeClr val="tx1">
                    <a:lumMod val="85000"/>
                    <a:lumOff val="15000"/>
                  </a:schemeClr>
                </a:solidFill>
                <a:latin typeface="Arial" panose="020B0604020202020204" pitchFamily="34" charset="0"/>
                <a:ea typeface="微软雅黑" panose="020B0503020204020204" charset="-122"/>
              </a:defRPr>
            </a:lvl1pPr>
            <a:lvl2pPr>
              <a:defRPr sz="2400" baseline="0">
                <a:solidFill>
                  <a:schemeClr val="tx1">
                    <a:lumMod val="85000"/>
                    <a:lumOff val="15000"/>
                  </a:schemeClr>
                </a:solidFill>
                <a:latin typeface="Arial" panose="020B0604020202020204" pitchFamily="34" charset="0"/>
                <a:ea typeface="微软雅黑" panose="020B0503020204020204" charset="-122"/>
              </a:defRPr>
            </a:lvl2pPr>
            <a:lvl3pPr>
              <a:defRPr sz="2400" baseline="0">
                <a:solidFill>
                  <a:schemeClr val="tx1">
                    <a:lumMod val="85000"/>
                    <a:lumOff val="15000"/>
                  </a:schemeClr>
                </a:solidFill>
                <a:latin typeface="Arial" panose="020B0604020202020204" pitchFamily="34" charset="0"/>
                <a:ea typeface="微软雅黑" panose="020B0503020204020204" charset="-122"/>
              </a:defRPr>
            </a:lvl3pPr>
            <a:lvl4pPr>
              <a:defRPr sz="2400" baseline="0">
                <a:solidFill>
                  <a:schemeClr val="tx1">
                    <a:lumMod val="85000"/>
                    <a:lumOff val="15000"/>
                  </a:schemeClr>
                </a:solidFill>
                <a:latin typeface="Arial" panose="020B0604020202020204" pitchFamily="34" charset="0"/>
                <a:ea typeface="微软雅黑" panose="020B0503020204020204" charset="-122"/>
              </a:defRPr>
            </a:lvl4pPr>
            <a:lvl5pPr>
              <a:defRPr sz="2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lvl1pPr>
              <a:defRPr baseline="0">
                <a:latin typeface="Arial" panose="020B0604020202020204" pitchFamily="34" charset="0"/>
                <a:ea typeface="微软雅黑" panose="020B0503020204020204" charset="-122"/>
              </a:defRPr>
            </a:lvl1pPr>
          </a:lstStyle>
          <a:p>
            <a:fld id="{773E5453-FD84-4FDE-808A-01B552E1C80E}" type="datetime1">
              <a:rPr lang="zh-CN" altLang="en-US" smtClean="0"/>
              <a:t>2021/3/16</a:t>
            </a:fld>
            <a:endParaRPr lang="zh-CN" altLang="en-US"/>
          </a:p>
        </p:txBody>
      </p:sp>
      <p:sp>
        <p:nvSpPr>
          <p:cNvPr id="6" name="页脚占位符 5"/>
          <p:cNvSpPr>
            <a:spLocks noGrp="1"/>
          </p:cNvSpPr>
          <p:nvPr>
            <p:ph type="ftr" sz="quarter" idx="11"/>
            <p:custDataLst>
              <p:tags r:id="rId5"/>
            </p:custDataLst>
          </p:nvPr>
        </p:nvSpPr>
        <p:spPr/>
        <p:txBody>
          <a:bodyPr/>
          <a:lstStyle>
            <a:lvl1pPr>
              <a:defRPr baseline="0">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6"/>
            </p:custDataLst>
          </p:nvPr>
        </p:nvSpPr>
        <p:spPr/>
        <p:txBody>
          <a:bodyPr/>
          <a:lstStyle>
            <a:lvl1pPr>
              <a:defRPr baseline="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pic>
        <p:nvPicPr>
          <p:cNvPr id="10" name="图片 9" descr="C:\Users\kingsoft\Desktop\图片7副本.png图片7副本"/>
          <p:cNvPicPr>
            <a:picLocks noChangeAspect="1"/>
          </p:cNvPicPr>
          <p:nvPr>
            <p:custDataLst>
              <p:tags r:id="rId7"/>
            </p:custDataLst>
          </p:nvPr>
        </p:nvPicPr>
        <p:blipFill rotWithShape="1">
          <a:blip r:embed="rId10"/>
          <a:srcRect/>
          <a:stretch>
            <a:fillRect/>
          </a:stretch>
        </p:blipFill>
        <p:spPr>
          <a:xfrm>
            <a:off x="-16510" y="5971592"/>
            <a:ext cx="3478627" cy="907998"/>
          </a:xfrm>
          <a:prstGeom prst="rect">
            <a:avLst/>
          </a:prstGeom>
        </p:spPr>
      </p:pic>
      <p:pic>
        <p:nvPicPr>
          <p:cNvPr id="11" name="图片 10" descr="C:\Users\kingsoft\Desktop\图片7副本.png图片7副本"/>
          <p:cNvPicPr>
            <a:picLocks noChangeAspect="1"/>
          </p:cNvPicPr>
          <p:nvPr>
            <p:custDataLst>
              <p:tags r:id="rId8"/>
            </p:custDataLst>
          </p:nvPr>
        </p:nvPicPr>
        <p:blipFill rotWithShape="1">
          <a:blip r:embed="rId11"/>
          <a:srcRect/>
          <a:stretch>
            <a:fillRect/>
          </a:stretch>
        </p:blipFill>
        <p:spPr>
          <a:xfrm flipH="1">
            <a:off x="8716609" y="5905492"/>
            <a:ext cx="3481106" cy="974098"/>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B3DC907B-9913-44B1-AC84-3914E9E600EC}" type="datetime1">
              <a:rPr lang="zh-CN" altLang="en-US" smtClean="0"/>
              <a:t>2021/3/16</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pic>
        <p:nvPicPr>
          <p:cNvPr id="9" name="图片 8" descr="C:\Users\kingsoft\Desktop\图片7副本.png图片7副本"/>
          <p:cNvPicPr>
            <a:picLocks noChangeAspect="1"/>
          </p:cNvPicPr>
          <p:nvPr>
            <p:custDataLst>
              <p:tags r:id="rId7"/>
            </p:custDataLst>
          </p:nvPr>
        </p:nvPicPr>
        <p:blipFill rotWithShape="1">
          <a:blip r:embed="rId9"/>
          <a:srcRect/>
          <a:stretch>
            <a:fillRect/>
          </a:stretch>
        </p:blipFill>
        <p:spPr>
          <a:xfrm flipH="1">
            <a:off x="8231997" y="5327780"/>
            <a:ext cx="3960001" cy="153022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7"/>
          <a:stretch>
            <a:fillRect/>
          </a:stretch>
        </p:blipFill>
        <p:spPr>
          <a:xfrm>
            <a:off x="0" y="-15240"/>
            <a:ext cx="12192000" cy="2046605"/>
          </a:xfrm>
          <a:prstGeom prst="rect">
            <a:avLst/>
          </a:prstGeom>
        </p:spPr>
      </p:pic>
      <p:sp>
        <p:nvSpPr>
          <p:cNvPr id="3" name="日期占位符 2"/>
          <p:cNvSpPr>
            <a:spLocks noGrp="1"/>
          </p:cNvSpPr>
          <p:nvPr>
            <p:ph type="dt" sz="half" idx="10"/>
            <p:custDataLst>
              <p:tags r:id="rId2"/>
            </p:custDataLst>
          </p:nvPr>
        </p:nvSpPr>
        <p:spPr/>
        <p:txBody>
          <a:bodyPr/>
          <a:lstStyle/>
          <a:p>
            <a:fld id="{C98D2CFF-8F70-4399-811D-4F622C59B887}" type="datetime1">
              <a:rPr lang="zh-CN" altLang="en-US" smtClean="0"/>
              <a:t>2021/3/16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Autofit/>
          </a:bodyPr>
          <a:lstStyle>
            <a:lvl1pPr>
              <a:defRPr sz="24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a:lstStyle>
            <a:lvl1pPr>
              <a:defRPr baseline="0">
                <a:latin typeface="微软雅黑" panose="020B0503020204020204" charset="-122"/>
              </a:defRPr>
            </a:lvl1pPr>
          </a:lstStyle>
          <a:p>
            <a:fld id="{CF771769-BEFD-4C30-A98F-DA937C1B19EC}" type="datetime1">
              <a:rPr lang="zh-CN" altLang="en-US" smtClean="0"/>
              <a:t>2021/3/16</a:t>
            </a:fld>
            <a:endParaRPr lang="zh-CN" altLang="en-US"/>
          </a:p>
        </p:txBody>
      </p:sp>
      <p:sp>
        <p:nvSpPr>
          <p:cNvPr id="4" name="页脚占位符 3"/>
          <p:cNvSpPr>
            <a:spLocks noGrp="1"/>
          </p:cNvSpPr>
          <p:nvPr>
            <p:ph type="ftr" sz="quarter" idx="11"/>
            <p:custDataLst>
              <p:tags r:id="rId3"/>
            </p:custDataLst>
          </p:nvPr>
        </p:nvSpPr>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lvl1pPr>
              <a:defRPr baseline="0">
                <a:latin typeface="微软雅黑" panose="020B0503020204020204" charset="-122"/>
              </a:defRPr>
            </a:lvl1pPr>
          </a:lstStyle>
          <a:p>
            <a:fld id="{49AE70B2-8BF9-45C0-BB95-33D1B9D3A854}" type="slidenum">
              <a:rPr lang="zh-CN" altLang="en-US" smtClean="0"/>
              <a:t>‹#›</a:t>
            </a:fld>
            <a:endParaRPr lang="zh-CN" altLang="en-US" dirty="0"/>
          </a:p>
        </p:txBody>
      </p:sp>
      <p:pic>
        <p:nvPicPr>
          <p:cNvPr id="18" name="图片 17"/>
          <p:cNvPicPr>
            <a:picLocks noChangeAspect="1"/>
          </p:cNvPicPr>
          <p:nvPr>
            <p:custDataLst>
              <p:tags r:id="rId5"/>
            </p:custDataLst>
          </p:nvPr>
        </p:nvPicPr>
        <p:blipFill>
          <a:blip r:embed="rId7"/>
          <a:stretch>
            <a:fillRect/>
          </a:stretch>
        </p:blipFill>
        <p:spPr>
          <a:xfrm>
            <a:off x="0" y="6177281"/>
            <a:ext cx="12192000" cy="1315202"/>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6" name="矩形 5"/>
          <p:cNvSpPr/>
          <p:nvPr>
            <p:custDataLst>
              <p:tags r:id="rId1"/>
            </p:custDataLst>
          </p:nvPr>
        </p:nvSpPr>
        <p:spPr>
          <a:xfrm>
            <a:off x="286385" y="273050"/>
            <a:ext cx="11616055" cy="63119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latin typeface="Arial" panose="020B0604020202020204" pitchFamily="34" charset="0"/>
              <a:ea typeface="微软雅黑" panose="020B0503020204020204" charset="-122"/>
              <a:sym typeface="+mn-ea"/>
            </a:endParaRPr>
          </a:p>
        </p:txBody>
      </p:sp>
      <p:sp>
        <p:nvSpPr>
          <p:cNvPr id="3" name="日期占位符 2"/>
          <p:cNvSpPr>
            <a:spLocks noGrp="1"/>
          </p:cNvSpPr>
          <p:nvPr>
            <p:ph type="dt" sz="half" idx="10"/>
            <p:custDataLst>
              <p:tags r:id="rId2"/>
            </p:custDataLst>
          </p:nvPr>
        </p:nvSpPr>
        <p:spPr/>
        <p:txBody>
          <a:bodyPr/>
          <a:lstStyle>
            <a:lvl1pPr>
              <a:defRPr baseline="0">
                <a:latin typeface="Arial" panose="020B0604020202020204" pitchFamily="34" charset="0"/>
                <a:ea typeface="微软雅黑" panose="020B0503020204020204" charset="-122"/>
              </a:defRPr>
            </a:lvl1pPr>
          </a:lstStyle>
          <a:p>
            <a:fld id="{70678C29-12A3-4639-9CE8-5F54E96FCA30}" type="datetime1">
              <a:rPr lang="zh-CN" altLang="en-US" smtClean="0"/>
              <a:t>2021/3/16</a:t>
            </a:fld>
            <a:endParaRPr lang="zh-CN" altLang="en-US"/>
          </a:p>
        </p:txBody>
      </p:sp>
      <p:sp>
        <p:nvSpPr>
          <p:cNvPr id="2" name="标题 1"/>
          <p:cNvSpPr>
            <a:spLocks noGrp="1"/>
          </p:cNvSpPr>
          <p:nvPr>
            <p:ph type="title" hasCustomPrompt="1"/>
            <p:custDataLst>
              <p:tags r:id="rId3"/>
            </p:custDataLst>
          </p:nvPr>
        </p:nvSpPr>
        <p:spPr>
          <a:xfrm>
            <a:off x="1281600" y="1249200"/>
            <a:ext cx="9626400" cy="723600"/>
          </a:xfrm>
        </p:spPr>
        <p:txBody>
          <a:bodyPr anchor="ctr"/>
          <a:lstStyle>
            <a:lvl1pP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页脚占位符 3"/>
          <p:cNvSpPr>
            <a:spLocks noGrp="1"/>
          </p:cNvSpPr>
          <p:nvPr>
            <p:ph type="ftr" sz="quarter" idx="11"/>
            <p:custDataLst>
              <p:tags r:id="rId5"/>
            </p:custDataLst>
          </p:nvPr>
        </p:nvSpPr>
        <p:spPr/>
        <p:txBody>
          <a:bodyPr/>
          <a:lstStyle>
            <a:lvl1pPr>
              <a:defRPr baseline="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baseline="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pic>
        <p:nvPicPr>
          <p:cNvPr id="10" name="图片 9" descr="C:\Users\kingsoft\Desktop\图片7副本.png图片7副本"/>
          <p:cNvPicPr>
            <a:picLocks noChangeAspect="1"/>
          </p:cNvPicPr>
          <p:nvPr>
            <p:custDataLst>
              <p:tags r:id="rId7"/>
            </p:custDataLst>
          </p:nvPr>
        </p:nvPicPr>
        <p:blipFill rotWithShape="1">
          <a:blip r:embed="rId9"/>
          <a:srcRect/>
          <a:stretch>
            <a:fillRect/>
          </a:stretch>
        </p:blipFill>
        <p:spPr>
          <a:xfrm flipH="1">
            <a:off x="7072603" y="4933186"/>
            <a:ext cx="4829835" cy="1651763"/>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3" name="矩形 12"/>
          <p:cNvSpPr/>
          <p:nvPr>
            <p:custDataLst>
              <p:tags r:id="rId1"/>
            </p:custDataLst>
          </p:nvPr>
        </p:nvSpPr>
        <p:spPr>
          <a:xfrm>
            <a:off x="0" y="0"/>
            <a:ext cx="4823460" cy="685863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accent1"/>
              </a:solidFill>
              <a:sym typeface="+mn-ea"/>
            </a:endParaRPr>
          </a:p>
        </p:txBody>
      </p:sp>
      <p:sp>
        <p:nvSpPr>
          <p:cNvPr id="2" name="标题 1"/>
          <p:cNvSpPr>
            <a:spLocks noGrp="1"/>
          </p:cNvSpPr>
          <p:nvPr>
            <p:ph type="title" hasCustomPrompt="1"/>
            <p:custDataLst>
              <p:tags r:id="rId2"/>
            </p:custDataLst>
          </p:nvPr>
        </p:nvSpPr>
        <p:spPr>
          <a:xfrm>
            <a:off x="583200" y="770400"/>
            <a:ext cx="3960000" cy="882000"/>
          </a:xfrm>
        </p:spPr>
        <p:txBody>
          <a:bodyPr anchor="ctr"/>
          <a:lstStyle>
            <a:lvl1pPr>
              <a:defRPr sz="36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3"/>
            </p:custDataLst>
          </p:nvPr>
        </p:nvSpPr>
        <p:spPr/>
        <p:txBody>
          <a:bodyPr/>
          <a:lstStyle/>
          <a:p>
            <a:fld id="{2C6F7E22-29C2-43E0-8B01-193390EAAEB2}" type="datetime1">
              <a:rPr lang="zh-CN" altLang="en-US" smtClean="0"/>
              <a:t>2021/3/16</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586800" y="1764000"/>
            <a:ext cx="3956400" cy="4093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9" name="内容占位符 8"/>
          <p:cNvSpPr>
            <a:spLocks noGrp="1"/>
          </p:cNvSpPr>
          <p:nvPr>
            <p:ph sz="quarter" idx="14"/>
            <p:custDataLst>
              <p:tags r:id="rId7"/>
            </p:custDataLst>
          </p:nvPr>
        </p:nvSpPr>
        <p:spPr>
          <a:xfrm>
            <a:off x="5101200" y="769938"/>
            <a:ext cx="6480000" cy="5087937"/>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pic>
        <p:nvPicPr>
          <p:cNvPr id="10" name="图片 9" descr="C:\Users\kingsoft\Desktop\图片7副本.png图片7副本"/>
          <p:cNvPicPr>
            <a:picLocks noChangeAspect="1"/>
          </p:cNvPicPr>
          <p:nvPr>
            <p:custDataLst>
              <p:tags r:id="rId8"/>
            </p:custDataLst>
          </p:nvPr>
        </p:nvPicPr>
        <p:blipFill rotWithShape="1">
          <a:blip r:embed="rId10"/>
          <a:srcRect/>
          <a:stretch>
            <a:fillRect/>
          </a:stretch>
        </p:blipFill>
        <p:spPr>
          <a:xfrm flipH="1">
            <a:off x="8231997" y="5327780"/>
            <a:ext cx="3960001" cy="153022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3" name="矩形 12"/>
          <p:cNvSpPr/>
          <p:nvPr>
            <p:custDataLst>
              <p:tags r:id="rId1"/>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2"/>
            </p:custDataLst>
          </p:nvPr>
        </p:nvSpPr>
        <p:spPr>
          <a:xfrm>
            <a:off x="612000" y="781200"/>
            <a:ext cx="10976400" cy="626400"/>
          </a:xfrm>
        </p:spPr>
        <p:txBody>
          <a:bodyPr anchor="ctr"/>
          <a:lstStyle>
            <a:lvl1pPr algn="ctr">
              <a:defRPr sz="36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BE982C40-0EF6-42D2-A330-59913B29A28A}" type="datetime1">
              <a:rPr lang="zh-CN" altLang="en-US" smtClean="0"/>
              <a:t>2021/3/16</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612000" y="1659600"/>
            <a:ext cx="10975975" cy="828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7"/>
            </p:custDataLst>
          </p:nvPr>
        </p:nvSpPr>
        <p:spPr>
          <a:xfrm>
            <a:off x="612775" y="2808000"/>
            <a:ext cx="10965600" cy="34308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pic>
        <p:nvPicPr>
          <p:cNvPr id="16" name="图片 15" descr="C:\Users\kingsoft\Desktop\图片7副本.png图片7副本"/>
          <p:cNvPicPr>
            <a:picLocks noChangeAspect="1"/>
          </p:cNvPicPr>
          <p:nvPr>
            <p:custDataLst>
              <p:tags r:id="rId8"/>
            </p:custDataLst>
          </p:nvPr>
        </p:nvPicPr>
        <p:blipFill rotWithShape="1">
          <a:blip r:embed="rId10"/>
          <a:srcRect/>
          <a:stretch>
            <a:fillRect/>
          </a:stretch>
        </p:blipFill>
        <p:spPr>
          <a:xfrm flipH="1">
            <a:off x="8231997" y="5327780"/>
            <a:ext cx="3960001" cy="153022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pic>
        <p:nvPicPr>
          <p:cNvPr id="18" name="图片 17"/>
          <p:cNvPicPr>
            <a:picLocks noChangeAspect="1"/>
          </p:cNvPicPr>
          <p:nvPr>
            <p:custDataLst>
              <p:tags r:id="rId1"/>
            </p:custDataLst>
          </p:nvPr>
        </p:nvPicPr>
        <p:blipFill>
          <a:blip r:embed="rId10"/>
          <a:stretch>
            <a:fillRect/>
          </a:stretch>
        </p:blipFill>
        <p:spPr>
          <a:xfrm>
            <a:off x="3810" y="0"/>
            <a:ext cx="12192000" cy="1975485"/>
          </a:xfrm>
          <a:prstGeom prst="rect">
            <a:avLst/>
          </a:prstGeom>
        </p:spPr>
      </p:pic>
      <p:sp>
        <p:nvSpPr>
          <p:cNvPr id="13" name="矩形 12"/>
          <p:cNvSpPr/>
          <p:nvPr>
            <p:custDataLst>
              <p:tags r:id="rId2"/>
            </p:custDataLst>
          </p:nvPr>
        </p:nvSpPr>
        <p:spPr>
          <a:xfrm>
            <a:off x="0" y="50419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lstStyle>
            <a:lvl1pPr algn="ct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F06764E1-41EC-496E-A7DB-1B2D7888DA87}" type="datetime1">
              <a:rPr lang="zh-CN" altLang="en-US" smtClean="0"/>
              <a:t>2021/3/16</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marL="0" indent="0">
              <a:buNone/>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pic>
        <p:nvPicPr>
          <p:cNvPr id="18" name="图片 17"/>
          <p:cNvPicPr>
            <a:picLocks noChangeAspect="1"/>
          </p:cNvPicPr>
          <p:nvPr>
            <p:custDataLst>
              <p:tags r:id="rId1"/>
            </p:custDataLst>
          </p:nvPr>
        </p:nvPicPr>
        <p:blipFill>
          <a:blip r:embed="rId12"/>
          <a:stretch>
            <a:fillRect/>
          </a:stretch>
        </p:blipFill>
        <p:spPr>
          <a:xfrm>
            <a:off x="0" y="6242387"/>
            <a:ext cx="12192000" cy="1231226"/>
          </a:xfrm>
          <a:prstGeom prst="rect">
            <a:avLst/>
          </a:prstGeom>
        </p:spPr>
      </p:pic>
      <p:sp>
        <p:nvSpPr>
          <p:cNvPr id="15" name="矩形 14"/>
          <p:cNvSpPr/>
          <p:nvPr>
            <p:custDataLst>
              <p:tags r:id="rId2"/>
            </p:custDataLst>
          </p:nvPr>
        </p:nvSpPr>
        <p:spPr>
          <a:xfrm>
            <a:off x="0" y="0"/>
            <a:ext cx="12192000" cy="91440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a:normAutofit/>
          </a:bodyPr>
          <a:lstStyle>
            <a:lvl1pPr>
              <a:defRPr sz="28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7" name="内容占位符 6"/>
          <p:cNvSpPr>
            <a:spLocks noGrp="1"/>
          </p:cNvSpPr>
          <p:nvPr>
            <p:ph sz="quarter" idx="13"/>
            <p:custDataLst>
              <p:tags r:id="rId4"/>
            </p:custDataLst>
          </p:nvPr>
        </p:nvSpPr>
        <p:spPr>
          <a:xfrm>
            <a:off x="579600" y="1663200"/>
            <a:ext cx="5342400" cy="2894400"/>
          </a:xfrm>
        </p:spPr>
        <p:txBody>
          <a:bodyPr>
            <a:normAutofit/>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dirty="0">
                <a:sym typeface="+mn-ea"/>
              </a:rPr>
              <a:t>第</a:t>
            </a:r>
            <a:r>
              <a:rPr lang="zh-CN" altLang="en-US"/>
              <a:t>二级</a:t>
            </a:r>
          </a:p>
          <a:p>
            <a:pPr lvl="2"/>
            <a:r>
              <a:rPr lang="zh-CN" altLang="en-US" dirty="0">
                <a:sym typeface="+mn-ea"/>
              </a:rPr>
              <a:t>第</a:t>
            </a:r>
            <a:r>
              <a:rPr lang="zh-CN" altLang="en-US"/>
              <a:t>三级</a:t>
            </a:r>
          </a:p>
          <a:p>
            <a:pPr lvl="3"/>
            <a:r>
              <a:rPr lang="zh-CN" altLang="en-US" dirty="0">
                <a:sym typeface="+mn-ea"/>
              </a:rPr>
              <a:t>第</a:t>
            </a:r>
            <a:r>
              <a:rPr lang="zh-CN" altLang="en-US"/>
              <a:t>四级</a:t>
            </a:r>
          </a:p>
          <a:p>
            <a:pPr lvl="4"/>
            <a:r>
              <a:rPr lang="zh-CN" altLang="en-US" dirty="0">
                <a:sym typeface="+mn-ea"/>
              </a:rPr>
              <a:t>第</a:t>
            </a:r>
            <a:r>
              <a:rPr lang="zh-CN" altLang="en-US"/>
              <a:t>五级</a:t>
            </a:r>
          </a:p>
        </p:txBody>
      </p:sp>
      <p:sp>
        <p:nvSpPr>
          <p:cNvPr id="3" name="日期占位符 2"/>
          <p:cNvSpPr>
            <a:spLocks noGrp="1"/>
          </p:cNvSpPr>
          <p:nvPr>
            <p:ph type="dt" sz="half" idx="10"/>
            <p:custDataLst>
              <p:tags r:id="rId5"/>
            </p:custDataLst>
          </p:nvPr>
        </p:nvSpPr>
        <p:spPr/>
        <p:txBody>
          <a:bodyPr/>
          <a:lstStyle/>
          <a:p>
            <a:fld id="{C80CBBC1-44FD-42E3-B3A2-D132E0A1FA68}" type="datetime1">
              <a:rPr lang="zh-CN" altLang="en-US" smtClean="0"/>
              <a:t>2021/3/16</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normAutofit/>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dirty="0">
                <a:sym typeface="+mn-ea"/>
              </a:rPr>
              <a:t>第</a:t>
            </a:r>
            <a:r>
              <a:rPr lang="zh-CN" altLang="en-US"/>
              <a:t>二级</a:t>
            </a:r>
          </a:p>
          <a:p>
            <a:pPr lvl="2"/>
            <a:r>
              <a:rPr lang="zh-CN" altLang="en-US" dirty="0">
                <a:sym typeface="+mn-ea"/>
              </a:rPr>
              <a:t>第</a:t>
            </a:r>
            <a:r>
              <a:rPr lang="zh-CN" altLang="en-US"/>
              <a:t>三级</a:t>
            </a:r>
          </a:p>
          <a:p>
            <a:pPr lvl="3"/>
            <a:r>
              <a:rPr lang="zh-CN" altLang="en-US" dirty="0">
                <a:sym typeface="+mn-ea"/>
              </a:rPr>
              <a:t>第</a:t>
            </a:r>
            <a:r>
              <a:rPr lang="zh-CN" altLang="en-US"/>
              <a:t>四级</a:t>
            </a:r>
          </a:p>
          <a:p>
            <a:pPr lvl="4"/>
            <a:r>
              <a:rPr lang="zh-CN" altLang="en-US" dirty="0">
                <a:sym typeface="+mn-ea"/>
              </a:rPr>
              <a:t>第</a:t>
            </a:r>
            <a:r>
              <a:rPr lang="zh-CN" altLang="en-US"/>
              <a:t>五级</a:t>
            </a:r>
          </a:p>
        </p:txBody>
      </p:sp>
      <p:sp>
        <p:nvSpPr>
          <p:cNvPr id="11" name="文本占位符 10"/>
          <p:cNvSpPr>
            <a:spLocks noGrp="1"/>
          </p:cNvSpPr>
          <p:nvPr>
            <p:ph type="body" sz="quarter" idx="15"/>
            <p:custDataLst>
              <p:tags r:id="rId9"/>
            </p:custDataLst>
          </p:nvPr>
        </p:nvSpPr>
        <p:spPr>
          <a:xfrm>
            <a:off x="572400" y="4816800"/>
            <a:ext cx="5342400" cy="781200"/>
          </a:xfrm>
        </p:spPr>
        <p:txBody>
          <a:bodyPr>
            <a:normAutofit/>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0"/>
            </p:custDataLst>
          </p:nvPr>
        </p:nvSpPr>
        <p:spPr>
          <a:xfrm>
            <a:off x="6253200" y="4813200"/>
            <a:ext cx="5367600" cy="781200"/>
          </a:xfrm>
        </p:spPr>
        <p:txBody>
          <a:bodyPr>
            <a:normAutofit/>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bg>
      <p:bgPr>
        <a:solidFill>
          <a:srgbClr val="EBF5FC"/>
        </a:solidFill>
        <a:effectLst/>
      </p:bgPr>
    </p:bg>
    <p:spTree>
      <p:nvGrpSpPr>
        <p:cNvPr id="1" name=""/>
        <p:cNvGrpSpPr/>
        <p:nvPr/>
      </p:nvGrpSpPr>
      <p:grpSpPr>
        <a:xfrm>
          <a:off x="0" y="0"/>
          <a:ext cx="0" cy="0"/>
          <a:chOff x="0" y="0"/>
          <a:chExt cx="0" cy="0"/>
        </a:xfrm>
      </p:grpSpPr>
      <p:sp>
        <p:nvSpPr>
          <p:cNvPr id="12" name="矩形 11"/>
          <p:cNvSpPr/>
          <p:nvPr>
            <p:custDataLst>
              <p:tags r:id="rId1"/>
            </p:custDataLst>
          </p:nvPr>
        </p:nvSpPr>
        <p:spPr>
          <a:xfrm>
            <a:off x="0" y="959224"/>
            <a:ext cx="12192000" cy="4939553"/>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3" name="日期占位符 2"/>
          <p:cNvSpPr>
            <a:spLocks noGrp="1"/>
          </p:cNvSpPr>
          <p:nvPr>
            <p:ph type="dt" sz="half" idx="10"/>
            <p:custDataLst>
              <p:tags r:id="rId2"/>
            </p:custDataLst>
          </p:nvPr>
        </p:nvSpPr>
        <p:spPr/>
        <p:txBody>
          <a:bodyPr/>
          <a:lstStyle/>
          <a:p>
            <a:fld id="{C8D2C618-DA8A-4FAC-A258-F55B158C5FCD}" type="datetime1">
              <a:rPr lang="zh-CN" altLang="en-US" smtClean="0"/>
              <a:t>2021/3/16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dirty="0"/>
          </a:p>
        </p:txBody>
      </p:sp>
      <p:pic>
        <p:nvPicPr>
          <p:cNvPr id="9" name="图片 8" descr="C:\Users\kingsoft\Desktop\图片7副本.png图片7副本"/>
          <p:cNvPicPr>
            <a:picLocks noChangeAspect="1"/>
          </p:cNvPicPr>
          <p:nvPr>
            <p:custDataLst>
              <p:tags r:id="rId5"/>
            </p:custDataLst>
          </p:nvPr>
        </p:nvPicPr>
        <p:blipFill rotWithShape="1">
          <a:blip r:embed="rId10"/>
          <a:srcRect/>
          <a:stretch>
            <a:fillRect/>
          </a:stretch>
        </p:blipFill>
        <p:spPr>
          <a:xfrm flipH="1">
            <a:off x="8429082" y="4917233"/>
            <a:ext cx="3762917" cy="981917"/>
          </a:xfrm>
          <a:prstGeom prst="rect">
            <a:avLst/>
          </a:prstGeom>
        </p:spPr>
      </p:pic>
      <p:pic>
        <p:nvPicPr>
          <p:cNvPr id="10" name="图片 9" descr="C:\Users\kingsoft\Desktop\图片7副本.png图片7副本"/>
          <p:cNvPicPr>
            <a:picLocks noChangeAspect="1"/>
          </p:cNvPicPr>
          <p:nvPr>
            <p:custDataLst>
              <p:tags r:id="rId6"/>
            </p:custDataLst>
          </p:nvPr>
        </p:nvPicPr>
        <p:blipFill rotWithShape="1">
          <a:blip r:embed="rId11"/>
          <a:srcRect/>
          <a:stretch>
            <a:fillRect/>
          </a:stretch>
        </p:blipFill>
        <p:spPr>
          <a:xfrm rot="10800000" flipH="1">
            <a:off x="0" y="398"/>
            <a:ext cx="4713605" cy="1229995"/>
          </a:xfrm>
          <a:prstGeom prst="rect">
            <a:avLst/>
          </a:prstGeom>
        </p:spPr>
      </p:pic>
      <p:sp>
        <p:nvSpPr>
          <p:cNvPr id="2" name="标题 1"/>
          <p:cNvSpPr>
            <a:spLocks noGrp="1"/>
          </p:cNvSpPr>
          <p:nvPr>
            <p:ph type="title" hasCustomPrompt="1"/>
            <p:custDataLst>
              <p:tags r:id="rId7"/>
            </p:custDataLst>
          </p:nvPr>
        </p:nvSpPr>
        <p:spPr>
          <a:xfrm>
            <a:off x="1522800" y="1339200"/>
            <a:ext cx="9144000" cy="2386800"/>
          </a:xfrm>
        </p:spPr>
        <p:txBody>
          <a:bodyPr anchor="b"/>
          <a:lstStyle>
            <a:lvl1pPr algn="ctr">
              <a:defRPr sz="60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6BF43-801D-4684-98FE-CF8C959AFF15}" type="datetime1">
              <a:rPr lang="zh-CN" altLang="en-US" smtClean="0"/>
              <a:t>2021/3/16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716C547-EB62-42FB-8031-0D06BC5EC8BC}" type="datetime1">
              <a:rPr lang="zh-CN" altLang="en-US" smtClean="0"/>
              <a:t>2021/3/16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8F4FC49-84C1-4B0A-A9BB-8569134D8671}" type="datetime1">
              <a:rPr lang="zh-CN" altLang="en-US" smtClean="0"/>
              <a:t>2021/3/16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BA2732D-5160-4D39-B08A-DEAA39D7E508}" type="datetime1">
              <a:rPr lang="zh-CN" altLang="en-US" smtClean="0"/>
              <a:t>2021/3/16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65A37E4-3AC4-4697-9709-61138A206F05}" type="datetime1">
              <a:rPr lang="zh-CN" altLang="en-US" smtClean="0"/>
              <a:t>2021/3/16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5DA425B-3A71-4BBB-B902-49394AD27313}" type="datetime1">
              <a:rPr lang="zh-CN" altLang="en-US" smtClean="0"/>
              <a:t>2021/3/16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25EA56D-8187-4C8E-8FF4-CAF1A0A89C48}" type="datetime1">
              <a:rPr lang="zh-CN" altLang="en-US" smtClean="0"/>
              <a:t>2021/3/16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6CA03B1-D18F-4F4D-80D7-1C7BAD9AA5EB}" type="datetime1">
              <a:rPr lang="zh-CN" altLang="en-US" smtClean="0"/>
              <a:t>2021/3/16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8958"/>
            <a:ext cx="8637980" cy="1033778"/>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91344" y="1340768"/>
            <a:ext cx="11809312" cy="518457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4C6C1E2-A5A0-4B68-828B-2461AEA42CA7}" type="datetime1">
              <a:rPr lang="zh-CN" altLang="en-US" smtClean="0"/>
              <a:t>2021/3/16</a:t>
            </a:fld>
            <a:endParaRPr lang="zh-CN" alt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zh-CN" altLang="en-US" dirty="0"/>
          </a:p>
        </p:txBody>
      </p:sp>
      <p:sp>
        <p:nvSpPr>
          <p:cNvPr id="6" name="Slide Number Placeholder 5"/>
          <p:cNvSpPr>
            <a:spLocks noGrp="1"/>
          </p:cNvSpPr>
          <p:nvPr>
            <p:ph type="sldNum" sz="quarter" idx="4"/>
          </p:nvPr>
        </p:nvSpPr>
        <p:spPr>
          <a:xfrm>
            <a:off x="9336360" y="6385950"/>
            <a:ext cx="2743200" cy="365125"/>
          </a:xfrm>
          <a:prstGeom prst="rect">
            <a:avLst/>
          </a:prstGeom>
        </p:spPr>
        <p:txBody>
          <a:bodyPr vert="horz" lIns="91440" tIns="45720" rIns="91440" bIns="45720" rtlCol="0" anchor="ctr"/>
          <a:lstStyle>
            <a:lvl1pPr algn="r">
              <a:defRPr sz="2800" b="1">
                <a:solidFill>
                  <a:schemeClr val="tx1">
                    <a:tint val="75000"/>
                  </a:schemeClr>
                </a:solidFill>
              </a:defRPr>
            </a:lvl1pPr>
          </a:lstStyle>
          <a:p>
            <a:fld id="{49AE70B2-8BF9-45C0-BB95-33D1B9D3A854}" type="slidenum">
              <a:rPr lang="zh-CN" altLang="en-US" smtClean="0"/>
              <a:pPr/>
              <a:t>‹#›</a:t>
            </a:fld>
            <a:endParaRPr lang="zh-CN" altLang="en-US" dirty="0"/>
          </a:p>
        </p:txBody>
      </p:sp>
    </p:spTree>
    <p:extLst>
      <p:ext uri="{BB962C8B-B14F-4D97-AF65-F5344CB8AC3E}">
        <p14:creationId xmlns:p14="http://schemas.microsoft.com/office/powerpoint/2010/main" val="2838564936"/>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08" r:id="rId20"/>
    <p:sldLayoutId id="2147483712" r:id="rId21"/>
    <p:sldLayoutId id="2147483714" r:id="rId22"/>
    <p:sldLayoutId id="2147483716" r:id="rId23"/>
    <p:sldLayoutId id="2147483717" r:id="rId24"/>
    <p:sldLayoutId id="2147483718" r:id="rId25"/>
    <p:sldLayoutId id="2147483719" r:id="rId26"/>
    <p:sldLayoutId id="2147483720" r:id="rId27"/>
    <p:sldLayoutId id="2147483721" r:id="rId28"/>
    <p:sldLayoutId id="2147483722" r:id="rId29"/>
    <p:sldLayoutId id="2147483723" r:id="rId30"/>
    <p:sldLayoutId id="2147483724" r:id="rId31"/>
    <p:sldLayoutId id="2147483725" r:id="rId32"/>
    <p:sldLayoutId id="2147483726" r:id="rId33"/>
    <p:sldLayoutId id="2147483727" r:id="rId34"/>
    <p:sldLayoutId id="2147483728" r:id="rId35"/>
    <p:sldLayoutId id="2147483729" r:id="rId36"/>
    <p:sldLayoutId id="2147483730" r:id="rId37"/>
  </p:sldLayoutIdLst>
  <p:hf hdr="0" ftr="0" dt="0"/>
  <p:txStyles>
    <p:titleStyle>
      <a:lvl1pPr algn="l" defTabSz="914400" rtl="0" eaLnBrk="1" latinLnBrk="0" hangingPunct="1">
        <a:lnSpc>
          <a:spcPct val="90000"/>
        </a:lnSpc>
        <a:spcBef>
          <a:spcPct val="0"/>
        </a:spcBef>
        <a:buNone/>
        <a:defRPr sz="4800" b="1" kern="1200" cap="all" baseline="0">
          <a:solidFill>
            <a:schemeClr val="tx1"/>
          </a:solidFill>
          <a:latin typeface="黑体" panose="02010609060101010101" pitchFamily="49" charset="-122"/>
          <a:ea typeface="黑体" panose="02010609060101010101" pitchFamily="49" charset="-122"/>
          <a:cs typeface="+mj-cs"/>
        </a:defRPr>
      </a:lvl1pPr>
    </p:titleStyle>
    <p:bodyStyle>
      <a:lvl1pPr marL="228600" indent="-228600" algn="l" defTabSz="914400" rtl="0" eaLnBrk="1" latinLnBrk="0" hangingPunct="1">
        <a:lnSpc>
          <a:spcPct val="90000"/>
        </a:lnSpc>
        <a:spcBef>
          <a:spcPts val="10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slide" Target="slide89.xml"/><Relationship Id="rId3" Type="http://schemas.openxmlformats.org/officeDocument/2006/relationships/slide" Target="slide3.xml"/><Relationship Id="rId7" Type="http://schemas.openxmlformats.org/officeDocument/2006/relationships/slide" Target="slide77.xml"/><Relationship Id="rId2" Type="http://schemas.openxmlformats.org/officeDocument/2006/relationships/slideLayout" Target="../slideLayouts/slideLayout2.xml"/><Relationship Id="rId1" Type="http://schemas.openxmlformats.org/officeDocument/2006/relationships/tags" Target="../tags/tag97.xml"/><Relationship Id="rId6" Type="http://schemas.openxmlformats.org/officeDocument/2006/relationships/slide" Target="slide68.xml"/><Relationship Id="rId5" Type="http://schemas.openxmlformats.org/officeDocument/2006/relationships/slide" Target="slide58.xml"/><Relationship Id="rId4" Type="http://schemas.openxmlformats.org/officeDocument/2006/relationships/slide" Target="slide1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tags" Target="../tags/tag9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tags" Target="../tags/tag9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4.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8.xml"/><Relationship Id="rId1" Type="http://schemas.openxmlformats.org/officeDocument/2006/relationships/tags" Target="../tags/tag100.xml"/></Relationships>
</file>

<file path=ppt/slides/_rels/slide5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8.xml"/><Relationship Id="rId1" Type="http://schemas.openxmlformats.org/officeDocument/2006/relationships/tags" Target="../tags/tag10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8.xml"/><Relationship Id="rId1" Type="http://schemas.openxmlformats.org/officeDocument/2006/relationships/tags" Target="../tags/tag10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tags" Target="../tags/tag103.xml"/></Relationships>
</file>

<file path=ppt/slides/_rels/slide9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 Id="rId4"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E1A328-B82A-40C2-9D12-E0A11AD4FD8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D18C0B5-3581-4416-8319-33F15C2BC488}"/>
              </a:ext>
            </a:extLst>
          </p:cNvPr>
          <p:cNvSpPr>
            <a:spLocks noGrp="1"/>
          </p:cNvSpPr>
          <p:nvPr>
            <p:ph idx="1"/>
          </p:nvPr>
        </p:nvSpPr>
        <p:spPr/>
        <p:txBody>
          <a:bodyPr>
            <a:normAutofit/>
          </a:bodyPr>
          <a:lstStyle/>
          <a:p>
            <a:pPr marL="0" indent="0">
              <a:buNone/>
            </a:pPr>
            <a:endParaRPr lang="en-US" altLang="zh-CN" sz="4000" dirty="0"/>
          </a:p>
          <a:p>
            <a:pPr marL="0" indent="0">
              <a:buNone/>
            </a:pPr>
            <a:r>
              <a:rPr lang="en-US" altLang="zh-CN" sz="4000" dirty="0"/>
              <a:t>			</a:t>
            </a:r>
            <a:r>
              <a:rPr lang="zh-CN" altLang="en-US" sz="4000" b="1" dirty="0">
                <a:latin typeface="+mj-ea"/>
                <a:ea typeface="+mj-ea"/>
                <a:sym typeface="+mn-ea"/>
              </a:rPr>
              <a:t>第</a:t>
            </a:r>
            <a:r>
              <a:rPr lang="en-US" altLang="zh-CN" sz="4000" b="1" dirty="0">
                <a:latin typeface="+mj-ea"/>
                <a:ea typeface="+mj-ea"/>
                <a:sym typeface="+mn-ea"/>
              </a:rPr>
              <a:t>13</a:t>
            </a:r>
            <a:r>
              <a:rPr lang="zh-CN" altLang="en-US" sz="4000" b="1" dirty="0">
                <a:latin typeface="+mj-ea"/>
                <a:ea typeface="+mj-ea"/>
                <a:sym typeface="+mn-ea"/>
              </a:rPr>
              <a:t>章 图形界面程序设计*</a:t>
            </a:r>
            <a:endParaRPr lang="zh-CN" altLang="en-US" sz="4000" dirty="0"/>
          </a:p>
        </p:txBody>
      </p:sp>
      <p:sp>
        <p:nvSpPr>
          <p:cNvPr id="4" name="灯片编号占位符 3">
            <a:extLst>
              <a:ext uri="{FF2B5EF4-FFF2-40B4-BE49-F238E27FC236}">
                <a16:creationId xmlns:a16="http://schemas.microsoft.com/office/drawing/2014/main" id="{116B31E4-9FCF-41A5-8696-E656E82E21AD}"/>
              </a:ext>
            </a:extLst>
          </p:cNvPr>
          <p:cNvSpPr>
            <a:spLocks noGrp="1"/>
          </p:cNvSpPr>
          <p:nvPr>
            <p:ph type="sldNum" sz="quarter" idx="12"/>
          </p:nvPr>
        </p:nvSpPr>
        <p:spPr/>
        <p:txBody>
          <a:bodyPr/>
          <a:lstStyle/>
          <a:p>
            <a:fld id="{49AE70B2-8BF9-45C0-BB95-33D1B9D3A854}" type="slidenum">
              <a:rPr lang="zh-CN" altLang="en-US" smtClean="0"/>
              <a:pPr/>
              <a:t>1</a:t>
            </a:fld>
            <a:endParaRPr lang="zh-CN" altLang="en-US"/>
          </a:p>
        </p:txBody>
      </p:sp>
    </p:spTree>
    <p:extLst>
      <p:ext uri="{BB962C8B-B14F-4D97-AF65-F5344CB8AC3E}">
        <p14:creationId xmlns:p14="http://schemas.microsoft.com/office/powerpoint/2010/main" val="4070678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vert="horz" wrap="square" lIns="91440" tIns="45720" rIns="91440" bIns="45720" anchor="ctr">
            <a:normAutofit/>
          </a:bodyPr>
          <a:lstStyle/>
          <a:p>
            <a:pPr algn="ctr">
              <a:buNone/>
            </a:pPr>
            <a:r>
              <a:rPr lang="zh-CN" altLang="en-US" sz="4000" dirty="0"/>
              <a:t>目录</a:t>
            </a:r>
          </a:p>
        </p:txBody>
      </p:sp>
      <p:sp>
        <p:nvSpPr>
          <p:cNvPr id="13315" name="内容占位符 2"/>
          <p:cNvSpPr>
            <a:spLocks noGrp="1"/>
          </p:cNvSpPr>
          <p:nvPr>
            <p:ph idx="1"/>
          </p:nvPr>
        </p:nvSpPr>
        <p:spPr/>
        <p:txBody>
          <a:bodyPr vert="horz" wrap="square" lIns="91440" tIns="45720" rIns="91440" bIns="45720" anchor="t"/>
          <a:lstStyle/>
          <a:p>
            <a:r>
              <a:rPr lang="en-US" altLang="zh-CN" sz="3200" dirty="0"/>
              <a:t>13.1 </a:t>
            </a:r>
            <a:r>
              <a:rPr sz="3200" dirty="0">
                <a:hlinkClick r:id="rId3" action="ppaction://hlinksldjump"/>
              </a:rPr>
              <a:t>图形用户界面概述</a:t>
            </a:r>
            <a:endParaRPr lang="zh-CN" altLang="en-US" sz="3200" dirty="0"/>
          </a:p>
          <a:p>
            <a:r>
              <a:rPr lang="en-US" altLang="zh-CN" sz="3200" dirty="0"/>
              <a:t>13.2 </a:t>
            </a:r>
            <a:r>
              <a:rPr sz="3200" dirty="0">
                <a:hlinkClick r:id="rId4" action="ppaction://hlinksldjump"/>
              </a:rPr>
              <a:t>常用控件</a:t>
            </a:r>
            <a:endParaRPr lang="zh-CN" altLang="en-US" sz="3200" dirty="0"/>
          </a:p>
          <a:p>
            <a:r>
              <a:rPr lang="en-US" altLang="zh-CN" sz="3200" dirty="0"/>
              <a:t>13.3 </a:t>
            </a:r>
            <a:r>
              <a:rPr sz="3200" dirty="0">
                <a:hlinkClick r:id="rId5" action="ppaction://hlinksldjump"/>
              </a:rPr>
              <a:t>对话框</a:t>
            </a:r>
            <a:endParaRPr lang="zh-CN" altLang="en-US" sz="3200" dirty="0"/>
          </a:p>
          <a:p>
            <a:r>
              <a:rPr lang="en-US" altLang="zh-CN" sz="3200" dirty="0"/>
              <a:t>13.4 </a:t>
            </a:r>
            <a:r>
              <a:rPr sz="3200" dirty="0">
                <a:hlinkClick r:id="rId6" action="ppaction://hlinksldjump"/>
              </a:rPr>
              <a:t>布局管理器</a:t>
            </a:r>
            <a:endParaRPr lang="zh-CN" altLang="en-US" sz="3200" dirty="0"/>
          </a:p>
          <a:p>
            <a:r>
              <a:rPr lang="en-US" altLang="zh-CN" sz="3200" dirty="0"/>
              <a:t>13.5 </a:t>
            </a:r>
            <a:r>
              <a:rPr sz="3200" dirty="0">
                <a:hlinkClick r:id="rId7" action="ppaction://hlinksldjump"/>
              </a:rPr>
              <a:t>事件处理</a:t>
            </a:r>
            <a:endParaRPr sz="3200" dirty="0"/>
          </a:p>
          <a:p>
            <a:r>
              <a:rPr lang="en-US" altLang="zh-CN" sz="3200" dirty="0"/>
              <a:t>13.6 </a:t>
            </a:r>
            <a:r>
              <a:rPr sz="3200" dirty="0">
                <a:hlinkClick r:id="rId8" action="ppaction://hlinksldjump"/>
              </a:rPr>
              <a:t>图形用户界面应用举例</a:t>
            </a:r>
            <a:endParaRPr lang="zh-CN" altLang="en-US" sz="3200" dirty="0"/>
          </a:p>
          <a:p>
            <a:endParaRPr lang="en-US" altLang="zh-CN" sz="3200" dirty="0"/>
          </a:p>
        </p:txBody>
      </p:sp>
      <p:sp>
        <p:nvSpPr>
          <p:cNvPr id="2" name="灯片编号占位符 1">
            <a:extLst>
              <a:ext uri="{FF2B5EF4-FFF2-40B4-BE49-F238E27FC236}">
                <a16:creationId xmlns:a16="http://schemas.microsoft.com/office/drawing/2014/main" id="{7FD70E99-DE18-4773-BC27-CD404CF5B127}"/>
              </a:ext>
            </a:extLst>
          </p:cNvPr>
          <p:cNvSpPr>
            <a:spLocks noGrp="1"/>
          </p:cNvSpPr>
          <p:nvPr>
            <p:ph type="sldNum" sz="quarter" idx="12"/>
          </p:nvPr>
        </p:nvSpPr>
        <p:spPr/>
        <p:txBody>
          <a:bodyPr/>
          <a:lstStyle/>
          <a:p>
            <a:fld id="{49AE70B2-8BF9-45C0-BB95-33D1B9D3A854}" type="slidenum">
              <a:rPr lang="zh-CN" altLang="en-US" smtClean="0"/>
              <a:t>2</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WordArt 6"/>
          <p:cNvSpPr>
            <a:spLocks noChangeArrowheads="1" noChangeShapeType="1"/>
          </p:cNvSpPr>
          <p:nvPr/>
        </p:nvSpPr>
        <p:spPr bwMode="auto">
          <a:xfrm>
            <a:off x="1882775" y="1557338"/>
            <a:ext cx="8426450" cy="2011363"/>
          </a:xfrm>
          <a:prstGeom prst="rect">
            <a:avLst/>
          </a:prstGeom>
        </p:spPr>
        <p:txBody>
          <a:bodyPr wrap="none" fromWordArt="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8500" b="1" i="0" u="none" strike="noStrike" kern="10" cap="none" spc="0" normalizeH="0" baseline="0" noProof="0" dirty="0">
              <a:ln w="9525">
                <a:noFill/>
                <a:round/>
              </a:ln>
              <a:solidFill>
                <a:schemeClr val="tx1"/>
              </a:solidFill>
              <a:effectLst>
                <a:outerShdw blurRad="38100" dist="38100" dir="2700000" algn="tl">
                  <a:srgbClr val="000000">
                    <a:alpha val="43137"/>
                  </a:srgbClr>
                </a:outerShdw>
              </a:effectLst>
              <a:uLnTx/>
              <a:uFillTx/>
              <a:latin typeface="华文新魏" panose="02010800040101010101" pitchFamily="2" charset="-122"/>
              <a:ea typeface="华文新魏" panose="02010800040101010101" pitchFamily="2" charset="-122"/>
              <a:cs typeface="+mn-cs"/>
            </a:endParaRPr>
          </a:p>
        </p:txBody>
      </p:sp>
      <p:sp>
        <p:nvSpPr>
          <p:cNvPr id="5" name="标题 4"/>
          <p:cNvSpPr>
            <a:spLocks noGrp="1"/>
          </p:cNvSpPr>
          <p:nvPr>
            <p:ph type="ctrTitle"/>
          </p:nvPr>
        </p:nvSpPr>
        <p:spPr>
          <a:xfrm>
            <a:off x="1384300" y="2292350"/>
            <a:ext cx="9268460" cy="1151255"/>
          </a:xfrm>
        </p:spPr>
        <p:txBody>
          <a:bodyPr/>
          <a:lstStyle/>
          <a:p>
            <a:r>
              <a:rPr lang="en-US" dirty="0">
                <a:latin typeface="+mj-lt"/>
                <a:ea typeface="+mj-ea"/>
                <a:sym typeface="+mn-ea"/>
              </a:rPr>
              <a:t>13.1 </a:t>
            </a:r>
            <a:r>
              <a:rPr lang="zh-CN" altLang="en-US" dirty="0">
                <a:latin typeface="+mj-lt"/>
                <a:ea typeface="+mj-ea"/>
                <a:sym typeface="+mn-ea"/>
              </a:rPr>
              <a:t>图形用户界面概述</a:t>
            </a:r>
          </a:p>
        </p:txBody>
      </p:sp>
      <p:sp>
        <p:nvSpPr>
          <p:cNvPr id="2" name="灯片编号占位符 1">
            <a:extLst>
              <a:ext uri="{FF2B5EF4-FFF2-40B4-BE49-F238E27FC236}">
                <a16:creationId xmlns:a16="http://schemas.microsoft.com/office/drawing/2014/main" id="{95D814FB-C6E9-4B72-B3DA-83DBDF4BFCB9}"/>
              </a:ext>
            </a:extLst>
          </p:cNvPr>
          <p:cNvSpPr>
            <a:spLocks noGrp="1"/>
          </p:cNvSpPr>
          <p:nvPr>
            <p:ph type="sldNum" sz="quarter" idx="12"/>
          </p:nvPr>
        </p:nvSpPr>
        <p:spPr/>
        <p:txBody>
          <a:bodyPr/>
          <a:lstStyle/>
          <a:p>
            <a:fld id="{49AE70B2-8BF9-45C0-BB95-33D1B9D3A854}" type="slidenum">
              <a:rPr lang="zh-CN" altLang="en-US" smtClean="0"/>
              <a:t>3</a:t>
            </a:fld>
            <a:endParaRPr lang="zh-CN" altLang="en-US" dirty="0"/>
          </a:p>
        </p:txBody>
      </p:sp>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nodePh="1">
                                  <p:stCondLst>
                                    <p:cond delay="0"/>
                                  </p:stCondLst>
                                  <p:endCondLst>
                                    <p:cond evt="begin" delay="0">
                                      <p:tn val="5"/>
                                    </p:cond>
                                  </p:endCondLst>
                                  <p:childTnLst>
                                    <p:set>
                                      <p:cBhvr>
                                        <p:cTn id="6" dur="1" fill="hold">
                                          <p:stCondLst>
                                            <p:cond delay="0"/>
                                          </p:stCondLst>
                                        </p:cTn>
                                        <p:tgtEl>
                                          <p:spTgt spid="16387"/>
                                        </p:tgtEl>
                                        <p:attrNameLst>
                                          <p:attrName>style.visibility</p:attrName>
                                        </p:attrNameLst>
                                      </p:cBhvr>
                                      <p:to>
                                        <p:strVal val="visible"/>
                                      </p:to>
                                    </p:set>
                                    <p:animEffect transition="in" filter="fade">
                                      <p:cBhvr>
                                        <p:cTn id="7" dur="1000"/>
                                        <p:tgtEl>
                                          <p:spTgt spid="16387"/>
                                        </p:tgtEl>
                                      </p:cBhvr>
                                    </p:animEffect>
                                    <p:anim calcmode="lin" valueType="num">
                                      <p:cBhvr>
                                        <p:cTn id="8" dur="1000" fill="hold"/>
                                        <p:tgtEl>
                                          <p:spTgt spid="16387"/>
                                        </p:tgtEl>
                                        <p:attrNameLst>
                                          <p:attrName>ppt_x</p:attrName>
                                        </p:attrNameLst>
                                      </p:cBhvr>
                                      <p:tavLst>
                                        <p:tav tm="0">
                                          <p:val>
                                            <p:strVal val="#ppt_x"/>
                                          </p:val>
                                        </p:tav>
                                        <p:tav tm="100000">
                                          <p:val>
                                            <p:strVal val="#ppt_x"/>
                                          </p:val>
                                        </p:tav>
                                      </p:tavLst>
                                    </p:anim>
                                    <p:anim calcmode="lin" valueType="num">
                                      <p:cBhvr>
                                        <p:cTn id="9" dur="1000" fill="hold"/>
                                        <p:tgtEl>
                                          <p:spTgt spid="163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13.1.1 </a:t>
            </a:r>
            <a:r>
              <a:rPr lang="zh-CN" altLang="en-US" dirty="0"/>
              <a:t>图形用户界面</a:t>
            </a:r>
          </a:p>
        </p:txBody>
      </p:sp>
      <p:sp>
        <p:nvSpPr>
          <p:cNvPr id="3" name="内容占位符 2"/>
          <p:cNvSpPr>
            <a:spLocks noGrp="1"/>
          </p:cNvSpPr>
          <p:nvPr>
            <p:ph idx="1"/>
          </p:nvPr>
        </p:nvSpPr>
        <p:spPr/>
        <p:txBody>
          <a:bodyPr>
            <a:noAutofit/>
          </a:bodyPr>
          <a:lstStyle/>
          <a:p>
            <a:r>
              <a:rPr lang="zh-CN" altLang="en-US" sz="2600" dirty="0"/>
              <a:t>图形用户界面（</a:t>
            </a:r>
            <a:r>
              <a:rPr lang="en-US" altLang="zh-CN" sz="2600" dirty="0"/>
              <a:t>Graphical User Interface</a:t>
            </a:r>
            <a:r>
              <a:rPr lang="zh-CN" altLang="en-US" sz="2600" dirty="0"/>
              <a:t>，简称</a:t>
            </a:r>
            <a:r>
              <a:rPr lang="en-US" altLang="zh-CN" sz="2600" dirty="0"/>
              <a:t>GUI</a:t>
            </a:r>
            <a:r>
              <a:rPr lang="zh-CN" altLang="en-US" sz="2600" dirty="0"/>
              <a:t>，又称图形用户接口）是指采用图形方式显示的计算机操作用户界面。</a:t>
            </a:r>
            <a:endParaRPr lang="en-US" altLang="zh-CN" sz="2600" dirty="0"/>
          </a:p>
          <a:p>
            <a:pPr lvl="1"/>
            <a:r>
              <a:rPr lang="en-US" altLang="zh-CN" sz="2600" dirty="0"/>
              <a:t>GUI</a:t>
            </a:r>
            <a:r>
              <a:rPr lang="zh-CN" altLang="en-US" sz="2600" dirty="0"/>
              <a:t>极大地方便了非专业用户的使用，人们不再需要死记硬背大量的命令，取而代之的是通过窗口、菜单、按键等方式来方便地进行操作。</a:t>
            </a:r>
          </a:p>
          <a:p>
            <a:pPr lvl="1"/>
            <a:r>
              <a:rPr lang="zh-CN" altLang="en-US" sz="2600" dirty="0"/>
              <a:t>图形用户界面允许用户使用鼠标等输入设备操纵屏幕上的图标或菜单选项，用来选择命令、调用文件、启动程序或执行其他一些日常任务。</a:t>
            </a:r>
            <a:endParaRPr lang="en-US" altLang="zh-CN" sz="2600" dirty="0"/>
          </a:p>
          <a:p>
            <a:r>
              <a:rPr lang="zh-CN" altLang="en-US" sz="2600" dirty="0"/>
              <a:t>图形用户界面由窗口、下拉菜单、对话框及其相应的控制机制构成</a:t>
            </a:r>
          </a:p>
        </p:txBody>
      </p:sp>
      <p:sp>
        <p:nvSpPr>
          <p:cNvPr id="4" name="灯片编号占位符 3">
            <a:extLst>
              <a:ext uri="{FF2B5EF4-FFF2-40B4-BE49-F238E27FC236}">
                <a16:creationId xmlns:a16="http://schemas.microsoft.com/office/drawing/2014/main" id="{180322D0-4EFB-4163-A3DE-4D2F1A51364F}"/>
              </a:ext>
            </a:extLst>
          </p:cNvPr>
          <p:cNvSpPr>
            <a:spLocks noGrp="1"/>
          </p:cNvSpPr>
          <p:nvPr>
            <p:ph type="sldNum" sz="quarter" idx="12"/>
          </p:nvPr>
        </p:nvSpPr>
        <p:spPr/>
        <p:txBody>
          <a:bodyPr/>
          <a:lstStyle/>
          <a:p>
            <a:fld id="{49AE70B2-8BF9-45C0-BB95-33D1B9D3A854}" type="slidenum">
              <a:rPr lang="zh-CN" altLang="en-US" smtClean="0"/>
              <a:t>4</a:t>
            </a:fld>
            <a:endParaRPr lang="zh-CN" altLang="en-US"/>
          </a:p>
        </p:txBody>
      </p:sp>
    </p:spTree>
    <p:extLst>
      <p:ext uri="{BB962C8B-B14F-4D97-AF65-F5344CB8AC3E}">
        <p14:creationId xmlns:p14="http://schemas.microsoft.com/office/powerpoint/2010/main" val="4101646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13.1.2 </a:t>
            </a:r>
            <a:r>
              <a:rPr lang="en-US" altLang="zh-CN" dirty="0" err="1"/>
              <a:t>tkinter</a:t>
            </a:r>
            <a:r>
              <a:rPr lang="zh-CN" altLang="en-US" dirty="0"/>
              <a:t>库创建图形用户界面</a:t>
            </a:r>
          </a:p>
        </p:txBody>
      </p:sp>
      <p:sp>
        <p:nvSpPr>
          <p:cNvPr id="3" name="内容占位符 2"/>
          <p:cNvSpPr>
            <a:spLocks noGrp="1"/>
          </p:cNvSpPr>
          <p:nvPr>
            <p:ph idx="1"/>
          </p:nvPr>
        </p:nvSpPr>
        <p:spPr/>
        <p:txBody>
          <a:bodyPr>
            <a:noAutofit/>
          </a:bodyPr>
          <a:lstStyle/>
          <a:p>
            <a:r>
              <a:rPr lang="en-US" altLang="zh-CN" sz="2400" dirty="0" err="1"/>
              <a:t>tkinter</a:t>
            </a:r>
            <a:r>
              <a:rPr lang="zh-CN" altLang="en-US" sz="2400" dirty="0"/>
              <a:t>库</a:t>
            </a:r>
          </a:p>
          <a:p>
            <a:pPr lvl="1"/>
            <a:r>
              <a:rPr lang="en-US" altLang="zh-CN" sz="2400" dirty="0"/>
              <a:t>Python</a:t>
            </a:r>
            <a:r>
              <a:rPr lang="zh-CN" altLang="en-US" sz="2400" dirty="0"/>
              <a:t>提供的，用于图形界面编程的内置图形用户界面库</a:t>
            </a:r>
            <a:endParaRPr lang="en-US" altLang="zh-CN" sz="2400" dirty="0"/>
          </a:p>
          <a:p>
            <a:pPr lvl="1"/>
            <a:r>
              <a:rPr lang="zh-CN" altLang="en-US" sz="2400" dirty="0"/>
              <a:t>其他第三方库，如</a:t>
            </a:r>
            <a:r>
              <a:rPr lang="en-US" altLang="zh-CN" sz="2400" dirty="0" err="1"/>
              <a:t>wxPython</a:t>
            </a:r>
            <a:r>
              <a:rPr lang="zh-CN" altLang="en-US" sz="2400" dirty="0"/>
              <a:t>、</a:t>
            </a:r>
            <a:r>
              <a:rPr lang="en-US" altLang="zh-CN" sz="2400" dirty="0" err="1"/>
              <a:t>PyGTK</a:t>
            </a:r>
            <a:r>
              <a:rPr lang="zh-CN" altLang="en-US" sz="2400" dirty="0"/>
              <a:t>、</a:t>
            </a:r>
            <a:r>
              <a:rPr lang="en-US" altLang="zh-CN" sz="2400" dirty="0" err="1"/>
              <a:t>PyQt</a:t>
            </a:r>
            <a:r>
              <a:rPr lang="zh-CN" altLang="en-US" sz="2400" dirty="0"/>
              <a:t>、</a:t>
            </a:r>
            <a:r>
              <a:rPr lang="en-US" altLang="zh-CN" sz="2400" dirty="0" err="1"/>
              <a:t>PySide</a:t>
            </a:r>
            <a:r>
              <a:rPr lang="zh-CN" altLang="en-US" sz="2400" dirty="0"/>
              <a:t>、</a:t>
            </a:r>
            <a:r>
              <a:rPr lang="en-US" altLang="zh-CN" sz="2400" dirty="0" err="1"/>
              <a:t>wxWidgets</a:t>
            </a:r>
            <a:r>
              <a:rPr lang="zh-CN" altLang="en-US" sz="2400" dirty="0"/>
              <a:t>、</a:t>
            </a:r>
            <a:r>
              <a:rPr lang="en-US" altLang="zh-CN" sz="2400" dirty="0" err="1"/>
              <a:t>easygui</a:t>
            </a:r>
            <a:r>
              <a:rPr lang="zh-CN" altLang="en-US" sz="2400" dirty="0"/>
              <a:t>等。</a:t>
            </a:r>
          </a:p>
          <a:p>
            <a:r>
              <a:rPr lang="en-US" altLang="zh-CN" sz="2400" dirty="0" err="1"/>
              <a:t>tkinter</a:t>
            </a:r>
            <a:r>
              <a:rPr lang="zh-CN" altLang="en-US" sz="2400" dirty="0"/>
              <a:t>模块（</a:t>
            </a:r>
            <a:r>
              <a:rPr lang="en-US" altLang="zh-CN" sz="2400" dirty="0" err="1"/>
              <a:t>Tk</a:t>
            </a:r>
            <a:r>
              <a:rPr lang="en-US" altLang="zh-CN" sz="2400" dirty="0"/>
              <a:t> interface</a:t>
            </a:r>
            <a:r>
              <a:rPr lang="zh-CN" altLang="en-US" sz="2400" dirty="0"/>
              <a:t>，</a:t>
            </a:r>
            <a:r>
              <a:rPr lang="en-US" altLang="zh-CN" sz="2400" dirty="0" err="1"/>
              <a:t>Tk</a:t>
            </a:r>
            <a:r>
              <a:rPr lang="zh-CN" altLang="en-US" sz="2400" dirty="0"/>
              <a:t>接口）</a:t>
            </a:r>
            <a:endParaRPr lang="en-US" altLang="zh-CN" sz="2400" dirty="0"/>
          </a:p>
          <a:p>
            <a:pPr lvl="1"/>
            <a:r>
              <a:rPr lang="zh-CN" altLang="en-US" sz="2400" dirty="0"/>
              <a:t>是</a:t>
            </a:r>
            <a:r>
              <a:rPr lang="en-US" altLang="zh-CN" sz="2400" dirty="0"/>
              <a:t>Python</a:t>
            </a:r>
            <a:r>
              <a:rPr lang="zh-CN" altLang="en-US" sz="2400" dirty="0"/>
              <a:t>的标准</a:t>
            </a:r>
            <a:r>
              <a:rPr lang="en-US" altLang="zh-CN" sz="2400" dirty="0" err="1"/>
              <a:t>Tk</a:t>
            </a:r>
            <a:r>
              <a:rPr lang="zh-CN" altLang="en-US" sz="2400" dirty="0"/>
              <a:t>图形用户界面工具包的接口</a:t>
            </a:r>
            <a:endParaRPr lang="en-US" altLang="zh-CN" sz="2400" dirty="0"/>
          </a:p>
          <a:p>
            <a:pPr lvl="1"/>
            <a:r>
              <a:rPr lang="en-US" altLang="zh-CN" sz="2400" dirty="0" err="1"/>
              <a:t>tkinter</a:t>
            </a:r>
            <a:r>
              <a:rPr lang="zh-CN" altLang="en-US" sz="2400" dirty="0"/>
              <a:t>模块定义一些类和函数，调用它们就可以进行图形用户界面的设计和编程。</a:t>
            </a:r>
            <a:endParaRPr lang="en-US" altLang="zh-CN" sz="2400" dirty="0"/>
          </a:p>
          <a:p>
            <a:pPr lvl="1"/>
            <a:r>
              <a:rPr lang="en-US" altLang="zh-CN" sz="2400" dirty="0" err="1"/>
              <a:t>tkinter</a:t>
            </a:r>
            <a:r>
              <a:rPr lang="zh-CN" altLang="en-US" sz="2400" dirty="0"/>
              <a:t>没有可视化界面设计工具，需要通过代码完成设计</a:t>
            </a:r>
          </a:p>
        </p:txBody>
      </p:sp>
      <p:sp>
        <p:nvSpPr>
          <p:cNvPr id="4" name="灯片编号占位符 3">
            <a:extLst>
              <a:ext uri="{FF2B5EF4-FFF2-40B4-BE49-F238E27FC236}">
                <a16:creationId xmlns:a16="http://schemas.microsoft.com/office/drawing/2014/main" id="{1B6460BA-D463-4DFD-9F56-304F25959A13}"/>
              </a:ext>
            </a:extLst>
          </p:cNvPr>
          <p:cNvSpPr>
            <a:spLocks noGrp="1"/>
          </p:cNvSpPr>
          <p:nvPr>
            <p:ph type="sldNum" sz="quarter" idx="12"/>
          </p:nvPr>
        </p:nvSpPr>
        <p:spPr/>
        <p:txBody>
          <a:bodyPr/>
          <a:lstStyle/>
          <a:p>
            <a:fld id="{49AE70B2-8BF9-45C0-BB95-33D1B9D3A854}" type="slidenum">
              <a:rPr lang="zh-CN" altLang="en-US" smtClean="0"/>
              <a:t>5</a:t>
            </a:fld>
            <a:endParaRPr lang="zh-CN" altLang="en-US"/>
          </a:p>
        </p:txBody>
      </p:sp>
    </p:spTree>
    <p:extLst>
      <p:ext uri="{BB962C8B-B14F-4D97-AF65-F5344CB8AC3E}">
        <p14:creationId xmlns:p14="http://schemas.microsoft.com/office/powerpoint/2010/main" val="3856286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tkinter</a:t>
            </a:r>
            <a:r>
              <a:rPr lang="zh-CN" altLang="en-US" dirty="0"/>
              <a:t>库</a:t>
            </a:r>
          </a:p>
        </p:txBody>
      </p:sp>
      <p:sp>
        <p:nvSpPr>
          <p:cNvPr id="3" name="内容占位符 2"/>
          <p:cNvSpPr>
            <a:spLocks noGrp="1"/>
          </p:cNvSpPr>
          <p:nvPr>
            <p:ph idx="1"/>
          </p:nvPr>
        </p:nvSpPr>
        <p:spPr/>
        <p:txBody>
          <a:bodyPr>
            <a:normAutofit/>
          </a:bodyPr>
          <a:lstStyle/>
          <a:p>
            <a:r>
              <a:rPr lang="en-US" altLang="zh-CN" dirty="0" err="1"/>
              <a:t>tkinter</a:t>
            </a:r>
            <a:r>
              <a:rPr lang="zh-CN" altLang="en-US" dirty="0"/>
              <a:t>库组成</a:t>
            </a:r>
            <a:endParaRPr lang="en-US" altLang="zh-CN" dirty="0"/>
          </a:p>
          <a:p>
            <a:pPr lvl="1"/>
            <a:r>
              <a:rPr lang="en-US" altLang="zh-CN" dirty="0"/>
              <a:t>_</a:t>
            </a:r>
            <a:r>
              <a:rPr lang="en-US" altLang="zh-CN" dirty="0" err="1"/>
              <a:t>tkinter</a:t>
            </a:r>
            <a:r>
              <a:rPr lang="zh-CN" altLang="en-US" dirty="0"/>
              <a:t>是二进制扩展模块</a:t>
            </a:r>
            <a:endParaRPr lang="en-US" altLang="zh-CN" dirty="0"/>
          </a:p>
          <a:p>
            <a:pPr lvl="1"/>
            <a:r>
              <a:rPr lang="en-US" altLang="zh-CN" dirty="0" err="1"/>
              <a:t>tkinter</a:t>
            </a:r>
            <a:r>
              <a:rPr lang="zh-CN" altLang="en-US" dirty="0"/>
              <a:t>是主模块</a:t>
            </a:r>
            <a:endParaRPr lang="en-US" altLang="zh-CN" dirty="0"/>
          </a:p>
          <a:p>
            <a:pPr lvl="1"/>
            <a:r>
              <a:rPr lang="en-US" altLang="zh-CN" dirty="0" err="1"/>
              <a:t>tkinter.constants</a:t>
            </a:r>
            <a:r>
              <a:rPr lang="zh-CN" altLang="en-US" dirty="0"/>
              <a:t>模块定义了很多常量</a:t>
            </a:r>
            <a:endParaRPr lang="en-US" altLang="zh-CN" dirty="0"/>
          </a:p>
          <a:p>
            <a:pPr lvl="1"/>
            <a:r>
              <a:rPr lang="zh-CN" altLang="en-US" dirty="0"/>
              <a:t>其他：</a:t>
            </a:r>
            <a:r>
              <a:rPr lang="en-US" altLang="zh-CN" dirty="0" err="1"/>
              <a:t>tkinter.ttk</a:t>
            </a:r>
            <a:r>
              <a:rPr lang="zh-CN" altLang="en-US" dirty="0"/>
              <a:t>、</a:t>
            </a:r>
            <a:r>
              <a:rPr lang="en-US" altLang="zh-CN" dirty="0" err="1"/>
              <a:t>tkinter.font</a:t>
            </a:r>
            <a:r>
              <a:rPr lang="zh-CN" altLang="en-US" dirty="0"/>
              <a:t>等</a:t>
            </a:r>
            <a:endParaRPr lang="en-US" altLang="zh-CN" dirty="0"/>
          </a:p>
          <a:p>
            <a:r>
              <a:rPr lang="zh-CN" altLang="en-US" dirty="0"/>
              <a:t>导入</a:t>
            </a:r>
            <a:r>
              <a:rPr lang="en-US" altLang="zh-CN" dirty="0" err="1"/>
              <a:t>tkinter</a:t>
            </a:r>
            <a:r>
              <a:rPr lang="zh-CN" altLang="en-US" dirty="0"/>
              <a:t>模块的两种方法：</a:t>
            </a:r>
          </a:p>
          <a:p>
            <a:pPr lvl="1"/>
            <a:r>
              <a:rPr lang="en-US" altLang="zh-CN" dirty="0"/>
              <a:t>import </a:t>
            </a:r>
            <a:r>
              <a:rPr lang="en-US" altLang="zh-CN" dirty="0" err="1"/>
              <a:t>tkinter</a:t>
            </a:r>
            <a:endParaRPr lang="en-US" altLang="zh-CN" dirty="0"/>
          </a:p>
          <a:p>
            <a:pPr lvl="1"/>
            <a:r>
              <a:rPr lang="en-US" altLang="zh-CN" dirty="0"/>
              <a:t>from </a:t>
            </a:r>
            <a:r>
              <a:rPr lang="en-US" altLang="zh-CN" dirty="0" err="1"/>
              <a:t>tkinter</a:t>
            </a:r>
            <a:r>
              <a:rPr lang="en-US" altLang="zh-CN" dirty="0"/>
              <a:t> import *</a:t>
            </a:r>
          </a:p>
          <a:p>
            <a:r>
              <a:rPr lang="en-US" altLang="zh-CN" dirty="0"/>
              <a:t>【</a:t>
            </a:r>
            <a:r>
              <a:rPr lang="zh-CN" altLang="en-US" dirty="0"/>
              <a:t>例</a:t>
            </a:r>
            <a:r>
              <a:rPr lang="en-US" altLang="zh-CN" dirty="0"/>
              <a:t>13-1】</a:t>
            </a:r>
            <a:r>
              <a:rPr lang="zh-CN" altLang="en-US" dirty="0"/>
              <a:t>导入</a:t>
            </a:r>
            <a:r>
              <a:rPr lang="en-US" altLang="zh-CN" dirty="0" err="1"/>
              <a:t>tkinter</a:t>
            </a:r>
            <a:r>
              <a:rPr lang="zh-CN" altLang="en-US" dirty="0"/>
              <a:t>模块，创建包含标签和按钮的窗口</a:t>
            </a:r>
            <a:endParaRPr lang="en-US" altLang="zh-CN" dirty="0"/>
          </a:p>
          <a:p>
            <a:endParaRPr lang="zh-CN" altLang="en-US" dirty="0"/>
          </a:p>
        </p:txBody>
      </p:sp>
      <p:sp>
        <p:nvSpPr>
          <p:cNvPr id="4" name="灯片编号占位符 3">
            <a:extLst>
              <a:ext uri="{FF2B5EF4-FFF2-40B4-BE49-F238E27FC236}">
                <a16:creationId xmlns:a16="http://schemas.microsoft.com/office/drawing/2014/main" id="{2D7558E2-6D5D-46A2-9594-6C2AD39EB04F}"/>
              </a:ext>
            </a:extLst>
          </p:cNvPr>
          <p:cNvSpPr>
            <a:spLocks noGrp="1"/>
          </p:cNvSpPr>
          <p:nvPr>
            <p:ph type="sldNum" sz="quarter" idx="12"/>
          </p:nvPr>
        </p:nvSpPr>
        <p:spPr/>
        <p:txBody>
          <a:bodyPr/>
          <a:lstStyle/>
          <a:p>
            <a:fld id="{49AE70B2-8BF9-45C0-BB95-33D1B9D3A854}" type="slidenum">
              <a:rPr lang="zh-CN" altLang="en-US" smtClean="0"/>
              <a:t>6</a:t>
            </a:fld>
            <a:endParaRPr lang="zh-CN" altLang="en-US"/>
          </a:p>
        </p:txBody>
      </p:sp>
    </p:spTree>
    <p:extLst>
      <p:ext uri="{BB962C8B-B14F-4D97-AF65-F5344CB8AC3E}">
        <p14:creationId xmlns:p14="http://schemas.microsoft.com/office/powerpoint/2010/main" val="412730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err="1"/>
              <a:t>tkinter</a:t>
            </a:r>
            <a:r>
              <a:rPr lang="zh-CN" altLang="en-US" dirty="0"/>
              <a:t>库创建图形用户界面的基本步骤</a:t>
            </a:r>
            <a:br>
              <a:rPr lang="zh-CN" altLang="en-US" dirty="0"/>
            </a:br>
            <a:endParaRPr lang="zh-CN" altLang="en-US" dirty="0"/>
          </a:p>
        </p:txBody>
      </p:sp>
      <p:sp>
        <p:nvSpPr>
          <p:cNvPr id="3" name="内容占位符 2"/>
          <p:cNvSpPr>
            <a:spLocks noGrp="1"/>
          </p:cNvSpPr>
          <p:nvPr>
            <p:ph idx="1"/>
          </p:nvPr>
        </p:nvSpPr>
        <p:spPr/>
        <p:txBody>
          <a:bodyPr>
            <a:normAutofit/>
          </a:bodyPr>
          <a:lstStyle/>
          <a:p>
            <a:r>
              <a:rPr lang="en-US" altLang="zh-CN" dirty="0"/>
              <a:t>Python</a:t>
            </a:r>
            <a:r>
              <a:rPr lang="zh-CN" altLang="en-US" dirty="0"/>
              <a:t>的图形用户界面包括一个主窗口，主窗口是一个容器，主窗口中又包含各种界面元素。</a:t>
            </a:r>
            <a:endParaRPr lang="en-US" altLang="zh-CN" dirty="0"/>
          </a:p>
          <a:p>
            <a:r>
              <a:rPr lang="zh-CN" altLang="en-US" dirty="0"/>
              <a:t>用</a:t>
            </a:r>
            <a:r>
              <a:rPr lang="en-US" altLang="zh-CN" dirty="0" err="1"/>
              <a:t>tkinter</a:t>
            </a:r>
            <a:r>
              <a:rPr lang="zh-CN" altLang="en-US" dirty="0"/>
              <a:t>模块创建图形用户界面应用程序的基本步骤如下：</a:t>
            </a:r>
          </a:p>
          <a:p>
            <a:pPr lvl="1"/>
            <a:r>
              <a:rPr lang="en-US" altLang="zh-CN" dirty="0"/>
              <a:t>Step1</a:t>
            </a:r>
            <a:r>
              <a:rPr lang="zh-CN" altLang="en-US" dirty="0"/>
              <a:t>：创建主窗口及设置主窗口的属性；</a:t>
            </a:r>
          </a:p>
          <a:p>
            <a:pPr lvl="1"/>
            <a:r>
              <a:rPr lang="en-US" altLang="zh-CN" dirty="0"/>
              <a:t>Step2</a:t>
            </a:r>
            <a:r>
              <a:rPr lang="zh-CN" altLang="en-US" dirty="0"/>
              <a:t>：在主窗口中添加各种控件并设置其属性；</a:t>
            </a:r>
          </a:p>
          <a:p>
            <a:pPr lvl="1"/>
            <a:r>
              <a:rPr lang="en-US" altLang="zh-CN" dirty="0"/>
              <a:t>Step3</a:t>
            </a:r>
            <a:r>
              <a:rPr lang="zh-CN" altLang="en-US" dirty="0"/>
              <a:t>：调整对象的位置和大小；</a:t>
            </a:r>
          </a:p>
          <a:p>
            <a:pPr lvl="1"/>
            <a:r>
              <a:rPr lang="en-US" altLang="zh-CN" dirty="0"/>
              <a:t>Step4</a:t>
            </a:r>
            <a:r>
              <a:rPr lang="zh-CN" altLang="en-US" dirty="0"/>
              <a:t>：为控件定义事件处理程序；</a:t>
            </a:r>
          </a:p>
          <a:p>
            <a:pPr lvl="1"/>
            <a:r>
              <a:rPr lang="en-US" altLang="zh-CN" dirty="0"/>
              <a:t>Step5</a:t>
            </a:r>
            <a:r>
              <a:rPr lang="zh-CN" altLang="en-US" dirty="0"/>
              <a:t>：进入主窗口的事件循环。</a:t>
            </a:r>
          </a:p>
          <a:p>
            <a:pPr lvl="1"/>
            <a:r>
              <a:rPr lang="zh-CN" altLang="en-US" dirty="0"/>
              <a:t>以上步骤中</a:t>
            </a:r>
            <a:r>
              <a:rPr lang="en-US" altLang="zh-CN" dirty="0"/>
              <a:t>Step2~Step4</a:t>
            </a:r>
            <a:r>
              <a:rPr lang="zh-CN" altLang="en-US" dirty="0"/>
              <a:t>的顺序可以打乱进行。</a:t>
            </a:r>
          </a:p>
          <a:p>
            <a:endParaRPr lang="zh-CN" altLang="en-US" dirty="0"/>
          </a:p>
        </p:txBody>
      </p:sp>
      <p:sp>
        <p:nvSpPr>
          <p:cNvPr id="4" name="灯片编号占位符 3">
            <a:extLst>
              <a:ext uri="{FF2B5EF4-FFF2-40B4-BE49-F238E27FC236}">
                <a16:creationId xmlns:a16="http://schemas.microsoft.com/office/drawing/2014/main" id="{3B1471AB-5628-4A7F-BD8C-A10A24E74F97}"/>
              </a:ext>
            </a:extLst>
          </p:cNvPr>
          <p:cNvSpPr>
            <a:spLocks noGrp="1"/>
          </p:cNvSpPr>
          <p:nvPr>
            <p:ph type="sldNum" sz="quarter" idx="12"/>
          </p:nvPr>
        </p:nvSpPr>
        <p:spPr/>
        <p:txBody>
          <a:bodyPr/>
          <a:lstStyle/>
          <a:p>
            <a:fld id="{49AE70B2-8BF9-45C0-BB95-33D1B9D3A854}" type="slidenum">
              <a:rPr lang="zh-CN" altLang="en-US" smtClean="0"/>
              <a:t>7</a:t>
            </a:fld>
            <a:endParaRPr lang="zh-CN" altLang="en-US"/>
          </a:p>
        </p:txBody>
      </p:sp>
    </p:spTree>
    <p:extLst>
      <p:ext uri="{BB962C8B-B14F-4D97-AF65-F5344CB8AC3E}">
        <p14:creationId xmlns:p14="http://schemas.microsoft.com/office/powerpoint/2010/main" val="2297900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设置主窗口或控件的属性</a:t>
            </a:r>
          </a:p>
        </p:txBody>
      </p:sp>
      <p:sp>
        <p:nvSpPr>
          <p:cNvPr id="3" name="内容占位符 2"/>
          <p:cNvSpPr>
            <a:spLocks noGrp="1"/>
          </p:cNvSpPr>
          <p:nvPr>
            <p:ph idx="1"/>
          </p:nvPr>
        </p:nvSpPr>
        <p:spPr/>
        <p:txBody>
          <a:bodyPr>
            <a:normAutofit/>
          </a:bodyPr>
          <a:lstStyle/>
          <a:p>
            <a:r>
              <a:rPr lang="zh-CN" altLang="en-US" dirty="0"/>
              <a:t>可以在创建主窗口或控件的同时设置属性，也可以通过如下形式修改属性：</a:t>
            </a:r>
          </a:p>
          <a:p>
            <a:pPr lvl="1"/>
            <a:r>
              <a:rPr lang="zh-CN" altLang="en-US" dirty="0"/>
              <a:t>对象名</a:t>
            </a:r>
            <a:r>
              <a:rPr lang="en-US" altLang="zh-CN" dirty="0"/>
              <a:t>['</a:t>
            </a:r>
            <a:r>
              <a:rPr lang="zh-CN" altLang="en-US" dirty="0"/>
              <a:t>属性名</a:t>
            </a:r>
            <a:r>
              <a:rPr lang="en-US" altLang="zh-CN" dirty="0"/>
              <a:t>'] = </a:t>
            </a:r>
            <a:r>
              <a:rPr lang="zh-CN" altLang="en-US" dirty="0"/>
              <a:t>属性值</a:t>
            </a:r>
          </a:p>
          <a:p>
            <a:pPr lvl="2"/>
            <a:r>
              <a:rPr lang="en-US" altLang="zh-CN" dirty="0" err="1"/>
              <a:t>btn</a:t>
            </a:r>
            <a:r>
              <a:rPr lang="en-US" altLang="zh-CN" dirty="0"/>
              <a:t>['text'] = '</a:t>
            </a:r>
            <a:r>
              <a:rPr lang="zh-CN" altLang="en-US" dirty="0"/>
              <a:t>退出</a:t>
            </a:r>
            <a:r>
              <a:rPr lang="en-US" altLang="zh-CN" dirty="0"/>
              <a:t>'</a:t>
            </a:r>
            <a:endParaRPr lang="zh-CN" altLang="en-US" dirty="0"/>
          </a:p>
          <a:p>
            <a:r>
              <a:rPr lang="en-US" altLang="zh-CN" dirty="0" err="1"/>
              <a:t>tkinter</a:t>
            </a:r>
            <a:r>
              <a:rPr lang="zh-CN" altLang="en-US" dirty="0"/>
              <a:t>的主窗口或有些控件的</a:t>
            </a:r>
            <a:r>
              <a:rPr lang="en-US" altLang="zh-CN" dirty="0"/>
              <a:t>configure()</a:t>
            </a:r>
            <a:r>
              <a:rPr lang="zh-CN" altLang="en-US" dirty="0"/>
              <a:t>方法（也可简写为</a:t>
            </a:r>
            <a:r>
              <a:rPr lang="en-US" altLang="zh-CN" dirty="0" err="1"/>
              <a:t>config</a:t>
            </a:r>
            <a:r>
              <a:rPr lang="zh-CN" altLang="en-US" dirty="0"/>
              <a:t>）用于修改属性：</a:t>
            </a:r>
          </a:p>
          <a:p>
            <a:pPr lvl="1"/>
            <a:r>
              <a:rPr lang="zh-CN" altLang="en-US" dirty="0"/>
              <a:t>对象名</a:t>
            </a:r>
            <a:r>
              <a:rPr lang="en-US" altLang="zh-CN" dirty="0"/>
              <a:t>.configure(</a:t>
            </a:r>
            <a:r>
              <a:rPr lang="zh-CN" altLang="en-US" dirty="0"/>
              <a:t>属性名</a:t>
            </a:r>
            <a:r>
              <a:rPr lang="en-US" altLang="zh-CN" dirty="0"/>
              <a:t>1=</a:t>
            </a:r>
            <a:r>
              <a:rPr lang="zh-CN" altLang="en-US" dirty="0"/>
              <a:t>属性值</a:t>
            </a:r>
            <a:r>
              <a:rPr lang="en-US" altLang="zh-CN" dirty="0"/>
              <a:t>1, </a:t>
            </a:r>
            <a:r>
              <a:rPr lang="zh-CN" altLang="en-US" dirty="0"/>
              <a:t>属性名</a:t>
            </a:r>
            <a:r>
              <a:rPr lang="en-US" altLang="zh-CN" dirty="0"/>
              <a:t>2=</a:t>
            </a:r>
            <a:r>
              <a:rPr lang="zh-CN" altLang="en-US" dirty="0"/>
              <a:t>属性值</a:t>
            </a:r>
            <a:r>
              <a:rPr lang="en-US" altLang="zh-CN" dirty="0"/>
              <a:t>2)</a:t>
            </a:r>
          </a:p>
          <a:p>
            <a:pPr lvl="2"/>
            <a:r>
              <a:rPr lang="en-US" altLang="zh-CN" dirty="0" err="1"/>
              <a:t>mywindows.config</a:t>
            </a:r>
            <a:r>
              <a:rPr lang="en-US" altLang="zh-CN" dirty="0"/>
              <a:t>(height=100, width=150)</a:t>
            </a:r>
            <a:endParaRPr lang="zh-CN" altLang="en-US" dirty="0"/>
          </a:p>
          <a:p>
            <a:endParaRPr lang="zh-CN" altLang="en-US" dirty="0"/>
          </a:p>
        </p:txBody>
      </p:sp>
      <p:sp>
        <p:nvSpPr>
          <p:cNvPr id="4" name="灯片编号占位符 3">
            <a:extLst>
              <a:ext uri="{FF2B5EF4-FFF2-40B4-BE49-F238E27FC236}">
                <a16:creationId xmlns:a16="http://schemas.microsoft.com/office/drawing/2014/main" id="{8E5655EA-0D1E-4F4C-AF77-2B42B2D98A11}"/>
              </a:ext>
            </a:extLst>
          </p:cNvPr>
          <p:cNvSpPr>
            <a:spLocks noGrp="1"/>
          </p:cNvSpPr>
          <p:nvPr>
            <p:ph type="sldNum" sz="quarter" idx="12"/>
          </p:nvPr>
        </p:nvSpPr>
        <p:spPr/>
        <p:txBody>
          <a:bodyPr/>
          <a:lstStyle/>
          <a:p>
            <a:fld id="{49AE70B2-8BF9-45C0-BB95-33D1B9D3A854}" type="slidenum">
              <a:rPr lang="zh-CN" altLang="en-US" smtClean="0"/>
              <a:t>8</a:t>
            </a:fld>
            <a:endParaRPr lang="zh-CN" altLang="en-US"/>
          </a:p>
        </p:txBody>
      </p:sp>
    </p:spTree>
    <p:extLst>
      <p:ext uri="{BB962C8B-B14F-4D97-AF65-F5344CB8AC3E}">
        <p14:creationId xmlns:p14="http://schemas.microsoft.com/office/powerpoint/2010/main" val="3076175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创建主窗口</a:t>
            </a:r>
            <a:br>
              <a:rPr lang="zh-CN" altLang="en-US" dirty="0"/>
            </a:br>
            <a:endParaRPr lang="zh-CN" altLang="en-US" dirty="0"/>
          </a:p>
        </p:txBody>
      </p:sp>
      <p:sp>
        <p:nvSpPr>
          <p:cNvPr id="3" name="内容占位符 2"/>
          <p:cNvSpPr>
            <a:spLocks noGrp="1"/>
          </p:cNvSpPr>
          <p:nvPr>
            <p:ph idx="1"/>
          </p:nvPr>
        </p:nvSpPr>
        <p:spPr/>
        <p:txBody>
          <a:bodyPr>
            <a:normAutofit/>
          </a:bodyPr>
          <a:lstStyle/>
          <a:p>
            <a:r>
              <a:rPr lang="zh-CN" altLang="en-US" dirty="0"/>
              <a:t>创建主窗口需要调用</a:t>
            </a:r>
            <a:r>
              <a:rPr lang="en-US" altLang="zh-CN" dirty="0" err="1"/>
              <a:t>tkinter</a:t>
            </a:r>
            <a:r>
              <a:rPr lang="zh-CN" altLang="en-US" dirty="0"/>
              <a:t>库中</a:t>
            </a:r>
            <a:r>
              <a:rPr lang="en-US" altLang="zh-CN" dirty="0" err="1"/>
              <a:t>Tk</a:t>
            </a:r>
            <a:r>
              <a:rPr lang="en-US" altLang="zh-CN" dirty="0"/>
              <a:t>()</a:t>
            </a:r>
            <a:r>
              <a:rPr lang="zh-CN" altLang="en-US" dirty="0"/>
              <a:t>函数，调用该函数时一般无参数。</a:t>
            </a:r>
          </a:p>
          <a:p>
            <a:pPr lvl="1"/>
            <a:r>
              <a:rPr lang="en-US" altLang="zh-CN" dirty="0"/>
              <a:t>import </a:t>
            </a:r>
            <a:r>
              <a:rPr lang="en-US" altLang="zh-CN" dirty="0" err="1"/>
              <a:t>tkinter</a:t>
            </a:r>
            <a:endParaRPr lang="en-US" altLang="zh-CN" dirty="0"/>
          </a:p>
          <a:p>
            <a:pPr lvl="1"/>
            <a:r>
              <a:rPr lang="zh-CN" altLang="en-US" dirty="0"/>
              <a:t>窗口名 </a:t>
            </a:r>
            <a:r>
              <a:rPr lang="en-US" altLang="zh-CN" dirty="0"/>
              <a:t>= </a:t>
            </a:r>
            <a:r>
              <a:rPr lang="en-US" altLang="zh-CN" dirty="0" err="1"/>
              <a:t>tkinter.Tk</a:t>
            </a:r>
            <a:r>
              <a:rPr lang="en-US" altLang="zh-CN" dirty="0"/>
              <a:t>()</a:t>
            </a:r>
          </a:p>
          <a:p>
            <a:r>
              <a:rPr lang="zh-CN" altLang="en-US" dirty="0"/>
              <a:t>或</a:t>
            </a:r>
          </a:p>
          <a:p>
            <a:pPr lvl="1"/>
            <a:r>
              <a:rPr lang="en-US" altLang="zh-CN" dirty="0"/>
              <a:t>from </a:t>
            </a:r>
            <a:r>
              <a:rPr lang="en-US" altLang="zh-CN" dirty="0" err="1"/>
              <a:t>tkinter</a:t>
            </a:r>
            <a:r>
              <a:rPr lang="en-US" altLang="zh-CN" dirty="0"/>
              <a:t> import *</a:t>
            </a:r>
          </a:p>
          <a:p>
            <a:pPr lvl="1"/>
            <a:r>
              <a:rPr lang="zh-CN" altLang="en-US" dirty="0"/>
              <a:t>窗口名</a:t>
            </a:r>
            <a:r>
              <a:rPr lang="en-US" altLang="zh-CN" dirty="0"/>
              <a:t>=</a:t>
            </a:r>
            <a:r>
              <a:rPr lang="en-US" altLang="zh-CN" dirty="0" err="1"/>
              <a:t>Tk</a:t>
            </a:r>
            <a:r>
              <a:rPr lang="en-US" altLang="zh-CN" dirty="0"/>
              <a:t>()</a:t>
            </a:r>
          </a:p>
          <a:p>
            <a:r>
              <a:rPr lang="en-US" altLang="zh-CN" dirty="0"/>
              <a:t>【</a:t>
            </a:r>
            <a:r>
              <a:rPr lang="zh-CN" altLang="en-US" dirty="0"/>
              <a:t>例</a:t>
            </a:r>
            <a:r>
              <a:rPr lang="en-US" altLang="zh-CN" dirty="0"/>
              <a:t>13-2】</a:t>
            </a:r>
            <a:r>
              <a:rPr lang="zh-CN" altLang="en-US" dirty="0"/>
              <a:t>创建并设置窗口。</a:t>
            </a:r>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7824192" y="2930564"/>
            <a:ext cx="3096344" cy="3056066"/>
          </a:xfrm>
          <a:prstGeom prst="rect">
            <a:avLst/>
          </a:prstGeom>
        </p:spPr>
      </p:pic>
      <p:sp>
        <p:nvSpPr>
          <p:cNvPr id="5" name="灯片编号占位符 4">
            <a:extLst>
              <a:ext uri="{FF2B5EF4-FFF2-40B4-BE49-F238E27FC236}">
                <a16:creationId xmlns:a16="http://schemas.microsoft.com/office/drawing/2014/main" id="{E8C5A67B-C6DD-4044-B06E-39ADB517927D}"/>
              </a:ext>
            </a:extLst>
          </p:cNvPr>
          <p:cNvSpPr>
            <a:spLocks noGrp="1"/>
          </p:cNvSpPr>
          <p:nvPr>
            <p:ph type="sldNum" sz="quarter" idx="12"/>
          </p:nvPr>
        </p:nvSpPr>
        <p:spPr/>
        <p:txBody>
          <a:bodyPr/>
          <a:lstStyle/>
          <a:p>
            <a:fld id="{49AE70B2-8BF9-45C0-BB95-33D1B9D3A854}" type="slidenum">
              <a:rPr lang="zh-CN" altLang="en-US" smtClean="0"/>
              <a:t>9</a:t>
            </a:fld>
            <a:endParaRPr lang="zh-CN" altLang="en-US"/>
          </a:p>
        </p:txBody>
      </p:sp>
    </p:spTree>
    <p:extLst>
      <p:ext uri="{BB962C8B-B14F-4D97-AF65-F5344CB8AC3E}">
        <p14:creationId xmlns:p14="http://schemas.microsoft.com/office/powerpoint/2010/main" val="357592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窗口对象常用的属性和方法</a:t>
            </a:r>
          </a:p>
        </p:txBody>
      </p:sp>
      <mc:AlternateContent xmlns:mc="http://schemas.openxmlformats.org/markup-compatibility/2006" xmlns:a14="http://schemas.microsoft.com/office/drawing/2010/main">
        <mc:Choice Requires="a14">
          <p:graphicFrame>
            <p:nvGraphicFramePr>
              <p:cNvPr id="4" name="内容占位符 3"/>
              <p:cNvGraphicFramePr>
                <a:graphicFrameLocks noGrp="1"/>
              </p:cNvGraphicFramePr>
              <p:nvPr>
                <p:ph idx="1"/>
                <p:extLst>
                  <p:ext uri="{D42A27DB-BD31-4B8C-83A1-F6EECF244321}">
                    <p14:modId xmlns:p14="http://schemas.microsoft.com/office/powerpoint/2010/main" val="95139429"/>
                  </p:ext>
                </p:extLst>
              </p:nvPr>
            </p:nvGraphicFramePr>
            <p:xfrm>
              <a:off x="911424" y="1268760"/>
              <a:ext cx="10729192" cy="5184576"/>
            </p:xfrm>
            <a:graphic>
              <a:graphicData uri="http://schemas.openxmlformats.org/drawingml/2006/table">
                <a:tbl>
                  <a:tblPr firstRow="1" firstCol="1" bandRow="1">
                    <a:tableStyleId>{5C22544A-7EE6-4342-B048-85BDC9FD1C3A}</a:tableStyleId>
                  </a:tblPr>
                  <a:tblGrid>
                    <a:gridCol w="3660030">
                      <a:extLst>
                        <a:ext uri="{9D8B030D-6E8A-4147-A177-3AD203B41FA5}">
                          <a16:colId xmlns:a16="http://schemas.microsoft.com/office/drawing/2014/main" val="2511061875"/>
                        </a:ext>
                      </a:extLst>
                    </a:gridCol>
                    <a:gridCol w="7069162">
                      <a:extLst>
                        <a:ext uri="{9D8B030D-6E8A-4147-A177-3AD203B41FA5}">
                          <a16:colId xmlns:a16="http://schemas.microsoft.com/office/drawing/2014/main" val="760788941"/>
                        </a:ext>
                      </a:extLst>
                    </a:gridCol>
                  </a:tblGrid>
                  <a:tr h="370327">
                    <a:tc>
                      <a:txBody>
                        <a:bodyPr/>
                        <a:lstStyle/>
                        <a:p>
                          <a:pPr indent="266700" algn="ctr">
                            <a:spcAft>
                              <a:spcPts val="0"/>
                            </a:spcAft>
                          </a:pPr>
                          <a:r>
                            <a:rPr lang="zh-CN" sz="2000" kern="100">
                              <a:effectLst/>
                            </a:rPr>
                            <a:t>属性或方法</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ctr">
                            <a:spcAft>
                              <a:spcPts val="0"/>
                            </a:spcAft>
                          </a:pPr>
                          <a:r>
                            <a:rPr lang="zh-CN" sz="2000" kern="100">
                              <a:effectLst/>
                            </a:rPr>
                            <a:t>含义或作用</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31747444"/>
                      </a:ext>
                    </a:extLst>
                  </a:tr>
                  <a:tr h="370327">
                    <a:tc>
                      <a:txBody>
                        <a:bodyPr/>
                        <a:lstStyle/>
                        <a:p>
                          <a:pPr indent="266700" algn="l">
                            <a:spcAft>
                              <a:spcPts val="0"/>
                            </a:spcAft>
                          </a:pPr>
                          <a:r>
                            <a:rPr lang="en-US" sz="2000" kern="100">
                              <a:effectLst/>
                            </a:rPr>
                            <a:t>background</a:t>
                          </a:r>
                          <a:r>
                            <a:rPr lang="zh-CN" sz="2000" kern="100">
                              <a:effectLst/>
                            </a:rPr>
                            <a:t>属性</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a:effectLst/>
                            </a:rPr>
                            <a:t>窗口的背景颜色，该属性可简写为</a:t>
                          </a:r>
                          <a:r>
                            <a:rPr lang="en-US" sz="2000" kern="100">
                              <a:effectLst/>
                            </a:rPr>
                            <a:t>bg</a:t>
                          </a: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89906342"/>
                      </a:ext>
                    </a:extLst>
                  </a:tr>
                  <a:tr h="370327">
                    <a:tc>
                      <a:txBody>
                        <a:bodyPr/>
                        <a:lstStyle/>
                        <a:p>
                          <a:pPr indent="266700" algn="l">
                            <a:spcAft>
                              <a:spcPts val="0"/>
                            </a:spcAft>
                          </a:pPr>
                          <a:r>
                            <a:rPr lang="en-US" sz="2000" kern="100">
                              <a:effectLst/>
                            </a:rPr>
                            <a:t>height</a:t>
                          </a:r>
                          <a:r>
                            <a:rPr lang="zh-CN" sz="2000" kern="100">
                              <a:effectLst/>
                            </a:rPr>
                            <a:t>属性</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a:effectLst/>
                            </a:rPr>
                            <a:t>窗口的高度。</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12328664"/>
                      </a:ext>
                    </a:extLst>
                  </a:tr>
                  <a:tr h="370327">
                    <a:tc>
                      <a:txBody>
                        <a:bodyPr/>
                        <a:lstStyle/>
                        <a:p>
                          <a:pPr indent="266700" algn="l">
                            <a:spcAft>
                              <a:spcPts val="0"/>
                            </a:spcAft>
                          </a:pPr>
                          <a:r>
                            <a:rPr lang="en-US" sz="2000" kern="100">
                              <a:effectLst/>
                            </a:rPr>
                            <a:t>width</a:t>
                          </a:r>
                          <a:r>
                            <a:rPr lang="zh-CN" sz="2000" kern="100">
                              <a:effectLst/>
                            </a:rPr>
                            <a:t>属性</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a:effectLst/>
                            </a:rPr>
                            <a:t>窗口的宽度。</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17598181"/>
                      </a:ext>
                    </a:extLst>
                  </a:tr>
                  <a:tr h="2962614">
                    <a:tc>
                      <a:txBody>
                        <a:bodyPr/>
                        <a:lstStyle/>
                        <a:p>
                          <a:pPr indent="266700" algn="l">
                            <a:spcAft>
                              <a:spcPts val="0"/>
                            </a:spcAft>
                          </a:pPr>
                          <a:r>
                            <a:rPr lang="en-US" sz="2000" kern="100" dirty="0">
                              <a:effectLst/>
                            </a:rPr>
                            <a:t>attributes(self, *</a:t>
                          </a:r>
                          <a:r>
                            <a:rPr lang="en-US" sz="2000" kern="100" dirty="0" err="1">
                              <a:effectLst/>
                            </a:rPr>
                            <a:t>args</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a:effectLst/>
                            </a:rPr>
                            <a:t>设置窗口的属性，注意属性前面的短横杠</a:t>
                          </a:r>
                          <a:r>
                            <a:rPr lang="en-US" sz="2000" kern="100">
                              <a:effectLst/>
                            </a:rPr>
                            <a:t>(-)</a:t>
                          </a:r>
                          <a:r>
                            <a:rPr lang="zh-CN" sz="2000" kern="100">
                              <a:effectLst/>
                            </a:rPr>
                            <a:t>不能少：</a:t>
                          </a:r>
                        </a:p>
                        <a:p>
                          <a:pPr indent="266700" algn="l">
                            <a:spcAft>
                              <a:spcPts val="0"/>
                            </a:spcAft>
                          </a:pPr>
                          <a:r>
                            <a:rPr lang="en-US" sz="2000" kern="100">
                              <a:effectLst/>
                            </a:rPr>
                            <a:t>-toolwindow</a:t>
                          </a:r>
                          <a:r>
                            <a:rPr lang="zh-CN" sz="2000" kern="100">
                              <a:effectLst/>
                            </a:rPr>
                            <a:t>：可设置窗口为工具栏样式；</a:t>
                          </a:r>
                        </a:p>
                        <a:p>
                          <a:pPr indent="266700" algn="l">
                            <a:spcAft>
                              <a:spcPts val="0"/>
                            </a:spcAft>
                          </a:pPr>
                          <a:r>
                            <a:rPr lang="en-US" sz="2000" kern="100">
                              <a:effectLst/>
                            </a:rPr>
                            <a:t>-alpha</a:t>
                          </a:r>
                          <a:r>
                            <a:rPr lang="zh-CN" sz="2000" kern="100">
                              <a:effectLst/>
                            </a:rPr>
                            <a:t>：可设置透明度，</a:t>
                          </a:r>
                          <a:r>
                            <a:rPr lang="en-US" sz="2000" kern="100">
                              <a:effectLst/>
                            </a:rPr>
                            <a:t>0</a:t>
                          </a:r>
                          <a:r>
                            <a:rPr lang="zh-CN" sz="2000" kern="100">
                              <a:effectLst/>
                            </a:rPr>
                            <a:t>完全透明，</a:t>
                          </a:r>
                          <a:r>
                            <a:rPr lang="en-US" sz="2000" kern="100">
                              <a:effectLst/>
                            </a:rPr>
                            <a:t>1</a:t>
                          </a:r>
                          <a:r>
                            <a:rPr lang="zh-CN" sz="2000" kern="100">
                              <a:effectLst/>
                            </a:rPr>
                            <a:t>不透明；</a:t>
                          </a:r>
                        </a:p>
                        <a:p>
                          <a:pPr indent="266700" algn="l">
                            <a:spcAft>
                              <a:spcPts val="0"/>
                            </a:spcAft>
                          </a:pPr>
                          <a:r>
                            <a:rPr lang="en-US" sz="2000" kern="100">
                              <a:effectLst/>
                            </a:rPr>
                            <a:t>-fullscreen</a:t>
                          </a:r>
                          <a:r>
                            <a:rPr lang="zh-CN" sz="2000" kern="100">
                              <a:effectLst/>
                            </a:rPr>
                            <a:t>：设置全屏；</a:t>
                          </a:r>
                        </a:p>
                        <a:p>
                          <a:pPr indent="266700" algn="l">
                            <a:spcAft>
                              <a:spcPts val="0"/>
                            </a:spcAft>
                          </a:pPr>
                          <a:r>
                            <a:rPr lang="en-US" sz="2000" kern="100">
                              <a:effectLst/>
                            </a:rPr>
                            <a:t>-topmost</a:t>
                          </a:r>
                          <a:r>
                            <a:rPr lang="zh-CN" sz="2000" kern="100">
                              <a:effectLst/>
                            </a:rPr>
                            <a:t>：设置窗口置顶。两个同时被置顶的窗口为同级（能互相遮盖），但它们都能同时遮盖住没有被设置为置顶的窗口。</a:t>
                          </a:r>
                        </a:p>
                        <a:p>
                          <a:pPr indent="266700" algn="l">
                            <a:spcAft>
                              <a:spcPts val="0"/>
                            </a:spcAft>
                          </a:pPr>
                          <a:r>
                            <a:rPr lang="zh-CN" sz="2000" kern="100">
                              <a:effectLst/>
                            </a:rPr>
                            <a:t>例如：</a:t>
                          </a:r>
                          <a:r>
                            <a:rPr lang="en-US" sz="2000" kern="100">
                              <a:effectLst/>
                            </a:rPr>
                            <a:t>win.attributes("-toolwindow", True)</a:t>
                          </a:r>
                          <a:r>
                            <a:rPr lang="zh-CN" sz="2000" kern="100">
                              <a:effectLst/>
                            </a:rPr>
                            <a:t>、</a:t>
                          </a:r>
                          <a:r>
                            <a:rPr lang="en-US" sz="2000" kern="100">
                              <a:effectLst/>
                            </a:rPr>
                            <a:t>win.attributes("-fullscreen", True)</a:t>
                          </a:r>
                          <a:r>
                            <a:rPr lang="zh-CN" sz="2000" kern="100">
                              <a:effectLst/>
                            </a:rPr>
                            <a:t>等。</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52004508"/>
                      </a:ext>
                    </a:extLst>
                  </a:tr>
                  <a:tr h="740654">
                    <a:tc>
                      <a:txBody>
                        <a:bodyPr/>
                        <a:lstStyle/>
                        <a:p>
                          <a:pPr indent="266700" algn="l">
                            <a:spcAft>
                              <a:spcPts val="0"/>
                            </a:spcAft>
                          </a:pPr>
                          <a:r>
                            <a:rPr lang="en-US" sz="2000" kern="100">
                              <a:effectLst/>
                            </a:rPr>
                            <a:t>geometry(self, newGeometry =None)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dirty="0">
                              <a:effectLst/>
                            </a:rPr>
                            <a:t>参数</a:t>
                          </a:r>
                          <a:r>
                            <a:rPr lang="en-US" sz="2000" kern="100" dirty="0" err="1">
                              <a:effectLst/>
                            </a:rPr>
                            <a:t>newGeometry</a:t>
                          </a:r>
                          <a:r>
                            <a:rPr lang="zh-CN" sz="2000" kern="100" dirty="0">
                              <a:effectLst/>
                            </a:rPr>
                            <a:t>用于指定窗口的大小和位置，其格式为</a:t>
                          </a:r>
                          <a:r>
                            <a:rPr lang="en-US" sz="2000" kern="100" dirty="0" err="1">
                              <a:effectLst/>
                            </a:rPr>
                            <a:t>widthxheight</a:t>
                          </a:r>
                          <a14:m>
                            <m:oMath xmlns:m="http://schemas.openxmlformats.org/officeDocument/2006/math">
                              <m:r>
                                <a:rPr lang="en-US" sz="2000" kern="100">
                                  <a:effectLst/>
                                  <a:latin typeface="Cambria Math" panose="02040503050406030204" pitchFamily="18" charset="0"/>
                                </a:rPr>
                                <m:t>±</m:t>
                              </m:r>
                              <m:r>
                                <m:rPr>
                                  <m:sty m:val="p"/>
                                </m:rPr>
                                <a:rPr lang="en-US" sz="2000" kern="100">
                                  <a:effectLst/>
                                  <a:latin typeface="Cambria Math" panose="02040503050406030204" pitchFamily="18" charset="0"/>
                                </a:rPr>
                                <m:t>m</m:t>
                              </m:r>
                              <m:r>
                                <a:rPr lang="en-US" sz="2000" kern="100">
                                  <a:effectLst/>
                                  <a:latin typeface="Cambria Math" panose="02040503050406030204" pitchFamily="18" charset="0"/>
                                </a:rPr>
                                <m:t>±</m:t>
                              </m:r>
                              <m:r>
                                <m:rPr>
                                  <m:sty m:val="p"/>
                                </m:rPr>
                                <a:rPr lang="en-US" sz="2000" kern="100">
                                  <a:effectLst/>
                                  <a:latin typeface="Cambria Math" panose="02040503050406030204" pitchFamily="18" charset="0"/>
                                </a:rPr>
                                <m:t>n</m:t>
                              </m:r>
                            </m:oMath>
                          </a14:m>
                          <a:r>
                            <a:rPr lang="zh-CN" sz="2000" kern="100" dirty="0">
                              <a:effectLst/>
                            </a:rPr>
                            <a:t>，无参时返回窗口的大小和位置。</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31702478"/>
                      </a:ext>
                    </a:extLst>
                  </a:tr>
                </a:tbl>
              </a:graphicData>
            </a:graphic>
          </p:graphicFrame>
        </mc:Choice>
        <mc:Fallback xmlns="">
          <p:graphicFrame>
            <p:nvGraphicFramePr>
              <p:cNvPr id="4" name="内容占位符 3"/>
              <p:cNvGraphicFramePr>
                <a:graphicFrameLocks noGrp="1"/>
              </p:cNvGraphicFramePr>
              <p:nvPr>
                <p:ph idx="1"/>
                <p:extLst>
                  <p:ext uri="{D42A27DB-BD31-4B8C-83A1-F6EECF244321}">
                    <p14:modId xmlns:p14="http://schemas.microsoft.com/office/powerpoint/2010/main" val="95139429"/>
                  </p:ext>
                </p:extLst>
              </p:nvPr>
            </p:nvGraphicFramePr>
            <p:xfrm>
              <a:off x="911424" y="1268760"/>
              <a:ext cx="10729192" cy="5184576"/>
            </p:xfrm>
            <a:graphic>
              <a:graphicData uri="http://schemas.openxmlformats.org/drawingml/2006/table">
                <a:tbl>
                  <a:tblPr firstRow="1" firstCol="1" bandRow="1">
                    <a:tableStyleId>{5C22544A-7EE6-4342-B048-85BDC9FD1C3A}</a:tableStyleId>
                  </a:tblPr>
                  <a:tblGrid>
                    <a:gridCol w="3660030">
                      <a:extLst>
                        <a:ext uri="{9D8B030D-6E8A-4147-A177-3AD203B41FA5}">
                          <a16:colId xmlns:a16="http://schemas.microsoft.com/office/drawing/2014/main" val="2511061875"/>
                        </a:ext>
                      </a:extLst>
                    </a:gridCol>
                    <a:gridCol w="7069162">
                      <a:extLst>
                        <a:ext uri="{9D8B030D-6E8A-4147-A177-3AD203B41FA5}">
                          <a16:colId xmlns:a16="http://schemas.microsoft.com/office/drawing/2014/main" val="760788941"/>
                        </a:ext>
                      </a:extLst>
                    </a:gridCol>
                  </a:tblGrid>
                  <a:tr h="370327">
                    <a:tc>
                      <a:txBody>
                        <a:bodyPr/>
                        <a:lstStyle/>
                        <a:p>
                          <a:pPr indent="266700" algn="ctr">
                            <a:spcAft>
                              <a:spcPts val="0"/>
                            </a:spcAft>
                          </a:pPr>
                          <a:r>
                            <a:rPr lang="zh-CN" sz="2000" kern="100">
                              <a:effectLst/>
                            </a:rPr>
                            <a:t>属性或方法</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ctr">
                            <a:spcAft>
                              <a:spcPts val="0"/>
                            </a:spcAft>
                          </a:pPr>
                          <a:r>
                            <a:rPr lang="zh-CN" sz="2000" kern="100">
                              <a:effectLst/>
                            </a:rPr>
                            <a:t>含义或作用</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31747444"/>
                      </a:ext>
                    </a:extLst>
                  </a:tr>
                  <a:tr h="370327">
                    <a:tc>
                      <a:txBody>
                        <a:bodyPr/>
                        <a:lstStyle/>
                        <a:p>
                          <a:pPr indent="266700" algn="l">
                            <a:spcAft>
                              <a:spcPts val="0"/>
                            </a:spcAft>
                          </a:pPr>
                          <a:r>
                            <a:rPr lang="en-US" sz="2000" kern="100">
                              <a:effectLst/>
                            </a:rPr>
                            <a:t>background</a:t>
                          </a:r>
                          <a:r>
                            <a:rPr lang="zh-CN" sz="2000" kern="100">
                              <a:effectLst/>
                            </a:rPr>
                            <a:t>属性</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a:effectLst/>
                            </a:rPr>
                            <a:t>窗口的背景颜色，该属性可简写为</a:t>
                          </a:r>
                          <a:r>
                            <a:rPr lang="en-US" sz="2000" kern="100">
                              <a:effectLst/>
                            </a:rPr>
                            <a:t>bg</a:t>
                          </a: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89906342"/>
                      </a:ext>
                    </a:extLst>
                  </a:tr>
                  <a:tr h="370327">
                    <a:tc>
                      <a:txBody>
                        <a:bodyPr/>
                        <a:lstStyle/>
                        <a:p>
                          <a:pPr indent="266700" algn="l">
                            <a:spcAft>
                              <a:spcPts val="0"/>
                            </a:spcAft>
                          </a:pPr>
                          <a:r>
                            <a:rPr lang="en-US" sz="2000" kern="100">
                              <a:effectLst/>
                            </a:rPr>
                            <a:t>height</a:t>
                          </a:r>
                          <a:r>
                            <a:rPr lang="zh-CN" sz="2000" kern="100">
                              <a:effectLst/>
                            </a:rPr>
                            <a:t>属性</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a:effectLst/>
                            </a:rPr>
                            <a:t>窗口的高度。</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12328664"/>
                      </a:ext>
                    </a:extLst>
                  </a:tr>
                  <a:tr h="370327">
                    <a:tc>
                      <a:txBody>
                        <a:bodyPr/>
                        <a:lstStyle/>
                        <a:p>
                          <a:pPr indent="266700" algn="l">
                            <a:spcAft>
                              <a:spcPts val="0"/>
                            </a:spcAft>
                          </a:pPr>
                          <a:r>
                            <a:rPr lang="en-US" sz="2000" kern="100">
                              <a:effectLst/>
                            </a:rPr>
                            <a:t>width</a:t>
                          </a:r>
                          <a:r>
                            <a:rPr lang="zh-CN" sz="2000" kern="100">
                              <a:effectLst/>
                            </a:rPr>
                            <a:t>属性</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a:effectLst/>
                            </a:rPr>
                            <a:t>窗口的宽度。</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17598181"/>
                      </a:ext>
                    </a:extLst>
                  </a:tr>
                  <a:tr h="2962614">
                    <a:tc>
                      <a:txBody>
                        <a:bodyPr/>
                        <a:lstStyle/>
                        <a:p>
                          <a:pPr indent="266700" algn="l">
                            <a:spcAft>
                              <a:spcPts val="0"/>
                            </a:spcAft>
                          </a:pPr>
                          <a:r>
                            <a:rPr lang="en-US" sz="2000" kern="100" dirty="0">
                              <a:effectLst/>
                            </a:rPr>
                            <a:t>attributes(self, *</a:t>
                          </a:r>
                          <a:r>
                            <a:rPr lang="en-US" sz="2000" kern="100" dirty="0" err="1">
                              <a:effectLst/>
                            </a:rPr>
                            <a:t>args</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a:effectLst/>
                            </a:rPr>
                            <a:t>设置窗口的属性，注意属性前面的短横杠</a:t>
                          </a:r>
                          <a:r>
                            <a:rPr lang="en-US" sz="2000" kern="100">
                              <a:effectLst/>
                            </a:rPr>
                            <a:t>(-)</a:t>
                          </a:r>
                          <a:r>
                            <a:rPr lang="zh-CN" sz="2000" kern="100">
                              <a:effectLst/>
                            </a:rPr>
                            <a:t>不能少：</a:t>
                          </a:r>
                        </a:p>
                        <a:p>
                          <a:pPr indent="266700" algn="l">
                            <a:spcAft>
                              <a:spcPts val="0"/>
                            </a:spcAft>
                          </a:pPr>
                          <a:r>
                            <a:rPr lang="en-US" sz="2000" kern="100">
                              <a:effectLst/>
                            </a:rPr>
                            <a:t>-toolwindow</a:t>
                          </a:r>
                          <a:r>
                            <a:rPr lang="zh-CN" sz="2000" kern="100">
                              <a:effectLst/>
                            </a:rPr>
                            <a:t>：可设置窗口为工具栏样式；</a:t>
                          </a:r>
                        </a:p>
                        <a:p>
                          <a:pPr indent="266700" algn="l">
                            <a:spcAft>
                              <a:spcPts val="0"/>
                            </a:spcAft>
                          </a:pPr>
                          <a:r>
                            <a:rPr lang="en-US" sz="2000" kern="100">
                              <a:effectLst/>
                            </a:rPr>
                            <a:t>-alpha</a:t>
                          </a:r>
                          <a:r>
                            <a:rPr lang="zh-CN" sz="2000" kern="100">
                              <a:effectLst/>
                            </a:rPr>
                            <a:t>：可设置透明度，</a:t>
                          </a:r>
                          <a:r>
                            <a:rPr lang="en-US" sz="2000" kern="100">
                              <a:effectLst/>
                            </a:rPr>
                            <a:t>0</a:t>
                          </a:r>
                          <a:r>
                            <a:rPr lang="zh-CN" sz="2000" kern="100">
                              <a:effectLst/>
                            </a:rPr>
                            <a:t>完全透明，</a:t>
                          </a:r>
                          <a:r>
                            <a:rPr lang="en-US" sz="2000" kern="100">
                              <a:effectLst/>
                            </a:rPr>
                            <a:t>1</a:t>
                          </a:r>
                          <a:r>
                            <a:rPr lang="zh-CN" sz="2000" kern="100">
                              <a:effectLst/>
                            </a:rPr>
                            <a:t>不透明；</a:t>
                          </a:r>
                        </a:p>
                        <a:p>
                          <a:pPr indent="266700" algn="l">
                            <a:spcAft>
                              <a:spcPts val="0"/>
                            </a:spcAft>
                          </a:pPr>
                          <a:r>
                            <a:rPr lang="en-US" sz="2000" kern="100">
                              <a:effectLst/>
                            </a:rPr>
                            <a:t>-fullscreen</a:t>
                          </a:r>
                          <a:r>
                            <a:rPr lang="zh-CN" sz="2000" kern="100">
                              <a:effectLst/>
                            </a:rPr>
                            <a:t>：设置全屏；</a:t>
                          </a:r>
                        </a:p>
                        <a:p>
                          <a:pPr indent="266700" algn="l">
                            <a:spcAft>
                              <a:spcPts val="0"/>
                            </a:spcAft>
                          </a:pPr>
                          <a:r>
                            <a:rPr lang="en-US" sz="2000" kern="100">
                              <a:effectLst/>
                            </a:rPr>
                            <a:t>-topmost</a:t>
                          </a:r>
                          <a:r>
                            <a:rPr lang="zh-CN" sz="2000" kern="100">
                              <a:effectLst/>
                            </a:rPr>
                            <a:t>：设置窗口置顶。两个同时被置顶的窗口为同级（能互相遮盖），但它们都能同时遮盖住没有被设置为置顶的窗口。</a:t>
                          </a:r>
                        </a:p>
                        <a:p>
                          <a:pPr indent="266700" algn="l">
                            <a:spcAft>
                              <a:spcPts val="0"/>
                            </a:spcAft>
                          </a:pPr>
                          <a:r>
                            <a:rPr lang="zh-CN" sz="2000" kern="100">
                              <a:effectLst/>
                            </a:rPr>
                            <a:t>例如：</a:t>
                          </a:r>
                          <a:r>
                            <a:rPr lang="en-US" sz="2000" kern="100">
                              <a:effectLst/>
                            </a:rPr>
                            <a:t>win.attributes("-toolwindow", True)</a:t>
                          </a:r>
                          <a:r>
                            <a:rPr lang="zh-CN" sz="2000" kern="100">
                              <a:effectLst/>
                            </a:rPr>
                            <a:t>、</a:t>
                          </a:r>
                          <a:r>
                            <a:rPr lang="en-US" sz="2000" kern="100">
                              <a:effectLst/>
                            </a:rPr>
                            <a:t>win.attributes("-fullscreen", True)</a:t>
                          </a:r>
                          <a:r>
                            <a:rPr lang="zh-CN" sz="2000" kern="100">
                              <a:effectLst/>
                            </a:rPr>
                            <a:t>等。</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52004508"/>
                      </a:ext>
                    </a:extLst>
                  </a:tr>
                  <a:tr h="740654">
                    <a:tc>
                      <a:txBody>
                        <a:bodyPr/>
                        <a:lstStyle/>
                        <a:p>
                          <a:pPr indent="266700" algn="l">
                            <a:spcAft>
                              <a:spcPts val="0"/>
                            </a:spcAft>
                          </a:pPr>
                          <a:r>
                            <a:rPr lang="en-US" sz="2000" kern="100">
                              <a:effectLst/>
                            </a:rPr>
                            <a:t>geometry(self, newGeometry =None)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endParaRPr lang="zh-CN"/>
                        </a:p>
                      </a:txBody>
                      <a:tcPr marL="68580" marR="68580" marT="0" marB="0">
                        <a:blipFill>
                          <a:blip r:embed="rId2"/>
                          <a:stretch>
                            <a:fillRect l="-51897" t="-609016" r="-345" b="-2459"/>
                          </a:stretch>
                        </a:blipFill>
                      </a:tcPr>
                    </a:tc>
                    <a:extLst>
                      <a:ext uri="{0D108BD9-81ED-4DB2-BD59-A6C34878D82A}">
                        <a16:rowId xmlns:a16="http://schemas.microsoft.com/office/drawing/2014/main" val="3131702478"/>
                      </a:ext>
                    </a:extLst>
                  </a:tr>
                </a:tbl>
              </a:graphicData>
            </a:graphic>
          </p:graphicFrame>
        </mc:Fallback>
      </mc:AlternateContent>
      <p:sp>
        <p:nvSpPr>
          <p:cNvPr id="3" name="灯片编号占位符 2">
            <a:extLst>
              <a:ext uri="{FF2B5EF4-FFF2-40B4-BE49-F238E27FC236}">
                <a16:creationId xmlns:a16="http://schemas.microsoft.com/office/drawing/2014/main" id="{288B4873-6C02-47AB-95DC-567377348557}"/>
              </a:ext>
            </a:extLst>
          </p:cNvPr>
          <p:cNvSpPr>
            <a:spLocks noGrp="1"/>
          </p:cNvSpPr>
          <p:nvPr>
            <p:ph type="sldNum" sz="quarter" idx="12"/>
          </p:nvPr>
        </p:nvSpPr>
        <p:spPr/>
        <p:txBody>
          <a:bodyPr/>
          <a:lstStyle/>
          <a:p>
            <a:fld id="{49AE70B2-8BF9-45C0-BB95-33D1B9D3A854}" type="slidenum">
              <a:rPr lang="zh-CN" altLang="en-US" smtClean="0"/>
              <a:t>10</a:t>
            </a:fld>
            <a:endParaRPr lang="zh-CN" altLang="en-US"/>
          </a:p>
        </p:txBody>
      </p:sp>
    </p:spTree>
    <p:extLst>
      <p:ext uri="{BB962C8B-B14F-4D97-AF65-F5344CB8AC3E}">
        <p14:creationId xmlns:p14="http://schemas.microsoft.com/office/powerpoint/2010/main" val="2611763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窗口对象常用的属性和方法</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951648728"/>
              </p:ext>
            </p:extLst>
          </p:nvPr>
        </p:nvGraphicFramePr>
        <p:xfrm>
          <a:off x="911424" y="1268760"/>
          <a:ext cx="10729192" cy="5004512"/>
        </p:xfrm>
        <a:graphic>
          <a:graphicData uri="http://schemas.openxmlformats.org/drawingml/2006/table">
            <a:tbl>
              <a:tblPr firstRow="1" firstCol="1" bandRow="1">
                <a:tableStyleId>{5C22544A-7EE6-4342-B048-85BDC9FD1C3A}</a:tableStyleId>
              </a:tblPr>
              <a:tblGrid>
                <a:gridCol w="3660030">
                  <a:extLst>
                    <a:ext uri="{9D8B030D-6E8A-4147-A177-3AD203B41FA5}">
                      <a16:colId xmlns:a16="http://schemas.microsoft.com/office/drawing/2014/main" val="2511061875"/>
                    </a:ext>
                  </a:extLst>
                </a:gridCol>
                <a:gridCol w="7069162">
                  <a:extLst>
                    <a:ext uri="{9D8B030D-6E8A-4147-A177-3AD203B41FA5}">
                      <a16:colId xmlns:a16="http://schemas.microsoft.com/office/drawing/2014/main" val="760788941"/>
                    </a:ext>
                  </a:extLst>
                </a:gridCol>
              </a:tblGrid>
              <a:tr h="370327">
                <a:tc>
                  <a:txBody>
                    <a:bodyPr/>
                    <a:lstStyle/>
                    <a:p>
                      <a:pPr indent="266700" algn="ctr">
                        <a:spcAft>
                          <a:spcPts val="0"/>
                        </a:spcAft>
                      </a:pPr>
                      <a:r>
                        <a:rPr lang="zh-CN" sz="2000" kern="100" dirty="0">
                          <a:effectLst/>
                        </a:rPr>
                        <a:t>属性或方法</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ctr">
                        <a:spcAft>
                          <a:spcPts val="0"/>
                        </a:spcAft>
                      </a:pPr>
                      <a:r>
                        <a:rPr lang="zh-CN" sz="2000" kern="100">
                          <a:effectLst/>
                        </a:rPr>
                        <a:t>含义或作用</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31747444"/>
                  </a:ext>
                </a:extLst>
              </a:tr>
              <a:tr h="370327">
                <a:tc>
                  <a:txBody>
                    <a:bodyPr/>
                    <a:lstStyle/>
                    <a:p>
                      <a:pPr indent="266700" algn="l">
                        <a:spcAft>
                          <a:spcPts val="0"/>
                        </a:spcAft>
                      </a:pPr>
                      <a:r>
                        <a:rPr lang="en-US" sz="2000" kern="100" dirty="0" err="1">
                          <a:effectLst/>
                          <a:latin typeface="Calibri" panose="020F0502020204030204" pitchFamily="34" charset="0"/>
                          <a:ea typeface="宋体" panose="02010600030101010101" pitchFamily="2" charset="-122"/>
                          <a:cs typeface="Times New Roman" panose="02020603050405020304" pitchFamily="18" charset="0"/>
                        </a:rPr>
                        <a:t>minsize</a:t>
                      </a:r>
                      <a:r>
                        <a:rPr lang="en-US" sz="2000" kern="100" dirty="0">
                          <a:effectLst/>
                          <a:latin typeface="Calibri" panose="020F0502020204030204" pitchFamily="34" charset="0"/>
                          <a:ea typeface="宋体" panose="02010600030101010101" pitchFamily="2" charset="-122"/>
                          <a:cs typeface="Times New Roman" panose="02020603050405020304" pitchFamily="18" charset="0"/>
                        </a:rPr>
                        <a:t>(self, width=None, height=None)</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a:effectLst/>
                          <a:latin typeface="Calibri" panose="020F0502020204030204" pitchFamily="34" charset="0"/>
                          <a:ea typeface="宋体" panose="02010600030101010101" pitchFamily="2" charset="-122"/>
                          <a:cs typeface="Times New Roman" panose="02020603050405020304" pitchFamily="18" charset="0"/>
                        </a:rPr>
                        <a:t>设置窗口的最小尺寸，参数</a:t>
                      </a:r>
                      <a:r>
                        <a:rPr lang="en-US" sz="2000" kern="100">
                          <a:effectLst/>
                          <a:latin typeface="Calibri" panose="020F0502020204030204" pitchFamily="34" charset="0"/>
                          <a:ea typeface="宋体" panose="02010600030101010101" pitchFamily="2" charset="-122"/>
                          <a:cs typeface="Times New Roman" panose="02020603050405020304" pitchFamily="18" charset="0"/>
                        </a:rPr>
                        <a:t>width</a:t>
                      </a:r>
                      <a:r>
                        <a:rPr lang="zh-CN" sz="2000" kern="100">
                          <a:effectLst/>
                          <a:latin typeface="Calibri" panose="020F0502020204030204" pitchFamily="34" charset="0"/>
                          <a:ea typeface="宋体" panose="02010600030101010101" pitchFamily="2" charset="-122"/>
                          <a:cs typeface="Times New Roman" panose="02020603050405020304" pitchFamily="18" charset="0"/>
                        </a:rPr>
                        <a:t>指定最小宽度，参数</a:t>
                      </a:r>
                      <a:r>
                        <a:rPr lang="en-US" sz="2000" kern="100">
                          <a:effectLst/>
                          <a:latin typeface="Calibri" panose="020F0502020204030204" pitchFamily="34" charset="0"/>
                          <a:ea typeface="宋体" panose="02010600030101010101" pitchFamily="2" charset="-122"/>
                          <a:cs typeface="Times New Roman" panose="02020603050405020304" pitchFamily="18" charset="0"/>
                        </a:rPr>
                        <a:t>height</a:t>
                      </a:r>
                      <a:r>
                        <a:rPr lang="zh-CN" sz="2000" kern="100">
                          <a:effectLst/>
                          <a:latin typeface="Calibri" panose="020F0502020204030204" pitchFamily="34" charset="0"/>
                          <a:ea typeface="宋体" panose="02010600030101010101" pitchFamily="2" charset="-122"/>
                          <a:cs typeface="Times New Roman" panose="02020603050405020304" pitchFamily="18" charset="0"/>
                        </a:rPr>
                        <a:t>指定最小高度。</a:t>
                      </a:r>
                      <a:endParaRPr lang="zh-CN" sz="2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89906342"/>
                  </a:ext>
                </a:extLst>
              </a:tr>
              <a:tr h="370327">
                <a:tc>
                  <a:txBody>
                    <a:bodyPr/>
                    <a:lstStyle/>
                    <a:p>
                      <a:pPr indent="266700" algn="l">
                        <a:spcAft>
                          <a:spcPts val="0"/>
                        </a:spcAft>
                      </a:pPr>
                      <a:r>
                        <a:rPr lang="en-US" sz="2000" kern="100" dirty="0" err="1">
                          <a:effectLst/>
                          <a:latin typeface="Calibri" panose="020F0502020204030204" pitchFamily="34" charset="0"/>
                          <a:ea typeface="宋体" panose="02010600030101010101" pitchFamily="2" charset="-122"/>
                          <a:cs typeface="Times New Roman" panose="02020603050405020304" pitchFamily="18" charset="0"/>
                        </a:rPr>
                        <a:t>maxsize</a:t>
                      </a:r>
                      <a:r>
                        <a:rPr lang="en-US" sz="2000" kern="100" dirty="0">
                          <a:effectLst/>
                          <a:latin typeface="Calibri" panose="020F0502020204030204" pitchFamily="34" charset="0"/>
                          <a:ea typeface="宋体" panose="02010600030101010101" pitchFamily="2" charset="-122"/>
                          <a:cs typeface="Times New Roman" panose="02020603050405020304" pitchFamily="18" charset="0"/>
                        </a:rPr>
                        <a:t>(self, width=None, height=None)</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a:effectLst/>
                          <a:latin typeface="Calibri" panose="020F0502020204030204" pitchFamily="34" charset="0"/>
                          <a:ea typeface="宋体" panose="02010600030101010101" pitchFamily="2" charset="-122"/>
                          <a:cs typeface="Times New Roman" panose="02020603050405020304" pitchFamily="18" charset="0"/>
                        </a:rPr>
                        <a:t>设置窗口的最大尺寸，参数</a:t>
                      </a:r>
                      <a:r>
                        <a:rPr lang="en-US" sz="2000" kern="100">
                          <a:effectLst/>
                          <a:latin typeface="Calibri" panose="020F0502020204030204" pitchFamily="34" charset="0"/>
                          <a:ea typeface="宋体" panose="02010600030101010101" pitchFamily="2" charset="-122"/>
                          <a:cs typeface="Times New Roman" panose="02020603050405020304" pitchFamily="18" charset="0"/>
                        </a:rPr>
                        <a:t>width</a:t>
                      </a:r>
                      <a:r>
                        <a:rPr lang="zh-CN" sz="2000" kern="100">
                          <a:effectLst/>
                          <a:latin typeface="Calibri" panose="020F0502020204030204" pitchFamily="34" charset="0"/>
                          <a:ea typeface="宋体" panose="02010600030101010101" pitchFamily="2" charset="-122"/>
                          <a:cs typeface="Times New Roman" panose="02020603050405020304" pitchFamily="18" charset="0"/>
                        </a:rPr>
                        <a:t>指定最大宽度，参数</a:t>
                      </a:r>
                      <a:r>
                        <a:rPr lang="en-US" sz="2000" kern="100">
                          <a:effectLst/>
                          <a:latin typeface="Calibri" panose="020F0502020204030204" pitchFamily="34" charset="0"/>
                          <a:ea typeface="宋体" panose="02010600030101010101" pitchFamily="2" charset="-122"/>
                          <a:cs typeface="Times New Roman" panose="02020603050405020304" pitchFamily="18" charset="0"/>
                        </a:rPr>
                        <a:t>height</a:t>
                      </a:r>
                      <a:r>
                        <a:rPr lang="zh-CN" sz="2000" kern="100">
                          <a:effectLst/>
                          <a:latin typeface="Calibri" panose="020F0502020204030204" pitchFamily="34" charset="0"/>
                          <a:ea typeface="宋体" panose="02010600030101010101" pitchFamily="2" charset="-122"/>
                          <a:cs typeface="Times New Roman" panose="02020603050405020304" pitchFamily="18" charset="0"/>
                        </a:rPr>
                        <a:t>指定最大高度。</a:t>
                      </a:r>
                      <a:endParaRPr lang="zh-CN" sz="2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12328664"/>
                  </a:ext>
                </a:extLst>
              </a:tr>
              <a:tr h="545203">
                <a:tc>
                  <a:txBody>
                    <a:bodyPr/>
                    <a:lstStyle/>
                    <a:p>
                      <a:pPr indent="266700" algn="l">
                        <a:spcAft>
                          <a:spcPts val="0"/>
                        </a:spcAft>
                      </a:pPr>
                      <a:r>
                        <a:rPr lang="en-US" sz="2000" kern="100" dirty="0" err="1">
                          <a:effectLst/>
                          <a:latin typeface="Calibri" panose="020F0502020204030204" pitchFamily="34" charset="0"/>
                          <a:ea typeface="宋体" panose="02010600030101010101" pitchFamily="2" charset="-122"/>
                          <a:cs typeface="Times New Roman" panose="02020603050405020304" pitchFamily="18" charset="0"/>
                        </a:rPr>
                        <a:t>overrideredirect</a:t>
                      </a:r>
                      <a:r>
                        <a:rPr lang="en-US" sz="2000" kern="100" dirty="0">
                          <a:effectLst/>
                          <a:latin typeface="Calibri" panose="020F0502020204030204" pitchFamily="34" charset="0"/>
                          <a:ea typeface="宋体" panose="02010600030101010101" pitchFamily="2" charset="-122"/>
                          <a:cs typeface="Times New Roman" panose="02020603050405020304" pitchFamily="18" charset="0"/>
                        </a:rPr>
                        <a:t>(self, </a:t>
                      </a:r>
                      <a:r>
                        <a:rPr lang="en-US" sz="2000" kern="100" dirty="0" err="1">
                          <a:effectLst/>
                          <a:latin typeface="Calibri" panose="020F0502020204030204" pitchFamily="34" charset="0"/>
                          <a:ea typeface="宋体" panose="02010600030101010101" pitchFamily="2" charset="-122"/>
                          <a:cs typeface="Times New Roman" panose="02020603050405020304" pitchFamily="18" charset="0"/>
                        </a:rPr>
                        <a:t>boolean</a:t>
                      </a:r>
                      <a:r>
                        <a:rPr lang="en-US" sz="2000" kern="100" dirty="0">
                          <a:effectLst/>
                          <a:latin typeface="Calibri" panose="020F0502020204030204" pitchFamily="34" charset="0"/>
                          <a:ea typeface="宋体" panose="02010600030101010101" pitchFamily="2" charset="-122"/>
                          <a:cs typeface="Times New Roman" panose="02020603050405020304" pitchFamily="18" charset="0"/>
                        </a:rPr>
                        <a:t>=None)</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a:effectLst/>
                          <a:latin typeface="Calibri" panose="020F0502020204030204" pitchFamily="34" charset="0"/>
                          <a:ea typeface="宋体" panose="02010600030101010101" pitchFamily="2" charset="-122"/>
                          <a:cs typeface="Times New Roman" panose="02020603050405020304" pitchFamily="18" charset="0"/>
                        </a:rPr>
                        <a:t>参数</a:t>
                      </a:r>
                      <a:r>
                        <a:rPr lang="en-US" sz="2000" kern="100">
                          <a:effectLst/>
                          <a:latin typeface="Calibri" panose="020F0502020204030204" pitchFamily="34" charset="0"/>
                          <a:ea typeface="宋体" panose="02010600030101010101" pitchFamily="2" charset="-122"/>
                          <a:cs typeface="Times New Roman" panose="02020603050405020304" pitchFamily="18" charset="0"/>
                        </a:rPr>
                        <a:t>boolean</a:t>
                      </a:r>
                      <a:r>
                        <a:rPr lang="zh-CN" sz="2000" kern="100">
                          <a:effectLst/>
                          <a:latin typeface="Calibri" panose="020F0502020204030204" pitchFamily="34" charset="0"/>
                          <a:ea typeface="宋体" panose="02010600030101010101" pitchFamily="2" charset="-122"/>
                          <a:cs typeface="Times New Roman" panose="02020603050405020304" pitchFamily="18" charset="0"/>
                        </a:rPr>
                        <a:t>为</a:t>
                      </a:r>
                      <a:r>
                        <a:rPr lang="en-US" sz="2000" kern="100">
                          <a:effectLst/>
                          <a:latin typeface="Calibri" panose="020F0502020204030204" pitchFamily="34" charset="0"/>
                          <a:ea typeface="宋体" panose="02010600030101010101" pitchFamily="2" charset="-122"/>
                          <a:cs typeface="Times New Roman" panose="02020603050405020304" pitchFamily="18" charset="0"/>
                        </a:rPr>
                        <a:t>True</a:t>
                      </a:r>
                      <a:r>
                        <a:rPr lang="zh-CN" sz="2000" kern="100">
                          <a:effectLst/>
                          <a:latin typeface="Calibri" panose="020F0502020204030204" pitchFamily="34" charset="0"/>
                          <a:ea typeface="宋体" panose="02010600030101010101" pitchFamily="2" charset="-122"/>
                          <a:cs typeface="Times New Roman" panose="02020603050405020304" pitchFamily="18" charset="0"/>
                        </a:rPr>
                        <a:t>则去掉窗口的框架，脱离</a:t>
                      </a:r>
                      <a:r>
                        <a:rPr lang="en-US" sz="2000" kern="100">
                          <a:effectLst/>
                          <a:latin typeface="Calibri" panose="020F0502020204030204" pitchFamily="34" charset="0"/>
                          <a:ea typeface="宋体" panose="02010600030101010101" pitchFamily="2" charset="-122"/>
                          <a:cs typeface="Times New Roman" panose="02020603050405020304" pitchFamily="18" charset="0"/>
                        </a:rPr>
                        <a:t>windows</a:t>
                      </a:r>
                      <a:r>
                        <a:rPr lang="zh-CN" sz="2000" kern="100">
                          <a:effectLst/>
                          <a:latin typeface="Calibri" panose="020F0502020204030204" pitchFamily="34" charset="0"/>
                          <a:ea typeface="宋体" panose="02010600030101010101" pitchFamily="2" charset="-122"/>
                          <a:cs typeface="Times New Roman" panose="02020603050405020304" pitchFamily="18" charset="0"/>
                        </a:rPr>
                        <a:t>窗口管理，此时不能拖动窗口，也不会出现在任务栏。</a:t>
                      </a:r>
                      <a:endParaRPr lang="zh-CN" sz="2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17598181"/>
                  </a:ext>
                </a:extLst>
              </a:tr>
              <a:tr h="360040">
                <a:tc>
                  <a:txBody>
                    <a:bodyPr/>
                    <a:lstStyle/>
                    <a:p>
                      <a:pPr indent="266700" algn="l">
                        <a:spcAft>
                          <a:spcPts val="0"/>
                        </a:spcAft>
                      </a:pPr>
                      <a:r>
                        <a:rPr lang="en-US" sz="2000" kern="100" dirty="0" err="1">
                          <a:effectLst/>
                          <a:latin typeface="Calibri" panose="020F0502020204030204" pitchFamily="34" charset="0"/>
                          <a:ea typeface="宋体" panose="02010600030101010101" pitchFamily="2" charset="-122"/>
                          <a:cs typeface="Times New Roman" panose="02020603050405020304" pitchFamily="18" charset="0"/>
                        </a:rPr>
                        <a:t>winfo_screenwidth</a:t>
                      </a:r>
                      <a:r>
                        <a:rPr lang="en-US" sz="2000" kern="100" dirty="0">
                          <a:effectLst/>
                          <a:latin typeface="Calibri" panose="020F0502020204030204" pitchFamily="34" charset="0"/>
                          <a:ea typeface="宋体" panose="02010600030101010101" pitchFamily="2" charset="-122"/>
                          <a:cs typeface="Times New Roman" panose="02020603050405020304" pitchFamily="18" charset="0"/>
                        </a:rPr>
                        <a:t>()</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dirty="0">
                          <a:effectLst/>
                          <a:latin typeface="Calibri" panose="020F0502020204030204" pitchFamily="34" charset="0"/>
                          <a:ea typeface="宋体" panose="02010600030101010101" pitchFamily="2" charset="-122"/>
                          <a:cs typeface="Times New Roman" panose="02020603050405020304" pitchFamily="18" charset="0"/>
                        </a:rPr>
                        <a:t>获取屏幕分辨率的宽度。</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52004508"/>
                  </a:ext>
                </a:extLst>
              </a:tr>
              <a:tr h="360040">
                <a:tc>
                  <a:txBody>
                    <a:bodyPr/>
                    <a:lstStyle/>
                    <a:p>
                      <a:pPr indent="266700" algn="l">
                        <a:spcAft>
                          <a:spcPts val="0"/>
                        </a:spcAft>
                      </a:pPr>
                      <a:r>
                        <a:rPr lang="en-US" sz="2000" kern="100">
                          <a:effectLst/>
                          <a:latin typeface="Calibri" panose="020F0502020204030204" pitchFamily="34" charset="0"/>
                          <a:ea typeface="宋体" panose="02010600030101010101" pitchFamily="2" charset="-122"/>
                          <a:cs typeface="Times New Roman" panose="02020603050405020304" pitchFamily="18" charset="0"/>
                        </a:rPr>
                        <a:t>winfo_screenheight()</a:t>
                      </a:r>
                      <a:endParaRPr lang="zh-CN" sz="2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dirty="0">
                          <a:effectLst/>
                          <a:latin typeface="Calibri" panose="020F0502020204030204" pitchFamily="34" charset="0"/>
                          <a:ea typeface="宋体" panose="02010600030101010101" pitchFamily="2" charset="-122"/>
                          <a:cs typeface="Times New Roman" panose="02020603050405020304" pitchFamily="18" charset="0"/>
                        </a:rPr>
                        <a:t>获取屏幕分辨率的高度。</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31702478"/>
                  </a:ext>
                </a:extLst>
              </a:tr>
              <a:tr h="288032">
                <a:tc>
                  <a:txBody>
                    <a:bodyPr/>
                    <a:lstStyle/>
                    <a:p>
                      <a:pPr indent="266700" algn="l">
                        <a:spcAft>
                          <a:spcPts val="0"/>
                        </a:spcAft>
                      </a:pPr>
                      <a:r>
                        <a:rPr lang="en-US" sz="2000" kern="100">
                          <a:effectLst/>
                          <a:latin typeface="Calibri" panose="020F0502020204030204" pitchFamily="34" charset="0"/>
                          <a:ea typeface="宋体" panose="02010600030101010101" pitchFamily="2" charset="-122"/>
                          <a:cs typeface="Times New Roman" panose="02020603050405020304" pitchFamily="18" charset="0"/>
                        </a:rPr>
                        <a:t>title(self, string=None)</a:t>
                      </a:r>
                      <a:endParaRPr lang="zh-CN" sz="2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dirty="0">
                          <a:effectLst/>
                          <a:latin typeface="Calibri" panose="020F0502020204030204" pitchFamily="34" charset="0"/>
                          <a:ea typeface="宋体" panose="02010600030101010101" pitchFamily="2" charset="-122"/>
                          <a:cs typeface="Times New Roman" panose="02020603050405020304" pitchFamily="18" charset="0"/>
                        </a:rPr>
                        <a:t>参数</a:t>
                      </a:r>
                      <a:r>
                        <a:rPr lang="en-US" sz="2000" kern="100" dirty="0">
                          <a:effectLst/>
                          <a:latin typeface="Calibri" panose="020F0502020204030204" pitchFamily="34" charset="0"/>
                          <a:ea typeface="宋体" panose="02010600030101010101" pitchFamily="2" charset="-122"/>
                          <a:cs typeface="Times New Roman" panose="02020603050405020304" pitchFamily="18" charset="0"/>
                        </a:rPr>
                        <a:t>string</a:t>
                      </a:r>
                      <a:r>
                        <a:rPr lang="zh-CN" sz="2000" kern="100" dirty="0">
                          <a:effectLst/>
                          <a:latin typeface="Calibri" panose="020F0502020204030204" pitchFamily="34" charset="0"/>
                          <a:ea typeface="宋体" panose="02010600030101010101" pitchFamily="2" charset="-122"/>
                          <a:cs typeface="Times New Roman" panose="02020603050405020304" pitchFamily="18" charset="0"/>
                        </a:rPr>
                        <a:t>指定窗口的新标题内容，无参时返回现有标题的内容。</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38501740"/>
                  </a:ext>
                </a:extLst>
              </a:tr>
              <a:tr h="740654">
                <a:tc>
                  <a:txBody>
                    <a:bodyPr/>
                    <a:lstStyle/>
                    <a:p>
                      <a:pPr indent="266700" algn="l">
                        <a:spcAft>
                          <a:spcPts val="0"/>
                        </a:spcAft>
                      </a:pPr>
                      <a:r>
                        <a:rPr lang="en-US" sz="2000" kern="100">
                          <a:effectLst/>
                          <a:latin typeface="Calibri" panose="020F0502020204030204" pitchFamily="34" charset="0"/>
                          <a:ea typeface="宋体" panose="02010600030101010101" pitchFamily="2" charset="-122"/>
                          <a:cs typeface="Times New Roman" panose="02020603050405020304" pitchFamily="18" charset="0"/>
                        </a:rPr>
                        <a:t>resizable(self, width=None, height=None)</a:t>
                      </a:r>
                      <a:endParaRPr lang="zh-CN" sz="2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en-US" sz="2000" kern="100" dirty="0">
                          <a:effectLst/>
                          <a:latin typeface="Calibri" panose="020F0502020204030204" pitchFamily="34" charset="0"/>
                          <a:ea typeface="宋体" panose="02010600030101010101" pitchFamily="2" charset="-122"/>
                          <a:cs typeface="Times New Roman" panose="02020603050405020304" pitchFamily="18" charset="0"/>
                        </a:rPr>
                        <a:t>width</a:t>
                      </a:r>
                      <a:r>
                        <a:rPr lang="zh-CN" sz="2000" kern="100" dirty="0">
                          <a:effectLst/>
                          <a:latin typeface="Calibri" panose="020F0502020204030204" pitchFamily="34" charset="0"/>
                          <a:ea typeface="宋体" panose="02010600030101010101" pitchFamily="2" charset="-122"/>
                          <a:cs typeface="Times New Roman" panose="02020603050405020304" pitchFamily="18" charset="0"/>
                        </a:rPr>
                        <a:t>参数指定窗口的宽度是否可调，</a:t>
                      </a:r>
                      <a:r>
                        <a:rPr lang="en-US" sz="2000" kern="100" dirty="0">
                          <a:effectLst/>
                          <a:latin typeface="Calibri" panose="020F0502020204030204" pitchFamily="34" charset="0"/>
                          <a:ea typeface="宋体" panose="02010600030101010101" pitchFamily="2" charset="-122"/>
                          <a:cs typeface="Times New Roman" panose="02020603050405020304" pitchFamily="18" charset="0"/>
                        </a:rPr>
                        <a:t>height</a:t>
                      </a:r>
                      <a:r>
                        <a:rPr lang="zh-CN" sz="2000" kern="100" dirty="0">
                          <a:effectLst/>
                          <a:latin typeface="Calibri" panose="020F0502020204030204" pitchFamily="34" charset="0"/>
                          <a:ea typeface="宋体" panose="02010600030101010101" pitchFamily="2" charset="-122"/>
                          <a:cs typeface="Times New Roman" panose="02020603050405020304" pitchFamily="18" charset="0"/>
                        </a:rPr>
                        <a:t>参数指定窗口的高度是否可调。</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112500894"/>
                  </a:ext>
                </a:extLst>
              </a:tr>
              <a:tr h="339051">
                <a:tc>
                  <a:txBody>
                    <a:bodyPr/>
                    <a:lstStyle/>
                    <a:p>
                      <a:pPr indent="266700" algn="l">
                        <a:spcAft>
                          <a:spcPts val="0"/>
                        </a:spcAft>
                      </a:pPr>
                      <a:r>
                        <a:rPr lang="en-US" sz="2000" kern="100">
                          <a:effectLst/>
                          <a:latin typeface="Calibri" panose="020F0502020204030204" pitchFamily="34" charset="0"/>
                          <a:ea typeface="宋体" panose="02010600030101010101" pitchFamily="2" charset="-122"/>
                          <a:cs typeface="Times New Roman" panose="02020603050405020304" pitchFamily="18" charset="0"/>
                        </a:rPr>
                        <a:t>state(self, newstate=None)</a:t>
                      </a:r>
                      <a:endParaRPr lang="zh-CN" sz="2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dirty="0">
                          <a:effectLst/>
                          <a:latin typeface="Calibri" panose="020F0502020204030204" pitchFamily="34" charset="0"/>
                          <a:ea typeface="宋体" panose="02010600030101010101" pitchFamily="2" charset="-122"/>
                          <a:cs typeface="Times New Roman" panose="02020603050405020304" pitchFamily="18" charset="0"/>
                        </a:rPr>
                        <a:t>参数</a:t>
                      </a:r>
                      <a:r>
                        <a:rPr lang="en-US" sz="2000" kern="100" dirty="0" err="1">
                          <a:effectLst/>
                          <a:latin typeface="Calibri" panose="020F0502020204030204" pitchFamily="34" charset="0"/>
                          <a:ea typeface="宋体" panose="02010600030101010101" pitchFamily="2" charset="-122"/>
                          <a:cs typeface="Times New Roman" panose="02020603050405020304" pitchFamily="18" charset="0"/>
                        </a:rPr>
                        <a:t>newstate</a:t>
                      </a:r>
                      <a:r>
                        <a:rPr lang="zh-CN" sz="2000" kern="100" dirty="0">
                          <a:effectLst/>
                          <a:latin typeface="Calibri" panose="020F0502020204030204" pitchFamily="34" charset="0"/>
                          <a:ea typeface="宋体" panose="02010600030101010101" pitchFamily="2" charset="-122"/>
                          <a:cs typeface="Times New Roman" panose="02020603050405020304" pitchFamily="18" charset="0"/>
                        </a:rPr>
                        <a:t>指定窗口的模式。</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02581085"/>
                  </a:ext>
                </a:extLst>
              </a:tr>
              <a:tr h="396000">
                <a:tc>
                  <a:txBody>
                    <a:bodyPr/>
                    <a:lstStyle/>
                    <a:p>
                      <a:pPr indent="266700" algn="l">
                        <a:spcAft>
                          <a:spcPts val="0"/>
                        </a:spcAft>
                      </a:pPr>
                      <a:r>
                        <a:rPr lang="en-US" sz="2000" kern="100" dirty="0" err="1">
                          <a:effectLst/>
                          <a:latin typeface="Calibri" panose="020F0502020204030204" pitchFamily="34" charset="0"/>
                          <a:ea typeface="宋体" panose="02010600030101010101" pitchFamily="2" charset="-122"/>
                          <a:cs typeface="Times New Roman" panose="02020603050405020304" pitchFamily="18" charset="0"/>
                        </a:rPr>
                        <a:t>mainloop</a:t>
                      </a:r>
                      <a:r>
                        <a:rPr lang="en-US" sz="2000" kern="100" dirty="0">
                          <a:effectLst/>
                          <a:latin typeface="Calibri" panose="020F0502020204030204" pitchFamily="34" charset="0"/>
                          <a:ea typeface="宋体" panose="02010600030101010101" pitchFamily="2" charset="-122"/>
                          <a:cs typeface="Times New Roman" panose="02020603050405020304" pitchFamily="18" charset="0"/>
                        </a:rPr>
                        <a:t>(n=0)</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l">
                        <a:spcAft>
                          <a:spcPts val="0"/>
                        </a:spcAft>
                      </a:pPr>
                      <a:r>
                        <a:rPr lang="zh-CN" sz="2000" kern="100" dirty="0">
                          <a:effectLst/>
                          <a:latin typeface="Calibri" panose="020F0502020204030204" pitchFamily="34" charset="0"/>
                          <a:ea typeface="宋体" panose="02010600030101010101" pitchFamily="2" charset="-122"/>
                          <a:cs typeface="Times New Roman" panose="02020603050405020304" pitchFamily="18" charset="0"/>
                        </a:rPr>
                        <a:t>调用该方法进入窗口的主事件循环。</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52946236"/>
                  </a:ext>
                </a:extLst>
              </a:tr>
            </a:tbl>
          </a:graphicData>
        </a:graphic>
      </p:graphicFrame>
      <p:sp>
        <p:nvSpPr>
          <p:cNvPr id="3" name="灯片编号占位符 2">
            <a:extLst>
              <a:ext uri="{FF2B5EF4-FFF2-40B4-BE49-F238E27FC236}">
                <a16:creationId xmlns:a16="http://schemas.microsoft.com/office/drawing/2014/main" id="{4DA898DB-E3B9-4D76-A50E-E86B0504877A}"/>
              </a:ext>
            </a:extLst>
          </p:cNvPr>
          <p:cNvSpPr>
            <a:spLocks noGrp="1"/>
          </p:cNvSpPr>
          <p:nvPr>
            <p:ph type="sldNum" sz="quarter" idx="12"/>
          </p:nvPr>
        </p:nvSpPr>
        <p:spPr/>
        <p:txBody>
          <a:bodyPr/>
          <a:lstStyle/>
          <a:p>
            <a:fld id="{49AE70B2-8BF9-45C0-BB95-33D1B9D3A854}" type="slidenum">
              <a:rPr lang="zh-CN" altLang="en-US" smtClean="0"/>
              <a:t>11</a:t>
            </a:fld>
            <a:endParaRPr lang="zh-CN" altLang="en-US"/>
          </a:p>
        </p:txBody>
      </p:sp>
    </p:spTree>
    <p:extLst>
      <p:ext uri="{BB962C8B-B14F-4D97-AF65-F5344CB8AC3E}">
        <p14:creationId xmlns:p14="http://schemas.microsoft.com/office/powerpoint/2010/main" val="3717317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设置窗口大小和位置</a:t>
            </a:r>
          </a:p>
        </p:txBody>
      </p:sp>
      <p:sp>
        <p:nvSpPr>
          <p:cNvPr id="3" name="内容占位符 2"/>
          <p:cNvSpPr>
            <a:spLocks noGrp="1"/>
          </p:cNvSpPr>
          <p:nvPr>
            <p:ph idx="1"/>
          </p:nvPr>
        </p:nvSpPr>
        <p:spPr>
          <a:xfrm>
            <a:off x="669925" y="1160145"/>
            <a:ext cx="10852150" cy="5437207"/>
          </a:xfrm>
        </p:spPr>
        <p:txBody>
          <a:bodyPr>
            <a:normAutofit/>
          </a:bodyPr>
          <a:lstStyle/>
          <a:p>
            <a:r>
              <a:rPr lang="zh-CN" altLang="en-US" dirty="0"/>
              <a:t>窗口的大小和位置还可以通过窗口的</a:t>
            </a:r>
            <a:r>
              <a:rPr lang="en-US" altLang="zh-CN" dirty="0"/>
              <a:t>geometry()</a:t>
            </a:r>
            <a:r>
              <a:rPr lang="zh-CN" altLang="en-US" dirty="0"/>
              <a:t>方法设置：</a:t>
            </a:r>
          </a:p>
          <a:p>
            <a:pPr lvl="1"/>
            <a:r>
              <a:rPr lang="zh-CN" altLang="en-US" dirty="0"/>
              <a:t>窗口名</a:t>
            </a:r>
            <a:r>
              <a:rPr lang="en-US" altLang="zh-CN" dirty="0"/>
              <a:t>.geometry(</a:t>
            </a:r>
            <a:r>
              <a:rPr lang="en-US" altLang="zh-CN" dirty="0" err="1"/>
              <a:t>newGeometry</a:t>
            </a:r>
            <a:r>
              <a:rPr lang="en-US" altLang="zh-CN" dirty="0"/>
              <a:t>)</a:t>
            </a:r>
          </a:p>
          <a:p>
            <a:pPr lvl="2"/>
            <a:r>
              <a:rPr lang="zh-CN" altLang="en-US" sz="2600" dirty="0"/>
              <a:t>参数</a:t>
            </a:r>
            <a:r>
              <a:rPr lang="en-US" altLang="zh-CN" sz="2600" dirty="0" err="1"/>
              <a:t>newGeometry</a:t>
            </a:r>
            <a:r>
              <a:rPr lang="zh-CN" altLang="en-US" sz="2600" dirty="0"/>
              <a:t>是一个字符串，其格式为</a:t>
            </a:r>
            <a:endParaRPr lang="en-US" altLang="zh-CN" sz="2600" dirty="0"/>
          </a:p>
          <a:p>
            <a:pPr marL="914400" lvl="2" indent="0" algn="ctr">
              <a:buNone/>
            </a:pPr>
            <a:r>
              <a:rPr lang="en-US" altLang="zh-CN" dirty="0" err="1"/>
              <a:t>width</a:t>
            </a:r>
            <a:r>
              <a:rPr lang="en-US" altLang="zh-CN" dirty="0" err="1">
                <a:solidFill>
                  <a:srgbClr val="FF0000"/>
                </a:solidFill>
              </a:rPr>
              <a:t>x</a:t>
            </a:r>
            <a:r>
              <a:rPr lang="en-US" altLang="zh-CN" dirty="0" err="1"/>
              <a:t>height±m±n</a:t>
            </a:r>
            <a:endParaRPr lang="en-US" altLang="zh-CN" dirty="0"/>
          </a:p>
          <a:p>
            <a:pPr lvl="2"/>
            <a:r>
              <a:rPr lang="en-US" altLang="zh-CN" sz="2600" dirty="0"/>
              <a:t>width</a:t>
            </a:r>
            <a:r>
              <a:rPr lang="zh-CN" altLang="en-US" sz="2600" dirty="0"/>
              <a:t>、</a:t>
            </a:r>
            <a:r>
              <a:rPr lang="en-US" altLang="zh-CN" sz="2600" dirty="0"/>
              <a:t>height</a:t>
            </a:r>
            <a:r>
              <a:rPr lang="zh-CN" altLang="en-US" sz="2600" dirty="0"/>
              <a:t>：窗口宽度和高度，两者之间的是小写英文字符</a:t>
            </a:r>
            <a:r>
              <a:rPr lang="en-US" altLang="zh-CN" sz="2600" dirty="0"/>
              <a:t>x</a:t>
            </a:r>
          </a:p>
          <a:p>
            <a:pPr lvl="2"/>
            <a:r>
              <a:rPr lang="en-US" altLang="zh-CN" sz="2600" dirty="0"/>
              <a:t>±</a:t>
            </a:r>
            <a:r>
              <a:rPr lang="en-US" altLang="zh-CN" sz="2600" dirty="0" err="1"/>
              <a:t>m±n</a:t>
            </a:r>
            <a:r>
              <a:rPr lang="zh-CN" altLang="en-US" sz="2600" dirty="0"/>
              <a:t>：用于指定窗口在屏幕上的位置</a:t>
            </a:r>
            <a:endParaRPr lang="en-US" altLang="zh-CN" sz="2600" dirty="0"/>
          </a:p>
          <a:p>
            <a:pPr lvl="3"/>
            <a:r>
              <a:rPr lang="zh-CN" altLang="en-US" sz="2600" dirty="0"/>
              <a:t>若</a:t>
            </a:r>
            <a:r>
              <a:rPr lang="en-US" altLang="zh-CN" sz="2600" dirty="0"/>
              <a:t>m</a:t>
            </a:r>
            <a:r>
              <a:rPr lang="zh-CN" altLang="en-US" sz="2600" dirty="0"/>
              <a:t>、</a:t>
            </a:r>
            <a:r>
              <a:rPr lang="en-US" altLang="zh-CN" sz="2600" dirty="0"/>
              <a:t>n</a:t>
            </a:r>
            <a:r>
              <a:rPr lang="zh-CN" altLang="en-US" sz="2600" dirty="0"/>
              <a:t>之前用</a:t>
            </a:r>
            <a:r>
              <a:rPr lang="en-US" altLang="zh-CN" sz="2600" dirty="0"/>
              <a:t>+</a:t>
            </a:r>
            <a:r>
              <a:rPr lang="zh-CN" altLang="en-US" sz="2600" dirty="0"/>
              <a:t>号，是窗口距离屏幕左边和上边的距离</a:t>
            </a:r>
            <a:endParaRPr lang="en-US" altLang="zh-CN" sz="2600" dirty="0"/>
          </a:p>
          <a:p>
            <a:pPr lvl="3"/>
            <a:r>
              <a:rPr lang="zh-CN" altLang="en-US" sz="2600" dirty="0"/>
              <a:t>若</a:t>
            </a:r>
            <a:r>
              <a:rPr lang="en-US" altLang="zh-CN" sz="2600" dirty="0"/>
              <a:t>m</a:t>
            </a:r>
            <a:r>
              <a:rPr lang="zh-CN" altLang="en-US" sz="2600" dirty="0"/>
              <a:t>、</a:t>
            </a:r>
            <a:r>
              <a:rPr lang="en-US" altLang="zh-CN" sz="2600" dirty="0"/>
              <a:t>n</a:t>
            </a:r>
            <a:r>
              <a:rPr lang="zh-CN" altLang="en-US" sz="2600" dirty="0"/>
              <a:t>之前用</a:t>
            </a:r>
            <a:r>
              <a:rPr lang="en-US" altLang="zh-CN" sz="2600" dirty="0"/>
              <a:t>-</a:t>
            </a:r>
            <a:r>
              <a:rPr lang="zh-CN" altLang="en-US" sz="2600" dirty="0"/>
              <a:t>号，是窗口距离屏幕右边和下边的距离</a:t>
            </a:r>
            <a:endParaRPr lang="en-US" altLang="zh-CN" sz="2600" dirty="0"/>
          </a:p>
          <a:p>
            <a:pPr lvl="2"/>
            <a:r>
              <a:rPr lang="en-US" altLang="zh-CN" sz="2600" dirty="0" err="1"/>
              <a:t>newGeometry</a:t>
            </a:r>
            <a:r>
              <a:rPr lang="zh-CN" altLang="en-US" sz="2600" dirty="0"/>
              <a:t>字符串中不能含有空格</a:t>
            </a:r>
            <a:endParaRPr lang="en-US" altLang="zh-CN" sz="2600" dirty="0"/>
          </a:p>
          <a:p>
            <a:pPr lvl="2"/>
            <a:endParaRPr lang="en-US" altLang="zh-CN" sz="2400" dirty="0"/>
          </a:p>
          <a:p>
            <a:endParaRPr lang="zh-CN" altLang="en-US" dirty="0"/>
          </a:p>
        </p:txBody>
      </p:sp>
      <p:sp>
        <p:nvSpPr>
          <p:cNvPr id="4" name="灯片编号占位符 3">
            <a:extLst>
              <a:ext uri="{FF2B5EF4-FFF2-40B4-BE49-F238E27FC236}">
                <a16:creationId xmlns:a16="http://schemas.microsoft.com/office/drawing/2014/main" id="{FF298B45-BB0D-46E5-8CA0-AF28329B2566}"/>
              </a:ext>
            </a:extLst>
          </p:cNvPr>
          <p:cNvSpPr>
            <a:spLocks noGrp="1"/>
          </p:cNvSpPr>
          <p:nvPr>
            <p:ph type="sldNum" sz="quarter" idx="12"/>
          </p:nvPr>
        </p:nvSpPr>
        <p:spPr/>
        <p:txBody>
          <a:bodyPr/>
          <a:lstStyle/>
          <a:p>
            <a:fld id="{49AE70B2-8BF9-45C0-BB95-33D1B9D3A854}" type="slidenum">
              <a:rPr lang="zh-CN" altLang="en-US" smtClean="0"/>
              <a:t>12</a:t>
            </a:fld>
            <a:endParaRPr lang="zh-CN" altLang="en-US"/>
          </a:p>
        </p:txBody>
      </p:sp>
    </p:spTree>
    <p:extLst>
      <p:ext uri="{BB962C8B-B14F-4D97-AF65-F5344CB8AC3E}">
        <p14:creationId xmlns:p14="http://schemas.microsoft.com/office/powerpoint/2010/main" val="415641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进入主窗口的事件循环</a:t>
            </a:r>
            <a:br>
              <a:rPr lang="zh-CN" altLang="en-US" dirty="0"/>
            </a:br>
            <a:endParaRPr lang="zh-CN" altLang="en-US" dirty="0"/>
          </a:p>
        </p:txBody>
      </p:sp>
      <p:sp>
        <p:nvSpPr>
          <p:cNvPr id="3" name="内容占位符 2"/>
          <p:cNvSpPr>
            <a:spLocks noGrp="1"/>
          </p:cNvSpPr>
          <p:nvPr>
            <p:ph idx="1"/>
          </p:nvPr>
        </p:nvSpPr>
        <p:spPr/>
        <p:txBody>
          <a:bodyPr/>
          <a:lstStyle/>
          <a:p>
            <a:r>
              <a:rPr lang="zh-CN" altLang="en-US" dirty="0"/>
              <a:t>进入主窗口的事件循环的方法是调用窗口的</a:t>
            </a:r>
            <a:r>
              <a:rPr lang="en-US" altLang="zh-CN" dirty="0" err="1"/>
              <a:t>mainloop</a:t>
            </a:r>
            <a:r>
              <a:rPr lang="en-US" altLang="zh-CN" dirty="0"/>
              <a:t>()</a:t>
            </a:r>
            <a:r>
              <a:rPr lang="zh-CN" altLang="en-US" dirty="0"/>
              <a:t>方法</a:t>
            </a:r>
          </a:p>
          <a:p>
            <a:pPr lvl="1"/>
            <a:r>
              <a:rPr lang="zh-CN" altLang="en-US" dirty="0"/>
              <a:t>窗口名</a:t>
            </a:r>
            <a:r>
              <a:rPr lang="en-US" altLang="zh-CN" dirty="0"/>
              <a:t>.</a:t>
            </a:r>
            <a:r>
              <a:rPr lang="en-US" altLang="zh-CN" dirty="0" err="1"/>
              <a:t>mainloop</a:t>
            </a:r>
            <a:r>
              <a:rPr lang="en-US" altLang="zh-CN" dirty="0"/>
              <a:t>()</a:t>
            </a:r>
          </a:p>
          <a:p>
            <a:r>
              <a:rPr lang="zh-CN" altLang="en-US" dirty="0"/>
              <a:t>窗口的</a:t>
            </a:r>
            <a:r>
              <a:rPr lang="en-US" altLang="zh-CN" dirty="0" err="1"/>
              <a:t>mainloop</a:t>
            </a:r>
            <a:r>
              <a:rPr lang="en-US" altLang="zh-CN" dirty="0"/>
              <a:t>()</a:t>
            </a:r>
            <a:r>
              <a:rPr lang="zh-CN" altLang="en-US" dirty="0"/>
              <a:t>方法使窗口及控件显示出来，然后进入消息处理循环</a:t>
            </a:r>
            <a:endParaRPr lang="en-US" altLang="zh-CN" dirty="0"/>
          </a:p>
          <a:p>
            <a:pPr lvl="1"/>
            <a:r>
              <a:rPr lang="zh-CN" altLang="en-US" dirty="0"/>
              <a:t>除非关闭窗口，否则程序将一直处于消息处理循环中。</a:t>
            </a:r>
          </a:p>
          <a:p>
            <a:endParaRPr lang="zh-CN" altLang="en-US" dirty="0"/>
          </a:p>
        </p:txBody>
      </p:sp>
      <p:sp>
        <p:nvSpPr>
          <p:cNvPr id="4" name="灯片编号占位符 3">
            <a:extLst>
              <a:ext uri="{FF2B5EF4-FFF2-40B4-BE49-F238E27FC236}">
                <a16:creationId xmlns:a16="http://schemas.microsoft.com/office/drawing/2014/main" id="{BF2B11AA-0046-4A5F-B3C4-303379456F9C}"/>
              </a:ext>
            </a:extLst>
          </p:cNvPr>
          <p:cNvSpPr>
            <a:spLocks noGrp="1"/>
          </p:cNvSpPr>
          <p:nvPr>
            <p:ph type="sldNum" sz="quarter" idx="12"/>
          </p:nvPr>
        </p:nvSpPr>
        <p:spPr/>
        <p:txBody>
          <a:bodyPr/>
          <a:lstStyle/>
          <a:p>
            <a:fld id="{49AE70B2-8BF9-45C0-BB95-33D1B9D3A854}" type="slidenum">
              <a:rPr lang="zh-CN" altLang="en-US" smtClean="0"/>
              <a:t>13</a:t>
            </a:fld>
            <a:endParaRPr lang="zh-CN" altLang="en-US"/>
          </a:p>
        </p:txBody>
      </p:sp>
    </p:spTree>
    <p:extLst>
      <p:ext uri="{BB962C8B-B14F-4D97-AF65-F5344CB8AC3E}">
        <p14:creationId xmlns:p14="http://schemas.microsoft.com/office/powerpoint/2010/main" val="2375048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WordArt 6"/>
          <p:cNvSpPr>
            <a:spLocks noChangeArrowheads="1" noChangeShapeType="1"/>
          </p:cNvSpPr>
          <p:nvPr/>
        </p:nvSpPr>
        <p:spPr bwMode="auto">
          <a:xfrm>
            <a:off x="1882775" y="1557338"/>
            <a:ext cx="8426450" cy="2011363"/>
          </a:xfrm>
          <a:prstGeom prst="rect">
            <a:avLst/>
          </a:prstGeom>
        </p:spPr>
        <p:txBody>
          <a:bodyPr wrap="none" fromWordArt="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8500" b="1" i="0" u="none" strike="noStrike" kern="10" cap="none" spc="0" normalizeH="0" baseline="0" noProof="0" dirty="0">
              <a:ln w="9525">
                <a:noFill/>
                <a:round/>
              </a:ln>
              <a:solidFill>
                <a:schemeClr val="tx1"/>
              </a:solidFill>
              <a:effectLst>
                <a:outerShdw blurRad="38100" dist="38100" dir="2700000" algn="tl">
                  <a:srgbClr val="000000">
                    <a:alpha val="43137"/>
                  </a:srgbClr>
                </a:outerShdw>
              </a:effectLst>
              <a:uLnTx/>
              <a:uFillTx/>
              <a:latin typeface="华文新魏" panose="02010800040101010101" pitchFamily="2" charset="-122"/>
              <a:ea typeface="华文新魏" panose="02010800040101010101" pitchFamily="2" charset="-122"/>
              <a:cs typeface="+mn-cs"/>
            </a:endParaRPr>
          </a:p>
        </p:txBody>
      </p:sp>
      <p:sp>
        <p:nvSpPr>
          <p:cNvPr id="10245" name="标题 1"/>
          <p:cNvSpPr>
            <a:spLocks noGrp="1"/>
          </p:cNvSpPr>
          <p:nvPr>
            <p:ph type="ctrTitle"/>
          </p:nvPr>
        </p:nvSpPr>
        <p:spPr>
          <a:xfrm>
            <a:off x="1470025" y="2292350"/>
            <a:ext cx="9266555" cy="1151255"/>
          </a:xfrm>
        </p:spPr>
        <p:txBody>
          <a:bodyPr vert="horz" wrap="square" lIns="91440" tIns="45720" rIns="91440" bIns="45720" anchor="b"/>
          <a:lstStyle/>
          <a:p>
            <a:pPr>
              <a:buClrTx/>
              <a:buSzTx/>
              <a:buFontTx/>
              <a:buNone/>
            </a:pPr>
            <a:r>
              <a:rPr lang="en-US" kern="1200" dirty="0">
                <a:latin typeface="+mj-lt"/>
                <a:ea typeface="+mj-ea"/>
                <a:cs typeface="+mj-cs"/>
              </a:rPr>
              <a:t>13.2 </a:t>
            </a:r>
            <a:r>
              <a:rPr lang="zh-CN" altLang="en-US" kern="1200" dirty="0">
                <a:latin typeface="+mj-lt"/>
                <a:ea typeface="+mj-ea"/>
                <a:cs typeface="+mj-cs"/>
              </a:rPr>
              <a:t>常用控件</a:t>
            </a:r>
          </a:p>
        </p:txBody>
      </p:sp>
      <p:sp>
        <p:nvSpPr>
          <p:cNvPr id="2" name="灯片编号占位符 1">
            <a:extLst>
              <a:ext uri="{FF2B5EF4-FFF2-40B4-BE49-F238E27FC236}">
                <a16:creationId xmlns:a16="http://schemas.microsoft.com/office/drawing/2014/main" id="{E33FF076-8EC5-47B2-B2D0-7D0CD277664F}"/>
              </a:ext>
            </a:extLst>
          </p:cNvPr>
          <p:cNvSpPr>
            <a:spLocks noGrp="1"/>
          </p:cNvSpPr>
          <p:nvPr>
            <p:ph type="sldNum" sz="quarter" idx="12"/>
          </p:nvPr>
        </p:nvSpPr>
        <p:spPr/>
        <p:txBody>
          <a:bodyPr/>
          <a:lstStyle/>
          <a:p>
            <a:fld id="{49AE70B2-8BF9-45C0-BB95-33D1B9D3A854}" type="slidenum">
              <a:rPr lang="zh-CN" altLang="en-US" smtClean="0"/>
              <a:t>14</a:t>
            </a:fld>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nodePh="1">
                                  <p:stCondLst>
                                    <p:cond delay="0"/>
                                  </p:stCondLst>
                                  <p:endCondLst>
                                    <p:cond evt="begin" delay="0">
                                      <p:tn val="5"/>
                                    </p:cond>
                                  </p:endCondLst>
                                  <p:childTnLst>
                                    <p:set>
                                      <p:cBhvr>
                                        <p:cTn id="6" dur="1" fill="hold">
                                          <p:stCondLst>
                                            <p:cond delay="0"/>
                                          </p:stCondLst>
                                        </p:cTn>
                                        <p:tgtEl>
                                          <p:spTgt spid="16387"/>
                                        </p:tgtEl>
                                        <p:attrNameLst>
                                          <p:attrName>style.visibility</p:attrName>
                                        </p:attrNameLst>
                                      </p:cBhvr>
                                      <p:to>
                                        <p:strVal val="visible"/>
                                      </p:to>
                                    </p:set>
                                    <p:animEffect transition="in" filter="fade">
                                      <p:cBhvr>
                                        <p:cTn id="7" dur="1000"/>
                                        <p:tgtEl>
                                          <p:spTgt spid="16387"/>
                                        </p:tgtEl>
                                      </p:cBhvr>
                                    </p:animEffect>
                                    <p:anim calcmode="lin" valueType="num">
                                      <p:cBhvr>
                                        <p:cTn id="8" dur="1000" fill="hold"/>
                                        <p:tgtEl>
                                          <p:spTgt spid="16387"/>
                                        </p:tgtEl>
                                        <p:attrNameLst>
                                          <p:attrName>ppt_x</p:attrName>
                                        </p:attrNameLst>
                                      </p:cBhvr>
                                      <p:tavLst>
                                        <p:tav tm="0">
                                          <p:val>
                                            <p:strVal val="#ppt_x"/>
                                          </p:val>
                                        </p:tav>
                                        <p:tav tm="100000">
                                          <p:val>
                                            <p:strVal val="#ppt_x"/>
                                          </p:val>
                                        </p:tav>
                                      </p:tavLst>
                                    </p:anim>
                                    <p:anim calcmode="lin" valueType="num">
                                      <p:cBhvr>
                                        <p:cTn id="9" dur="1000" fill="hold"/>
                                        <p:tgtEl>
                                          <p:spTgt spid="163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13.2.1 </a:t>
            </a:r>
            <a:r>
              <a:rPr lang="zh-CN" altLang="en-US" dirty="0"/>
              <a:t>概述</a:t>
            </a:r>
          </a:p>
        </p:txBody>
      </p:sp>
      <p:sp>
        <p:nvSpPr>
          <p:cNvPr id="3" name="内容占位符 2"/>
          <p:cNvSpPr>
            <a:spLocks noGrp="1"/>
          </p:cNvSpPr>
          <p:nvPr>
            <p:ph idx="1"/>
          </p:nvPr>
        </p:nvSpPr>
        <p:spPr>
          <a:xfrm>
            <a:off x="669925" y="1160145"/>
            <a:ext cx="10852150" cy="1260743"/>
          </a:xfrm>
        </p:spPr>
        <p:txBody>
          <a:bodyPr>
            <a:normAutofit/>
          </a:bodyPr>
          <a:lstStyle/>
          <a:p>
            <a:r>
              <a:rPr lang="en-US" altLang="zh-CN" dirty="0" err="1"/>
              <a:t>tkinter</a:t>
            </a:r>
            <a:r>
              <a:rPr lang="zh-CN" altLang="en-US" dirty="0"/>
              <a:t>提供的控件对应到</a:t>
            </a:r>
            <a:r>
              <a:rPr lang="en-US" altLang="zh-CN" dirty="0" err="1"/>
              <a:t>tkinter</a:t>
            </a:r>
            <a:r>
              <a:rPr lang="zh-CN" altLang="en-US" dirty="0"/>
              <a:t>模块中相应的类。建立图形用户界面时，创建的是控件类对应的一个个对象实例。</a:t>
            </a:r>
            <a:endParaRPr lang="en-US" altLang="zh-CN" dirty="0"/>
          </a:p>
          <a:p>
            <a:pPr marL="0" indent="0">
              <a:buNone/>
            </a:pP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692413596"/>
              </p:ext>
            </p:extLst>
          </p:nvPr>
        </p:nvGraphicFramePr>
        <p:xfrm>
          <a:off x="767407" y="2420887"/>
          <a:ext cx="10754667" cy="3672408"/>
        </p:xfrm>
        <a:graphic>
          <a:graphicData uri="http://schemas.openxmlformats.org/drawingml/2006/table">
            <a:tbl>
              <a:tblPr firstRow="1" firstCol="1" bandRow="1">
                <a:tableStyleId>{5C22544A-7EE6-4342-B048-85BDC9FD1C3A}</a:tableStyleId>
              </a:tblPr>
              <a:tblGrid>
                <a:gridCol w="1463599">
                  <a:extLst>
                    <a:ext uri="{9D8B030D-6E8A-4147-A177-3AD203B41FA5}">
                      <a16:colId xmlns:a16="http://schemas.microsoft.com/office/drawing/2014/main" val="3253904213"/>
                    </a:ext>
                  </a:extLst>
                </a:gridCol>
                <a:gridCol w="1712502">
                  <a:extLst>
                    <a:ext uri="{9D8B030D-6E8A-4147-A177-3AD203B41FA5}">
                      <a16:colId xmlns:a16="http://schemas.microsoft.com/office/drawing/2014/main" val="1401495110"/>
                    </a:ext>
                  </a:extLst>
                </a:gridCol>
                <a:gridCol w="7578566">
                  <a:extLst>
                    <a:ext uri="{9D8B030D-6E8A-4147-A177-3AD203B41FA5}">
                      <a16:colId xmlns:a16="http://schemas.microsoft.com/office/drawing/2014/main" val="1593211931"/>
                    </a:ext>
                  </a:extLst>
                </a:gridCol>
              </a:tblGrid>
              <a:tr h="612068">
                <a:tc>
                  <a:txBody>
                    <a:bodyPr/>
                    <a:lstStyle/>
                    <a:p>
                      <a:pPr indent="127000" algn="ctr">
                        <a:spcAft>
                          <a:spcPts val="0"/>
                        </a:spcAft>
                      </a:pPr>
                      <a:r>
                        <a:rPr lang="zh-CN" sz="2400" kern="100">
                          <a:effectLst/>
                        </a:rPr>
                        <a:t>控件名</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spcAft>
                          <a:spcPts val="0"/>
                        </a:spcAft>
                      </a:pPr>
                      <a:r>
                        <a:rPr lang="en-US" sz="2400" kern="100">
                          <a:effectLst/>
                        </a:rPr>
                        <a:t>tkinter</a:t>
                      </a:r>
                      <a:r>
                        <a:rPr lang="zh-CN" sz="2400" kern="100">
                          <a:effectLst/>
                        </a:rPr>
                        <a:t>类</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spcAft>
                          <a:spcPts val="0"/>
                        </a:spcAft>
                      </a:pPr>
                      <a:r>
                        <a:rPr lang="zh-CN" sz="2400" kern="100">
                          <a:effectLst/>
                        </a:rPr>
                        <a:t>简要功能介绍</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51868989"/>
                  </a:ext>
                </a:extLst>
              </a:tr>
              <a:tr h="612068">
                <a:tc>
                  <a:txBody>
                    <a:bodyPr/>
                    <a:lstStyle/>
                    <a:p>
                      <a:pPr indent="127000" algn="just">
                        <a:spcAft>
                          <a:spcPts val="0"/>
                        </a:spcAft>
                      </a:pPr>
                      <a:r>
                        <a:rPr lang="zh-CN" sz="2400" kern="100">
                          <a:effectLst/>
                        </a:rPr>
                        <a:t>按钮</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400" kern="100" dirty="0">
                          <a:effectLst/>
                        </a:rPr>
                        <a:t>Button</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400" kern="100">
                          <a:effectLst/>
                        </a:rPr>
                        <a:t>类似标签，主要对鼠标的单击做出响应。</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87822238"/>
                  </a:ext>
                </a:extLst>
              </a:tr>
              <a:tr h="612068">
                <a:tc>
                  <a:txBody>
                    <a:bodyPr/>
                    <a:lstStyle/>
                    <a:p>
                      <a:pPr indent="127000" algn="just">
                        <a:spcAft>
                          <a:spcPts val="0"/>
                        </a:spcAft>
                      </a:pPr>
                      <a:r>
                        <a:rPr lang="zh-CN" sz="2400" kern="100">
                          <a:effectLst/>
                        </a:rPr>
                        <a:t>标签</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400" kern="100">
                          <a:effectLst/>
                        </a:rPr>
                        <a:t>Label</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400" kern="100">
                          <a:effectLst/>
                        </a:rPr>
                        <a:t>用来显示文字或图片。</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29523816"/>
                  </a:ext>
                </a:extLst>
              </a:tr>
              <a:tr h="612068">
                <a:tc>
                  <a:txBody>
                    <a:bodyPr/>
                    <a:lstStyle/>
                    <a:p>
                      <a:pPr indent="127000" algn="just">
                        <a:spcAft>
                          <a:spcPts val="0"/>
                        </a:spcAft>
                      </a:pPr>
                      <a:r>
                        <a:rPr lang="zh-CN" sz="2400" kern="100">
                          <a:effectLst/>
                        </a:rPr>
                        <a:t>消息</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400" kern="100">
                          <a:effectLst/>
                        </a:rPr>
                        <a:t>Message</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400" kern="100">
                          <a:effectLst/>
                        </a:rPr>
                        <a:t>类似于标签，但可以显示多行文本。</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89081286"/>
                  </a:ext>
                </a:extLst>
              </a:tr>
              <a:tr h="612068">
                <a:tc>
                  <a:txBody>
                    <a:bodyPr/>
                    <a:lstStyle/>
                    <a:p>
                      <a:pPr indent="127000" algn="just">
                        <a:spcAft>
                          <a:spcPts val="0"/>
                        </a:spcAft>
                      </a:pPr>
                      <a:r>
                        <a:rPr lang="zh-CN" sz="2400" kern="100">
                          <a:effectLst/>
                        </a:rPr>
                        <a:t>文本框</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400" kern="100">
                          <a:effectLst/>
                        </a:rPr>
                        <a:t>Entry</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400" kern="100">
                          <a:effectLst/>
                        </a:rPr>
                        <a:t>单行文字域，用来收集键盘输入。</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50411789"/>
                  </a:ext>
                </a:extLst>
              </a:tr>
              <a:tr h="612068">
                <a:tc>
                  <a:txBody>
                    <a:bodyPr/>
                    <a:lstStyle/>
                    <a:p>
                      <a:pPr indent="127000" algn="just">
                        <a:spcAft>
                          <a:spcPts val="0"/>
                        </a:spcAft>
                      </a:pPr>
                      <a:r>
                        <a:rPr lang="zh-CN" sz="2400" kern="100">
                          <a:effectLst/>
                        </a:rPr>
                        <a:t>文本域</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400" kern="100">
                          <a:effectLst/>
                        </a:rPr>
                        <a:t>Text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400" kern="100" dirty="0">
                          <a:effectLst/>
                        </a:rPr>
                        <a:t>多行文字区域，可用来收集或显示用户输入的文字。</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66651387"/>
                  </a:ext>
                </a:extLst>
              </a:tr>
            </a:tbl>
          </a:graphicData>
        </a:graphic>
      </p:graphicFrame>
      <p:sp>
        <p:nvSpPr>
          <p:cNvPr id="5" name="灯片编号占位符 4">
            <a:extLst>
              <a:ext uri="{FF2B5EF4-FFF2-40B4-BE49-F238E27FC236}">
                <a16:creationId xmlns:a16="http://schemas.microsoft.com/office/drawing/2014/main" id="{B243EDB0-1DEB-46C5-BD15-12E6F5B29915}"/>
              </a:ext>
            </a:extLst>
          </p:cNvPr>
          <p:cNvSpPr>
            <a:spLocks noGrp="1"/>
          </p:cNvSpPr>
          <p:nvPr>
            <p:ph type="sldNum" sz="quarter" idx="12"/>
          </p:nvPr>
        </p:nvSpPr>
        <p:spPr/>
        <p:txBody>
          <a:bodyPr/>
          <a:lstStyle/>
          <a:p>
            <a:fld id="{49AE70B2-8BF9-45C0-BB95-33D1B9D3A854}" type="slidenum">
              <a:rPr lang="zh-CN" altLang="en-US" smtClean="0"/>
              <a:t>15</a:t>
            </a:fld>
            <a:endParaRPr lang="zh-CN" altLang="en-US"/>
          </a:p>
        </p:txBody>
      </p:sp>
    </p:spTree>
    <p:extLst>
      <p:ext uri="{BB962C8B-B14F-4D97-AF65-F5344CB8AC3E}">
        <p14:creationId xmlns:p14="http://schemas.microsoft.com/office/powerpoint/2010/main" val="2523530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tkinter</a:t>
            </a:r>
            <a:r>
              <a:rPr lang="zh-CN" altLang="en-US" dirty="0"/>
              <a:t>提供的控件</a:t>
            </a:r>
          </a:p>
        </p:txBody>
      </p:sp>
      <p:graphicFrame>
        <p:nvGraphicFramePr>
          <p:cNvPr id="4" name="表格 3"/>
          <p:cNvGraphicFramePr>
            <a:graphicFrameLocks noGrp="1"/>
          </p:cNvGraphicFramePr>
          <p:nvPr>
            <p:extLst>
              <p:ext uri="{D42A27DB-BD31-4B8C-83A1-F6EECF244321}">
                <p14:modId xmlns:p14="http://schemas.microsoft.com/office/powerpoint/2010/main" val="3654334095"/>
              </p:ext>
            </p:extLst>
          </p:nvPr>
        </p:nvGraphicFramePr>
        <p:xfrm>
          <a:off x="515380" y="1160143"/>
          <a:ext cx="11161239" cy="5365200"/>
        </p:xfrm>
        <a:graphic>
          <a:graphicData uri="http://schemas.openxmlformats.org/drawingml/2006/table">
            <a:tbl>
              <a:tblPr firstRow="1" firstCol="1" bandRow="1">
                <a:tableStyleId>{5C22544A-7EE6-4342-B048-85BDC9FD1C3A}</a:tableStyleId>
              </a:tblPr>
              <a:tblGrid>
                <a:gridCol w="1518930">
                  <a:extLst>
                    <a:ext uri="{9D8B030D-6E8A-4147-A177-3AD203B41FA5}">
                      <a16:colId xmlns:a16="http://schemas.microsoft.com/office/drawing/2014/main" val="697596974"/>
                    </a:ext>
                  </a:extLst>
                </a:gridCol>
                <a:gridCol w="2081469">
                  <a:extLst>
                    <a:ext uri="{9D8B030D-6E8A-4147-A177-3AD203B41FA5}">
                      <a16:colId xmlns:a16="http://schemas.microsoft.com/office/drawing/2014/main" val="1423479438"/>
                    </a:ext>
                  </a:extLst>
                </a:gridCol>
                <a:gridCol w="7560840">
                  <a:extLst>
                    <a:ext uri="{9D8B030D-6E8A-4147-A177-3AD203B41FA5}">
                      <a16:colId xmlns:a16="http://schemas.microsoft.com/office/drawing/2014/main" val="3348380697"/>
                    </a:ext>
                  </a:extLst>
                </a:gridCol>
              </a:tblGrid>
              <a:tr h="345915">
                <a:tc>
                  <a:txBody>
                    <a:bodyPr/>
                    <a:lstStyle/>
                    <a:p>
                      <a:pPr indent="127000" algn="ctr">
                        <a:spcAft>
                          <a:spcPts val="0"/>
                        </a:spcAft>
                      </a:pPr>
                      <a:r>
                        <a:rPr lang="zh-CN" sz="2200" kern="100">
                          <a:effectLst/>
                        </a:rPr>
                        <a:t>控件名</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spcAft>
                          <a:spcPts val="0"/>
                        </a:spcAft>
                      </a:pPr>
                      <a:r>
                        <a:rPr lang="en-US" sz="2200" kern="100">
                          <a:effectLst/>
                        </a:rPr>
                        <a:t>tkinter</a:t>
                      </a:r>
                      <a:r>
                        <a:rPr lang="zh-CN" sz="2200" kern="100">
                          <a:effectLst/>
                        </a:rPr>
                        <a:t>类</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spcAft>
                          <a:spcPts val="0"/>
                        </a:spcAft>
                      </a:pPr>
                      <a:r>
                        <a:rPr lang="zh-CN" sz="2200" kern="100">
                          <a:effectLst/>
                        </a:rPr>
                        <a:t>简要功能介绍</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3565976"/>
                  </a:ext>
                </a:extLst>
              </a:tr>
              <a:tr h="520045">
                <a:tc>
                  <a:txBody>
                    <a:bodyPr/>
                    <a:lstStyle/>
                    <a:p>
                      <a:pPr indent="127000" algn="just">
                        <a:spcAft>
                          <a:spcPts val="0"/>
                        </a:spcAft>
                      </a:pPr>
                      <a:r>
                        <a:rPr lang="zh-CN" sz="2200" kern="100" dirty="0">
                          <a:effectLst/>
                        </a:rPr>
                        <a:t>单选框</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200" kern="100" dirty="0" err="1">
                          <a:effectLst/>
                        </a:rPr>
                        <a:t>Radiobutton</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200" kern="100">
                          <a:effectLst/>
                        </a:rPr>
                        <a:t>一组按钮，其中只有一个可被“按下”。</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40294622"/>
                  </a:ext>
                </a:extLst>
              </a:tr>
              <a:tr h="520045">
                <a:tc>
                  <a:txBody>
                    <a:bodyPr/>
                    <a:lstStyle/>
                    <a:p>
                      <a:pPr indent="127000" algn="just">
                        <a:spcAft>
                          <a:spcPts val="0"/>
                        </a:spcAft>
                      </a:pPr>
                      <a:r>
                        <a:rPr lang="zh-CN" sz="2200" kern="100">
                          <a:effectLst/>
                        </a:rPr>
                        <a:t>复选框</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200" kern="100">
                          <a:effectLst/>
                        </a:rPr>
                        <a:t>Checkbutton</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200" kern="100" dirty="0">
                          <a:effectLst/>
                        </a:rPr>
                        <a:t>一组方框，可以选择其中的任意多个。</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4197166"/>
                  </a:ext>
                </a:extLst>
              </a:tr>
              <a:tr h="345915">
                <a:tc>
                  <a:txBody>
                    <a:bodyPr/>
                    <a:lstStyle/>
                    <a:p>
                      <a:pPr indent="127000" algn="just">
                        <a:spcAft>
                          <a:spcPts val="0"/>
                        </a:spcAft>
                      </a:pPr>
                      <a:r>
                        <a:rPr lang="zh-CN" sz="2200" kern="100">
                          <a:effectLst/>
                        </a:rPr>
                        <a:t>列表框</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200" kern="100">
                          <a:effectLst/>
                        </a:rPr>
                        <a:t>Listbox</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200" kern="100" dirty="0">
                          <a:effectLst/>
                        </a:rPr>
                        <a:t>一个选项列表，用户可以从中选择一个或多个条目。</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25750273"/>
                  </a:ext>
                </a:extLst>
              </a:tr>
              <a:tr h="345915">
                <a:tc>
                  <a:txBody>
                    <a:bodyPr/>
                    <a:lstStyle/>
                    <a:p>
                      <a:pPr indent="127000" algn="just">
                        <a:spcAft>
                          <a:spcPts val="0"/>
                        </a:spcAft>
                      </a:pPr>
                      <a:r>
                        <a:rPr lang="zh-CN" sz="2200" kern="100">
                          <a:effectLst/>
                        </a:rPr>
                        <a:t>框架</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200" kern="100">
                          <a:effectLst/>
                        </a:rPr>
                        <a:t>Frame</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200" kern="100">
                          <a:effectLst/>
                        </a:rPr>
                        <a:t>包含其他组件的纯容器。</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65763211"/>
                  </a:ext>
                </a:extLst>
              </a:tr>
              <a:tr h="691830">
                <a:tc>
                  <a:txBody>
                    <a:bodyPr/>
                    <a:lstStyle/>
                    <a:p>
                      <a:pPr indent="127000" algn="just">
                        <a:spcAft>
                          <a:spcPts val="0"/>
                        </a:spcAft>
                      </a:pPr>
                      <a:r>
                        <a:rPr lang="zh-CN" sz="2200" kern="100">
                          <a:effectLst/>
                        </a:rPr>
                        <a:t>滚动条</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200" kern="100">
                          <a:effectLst/>
                        </a:rPr>
                        <a:t>Scrollbar</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200" kern="100">
                          <a:effectLst/>
                        </a:rPr>
                        <a:t>对其支持的组件（如文本域、画布、列表框、文本框等）提供滚动功能。</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256939684"/>
                  </a:ext>
                </a:extLst>
              </a:tr>
              <a:tr h="691830">
                <a:tc>
                  <a:txBody>
                    <a:bodyPr/>
                    <a:lstStyle/>
                    <a:p>
                      <a:pPr indent="127000" algn="just">
                        <a:spcAft>
                          <a:spcPts val="0"/>
                        </a:spcAft>
                      </a:pPr>
                      <a:r>
                        <a:rPr lang="zh-CN" sz="2200" kern="100">
                          <a:effectLst/>
                        </a:rPr>
                        <a:t>进度条</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200" kern="100">
                          <a:effectLst/>
                        </a:rPr>
                        <a:t>Scale</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200" kern="100">
                          <a:effectLst/>
                        </a:rPr>
                        <a:t>线性“滑块”组件，可设定起始值和结束值，会显示当前位置的精确值。</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76114994"/>
                  </a:ext>
                </a:extLst>
              </a:tr>
              <a:tr h="345915">
                <a:tc>
                  <a:txBody>
                    <a:bodyPr/>
                    <a:lstStyle/>
                    <a:p>
                      <a:pPr indent="127000" algn="just">
                        <a:spcAft>
                          <a:spcPts val="0"/>
                        </a:spcAft>
                      </a:pPr>
                      <a:r>
                        <a:rPr lang="zh-CN" sz="2200" kern="100">
                          <a:effectLst/>
                        </a:rPr>
                        <a:t>菜单</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200" kern="100">
                          <a:effectLst/>
                        </a:rPr>
                        <a:t>Menu</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200" kern="100">
                          <a:effectLst/>
                        </a:rPr>
                        <a:t>点下菜单按钮后弹出的一个选项列表，用户可以从中选择。</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46751310"/>
                  </a:ext>
                </a:extLst>
              </a:tr>
              <a:tr h="520045">
                <a:tc>
                  <a:txBody>
                    <a:bodyPr/>
                    <a:lstStyle/>
                    <a:p>
                      <a:pPr indent="127000" algn="just">
                        <a:spcAft>
                          <a:spcPts val="0"/>
                        </a:spcAft>
                      </a:pPr>
                      <a:r>
                        <a:rPr lang="zh-CN" sz="2200" kern="100">
                          <a:effectLst/>
                        </a:rPr>
                        <a:t>菜单按钮</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200" kern="100">
                          <a:effectLst/>
                        </a:rPr>
                        <a:t>Menubutton</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200" kern="100">
                          <a:effectLst/>
                        </a:rPr>
                        <a:t>用来包含菜单的组件（有下拉式、层叠式等）。</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60340970"/>
                  </a:ext>
                </a:extLst>
              </a:tr>
              <a:tr h="345915">
                <a:tc>
                  <a:txBody>
                    <a:bodyPr/>
                    <a:lstStyle/>
                    <a:p>
                      <a:pPr indent="127000" algn="just">
                        <a:spcAft>
                          <a:spcPts val="0"/>
                        </a:spcAft>
                      </a:pPr>
                      <a:r>
                        <a:rPr lang="zh-CN" sz="2200" kern="100">
                          <a:effectLst/>
                        </a:rPr>
                        <a:t>顶级</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200" kern="100">
                          <a:effectLst/>
                        </a:rPr>
                        <a:t>Toplevel</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200" kern="100">
                          <a:effectLst/>
                        </a:rPr>
                        <a:t>类似框架，但提供一个独立的窗口容器。</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4406892"/>
                  </a:ext>
                </a:extLst>
              </a:tr>
              <a:tr h="691830">
                <a:tc>
                  <a:txBody>
                    <a:bodyPr/>
                    <a:lstStyle/>
                    <a:p>
                      <a:pPr indent="127000" algn="just">
                        <a:spcAft>
                          <a:spcPts val="0"/>
                        </a:spcAft>
                      </a:pPr>
                      <a:r>
                        <a:rPr lang="zh-CN" sz="2200" kern="100">
                          <a:effectLst/>
                        </a:rPr>
                        <a:t>画布</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en-US" sz="2200" kern="100">
                          <a:effectLst/>
                        </a:rPr>
                        <a:t>Canvas</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spcAft>
                          <a:spcPts val="0"/>
                        </a:spcAft>
                      </a:pPr>
                      <a:r>
                        <a:rPr lang="zh-CN" sz="2200" kern="100" dirty="0">
                          <a:effectLst/>
                        </a:rPr>
                        <a:t>提供绘图功能（如直线、椭圆、多边形、矩形等），可以包含图形或位图。</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64835186"/>
                  </a:ext>
                </a:extLst>
              </a:tr>
            </a:tbl>
          </a:graphicData>
        </a:graphic>
      </p:graphicFrame>
      <p:sp>
        <p:nvSpPr>
          <p:cNvPr id="3" name="灯片编号占位符 2">
            <a:extLst>
              <a:ext uri="{FF2B5EF4-FFF2-40B4-BE49-F238E27FC236}">
                <a16:creationId xmlns:a16="http://schemas.microsoft.com/office/drawing/2014/main" id="{2B819086-322D-42BA-90DF-8D81E62F1C56}"/>
              </a:ext>
            </a:extLst>
          </p:cNvPr>
          <p:cNvSpPr>
            <a:spLocks noGrp="1"/>
          </p:cNvSpPr>
          <p:nvPr>
            <p:ph type="sldNum" sz="quarter" idx="12"/>
          </p:nvPr>
        </p:nvSpPr>
        <p:spPr/>
        <p:txBody>
          <a:bodyPr/>
          <a:lstStyle/>
          <a:p>
            <a:fld id="{49AE70B2-8BF9-45C0-BB95-33D1B9D3A854}" type="slidenum">
              <a:rPr lang="zh-CN" altLang="en-US" smtClean="0"/>
              <a:t>16</a:t>
            </a:fld>
            <a:endParaRPr lang="zh-CN" altLang="en-US"/>
          </a:p>
        </p:txBody>
      </p:sp>
    </p:spTree>
    <p:extLst>
      <p:ext uri="{BB962C8B-B14F-4D97-AF65-F5344CB8AC3E}">
        <p14:creationId xmlns:p14="http://schemas.microsoft.com/office/powerpoint/2010/main" val="2243433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创建控件实例</a:t>
            </a:r>
          </a:p>
        </p:txBody>
      </p:sp>
      <p:sp>
        <p:nvSpPr>
          <p:cNvPr id="3" name="内容占位符 2"/>
          <p:cNvSpPr>
            <a:spLocks noGrp="1"/>
          </p:cNvSpPr>
          <p:nvPr>
            <p:ph idx="1"/>
          </p:nvPr>
        </p:nvSpPr>
        <p:spPr/>
        <p:txBody>
          <a:bodyPr>
            <a:normAutofit/>
          </a:bodyPr>
          <a:lstStyle/>
          <a:p>
            <a:pPr marL="0" indent="0" algn="ctr">
              <a:buNone/>
            </a:pPr>
            <a:r>
              <a:rPr lang="en-US" altLang="zh-CN" dirty="0"/>
              <a:t>[</a:t>
            </a:r>
            <a:r>
              <a:rPr lang="en-US" altLang="zh-CN" dirty="0" err="1"/>
              <a:t>tkinter</a:t>
            </a:r>
            <a:r>
              <a:rPr lang="en-US" altLang="zh-CN" dirty="0"/>
              <a:t>.]</a:t>
            </a:r>
            <a:r>
              <a:rPr lang="zh-CN" altLang="en-US" dirty="0"/>
              <a:t>控件类名</a:t>
            </a:r>
            <a:r>
              <a:rPr lang="en-US" altLang="zh-CN" dirty="0"/>
              <a:t>(</a:t>
            </a:r>
            <a:r>
              <a:rPr lang="zh-CN" altLang="en-US" dirty="0"/>
              <a:t>父窗口对象</a:t>
            </a:r>
            <a:r>
              <a:rPr lang="en-US" altLang="zh-CN" dirty="0"/>
              <a:t>[, </a:t>
            </a:r>
            <a:r>
              <a:rPr lang="zh-CN" altLang="en-US" dirty="0"/>
              <a:t>其他参数</a:t>
            </a:r>
            <a:r>
              <a:rPr lang="en-US" altLang="zh-CN" dirty="0"/>
              <a:t>])</a:t>
            </a:r>
          </a:p>
          <a:p>
            <a:pPr lvl="1"/>
            <a:r>
              <a:rPr lang="zh-CN" altLang="en-US" dirty="0"/>
              <a:t>父窗口对象是指控件放置的窗口。</a:t>
            </a:r>
            <a:endParaRPr lang="en-US" altLang="zh-CN" dirty="0"/>
          </a:p>
          <a:p>
            <a:pPr lvl="2"/>
            <a:r>
              <a:rPr lang="zh-CN" altLang="en-US" dirty="0"/>
              <a:t>父窗口可省略，此时系统自动生成一个容纳当前控件的父窗口</a:t>
            </a:r>
          </a:p>
          <a:p>
            <a:pPr lvl="1"/>
            <a:r>
              <a:rPr lang="zh-CN" altLang="en-US" dirty="0"/>
              <a:t>其他参数用于指定所创控件对象的某些属性，视控件不同而不同</a:t>
            </a:r>
          </a:p>
          <a:p>
            <a:pPr marL="0" indent="0">
              <a:buNone/>
            </a:pPr>
            <a:endParaRPr lang="en-US" altLang="zh-CN" sz="2600" dirty="0"/>
          </a:p>
          <a:p>
            <a:pPr marL="0" indent="0">
              <a:buNone/>
            </a:pPr>
            <a:r>
              <a:rPr lang="en-US" altLang="zh-CN" sz="2600" dirty="0"/>
              <a:t>#1.	&gt;&gt;&gt; import </a:t>
            </a:r>
            <a:r>
              <a:rPr lang="en-US" altLang="zh-CN" sz="2600" dirty="0" err="1"/>
              <a:t>tkinter</a:t>
            </a:r>
            <a:endParaRPr lang="en-US" altLang="zh-CN" sz="2600" dirty="0"/>
          </a:p>
          <a:p>
            <a:pPr marL="0" indent="0">
              <a:buNone/>
            </a:pPr>
            <a:r>
              <a:rPr lang="en-US" altLang="zh-CN" sz="2600" dirty="0"/>
              <a:t>#2.	&gt;&gt;&gt; btn1 = </a:t>
            </a:r>
            <a:r>
              <a:rPr lang="en-US" altLang="zh-CN" sz="2600" dirty="0" err="1"/>
              <a:t>tkinter.Button</a:t>
            </a:r>
            <a:r>
              <a:rPr lang="en-US" altLang="zh-CN" sz="2600" dirty="0"/>
              <a:t>(text='</a:t>
            </a:r>
            <a:r>
              <a:rPr lang="zh-CN" altLang="en-US" sz="2600" dirty="0"/>
              <a:t>自动生成父窗口</a:t>
            </a:r>
            <a:r>
              <a:rPr lang="en-US" altLang="zh-CN" sz="2600" dirty="0"/>
              <a:t>')</a:t>
            </a:r>
          </a:p>
          <a:p>
            <a:pPr marL="0" indent="0">
              <a:buNone/>
            </a:pPr>
            <a:r>
              <a:rPr lang="en-US" altLang="zh-CN" sz="2600" dirty="0"/>
              <a:t>#3.	&gt;&gt;&gt; btn1.pack()</a:t>
            </a:r>
            <a:endParaRPr lang="zh-CN" altLang="en-US" sz="2600" dirty="0"/>
          </a:p>
        </p:txBody>
      </p:sp>
      <p:sp>
        <p:nvSpPr>
          <p:cNvPr id="4" name="灯片编号占位符 3">
            <a:extLst>
              <a:ext uri="{FF2B5EF4-FFF2-40B4-BE49-F238E27FC236}">
                <a16:creationId xmlns:a16="http://schemas.microsoft.com/office/drawing/2014/main" id="{74F02EB5-4E55-4131-BCB6-803910D1BCCE}"/>
              </a:ext>
            </a:extLst>
          </p:cNvPr>
          <p:cNvSpPr>
            <a:spLocks noGrp="1"/>
          </p:cNvSpPr>
          <p:nvPr>
            <p:ph type="sldNum" sz="quarter" idx="12"/>
          </p:nvPr>
        </p:nvSpPr>
        <p:spPr/>
        <p:txBody>
          <a:bodyPr/>
          <a:lstStyle/>
          <a:p>
            <a:fld id="{49AE70B2-8BF9-45C0-BB95-33D1B9D3A854}" type="slidenum">
              <a:rPr lang="zh-CN" altLang="en-US" smtClean="0"/>
              <a:t>17</a:t>
            </a:fld>
            <a:endParaRPr lang="zh-CN" altLang="en-US"/>
          </a:p>
        </p:txBody>
      </p:sp>
    </p:spTree>
    <p:extLst>
      <p:ext uri="{BB962C8B-B14F-4D97-AF65-F5344CB8AC3E}">
        <p14:creationId xmlns:p14="http://schemas.microsoft.com/office/powerpoint/2010/main" val="1246332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控件的布局</a:t>
            </a:r>
            <a:br>
              <a:rPr lang="zh-CN" altLang="en-US" dirty="0"/>
            </a:br>
            <a:endParaRPr lang="zh-CN" altLang="en-US" dirty="0"/>
          </a:p>
        </p:txBody>
      </p:sp>
      <p:sp>
        <p:nvSpPr>
          <p:cNvPr id="3" name="内容占位符 2"/>
          <p:cNvSpPr>
            <a:spLocks noGrp="1"/>
          </p:cNvSpPr>
          <p:nvPr>
            <p:ph idx="1"/>
          </p:nvPr>
        </p:nvSpPr>
        <p:spPr/>
        <p:txBody>
          <a:bodyPr/>
          <a:lstStyle/>
          <a:p>
            <a:r>
              <a:rPr lang="zh-CN" altLang="en-US" dirty="0"/>
              <a:t>创建完对象后，可以调用对象的</a:t>
            </a:r>
            <a:r>
              <a:rPr lang="en-US" altLang="zh-CN" dirty="0"/>
              <a:t>pack()</a:t>
            </a:r>
            <a:r>
              <a:rPr lang="zh-CN" altLang="en-US" dirty="0"/>
              <a:t>方法或</a:t>
            </a:r>
            <a:r>
              <a:rPr lang="en-US" altLang="zh-CN" dirty="0"/>
              <a:t>grid()</a:t>
            </a:r>
            <a:r>
              <a:rPr lang="zh-CN" altLang="en-US" dirty="0"/>
              <a:t>方法或</a:t>
            </a:r>
            <a:r>
              <a:rPr lang="en-US" altLang="zh-CN" dirty="0"/>
              <a:t>place()</a:t>
            </a:r>
            <a:r>
              <a:rPr lang="zh-CN" altLang="en-US" dirty="0"/>
              <a:t>方法，让对象在父窗口中显示出来。</a:t>
            </a:r>
            <a:endParaRPr lang="en-US" altLang="zh-CN" dirty="0"/>
          </a:p>
          <a:p>
            <a:pPr lvl="1"/>
            <a:r>
              <a:rPr lang="zh-CN" altLang="en-US" dirty="0"/>
              <a:t>关于这些方法，</a:t>
            </a:r>
            <a:r>
              <a:rPr lang="en-US" altLang="zh-CN" dirty="0"/>
              <a:t>13.4</a:t>
            </a:r>
            <a:r>
              <a:rPr lang="zh-CN" altLang="en-US" dirty="0"/>
              <a:t>节会有详细的介绍。</a:t>
            </a:r>
          </a:p>
          <a:p>
            <a:endParaRPr lang="zh-CN" altLang="en-US" dirty="0"/>
          </a:p>
        </p:txBody>
      </p:sp>
      <p:sp>
        <p:nvSpPr>
          <p:cNvPr id="4" name="灯片编号占位符 3">
            <a:extLst>
              <a:ext uri="{FF2B5EF4-FFF2-40B4-BE49-F238E27FC236}">
                <a16:creationId xmlns:a16="http://schemas.microsoft.com/office/drawing/2014/main" id="{84F8FBE7-F9CE-4C54-ACA7-1D8A916BBC2F}"/>
              </a:ext>
            </a:extLst>
          </p:cNvPr>
          <p:cNvSpPr>
            <a:spLocks noGrp="1"/>
          </p:cNvSpPr>
          <p:nvPr>
            <p:ph type="sldNum" sz="quarter" idx="12"/>
          </p:nvPr>
        </p:nvSpPr>
        <p:spPr/>
        <p:txBody>
          <a:bodyPr/>
          <a:lstStyle/>
          <a:p>
            <a:fld id="{49AE70B2-8BF9-45C0-BB95-33D1B9D3A854}" type="slidenum">
              <a:rPr lang="zh-CN" altLang="en-US" smtClean="0"/>
              <a:t>18</a:t>
            </a:fld>
            <a:endParaRPr lang="zh-CN" altLang="en-US"/>
          </a:p>
        </p:txBody>
      </p:sp>
    </p:spTree>
    <p:extLst>
      <p:ext uri="{BB962C8B-B14F-4D97-AF65-F5344CB8AC3E}">
        <p14:creationId xmlns:p14="http://schemas.microsoft.com/office/powerpoint/2010/main" val="11252001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控件的公共属性</a:t>
            </a:r>
          </a:p>
        </p:txBody>
      </p:sp>
      <p:sp>
        <p:nvSpPr>
          <p:cNvPr id="3" name="内容占位符 2"/>
          <p:cNvSpPr>
            <a:spLocks noGrp="1"/>
          </p:cNvSpPr>
          <p:nvPr>
            <p:ph idx="1"/>
          </p:nvPr>
        </p:nvSpPr>
        <p:spPr/>
        <p:txBody>
          <a:bodyPr>
            <a:normAutofit/>
          </a:bodyPr>
          <a:lstStyle/>
          <a:p>
            <a:r>
              <a:rPr lang="zh-CN" altLang="en-US" dirty="0"/>
              <a:t>所谓的公共属性是指很多控件都具有的属性。</a:t>
            </a:r>
          </a:p>
          <a:p>
            <a:pPr marL="0" indent="0">
              <a:buNone/>
            </a:pPr>
            <a:r>
              <a:rPr lang="zh-CN" altLang="en-US" dirty="0"/>
              <a:t>（</a:t>
            </a:r>
            <a:r>
              <a:rPr lang="en-US" altLang="zh-CN" dirty="0"/>
              <a:t>1</a:t>
            </a:r>
            <a:r>
              <a:rPr lang="zh-CN" altLang="en-US" dirty="0"/>
              <a:t>）</a:t>
            </a:r>
            <a:r>
              <a:rPr lang="en-US" altLang="zh-CN" dirty="0"/>
              <a:t>height</a:t>
            </a:r>
            <a:r>
              <a:rPr lang="zh-CN" altLang="en-US" dirty="0"/>
              <a:t>和</a:t>
            </a:r>
            <a:r>
              <a:rPr lang="en-US" altLang="zh-CN" dirty="0"/>
              <a:t>width</a:t>
            </a:r>
            <a:r>
              <a:rPr lang="zh-CN" altLang="en-US" dirty="0"/>
              <a:t>属性。</a:t>
            </a:r>
            <a:endParaRPr lang="en-US" altLang="zh-CN" dirty="0"/>
          </a:p>
          <a:p>
            <a:pPr lvl="1"/>
            <a:r>
              <a:rPr lang="en-US" altLang="zh-CN" dirty="0"/>
              <a:t>height</a:t>
            </a:r>
            <a:r>
              <a:rPr lang="zh-CN" altLang="en-US" dirty="0"/>
              <a:t>是控件的高度，</a:t>
            </a:r>
            <a:r>
              <a:rPr lang="en-US" altLang="zh-CN" dirty="0"/>
              <a:t>width</a:t>
            </a:r>
            <a:r>
              <a:rPr lang="zh-CN" altLang="en-US" dirty="0"/>
              <a:t>是控件的宽度。</a:t>
            </a:r>
            <a:endParaRPr lang="en-US" altLang="zh-CN" dirty="0"/>
          </a:p>
          <a:p>
            <a:pPr lvl="1"/>
            <a:r>
              <a:rPr lang="zh-CN" altLang="en-US" dirty="0"/>
              <a:t>高度和宽度的度量单位：有些是像素、有些是字符。</a:t>
            </a:r>
          </a:p>
          <a:p>
            <a:pPr marL="0" indent="0">
              <a:buNone/>
            </a:pPr>
            <a:r>
              <a:rPr lang="zh-CN" altLang="en-US" dirty="0"/>
              <a:t>（</a:t>
            </a:r>
            <a:r>
              <a:rPr lang="en-US" altLang="zh-CN" dirty="0"/>
              <a:t>2</a:t>
            </a:r>
            <a:r>
              <a:rPr lang="zh-CN" altLang="en-US" dirty="0"/>
              <a:t>）</a:t>
            </a:r>
            <a:r>
              <a:rPr lang="en-US" altLang="zh-CN" dirty="0"/>
              <a:t>command</a:t>
            </a:r>
            <a:r>
              <a:rPr lang="zh-CN" altLang="en-US" dirty="0"/>
              <a:t>属性。</a:t>
            </a:r>
            <a:endParaRPr lang="en-US" altLang="zh-CN" dirty="0"/>
          </a:p>
          <a:p>
            <a:pPr lvl="1"/>
            <a:r>
              <a:rPr lang="zh-CN" altLang="en-US" dirty="0"/>
              <a:t>当对控件进行特定操作时，调用</a:t>
            </a:r>
            <a:r>
              <a:rPr lang="en-US" altLang="zh-CN" dirty="0"/>
              <a:t>command</a:t>
            </a:r>
            <a:r>
              <a:rPr lang="zh-CN" altLang="en-US" dirty="0"/>
              <a:t>属性指定的代码。</a:t>
            </a:r>
            <a:endParaRPr lang="en-US" altLang="zh-CN" dirty="0"/>
          </a:p>
          <a:p>
            <a:pPr lvl="1"/>
            <a:r>
              <a:rPr lang="zh-CN" altLang="en-US" dirty="0"/>
              <a:t>例如：</a:t>
            </a:r>
            <a:r>
              <a:rPr lang="en-US" altLang="zh-CN" dirty="0"/>
              <a:t>b1 = Button(</a:t>
            </a:r>
            <a:r>
              <a:rPr lang="en-US" altLang="zh-CN" dirty="0" err="1"/>
              <a:t>mainw</a:t>
            </a:r>
            <a:r>
              <a:rPr lang="en-US" altLang="zh-CN" dirty="0"/>
              <a:t>, text='</a:t>
            </a:r>
            <a:r>
              <a:rPr lang="zh-CN" altLang="en-US" dirty="0"/>
              <a:t>按钮</a:t>
            </a:r>
            <a:r>
              <a:rPr lang="en-US" altLang="zh-CN" dirty="0"/>
              <a:t>', command=</a:t>
            </a:r>
            <a:r>
              <a:rPr lang="en-US" altLang="zh-CN" dirty="0" err="1"/>
              <a:t>CallBack</a:t>
            </a:r>
            <a:r>
              <a:rPr lang="en-US" altLang="zh-CN" dirty="0"/>
              <a:t>)</a:t>
            </a:r>
            <a:r>
              <a:rPr lang="zh-CN" altLang="en-US" dirty="0"/>
              <a:t>，是单击该按钮</a:t>
            </a:r>
            <a:r>
              <a:rPr lang="en-US" altLang="zh-CN" dirty="0"/>
              <a:t>Button</a:t>
            </a:r>
            <a:r>
              <a:rPr lang="zh-CN" altLang="en-US" dirty="0"/>
              <a:t>控件时执行</a:t>
            </a:r>
            <a:r>
              <a:rPr lang="en-US" altLang="zh-CN" dirty="0" err="1"/>
              <a:t>CallBack</a:t>
            </a:r>
            <a:r>
              <a:rPr lang="zh-CN" altLang="en-US" dirty="0"/>
              <a:t>函数，</a:t>
            </a:r>
            <a:r>
              <a:rPr lang="en-US" altLang="zh-CN" dirty="0" err="1"/>
              <a:t>CallBack</a:t>
            </a:r>
            <a:r>
              <a:rPr lang="zh-CN" altLang="en-US" dirty="0"/>
              <a:t>也被称为回调函数。</a:t>
            </a:r>
          </a:p>
        </p:txBody>
      </p:sp>
      <p:sp>
        <p:nvSpPr>
          <p:cNvPr id="4" name="灯片编号占位符 3">
            <a:extLst>
              <a:ext uri="{FF2B5EF4-FFF2-40B4-BE49-F238E27FC236}">
                <a16:creationId xmlns:a16="http://schemas.microsoft.com/office/drawing/2014/main" id="{3FD8E2CB-5A4F-4F90-B257-808EDDE8D12B}"/>
              </a:ext>
            </a:extLst>
          </p:cNvPr>
          <p:cNvSpPr>
            <a:spLocks noGrp="1"/>
          </p:cNvSpPr>
          <p:nvPr>
            <p:ph type="sldNum" sz="quarter" idx="12"/>
          </p:nvPr>
        </p:nvSpPr>
        <p:spPr/>
        <p:txBody>
          <a:bodyPr/>
          <a:lstStyle/>
          <a:p>
            <a:fld id="{49AE70B2-8BF9-45C0-BB95-33D1B9D3A854}" type="slidenum">
              <a:rPr lang="zh-CN" altLang="en-US" smtClean="0"/>
              <a:t>19</a:t>
            </a:fld>
            <a:endParaRPr lang="zh-CN" altLang="en-US"/>
          </a:p>
        </p:txBody>
      </p:sp>
    </p:spTree>
    <p:extLst>
      <p:ext uri="{BB962C8B-B14F-4D97-AF65-F5344CB8AC3E}">
        <p14:creationId xmlns:p14="http://schemas.microsoft.com/office/powerpoint/2010/main" val="2102292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控件的公共属性</a:t>
            </a:r>
            <a:r>
              <a:rPr lang="en-US" altLang="zh-CN" dirty="0"/>
              <a:t>——font</a:t>
            </a:r>
            <a:r>
              <a:rPr lang="zh-CN" altLang="en-US" dirty="0"/>
              <a:t>属性</a:t>
            </a:r>
            <a:br>
              <a:rPr lang="en-US" altLang="zh-CN" dirty="0"/>
            </a:br>
            <a:endParaRPr lang="zh-CN" altLang="en-US" dirty="0"/>
          </a:p>
        </p:txBody>
      </p:sp>
      <p:sp>
        <p:nvSpPr>
          <p:cNvPr id="3" name="内容占位符 2"/>
          <p:cNvSpPr>
            <a:spLocks noGrp="1"/>
          </p:cNvSpPr>
          <p:nvPr>
            <p:ph idx="1"/>
          </p:nvPr>
        </p:nvSpPr>
        <p:spPr/>
        <p:txBody>
          <a:bodyPr>
            <a:normAutofit lnSpcReduction="10000"/>
          </a:bodyPr>
          <a:lstStyle/>
          <a:p>
            <a:r>
              <a:rPr lang="en-US" altLang="zh-CN" dirty="0"/>
              <a:t>font</a:t>
            </a:r>
            <a:r>
              <a:rPr lang="zh-CN" altLang="en-US" dirty="0"/>
              <a:t>属性用于控制控件的字体。</a:t>
            </a:r>
          </a:p>
          <a:p>
            <a:pPr marL="0" indent="0">
              <a:buNone/>
            </a:pPr>
            <a:r>
              <a:rPr lang="zh-CN" altLang="en-US" dirty="0"/>
              <a:t>格式</a:t>
            </a:r>
            <a:r>
              <a:rPr lang="en-US" altLang="zh-CN" dirty="0"/>
              <a:t>1</a:t>
            </a:r>
            <a:r>
              <a:rPr lang="zh-CN" altLang="en-US" dirty="0"/>
              <a:t>：</a:t>
            </a:r>
            <a:r>
              <a:rPr lang="en-US" altLang="zh-CN" dirty="0"/>
              <a:t>font = '</a:t>
            </a:r>
            <a:r>
              <a:rPr lang="zh-CN" altLang="en-US" dirty="0"/>
              <a:t>字体 </a:t>
            </a:r>
            <a:r>
              <a:rPr lang="en-US" altLang="zh-CN" dirty="0"/>
              <a:t>–</a:t>
            </a:r>
            <a:r>
              <a:rPr lang="zh-CN" altLang="en-US" dirty="0"/>
              <a:t>字号 </a:t>
            </a:r>
            <a:r>
              <a:rPr lang="en-US" altLang="zh-CN" dirty="0"/>
              <a:t>bold italic underline overstrike '</a:t>
            </a:r>
          </a:p>
          <a:p>
            <a:pPr marL="0" indent="0">
              <a:buNone/>
            </a:pPr>
            <a:r>
              <a:rPr lang="zh-CN" altLang="en-US" dirty="0"/>
              <a:t>格式</a:t>
            </a:r>
            <a:r>
              <a:rPr lang="en-US" altLang="zh-CN" dirty="0"/>
              <a:t>2</a:t>
            </a:r>
            <a:r>
              <a:rPr lang="zh-CN" altLang="en-US" dirty="0"/>
              <a:t>：</a:t>
            </a:r>
            <a:r>
              <a:rPr lang="en-US" altLang="zh-CN" dirty="0"/>
              <a:t>font = ('</a:t>
            </a:r>
            <a:r>
              <a:rPr lang="zh-CN" altLang="en-US" dirty="0"/>
              <a:t>字体</a:t>
            </a:r>
            <a:r>
              <a:rPr lang="en-US" altLang="zh-CN" dirty="0"/>
              <a:t>', </a:t>
            </a:r>
            <a:r>
              <a:rPr lang="zh-CN" altLang="en-US" dirty="0"/>
              <a:t>字号</a:t>
            </a:r>
            <a:r>
              <a:rPr lang="en-US" altLang="zh-CN" dirty="0"/>
              <a:t>, 'bold', 'italic', 'underline', 'overstrike')</a:t>
            </a:r>
          </a:p>
          <a:p>
            <a:pPr lvl="1"/>
            <a:r>
              <a:rPr lang="zh-CN" altLang="en-US" dirty="0"/>
              <a:t>六项字体格式参数：第</a:t>
            </a:r>
            <a:r>
              <a:rPr lang="en-US" altLang="zh-CN" dirty="0"/>
              <a:t>1</a:t>
            </a:r>
            <a:r>
              <a:rPr lang="zh-CN" altLang="en-US" dirty="0"/>
              <a:t>项是字体，第</a:t>
            </a:r>
            <a:r>
              <a:rPr lang="en-US" altLang="zh-CN" dirty="0"/>
              <a:t>2</a:t>
            </a:r>
            <a:r>
              <a:rPr lang="zh-CN" altLang="en-US" dirty="0"/>
              <a:t>项是字号大小，后面四项的顺序可以任意，也可以不出现。</a:t>
            </a:r>
          </a:p>
          <a:p>
            <a:pPr lvl="1"/>
            <a:r>
              <a:rPr lang="zh-CN" altLang="en-US" dirty="0"/>
              <a:t>格式</a:t>
            </a:r>
            <a:r>
              <a:rPr lang="en-US" altLang="zh-CN" dirty="0"/>
              <a:t>1</a:t>
            </a:r>
            <a:r>
              <a:rPr lang="zh-CN" altLang="en-US" dirty="0"/>
              <a:t>的字符串中，六项格式之间有空格，字号前有个负号。</a:t>
            </a:r>
          </a:p>
          <a:p>
            <a:pPr lvl="1"/>
            <a:r>
              <a:rPr lang="zh-CN" altLang="en-US" dirty="0"/>
              <a:t>格式</a:t>
            </a:r>
            <a:r>
              <a:rPr lang="en-US" altLang="zh-CN" dirty="0"/>
              <a:t>2</a:t>
            </a:r>
            <a:r>
              <a:rPr lang="zh-CN" altLang="en-US" dirty="0"/>
              <a:t>是一个元组，字号可以是整数也可以是字符串，其他项是字符串。字体和字号设为空字符串时，采用系统默认的设置。</a:t>
            </a:r>
          </a:p>
        </p:txBody>
      </p:sp>
      <p:sp>
        <p:nvSpPr>
          <p:cNvPr id="4" name="灯片编号占位符 3">
            <a:extLst>
              <a:ext uri="{FF2B5EF4-FFF2-40B4-BE49-F238E27FC236}">
                <a16:creationId xmlns:a16="http://schemas.microsoft.com/office/drawing/2014/main" id="{B806A700-F1BC-4498-A9AA-4604A3132599}"/>
              </a:ext>
            </a:extLst>
          </p:cNvPr>
          <p:cNvSpPr>
            <a:spLocks noGrp="1"/>
          </p:cNvSpPr>
          <p:nvPr>
            <p:ph type="sldNum" sz="quarter" idx="12"/>
          </p:nvPr>
        </p:nvSpPr>
        <p:spPr/>
        <p:txBody>
          <a:bodyPr/>
          <a:lstStyle/>
          <a:p>
            <a:fld id="{49AE70B2-8BF9-45C0-BB95-33D1B9D3A854}" type="slidenum">
              <a:rPr lang="zh-CN" altLang="en-US" smtClean="0"/>
              <a:t>20</a:t>
            </a:fld>
            <a:endParaRPr lang="zh-CN" altLang="en-US"/>
          </a:p>
        </p:txBody>
      </p:sp>
    </p:spTree>
    <p:extLst>
      <p:ext uri="{BB962C8B-B14F-4D97-AF65-F5344CB8AC3E}">
        <p14:creationId xmlns:p14="http://schemas.microsoft.com/office/powerpoint/2010/main" val="3595721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13.2.2 </a:t>
            </a:r>
            <a:r>
              <a:rPr lang="zh-CN" altLang="en-US" dirty="0"/>
              <a:t>按钮</a:t>
            </a:r>
          </a:p>
        </p:txBody>
      </p:sp>
      <p:sp>
        <p:nvSpPr>
          <p:cNvPr id="3" name="内容占位符 2"/>
          <p:cNvSpPr>
            <a:spLocks noGrp="1"/>
          </p:cNvSpPr>
          <p:nvPr>
            <p:ph idx="1"/>
          </p:nvPr>
        </p:nvSpPr>
        <p:spPr>
          <a:xfrm>
            <a:off x="669925" y="1160145"/>
            <a:ext cx="10852150" cy="5365199"/>
          </a:xfrm>
        </p:spPr>
        <p:txBody>
          <a:bodyPr>
            <a:normAutofit/>
          </a:bodyPr>
          <a:lstStyle/>
          <a:p>
            <a:r>
              <a:rPr lang="en-US" altLang="zh-CN" dirty="0"/>
              <a:t>Button</a:t>
            </a:r>
            <a:r>
              <a:rPr lang="zh-CN" altLang="en-US" dirty="0"/>
              <a:t>（按钮）控件用来实现各种按钮。按钮能够包含文本或图像，并能将按钮与一个</a:t>
            </a:r>
            <a:r>
              <a:rPr lang="en-US" altLang="zh-CN" dirty="0"/>
              <a:t>Python</a:t>
            </a:r>
            <a:r>
              <a:rPr lang="zh-CN" altLang="en-US" dirty="0"/>
              <a:t>函数或方法相关联。</a:t>
            </a:r>
            <a:endParaRPr lang="en-US" altLang="zh-CN" dirty="0"/>
          </a:p>
          <a:p>
            <a:pPr marL="457200" lvl="1" indent="0">
              <a:buNone/>
            </a:pPr>
            <a:r>
              <a:rPr lang="zh-CN" altLang="en-US" dirty="0"/>
              <a:t>变量 </a:t>
            </a:r>
            <a:r>
              <a:rPr lang="en-US" altLang="zh-CN" dirty="0"/>
              <a:t>= Button(</a:t>
            </a:r>
            <a:r>
              <a:rPr lang="zh-CN" altLang="en-US" dirty="0"/>
              <a:t>父容器对象名</a:t>
            </a:r>
            <a:r>
              <a:rPr lang="en-US" altLang="zh-CN" dirty="0"/>
              <a:t>[, text=</a:t>
            </a:r>
            <a:r>
              <a:rPr lang="zh-CN" altLang="en-US" dirty="0"/>
              <a:t>显示文本</a:t>
            </a:r>
            <a:r>
              <a:rPr lang="en-US" altLang="zh-CN" dirty="0"/>
              <a:t>[, command=</a:t>
            </a:r>
            <a:r>
              <a:rPr lang="zh-CN" altLang="en-US" dirty="0"/>
              <a:t>事件响应函数或命令</a:t>
            </a:r>
            <a:r>
              <a:rPr lang="en-US" altLang="zh-CN" dirty="0"/>
              <a:t>]])</a:t>
            </a:r>
          </a:p>
          <a:p>
            <a:r>
              <a:rPr lang="en-US" altLang="zh-CN" dirty="0"/>
              <a:t>【</a:t>
            </a:r>
            <a:r>
              <a:rPr lang="zh-CN" altLang="en-US" dirty="0"/>
              <a:t>例</a:t>
            </a:r>
            <a:r>
              <a:rPr lang="en-US" altLang="zh-CN" dirty="0"/>
              <a:t>13-4】</a:t>
            </a:r>
            <a:r>
              <a:rPr lang="zh-CN" altLang="en-US" dirty="0"/>
              <a:t>图标按钮的演示。</a:t>
            </a:r>
          </a:p>
        </p:txBody>
      </p:sp>
      <p:pic>
        <p:nvPicPr>
          <p:cNvPr id="5" name="图片 4"/>
          <p:cNvPicPr>
            <a:picLocks noChangeAspect="1"/>
          </p:cNvPicPr>
          <p:nvPr/>
        </p:nvPicPr>
        <p:blipFill>
          <a:blip r:embed="rId2"/>
          <a:stretch>
            <a:fillRect/>
          </a:stretch>
        </p:blipFill>
        <p:spPr>
          <a:xfrm>
            <a:off x="7536160" y="3483006"/>
            <a:ext cx="3168352" cy="2904323"/>
          </a:xfrm>
          <a:prstGeom prst="rect">
            <a:avLst/>
          </a:prstGeom>
          <a:noFill/>
          <a:ln>
            <a:noFill/>
          </a:ln>
        </p:spPr>
      </p:pic>
      <p:sp>
        <p:nvSpPr>
          <p:cNvPr id="4" name="灯片编号占位符 3">
            <a:extLst>
              <a:ext uri="{FF2B5EF4-FFF2-40B4-BE49-F238E27FC236}">
                <a16:creationId xmlns:a16="http://schemas.microsoft.com/office/drawing/2014/main" id="{DB09A8C8-2908-4ABF-A6A9-E7761990342F}"/>
              </a:ext>
            </a:extLst>
          </p:cNvPr>
          <p:cNvSpPr>
            <a:spLocks noGrp="1"/>
          </p:cNvSpPr>
          <p:nvPr>
            <p:ph type="sldNum" sz="quarter" idx="12"/>
          </p:nvPr>
        </p:nvSpPr>
        <p:spPr/>
        <p:txBody>
          <a:bodyPr/>
          <a:lstStyle/>
          <a:p>
            <a:fld id="{49AE70B2-8BF9-45C0-BB95-33D1B9D3A854}" type="slidenum">
              <a:rPr lang="zh-CN" altLang="en-US" smtClean="0"/>
              <a:t>21</a:t>
            </a:fld>
            <a:endParaRPr lang="zh-CN" altLang="en-US"/>
          </a:p>
        </p:txBody>
      </p:sp>
    </p:spTree>
    <p:extLst>
      <p:ext uri="{BB962C8B-B14F-4D97-AF65-F5344CB8AC3E}">
        <p14:creationId xmlns:p14="http://schemas.microsoft.com/office/powerpoint/2010/main" val="1903242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Button</a:t>
            </a:r>
            <a:r>
              <a:rPr lang="zh-CN" altLang="en-US" dirty="0"/>
              <a:t>控件的属性</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1155055859"/>
              </p:ext>
            </p:extLst>
          </p:nvPr>
        </p:nvGraphicFramePr>
        <p:xfrm>
          <a:off x="479377" y="1160145"/>
          <a:ext cx="11042698" cy="5466074"/>
        </p:xfrm>
        <a:graphic>
          <a:graphicData uri="http://schemas.openxmlformats.org/drawingml/2006/table">
            <a:tbl>
              <a:tblPr firstRow="1" firstCol="1" bandRow="1">
                <a:tableStyleId>{5C22544A-7EE6-4342-B048-85BDC9FD1C3A}</a:tableStyleId>
              </a:tblPr>
              <a:tblGrid>
                <a:gridCol w="1712004">
                  <a:extLst>
                    <a:ext uri="{9D8B030D-6E8A-4147-A177-3AD203B41FA5}">
                      <a16:colId xmlns:a16="http://schemas.microsoft.com/office/drawing/2014/main" val="3385501947"/>
                    </a:ext>
                  </a:extLst>
                </a:gridCol>
                <a:gridCol w="9330694">
                  <a:extLst>
                    <a:ext uri="{9D8B030D-6E8A-4147-A177-3AD203B41FA5}">
                      <a16:colId xmlns:a16="http://schemas.microsoft.com/office/drawing/2014/main" val="2654160445"/>
                    </a:ext>
                  </a:extLst>
                </a:gridCol>
              </a:tblGrid>
              <a:tr h="388854">
                <a:tc>
                  <a:txBody>
                    <a:bodyPr/>
                    <a:lstStyle/>
                    <a:p>
                      <a:pPr indent="266700" algn="ctr">
                        <a:spcAft>
                          <a:spcPts val="0"/>
                        </a:spcAft>
                      </a:pPr>
                      <a:r>
                        <a:rPr lang="zh-CN" sz="2000" kern="100">
                          <a:effectLst/>
                        </a:rPr>
                        <a:t>属性</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spcAft>
                          <a:spcPts val="0"/>
                        </a:spcAft>
                      </a:pPr>
                      <a:r>
                        <a:rPr lang="zh-CN" sz="2000" kern="100">
                          <a:effectLst/>
                        </a:rPr>
                        <a:t>作用及用法</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2969220"/>
                  </a:ext>
                </a:extLst>
              </a:tr>
              <a:tr h="388854">
                <a:tc>
                  <a:txBody>
                    <a:bodyPr/>
                    <a:lstStyle/>
                    <a:p>
                      <a:pPr indent="0" algn="l">
                        <a:spcAft>
                          <a:spcPts val="0"/>
                        </a:spcAft>
                      </a:pPr>
                      <a:r>
                        <a:rPr lang="en-US" sz="2000" kern="100" dirty="0">
                          <a:effectLst/>
                        </a:rPr>
                        <a:t>text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dirty="0">
                          <a:effectLst/>
                        </a:rPr>
                        <a:t>按钮表面的提示文字。</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82017503"/>
                  </a:ext>
                </a:extLst>
              </a:tr>
              <a:tr h="388854">
                <a:tc>
                  <a:txBody>
                    <a:bodyPr/>
                    <a:lstStyle/>
                    <a:p>
                      <a:pPr indent="0" algn="l">
                        <a:spcAft>
                          <a:spcPts val="0"/>
                        </a:spcAft>
                      </a:pPr>
                      <a:r>
                        <a:rPr lang="en-US" sz="2000" kern="100" dirty="0">
                          <a:effectLst/>
                        </a:rPr>
                        <a:t>command</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dirty="0">
                          <a:effectLst/>
                        </a:rPr>
                        <a:t>对按钮点击鼠标时系统会执行的响应代码。</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80460847"/>
                  </a:ext>
                </a:extLst>
              </a:tr>
              <a:tr h="388854">
                <a:tc>
                  <a:txBody>
                    <a:bodyPr/>
                    <a:lstStyle/>
                    <a:p>
                      <a:pPr indent="0" algn="l">
                        <a:spcAft>
                          <a:spcPts val="0"/>
                        </a:spcAft>
                      </a:pPr>
                      <a:r>
                        <a:rPr lang="en-US" sz="2000" kern="100" dirty="0">
                          <a:effectLst/>
                        </a:rPr>
                        <a:t>width</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dirty="0">
                          <a:effectLst/>
                        </a:rPr>
                        <a:t>宽度，度量单位为字符。</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200546817"/>
                  </a:ext>
                </a:extLst>
              </a:tr>
              <a:tr h="425407">
                <a:tc>
                  <a:txBody>
                    <a:bodyPr/>
                    <a:lstStyle/>
                    <a:p>
                      <a:pPr indent="0" algn="l">
                        <a:spcAft>
                          <a:spcPts val="0"/>
                        </a:spcAft>
                      </a:pPr>
                      <a:r>
                        <a:rPr lang="en-US" sz="2000" kern="100" dirty="0">
                          <a:effectLst/>
                        </a:rPr>
                        <a:t>height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dirty="0">
                          <a:effectLst/>
                        </a:rPr>
                        <a:t>高度，度量单位为字符。</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30577137"/>
                  </a:ext>
                </a:extLst>
              </a:tr>
              <a:tr h="720080">
                <a:tc>
                  <a:txBody>
                    <a:bodyPr/>
                    <a:lstStyle/>
                    <a:p>
                      <a:pPr indent="0" algn="l">
                        <a:spcAft>
                          <a:spcPts val="0"/>
                        </a:spcAft>
                      </a:pPr>
                      <a:r>
                        <a:rPr lang="en-US" sz="2000" kern="100" dirty="0">
                          <a:effectLst/>
                        </a:rPr>
                        <a:t>bitmap</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a:effectLst/>
                        </a:rPr>
                        <a:t>显示系统内置的图标，可选图标参数有</a:t>
                      </a:r>
                      <a:r>
                        <a:rPr lang="en-US" sz="2000" kern="100">
                          <a:effectLst/>
                        </a:rPr>
                        <a:t>error</a:t>
                      </a:r>
                      <a:r>
                        <a:rPr lang="zh-CN" sz="2000" kern="100">
                          <a:effectLst/>
                        </a:rPr>
                        <a:t>、</a:t>
                      </a:r>
                      <a:r>
                        <a:rPr lang="en-US" sz="2000" kern="100">
                          <a:effectLst/>
                        </a:rPr>
                        <a:t>hourglass</a:t>
                      </a:r>
                      <a:r>
                        <a:rPr lang="zh-CN" sz="2000" kern="100">
                          <a:effectLst/>
                        </a:rPr>
                        <a:t>、</a:t>
                      </a:r>
                      <a:r>
                        <a:rPr lang="en-US" sz="2000" kern="100">
                          <a:effectLst/>
                        </a:rPr>
                        <a:t>info</a:t>
                      </a:r>
                      <a:r>
                        <a:rPr lang="zh-CN" sz="2000" kern="100">
                          <a:effectLst/>
                        </a:rPr>
                        <a:t>、</a:t>
                      </a:r>
                      <a:r>
                        <a:rPr lang="en-US" sz="2000" kern="100">
                          <a:effectLst/>
                        </a:rPr>
                        <a:t>questhead</a:t>
                      </a:r>
                      <a:r>
                        <a:rPr lang="zh-CN" sz="2000" kern="100">
                          <a:effectLst/>
                        </a:rPr>
                        <a:t>、</a:t>
                      </a:r>
                      <a:r>
                        <a:rPr lang="en-US" sz="2000" kern="100">
                          <a:effectLst/>
                        </a:rPr>
                        <a:t>question</a:t>
                      </a:r>
                      <a:r>
                        <a:rPr lang="zh-CN" sz="2000" kern="100">
                          <a:effectLst/>
                        </a:rPr>
                        <a:t>、</a:t>
                      </a:r>
                      <a:r>
                        <a:rPr lang="en-US" sz="2000" kern="100">
                          <a:effectLst/>
                        </a:rPr>
                        <a:t>warning</a:t>
                      </a:r>
                      <a:r>
                        <a:rPr lang="zh-CN" sz="2000" kern="100">
                          <a:effectLst/>
                        </a:rPr>
                        <a:t>、</a:t>
                      </a:r>
                      <a:r>
                        <a:rPr lang="en-US" sz="2000" kern="100">
                          <a:effectLst/>
                        </a:rPr>
                        <a:t>gray12</a:t>
                      </a:r>
                      <a:r>
                        <a:rPr lang="zh-CN" sz="2000" kern="100">
                          <a:effectLst/>
                        </a:rPr>
                        <a:t>、</a:t>
                      </a:r>
                      <a:r>
                        <a:rPr lang="en-US" sz="2000" kern="100">
                          <a:effectLst/>
                        </a:rPr>
                        <a:t>gray25</a:t>
                      </a:r>
                      <a:r>
                        <a:rPr lang="zh-CN" sz="2000" kern="100">
                          <a:effectLst/>
                        </a:rPr>
                        <a:t>、</a:t>
                      </a:r>
                      <a:r>
                        <a:rPr lang="en-US" sz="2000" kern="100">
                          <a:effectLst/>
                        </a:rPr>
                        <a:t>gray50</a:t>
                      </a:r>
                      <a:r>
                        <a:rPr lang="zh-CN" sz="2000" kern="100">
                          <a:effectLst/>
                        </a:rPr>
                        <a:t>、</a:t>
                      </a:r>
                      <a:r>
                        <a:rPr lang="en-US" sz="2000" kern="100">
                          <a:effectLst/>
                        </a:rPr>
                        <a:t>gray75</a:t>
                      </a: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25432742"/>
                  </a:ext>
                </a:extLst>
              </a:tr>
              <a:tr h="432048">
                <a:tc>
                  <a:txBody>
                    <a:bodyPr/>
                    <a:lstStyle/>
                    <a:p>
                      <a:pPr indent="0" algn="l">
                        <a:spcAft>
                          <a:spcPts val="0"/>
                        </a:spcAft>
                      </a:pPr>
                      <a:r>
                        <a:rPr lang="en-US" sz="2000" kern="100" dirty="0">
                          <a:effectLst/>
                        </a:rPr>
                        <a:t>image</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a:effectLst/>
                        </a:rPr>
                        <a:t>显示自定义的图片。</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22835682"/>
                  </a:ext>
                </a:extLst>
              </a:tr>
              <a:tr h="388854">
                <a:tc>
                  <a:txBody>
                    <a:bodyPr/>
                    <a:lstStyle/>
                    <a:p>
                      <a:pPr indent="0" algn="l">
                        <a:spcAft>
                          <a:spcPts val="0"/>
                        </a:spcAft>
                      </a:pPr>
                      <a:r>
                        <a:rPr lang="en-US" sz="2000" kern="100" dirty="0" err="1">
                          <a:effectLst/>
                        </a:rPr>
                        <a:t>bg</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a:effectLst/>
                        </a:rPr>
                        <a:t>背景色。</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37134615"/>
                  </a:ext>
                </a:extLst>
              </a:tr>
              <a:tr h="388854">
                <a:tc>
                  <a:txBody>
                    <a:bodyPr/>
                    <a:lstStyle/>
                    <a:p>
                      <a:pPr indent="0" algn="l">
                        <a:spcAft>
                          <a:spcPts val="0"/>
                        </a:spcAft>
                      </a:pPr>
                      <a:r>
                        <a:rPr lang="en-US" sz="2000" kern="100" dirty="0" err="1">
                          <a:effectLst/>
                        </a:rPr>
                        <a:t>fg</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a:effectLst/>
                        </a:rPr>
                        <a:t>前景色。</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25416783"/>
                  </a:ext>
                </a:extLst>
              </a:tr>
              <a:tr h="388854">
                <a:tc>
                  <a:txBody>
                    <a:bodyPr/>
                    <a:lstStyle/>
                    <a:p>
                      <a:pPr indent="0" algn="l">
                        <a:spcAft>
                          <a:spcPts val="0"/>
                        </a:spcAft>
                      </a:pPr>
                      <a:r>
                        <a:rPr lang="en-US" sz="2000" kern="100" dirty="0" err="1">
                          <a:effectLst/>
                        </a:rPr>
                        <a:t>bd</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a:effectLst/>
                        </a:rPr>
                        <a:t>按钮的边框粗细，缺省为</a:t>
                      </a:r>
                      <a:r>
                        <a:rPr lang="en-US" sz="2000" kern="100">
                          <a:effectLst/>
                        </a:rPr>
                        <a:t>1</a:t>
                      </a:r>
                      <a:r>
                        <a:rPr lang="zh-CN" sz="2000" kern="100">
                          <a:effectLst/>
                        </a:rPr>
                        <a:t>或</a:t>
                      </a:r>
                      <a:r>
                        <a:rPr lang="en-US" sz="2000" kern="100">
                          <a:effectLst/>
                        </a:rPr>
                        <a:t>2</a:t>
                      </a:r>
                      <a:r>
                        <a:rPr lang="zh-CN" sz="2000" kern="100">
                          <a:effectLst/>
                        </a:rPr>
                        <a:t>个像素。</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03794394"/>
                  </a:ext>
                </a:extLst>
              </a:tr>
              <a:tr h="388854">
                <a:tc>
                  <a:txBody>
                    <a:bodyPr/>
                    <a:lstStyle/>
                    <a:p>
                      <a:pPr indent="0" algn="l">
                        <a:spcAft>
                          <a:spcPts val="0"/>
                        </a:spcAft>
                      </a:pPr>
                      <a:r>
                        <a:rPr lang="en-US" sz="2000" kern="100" dirty="0">
                          <a:effectLst/>
                        </a:rPr>
                        <a:t>state</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a:effectLst/>
                        </a:rPr>
                        <a:t>按钮的状态，可以设为正常</a:t>
                      </a:r>
                      <a:r>
                        <a:rPr lang="en-US" sz="2000" kern="100">
                          <a:effectLst/>
                        </a:rPr>
                        <a:t>normal</a:t>
                      </a:r>
                      <a:r>
                        <a:rPr lang="zh-CN" sz="2000" kern="100">
                          <a:effectLst/>
                        </a:rPr>
                        <a:t>、激活</a:t>
                      </a:r>
                      <a:r>
                        <a:rPr lang="en-US" sz="2000" kern="100">
                          <a:effectLst/>
                        </a:rPr>
                        <a:t>active</a:t>
                      </a:r>
                      <a:r>
                        <a:rPr lang="zh-CN" sz="2000" kern="100">
                          <a:effectLst/>
                        </a:rPr>
                        <a:t>和禁用</a:t>
                      </a:r>
                      <a:r>
                        <a:rPr lang="en-US" sz="2000" kern="100">
                          <a:effectLst/>
                        </a:rPr>
                        <a:t>disabled</a:t>
                      </a: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76585906"/>
                  </a:ext>
                </a:extLst>
              </a:tr>
              <a:tr h="777707">
                <a:tc>
                  <a:txBody>
                    <a:bodyPr/>
                    <a:lstStyle/>
                    <a:p>
                      <a:pPr indent="0" algn="l">
                        <a:spcAft>
                          <a:spcPts val="0"/>
                        </a:spcAft>
                      </a:pPr>
                      <a:r>
                        <a:rPr lang="en-US" sz="2000" kern="100" dirty="0">
                          <a:effectLst/>
                        </a:rPr>
                        <a:t>relief</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dirty="0">
                          <a:effectLst/>
                        </a:rPr>
                        <a:t>按钮边框的</a:t>
                      </a:r>
                      <a:r>
                        <a:rPr lang="en-US" sz="2000" kern="100" dirty="0">
                          <a:effectLst/>
                        </a:rPr>
                        <a:t>3D</a:t>
                      </a:r>
                      <a:r>
                        <a:rPr lang="zh-CN" sz="2000" kern="100" dirty="0">
                          <a:effectLst/>
                        </a:rPr>
                        <a:t>效果，可以设为</a:t>
                      </a:r>
                      <a:r>
                        <a:rPr lang="en-US" sz="2000" kern="100" dirty="0">
                          <a:effectLst/>
                        </a:rPr>
                        <a:t>FLAT</a:t>
                      </a:r>
                      <a:r>
                        <a:rPr lang="zh-CN" sz="2000" kern="100" dirty="0">
                          <a:effectLst/>
                        </a:rPr>
                        <a:t>、</a:t>
                      </a:r>
                      <a:r>
                        <a:rPr lang="en-US" sz="2000" kern="100" dirty="0">
                          <a:effectLst/>
                        </a:rPr>
                        <a:t>GROOVE</a:t>
                      </a:r>
                      <a:r>
                        <a:rPr lang="zh-CN" sz="2000" kern="100" dirty="0">
                          <a:effectLst/>
                        </a:rPr>
                        <a:t>、</a:t>
                      </a:r>
                      <a:r>
                        <a:rPr lang="en-US" sz="2000" kern="100" dirty="0">
                          <a:effectLst/>
                        </a:rPr>
                        <a:t>RAISED</a:t>
                      </a:r>
                      <a:r>
                        <a:rPr lang="zh-CN" sz="2000" kern="100" dirty="0">
                          <a:effectLst/>
                        </a:rPr>
                        <a:t>、</a:t>
                      </a:r>
                      <a:r>
                        <a:rPr lang="en-US" sz="2000" kern="100" dirty="0">
                          <a:effectLst/>
                        </a:rPr>
                        <a:t>RIDGE</a:t>
                      </a:r>
                      <a:r>
                        <a:rPr lang="zh-CN" sz="2000" kern="100" dirty="0">
                          <a:effectLst/>
                        </a:rPr>
                        <a:t>、</a:t>
                      </a:r>
                      <a:r>
                        <a:rPr lang="en-US" sz="2000" kern="100" dirty="0">
                          <a:effectLst/>
                        </a:rPr>
                        <a:t>SOLID</a:t>
                      </a:r>
                      <a:r>
                        <a:rPr lang="zh-CN" sz="2000" kern="100" dirty="0">
                          <a:effectLst/>
                        </a:rPr>
                        <a:t>、</a:t>
                      </a:r>
                      <a:r>
                        <a:rPr lang="en-US" sz="2000" kern="100" dirty="0">
                          <a:effectLst/>
                        </a:rPr>
                        <a:t>SUNKEN</a:t>
                      </a:r>
                      <a:r>
                        <a:rPr lang="zh-CN" sz="2000" kern="100" dirty="0">
                          <a:effectLst/>
                        </a:rPr>
                        <a:t>等。</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59323254"/>
                  </a:ext>
                </a:extLst>
              </a:tr>
            </a:tbl>
          </a:graphicData>
        </a:graphic>
      </p:graphicFrame>
      <p:sp>
        <p:nvSpPr>
          <p:cNvPr id="3" name="灯片编号占位符 2">
            <a:extLst>
              <a:ext uri="{FF2B5EF4-FFF2-40B4-BE49-F238E27FC236}">
                <a16:creationId xmlns:a16="http://schemas.microsoft.com/office/drawing/2014/main" id="{917F743C-6995-4A90-A405-4B8D33BA5F76}"/>
              </a:ext>
            </a:extLst>
          </p:cNvPr>
          <p:cNvSpPr>
            <a:spLocks noGrp="1"/>
          </p:cNvSpPr>
          <p:nvPr>
            <p:ph type="sldNum" sz="quarter" idx="12"/>
          </p:nvPr>
        </p:nvSpPr>
        <p:spPr/>
        <p:txBody>
          <a:bodyPr/>
          <a:lstStyle/>
          <a:p>
            <a:fld id="{49AE70B2-8BF9-45C0-BB95-33D1B9D3A854}" type="slidenum">
              <a:rPr lang="zh-CN" altLang="en-US" smtClean="0"/>
              <a:t>22</a:t>
            </a:fld>
            <a:endParaRPr lang="zh-CN" altLang="en-US"/>
          </a:p>
        </p:txBody>
      </p:sp>
    </p:spTree>
    <p:extLst>
      <p:ext uri="{BB962C8B-B14F-4D97-AF65-F5344CB8AC3E}">
        <p14:creationId xmlns:p14="http://schemas.microsoft.com/office/powerpoint/2010/main" val="853844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13.2.3 </a:t>
            </a:r>
            <a:r>
              <a:rPr lang="zh-CN" altLang="en-US" dirty="0"/>
              <a:t>标签和消息</a:t>
            </a:r>
          </a:p>
        </p:txBody>
      </p:sp>
      <p:sp>
        <p:nvSpPr>
          <p:cNvPr id="3" name="内容占位符 2"/>
          <p:cNvSpPr>
            <a:spLocks noGrp="1"/>
          </p:cNvSpPr>
          <p:nvPr>
            <p:ph idx="1"/>
          </p:nvPr>
        </p:nvSpPr>
        <p:spPr/>
        <p:txBody>
          <a:bodyPr/>
          <a:lstStyle/>
          <a:p>
            <a:r>
              <a:rPr lang="zh-CN" altLang="en-US" dirty="0"/>
              <a:t>标签</a:t>
            </a:r>
            <a:r>
              <a:rPr lang="en-US" altLang="zh-CN" dirty="0"/>
              <a:t>Label</a:t>
            </a:r>
            <a:r>
              <a:rPr lang="zh-CN" altLang="en-US" dirty="0"/>
              <a:t>控件</a:t>
            </a:r>
          </a:p>
          <a:p>
            <a:pPr lvl="1"/>
            <a:r>
              <a:rPr lang="en-US" altLang="zh-CN" dirty="0"/>
              <a:t>Label</a:t>
            </a:r>
            <a:r>
              <a:rPr lang="zh-CN" altLang="en-US" dirty="0"/>
              <a:t>（标签）控件用于显示文本。</a:t>
            </a:r>
          </a:p>
          <a:p>
            <a:pPr marL="0" indent="0" algn="ctr">
              <a:buNone/>
            </a:pPr>
            <a:r>
              <a:rPr lang="zh-CN" altLang="en-US" dirty="0"/>
              <a:t>变量 </a:t>
            </a:r>
            <a:r>
              <a:rPr lang="en-US" altLang="zh-CN" dirty="0"/>
              <a:t>= Label(</a:t>
            </a:r>
            <a:r>
              <a:rPr lang="zh-CN" altLang="en-US" dirty="0"/>
              <a:t>父容器对象名</a:t>
            </a:r>
            <a:r>
              <a:rPr lang="en-US" altLang="zh-CN" dirty="0"/>
              <a:t>[, text=</a:t>
            </a:r>
            <a:r>
              <a:rPr lang="zh-CN" altLang="en-US" dirty="0"/>
              <a:t>显示文本</a:t>
            </a:r>
            <a:r>
              <a:rPr lang="en-US" altLang="zh-CN" dirty="0"/>
              <a:t>])</a:t>
            </a:r>
          </a:p>
          <a:p>
            <a:pPr lvl="2"/>
            <a:r>
              <a:rPr lang="en-US" altLang="zh-CN" dirty="0"/>
              <a:t>Label</a:t>
            </a:r>
            <a:r>
              <a:rPr lang="zh-CN" altLang="en-US" dirty="0"/>
              <a:t>控件文本的内容由</a:t>
            </a:r>
            <a:r>
              <a:rPr lang="en-US" altLang="zh-CN" dirty="0"/>
              <a:t>text</a:t>
            </a:r>
            <a:r>
              <a:rPr lang="zh-CN" altLang="en-US" dirty="0"/>
              <a:t>属性指定。</a:t>
            </a:r>
            <a:endParaRPr lang="en-US" altLang="zh-CN" dirty="0"/>
          </a:p>
          <a:p>
            <a:pPr lvl="2"/>
            <a:r>
              <a:rPr lang="en-US" altLang="zh-CN" dirty="0"/>
              <a:t>Label</a:t>
            </a:r>
            <a:r>
              <a:rPr lang="zh-CN" altLang="en-US" dirty="0"/>
              <a:t>控件还可以使用</a:t>
            </a:r>
            <a:r>
              <a:rPr lang="en-US" altLang="zh-CN" dirty="0"/>
              <a:t>bitmap</a:t>
            </a:r>
            <a:r>
              <a:rPr lang="zh-CN" altLang="en-US" dirty="0"/>
              <a:t>属性显示系统图标，或使用</a:t>
            </a:r>
            <a:r>
              <a:rPr lang="en-US" altLang="zh-CN" dirty="0"/>
              <a:t>image</a:t>
            </a:r>
            <a:r>
              <a:rPr lang="zh-CN" altLang="en-US" dirty="0"/>
              <a:t>属性显示自定义图片</a:t>
            </a:r>
            <a:endParaRPr lang="en-US" altLang="zh-CN" dirty="0"/>
          </a:p>
          <a:p>
            <a:r>
              <a:rPr lang="en-US" altLang="zh-CN" dirty="0"/>
              <a:t>【</a:t>
            </a:r>
            <a:r>
              <a:rPr lang="zh-CN" altLang="en-US" dirty="0"/>
              <a:t>例</a:t>
            </a:r>
            <a:r>
              <a:rPr lang="en-US" altLang="zh-CN" dirty="0"/>
              <a:t>13-5】</a:t>
            </a:r>
            <a:r>
              <a:rPr lang="zh-CN" altLang="en-US" dirty="0"/>
              <a:t>标签控件的演示。</a:t>
            </a:r>
          </a:p>
          <a:p>
            <a:endParaRPr lang="zh-CN" altLang="en-US" dirty="0"/>
          </a:p>
        </p:txBody>
      </p:sp>
      <p:pic>
        <p:nvPicPr>
          <p:cNvPr id="4" name="图片 3"/>
          <p:cNvPicPr>
            <a:picLocks noChangeAspect="1"/>
          </p:cNvPicPr>
          <p:nvPr/>
        </p:nvPicPr>
        <p:blipFill>
          <a:blip r:embed="rId2"/>
          <a:stretch>
            <a:fillRect/>
          </a:stretch>
        </p:blipFill>
        <p:spPr>
          <a:xfrm>
            <a:off x="8472264" y="4725144"/>
            <a:ext cx="2885282" cy="1750089"/>
          </a:xfrm>
          <a:prstGeom prst="rect">
            <a:avLst/>
          </a:prstGeom>
        </p:spPr>
      </p:pic>
      <p:sp>
        <p:nvSpPr>
          <p:cNvPr id="5" name="灯片编号占位符 4">
            <a:extLst>
              <a:ext uri="{FF2B5EF4-FFF2-40B4-BE49-F238E27FC236}">
                <a16:creationId xmlns:a16="http://schemas.microsoft.com/office/drawing/2014/main" id="{4107728F-D5B7-4471-84C9-4E276E66E883}"/>
              </a:ext>
            </a:extLst>
          </p:cNvPr>
          <p:cNvSpPr>
            <a:spLocks noGrp="1"/>
          </p:cNvSpPr>
          <p:nvPr>
            <p:ph type="sldNum" sz="quarter" idx="12"/>
          </p:nvPr>
        </p:nvSpPr>
        <p:spPr/>
        <p:txBody>
          <a:bodyPr/>
          <a:lstStyle/>
          <a:p>
            <a:fld id="{49AE70B2-8BF9-45C0-BB95-33D1B9D3A854}" type="slidenum">
              <a:rPr lang="zh-CN" altLang="en-US" smtClean="0"/>
              <a:t>23</a:t>
            </a:fld>
            <a:endParaRPr lang="zh-CN" altLang="en-US"/>
          </a:p>
        </p:txBody>
      </p:sp>
    </p:spTree>
    <p:extLst>
      <p:ext uri="{BB962C8B-B14F-4D97-AF65-F5344CB8AC3E}">
        <p14:creationId xmlns:p14="http://schemas.microsoft.com/office/powerpoint/2010/main" val="884363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Label</a:t>
            </a:r>
            <a:r>
              <a:rPr lang="zh-CN" altLang="en-US" dirty="0"/>
              <a:t>控件的常用属性</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2973078818"/>
              </p:ext>
            </p:extLst>
          </p:nvPr>
        </p:nvGraphicFramePr>
        <p:xfrm>
          <a:off x="839416" y="1160145"/>
          <a:ext cx="10970691" cy="4969276"/>
        </p:xfrm>
        <a:graphic>
          <a:graphicData uri="http://schemas.openxmlformats.org/drawingml/2006/table">
            <a:tbl>
              <a:tblPr firstRow="1" firstCol="1" bandRow="1">
                <a:tableStyleId>{5C22544A-7EE6-4342-B048-85BDC9FD1C3A}</a:tableStyleId>
              </a:tblPr>
              <a:tblGrid>
                <a:gridCol w="1728192">
                  <a:extLst>
                    <a:ext uri="{9D8B030D-6E8A-4147-A177-3AD203B41FA5}">
                      <a16:colId xmlns:a16="http://schemas.microsoft.com/office/drawing/2014/main" val="1153556461"/>
                    </a:ext>
                  </a:extLst>
                </a:gridCol>
                <a:gridCol w="9242499">
                  <a:extLst>
                    <a:ext uri="{9D8B030D-6E8A-4147-A177-3AD203B41FA5}">
                      <a16:colId xmlns:a16="http://schemas.microsoft.com/office/drawing/2014/main" val="1201547000"/>
                    </a:ext>
                  </a:extLst>
                </a:gridCol>
              </a:tblGrid>
              <a:tr h="348079">
                <a:tc>
                  <a:txBody>
                    <a:bodyPr/>
                    <a:lstStyle/>
                    <a:p>
                      <a:pPr indent="0" algn="ctr">
                        <a:spcAft>
                          <a:spcPts val="0"/>
                        </a:spcAft>
                      </a:pPr>
                      <a:r>
                        <a:rPr lang="zh-CN" sz="2200" kern="100">
                          <a:effectLst/>
                        </a:rPr>
                        <a:t>属性</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zh-CN" sz="2200" kern="100" dirty="0">
                          <a:effectLst/>
                        </a:rPr>
                        <a:t>作用及用法</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55345175"/>
                  </a:ext>
                </a:extLst>
              </a:tr>
              <a:tr h="348079">
                <a:tc>
                  <a:txBody>
                    <a:bodyPr/>
                    <a:lstStyle/>
                    <a:p>
                      <a:pPr indent="0" algn="l">
                        <a:spcAft>
                          <a:spcPts val="0"/>
                        </a:spcAft>
                      </a:pPr>
                      <a:r>
                        <a:rPr lang="en-US" sz="2200" kern="100">
                          <a:effectLst/>
                        </a:rPr>
                        <a:t>text</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l">
                        <a:spcAft>
                          <a:spcPts val="0"/>
                        </a:spcAft>
                      </a:pPr>
                      <a:r>
                        <a:rPr lang="zh-CN" sz="2200" kern="100">
                          <a:effectLst/>
                        </a:rPr>
                        <a:t>显示的文字内容。</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12012400"/>
                  </a:ext>
                </a:extLst>
              </a:tr>
              <a:tr h="348079">
                <a:tc>
                  <a:txBody>
                    <a:bodyPr/>
                    <a:lstStyle/>
                    <a:p>
                      <a:pPr indent="0" algn="l">
                        <a:spcAft>
                          <a:spcPts val="0"/>
                        </a:spcAft>
                      </a:pPr>
                      <a:r>
                        <a:rPr lang="en-US" sz="2200" kern="100">
                          <a:effectLst/>
                        </a:rPr>
                        <a:t>width</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l">
                        <a:spcAft>
                          <a:spcPts val="0"/>
                        </a:spcAft>
                      </a:pPr>
                      <a:r>
                        <a:rPr lang="zh-CN" sz="2200" kern="100">
                          <a:effectLst/>
                        </a:rPr>
                        <a:t>宽度，度量单位为字符。</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58661322"/>
                  </a:ext>
                </a:extLst>
              </a:tr>
              <a:tr h="348079">
                <a:tc>
                  <a:txBody>
                    <a:bodyPr/>
                    <a:lstStyle/>
                    <a:p>
                      <a:pPr indent="0" algn="l">
                        <a:spcAft>
                          <a:spcPts val="0"/>
                        </a:spcAft>
                      </a:pPr>
                      <a:r>
                        <a:rPr lang="en-US" sz="2200" kern="100">
                          <a:effectLst/>
                        </a:rPr>
                        <a:t>height</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l">
                        <a:spcAft>
                          <a:spcPts val="0"/>
                        </a:spcAft>
                      </a:pPr>
                      <a:r>
                        <a:rPr lang="zh-CN" sz="2200" kern="100">
                          <a:effectLst/>
                        </a:rPr>
                        <a:t>高度，度量单位为字符。</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83867848"/>
                  </a:ext>
                </a:extLst>
              </a:tr>
              <a:tr h="696158">
                <a:tc>
                  <a:txBody>
                    <a:bodyPr/>
                    <a:lstStyle/>
                    <a:p>
                      <a:pPr indent="0" algn="l">
                        <a:spcAft>
                          <a:spcPts val="0"/>
                        </a:spcAft>
                      </a:pPr>
                      <a:r>
                        <a:rPr lang="en-US" sz="2200" kern="100">
                          <a:effectLst/>
                        </a:rPr>
                        <a:t>bitmap</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l">
                        <a:spcAft>
                          <a:spcPts val="0"/>
                        </a:spcAft>
                      </a:pPr>
                      <a:r>
                        <a:rPr lang="zh-CN" sz="2200" kern="100" dirty="0">
                          <a:effectLst/>
                        </a:rPr>
                        <a:t>显示系统内置的图标，可选图标参数有</a:t>
                      </a:r>
                      <a:r>
                        <a:rPr lang="en-US" sz="2200" kern="100" dirty="0">
                          <a:effectLst/>
                        </a:rPr>
                        <a:t>error</a:t>
                      </a:r>
                      <a:r>
                        <a:rPr lang="zh-CN" sz="2200" kern="100" dirty="0">
                          <a:effectLst/>
                        </a:rPr>
                        <a:t>、</a:t>
                      </a:r>
                      <a:r>
                        <a:rPr lang="en-US" sz="2200" kern="100" dirty="0">
                          <a:effectLst/>
                        </a:rPr>
                        <a:t>hourglass</a:t>
                      </a:r>
                      <a:r>
                        <a:rPr lang="zh-CN" sz="2200" kern="100" dirty="0">
                          <a:effectLst/>
                        </a:rPr>
                        <a:t>、</a:t>
                      </a:r>
                      <a:r>
                        <a:rPr lang="en-US" sz="2200" kern="100" dirty="0">
                          <a:effectLst/>
                        </a:rPr>
                        <a:t>info</a:t>
                      </a:r>
                      <a:r>
                        <a:rPr lang="zh-CN" sz="2200" kern="100" dirty="0">
                          <a:effectLst/>
                        </a:rPr>
                        <a:t>、</a:t>
                      </a:r>
                      <a:r>
                        <a:rPr lang="en-US" sz="2200" kern="100" dirty="0" err="1">
                          <a:effectLst/>
                        </a:rPr>
                        <a:t>questhead</a:t>
                      </a:r>
                      <a:r>
                        <a:rPr lang="zh-CN" sz="2200" kern="100" dirty="0">
                          <a:effectLst/>
                        </a:rPr>
                        <a:t>、</a:t>
                      </a:r>
                      <a:r>
                        <a:rPr lang="en-US" sz="2200" kern="100" dirty="0">
                          <a:effectLst/>
                        </a:rPr>
                        <a:t>question</a:t>
                      </a:r>
                      <a:r>
                        <a:rPr lang="zh-CN" sz="2200" kern="100" dirty="0">
                          <a:effectLst/>
                        </a:rPr>
                        <a:t>、</a:t>
                      </a:r>
                      <a:r>
                        <a:rPr lang="en-US" sz="2200" kern="100" dirty="0">
                          <a:effectLst/>
                        </a:rPr>
                        <a:t>warning</a:t>
                      </a:r>
                      <a:r>
                        <a:rPr lang="zh-CN" sz="2200" kern="100" dirty="0">
                          <a:effectLst/>
                        </a:rPr>
                        <a:t>、</a:t>
                      </a:r>
                      <a:r>
                        <a:rPr lang="en-US" sz="2200" kern="100" dirty="0">
                          <a:effectLst/>
                        </a:rPr>
                        <a:t>gray12</a:t>
                      </a:r>
                      <a:r>
                        <a:rPr lang="zh-CN" sz="2200" kern="100" dirty="0">
                          <a:effectLst/>
                        </a:rPr>
                        <a:t>、</a:t>
                      </a:r>
                      <a:r>
                        <a:rPr lang="en-US" sz="2200" kern="100" dirty="0">
                          <a:effectLst/>
                        </a:rPr>
                        <a:t>gray25</a:t>
                      </a:r>
                      <a:r>
                        <a:rPr lang="zh-CN" sz="2200" kern="100" dirty="0">
                          <a:effectLst/>
                        </a:rPr>
                        <a:t>、</a:t>
                      </a:r>
                      <a:r>
                        <a:rPr lang="en-US" sz="2200" kern="100" dirty="0">
                          <a:effectLst/>
                        </a:rPr>
                        <a:t>gray50</a:t>
                      </a:r>
                      <a:r>
                        <a:rPr lang="zh-CN" sz="2200" kern="100" dirty="0">
                          <a:effectLst/>
                        </a:rPr>
                        <a:t>、</a:t>
                      </a:r>
                      <a:r>
                        <a:rPr lang="en-US" sz="2200" kern="100" dirty="0">
                          <a:effectLst/>
                        </a:rPr>
                        <a:t>gray75</a:t>
                      </a:r>
                      <a:r>
                        <a:rPr lang="zh-CN" sz="2200" kern="100" dirty="0">
                          <a:effectLst/>
                        </a:rPr>
                        <a:t>。</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79698492"/>
                  </a:ext>
                </a:extLst>
              </a:tr>
              <a:tr h="348079">
                <a:tc>
                  <a:txBody>
                    <a:bodyPr/>
                    <a:lstStyle/>
                    <a:p>
                      <a:pPr indent="0" algn="l">
                        <a:spcAft>
                          <a:spcPts val="0"/>
                        </a:spcAft>
                      </a:pPr>
                      <a:r>
                        <a:rPr lang="en-US" sz="2200" kern="100">
                          <a:effectLst/>
                        </a:rPr>
                        <a:t>image</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l">
                        <a:spcAft>
                          <a:spcPts val="0"/>
                        </a:spcAft>
                      </a:pPr>
                      <a:r>
                        <a:rPr lang="zh-CN" sz="2200" kern="100">
                          <a:effectLst/>
                        </a:rPr>
                        <a:t>显示自定义的图片。</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30522996"/>
                  </a:ext>
                </a:extLst>
              </a:tr>
              <a:tr h="348079">
                <a:tc>
                  <a:txBody>
                    <a:bodyPr/>
                    <a:lstStyle/>
                    <a:p>
                      <a:pPr indent="0" algn="l">
                        <a:spcAft>
                          <a:spcPts val="0"/>
                        </a:spcAft>
                      </a:pPr>
                      <a:r>
                        <a:rPr lang="en-US" sz="2200" kern="100">
                          <a:effectLst/>
                        </a:rPr>
                        <a:t>bg</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l">
                        <a:spcAft>
                          <a:spcPts val="0"/>
                        </a:spcAft>
                      </a:pPr>
                      <a:r>
                        <a:rPr lang="zh-CN" sz="2200" kern="100">
                          <a:effectLst/>
                        </a:rPr>
                        <a:t>背景色。</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68039838"/>
                  </a:ext>
                </a:extLst>
              </a:tr>
              <a:tr h="348079">
                <a:tc>
                  <a:txBody>
                    <a:bodyPr/>
                    <a:lstStyle/>
                    <a:p>
                      <a:pPr indent="0" algn="l">
                        <a:spcAft>
                          <a:spcPts val="0"/>
                        </a:spcAft>
                      </a:pPr>
                      <a:r>
                        <a:rPr lang="en-US" sz="2200" kern="100">
                          <a:effectLst/>
                        </a:rPr>
                        <a:t>fg</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l">
                        <a:spcAft>
                          <a:spcPts val="0"/>
                        </a:spcAft>
                      </a:pPr>
                      <a:r>
                        <a:rPr lang="zh-CN" sz="2200" kern="100">
                          <a:effectLst/>
                        </a:rPr>
                        <a:t>前景色。</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14597249"/>
                  </a:ext>
                </a:extLst>
              </a:tr>
              <a:tr h="348079">
                <a:tc>
                  <a:txBody>
                    <a:bodyPr/>
                    <a:lstStyle/>
                    <a:p>
                      <a:pPr indent="0" algn="l">
                        <a:spcAft>
                          <a:spcPts val="0"/>
                        </a:spcAft>
                      </a:pPr>
                      <a:r>
                        <a:rPr lang="en-US" sz="2200" kern="100">
                          <a:effectLst/>
                        </a:rPr>
                        <a:t>bd</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l">
                        <a:spcAft>
                          <a:spcPts val="0"/>
                        </a:spcAft>
                      </a:pPr>
                      <a:r>
                        <a:rPr lang="zh-CN" sz="2200" kern="100">
                          <a:effectLst/>
                        </a:rPr>
                        <a:t>按钮的边框粗细，缺省为</a:t>
                      </a:r>
                      <a:r>
                        <a:rPr lang="en-US" sz="2200" kern="100">
                          <a:effectLst/>
                        </a:rPr>
                        <a:t>1</a:t>
                      </a:r>
                      <a:r>
                        <a:rPr lang="zh-CN" sz="2200" kern="100">
                          <a:effectLst/>
                        </a:rPr>
                        <a:t>或</a:t>
                      </a:r>
                      <a:r>
                        <a:rPr lang="en-US" sz="2200" kern="100">
                          <a:effectLst/>
                        </a:rPr>
                        <a:t>2</a:t>
                      </a:r>
                      <a:r>
                        <a:rPr lang="zh-CN" sz="2200" kern="100">
                          <a:effectLst/>
                        </a:rPr>
                        <a:t>个像素。</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01907509"/>
                  </a:ext>
                </a:extLst>
              </a:tr>
              <a:tr h="444249">
                <a:tc>
                  <a:txBody>
                    <a:bodyPr/>
                    <a:lstStyle/>
                    <a:p>
                      <a:pPr indent="0" algn="l">
                        <a:spcAft>
                          <a:spcPts val="0"/>
                        </a:spcAft>
                      </a:pPr>
                      <a:r>
                        <a:rPr lang="en-US" sz="2200" kern="100">
                          <a:effectLst/>
                        </a:rPr>
                        <a:t>wraplength</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l">
                        <a:spcAft>
                          <a:spcPts val="0"/>
                        </a:spcAft>
                      </a:pPr>
                      <a:r>
                        <a:rPr lang="zh-CN" sz="2200" kern="100">
                          <a:effectLst/>
                        </a:rPr>
                        <a:t>指定多少单位后开始换行，用于多行文本显示。</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64240553"/>
                  </a:ext>
                </a:extLst>
              </a:tr>
              <a:tr h="348079">
                <a:tc>
                  <a:txBody>
                    <a:bodyPr/>
                    <a:lstStyle/>
                    <a:p>
                      <a:pPr indent="0" algn="l">
                        <a:spcAft>
                          <a:spcPts val="0"/>
                        </a:spcAft>
                      </a:pPr>
                      <a:r>
                        <a:rPr lang="en-US" sz="2200" kern="100">
                          <a:effectLst/>
                        </a:rPr>
                        <a:t>justify</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l">
                        <a:spcAft>
                          <a:spcPts val="0"/>
                        </a:spcAft>
                      </a:pPr>
                      <a:r>
                        <a:rPr lang="zh-CN" sz="2200" kern="100">
                          <a:effectLst/>
                        </a:rPr>
                        <a:t>多行文本的对齐方式，可以设为左对齐</a:t>
                      </a:r>
                      <a:r>
                        <a:rPr lang="en-US" sz="2200" kern="100">
                          <a:effectLst/>
                        </a:rPr>
                        <a:t>LEFT</a:t>
                      </a:r>
                      <a:r>
                        <a:rPr lang="zh-CN" sz="2200" kern="100">
                          <a:effectLst/>
                        </a:rPr>
                        <a:t>、居中</a:t>
                      </a:r>
                      <a:r>
                        <a:rPr lang="en-US" sz="2200" kern="100">
                          <a:effectLst/>
                        </a:rPr>
                        <a:t>CENTER</a:t>
                      </a:r>
                      <a:r>
                        <a:rPr lang="zh-CN" sz="2200" kern="100">
                          <a:effectLst/>
                        </a:rPr>
                        <a:t>或右对齐</a:t>
                      </a:r>
                      <a:r>
                        <a:rPr lang="en-US" sz="2200" kern="100">
                          <a:effectLst/>
                        </a:rPr>
                        <a:t>RIGHT</a:t>
                      </a:r>
                      <a:r>
                        <a:rPr lang="zh-CN" sz="2200" kern="100">
                          <a:effectLst/>
                        </a:rPr>
                        <a:t>。</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3810438"/>
                  </a:ext>
                </a:extLst>
              </a:tr>
              <a:tr h="696158">
                <a:tc>
                  <a:txBody>
                    <a:bodyPr/>
                    <a:lstStyle/>
                    <a:p>
                      <a:pPr indent="0" algn="l">
                        <a:spcAft>
                          <a:spcPts val="0"/>
                        </a:spcAft>
                      </a:pPr>
                      <a:r>
                        <a:rPr lang="en-US" sz="2200" kern="100">
                          <a:effectLst/>
                        </a:rPr>
                        <a:t>relief</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l">
                        <a:spcAft>
                          <a:spcPts val="0"/>
                        </a:spcAft>
                      </a:pPr>
                      <a:r>
                        <a:rPr lang="zh-CN" sz="2200" kern="100" dirty="0">
                          <a:effectLst/>
                        </a:rPr>
                        <a:t>按钮边框的</a:t>
                      </a:r>
                      <a:r>
                        <a:rPr lang="en-US" sz="2200" kern="100" dirty="0">
                          <a:effectLst/>
                        </a:rPr>
                        <a:t>3D</a:t>
                      </a:r>
                      <a:r>
                        <a:rPr lang="zh-CN" sz="2200" kern="100" dirty="0">
                          <a:effectLst/>
                        </a:rPr>
                        <a:t>效果，可以设为</a:t>
                      </a:r>
                      <a:r>
                        <a:rPr lang="en-US" sz="2200" kern="100" dirty="0">
                          <a:effectLst/>
                        </a:rPr>
                        <a:t>FLAT</a:t>
                      </a:r>
                      <a:r>
                        <a:rPr lang="zh-CN" sz="2200" kern="100" dirty="0">
                          <a:effectLst/>
                        </a:rPr>
                        <a:t>、</a:t>
                      </a:r>
                      <a:r>
                        <a:rPr lang="en-US" sz="2200" kern="100" dirty="0">
                          <a:effectLst/>
                        </a:rPr>
                        <a:t>GROOVE</a:t>
                      </a:r>
                      <a:r>
                        <a:rPr lang="zh-CN" sz="2200" kern="100" dirty="0">
                          <a:effectLst/>
                        </a:rPr>
                        <a:t>、</a:t>
                      </a:r>
                      <a:r>
                        <a:rPr lang="en-US" sz="2200" kern="100" dirty="0">
                          <a:effectLst/>
                        </a:rPr>
                        <a:t>RAISED</a:t>
                      </a:r>
                      <a:r>
                        <a:rPr lang="zh-CN" sz="2200" kern="100" dirty="0">
                          <a:effectLst/>
                        </a:rPr>
                        <a:t>、</a:t>
                      </a:r>
                      <a:r>
                        <a:rPr lang="en-US" sz="2200" kern="100" dirty="0">
                          <a:effectLst/>
                        </a:rPr>
                        <a:t>RIDGE</a:t>
                      </a:r>
                      <a:r>
                        <a:rPr lang="zh-CN" sz="2200" kern="100" dirty="0">
                          <a:effectLst/>
                        </a:rPr>
                        <a:t>、</a:t>
                      </a:r>
                      <a:r>
                        <a:rPr lang="en-US" sz="2200" kern="100" dirty="0">
                          <a:effectLst/>
                        </a:rPr>
                        <a:t>SOLID</a:t>
                      </a:r>
                      <a:r>
                        <a:rPr lang="zh-CN" sz="2200" kern="100" dirty="0">
                          <a:effectLst/>
                        </a:rPr>
                        <a:t>、</a:t>
                      </a:r>
                      <a:r>
                        <a:rPr lang="en-US" sz="2200" kern="100" dirty="0">
                          <a:effectLst/>
                        </a:rPr>
                        <a:t>SUNKEN</a:t>
                      </a:r>
                      <a:r>
                        <a:rPr lang="zh-CN" sz="2200" kern="100" dirty="0">
                          <a:effectLst/>
                        </a:rPr>
                        <a:t>等。</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41404652"/>
                  </a:ext>
                </a:extLst>
              </a:tr>
            </a:tbl>
          </a:graphicData>
        </a:graphic>
      </p:graphicFrame>
      <p:sp>
        <p:nvSpPr>
          <p:cNvPr id="3" name="灯片编号占位符 2">
            <a:extLst>
              <a:ext uri="{FF2B5EF4-FFF2-40B4-BE49-F238E27FC236}">
                <a16:creationId xmlns:a16="http://schemas.microsoft.com/office/drawing/2014/main" id="{F41D8B78-05F1-4989-99B8-C056A15A5D2C}"/>
              </a:ext>
            </a:extLst>
          </p:cNvPr>
          <p:cNvSpPr>
            <a:spLocks noGrp="1"/>
          </p:cNvSpPr>
          <p:nvPr>
            <p:ph type="sldNum" sz="quarter" idx="12"/>
          </p:nvPr>
        </p:nvSpPr>
        <p:spPr/>
        <p:txBody>
          <a:bodyPr/>
          <a:lstStyle/>
          <a:p>
            <a:fld id="{49AE70B2-8BF9-45C0-BB95-33D1B9D3A854}" type="slidenum">
              <a:rPr lang="zh-CN" altLang="en-US" smtClean="0"/>
              <a:t>24</a:t>
            </a:fld>
            <a:endParaRPr lang="zh-CN" altLang="en-US"/>
          </a:p>
        </p:txBody>
      </p:sp>
    </p:spTree>
    <p:extLst>
      <p:ext uri="{BB962C8B-B14F-4D97-AF65-F5344CB8AC3E}">
        <p14:creationId xmlns:p14="http://schemas.microsoft.com/office/powerpoint/2010/main" val="2125449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消息</a:t>
            </a:r>
            <a:r>
              <a:rPr lang="en-US" altLang="zh-CN" dirty="0"/>
              <a:t>Message</a:t>
            </a:r>
            <a:r>
              <a:rPr lang="zh-CN" altLang="en-US" dirty="0"/>
              <a:t>控件</a:t>
            </a:r>
          </a:p>
        </p:txBody>
      </p:sp>
      <p:sp>
        <p:nvSpPr>
          <p:cNvPr id="3" name="内容占位符 2"/>
          <p:cNvSpPr>
            <a:spLocks noGrp="1"/>
          </p:cNvSpPr>
          <p:nvPr>
            <p:ph idx="1"/>
          </p:nvPr>
        </p:nvSpPr>
        <p:spPr/>
        <p:txBody>
          <a:bodyPr>
            <a:normAutofit/>
          </a:bodyPr>
          <a:lstStyle/>
          <a:p>
            <a:r>
              <a:rPr lang="en-US" altLang="zh-CN" dirty="0"/>
              <a:t>Message</a:t>
            </a:r>
            <a:r>
              <a:rPr lang="zh-CN" altLang="en-US" dirty="0"/>
              <a:t>（消息）控件显示多行文本。</a:t>
            </a:r>
            <a:endParaRPr lang="en-US" altLang="zh-CN" dirty="0"/>
          </a:p>
          <a:p>
            <a:pPr marL="0" indent="0" algn="ctr">
              <a:buNone/>
            </a:pPr>
            <a:r>
              <a:rPr lang="zh-CN" altLang="en-US" dirty="0"/>
              <a:t>变量 </a:t>
            </a:r>
            <a:r>
              <a:rPr lang="en-US" altLang="zh-CN" dirty="0"/>
              <a:t>= Message(</a:t>
            </a:r>
            <a:r>
              <a:rPr lang="zh-CN" altLang="en-US" dirty="0"/>
              <a:t>父容器对象名</a:t>
            </a:r>
            <a:r>
              <a:rPr lang="en-US" altLang="zh-CN" dirty="0"/>
              <a:t>[, text=</a:t>
            </a:r>
            <a:r>
              <a:rPr lang="zh-CN" altLang="en-US" dirty="0"/>
              <a:t>显示文本</a:t>
            </a:r>
            <a:r>
              <a:rPr lang="en-US" altLang="zh-CN" dirty="0"/>
              <a:t>])</a:t>
            </a:r>
          </a:p>
          <a:p>
            <a:pPr lvl="1"/>
            <a:r>
              <a:rPr lang="en-US" altLang="zh-CN" dirty="0"/>
              <a:t>Message</a:t>
            </a:r>
            <a:r>
              <a:rPr lang="zh-CN" altLang="en-US" dirty="0"/>
              <a:t>控件的文本行数是系统自动选择的。</a:t>
            </a:r>
            <a:endParaRPr lang="en-US" altLang="zh-CN" dirty="0"/>
          </a:p>
          <a:p>
            <a:pPr lvl="1"/>
            <a:r>
              <a:rPr lang="en-US" altLang="zh-CN" dirty="0"/>
              <a:t>Message</a:t>
            </a:r>
            <a:r>
              <a:rPr lang="zh-CN" altLang="en-US" dirty="0"/>
              <a:t>的属性与</a:t>
            </a:r>
            <a:r>
              <a:rPr lang="en-US" altLang="zh-CN" dirty="0"/>
              <a:t>Label</a:t>
            </a:r>
            <a:r>
              <a:rPr lang="zh-CN" altLang="en-US" dirty="0"/>
              <a:t>控件基本一致，可参考</a:t>
            </a:r>
            <a:r>
              <a:rPr lang="en-US" altLang="zh-CN" dirty="0"/>
              <a:t>Label</a:t>
            </a:r>
            <a:r>
              <a:rPr lang="zh-CN" altLang="en-US" dirty="0"/>
              <a:t>控件，但无</a:t>
            </a:r>
            <a:r>
              <a:rPr lang="en-US" altLang="zh-CN" dirty="0" err="1"/>
              <a:t>wraplength</a:t>
            </a:r>
            <a:r>
              <a:rPr lang="zh-CN" altLang="en-US" dirty="0"/>
              <a:t>属性。</a:t>
            </a:r>
            <a:endParaRPr lang="en-US" altLang="zh-CN" dirty="0"/>
          </a:p>
          <a:p>
            <a:r>
              <a:rPr lang="en-US" altLang="zh-CN" dirty="0"/>
              <a:t>【</a:t>
            </a:r>
            <a:r>
              <a:rPr lang="zh-CN" altLang="en-US" dirty="0"/>
              <a:t>例</a:t>
            </a:r>
            <a:r>
              <a:rPr lang="en-US" altLang="zh-CN" dirty="0"/>
              <a:t>13-6】</a:t>
            </a:r>
            <a:r>
              <a:rPr lang="zh-CN" altLang="en-US" dirty="0"/>
              <a:t>消息控件的演示。</a:t>
            </a:r>
          </a:p>
        </p:txBody>
      </p:sp>
      <p:pic>
        <p:nvPicPr>
          <p:cNvPr id="4" name="图片 3"/>
          <p:cNvPicPr>
            <a:picLocks noChangeAspect="1"/>
          </p:cNvPicPr>
          <p:nvPr/>
        </p:nvPicPr>
        <p:blipFill>
          <a:blip r:embed="rId2"/>
          <a:stretch>
            <a:fillRect/>
          </a:stretch>
        </p:blipFill>
        <p:spPr>
          <a:xfrm>
            <a:off x="8112224" y="5229200"/>
            <a:ext cx="2353464" cy="1504674"/>
          </a:xfrm>
          <a:prstGeom prst="rect">
            <a:avLst/>
          </a:prstGeom>
        </p:spPr>
      </p:pic>
      <p:sp>
        <p:nvSpPr>
          <p:cNvPr id="5" name="灯片编号占位符 4">
            <a:extLst>
              <a:ext uri="{FF2B5EF4-FFF2-40B4-BE49-F238E27FC236}">
                <a16:creationId xmlns:a16="http://schemas.microsoft.com/office/drawing/2014/main" id="{A9B087BB-3784-4BD9-8E2A-D7E3361C5593}"/>
              </a:ext>
            </a:extLst>
          </p:cNvPr>
          <p:cNvSpPr>
            <a:spLocks noGrp="1"/>
          </p:cNvSpPr>
          <p:nvPr>
            <p:ph type="sldNum" sz="quarter" idx="12"/>
          </p:nvPr>
        </p:nvSpPr>
        <p:spPr/>
        <p:txBody>
          <a:bodyPr/>
          <a:lstStyle/>
          <a:p>
            <a:fld id="{49AE70B2-8BF9-45C0-BB95-33D1B9D3A854}" type="slidenum">
              <a:rPr lang="zh-CN" altLang="en-US" smtClean="0"/>
              <a:t>25</a:t>
            </a:fld>
            <a:endParaRPr lang="zh-CN" altLang="en-US"/>
          </a:p>
        </p:txBody>
      </p:sp>
    </p:spTree>
    <p:extLst>
      <p:ext uri="{BB962C8B-B14F-4D97-AF65-F5344CB8AC3E}">
        <p14:creationId xmlns:p14="http://schemas.microsoft.com/office/powerpoint/2010/main" val="1135198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13.2.4 </a:t>
            </a:r>
            <a:r>
              <a:rPr lang="zh-CN" altLang="en-US" dirty="0"/>
              <a:t>文本框</a:t>
            </a:r>
          </a:p>
        </p:txBody>
      </p:sp>
      <p:sp>
        <p:nvSpPr>
          <p:cNvPr id="3" name="内容占位符 2"/>
          <p:cNvSpPr>
            <a:spLocks noGrp="1"/>
          </p:cNvSpPr>
          <p:nvPr>
            <p:ph idx="1"/>
          </p:nvPr>
        </p:nvSpPr>
        <p:spPr/>
        <p:txBody>
          <a:bodyPr/>
          <a:lstStyle/>
          <a:p>
            <a:r>
              <a:rPr lang="zh-CN" altLang="en-US" dirty="0"/>
              <a:t>文本框用于输入和编辑文本，输入过程中可以进行编辑，如光标定位、修改和插入等。</a:t>
            </a:r>
            <a:endParaRPr lang="en-US" altLang="zh-CN" dirty="0"/>
          </a:p>
          <a:p>
            <a:r>
              <a:rPr lang="en-US" altLang="zh-CN" dirty="0"/>
              <a:t>Python</a:t>
            </a:r>
            <a:r>
              <a:rPr lang="zh-CN" altLang="en-US" dirty="0"/>
              <a:t>提供了两种文本框</a:t>
            </a:r>
            <a:endParaRPr lang="en-US" altLang="zh-CN" dirty="0"/>
          </a:p>
          <a:p>
            <a:pPr lvl="1"/>
            <a:r>
              <a:rPr lang="zh-CN" altLang="en-US" dirty="0"/>
              <a:t>单行文本框</a:t>
            </a:r>
            <a:r>
              <a:rPr lang="en-US" altLang="zh-CN" dirty="0"/>
              <a:t>Entry</a:t>
            </a:r>
            <a:r>
              <a:rPr lang="zh-CN" altLang="en-US" dirty="0"/>
              <a:t>控件</a:t>
            </a:r>
            <a:endParaRPr lang="en-US" altLang="zh-CN" dirty="0"/>
          </a:p>
          <a:p>
            <a:pPr lvl="2"/>
            <a:r>
              <a:rPr lang="zh-CN" altLang="en-US" dirty="0"/>
              <a:t>实现单行文本的输入和编辑。</a:t>
            </a:r>
            <a:endParaRPr lang="en-US" altLang="zh-CN" dirty="0"/>
          </a:p>
          <a:p>
            <a:pPr lvl="1"/>
            <a:r>
              <a:rPr lang="zh-CN" altLang="en-US" dirty="0"/>
              <a:t>多行文本框</a:t>
            </a:r>
            <a:r>
              <a:rPr lang="en-US" altLang="zh-CN" dirty="0"/>
              <a:t>Text</a:t>
            </a:r>
            <a:r>
              <a:rPr lang="zh-CN" altLang="en-US" dirty="0"/>
              <a:t>控件。</a:t>
            </a:r>
            <a:endParaRPr lang="en-US" altLang="zh-CN" dirty="0"/>
          </a:p>
          <a:p>
            <a:pPr lvl="2"/>
            <a:r>
              <a:rPr lang="zh-CN" altLang="en-US" dirty="0"/>
              <a:t>支持多行文本的输入与编辑</a:t>
            </a:r>
            <a:endParaRPr lang="en-US" altLang="zh-CN" dirty="0"/>
          </a:p>
          <a:p>
            <a:pPr lvl="2"/>
            <a:endParaRPr lang="zh-CN" altLang="en-US" dirty="0"/>
          </a:p>
        </p:txBody>
      </p:sp>
      <p:sp>
        <p:nvSpPr>
          <p:cNvPr id="4" name="灯片编号占位符 3">
            <a:extLst>
              <a:ext uri="{FF2B5EF4-FFF2-40B4-BE49-F238E27FC236}">
                <a16:creationId xmlns:a16="http://schemas.microsoft.com/office/drawing/2014/main" id="{02672461-B243-4AEC-B5BB-028935783AEF}"/>
              </a:ext>
            </a:extLst>
          </p:cNvPr>
          <p:cNvSpPr>
            <a:spLocks noGrp="1"/>
          </p:cNvSpPr>
          <p:nvPr>
            <p:ph type="sldNum" sz="quarter" idx="12"/>
          </p:nvPr>
        </p:nvSpPr>
        <p:spPr/>
        <p:txBody>
          <a:bodyPr/>
          <a:lstStyle/>
          <a:p>
            <a:fld id="{49AE70B2-8BF9-45C0-BB95-33D1B9D3A854}" type="slidenum">
              <a:rPr lang="zh-CN" altLang="en-US" smtClean="0"/>
              <a:t>26</a:t>
            </a:fld>
            <a:endParaRPr lang="zh-CN" altLang="en-US"/>
          </a:p>
        </p:txBody>
      </p:sp>
    </p:spTree>
    <p:extLst>
      <p:ext uri="{BB962C8B-B14F-4D97-AF65-F5344CB8AC3E}">
        <p14:creationId xmlns:p14="http://schemas.microsoft.com/office/powerpoint/2010/main" val="4394705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单行文本框</a:t>
            </a:r>
            <a:r>
              <a:rPr lang="en-US" altLang="zh-CN" dirty="0"/>
              <a:t>Entry</a:t>
            </a:r>
            <a:r>
              <a:rPr lang="zh-CN" altLang="en-US" dirty="0"/>
              <a:t>控件</a:t>
            </a:r>
          </a:p>
        </p:txBody>
      </p:sp>
      <p:sp>
        <p:nvSpPr>
          <p:cNvPr id="3" name="内容占位符 2"/>
          <p:cNvSpPr>
            <a:spLocks noGrp="1"/>
          </p:cNvSpPr>
          <p:nvPr>
            <p:ph idx="1"/>
          </p:nvPr>
        </p:nvSpPr>
        <p:spPr>
          <a:xfrm>
            <a:off x="669925" y="1160145"/>
            <a:ext cx="10852150" cy="5293191"/>
          </a:xfrm>
        </p:spPr>
        <p:txBody>
          <a:bodyPr>
            <a:noAutofit/>
          </a:bodyPr>
          <a:lstStyle/>
          <a:p>
            <a:pPr marL="0" indent="0" algn="ctr">
              <a:lnSpc>
                <a:spcPct val="110000"/>
              </a:lnSpc>
              <a:spcAft>
                <a:spcPts val="600"/>
              </a:spcAft>
              <a:buNone/>
            </a:pPr>
            <a:r>
              <a:rPr lang="zh-CN" altLang="en-US" sz="2400" dirty="0"/>
              <a:t>变量 </a:t>
            </a:r>
            <a:r>
              <a:rPr lang="en-US" altLang="zh-CN" sz="2400" dirty="0"/>
              <a:t>= Entry(</a:t>
            </a:r>
            <a:r>
              <a:rPr lang="zh-CN" altLang="en-US" sz="2400" dirty="0"/>
              <a:t>父容器对象名</a:t>
            </a:r>
            <a:r>
              <a:rPr lang="en-US" altLang="zh-CN" sz="2400" dirty="0"/>
              <a:t>[, </a:t>
            </a:r>
            <a:r>
              <a:rPr lang="en-US" altLang="zh-CN" sz="2400" dirty="0" err="1"/>
              <a:t>textvariable</a:t>
            </a:r>
            <a:r>
              <a:rPr lang="en-US" altLang="zh-CN" sz="2400" dirty="0"/>
              <a:t>=</a:t>
            </a:r>
            <a:r>
              <a:rPr lang="zh-CN" altLang="en-US" sz="2400" dirty="0"/>
              <a:t>变量</a:t>
            </a:r>
            <a:r>
              <a:rPr lang="en-US" altLang="zh-CN" sz="2400" dirty="0"/>
              <a:t>1])</a:t>
            </a:r>
          </a:p>
          <a:p>
            <a:pPr marL="0" indent="0">
              <a:lnSpc>
                <a:spcPct val="110000"/>
              </a:lnSpc>
              <a:spcAft>
                <a:spcPts val="600"/>
              </a:spcAft>
              <a:buNone/>
            </a:pPr>
            <a:r>
              <a:rPr lang="zh-CN" altLang="en-US" sz="2400" dirty="0"/>
              <a:t>（</a:t>
            </a:r>
            <a:r>
              <a:rPr lang="en-US" altLang="zh-CN" sz="2400" dirty="0"/>
              <a:t>1</a:t>
            </a:r>
            <a:r>
              <a:rPr lang="zh-CN" altLang="en-US" sz="2400" dirty="0"/>
              <a:t>）获得文本框的输入内容的办法：</a:t>
            </a:r>
          </a:p>
          <a:p>
            <a:pPr lvl="1">
              <a:lnSpc>
                <a:spcPct val="110000"/>
              </a:lnSpc>
              <a:spcAft>
                <a:spcPts val="600"/>
              </a:spcAft>
            </a:pPr>
            <a:r>
              <a:rPr lang="zh-CN" altLang="en-US" sz="2400" dirty="0"/>
              <a:t>调用文本框</a:t>
            </a:r>
            <a:r>
              <a:rPr lang="en-US" altLang="zh-CN" sz="2400" dirty="0"/>
              <a:t>Entry</a:t>
            </a:r>
            <a:r>
              <a:rPr lang="zh-CN" altLang="en-US" sz="2400" dirty="0"/>
              <a:t>对象的</a:t>
            </a:r>
            <a:r>
              <a:rPr lang="en-US" altLang="zh-CN" sz="2400" dirty="0"/>
              <a:t>get()</a:t>
            </a:r>
            <a:r>
              <a:rPr lang="zh-CN" altLang="en-US" sz="2400" dirty="0"/>
              <a:t>方法。</a:t>
            </a:r>
          </a:p>
          <a:p>
            <a:pPr lvl="1">
              <a:lnSpc>
                <a:spcPct val="110000"/>
              </a:lnSpc>
              <a:spcAft>
                <a:spcPts val="600"/>
              </a:spcAft>
            </a:pPr>
            <a:r>
              <a:rPr lang="zh-CN" altLang="en-US" sz="2400" dirty="0"/>
              <a:t>为</a:t>
            </a:r>
            <a:r>
              <a:rPr lang="en-US" altLang="zh-CN" sz="2400" dirty="0"/>
              <a:t>Entry</a:t>
            </a:r>
            <a:r>
              <a:rPr lang="zh-CN" altLang="en-US" sz="2400" dirty="0"/>
              <a:t>对象的</a:t>
            </a:r>
            <a:r>
              <a:rPr lang="en-US" altLang="zh-CN" sz="2400" dirty="0" err="1"/>
              <a:t>textvariable</a:t>
            </a:r>
            <a:r>
              <a:rPr lang="zh-CN" altLang="en-US" sz="2400" dirty="0"/>
              <a:t>属性指定</a:t>
            </a:r>
            <a:r>
              <a:rPr lang="en-US" altLang="zh-CN" sz="2400" dirty="0" err="1"/>
              <a:t>StringVar</a:t>
            </a:r>
            <a:r>
              <a:rPr lang="zh-CN" altLang="en-US" sz="2400" dirty="0"/>
              <a:t>类型变量</a:t>
            </a:r>
            <a:endParaRPr lang="en-US" altLang="zh-CN" sz="2400" dirty="0"/>
          </a:p>
          <a:p>
            <a:pPr lvl="2">
              <a:lnSpc>
                <a:spcPct val="110000"/>
              </a:lnSpc>
              <a:spcAft>
                <a:spcPts val="600"/>
              </a:spcAft>
            </a:pPr>
            <a:r>
              <a:rPr lang="zh-CN" altLang="en-US" sz="2400" dirty="0"/>
              <a:t>调用</a:t>
            </a:r>
            <a:r>
              <a:rPr lang="en-US" altLang="zh-CN" sz="2400" dirty="0" err="1"/>
              <a:t>StringVar</a:t>
            </a:r>
            <a:r>
              <a:rPr lang="zh-CN" altLang="en-US" sz="2400" dirty="0"/>
              <a:t>类型变量的</a:t>
            </a:r>
            <a:r>
              <a:rPr lang="en-US" altLang="zh-CN" sz="2400" dirty="0"/>
              <a:t>get()</a:t>
            </a:r>
            <a:r>
              <a:rPr lang="zh-CN" altLang="en-US" sz="2400" dirty="0"/>
              <a:t>方法可以获得用户输入的内容</a:t>
            </a:r>
          </a:p>
          <a:p>
            <a:pPr marL="0" indent="0">
              <a:lnSpc>
                <a:spcPct val="110000"/>
              </a:lnSpc>
              <a:spcAft>
                <a:spcPts val="600"/>
              </a:spcAft>
              <a:buNone/>
            </a:pPr>
            <a:r>
              <a:rPr lang="zh-CN" altLang="en-US" sz="2400" dirty="0"/>
              <a:t>（</a:t>
            </a:r>
            <a:r>
              <a:rPr lang="en-US" altLang="zh-CN" sz="2400" dirty="0"/>
              <a:t>2</a:t>
            </a:r>
            <a:r>
              <a:rPr lang="zh-CN" altLang="en-US" sz="2400" dirty="0"/>
              <a:t>）用代码设置文本框的内容有以下办法：</a:t>
            </a:r>
          </a:p>
          <a:p>
            <a:pPr lvl="1">
              <a:lnSpc>
                <a:spcPct val="110000"/>
              </a:lnSpc>
              <a:spcAft>
                <a:spcPts val="600"/>
              </a:spcAft>
            </a:pPr>
            <a:r>
              <a:rPr lang="zh-CN" altLang="en-US" sz="2400" dirty="0"/>
              <a:t>文本框的</a:t>
            </a:r>
            <a:r>
              <a:rPr lang="en-US" altLang="zh-CN" sz="2400" dirty="0"/>
              <a:t>delete(</a:t>
            </a:r>
            <a:r>
              <a:rPr lang="zh-CN" altLang="en-US" sz="2400" dirty="0"/>
              <a:t>字符起始位置</a:t>
            </a:r>
            <a:r>
              <a:rPr lang="en-US" altLang="zh-CN" sz="2400" dirty="0"/>
              <a:t>, </a:t>
            </a:r>
            <a:r>
              <a:rPr lang="zh-CN" altLang="en-US" sz="2400" dirty="0"/>
              <a:t>结束字符的位置</a:t>
            </a:r>
            <a:r>
              <a:rPr lang="en-US" altLang="zh-CN" sz="2400" dirty="0"/>
              <a:t>+1)</a:t>
            </a:r>
            <a:r>
              <a:rPr lang="zh-CN" altLang="en-US" sz="2400" dirty="0"/>
              <a:t>方法。</a:t>
            </a:r>
          </a:p>
          <a:p>
            <a:pPr lvl="1">
              <a:lnSpc>
                <a:spcPct val="110000"/>
              </a:lnSpc>
              <a:spcAft>
                <a:spcPts val="600"/>
              </a:spcAft>
            </a:pPr>
            <a:r>
              <a:rPr lang="zh-CN" altLang="en-US" sz="2400" dirty="0"/>
              <a:t>与</a:t>
            </a:r>
            <a:r>
              <a:rPr lang="en-US" altLang="zh-CN" sz="2400" dirty="0" err="1"/>
              <a:t>textvariable</a:t>
            </a:r>
            <a:r>
              <a:rPr lang="zh-CN" altLang="en-US" sz="2400" dirty="0"/>
              <a:t>属性绑定的变量的</a:t>
            </a:r>
            <a:r>
              <a:rPr lang="en-US" altLang="zh-CN" sz="2400" dirty="0"/>
              <a:t>set(</a:t>
            </a:r>
            <a:r>
              <a:rPr lang="zh-CN" altLang="en-US" sz="2400" dirty="0"/>
              <a:t>指定字符串</a:t>
            </a:r>
            <a:r>
              <a:rPr lang="en-US" altLang="zh-CN" sz="2400" dirty="0"/>
              <a:t>)</a:t>
            </a:r>
            <a:r>
              <a:rPr lang="zh-CN" altLang="en-US" sz="2400" dirty="0"/>
              <a:t>方法。</a:t>
            </a:r>
            <a:endParaRPr lang="en-US" altLang="zh-CN" sz="2400" dirty="0"/>
          </a:p>
          <a:p>
            <a:pPr>
              <a:lnSpc>
                <a:spcPct val="110000"/>
              </a:lnSpc>
              <a:spcAft>
                <a:spcPts val="600"/>
              </a:spcAft>
            </a:pPr>
            <a:r>
              <a:rPr lang="en-US" altLang="zh-CN" sz="2400" dirty="0"/>
              <a:t>【</a:t>
            </a:r>
            <a:r>
              <a:rPr lang="zh-CN" altLang="en-US" sz="2400" dirty="0"/>
              <a:t>例</a:t>
            </a:r>
            <a:r>
              <a:rPr lang="en-US" altLang="zh-CN" sz="2400" dirty="0"/>
              <a:t>13-7】</a:t>
            </a:r>
            <a:r>
              <a:rPr lang="zh-CN" altLang="en-US" sz="2400" dirty="0"/>
              <a:t>单行文本框的基本功能演示。</a:t>
            </a:r>
          </a:p>
        </p:txBody>
      </p:sp>
      <p:pic>
        <p:nvPicPr>
          <p:cNvPr id="4" name="图片 3"/>
          <p:cNvPicPr/>
          <p:nvPr/>
        </p:nvPicPr>
        <p:blipFill>
          <a:blip r:embed="rId2"/>
          <a:stretch>
            <a:fillRect/>
          </a:stretch>
        </p:blipFill>
        <p:spPr>
          <a:xfrm>
            <a:off x="9552384" y="4077072"/>
            <a:ext cx="2423592" cy="2592288"/>
          </a:xfrm>
          <a:prstGeom prst="rect">
            <a:avLst/>
          </a:prstGeom>
        </p:spPr>
      </p:pic>
      <p:sp>
        <p:nvSpPr>
          <p:cNvPr id="5" name="灯片编号占位符 4">
            <a:extLst>
              <a:ext uri="{FF2B5EF4-FFF2-40B4-BE49-F238E27FC236}">
                <a16:creationId xmlns:a16="http://schemas.microsoft.com/office/drawing/2014/main" id="{BFD932D4-7CCF-4120-BB37-F0C93496E8B0}"/>
              </a:ext>
            </a:extLst>
          </p:cNvPr>
          <p:cNvSpPr>
            <a:spLocks noGrp="1"/>
          </p:cNvSpPr>
          <p:nvPr>
            <p:ph type="sldNum" sz="quarter" idx="12"/>
          </p:nvPr>
        </p:nvSpPr>
        <p:spPr/>
        <p:txBody>
          <a:bodyPr/>
          <a:lstStyle/>
          <a:p>
            <a:fld id="{49AE70B2-8BF9-45C0-BB95-33D1B9D3A854}" type="slidenum">
              <a:rPr lang="zh-CN" altLang="en-US" smtClean="0"/>
              <a:t>27</a:t>
            </a:fld>
            <a:endParaRPr lang="zh-CN" altLang="en-US"/>
          </a:p>
        </p:txBody>
      </p:sp>
    </p:spTree>
    <p:extLst>
      <p:ext uri="{BB962C8B-B14F-4D97-AF65-F5344CB8AC3E}">
        <p14:creationId xmlns:p14="http://schemas.microsoft.com/office/powerpoint/2010/main" val="911034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Entry</a:t>
            </a:r>
            <a:r>
              <a:rPr lang="zh-CN" altLang="en-US" dirty="0"/>
              <a:t>控件的常用属性</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2221697504"/>
              </p:ext>
            </p:extLst>
          </p:nvPr>
        </p:nvGraphicFramePr>
        <p:xfrm>
          <a:off x="767409" y="1340770"/>
          <a:ext cx="10754666" cy="5193650"/>
        </p:xfrm>
        <a:graphic>
          <a:graphicData uri="http://schemas.openxmlformats.org/drawingml/2006/table">
            <a:tbl>
              <a:tblPr firstRow="1" firstCol="1" bandRow="1">
                <a:tableStyleId>{5C22544A-7EE6-4342-B048-85BDC9FD1C3A}</a:tableStyleId>
              </a:tblPr>
              <a:tblGrid>
                <a:gridCol w="1483913">
                  <a:extLst>
                    <a:ext uri="{9D8B030D-6E8A-4147-A177-3AD203B41FA5}">
                      <a16:colId xmlns:a16="http://schemas.microsoft.com/office/drawing/2014/main" val="2391988124"/>
                    </a:ext>
                  </a:extLst>
                </a:gridCol>
                <a:gridCol w="8895972">
                  <a:extLst>
                    <a:ext uri="{9D8B030D-6E8A-4147-A177-3AD203B41FA5}">
                      <a16:colId xmlns:a16="http://schemas.microsoft.com/office/drawing/2014/main" val="1045792434"/>
                    </a:ext>
                  </a:extLst>
                </a:gridCol>
                <a:gridCol w="374781">
                  <a:extLst>
                    <a:ext uri="{9D8B030D-6E8A-4147-A177-3AD203B41FA5}">
                      <a16:colId xmlns:a16="http://schemas.microsoft.com/office/drawing/2014/main" val="2766594637"/>
                    </a:ext>
                  </a:extLst>
                </a:gridCol>
              </a:tblGrid>
              <a:tr h="495792">
                <a:tc>
                  <a:txBody>
                    <a:bodyPr/>
                    <a:lstStyle/>
                    <a:p>
                      <a:pPr indent="266700" algn="ctr">
                        <a:spcAft>
                          <a:spcPts val="0"/>
                        </a:spcAft>
                      </a:pPr>
                      <a:r>
                        <a:rPr lang="zh-CN" sz="2400" kern="100">
                          <a:effectLst/>
                        </a:rPr>
                        <a:t>属性</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gridSpan="2">
                  <a:txBody>
                    <a:bodyPr/>
                    <a:lstStyle/>
                    <a:p>
                      <a:pPr indent="266700" algn="ctr">
                        <a:spcAft>
                          <a:spcPts val="0"/>
                        </a:spcAft>
                      </a:pPr>
                      <a:r>
                        <a:rPr lang="zh-CN" sz="2400" kern="100">
                          <a:effectLst/>
                        </a:rPr>
                        <a:t>作用及用法</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extLst>
                  <a:ext uri="{0D108BD9-81ED-4DB2-BD59-A6C34878D82A}">
                    <a16:rowId xmlns:a16="http://schemas.microsoft.com/office/drawing/2014/main" val="1183389611"/>
                  </a:ext>
                </a:extLst>
              </a:tr>
              <a:tr h="495792">
                <a:tc>
                  <a:txBody>
                    <a:bodyPr/>
                    <a:lstStyle/>
                    <a:p>
                      <a:pPr indent="266700" algn="l">
                        <a:spcAft>
                          <a:spcPts val="0"/>
                        </a:spcAft>
                      </a:pPr>
                      <a:r>
                        <a:rPr lang="en-US" sz="2400" kern="100">
                          <a:effectLst/>
                        </a:rPr>
                        <a:t>width</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gridSpan="2">
                  <a:txBody>
                    <a:bodyPr/>
                    <a:lstStyle/>
                    <a:p>
                      <a:pPr indent="266700" algn="l">
                        <a:spcAft>
                          <a:spcPts val="0"/>
                        </a:spcAft>
                      </a:pPr>
                      <a:r>
                        <a:rPr lang="zh-CN" sz="2400" kern="100">
                          <a:effectLst/>
                        </a:rPr>
                        <a:t>宽度，度量单位为字符（文本框无</a:t>
                      </a:r>
                      <a:r>
                        <a:rPr lang="en-US" sz="2400" kern="100">
                          <a:effectLst/>
                        </a:rPr>
                        <a:t>height</a:t>
                      </a:r>
                      <a:r>
                        <a:rPr lang="zh-CN" sz="2400" kern="100">
                          <a:effectLst/>
                        </a:rPr>
                        <a:t>属性）。</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extLst>
                  <a:ext uri="{0D108BD9-81ED-4DB2-BD59-A6C34878D82A}">
                    <a16:rowId xmlns:a16="http://schemas.microsoft.com/office/drawing/2014/main" val="3522387723"/>
                  </a:ext>
                </a:extLst>
              </a:tr>
              <a:tr h="495792">
                <a:tc>
                  <a:txBody>
                    <a:bodyPr/>
                    <a:lstStyle/>
                    <a:p>
                      <a:pPr indent="266700" algn="l">
                        <a:spcAft>
                          <a:spcPts val="0"/>
                        </a:spcAft>
                      </a:pPr>
                      <a:r>
                        <a:rPr lang="en-US" sz="2400" kern="100">
                          <a:effectLst/>
                        </a:rPr>
                        <a:t>bg</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gridSpan="2">
                  <a:txBody>
                    <a:bodyPr/>
                    <a:lstStyle/>
                    <a:p>
                      <a:pPr indent="266700" algn="l">
                        <a:spcAft>
                          <a:spcPts val="0"/>
                        </a:spcAft>
                      </a:pPr>
                      <a:r>
                        <a:rPr lang="zh-CN" sz="2400" kern="100">
                          <a:effectLst/>
                        </a:rPr>
                        <a:t>背景色。</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extLst>
                  <a:ext uri="{0D108BD9-81ED-4DB2-BD59-A6C34878D82A}">
                    <a16:rowId xmlns:a16="http://schemas.microsoft.com/office/drawing/2014/main" val="3057422317"/>
                  </a:ext>
                </a:extLst>
              </a:tr>
              <a:tr h="495792">
                <a:tc>
                  <a:txBody>
                    <a:bodyPr/>
                    <a:lstStyle/>
                    <a:p>
                      <a:pPr indent="266700" algn="l">
                        <a:spcAft>
                          <a:spcPts val="0"/>
                        </a:spcAft>
                      </a:pPr>
                      <a:r>
                        <a:rPr lang="en-US" sz="2400" kern="100">
                          <a:effectLst/>
                        </a:rPr>
                        <a:t>fg</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gridSpan="2">
                  <a:txBody>
                    <a:bodyPr/>
                    <a:lstStyle/>
                    <a:p>
                      <a:pPr indent="266700" algn="l">
                        <a:spcAft>
                          <a:spcPts val="0"/>
                        </a:spcAft>
                      </a:pPr>
                      <a:r>
                        <a:rPr lang="zh-CN" sz="2400" kern="100">
                          <a:effectLst/>
                        </a:rPr>
                        <a:t>前景色。</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extLst>
                  <a:ext uri="{0D108BD9-81ED-4DB2-BD59-A6C34878D82A}">
                    <a16:rowId xmlns:a16="http://schemas.microsoft.com/office/drawing/2014/main" val="3395103584"/>
                  </a:ext>
                </a:extLst>
              </a:tr>
              <a:tr h="495792">
                <a:tc>
                  <a:txBody>
                    <a:bodyPr/>
                    <a:lstStyle/>
                    <a:p>
                      <a:pPr indent="266700" algn="l">
                        <a:spcAft>
                          <a:spcPts val="0"/>
                        </a:spcAft>
                      </a:pPr>
                      <a:r>
                        <a:rPr lang="en-US" sz="2400" kern="100">
                          <a:effectLst/>
                        </a:rPr>
                        <a:t>bd</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gridSpan="2">
                  <a:txBody>
                    <a:bodyPr/>
                    <a:lstStyle/>
                    <a:p>
                      <a:pPr indent="266700" algn="l">
                        <a:spcAft>
                          <a:spcPts val="0"/>
                        </a:spcAft>
                      </a:pPr>
                      <a:r>
                        <a:rPr lang="zh-CN" sz="2400" kern="100">
                          <a:effectLst/>
                        </a:rPr>
                        <a:t>文本框的边框粗细。</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extLst>
                  <a:ext uri="{0D108BD9-81ED-4DB2-BD59-A6C34878D82A}">
                    <a16:rowId xmlns:a16="http://schemas.microsoft.com/office/drawing/2014/main" val="1374494239"/>
                  </a:ext>
                </a:extLst>
              </a:tr>
              <a:tr h="495792">
                <a:tc>
                  <a:txBody>
                    <a:bodyPr/>
                    <a:lstStyle/>
                    <a:p>
                      <a:pPr indent="266700" algn="l">
                        <a:spcAft>
                          <a:spcPts val="0"/>
                        </a:spcAft>
                      </a:pPr>
                      <a:r>
                        <a:rPr lang="en-US" sz="2400" kern="100">
                          <a:effectLst/>
                        </a:rPr>
                        <a:t>justify</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gridSpan="2">
                  <a:txBody>
                    <a:bodyPr/>
                    <a:lstStyle/>
                    <a:p>
                      <a:pPr indent="266700" algn="l">
                        <a:spcAft>
                          <a:spcPts val="0"/>
                        </a:spcAft>
                      </a:pPr>
                      <a:r>
                        <a:rPr lang="zh-CN" sz="2400" kern="100">
                          <a:effectLst/>
                        </a:rPr>
                        <a:t>多行文本的对齐方式，可以设为左对齐</a:t>
                      </a:r>
                      <a:r>
                        <a:rPr lang="en-US" sz="2400" kern="100">
                          <a:effectLst/>
                        </a:rPr>
                        <a:t>LEFT</a:t>
                      </a:r>
                      <a:r>
                        <a:rPr lang="zh-CN" sz="2400" kern="100">
                          <a:effectLst/>
                        </a:rPr>
                        <a:t>或右对齐</a:t>
                      </a:r>
                      <a:r>
                        <a:rPr lang="en-US" sz="2400" kern="100">
                          <a:effectLst/>
                        </a:rPr>
                        <a:t>RIGHT</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extLst>
                  <a:ext uri="{0D108BD9-81ED-4DB2-BD59-A6C34878D82A}">
                    <a16:rowId xmlns:a16="http://schemas.microsoft.com/office/drawing/2014/main" val="2188217473"/>
                  </a:ext>
                </a:extLst>
              </a:tr>
              <a:tr h="991586">
                <a:tc>
                  <a:txBody>
                    <a:bodyPr/>
                    <a:lstStyle/>
                    <a:p>
                      <a:pPr indent="266700" algn="l">
                        <a:spcAft>
                          <a:spcPts val="0"/>
                        </a:spcAft>
                      </a:pPr>
                      <a:r>
                        <a:rPr lang="en-US" sz="2400" kern="100">
                          <a:effectLst/>
                        </a:rPr>
                        <a:t>relief</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gridSpan="2">
                  <a:txBody>
                    <a:bodyPr/>
                    <a:lstStyle/>
                    <a:p>
                      <a:pPr indent="266700" algn="l">
                        <a:spcAft>
                          <a:spcPts val="0"/>
                        </a:spcAft>
                      </a:pPr>
                      <a:r>
                        <a:rPr lang="zh-CN" sz="2400" kern="100">
                          <a:effectLst/>
                        </a:rPr>
                        <a:t>按钮边框的</a:t>
                      </a:r>
                      <a:r>
                        <a:rPr lang="en-US" sz="2400" kern="100">
                          <a:effectLst/>
                        </a:rPr>
                        <a:t>3D</a:t>
                      </a:r>
                      <a:r>
                        <a:rPr lang="zh-CN" sz="2400" kern="100">
                          <a:effectLst/>
                        </a:rPr>
                        <a:t>效果，可以设为</a:t>
                      </a:r>
                      <a:r>
                        <a:rPr lang="en-US" sz="2400" kern="100">
                          <a:effectLst/>
                        </a:rPr>
                        <a:t>FLAT</a:t>
                      </a:r>
                      <a:r>
                        <a:rPr lang="zh-CN" sz="2400" kern="100">
                          <a:effectLst/>
                        </a:rPr>
                        <a:t>、</a:t>
                      </a:r>
                      <a:r>
                        <a:rPr lang="en-US" sz="2400" kern="100">
                          <a:effectLst/>
                        </a:rPr>
                        <a:t>GROOVE</a:t>
                      </a:r>
                      <a:r>
                        <a:rPr lang="zh-CN" sz="2400" kern="100">
                          <a:effectLst/>
                        </a:rPr>
                        <a:t>、</a:t>
                      </a:r>
                      <a:r>
                        <a:rPr lang="en-US" sz="2400" kern="100">
                          <a:effectLst/>
                        </a:rPr>
                        <a:t>RAISED</a:t>
                      </a:r>
                      <a:r>
                        <a:rPr lang="zh-CN" sz="2400" kern="100">
                          <a:effectLst/>
                        </a:rPr>
                        <a:t>、</a:t>
                      </a:r>
                      <a:r>
                        <a:rPr lang="en-US" sz="2400" kern="100">
                          <a:effectLst/>
                        </a:rPr>
                        <a:t>RIDGE</a:t>
                      </a:r>
                      <a:r>
                        <a:rPr lang="zh-CN" sz="2400" kern="100">
                          <a:effectLst/>
                        </a:rPr>
                        <a:t>、</a:t>
                      </a:r>
                      <a:r>
                        <a:rPr lang="en-US" sz="2400" kern="100">
                          <a:effectLst/>
                        </a:rPr>
                        <a:t>SOLID</a:t>
                      </a:r>
                      <a:r>
                        <a:rPr lang="zh-CN" sz="2400" kern="100">
                          <a:effectLst/>
                        </a:rPr>
                        <a:t>、</a:t>
                      </a:r>
                      <a:r>
                        <a:rPr lang="en-US" sz="2400" kern="100">
                          <a:effectLst/>
                        </a:rPr>
                        <a:t>SUNKEN</a:t>
                      </a:r>
                      <a:r>
                        <a:rPr lang="zh-CN" sz="2400" kern="100">
                          <a:effectLst/>
                        </a:rPr>
                        <a:t>等。</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extLst>
                  <a:ext uri="{0D108BD9-81ED-4DB2-BD59-A6C34878D82A}">
                    <a16:rowId xmlns:a16="http://schemas.microsoft.com/office/drawing/2014/main" val="4005176480"/>
                  </a:ext>
                </a:extLst>
              </a:tr>
              <a:tr h="578425">
                <a:tc>
                  <a:txBody>
                    <a:bodyPr/>
                    <a:lstStyle/>
                    <a:p>
                      <a:pPr indent="266700" algn="l">
                        <a:spcAft>
                          <a:spcPts val="0"/>
                        </a:spcAft>
                      </a:pPr>
                      <a:r>
                        <a:rPr lang="en-US" sz="2400" kern="100">
                          <a:effectLst/>
                        </a:rPr>
                        <a:t>state</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a:effectLst/>
                        </a:rPr>
                        <a:t>按钮的状态，可以设为正常</a:t>
                      </a:r>
                      <a:r>
                        <a:rPr lang="en-US" sz="2400" kern="100">
                          <a:effectLst/>
                        </a:rPr>
                        <a:t>normal</a:t>
                      </a:r>
                      <a:r>
                        <a:rPr lang="zh-CN" sz="2400" kern="100">
                          <a:effectLst/>
                        </a:rPr>
                        <a:t>、激活</a:t>
                      </a:r>
                      <a:r>
                        <a:rPr lang="en-US" sz="2400" kern="100">
                          <a:effectLst/>
                        </a:rPr>
                        <a:t>active</a:t>
                      </a:r>
                      <a:r>
                        <a:rPr lang="zh-CN" sz="2400" kern="100">
                          <a:effectLst/>
                        </a:rPr>
                        <a:t>和禁用</a:t>
                      </a:r>
                      <a:r>
                        <a:rPr lang="en-US" sz="2400" kern="100">
                          <a:effectLst/>
                        </a:rPr>
                        <a:t>disabled</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400" kern="100">
                          <a:effectLst/>
                        </a:rPr>
                        <a:t> </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extLst>
                  <a:ext uri="{0D108BD9-81ED-4DB2-BD59-A6C34878D82A}">
                    <a16:rowId xmlns:a16="http://schemas.microsoft.com/office/drawing/2014/main" val="1738634602"/>
                  </a:ext>
                </a:extLst>
              </a:tr>
              <a:tr h="495792">
                <a:tc>
                  <a:txBody>
                    <a:bodyPr/>
                    <a:lstStyle/>
                    <a:p>
                      <a:pPr indent="266700" algn="l">
                        <a:spcAft>
                          <a:spcPts val="0"/>
                        </a:spcAft>
                      </a:pPr>
                      <a:r>
                        <a:rPr lang="en-US" sz="2400" kern="100">
                          <a:effectLst/>
                        </a:rPr>
                        <a:t>show</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gridSpan="2">
                  <a:txBody>
                    <a:bodyPr/>
                    <a:lstStyle/>
                    <a:p>
                      <a:pPr indent="266700" algn="l">
                        <a:spcAft>
                          <a:spcPts val="0"/>
                        </a:spcAft>
                      </a:pPr>
                      <a:r>
                        <a:rPr lang="zh-CN" sz="2400" kern="100" dirty="0">
                          <a:effectLst/>
                        </a:rPr>
                        <a:t>指定输入的文本都显示为该属性字符。</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extLst>
                  <a:ext uri="{0D108BD9-81ED-4DB2-BD59-A6C34878D82A}">
                    <a16:rowId xmlns:a16="http://schemas.microsoft.com/office/drawing/2014/main" val="796106694"/>
                  </a:ext>
                </a:extLst>
              </a:tr>
            </a:tbl>
          </a:graphicData>
        </a:graphic>
      </p:graphicFrame>
      <p:sp>
        <p:nvSpPr>
          <p:cNvPr id="3" name="灯片编号占位符 2">
            <a:extLst>
              <a:ext uri="{FF2B5EF4-FFF2-40B4-BE49-F238E27FC236}">
                <a16:creationId xmlns:a16="http://schemas.microsoft.com/office/drawing/2014/main" id="{22635AA4-FEB4-4B81-9196-BAE613E0BFFF}"/>
              </a:ext>
            </a:extLst>
          </p:cNvPr>
          <p:cNvSpPr>
            <a:spLocks noGrp="1"/>
          </p:cNvSpPr>
          <p:nvPr>
            <p:ph type="sldNum" sz="quarter" idx="12"/>
          </p:nvPr>
        </p:nvSpPr>
        <p:spPr/>
        <p:txBody>
          <a:bodyPr/>
          <a:lstStyle/>
          <a:p>
            <a:fld id="{49AE70B2-8BF9-45C0-BB95-33D1B9D3A854}" type="slidenum">
              <a:rPr lang="zh-CN" altLang="en-US" smtClean="0"/>
              <a:t>28</a:t>
            </a:fld>
            <a:endParaRPr lang="zh-CN" altLang="en-US"/>
          </a:p>
        </p:txBody>
      </p:sp>
    </p:spTree>
    <p:extLst>
      <p:ext uri="{BB962C8B-B14F-4D97-AF65-F5344CB8AC3E}">
        <p14:creationId xmlns:p14="http://schemas.microsoft.com/office/powerpoint/2010/main" val="378895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多行文本框</a:t>
            </a:r>
            <a:r>
              <a:rPr lang="en-US" altLang="zh-CN" dirty="0"/>
              <a:t>Text</a:t>
            </a:r>
            <a:r>
              <a:rPr lang="zh-CN" altLang="en-US" dirty="0"/>
              <a:t>控件</a:t>
            </a:r>
          </a:p>
        </p:txBody>
      </p:sp>
      <p:sp>
        <p:nvSpPr>
          <p:cNvPr id="3" name="内容占位符 2"/>
          <p:cNvSpPr>
            <a:spLocks noGrp="1"/>
          </p:cNvSpPr>
          <p:nvPr>
            <p:ph idx="1"/>
          </p:nvPr>
        </p:nvSpPr>
        <p:spPr/>
        <p:txBody>
          <a:bodyPr/>
          <a:lstStyle/>
          <a:p>
            <a:pPr marL="0" indent="0" algn="ctr">
              <a:buNone/>
            </a:pPr>
            <a:r>
              <a:rPr lang="zh-CN" altLang="en-US" dirty="0"/>
              <a:t>变量 </a:t>
            </a:r>
            <a:r>
              <a:rPr lang="en-US" altLang="zh-CN" dirty="0"/>
              <a:t>= Text (</a:t>
            </a:r>
            <a:r>
              <a:rPr lang="zh-CN" altLang="en-US" dirty="0"/>
              <a:t>父容器对象名</a:t>
            </a:r>
            <a:r>
              <a:rPr lang="en-US" altLang="zh-CN" dirty="0"/>
              <a:t>)</a:t>
            </a:r>
          </a:p>
          <a:p>
            <a:pPr lvl="1"/>
            <a:r>
              <a:rPr lang="zh-CN" altLang="en-US" dirty="0"/>
              <a:t>其运行结果是一个允许文本编辑的多行区域。</a:t>
            </a:r>
            <a:endParaRPr lang="en-US" altLang="zh-CN" dirty="0"/>
          </a:p>
          <a:p>
            <a:pPr lvl="1"/>
            <a:r>
              <a:rPr lang="en-US" altLang="zh-CN" dirty="0"/>
              <a:t>Text</a:t>
            </a:r>
            <a:r>
              <a:rPr lang="zh-CN" altLang="en-US" dirty="0"/>
              <a:t>不允许绑定</a:t>
            </a:r>
            <a:r>
              <a:rPr lang="en-US" altLang="zh-CN" dirty="0" err="1"/>
              <a:t>StringVar</a:t>
            </a:r>
            <a:r>
              <a:rPr lang="zh-CN" altLang="en-US" dirty="0"/>
              <a:t>变量，而是通过</a:t>
            </a:r>
            <a:r>
              <a:rPr lang="en-US" altLang="zh-CN" dirty="0"/>
              <a:t>Text</a:t>
            </a:r>
            <a:r>
              <a:rPr lang="zh-CN" altLang="en-US" dirty="0"/>
              <a:t>的方法获取、删除、插入和替换文本（见下页） 。</a:t>
            </a:r>
            <a:endParaRPr lang="en-US" altLang="zh-CN" dirty="0"/>
          </a:p>
          <a:p>
            <a:endParaRPr lang="zh-CN" altLang="en-US" dirty="0"/>
          </a:p>
          <a:p>
            <a:endParaRPr lang="zh-CN" altLang="en-US" dirty="0"/>
          </a:p>
        </p:txBody>
      </p:sp>
      <p:sp>
        <p:nvSpPr>
          <p:cNvPr id="4" name="灯片编号占位符 3">
            <a:extLst>
              <a:ext uri="{FF2B5EF4-FFF2-40B4-BE49-F238E27FC236}">
                <a16:creationId xmlns:a16="http://schemas.microsoft.com/office/drawing/2014/main" id="{BE80DC26-13CB-4059-BD37-7481A0C03DF8}"/>
              </a:ext>
            </a:extLst>
          </p:cNvPr>
          <p:cNvSpPr>
            <a:spLocks noGrp="1"/>
          </p:cNvSpPr>
          <p:nvPr>
            <p:ph type="sldNum" sz="quarter" idx="12"/>
          </p:nvPr>
        </p:nvSpPr>
        <p:spPr/>
        <p:txBody>
          <a:bodyPr/>
          <a:lstStyle/>
          <a:p>
            <a:fld id="{49AE70B2-8BF9-45C0-BB95-33D1B9D3A854}" type="slidenum">
              <a:rPr lang="zh-CN" altLang="en-US" smtClean="0"/>
              <a:t>29</a:t>
            </a:fld>
            <a:endParaRPr lang="zh-CN" altLang="en-US"/>
          </a:p>
        </p:txBody>
      </p:sp>
    </p:spTree>
    <p:extLst>
      <p:ext uri="{BB962C8B-B14F-4D97-AF65-F5344CB8AC3E}">
        <p14:creationId xmlns:p14="http://schemas.microsoft.com/office/powerpoint/2010/main" val="28964731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Text</a:t>
            </a:r>
            <a:r>
              <a:rPr lang="zh-CN" altLang="en-US" dirty="0"/>
              <a:t>控件的常用方法</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3856367578"/>
              </p:ext>
            </p:extLst>
          </p:nvPr>
        </p:nvGraphicFramePr>
        <p:xfrm>
          <a:off x="669925" y="1556791"/>
          <a:ext cx="11114707" cy="3816424"/>
        </p:xfrm>
        <a:graphic>
          <a:graphicData uri="http://schemas.openxmlformats.org/drawingml/2006/table">
            <a:tbl>
              <a:tblPr firstRow="1" firstCol="1" bandRow="1">
                <a:tableStyleId>{5C22544A-7EE6-4342-B048-85BDC9FD1C3A}</a:tableStyleId>
              </a:tblPr>
              <a:tblGrid>
                <a:gridCol w="5138043">
                  <a:extLst>
                    <a:ext uri="{9D8B030D-6E8A-4147-A177-3AD203B41FA5}">
                      <a16:colId xmlns:a16="http://schemas.microsoft.com/office/drawing/2014/main" val="1315962383"/>
                    </a:ext>
                  </a:extLst>
                </a:gridCol>
                <a:gridCol w="5976664">
                  <a:extLst>
                    <a:ext uri="{9D8B030D-6E8A-4147-A177-3AD203B41FA5}">
                      <a16:colId xmlns:a16="http://schemas.microsoft.com/office/drawing/2014/main" val="3460609430"/>
                    </a:ext>
                  </a:extLst>
                </a:gridCol>
              </a:tblGrid>
              <a:tr h="477053">
                <a:tc>
                  <a:txBody>
                    <a:bodyPr/>
                    <a:lstStyle/>
                    <a:p>
                      <a:pPr indent="266700" algn="ctr">
                        <a:spcAft>
                          <a:spcPts val="0"/>
                        </a:spcAft>
                      </a:pPr>
                      <a:r>
                        <a:rPr lang="zh-CN" sz="2400" kern="100">
                          <a:effectLst/>
                        </a:rPr>
                        <a:t>方法</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spcAft>
                          <a:spcPts val="0"/>
                        </a:spcAft>
                      </a:pPr>
                      <a:r>
                        <a:rPr lang="zh-CN" sz="2400" kern="100">
                          <a:effectLst/>
                        </a:rPr>
                        <a:t>作用及用法</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71019342"/>
                  </a:ext>
                </a:extLst>
              </a:tr>
              <a:tr h="954106">
                <a:tc>
                  <a:txBody>
                    <a:bodyPr/>
                    <a:lstStyle/>
                    <a:p>
                      <a:pPr indent="266700" algn="l">
                        <a:spcAft>
                          <a:spcPts val="0"/>
                        </a:spcAft>
                      </a:pPr>
                      <a:r>
                        <a:rPr lang="en-US" sz="2400" kern="100">
                          <a:effectLst/>
                        </a:rPr>
                        <a:t>get(index1, index2=None)</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a:effectLst/>
                        </a:rPr>
                        <a:t>获取从</a:t>
                      </a:r>
                      <a:r>
                        <a:rPr lang="en-US" sz="2400" kern="100">
                          <a:effectLst/>
                        </a:rPr>
                        <a:t>index1</a:t>
                      </a:r>
                      <a:r>
                        <a:rPr lang="zh-CN" sz="2400" kern="100">
                          <a:effectLst/>
                        </a:rPr>
                        <a:t>开始到</a:t>
                      </a:r>
                      <a:r>
                        <a:rPr lang="en-US" sz="2400" kern="100">
                          <a:effectLst/>
                        </a:rPr>
                        <a:t>index2</a:t>
                      </a:r>
                      <a:r>
                        <a:rPr lang="zh-CN" sz="2400" kern="100">
                          <a:effectLst/>
                        </a:rPr>
                        <a:t>为止的文本，不包含</a:t>
                      </a:r>
                      <a:r>
                        <a:rPr lang="en-US" sz="2400" kern="100">
                          <a:effectLst/>
                        </a:rPr>
                        <a:t>index2</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95432208"/>
                  </a:ext>
                </a:extLst>
              </a:tr>
              <a:tr h="954106">
                <a:tc>
                  <a:txBody>
                    <a:bodyPr/>
                    <a:lstStyle/>
                    <a:p>
                      <a:pPr indent="266700" algn="l">
                        <a:spcAft>
                          <a:spcPts val="0"/>
                        </a:spcAft>
                      </a:pPr>
                      <a:r>
                        <a:rPr lang="en-US" sz="2400" kern="100">
                          <a:effectLst/>
                        </a:rPr>
                        <a:t>delete(index1, index2=None)</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a:effectLst/>
                        </a:rPr>
                        <a:t>删除从</a:t>
                      </a:r>
                      <a:r>
                        <a:rPr lang="en-US" sz="2400" kern="100">
                          <a:effectLst/>
                        </a:rPr>
                        <a:t>index1</a:t>
                      </a:r>
                      <a:r>
                        <a:rPr lang="zh-CN" sz="2400" kern="100">
                          <a:effectLst/>
                        </a:rPr>
                        <a:t>开始到</a:t>
                      </a:r>
                      <a:r>
                        <a:rPr lang="en-US" sz="2400" kern="100">
                          <a:effectLst/>
                        </a:rPr>
                        <a:t>index2</a:t>
                      </a:r>
                      <a:r>
                        <a:rPr lang="zh-CN" sz="2400" kern="100">
                          <a:effectLst/>
                        </a:rPr>
                        <a:t>为止的文本，不包含</a:t>
                      </a:r>
                      <a:r>
                        <a:rPr lang="en-US" sz="2400" kern="100">
                          <a:effectLst/>
                        </a:rPr>
                        <a:t>index2</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72221154"/>
                  </a:ext>
                </a:extLst>
              </a:tr>
              <a:tr h="477053">
                <a:tc>
                  <a:txBody>
                    <a:bodyPr/>
                    <a:lstStyle/>
                    <a:p>
                      <a:pPr indent="266700" algn="l">
                        <a:spcAft>
                          <a:spcPts val="0"/>
                        </a:spcAft>
                      </a:pPr>
                      <a:r>
                        <a:rPr lang="en-US" sz="2400" kern="100">
                          <a:effectLst/>
                        </a:rPr>
                        <a:t>insert(index, chars)</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a:effectLst/>
                        </a:rPr>
                        <a:t>在</a:t>
                      </a:r>
                      <a:r>
                        <a:rPr lang="en-US" sz="2400" kern="100">
                          <a:effectLst/>
                        </a:rPr>
                        <a:t>index</a:t>
                      </a:r>
                      <a:r>
                        <a:rPr lang="zh-CN" sz="2400" kern="100">
                          <a:effectLst/>
                        </a:rPr>
                        <a:t>前插入</a:t>
                      </a:r>
                      <a:r>
                        <a:rPr lang="en-US" sz="2400" kern="100">
                          <a:effectLst/>
                        </a:rPr>
                        <a:t>chars</a:t>
                      </a:r>
                      <a:r>
                        <a:rPr lang="zh-CN" sz="2400" kern="100">
                          <a:effectLst/>
                        </a:rPr>
                        <a:t>的文本内容。</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61910006"/>
                  </a:ext>
                </a:extLst>
              </a:tr>
              <a:tr h="954106">
                <a:tc>
                  <a:txBody>
                    <a:bodyPr/>
                    <a:lstStyle/>
                    <a:p>
                      <a:pPr indent="266700" algn="l">
                        <a:spcAft>
                          <a:spcPts val="0"/>
                        </a:spcAft>
                      </a:pPr>
                      <a:r>
                        <a:rPr lang="en-US" sz="2400" kern="100">
                          <a:effectLst/>
                        </a:rPr>
                        <a:t>replace(index1, index2, chars)</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dirty="0">
                          <a:effectLst/>
                        </a:rPr>
                        <a:t>用</a:t>
                      </a:r>
                      <a:r>
                        <a:rPr lang="en-US" sz="2400" kern="100" dirty="0">
                          <a:effectLst/>
                        </a:rPr>
                        <a:t>chars</a:t>
                      </a:r>
                      <a:r>
                        <a:rPr lang="zh-CN" sz="2400" kern="100" dirty="0">
                          <a:effectLst/>
                        </a:rPr>
                        <a:t>替换从从</a:t>
                      </a:r>
                      <a:r>
                        <a:rPr lang="en-US" sz="2400" kern="100" dirty="0">
                          <a:effectLst/>
                        </a:rPr>
                        <a:t>index1</a:t>
                      </a:r>
                      <a:r>
                        <a:rPr lang="zh-CN" sz="2400" kern="100" dirty="0">
                          <a:effectLst/>
                        </a:rPr>
                        <a:t>开始到</a:t>
                      </a:r>
                      <a:r>
                        <a:rPr lang="en-US" sz="2400" kern="100" dirty="0">
                          <a:effectLst/>
                        </a:rPr>
                        <a:t>index2</a:t>
                      </a:r>
                      <a:r>
                        <a:rPr lang="zh-CN" sz="2400" kern="100" dirty="0">
                          <a:effectLst/>
                        </a:rPr>
                        <a:t>为止的文本，不包含</a:t>
                      </a:r>
                      <a:r>
                        <a:rPr lang="en-US" sz="2400" kern="100" dirty="0">
                          <a:effectLst/>
                        </a:rPr>
                        <a:t>index2</a:t>
                      </a:r>
                      <a:r>
                        <a:rPr lang="zh-CN" sz="2400" kern="100" dirty="0">
                          <a:effectLst/>
                        </a:rPr>
                        <a:t>。</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34612630"/>
                  </a:ext>
                </a:extLst>
              </a:tr>
            </a:tbl>
          </a:graphicData>
        </a:graphic>
      </p:graphicFrame>
      <p:sp>
        <p:nvSpPr>
          <p:cNvPr id="3" name="灯片编号占位符 2">
            <a:extLst>
              <a:ext uri="{FF2B5EF4-FFF2-40B4-BE49-F238E27FC236}">
                <a16:creationId xmlns:a16="http://schemas.microsoft.com/office/drawing/2014/main" id="{F52BA860-871B-4020-8008-69D15A43DAFE}"/>
              </a:ext>
            </a:extLst>
          </p:cNvPr>
          <p:cNvSpPr>
            <a:spLocks noGrp="1"/>
          </p:cNvSpPr>
          <p:nvPr>
            <p:ph type="sldNum" sz="quarter" idx="12"/>
          </p:nvPr>
        </p:nvSpPr>
        <p:spPr/>
        <p:txBody>
          <a:bodyPr/>
          <a:lstStyle/>
          <a:p>
            <a:fld id="{49AE70B2-8BF9-45C0-BB95-33D1B9D3A854}" type="slidenum">
              <a:rPr lang="zh-CN" altLang="en-US" smtClean="0"/>
              <a:t>30</a:t>
            </a:fld>
            <a:endParaRPr lang="zh-CN" altLang="en-US"/>
          </a:p>
        </p:txBody>
      </p:sp>
    </p:spTree>
    <p:extLst>
      <p:ext uri="{BB962C8B-B14F-4D97-AF65-F5344CB8AC3E}">
        <p14:creationId xmlns:p14="http://schemas.microsoft.com/office/powerpoint/2010/main" val="17147123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Text</a:t>
            </a:r>
            <a:r>
              <a:rPr lang="zh-CN" altLang="en-US" dirty="0"/>
              <a:t>控件的常用方法中的参数</a:t>
            </a:r>
            <a:r>
              <a:rPr lang="en-US" altLang="zh-CN" dirty="0"/>
              <a:t>index</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参数</a:t>
            </a:r>
            <a:r>
              <a:rPr lang="en-US" altLang="zh-CN" dirty="0"/>
              <a:t>index</a:t>
            </a:r>
            <a:r>
              <a:rPr lang="zh-CN" altLang="en-US" dirty="0"/>
              <a:t>代表了多行文本的位置。其格式如下：</a:t>
            </a:r>
          </a:p>
          <a:p>
            <a:pPr marL="0" indent="0" algn="ctr">
              <a:buNone/>
            </a:pPr>
            <a:r>
              <a:rPr lang="zh-CN" altLang="en-US" dirty="0"/>
              <a:t>标号</a:t>
            </a:r>
            <a:r>
              <a:rPr lang="en-US" altLang="zh-CN" dirty="0"/>
              <a:t>1.</a:t>
            </a:r>
            <a:r>
              <a:rPr lang="zh-CN" altLang="en-US" dirty="0"/>
              <a:t>标号</a:t>
            </a:r>
            <a:r>
              <a:rPr lang="en-US" altLang="zh-CN" dirty="0"/>
              <a:t>2</a:t>
            </a:r>
          </a:p>
          <a:p>
            <a:pPr marL="0" indent="0">
              <a:buNone/>
            </a:pPr>
            <a:r>
              <a:rPr lang="zh-CN" altLang="en-US" dirty="0"/>
              <a:t>（</a:t>
            </a:r>
            <a:r>
              <a:rPr lang="en-US" altLang="zh-CN" dirty="0"/>
              <a:t>1</a:t>
            </a:r>
            <a:r>
              <a:rPr lang="zh-CN" altLang="en-US" dirty="0"/>
              <a:t>）</a:t>
            </a:r>
            <a:r>
              <a:rPr lang="en-US" altLang="zh-CN" dirty="0"/>
              <a:t>index</a:t>
            </a:r>
            <a:r>
              <a:rPr lang="zh-CN" altLang="en-US" dirty="0"/>
              <a:t>可以是字符串，也可以是一个实数，建议优先选择字符串。</a:t>
            </a:r>
            <a:endParaRPr lang="en-US" altLang="zh-CN" dirty="0"/>
          </a:p>
          <a:p>
            <a:pPr lvl="1"/>
            <a:r>
              <a:rPr lang="en-US" altLang="zh-CN" dirty="0"/>
              <a:t>'4.10'</a:t>
            </a:r>
            <a:r>
              <a:rPr lang="zh-CN" altLang="en-US" dirty="0"/>
              <a:t>表示第</a:t>
            </a:r>
            <a:r>
              <a:rPr lang="en-US" altLang="zh-CN" dirty="0"/>
              <a:t>4</a:t>
            </a:r>
            <a:r>
              <a:rPr lang="zh-CN" altLang="en-US" dirty="0"/>
              <a:t>行第</a:t>
            </a:r>
            <a:r>
              <a:rPr lang="en-US" altLang="zh-CN" dirty="0"/>
              <a:t>10</a:t>
            </a:r>
            <a:r>
              <a:rPr lang="zh-CN" altLang="en-US" dirty="0"/>
              <a:t>个字符</a:t>
            </a:r>
            <a:endParaRPr lang="en-US" altLang="zh-CN" dirty="0"/>
          </a:p>
          <a:p>
            <a:pPr lvl="1"/>
            <a:r>
              <a:rPr lang="en-US" altLang="zh-CN" dirty="0"/>
              <a:t>4.10</a:t>
            </a:r>
            <a:r>
              <a:rPr lang="zh-CN" altLang="en-US" dirty="0"/>
              <a:t>表示的是第</a:t>
            </a:r>
            <a:r>
              <a:rPr lang="en-US" altLang="zh-CN" dirty="0"/>
              <a:t>4</a:t>
            </a:r>
            <a:r>
              <a:rPr lang="zh-CN" altLang="en-US" dirty="0"/>
              <a:t>行第</a:t>
            </a:r>
            <a:r>
              <a:rPr lang="en-US" altLang="zh-CN" dirty="0"/>
              <a:t>1</a:t>
            </a:r>
            <a:r>
              <a:rPr lang="zh-CN" altLang="en-US" dirty="0"/>
              <a:t>个字符，末尾的</a:t>
            </a:r>
            <a:r>
              <a:rPr lang="en-US" altLang="zh-CN" dirty="0"/>
              <a:t>0</a:t>
            </a:r>
            <a:r>
              <a:rPr lang="zh-CN" altLang="en-US" dirty="0"/>
              <a:t>被无视了。</a:t>
            </a:r>
          </a:p>
          <a:p>
            <a:pPr marL="0" indent="0">
              <a:buNone/>
            </a:pPr>
            <a:r>
              <a:rPr lang="zh-CN" altLang="en-US" dirty="0"/>
              <a:t>（</a:t>
            </a:r>
            <a:r>
              <a:rPr lang="en-US" altLang="zh-CN" dirty="0"/>
              <a:t>2</a:t>
            </a:r>
            <a:r>
              <a:rPr lang="zh-CN" altLang="en-US" dirty="0"/>
              <a:t>）小数点是分隔符；标号</a:t>
            </a:r>
            <a:r>
              <a:rPr lang="en-US" altLang="zh-CN" dirty="0"/>
              <a:t>1</a:t>
            </a:r>
            <a:r>
              <a:rPr lang="zh-CN" altLang="en-US" dirty="0"/>
              <a:t>代表行号，行号从</a:t>
            </a:r>
            <a:r>
              <a:rPr lang="en-US" altLang="zh-CN" dirty="0"/>
              <a:t>1</a:t>
            </a:r>
            <a:r>
              <a:rPr lang="zh-CN" altLang="en-US" dirty="0"/>
              <a:t>开始；标号</a:t>
            </a:r>
            <a:r>
              <a:rPr lang="en-US" altLang="zh-CN" dirty="0"/>
              <a:t>2</a:t>
            </a:r>
            <a:r>
              <a:rPr lang="zh-CN" altLang="en-US" dirty="0"/>
              <a:t>代表行中字符的位置，行中字符从</a:t>
            </a:r>
            <a:r>
              <a:rPr lang="en-US" altLang="zh-CN" dirty="0"/>
              <a:t>0</a:t>
            </a:r>
            <a:r>
              <a:rPr lang="zh-CN" altLang="en-US" dirty="0"/>
              <a:t>开始编号。</a:t>
            </a:r>
          </a:p>
          <a:p>
            <a:pPr marL="0" indent="0">
              <a:buNone/>
            </a:pPr>
            <a:r>
              <a:rPr lang="zh-CN" altLang="en-US" dirty="0"/>
              <a:t>（</a:t>
            </a:r>
            <a:r>
              <a:rPr lang="en-US" altLang="zh-CN" dirty="0"/>
              <a:t>3</a:t>
            </a:r>
            <a:r>
              <a:rPr lang="zh-CN" altLang="en-US" dirty="0"/>
              <a:t>）</a:t>
            </a:r>
            <a:r>
              <a:rPr lang="en-US" altLang="zh-CN" dirty="0"/>
              <a:t>index</a:t>
            </a:r>
            <a:r>
              <a:rPr lang="zh-CN" altLang="en-US" dirty="0"/>
              <a:t>后面可以跟</a:t>
            </a:r>
            <a:r>
              <a:rPr lang="en-US" altLang="zh-CN" dirty="0" err="1"/>
              <a:t>linestart</a:t>
            </a:r>
            <a:r>
              <a:rPr lang="zh-CN" altLang="en-US" dirty="0"/>
              <a:t>、</a:t>
            </a:r>
            <a:r>
              <a:rPr lang="en-US" altLang="zh-CN" dirty="0" err="1"/>
              <a:t>lineend</a:t>
            </a:r>
            <a:r>
              <a:rPr lang="zh-CN" altLang="en-US" dirty="0"/>
              <a:t>、</a:t>
            </a:r>
            <a:r>
              <a:rPr lang="en-US" altLang="zh-CN" dirty="0" err="1"/>
              <a:t>wordstart</a:t>
            </a:r>
            <a:r>
              <a:rPr lang="zh-CN" altLang="en-US" dirty="0"/>
              <a:t>或</a:t>
            </a:r>
            <a:r>
              <a:rPr lang="en-US" altLang="zh-CN" dirty="0" err="1"/>
              <a:t>wordend</a:t>
            </a:r>
            <a:r>
              <a:rPr lang="zh-CN" altLang="en-US" dirty="0"/>
              <a:t>辅助关键字（见下页）。</a:t>
            </a:r>
          </a:p>
          <a:p>
            <a:pPr marL="0" indent="0">
              <a:buNone/>
            </a:pPr>
            <a:r>
              <a:rPr lang="zh-CN" altLang="en-US" dirty="0"/>
              <a:t>（</a:t>
            </a:r>
            <a:r>
              <a:rPr lang="en-US" altLang="zh-CN" dirty="0"/>
              <a:t>4</a:t>
            </a:r>
            <a:r>
              <a:rPr lang="zh-CN" altLang="en-US" dirty="0"/>
              <a:t>）</a:t>
            </a:r>
            <a:r>
              <a:rPr lang="en-US" altLang="zh-CN" dirty="0"/>
              <a:t>index</a:t>
            </a:r>
            <a:r>
              <a:rPr lang="zh-CN" altLang="en-US" dirty="0"/>
              <a:t>也可以直接使用表</a:t>
            </a:r>
            <a:r>
              <a:rPr lang="en-US" altLang="zh-CN" dirty="0"/>
              <a:t>13-7</a:t>
            </a:r>
            <a:r>
              <a:rPr lang="zh-CN" altLang="en-US" dirty="0"/>
              <a:t>中的大写常量（见下页）。</a:t>
            </a:r>
          </a:p>
          <a:p>
            <a:endParaRPr lang="zh-CN" altLang="en-US" dirty="0"/>
          </a:p>
        </p:txBody>
      </p:sp>
      <p:sp>
        <p:nvSpPr>
          <p:cNvPr id="4" name="灯片编号占位符 3">
            <a:extLst>
              <a:ext uri="{FF2B5EF4-FFF2-40B4-BE49-F238E27FC236}">
                <a16:creationId xmlns:a16="http://schemas.microsoft.com/office/drawing/2014/main" id="{0C8F4D86-672A-429F-90E6-71CF67E16FC1}"/>
              </a:ext>
            </a:extLst>
          </p:cNvPr>
          <p:cNvSpPr>
            <a:spLocks noGrp="1"/>
          </p:cNvSpPr>
          <p:nvPr>
            <p:ph type="sldNum" sz="quarter" idx="12"/>
          </p:nvPr>
        </p:nvSpPr>
        <p:spPr/>
        <p:txBody>
          <a:bodyPr/>
          <a:lstStyle/>
          <a:p>
            <a:fld id="{49AE70B2-8BF9-45C0-BB95-33D1B9D3A854}" type="slidenum">
              <a:rPr lang="zh-CN" altLang="en-US" smtClean="0"/>
              <a:t>31</a:t>
            </a:fld>
            <a:endParaRPr lang="zh-CN" altLang="en-US"/>
          </a:p>
        </p:txBody>
      </p:sp>
    </p:spTree>
    <p:extLst>
      <p:ext uri="{BB962C8B-B14F-4D97-AF65-F5344CB8AC3E}">
        <p14:creationId xmlns:p14="http://schemas.microsoft.com/office/powerpoint/2010/main" val="782276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参数</a:t>
            </a:r>
            <a:r>
              <a:rPr lang="en-US" altLang="zh-CN" dirty="0"/>
              <a:t>index</a:t>
            </a:r>
            <a:r>
              <a:rPr lang="zh-CN" altLang="en-US" dirty="0"/>
              <a:t>中文本位置常量</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2737867821"/>
              </p:ext>
            </p:extLst>
          </p:nvPr>
        </p:nvGraphicFramePr>
        <p:xfrm>
          <a:off x="685800" y="2193925"/>
          <a:ext cx="10819886" cy="5076847"/>
        </p:xfrm>
        <a:graphic>
          <a:graphicData uri="http://schemas.openxmlformats.org/drawingml/2006/table">
            <a:tbl>
              <a:tblPr firstRow="1" firstCol="1" bandRow="1">
                <a:tableStyleId>{5C22544A-7EE6-4342-B048-85BDC9FD1C3A}</a:tableStyleId>
              </a:tblPr>
              <a:tblGrid>
                <a:gridCol w="2226689">
                  <a:extLst>
                    <a:ext uri="{9D8B030D-6E8A-4147-A177-3AD203B41FA5}">
                      <a16:colId xmlns:a16="http://schemas.microsoft.com/office/drawing/2014/main" val="1994974986"/>
                    </a:ext>
                  </a:extLst>
                </a:gridCol>
                <a:gridCol w="8593197">
                  <a:extLst>
                    <a:ext uri="{9D8B030D-6E8A-4147-A177-3AD203B41FA5}">
                      <a16:colId xmlns:a16="http://schemas.microsoft.com/office/drawing/2014/main" val="2317804957"/>
                    </a:ext>
                  </a:extLst>
                </a:gridCol>
              </a:tblGrid>
              <a:tr h="442696">
                <a:tc>
                  <a:txBody>
                    <a:bodyPr/>
                    <a:lstStyle/>
                    <a:p>
                      <a:pPr indent="266700" algn="ctr">
                        <a:spcAft>
                          <a:spcPts val="0"/>
                        </a:spcAft>
                      </a:pPr>
                      <a:r>
                        <a:rPr lang="zh-CN" sz="2400" kern="100">
                          <a:effectLst/>
                        </a:rPr>
                        <a:t>关键字</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tc>
                  <a:txBody>
                    <a:bodyPr/>
                    <a:lstStyle/>
                    <a:p>
                      <a:pPr indent="266700" algn="ctr">
                        <a:spcAft>
                          <a:spcPts val="0"/>
                        </a:spcAft>
                      </a:pPr>
                      <a:r>
                        <a:rPr lang="zh-CN" sz="2400" kern="100">
                          <a:effectLst/>
                        </a:rPr>
                        <a:t>作用</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extLst>
                  <a:ext uri="{0D108BD9-81ED-4DB2-BD59-A6C34878D82A}">
                    <a16:rowId xmlns:a16="http://schemas.microsoft.com/office/drawing/2014/main" val="936938888"/>
                  </a:ext>
                </a:extLst>
              </a:tr>
              <a:tr h="442696">
                <a:tc>
                  <a:txBody>
                    <a:bodyPr/>
                    <a:lstStyle/>
                    <a:p>
                      <a:pPr indent="266700" algn="l">
                        <a:spcAft>
                          <a:spcPts val="0"/>
                        </a:spcAft>
                      </a:pPr>
                      <a:r>
                        <a:rPr lang="en-US" sz="2400" kern="100" dirty="0" err="1">
                          <a:effectLst/>
                        </a:rPr>
                        <a:t>linestart</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tc>
                  <a:txBody>
                    <a:bodyPr/>
                    <a:lstStyle/>
                    <a:p>
                      <a:pPr indent="266700" algn="l">
                        <a:spcAft>
                          <a:spcPts val="0"/>
                        </a:spcAft>
                      </a:pPr>
                      <a:r>
                        <a:rPr lang="zh-CN" sz="2400" kern="100">
                          <a:effectLst/>
                        </a:rPr>
                        <a:t>文本位置为</a:t>
                      </a:r>
                      <a:r>
                        <a:rPr lang="en-US" sz="2400" kern="100">
                          <a:effectLst/>
                        </a:rPr>
                        <a:t>index</a:t>
                      </a:r>
                      <a:r>
                        <a:rPr lang="zh-CN" sz="2400" kern="100">
                          <a:effectLst/>
                        </a:rPr>
                        <a:t>中标号</a:t>
                      </a:r>
                      <a:r>
                        <a:rPr lang="en-US" sz="2400" kern="100">
                          <a:effectLst/>
                        </a:rPr>
                        <a:t>1</a:t>
                      </a:r>
                      <a:r>
                        <a:rPr lang="zh-CN" sz="2400" kern="100">
                          <a:effectLst/>
                        </a:rPr>
                        <a:t>所指的一行的首字符。</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extLst>
                  <a:ext uri="{0D108BD9-81ED-4DB2-BD59-A6C34878D82A}">
                    <a16:rowId xmlns:a16="http://schemas.microsoft.com/office/drawing/2014/main" val="3445619238"/>
                  </a:ext>
                </a:extLst>
              </a:tr>
              <a:tr h="442696">
                <a:tc>
                  <a:txBody>
                    <a:bodyPr/>
                    <a:lstStyle/>
                    <a:p>
                      <a:pPr indent="266700" algn="l">
                        <a:spcAft>
                          <a:spcPts val="0"/>
                        </a:spcAft>
                      </a:pPr>
                      <a:r>
                        <a:rPr lang="en-US" sz="2400" kern="100">
                          <a:effectLst/>
                        </a:rPr>
                        <a:t>lineend</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tc>
                  <a:txBody>
                    <a:bodyPr/>
                    <a:lstStyle/>
                    <a:p>
                      <a:pPr indent="266700" algn="l">
                        <a:spcAft>
                          <a:spcPts val="0"/>
                        </a:spcAft>
                      </a:pPr>
                      <a:r>
                        <a:rPr lang="zh-CN" sz="2400" kern="100">
                          <a:effectLst/>
                        </a:rPr>
                        <a:t>文本位置为</a:t>
                      </a:r>
                      <a:r>
                        <a:rPr lang="en-US" sz="2400" kern="100">
                          <a:effectLst/>
                        </a:rPr>
                        <a:t>index</a:t>
                      </a:r>
                      <a:r>
                        <a:rPr lang="zh-CN" sz="2400" kern="100">
                          <a:effectLst/>
                        </a:rPr>
                        <a:t>中标号</a:t>
                      </a:r>
                      <a:r>
                        <a:rPr lang="en-US" sz="2400" kern="100">
                          <a:effectLst/>
                        </a:rPr>
                        <a:t>1</a:t>
                      </a:r>
                      <a:r>
                        <a:rPr lang="zh-CN" sz="2400" kern="100">
                          <a:effectLst/>
                        </a:rPr>
                        <a:t>所指的一行的最后一个字符。</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extLst>
                  <a:ext uri="{0D108BD9-81ED-4DB2-BD59-A6C34878D82A}">
                    <a16:rowId xmlns:a16="http://schemas.microsoft.com/office/drawing/2014/main" val="2100904710"/>
                  </a:ext>
                </a:extLst>
              </a:tr>
              <a:tr h="791190">
                <a:tc>
                  <a:txBody>
                    <a:bodyPr/>
                    <a:lstStyle/>
                    <a:p>
                      <a:pPr indent="266700" algn="l">
                        <a:spcAft>
                          <a:spcPts val="0"/>
                        </a:spcAft>
                      </a:pPr>
                      <a:r>
                        <a:rPr lang="en-US" sz="2400" kern="100">
                          <a:effectLst/>
                        </a:rPr>
                        <a:t>wordstart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tc>
                  <a:txBody>
                    <a:bodyPr/>
                    <a:lstStyle/>
                    <a:p>
                      <a:pPr indent="266700" algn="l">
                        <a:spcAft>
                          <a:spcPts val="0"/>
                        </a:spcAft>
                      </a:pPr>
                      <a:r>
                        <a:rPr lang="zh-CN" sz="2400" kern="100">
                          <a:effectLst/>
                        </a:rPr>
                        <a:t>文本位置为</a:t>
                      </a:r>
                      <a:r>
                        <a:rPr lang="en-US" sz="2400" kern="100">
                          <a:effectLst/>
                        </a:rPr>
                        <a:t>index</a:t>
                      </a:r>
                      <a:r>
                        <a:rPr lang="zh-CN" sz="2400" kern="100">
                          <a:effectLst/>
                        </a:rPr>
                        <a:t>中标号</a:t>
                      </a:r>
                      <a:r>
                        <a:rPr lang="en-US" sz="2400" kern="100">
                          <a:effectLst/>
                        </a:rPr>
                        <a:t>1</a:t>
                      </a:r>
                      <a:r>
                        <a:rPr lang="zh-CN" sz="2400" kern="100">
                          <a:effectLst/>
                        </a:rPr>
                        <a:t>所指的一行、编号为标号</a:t>
                      </a:r>
                      <a:r>
                        <a:rPr lang="en-US" sz="2400" kern="100">
                          <a:effectLst/>
                        </a:rPr>
                        <a:t>2</a:t>
                      </a:r>
                      <a:r>
                        <a:rPr lang="zh-CN" sz="2400" kern="100">
                          <a:effectLst/>
                        </a:rPr>
                        <a:t>的单词的首字符。</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extLst>
                  <a:ext uri="{0D108BD9-81ED-4DB2-BD59-A6C34878D82A}">
                    <a16:rowId xmlns:a16="http://schemas.microsoft.com/office/drawing/2014/main" val="3099348576"/>
                  </a:ext>
                </a:extLst>
              </a:tr>
              <a:tr h="791190">
                <a:tc>
                  <a:txBody>
                    <a:bodyPr/>
                    <a:lstStyle/>
                    <a:p>
                      <a:pPr indent="266700" algn="l">
                        <a:spcAft>
                          <a:spcPts val="0"/>
                        </a:spcAft>
                      </a:pPr>
                      <a:r>
                        <a:rPr lang="en-US" sz="2400" kern="100">
                          <a:effectLst/>
                        </a:rPr>
                        <a:t>wordend</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tc>
                  <a:txBody>
                    <a:bodyPr/>
                    <a:lstStyle/>
                    <a:p>
                      <a:pPr indent="266700" algn="l">
                        <a:spcAft>
                          <a:spcPts val="0"/>
                        </a:spcAft>
                      </a:pPr>
                      <a:r>
                        <a:rPr lang="zh-CN" sz="2400" kern="100">
                          <a:effectLst/>
                        </a:rPr>
                        <a:t>文本位置为</a:t>
                      </a:r>
                      <a:r>
                        <a:rPr lang="en-US" sz="2400" kern="100">
                          <a:effectLst/>
                        </a:rPr>
                        <a:t>index</a:t>
                      </a:r>
                      <a:r>
                        <a:rPr lang="zh-CN" sz="2400" kern="100">
                          <a:effectLst/>
                        </a:rPr>
                        <a:t>中标号</a:t>
                      </a:r>
                      <a:r>
                        <a:rPr lang="en-US" sz="2400" kern="100">
                          <a:effectLst/>
                        </a:rPr>
                        <a:t>1</a:t>
                      </a:r>
                      <a:r>
                        <a:rPr lang="zh-CN" sz="2400" kern="100">
                          <a:effectLst/>
                        </a:rPr>
                        <a:t>所指的一行、编号为标号</a:t>
                      </a:r>
                      <a:r>
                        <a:rPr lang="en-US" sz="2400" kern="100">
                          <a:effectLst/>
                        </a:rPr>
                        <a:t>2</a:t>
                      </a:r>
                      <a:r>
                        <a:rPr lang="zh-CN" sz="2400" kern="100">
                          <a:effectLst/>
                        </a:rPr>
                        <a:t>的单词的最后一个字符之后的位置。</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extLst>
                  <a:ext uri="{0D108BD9-81ED-4DB2-BD59-A6C34878D82A}">
                    <a16:rowId xmlns:a16="http://schemas.microsoft.com/office/drawing/2014/main" val="174571152"/>
                  </a:ext>
                </a:extLst>
              </a:tr>
              <a:tr h="442696">
                <a:tc>
                  <a:txBody>
                    <a:bodyPr/>
                    <a:lstStyle/>
                    <a:p>
                      <a:pPr indent="266700" algn="l">
                        <a:spcAft>
                          <a:spcPts val="0"/>
                        </a:spcAft>
                      </a:pPr>
                      <a:r>
                        <a:rPr lang="en-US" sz="2400" kern="100">
                          <a:effectLst/>
                        </a:rPr>
                        <a:t>INSERT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tc>
                  <a:txBody>
                    <a:bodyPr/>
                    <a:lstStyle/>
                    <a:p>
                      <a:pPr indent="266700" algn="l">
                        <a:spcAft>
                          <a:spcPts val="0"/>
                        </a:spcAft>
                      </a:pPr>
                      <a:r>
                        <a:rPr lang="zh-CN" sz="2400" kern="100">
                          <a:effectLst/>
                        </a:rPr>
                        <a:t>文本位置为光标的插入点。</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extLst>
                  <a:ext uri="{0D108BD9-81ED-4DB2-BD59-A6C34878D82A}">
                    <a16:rowId xmlns:a16="http://schemas.microsoft.com/office/drawing/2014/main" val="4114534053"/>
                  </a:ext>
                </a:extLst>
              </a:tr>
              <a:tr h="442696">
                <a:tc>
                  <a:txBody>
                    <a:bodyPr/>
                    <a:lstStyle/>
                    <a:p>
                      <a:pPr indent="266700" algn="l">
                        <a:spcAft>
                          <a:spcPts val="0"/>
                        </a:spcAft>
                      </a:pPr>
                      <a:r>
                        <a:rPr lang="en-US" sz="2400" kern="100">
                          <a:effectLst/>
                        </a:rPr>
                        <a:t>CURRENT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tc>
                  <a:txBody>
                    <a:bodyPr/>
                    <a:lstStyle/>
                    <a:p>
                      <a:pPr indent="266700" algn="l">
                        <a:spcAft>
                          <a:spcPts val="0"/>
                        </a:spcAft>
                      </a:pPr>
                      <a:r>
                        <a:rPr lang="zh-CN" sz="2400" kern="100">
                          <a:effectLst/>
                        </a:rPr>
                        <a:t>文本位置为鼠标的当前位置。</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extLst>
                  <a:ext uri="{0D108BD9-81ED-4DB2-BD59-A6C34878D82A}">
                    <a16:rowId xmlns:a16="http://schemas.microsoft.com/office/drawing/2014/main" val="2851341011"/>
                  </a:ext>
                </a:extLst>
              </a:tr>
              <a:tr h="395595">
                <a:tc>
                  <a:txBody>
                    <a:bodyPr/>
                    <a:lstStyle/>
                    <a:p>
                      <a:pPr indent="266700" algn="l">
                        <a:spcAft>
                          <a:spcPts val="0"/>
                        </a:spcAft>
                      </a:pPr>
                      <a:r>
                        <a:rPr lang="en-US" sz="2400" kern="100">
                          <a:effectLst/>
                        </a:rPr>
                        <a:t>END</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tc>
                  <a:txBody>
                    <a:bodyPr/>
                    <a:lstStyle/>
                    <a:p>
                      <a:pPr indent="266700" algn="l">
                        <a:spcAft>
                          <a:spcPts val="0"/>
                        </a:spcAft>
                      </a:pPr>
                      <a:r>
                        <a:rPr lang="zh-CN" sz="2400" kern="100">
                          <a:effectLst/>
                        </a:rPr>
                        <a:t>文本位置为文本框的最后一个字符之后的位置。</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extLst>
                  <a:ext uri="{0D108BD9-81ED-4DB2-BD59-A6C34878D82A}">
                    <a16:rowId xmlns:a16="http://schemas.microsoft.com/office/drawing/2014/main" val="3351867790"/>
                  </a:ext>
                </a:extLst>
              </a:tr>
              <a:tr h="442696">
                <a:tc>
                  <a:txBody>
                    <a:bodyPr/>
                    <a:lstStyle/>
                    <a:p>
                      <a:pPr indent="266700" algn="l">
                        <a:spcAft>
                          <a:spcPts val="0"/>
                        </a:spcAft>
                      </a:pPr>
                      <a:r>
                        <a:rPr lang="en-US" sz="2400" kern="100">
                          <a:effectLst/>
                        </a:rPr>
                        <a:t>SEL_FIRTST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tc>
                  <a:txBody>
                    <a:bodyPr/>
                    <a:lstStyle/>
                    <a:p>
                      <a:pPr indent="266700" algn="l">
                        <a:spcAft>
                          <a:spcPts val="0"/>
                        </a:spcAft>
                      </a:pPr>
                      <a:r>
                        <a:rPr lang="zh-CN" sz="2400" kern="100">
                          <a:effectLst/>
                        </a:rPr>
                        <a:t>文本位置为选中文本的第一个字符。</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extLst>
                  <a:ext uri="{0D108BD9-81ED-4DB2-BD59-A6C34878D82A}">
                    <a16:rowId xmlns:a16="http://schemas.microsoft.com/office/drawing/2014/main" val="2579004655"/>
                  </a:ext>
                </a:extLst>
              </a:tr>
              <a:tr h="442696">
                <a:tc>
                  <a:txBody>
                    <a:bodyPr/>
                    <a:lstStyle/>
                    <a:p>
                      <a:pPr indent="266700" algn="l">
                        <a:spcAft>
                          <a:spcPts val="0"/>
                        </a:spcAft>
                      </a:pPr>
                      <a:r>
                        <a:rPr lang="en-US" sz="2400" kern="100">
                          <a:effectLst/>
                        </a:rPr>
                        <a:t>SEL_LAST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tc>
                  <a:txBody>
                    <a:bodyPr/>
                    <a:lstStyle/>
                    <a:p>
                      <a:pPr indent="266700" algn="l">
                        <a:spcAft>
                          <a:spcPts val="0"/>
                        </a:spcAft>
                      </a:pPr>
                      <a:r>
                        <a:rPr lang="zh-CN" sz="2400" kern="100" dirty="0">
                          <a:effectLst/>
                        </a:rPr>
                        <a:t>文本位置为选中文本的最后一个字符之后的位置。</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7638" marR="67638" marT="0" marB="0" anchor="ctr"/>
                </a:tc>
                <a:extLst>
                  <a:ext uri="{0D108BD9-81ED-4DB2-BD59-A6C34878D82A}">
                    <a16:rowId xmlns:a16="http://schemas.microsoft.com/office/drawing/2014/main" val="3222328830"/>
                  </a:ext>
                </a:extLst>
              </a:tr>
            </a:tbl>
          </a:graphicData>
        </a:graphic>
      </p:graphicFrame>
      <p:sp>
        <p:nvSpPr>
          <p:cNvPr id="3" name="灯片编号占位符 2">
            <a:extLst>
              <a:ext uri="{FF2B5EF4-FFF2-40B4-BE49-F238E27FC236}">
                <a16:creationId xmlns:a16="http://schemas.microsoft.com/office/drawing/2014/main" id="{84E9D7E2-354C-4A77-9E82-4CD831180B99}"/>
              </a:ext>
            </a:extLst>
          </p:cNvPr>
          <p:cNvSpPr>
            <a:spLocks noGrp="1"/>
          </p:cNvSpPr>
          <p:nvPr>
            <p:ph type="sldNum" sz="quarter" idx="12"/>
          </p:nvPr>
        </p:nvSpPr>
        <p:spPr/>
        <p:txBody>
          <a:bodyPr/>
          <a:lstStyle/>
          <a:p>
            <a:fld id="{49AE70B2-8BF9-45C0-BB95-33D1B9D3A854}" type="slidenum">
              <a:rPr lang="zh-CN" altLang="en-US" smtClean="0"/>
              <a:t>32</a:t>
            </a:fld>
            <a:endParaRPr lang="zh-CN" altLang="en-US"/>
          </a:p>
        </p:txBody>
      </p:sp>
    </p:spTree>
    <p:extLst>
      <p:ext uri="{BB962C8B-B14F-4D97-AF65-F5344CB8AC3E}">
        <p14:creationId xmlns:p14="http://schemas.microsoft.com/office/powerpoint/2010/main" val="9737898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a:t>
            </a:r>
            <a:r>
              <a:rPr lang="zh-CN" altLang="en-US" dirty="0"/>
              <a:t>例</a:t>
            </a:r>
            <a:r>
              <a:rPr lang="en-US" altLang="zh-CN" dirty="0"/>
              <a:t>13-8】</a:t>
            </a:r>
            <a:r>
              <a:rPr lang="zh-CN" altLang="en-US" dirty="0"/>
              <a:t>多行文本框的基本功能演示。</a:t>
            </a:r>
          </a:p>
        </p:txBody>
      </p:sp>
      <p:pic>
        <p:nvPicPr>
          <p:cNvPr id="4" name="图片 3"/>
          <p:cNvPicPr>
            <a:picLocks noChangeAspect="1"/>
          </p:cNvPicPr>
          <p:nvPr/>
        </p:nvPicPr>
        <p:blipFill>
          <a:blip r:embed="rId2"/>
          <a:stretch>
            <a:fillRect/>
          </a:stretch>
        </p:blipFill>
        <p:spPr>
          <a:xfrm>
            <a:off x="2279576" y="1412776"/>
            <a:ext cx="7992888" cy="5204218"/>
          </a:xfrm>
          <a:prstGeom prst="rect">
            <a:avLst/>
          </a:prstGeom>
        </p:spPr>
      </p:pic>
      <p:sp>
        <p:nvSpPr>
          <p:cNvPr id="3" name="灯片编号占位符 2">
            <a:extLst>
              <a:ext uri="{FF2B5EF4-FFF2-40B4-BE49-F238E27FC236}">
                <a16:creationId xmlns:a16="http://schemas.microsoft.com/office/drawing/2014/main" id="{9101FA07-5BAC-493C-B28D-84E01F18C631}"/>
              </a:ext>
            </a:extLst>
          </p:cNvPr>
          <p:cNvSpPr>
            <a:spLocks noGrp="1"/>
          </p:cNvSpPr>
          <p:nvPr>
            <p:ph type="sldNum" sz="quarter" idx="12"/>
          </p:nvPr>
        </p:nvSpPr>
        <p:spPr/>
        <p:txBody>
          <a:bodyPr/>
          <a:lstStyle/>
          <a:p>
            <a:fld id="{49AE70B2-8BF9-45C0-BB95-33D1B9D3A854}" type="slidenum">
              <a:rPr lang="zh-CN" altLang="en-US" smtClean="0"/>
              <a:t>33</a:t>
            </a:fld>
            <a:endParaRPr lang="zh-CN" altLang="en-US"/>
          </a:p>
        </p:txBody>
      </p:sp>
    </p:spTree>
    <p:extLst>
      <p:ext uri="{BB962C8B-B14F-4D97-AF65-F5344CB8AC3E}">
        <p14:creationId xmlns:p14="http://schemas.microsoft.com/office/powerpoint/2010/main" val="2524934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13.2.5 </a:t>
            </a:r>
            <a:r>
              <a:rPr lang="zh-CN" altLang="en-US" dirty="0"/>
              <a:t>单选按钮和复选框</a:t>
            </a:r>
          </a:p>
        </p:txBody>
      </p:sp>
      <p:sp>
        <p:nvSpPr>
          <p:cNvPr id="3" name="内容占位符 2"/>
          <p:cNvSpPr>
            <a:spLocks noGrp="1"/>
          </p:cNvSpPr>
          <p:nvPr>
            <p:ph idx="1"/>
          </p:nvPr>
        </p:nvSpPr>
        <p:spPr>
          <a:xfrm>
            <a:off x="669925" y="1160145"/>
            <a:ext cx="10852150" cy="5437207"/>
          </a:xfrm>
        </p:spPr>
        <p:txBody>
          <a:bodyPr>
            <a:noAutofit/>
          </a:bodyPr>
          <a:lstStyle/>
          <a:p>
            <a:pPr marL="0" indent="0">
              <a:lnSpc>
                <a:spcPct val="120000"/>
              </a:lnSpc>
              <a:spcAft>
                <a:spcPts val="600"/>
              </a:spcAft>
              <a:buNone/>
            </a:pPr>
            <a:r>
              <a:rPr lang="en-US" altLang="zh-CN" sz="2600" dirty="0"/>
              <a:t>1</a:t>
            </a:r>
            <a:r>
              <a:rPr lang="zh-CN" altLang="en-US" sz="2600" dirty="0"/>
              <a:t>．单选按钮</a:t>
            </a:r>
            <a:r>
              <a:rPr lang="en-US" altLang="zh-CN" sz="2600" dirty="0" err="1"/>
              <a:t>Radiobutton</a:t>
            </a:r>
            <a:r>
              <a:rPr lang="zh-CN" altLang="en-US" sz="2600" dirty="0"/>
              <a:t>控件</a:t>
            </a:r>
          </a:p>
          <a:p>
            <a:pPr marL="0" indent="0">
              <a:lnSpc>
                <a:spcPct val="120000"/>
              </a:lnSpc>
              <a:spcAft>
                <a:spcPts val="600"/>
              </a:spcAft>
              <a:buNone/>
            </a:pPr>
            <a:r>
              <a:rPr lang="zh-CN" altLang="en-US" sz="2600" dirty="0"/>
              <a:t>变量 </a:t>
            </a:r>
            <a:r>
              <a:rPr lang="en-US" altLang="zh-CN" sz="2600" dirty="0"/>
              <a:t>= </a:t>
            </a:r>
            <a:r>
              <a:rPr lang="en-US" altLang="zh-CN" sz="2600" dirty="0" err="1"/>
              <a:t>Radiobutton</a:t>
            </a:r>
            <a:r>
              <a:rPr lang="en-US" altLang="zh-CN" sz="2600" dirty="0"/>
              <a:t>(</a:t>
            </a:r>
            <a:r>
              <a:rPr lang="zh-CN" altLang="en-US" sz="2600" dirty="0"/>
              <a:t>父容器对象名</a:t>
            </a:r>
            <a:r>
              <a:rPr lang="en-US" altLang="zh-CN" sz="2600" dirty="0"/>
              <a:t>[, text=</a:t>
            </a:r>
            <a:r>
              <a:rPr lang="zh-CN" altLang="en-US" sz="2600" dirty="0"/>
              <a:t>显示文本</a:t>
            </a:r>
            <a:r>
              <a:rPr lang="en-US" altLang="zh-CN" sz="2600" dirty="0"/>
              <a:t>[, variable=</a:t>
            </a:r>
            <a:r>
              <a:rPr lang="zh-CN" altLang="en-US" sz="2600" dirty="0"/>
              <a:t>变量</a:t>
            </a:r>
            <a:r>
              <a:rPr lang="en-US" altLang="zh-CN" sz="2600" dirty="0"/>
              <a:t>[, value=</a:t>
            </a:r>
            <a:r>
              <a:rPr lang="zh-CN" altLang="en-US" sz="2600" dirty="0"/>
              <a:t>值</a:t>
            </a:r>
            <a:r>
              <a:rPr lang="en-US" altLang="zh-CN" sz="2600" dirty="0"/>
              <a:t>[, command=</a:t>
            </a:r>
            <a:r>
              <a:rPr lang="zh-CN" altLang="en-US" sz="2600" dirty="0"/>
              <a:t>事件响应函数或命令</a:t>
            </a:r>
            <a:r>
              <a:rPr lang="en-US" altLang="zh-CN" sz="2600" dirty="0"/>
              <a:t>]]]])</a:t>
            </a:r>
          </a:p>
          <a:p>
            <a:pPr lvl="1">
              <a:lnSpc>
                <a:spcPct val="120000"/>
              </a:lnSpc>
              <a:spcAft>
                <a:spcPts val="600"/>
              </a:spcAft>
            </a:pPr>
            <a:r>
              <a:rPr lang="en-US" altLang="zh-CN" sz="2600" dirty="0"/>
              <a:t>variable</a:t>
            </a:r>
            <a:r>
              <a:rPr lang="zh-CN" altLang="en-US" sz="2600" dirty="0"/>
              <a:t>属性与</a:t>
            </a:r>
            <a:r>
              <a:rPr lang="en-US" altLang="zh-CN" sz="2600" dirty="0" err="1"/>
              <a:t>tkinter</a:t>
            </a:r>
            <a:r>
              <a:rPr lang="zh-CN" altLang="en-US" sz="2600" dirty="0"/>
              <a:t>模块中的</a:t>
            </a:r>
            <a:r>
              <a:rPr lang="en-US" altLang="zh-CN" sz="2600" dirty="0" err="1"/>
              <a:t>IntVar</a:t>
            </a:r>
            <a:r>
              <a:rPr lang="zh-CN" altLang="en-US" sz="2600" dirty="0"/>
              <a:t>或</a:t>
            </a:r>
            <a:r>
              <a:rPr lang="en-US" altLang="zh-CN" sz="2600" dirty="0" err="1"/>
              <a:t>SrtingVar</a:t>
            </a:r>
            <a:r>
              <a:rPr lang="zh-CN" altLang="en-US" sz="2600" dirty="0"/>
              <a:t>类型变量绑定</a:t>
            </a:r>
            <a:endParaRPr lang="en-US" altLang="zh-CN" sz="2600" dirty="0"/>
          </a:p>
          <a:p>
            <a:pPr lvl="2">
              <a:lnSpc>
                <a:spcPct val="120000"/>
              </a:lnSpc>
              <a:spcAft>
                <a:spcPts val="600"/>
              </a:spcAft>
            </a:pPr>
            <a:r>
              <a:rPr lang="zh-CN" altLang="en-US" sz="2600" dirty="0"/>
              <a:t>若</a:t>
            </a:r>
            <a:r>
              <a:rPr lang="en-US" altLang="zh-CN" sz="2600" dirty="0"/>
              <a:t>value</a:t>
            </a:r>
            <a:r>
              <a:rPr lang="zh-CN" altLang="en-US" sz="2600" dirty="0"/>
              <a:t>属性值为整型时应选</a:t>
            </a:r>
            <a:r>
              <a:rPr lang="en-US" altLang="zh-CN" sz="2600" dirty="0" err="1"/>
              <a:t>IntVar</a:t>
            </a:r>
            <a:r>
              <a:rPr lang="zh-CN" altLang="en-US" sz="2600" dirty="0"/>
              <a:t>类型</a:t>
            </a:r>
            <a:endParaRPr lang="en-US" altLang="zh-CN" sz="2600" dirty="0"/>
          </a:p>
          <a:p>
            <a:pPr lvl="2">
              <a:lnSpc>
                <a:spcPct val="120000"/>
              </a:lnSpc>
              <a:spcAft>
                <a:spcPts val="600"/>
              </a:spcAft>
            </a:pPr>
            <a:r>
              <a:rPr lang="zh-CN" altLang="en-US" sz="2600" dirty="0"/>
              <a:t>若</a:t>
            </a:r>
            <a:r>
              <a:rPr lang="en-US" altLang="zh-CN" sz="2600" dirty="0"/>
              <a:t>value</a:t>
            </a:r>
            <a:r>
              <a:rPr lang="zh-CN" altLang="en-US" sz="2600" dirty="0"/>
              <a:t>属性值为字符串则应选</a:t>
            </a:r>
            <a:r>
              <a:rPr lang="en-US" altLang="zh-CN" sz="2600" dirty="0" err="1"/>
              <a:t>SrtingVar</a:t>
            </a:r>
            <a:r>
              <a:rPr lang="zh-CN" altLang="en-US" sz="2600" dirty="0"/>
              <a:t>类型</a:t>
            </a:r>
          </a:p>
          <a:p>
            <a:pPr lvl="1">
              <a:lnSpc>
                <a:spcPct val="120000"/>
              </a:lnSpc>
              <a:spcAft>
                <a:spcPts val="600"/>
              </a:spcAft>
            </a:pPr>
            <a:r>
              <a:rPr lang="zh-CN" altLang="en-US" sz="2600" dirty="0"/>
              <a:t>单选按钮的同组单选按钮</a:t>
            </a:r>
            <a:endParaRPr lang="en-US" altLang="zh-CN" sz="2600" dirty="0"/>
          </a:p>
          <a:p>
            <a:pPr lvl="2">
              <a:lnSpc>
                <a:spcPct val="120000"/>
              </a:lnSpc>
              <a:spcAft>
                <a:spcPts val="600"/>
              </a:spcAft>
            </a:pPr>
            <a:r>
              <a:rPr lang="zh-CN" altLang="en-US" sz="2600" dirty="0"/>
              <a:t>组内的所有单选按钮的</a:t>
            </a:r>
            <a:r>
              <a:rPr lang="en-US" altLang="zh-CN" sz="2600" dirty="0"/>
              <a:t>variable</a:t>
            </a:r>
            <a:r>
              <a:rPr lang="zh-CN" altLang="en-US" sz="2600" dirty="0"/>
              <a:t>属性与同一个变量绑定。</a:t>
            </a:r>
            <a:endParaRPr lang="en-US" altLang="zh-CN" sz="2600" dirty="0"/>
          </a:p>
          <a:p>
            <a:pPr lvl="2">
              <a:lnSpc>
                <a:spcPct val="120000"/>
              </a:lnSpc>
              <a:spcAft>
                <a:spcPts val="600"/>
              </a:spcAft>
            </a:pPr>
            <a:r>
              <a:rPr lang="zh-CN" altLang="en-US" sz="2600" dirty="0"/>
              <a:t>在</a:t>
            </a:r>
            <a:r>
              <a:rPr lang="en-US" altLang="zh-CN" sz="2600" dirty="0"/>
              <a:t>command</a:t>
            </a:r>
            <a:r>
              <a:rPr lang="zh-CN" altLang="en-US" sz="2600" dirty="0"/>
              <a:t>属性的事件函数代码中，判断</a:t>
            </a:r>
            <a:r>
              <a:rPr lang="en-US" altLang="zh-CN" sz="2600" dirty="0"/>
              <a:t>variable</a:t>
            </a:r>
            <a:r>
              <a:rPr lang="zh-CN" altLang="en-US" sz="2600" dirty="0"/>
              <a:t>属性值。</a:t>
            </a:r>
          </a:p>
        </p:txBody>
      </p:sp>
      <p:sp>
        <p:nvSpPr>
          <p:cNvPr id="4" name="灯片编号占位符 3">
            <a:extLst>
              <a:ext uri="{FF2B5EF4-FFF2-40B4-BE49-F238E27FC236}">
                <a16:creationId xmlns:a16="http://schemas.microsoft.com/office/drawing/2014/main" id="{D4191F10-FEEC-4EA4-9A08-3B6801421A83}"/>
              </a:ext>
            </a:extLst>
          </p:cNvPr>
          <p:cNvSpPr>
            <a:spLocks noGrp="1"/>
          </p:cNvSpPr>
          <p:nvPr>
            <p:ph type="sldNum" sz="quarter" idx="12"/>
          </p:nvPr>
        </p:nvSpPr>
        <p:spPr/>
        <p:txBody>
          <a:bodyPr/>
          <a:lstStyle/>
          <a:p>
            <a:fld id="{49AE70B2-8BF9-45C0-BB95-33D1B9D3A854}" type="slidenum">
              <a:rPr lang="zh-CN" altLang="en-US" smtClean="0"/>
              <a:t>34</a:t>
            </a:fld>
            <a:endParaRPr lang="zh-CN" altLang="en-US"/>
          </a:p>
        </p:txBody>
      </p:sp>
    </p:spTree>
    <p:extLst>
      <p:ext uri="{BB962C8B-B14F-4D97-AF65-F5344CB8AC3E}">
        <p14:creationId xmlns:p14="http://schemas.microsoft.com/office/powerpoint/2010/main" val="13928202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13.2.5 </a:t>
            </a:r>
            <a:r>
              <a:rPr lang="zh-CN" altLang="en-US" dirty="0"/>
              <a:t>单选按钮和复选框</a:t>
            </a:r>
          </a:p>
        </p:txBody>
      </p:sp>
      <p:sp>
        <p:nvSpPr>
          <p:cNvPr id="3" name="内容占位符 2"/>
          <p:cNvSpPr>
            <a:spLocks noGrp="1"/>
          </p:cNvSpPr>
          <p:nvPr>
            <p:ph idx="1"/>
          </p:nvPr>
        </p:nvSpPr>
        <p:spPr/>
        <p:txBody>
          <a:bodyPr>
            <a:normAutofit/>
          </a:bodyPr>
          <a:lstStyle/>
          <a:p>
            <a:pPr marL="0" indent="0">
              <a:buNone/>
            </a:pPr>
            <a:r>
              <a:rPr lang="en-US" altLang="zh-CN" dirty="0"/>
              <a:t>2</a:t>
            </a:r>
            <a:r>
              <a:rPr lang="zh-CN" altLang="en-US" dirty="0"/>
              <a:t>．复选框</a:t>
            </a:r>
            <a:r>
              <a:rPr lang="en-US" altLang="zh-CN" dirty="0" err="1"/>
              <a:t>Checkbutton</a:t>
            </a:r>
            <a:r>
              <a:rPr lang="zh-CN" altLang="en-US" dirty="0"/>
              <a:t>控件</a:t>
            </a:r>
            <a:endParaRPr lang="en-US" altLang="zh-CN" dirty="0"/>
          </a:p>
          <a:p>
            <a:pPr marL="0" indent="0">
              <a:buNone/>
            </a:pPr>
            <a:r>
              <a:rPr lang="zh-CN" altLang="en-US" dirty="0"/>
              <a:t>变量 </a:t>
            </a:r>
            <a:r>
              <a:rPr lang="en-US" altLang="zh-CN" dirty="0"/>
              <a:t>= </a:t>
            </a:r>
            <a:r>
              <a:rPr lang="en-US" altLang="zh-CN" dirty="0" err="1"/>
              <a:t>Checkbutton</a:t>
            </a:r>
            <a:r>
              <a:rPr lang="en-US" altLang="zh-CN" dirty="0"/>
              <a:t>(</a:t>
            </a:r>
            <a:r>
              <a:rPr lang="zh-CN" altLang="en-US" dirty="0"/>
              <a:t>父容器对象名</a:t>
            </a:r>
            <a:r>
              <a:rPr lang="en-US" altLang="zh-CN" dirty="0"/>
              <a:t>[, text=</a:t>
            </a:r>
            <a:r>
              <a:rPr lang="zh-CN" altLang="en-US" dirty="0"/>
              <a:t>显示文本</a:t>
            </a:r>
            <a:r>
              <a:rPr lang="en-US" altLang="zh-CN" dirty="0"/>
              <a:t>[, variable=</a:t>
            </a:r>
            <a:r>
              <a:rPr lang="zh-CN" altLang="en-US" dirty="0"/>
              <a:t>变量</a:t>
            </a:r>
            <a:r>
              <a:rPr lang="en-US" altLang="zh-CN" dirty="0"/>
              <a:t>[, value=</a:t>
            </a:r>
            <a:r>
              <a:rPr lang="zh-CN" altLang="en-US" dirty="0"/>
              <a:t>值</a:t>
            </a:r>
            <a:r>
              <a:rPr lang="en-US" altLang="zh-CN" dirty="0"/>
              <a:t>[, command=</a:t>
            </a:r>
            <a:r>
              <a:rPr lang="zh-CN" altLang="en-US" dirty="0"/>
              <a:t>事件响应函数或命令</a:t>
            </a:r>
            <a:r>
              <a:rPr lang="en-US" altLang="zh-CN" dirty="0"/>
              <a:t>]]]])</a:t>
            </a:r>
          </a:p>
          <a:p>
            <a:pPr lvl="1"/>
            <a:r>
              <a:rPr lang="zh-CN" altLang="en-US" dirty="0"/>
              <a:t>复选框的</a:t>
            </a:r>
            <a:r>
              <a:rPr lang="en-US" altLang="zh-CN" dirty="0"/>
              <a:t>variable</a:t>
            </a:r>
            <a:r>
              <a:rPr lang="zh-CN" altLang="en-US" dirty="0"/>
              <a:t>属性绑定的变量只能是</a:t>
            </a:r>
            <a:r>
              <a:rPr lang="en-US" altLang="zh-CN" dirty="0" err="1"/>
              <a:t>IntVar</a:t>
            </a:r>
            <a:r>
              <a:rPr lang="zh-CN" altLang="en-US" dirty="0"/>
              <a:t>类型的变量</a:t>
            </a:r>
            <a:endParaRPr lang="en-US" altLang="zh-CN" dirty="0"/>
          </a:p>
          <a:p>
            <a:pPr lvl="2"/>
            <a:r>
              <a:rPr lang="zh-CN" altLang="en-US" dirty="0"/>
              <a:t>未被勾选对应值</a:t>
            </a:r>
            <a:r>
              <a:rPr lang="en-US" altLang="zh-CN" dirty="0"/>
              <a:t>0</a:t>
            </a:r>
            <a:r>
              <a:rPr lang="zh-CN" altLang="en-US" dirty="0"/>
              <a:t>，被勾选对应值</a:t>
            </a:r>
            <a:r>
              <a:rPr lang="en-US" altLang="zh-CN" dirty="0"/>
              <a:t>1</a:t>
            </a:r>
            <a:r>
              <a:rPr lang="zh-CN" altLang="en-US" dirty="0"/>
              <a:t>。</a:t>
            </a:r>
          </a:p>
          <a:p>
            <a:pPr lvl="1"/>
            <a:r>
              <a:rPr lang="zh-CN" altLang="en-US" dirty="0"/>
              <a:t>每个复选框都是独立的，每个复选框绑定不同的变量，各自对应的不同的响应事件函数。</a:t>
            </a:r>
          </a:p>
          <a:p>
            <a:endParaRPr lang="zh-CN" altLang="en-US" dirty="0"/>
          </a:p>
        </p:txBody>
      </p:sp>
      <p:sp>
        <p:nvSpPr>
          <p:cNvPr id="4" name="灯片编号占位符 3">
            <a:extLst>
              <a:ext uri="{FF2B5EF4-FFF2-40B4-BE49-F238E27FC236}">
                <a16:creationId xmlns:a16="http://schemas.microsoft.com/office/drawing/2014/main" id="{8A6AD2A9-A296-4C79-BF82-B9B841661762}"/>
              </a:ext>
            </a:extLst>
          </p:cNvPr>
          <p:cNvSpPr>
            <a:spLocks noGrp="1"/>
          </p:cNvSpPr>
          <p:nvPr>
            <p:ph type="sldNum" sz="quarter" idx="12"/>
          </p:nvPr>
        </p:nvSpPr>
        <p:spPr/>
        <p:txBody>
          <a:bodyPr/>
          <a:lstStyle/>
          <a:p>
            <a:fld id="{49AE70B2-8BF9-45C0-BB95-33D1B9D3A854}" type="slidenum">
              <a:rPr lang="zh-CN" altLang="en-US" smtClean="0"/>
              <a:t>35</a:t>
            </a:fld>
            <a:endParaRPr lang="zh-CN" altLang="en-US"/>
          </a:p>
        </p:txBody>
      </p:sp>
    </p:spTree>
    <p:extLst>
      <p:ext uri="{BB962C8B-B14F-4D97-AF65-F5344CB8AC3E}">
        <p14:creationId xmlns:p14="http://schemas.microsoft.com/office/powerpoint/2010/main" val="20500958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 </a:t>
            </a:r>
            <a:r>
              <a:rPr lang="en-US" altLang="zh-CN" sz="2800" dirty="0" err="1"/>
              <a:t>Radiobutton</a:t>
            </a:r>
            <a:r>
              <a:rPr lang="zh-CN" altLang="en-US" sz="2800" dirty="0"/>
              <a:t>（或</a:t>
            </a:r>
            <a:r>
              <a:rPr lang="en-US" altLang="zh-CN" sz="2800" dirty="0" err="1"/>
              <a:t>Checkbutton</a:t>
            </a:r>
            <a:r>
              <a:rPr lang="zh-CN" altLang="en-US" sz="2800" dirty="0"/>
              <a:t>）控件的常用属性和方法</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920753015"/>
              </p:ext>
            </p:extLst>
          </p:nvPr>
        </p:nvGraphicFramePr>
        <p:xfrm>
          <a:off x="839416" y="1412776"/>
          <a:ext cx="10801200" cy="5113973"/>
        </p:xfrm>
        <a:graphic>
          <a:graphicData uri="http://schemas.openxmlformats.org/drawingml/2006/table">
            <a:tbl>
              <a:tblPr firstRow="1" firstCol="1" bandRow="1">
                <a:tableStyleId>{5C22544A-7EE6-4342-B048-85BDC9FD1C3A}</a:tableStyleId>
              </a:tblPr>
              <a:tblGrid>
                <a:gridCol w="1846204">
                  <a:extLst>
                    <a:ext uri="{9D8B030D-6E8A-4147-A177-3AD203B41FA5}">
                      <a16:colId xmlns:a16="http://schemas.microsoft.com/office/drawing/2014/main" val="3931924164"/>
                    </a:ext>
                  </a:extLst>
                </a:gridCol>
                <a:gridCol w="8954996">
                  <a:extLst>
                    <a:ext uri="{9D8B030D-6E8A-4147-A177-3AD203B41FA5}">
                      <a16:colId xmlns:a16="http://schemas.microsoft.com/office/drawing/2014/main" val="1927497321"/>
                    </a:ext>
                  </a:extLst>
                </a:gridCol>
              </a:tblGrid>
              <a:tr h="475253">
                <a:tc>
                  <a:txBody>
                    <a:bodyPr/>
                    <a:lstStyle/>
                    <a:p>
                      <a:pPr indent="266700" algn="ctr">
                        <a:spcAft>
                          <a:spcPts val="0"/>
                        </a:spcAft>
                      </a:pPr>
                      <a:r>
                        <a:rPr lang="zh-CN" sz="2400" kern="100">
                          <a:effectLst/>
                        </a:rPr>
                        <a:t>属性</a:t>
                      </a:r>
                      <a:r>
                        <a:rPr lang="en-US" sz="2400" kern="100">
                          <a:effectLst/>
                        </a:rPr>
                        <a:t>/</a:t>
                      </a:r>
                      <a:r>
                        <a:rPr lang="zh-CN" sz="2400" kern="100">
                          <a:effectLst/>
                        </a:rPr>
                        <a:t>方法</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spcAft>
                          <a:spcPts val="0"/>
                        </a:spcAft>
                      </a:pPr>
                      <a:r>
                        <a:rPr lang="zh-CN" sz="2400" kern="100">
                          <a:effectLst/>
                        </a:rPr>
                        <a:t>作用及用法</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40978523"/>
                  </a:ext>
                </a:extLst>
              </a:tr>
              <a:tr h="611040">
                <a:tc>
                  <a:txBody>
                    <a:bodyPr/>
                    <a:lstStyle/>
                    <a:p>
                      <a:pPr indent="266700" algn="l">
                        <a:spcAft>
                          <a:spcPts val="0"/>
                        </a:spcAft>
                      </a:pPr>
                      <a:r>
                        <a:rPr lang="en-US" sz="2400" kern="100" dirty="0">
                          <a:effectLst/>
                        </a:rPr>
                        <a:t>text</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a:effectLst/>
                        </a:rPr>
                        <a:t>单选按钮（或复选框）附近的提示文字。</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75696379"/>
                  </a:ext>
                </a:extLst>
              </a:tr>
              <a:tr h="611040">
                <a:tc>
                  <a:txBody>
                    <a:bodyPr/>
                    <a:lstStyle/>
                    <a:p>
                      <a:pPr indent="266700" algn="l">
                        <a:spcAft>
                          <a:spcPts val="0"/>
                        </a:spcAft>
                      </a:pPr>
                      <a:r>
                        <a:rPr lang="en-US" sz="2400" kern="100" dirty="0">
                          <a:effectLst/>
                        </a:rPr>
                        <a:t>command</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dirty="0">
                          <a:effectLst/>
                        </a:rPr>
                        <a:t>对单选按钮（或复选框）单击鼠标时系统会执行的响应代码。</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61750853"/>
                  </a:ext>
                </a:extLst>
              </a:tr>
              <a:tr h="611040">
                <a:tc>
                  <a:txBody>
                    <a:bodyPr/>
                    <a:lstStyle/>
                    <a:p>
                      <a:pPr indent="266700" algn="l">
                        <a:spcAft>
                          <a:spcPts val="0"/>
                        </a:spcAft>
                      </a:pPr>
                      <a:r>
                        <a:rPr lang="en-US" sz="2400" kern="100">
                          <a:effectLst/>
                        </a:rPr>
                        <a:t>variable</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dirty="0">
                          <a:effectLst/>
                        </a:rPr>
                        <a:t>指定与单选按钮（或复选框）绑定的变量。</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87967367"/>
                  </a:ext>
                </a:extLst>
              </a:tr>
              <a:tr h="611040">
                <a:tc>
                  <a:txBody>
                    <a:bodyPr/>
                    <a:lstStyle/>
                    <a:p>
                      <a:pPr indent="266700" algn="l">
                        <a:spcAft>
                          <a:spcPts val="0"/>
                        </a:spcAft>
                      </a:pPr>
                      <a:r>
                        <a:rPr lang="en-US" sz="2400" kern="100">
                          <a:effectLst/>
                        </a:rPr>
                        <a:t>value</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dirty="0">
                          <a:effectLst/>
                        </a:rPr>
                        <a:t>单击单选按钮（或复选框）后对应的取值。</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03609368"/>
                  </a:ext>
                </a:extLst>
              </a:tr>
              <a:tr h="611040">
                <a:tc>
                  <a:txBody>
                    <a:bodyPr/>
                    <a:lstStyle/>
                    <a:p>
                      <a:pPr indent="266700" algn="l">
                        <a:spcAft>
                          <a:spcPts val="0"/>
                        </a:spcAft>
                      </a:pPr>
                      <a:r>
                        <a:rPr lang="en-US" sz="2400" kern="100" dirty="0">
                          <a:effectLst/>
                        </a:rPr>
                        <a:t>state</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dirty="0">
                          <a:effectLst/>
                        </a:rPr>
                        <a:t>按钮的状态，可以设为正常</a:t>
                      </a:r>
                      <a:r>
                        <a:rPr lang="en-US" sz="2400" kern="100" dirty="0">
                          <a:effectLst/>
                        </a:rPr>
                        <a:t>normal</a:t>
                      </a:r>
                      <a:r>
                        <a:rPr lang="zh-CN" sz="2400" kern="100" dirty="0">
                          <a:effectLst/>
                        </a:rPr>
                        <a:t>、激活</a:t>
                      </a:r>
                      <a:r>
                        <a:rPr lang="en-US" sz="2400" kern="100" dirty="0">
                          <a:effectLst/>
                        </a:rPr>
                        <a:t>active</a:t>
                      </a:r>
                      <a:r>
                        <a:rPr lang="zh-CN" sz="2400" kern="100" dirty="0">
                          <a:effectLst/>
                        </a:rPr>
                        <a:t>和禁用</a:t>
                      </a:r>
                      <a:r>
                        <a:rPr lang="en-US" sz="2400" kern="100" dirty="0">
                          <a:effectLst/>
                        </a:rPr>
                        <a:t>disabled</a:t>
                      </a:r>
                      <a:r>
                        <a:rPr lang="zh-CN" sz="2400" kern="100" dirty="0">
                          <a:effectLst/>
                        </a:rPr>
                        <a:t>。</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36874565"/>
                  </a:ext>
                </a:extLst>
              </a:tr>
              <a:tr h="611040">
                <a:tc>
                  <a:txBody>
                    <a:bodyPr/>
                    <a:lstStyle/>
                    <a:p>
                      <a:pPr indent="266700" algn="l">
                        <a:spcAft>
                          <a:spcPts val="0"/>
                        </a:spcAft>
                      </a:pPr>
                      <a:r>
                        <a:rPr lang="en-US" sz="2400" kern="100">
                          <a:effectLst/>
                        </a:rPr>
                        <a:t>select()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dirty="0">
                          <a:effectLst/>
                        </a:rPr>
                        <a:t>令单选按钮（或复选框）变为选中状态。</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20748844"/>
                  </a:ext>
                </a:extLst>
              </a:tr>
              <a:tr h="611040">
                <a:tc>
                  <a:txBody>
                    <a:bodyPr/>
                    <a:lstStyle/>
                    <a:p>
                      <a:pPr indent="266700" algn="l">
                        <a:spcAft>
                          <a:spcPts val="0"/>
                        </a:spcAft>
                      </a:pPr>
                      <a:r>
                        <a:rPr lang="en-US" sz="2400" kern="100">
                          <a:effectLst/>
                        </a:rPr>
                        <a:t>deselect()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dirty="0">
                          <a:effectLst/>
                        </a:rPr>
                        <a:t>取消单选按钮（或复选框）的选中状态。</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58185842"/>
                  </a:ext>
                </a:extLst>
              </a:tr>
            </a:tbl>
          </a:graphicData>
        </a:graphic>
      </p:graphicFrame>
      <p:sp>
        <p:nvSpPr>
          <p:cNvPr id="3" name="灯片编号占位符 2">
            <a:extLst>
              <a:ext uri="{FF2B5EF4-FFF2-40B4-BE49-F238E27FC236}">
                <a16:creationId xmlns:a16="http://schemas.microsoft.com/office/drawing/2014/main" id="{1A84B903-D133-43B4-96B1-12E9D0D80FC3}"/>
              </a:ext>
            </a:extLst>
          </p:cNvPr>
          <p:cNvSpPr>
            <a:spLocks noGrp="1"/>
          </p:cNvSpPr>
          <p:nvPr>
            <p:ph type="sldNum" sz="quarter" idx="12"/>
          </p:nvPr>
        </p:nvSpPr>
        <p:spPr/>
        <p:txBody>
          <a:bodyPr/>
          <a:lstStyle/>
          <a:p>
            <a:fld id="{49AE70B2-8BF9-45C0-BB95-33D1B9D3A854}" type="slidenum">
              <a:rPr lang="zh-CN" altLang="en-US" smtClean="0"/>
              <a:t>36</a:t>
            </a:fld>
            <a:endParaRPr lang="zh-CN" altLang="en-US"/>
          </a:p>
        </p:txBody>
      </p:sp>
    </p:spTree>
    <p:extLst>
      <p:ext uri="{BB962C8B-B14F-4D97-AF65-F5344CB8AC3E}">
        <p14:creationId xmlns:p14="http://schemas.microsoft.com/office/powerpoint/2010/main" val="13411791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dirty="0"/>
              <a:t>单选按钮和复选框的示例</a:t>
            </a:r>
          </a:p>
        </p:txBody>
      </p:sp>
      <p:sp>
        <p:nvSpPr>
          <p:cNvPr id="3" name="内容占位符 2"/>
          <p:cNvSpPr>
            <a:spLocks noGrp="1"/>
          </p:cNvSpPr>
          <p:nvPr>
            <p:ph sz="half" idx="1"/>
          </p:nvPr>
        </p:nvSpPr>
        <p:spPr/>
        <p:txBody>
          <a:bodyPr/>
          <a:lstStyle/>
          <a:p>
            <a:r>
              <a:rPr lang="en-US" altLang="zh-CN" dirty="0"/>
              <a:t>【</a:t>
            </a:r>
            <a:r>
              <a:rPr lang="zh-CN" altLang="en-US" dirty="0"/>
              <a:t>例</a:t>
            </a:r>
            <a:r>
              <a:rPr lang="en-US" altLang="zh-CN" dirty="0"/>
              <a:t>13-9】</a:t>
            </a:r>
            <a:r>
              <a:rPr lang="zh-CN" altLang="en-US" dirty="0"/>
              <a:t>单选按钮的功能演示。</a:t>
            </a:r>
          </a:p>
        </p:txBody>
      </p:sp>
      <p:sp>
        <p:nvSpPr>
          <p:cNvPr id="6" name="内容占位符 5"/>
          <p:cNvSpPr>
            <a:spLocks noGrp="1"/>
          </p:cNvSpPr>
          <p:nvPr>
            <p:ph sz="half" idx="2"/>
          </p:nvPr>
        </p:nvSpPr>
        <p:spPr>
          <a:xfrm>
            <a:off x="6238877" y="1124745"/>
            <a:ext cx="5283242" cy="1152128"/>
          </a:xfrm>
        </p:spPr>
        <p:txBody>
          <a:bodyPr/>
          <a:lstStyle/>
          <a:p>
            <a:r>
              <a:rPr lang="zh-CN" altLang="zh-CN" dirty="0"/>
              <a:t>【例</a:t>
            </a:r>
            <a:r>
              <a:rPr lang="en-US" altLang="zh-CN" dirty="0"/>
              <a:t>13-10</a:t>
            </a:r>
            <a:r>
              <a:rPr lang="zh-CN" altLang="zh-CN" dirty="0"/>
              <a:t>】改写例</a:t>
            </a:r>
            <a:r>
              <a:rPr lang="en-US" altLang="zh-CN" dirty="0"/>
              <a:t>13-9</a:t>
            </a:r>
            <a:r>
              <a:rPr lang="zh-CN" altLang="zh-CN" dirty="0"/>
              <a:t>，增加两个复选框。</a:t>
            </a:r>
            <a:endParaRPr lang="zh-CN" altLang="en-US" dirty="0"/>
          </a:p>
        </p:txBody>
      </p:sp>
      <p:pic>
        <p:nvPicPr>
          <p:cNvPr id="7" name="图片 6"/>
          <p:cNvPicPr>
            <a:picLocks noChangeAspect="1"/>
          </p:cNvPicPr>
          <p:nvPr/>
        </p:nvPicPr>
        <p:blipFill>
          <a:blip r:embed="rId2"/>
          <a:stretch>
            <a:fillRect/>
          </a:stretch>
        </p:blipFill>
        <p:spPr>
          <a:xfrm>
            <a:off x="7104112" y="2516419"/>
            <a:ext cx="3873912" cy="3072821"/>
          </a:xfrm>
          <a:prstGeom prst="rect">
            <a:avLst/>
          </a:prstGeom>
        </p:spPr>
      </p:pic>
      <p:pic>
        <p:nvPicPr>
          <p:cNvPr id="8" name="图片 7"/>
          <p:cNvPicPr>
            <a:picLocks noChangeAspect="1"/>
          </p:cNvPicPr>
          <p:nvPr/>
        </p:nvPicPr>
        <p:blipFill>
          <a:blip r:embed="rId3"/>
          <a:stretch>
            <a:fillRect/>
          </a:stretch>
        </p:blipFill>
        <p:spPr>
          <a:xfrm>
            <a:off x="1271464" y="2516419"/>
            <a:ext cx="4340385" cy="2725137"/>
          </a:xfrm>
          <a:prstGeom prst="rect">
            <a:avLst/>
          </a:prstGeom>
        </p:spPr>
      </p:pic>
      <p:sp>
        <p:nvSpPr>
          <p:cNvPr id="2" name="灯片编号占位符 1">
            <a:extLst>
              <a:ext uri="{FF2B5EF4-FFF2-40B4-BE49-F238E27FC236}">
                <a16:creationId xmlns:a16="http://schemas.microsoft.com/office/drawing/2014/main" id="{F604D0BB-24DF-4629-960F-B6338ED92AA1}"/>
              </a:ext>
            </a:extLst>
          </p:cNvPr>
          <p:cNvSpPr>
            <a:spLocks noGrp="1"/>
          </p:cNvSpPr>
          <p:nvPr>
            <p:ph type="sldNum" sz="quarter" idx="12"/>
          </p:nvPr>
        </p:nvSpPr>
        <p:spPr/>
        <p:txBody>
          <a:bodyPr/>
          <a:lstStyle/>
          <a:p>
            <a:fld id="{49AE70B2-8BF9-45C0-BB95-33D1B9D3A854}" type="slidenum">
              <a:rPr lang="zh-CN" altLang="en-US" smtClean="0"/>
              <a:t>37</a:t>
            </a:fld>
            <a:endParaRPr lang="zh-CN" altLang="en-US"/>
          </a:p>
        </p:txBody>
      </p:sp>
    </p:spTree>
    <p:extLst>
      <p:ext uri="{BB962C8B-B14F-4D97-AF65-F5344CB8AC3E}">
        <p14:creationId xmlns:p14="http://schemas.microsoft.com/office/powerpoint/2010/main" val="3845821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13.2.6 </a:t>
            </a:r>
            <a:r>
              <a:rPr lang="zh-CN" altLang="en-US" dirty="0"/>
              <a:t>列表框</a:t>
            </a:r>
          </a:p>
        </p:txBody>
      </p:sp>
      <p:sp>
        <p:nvSpPr>
          <p:cNvPr id="3" name="内容占位符 2"/>
          <p:cNvSpPr>
            <a:spLocks noGrp="1"/>
          </p:cNvSpPr>
          <p:nvPr>
            <p:ph idx="1"/>
          </p:nvPr>
        </p:nvSpPr>
        <p:spPr/>
        <p:txBody>
          <a:bodyPr>
            <a:normAutofit/>
          </a:bodyPr>
          <a:lstStyle/>
          <a:p>
            <a:pPr marL="0" indent="0">
              <a:buNone/>
            </a:pPr>
            <a:r>
              <a:rPr lang="zh-CN" altLang="en-US" dirty="0"/>
              <a:t>变量 </a:t>
            </a:r>
            <a:r>
              <a:rPr lang="en-US" altLang="zh-CN" dirty="0"/>
              <a:t>= </a:t>
            </a:r>
            <a:r>
              <a:rPr lang="en-US" altLang="zh-CN" dirty="0" err="1"/>
              <a:t>Listbox</a:t>
            </a:r>
            <a:r>
              <a:rPr lang="en-US" altLang="zh-CN" dirty="0"/>
              <a:t>(</a:t>
            </a:r>
            <a:r>
              <a:rPr lang="zh-CN" altLang="en-US" dirty="0"/>
              <a:t>父容器对象名</a:t>
            </a:r>
            <a:r>
              <a:rPr lang="en-US" altLang="zh-CN" dirty="0"/>
              <a:t>[, </a:t>
            </a:r>
            <a:r>
              <a:rPr lang="en-US" altLang="zh-CN" dirty="0" err="1"/>
              <a:t>listvariable</a:t>
            </a:r>
            <a:r>
              <a:rPr lang="en-US" altLang="zh-CN" dirty="0"/>
              <a:t>=</a:t>
            </a:r>
            <a:r>
              <a:rPr lang="zh-CN" altLang="en-US" dirty="0"/>
              <a:t>变量</a:t>
            </a:r>
            <a:r>
              <a:rPr lang="en-US" altLang="zh-CN" dirty="0"/>
              <a:t>[, </a:t>
            </a:r>
            <a:r>
              <a:rPr lang="en-US" altLang="zh-CN" dirty="0" err="1"/>
              <a:t>selectmode</a:t>
            </a:r>
            <a:r>
              <a:rPr lang="en-US" altLang="zh-CN" dirty="0"/>
              <a:t>=MULTIPLE| BROWSE| EXPANDED,…]]])</a:t>
            </a:r>
          </a:p>
          <a:p>
            <a:pPr lvl="1"/>
            <a:r>
              <a:rPr lang="zh-CN" altLang="en-US" dirty="0"/>
              <a:t>列表框中的条目有对应的索引值，索引编号从</a:t>
            </a:r>
            <a:r>
              <a:rPr lang="en-US" altLang="zh-CN" dirty="0"/>
              <a:t>0</a:t>
            </a:r>
            <a:r>
              <a:rPr lang="zh-CN" altLang="en-US" dirty="0"/>
              <a:t>开始</a:t>
            </a:r>
            <a:endParaRPr lang="en-US" altLang="zh-CN" dirty="0"/>
          </a:p>
          <a:p>
            <a:pPr lvl="1"/>
            <a:r>
              <a:rPr lang="zh-CN" altLang="en-US" dirty="0"/>
              <a:t>每个条目显示的内容为该条目的值。</a:t>
            </a:r>
            <a:endParaRPr lang="en-US" altLang="zh-CN" dirty="0"/>
          </a:p>
          <a:p>
            <a:pPr lvl="1"/>
            <a:r>
              <a:rPr lang="en-US" altLang="zh-CN" dirty="0" err="1"/>
              <a:t>listvariable</a:t>
            </a:r>
            <a:r>
              <a:rPr lang="zh-CN" altLang="en-US" dirty="0"/>
              <a:t>属性与</a:t>
            </a:r>
            <a:r>
              <a:rPr lang="en-US" altLang="zh-CN" dirty="0" err="1"/>
              <a:t>SrtingVar</a:t>
            </a:r>
            <a:r>
              <a:rPr lang="zh-CN" altLang="en-US" dirty="0"/>
              <a:t>类型的变量绑定，列表框的所有条目值都会存储在变量中。</a:t>
            </a:r>
          </a:p>
          <a:p>
            <a:pPr lvl="1"/>
            <a:r>
              <a:rPr lang="en-US" altLang="zh-CN" dirty="0" err="1"/>
              <a:t>tkinter</a:t>
            </a:r>
            <a:r>
              <a:rPr lang="zh-CN" altLang="en-US" dirty="0"/>
              <a:t>的子模块</a:t>
            </a:r>
            <a:r>
              <a:rPr lang="en-US" altLang="zh-CN" dirty="0" err="1"/>
              <a:t>ttk</a:t>
            </a:r>
            <a:r>
              <a:rPr lang="zh-CN" altLang="en-US" dirty="0"/>
              <a:t>中包含了下拉列表框</a:t>
            </a:r>
            <a:r>
              <a:rPr lang="en-US" altLang="zh-CN" dirty="0" err="1"/>
              <a:t>Combobox</a:t>
            </a:r>
            <a:r>
              <a:rPr lang="zh-CN" altLang="en-US" dirty="0"/>
              <a:t>控件，与列表框相似度很高。</a:t>
            </a:r>
          </a:p>
        </p:txBody>
      </p:sp>
      <p:sp>
        <p:nvSpPr>
          <p:cNvPr id="4" name="灯片编号占位符 3">
            <a:extLst>
              <a:ext uri="{FF2B5EF4-FFF2-40B4-BE49-F238E27FC236}">
                <a16:creationId xmlns:a16="http://schemas.microsoft.com/office/drawing/2014/main" id="{2261E0F1-667A-42EA-AB3F-9145FEDD2798}"/>
              </a:ext>
            </a:extLst>
          </p:cNvPr>
          <p:cNvSpPr>
            <a:spLocks noGrp="1"/>
          </p:cNvSpPr>
          <p:nvPr>
            <p:ph type="sldNum" sz="quarter" idx="12"/>
          </p:nvPr>
        </p:nvSpPr>
        <p:spPr/>
        <p:txBody>
          <a:bodyPr/>
          <a:lstStyle/>
          <a:p>
            <a:fld id="{49AE70B2-8BF9-45C0-BB95-33D1B9D3A854}" type="slidenum">
              <a:rPr lang="zh-CN" altLang="en-US" smtClean="0"/>
              <a:t>38</a:t>
            </a:fld>
            <a:endParaRPr lang="zh-CN" altLang="en-US"/>
          </a:p>
        </p:txBody>
      </p:sp>
    </p:spTree>
    <p:extLst>
      <p:ext uri="{BB962C8B-B14F-4D97-AF65-F5344CB8AC3E}">
        <p14:creationId xmlns:p14="http://schemas.microsoft.com/office/powerpoint/2010/main" val="41033657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err="1"/>
              <a:t>Listbox</a:t>
            </a:r>
            <a:r>
              <a:rPr lang="zh-CN" altLang="en-US" dirty="0"/>
              <a:t>控件的常用属性和方法</a:t>
            </a:r>
            <a:r>
              <a:rPr lang="en-US" altLang="zh-CN" dirty="0"/>
              <a:t>(</a:t>
            </a:r>
            <a:r>
              <a:rPr lang="zh-CN" altLang="en-US" dirty="0"/>
              <a:t>一</a:t>
            </a:r>
            <a:r>
              <a:rPr lang="en-US" altLang="zh-CN" dirty="0"/>
              <a:t>)</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3028216748"/>
              </p:ext>
            </p:extLst>
          </p:nvPr>
        </p:nvGraphicFramePr>
        <p:xfrm>
          <a:off x="669925" y="1340768"/>
          <a:ext cx="10970691" cy="4968551"/>
        </p:xfrm>
        <a:graphic>
          <a:graphicData uri="http://schemas.openxmlformats.org/drawingml/2006/table">
            <a:tbl>
              <a:tblPr firstRow="1" firstCol="1" bandRow="1">
                <a:tableStyleId>{5C22544A-7EE6-4342-B048-85BDC9FD1C3A}</a:tableStyleId>
              </a:tblPr>
              <a:tblGrid>
                <a:gridCol w="2401739">
                  <a:extLst>
                    <a:ext uri="{9D8B030D-6E8A-4147-A177-3AD203B41FA5}">
                      <a16:colId xmlns:a16="http://schemas.microsoft.com/office/drawing/2014/main" val="2892634985"/>
                    </a:ext>
                  </a:extLst>
                </a:gridCol>
                <a:gridCol w="8568952">
                  <a:extLst>
                    <a:ext uri="{9D8B030D-6E8A-4147-A177-3AD203B41FA5}">
                      <a16:colId xmlns:a16="http://schemas.microsoft.com/office/drawing/2014/main" val="3168265623"/>
                    </a:ext>
                  </a:extLst>
                </a:gridCol>
              </a:tblGrid>
              <a:tr h="440252">
                <a:tc>
                  <a:txBody>
                    <a:bodyPr/>
                    <a:lstStyle/>
                    <a:p>
                      <a:pPr indent="266700" algn="ctr">
                        <a:spcAft>
                          <a:spcPts val="0"/>
                        </a:spcAft>
                      </a:pPr>
                      <a:r>
                        <a:rPr lang="zh-CN" sz="2000" kern="100">
                          <a:effectLst/>
                        </a:rPr>
                        <a:t>属性</a:t>
                      </a:r>
                      <a:r>
                        <a:rPr lang="en-US" sz="2000" kern="100">
                          <a:effectLst/>
                        </a:rPr>
                        <a:t>/</a:t>
                      </a:r>
                      <a:r>
                        <a:rPr lang="zh-CN" sz="2000" kern="100">
                          <a:effectLst/>
                        </a:rPr>
                        <a:t>方法</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ctr">
                        <a:spcAft>
                          <a:spcPts val="0"/>
                        </a:spcAft>
                      </a:pPr>
                      <a:r>
                        <a:rPr lang="zh-CN" sz="2000" kern="100" dirty="0">
                          <a:effectLst/>
                        </a:rPr>
                        <a:t>作用及用法 </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75441897"/>
                  </a:ext>
                </a:extLst>
              </a:tr>
              <a:tr h="377358">
                <a:tc>
                  <a:txBody>
                    <a:bodyPr/>
                    <a:lstStyle/>
                    <a:p>
                      <a:pPr indent="266700" algn="l">
                        <a:spcAft>
                          <a:spcPts val="0"/>
                        </a:spcAft>
                      </a:pPr>
                      <a:r>
                        <a:rPr lang="en-US" sz="2000" kern="100" dirty="0">
                          <a:effectLst/>
                        </a:rPr>
                        <a:t>width</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dirty="0">
                          <a:effectLst/>
                        </a:rPr>
                        <a:t>宽度，度量单位为字符。</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63872093"/>
                  </a:ext>
                </a:extLst>
              </a:tr>
              <a:tr h="377358">
                <a:tc>
                  <a:txBody>
                    <a:bodyPr/>
                    <a:lstStyle/>
                    <a:p>
                      <a:pPr indent="266700" algn="l">
                        <a:spcAft>
                          <a:spcPts val="0"/>
                        </a:spcAft>
                      </a:pPr>
                      <a:r>
                        <a:rPr lang="en-US" sz="2000" kern="100" dirty="0">
                          <a:effectLst/>
                        </a:rPr>
                        <a:t>height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dirty="0">
                          <a:effectLst/>
                        </a:rPr>
                        <a:t>高度，度量单位为字符。</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26569798"/>
                  </a:ext>
                </a:extLst>
              </a:tr>
              <a:tr h="754717">
                <a:tc>
                  <a:txBody>
                    <a:bodyPr/>
                    <a:lstStyle/>
                    <a:p>
                      <a:pPr indent="266700" algn="l">
                        <a:spcAft>
                          <a:spcPts val="0"/>
                        </a:spcAft>
                      </a:pPr>
                      <a:r>
                        <a:rPr lang="en-US" sz="2000" kern="100" dirty="0" err="1">
                          <a:effectLst/>
                        </a:rPr>
                        <a:t>listvariable</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dirty="0">
                          <a:effectLst/>
                        </a:rPr>
                        <a:t>指定与列表框绑定的变量，变量中存放的是所有条目的值，修改绑定变量即可修改列表框的条目内容和数量。</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09217440"/>
                  </a:ext>
                </a:extLst>
              </a:tr>
              <a:tr h="1509433">
                <a:tc>
                  <a:txBody>
                    <a:bodyPr/>
                    <a:lstStyle/>
                    <a:p>
                      <a:pPr indent="266700" algn="l">
                        <a:spcAft>
                          <a:spcPts val="0"/>
                        </a:spcAft>
                      </a:pPr>
                      <a:r>
                        <a:rPr lang="en-US" sz="2000" kern="100" dirty="0" err="1">
                          <a:effectLst/>
                        </a:rPr>
                        <a:t>selectmode</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dirty="0">
                          <a:effectLst/>
                        </a:rPr>
                        <a:t>指定是否可以多选，不设置该属性则为单选，该参数的可选值为：</a:t>
                      </a:r>
                    </a:p>
                    <a:p>
                      <a:pPr indent="266700" algn="l">
                        <a:spcAft>
                          <a:spcPts val="0"/>
                        </a:spcAft>
                      </a:pPr>
                      <a:r>
                        <a:rPr lang="en-US" sz="2000" kern="100" dirty="0">
                          <a:effectLst/>
                        </a:rPr>
                        <a:t>MULTIPLE</a:t>
                      </a:r>
                      <a:r>
                        <a:rPr lang="zh-CN" sz="2000" kern="100" dirty="0">
                          <a:effectLst/>
                        </a:rPr>
                        <a:t>：允许多选；</a:t>
                      </a:r>
                    </a:p>
                    <a:p>
                      <a:pPr indent="266700" algn="l">
                        <a:spcAft>
                          <a:spcPts val="0"/>
                        </a:spcAft>
                      </a:pPr>
                      <a:r>
                        <a:rPr lang="en-US" sz="2000" kern="100" dirty="0">
                          <a:effectLst/>
                        </a:rPr>
                        <a:t>BROWSE</a:t>
                      </a:r>
                      <a:r>
                        <a:rPr lang="zh-CN" sz="2000" kern="100" dirty="0">
                          <a:effectLst/>
                        </a:rPr>
                        <a:t>：通过鼠标移动来选中</a:t>
                      </a:r>
                      <a:r>
                        <a:rPr lang="en-US" sz="2000" kern="100" dirty="0" err="1">
                          <a:effectLst/>
                        </a:rPr>
                        <a:t>Listbox</a:t>
                      </a:r>
                      <a:r>
                        <a:rPr lang="zh-CN" sz="2000" kern="100" dirty="0">
                          <a:effectLst/>
                        </a:rPr>
                        <a:t>中的位置；</a:t>
                      </a:r>
                    </a:p>
                    <a:p>
                      <a:pPr indent="266700" algn="l">
                        <a:spcAft>
                          <a:spcPts val="0"/>
                        </a:spcAft>
                      </a:pPr>
                      <a:r>
                        <a:rPr lang="en-US" sz="2000" kern="100" dirty="0">
                          <a:effectLst/>
                        </a:rPr>
                        <a:t>EXPANDED</a:t>
                      </a:r>
                      <a:r>
                        <a:rPr lang="zh-CN" sz="2000" kern="100" dirty="0">
                          <a:effectLst/>
                        </a:rPr>
                        <a:t>：使</a:t>
                      </a:r>
                      <a:r>
                        <a:rPr lang="en-US" sz="2000" kern="100" dirty="0" err="1">
                          <a:effectLst/>
                        </a:rPr>
                        <a:t>Listbox</a:t>
                      </a:r>
                      <a:r>
                        <a:rPr lang="zh-CN" sz="2000" kern="100" dirty="0">
                          <a:effectLst/>
                        </a:rPr>
                        <a:t>支持</a:t>
                      </a:r>
                      <a:r>
                        <a:rPr lang="en-US" sz="2000" kern="100" dirty="0">
                          <a:effectLst/>
                        </a:rPr>
                        <a:t>Shift</a:t>
                      </a:r>
                      <a:r>
                        <a:rPr lang="zh-CN" sz="2000" kern="100" dirty="0">
                          <a:effectLst/>
                        </a:rPr>
                        <a:t>键和</a:t>
                      </a:r>
                      <a:r>
                        <a:rPr lang="en-US" sz="2000" kern="100" dirty="0">
                          <a:effectLst/>
                        </a:rPr>
                        <a:t>Control</a:t>
                      </a:r>
                      <a:r>
                        <a:rPr lang="zh-CN" sz="2000" kern="100" dirty="0">
                          <a:effectLst/>
                        </a:rPr>
                        <a:t>键。</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86115499"/>
                  </a:ext>
                </a:extLst>
              </a:tr>
              <a:tr h="1509433">
                <a:tc>
                  <a:txBody>
                    <a:bodyPr/>
                    <a:lstStyle/>
                    <a:p>
                      <a:pPr indent="266700" algn="l">
                        <a:spcAft>
                          <a:spcPts val="0"/>
                        </a:spcAft>
                      </a:pPr>
                      <a:r>
                        <a:rPr lang="en-US" sz="2000" kern="100" dirty="0">
                          <a:effectLst/>
                        </a:rPr>
                        <a:t>insert(index, *elements)</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000" kern="100" dirty="0">
                          <a:effectLst/>
                        </a:rPr>
                        <a:t>向</a:t>
                      </a:r>
                      <a:r>
                        <a:rPr lang="en-US" sz="2000" kern="100" dirty="0" err="1">
                          <a:effectLst/>
                        </a:rPr>
                        <a:t>listbox</a:t>
                      </a:r>
                      <a:r>
                        <a:rPr lang="zh-CN" sz="2000" kern="100" dirty="0">
                          <a:effectLst/>
                        </a:rPr>
                        <a:t>中添加一个条目。参数</a:t>
                      </a:r>
                      <a:r>
                        <a:rPr lang="en-US" sz="2000" kern="100" dirty="0">
                          <a:effectLst/>
                        </a:rPr>
                        <a:t>index</a:t>
                      </a:r>
                      <a:r>
                        <a:rPr lang="zh-CN" sz="2000" kern="100" dirty="0">
                          <a:effectLst/>
                        </a:rPr>
                        <a:t>指定添加为索引值，索引值可以为整数，也可以为</a:t>
                      </a:r>
                      <a:r>
                        <a:rPr lang="en-US" sz="2000" kern="100" dirty="0">
                          <a:effectLst/>
                        </a:rPr>
                        <a:t>ACTIVE</a:t>
                      </a:r>
                      <a:r>
                        <a:rPr lang="zh-CN" sz="2000" kern="100" dirty="0">
                          <a:effectLst/>
                        </a:rPr>
                        <a:t>和</a:t>
                      </a:r>
                      <a:r>
                        <a:rPr lang="en-US" sz="2000" kern="100" dirty="0">
                          <a:effectLst/>
                        </a:rPr>
                        <a:t>END</a:t>
                      </a:r>
                      <a:r>
                        <a:rPr lang="zh-CN" sz="2000" kern="100" dirty="0">
                          <a:effectLst/>
                        </a:rPr>
                        <a:t>，</a:t>
                      </a:r>
                      <a:r>
                        <a:rPr lang="en-US" sz="2000" kern="100" dirty="0">
                          <a:effectLst/>
                        </a:rPr>
                        <a:t>ACTIVE</a:t>
                      </a:r>
                      <a:r>
                        <a:rPr lang="zh-CN" sz="2000" kern="100" dirty="0">
                          <a:effectLst/>
                        </a:rPr>
                        <a:t>是向当前选中的条目前插入一项（即使用当前选中的索引作为插入位置）；</a:t>
                      </a:r>
                      <a:r>
                        <a:rPr lang="en-US" sz="2000" kern="100" dirty="0">
                          <a:effectLst/>
                        </a:rPr>
                        <a:t>END</a:t>
                      </a:r>
                      <a:r>
                        <a:rPr lang="zh-CN" sz="2000" kern="100" dirty="0">
                          <a:effectLst/>
                        </a:rPr>
                        <a:t>是向</a:t>
                      </a:r>
                      <a:r>
                        <a:rPr lang="en-US" sz="2000" kern="100" dirty="0" err="1">
                          <a:effectLst/>
                        </a:rPr>
                        <a:t>Listbox</a:t>
                      </a:r>
                      <a:r>
                        <a:rPr lang="zh-CN" sz="2000" kern="100" dirty="0">
                          <a:effectLst/>
                        </a:rPr>
                        <a:t>的最后一项后插入一项；参数</a:t>
                      </a:r>
                      <a:r>
                        <a:rPr lang="en-US" sz="2000" kern="100" dirty="0">
                          <a:effectLst/>
                        </a:rPr>
                        <a:t>elements</a:t>
                      </a:r>
                      <a:r>
                        <a:rPr lang="zh-CN" sz="2000" kern="100" dirty="0">
                          <a:effectLst/>
                        </a:rPr>
                        <a:t>为添加的值。</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90492158"/>
                  </a:ext>
                </a:extLst>
              </a:tr>
            </a:tbl>
          </a:graphicData>
        </a:graphic>
      </p:graphicFrame>
      <p:sp>
        <p:nvSpPr>
          <p:cNvPr id="3" name="灯片编号占位符 2">
            <a:extLst>
              <a:ext uri="{FF2B5EF4-FFF2-40B4-BE49-F238E27FC236}">
                <a16:creationId xmlns:a16="http://schemas.microsoft.com/office/drawing/2014/main" id="{1A4B27BE-DD2A-44E4-AA17-BD0DCE543E58}"/>
              </a:ext>
            </a:extLst>
          </p:cNvPr>
          <p:cNvSpPr>
            <a:spLocks noGrp="1"/>
          </p:cNvSpPr>
          <p:nvPr>
            <p:ph type="sldNum" sz="quarter" idx="12"/>
          </p:nvPr>
        </p:nvSpPr>
        <p:spPr/>
        <p:txBody>
          <a:bodyPr/>
          <a:lstStyle/>
          <a:p>
            <a:fld id="{49AE70B2-8BF9-45C0-BB95-33D1B9D3A854}" type="slidenum">
              <a:rPr lang="zh-CN" altLang="en-US" smtClean="0"/>
              <a:t>39</a:t>
            </a:fld>
            <a:endParaRPr lang="zh-CN" altLang="en-US"/>
          </a:p>
        </p:txBody>
      </p:sp>
    </p:spTree>
    <p:extLst>
      <p:ext uri="{BB962C8B-B14F-4D97-AF65-F5344CB8AC3E}">
        <p14:creationId xmlns:p14="http://schemas.microsoft.com/office/powerpoint/2010/main" val="25961556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err="1"/>
              <a:t>Listbox</a:t>
            </a:r>
            <a:r>
              <a:rPr lang="zh-CN" altLang="en-US" dirty="0"/>
              <a:t>控件的常用属性和方法</a:t>
            </a:r>
            <a:r>
              <a:rPr lang="en-US" altLang="zh-CN" dirty="0"/>
              <a:t>(</a:t>
            </a:r>
            <a:r>
              <a:rPr lang="zh-CN" altLang="en-US" dirty="0"/>
              <a:t>二</a:t>
            </a:r>
            <a:r>
              <a:rPr lang="en-US" altLang="zh-CN" dirty="0"/>
              <a:t>)</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2668030037"/>
              </p:ext>
            </p:extLst>
          </p:nvPr>
        </p:nvGraphicFramePr>
        <p:xfrm>
          <a:off x="669925" y="1340768"/>
          <a:ext cx="10970691" cy="4896544"/>
        </p:xfrm>
        <a:graphic>
          <a:graphicData uri="http://schemas.openxmlformats.org/drawingml/2006/table">
            <a:tbl>
              <a:tblPr firstRow="1" firstCol="1" bandRow="1">
                <a:tableStyleId>{5C22544A-7EE6-4342-B048-85BDC9FD1C3A}</a:tableStyleId>
              </a:tblPr>
              <a:tblGrid>
                <a:gridCol w="2401739">
                  <a:extLst>
                    <a:ext uri="{9D8B030D-6E8A-4147-A177-3AD203B41FA5}">
                      <a16:colId xmlns:a16="http://schemas.microsoft.com/office/drawing/2014/main" val="2892634985"/>
                    </a:ext>
                  </a:extLst>
                </a:gridCol>
                <a:gridCol w="8568952">
                  <a:extLst>
                    <a:ext uri="{9D8B030D-6E8A-4147-A177-3AD203B41FA5}">
                      <a16:colId xmlns:a16="http://schemas.microsoft.com/office/drawing/2014/main" val="3168265623"/>
                    </a:ext>
                  </a:extLst>
                </a:gridCol>
              </a:tblGrid>
              <a:tr h="499695">
                <a:tc>
                  <a:txBody>
                    <a:bodyPr/>
                    <a:lstStyle/>
                    <a:p>
                      <a:pPr indent="266700" algn="ctr">
                        <a:spcAft>
                          <a:spcPts val="0"/>
                        </a:spcAft>
                      </a:pPr>
                      <a:r>
                        <a:rPr lang="zh-CN" sz="2000" kern="100">
                          <a:effectLst/>
                        </a:rPr>
                        <a:t>属性</a:t>
                      </a:r>
                      <a:r>
                        <a:rPr lang="en-US" sz="2000" kern="100">
                          <a:effectLst/>
                        </a:rPr>
                        <a:t>/</a:t>
                      </a:r>
                      <a:r>
                        <a:rPr lang="zh-CN" sz="2000" kern="100">
                          <a:effectLst/>
                        </a:rPr>
                        <a:t>方法</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ctr">
                        <a:spcAft>
                          <a:spcPts val="0"/>
                        </a:spcAft>
                      </a:pPr>
                      <a:r>
                        <a:rPr lang="zh-CN" sz="2000" kern="100" dirty="0">
                          <a:effectLst/>
                        </a:rPr>
                        <a:t>作用及用法 </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75441897"/>
                  </a:ext>
                </a:extLst>
              </a:tr>
              <a:tr h="830290">
                <a:tc>
                  <a:txBody>
                    <a:bodyPr/>
                    <a:lstStyle/>
                    <a:p>
                      <a:pPr marL="0" indent="266700" algn="l" defTabSz="914400" rtl="0" eaLnBrk="1" latinLnBrk="0" hangingPunct="1">
                        <a:spcAft>
                          <a:spcPts val="0"/>
                        </a:spcAft>
                      </a:pPr>
                      <a:r>
                        <a:rPr lang="en-US" sz="2000" kern="100" dirty="0">
                          <a:solidFill>
                            <a:schemeClr val="bg1"/>
                          </a:solidFill>
                          <a:effectLst/>
                          <a:latin typeface="+mn-lt"/>
                          <a:ea typeface="+mn-ea"/>
                          <a:cs typeface="+mn-cs"/>
                        </a:rPr>
                        <a:t>delete(first, last=None)</a:t>
                      </a:r>
                      <a:endParaRPr lang="zh-CN" sz="2000" kern="100" dirty="0">
                        <a:solidFill>
                          <a:schemeClr val="bg1"/>
                        </a:solidFill>
                        <a:effectLst/>
                        <a:latin typeface="+mn-lt"/>
                        <a:ea typeface="+mn-ea"/>
                        <a:cs typeface="+mn-cs"/>
                      </a:endParaRPr>
                    </a:p>
                  </a:txBody>
                  <a:tcPr marL="68580" marR="68580" marT="0" marB="0" anchor="ctr"/>
                </a:tc>
                <a:tc>
                  <a:txBody>
                    <a:bodyPr/>
                    <a:lstStyle/>
                    <a:p>
                      <a:pPr marL="0" indent="266700" algn="l" defTabSz="914400" rtl="0" eaLnBrk="1" latinLnBrk="0" hangingPunct="1">
                        <a:spcAft>
                          <a:spcPts val="0"/>
                        </a:spcAft>
                      </a:pPr>
                      <a:r>
                        <a:rPr lang="zh-CN" sz="2000" kern="100" dirty="0">
                          <a:solidFill>
                            <a:schemeClr val="dk1"/>
                          </a:solidFill>
                          <a:effectLst/>
                          <a:latin typeface="+mn-lt"/>
                          <a:ea typeface="+mn-ea"/>
                          <a:cs typeface="+mn-cs"/>
                        </a:rPr>
                        <a:t>删除索引值从</a:t>
                      </a:r>
                      <a:r>
                        <a:rPr lang="en-US" sz="2000" kern="100" dirty="0">
                          <a:solidFill>
                            <a:schemeClr val="dk1"/>
                          </a:solidFill>
                          <a:effectLst/>
                          <a:latin typeface="+mn-lt"/>
                          <a:ea typeface="+mn-ea"/>
                          <a:cs typeface="+mn-cs"/>
                        </a:rPr>
                        <a:t>first</a:t>
                      </a:r>
                      <a:r>
                        <a:rPr lang="zh-CN" sz="2000" kern="100" dirty="0">
                          <a:solidFill>
                            <a:schemeClr val="dk1"/>
                          </a:solidFill>
                          <a:effectLst/>
                          <a:latin typeface="+mn-lt"/>
                          <a:ea typeface="+mn-ea"/>
                          <a:cs typeface="+mn-cs"/>
                        </a:rPr>
                        <a:t>到</a:t>
                      </a:r>
                      <a:r>
                        <a:rPr lang="en-US" sz="2000" kern="100" dirty="0">
                          <a:solidFill>
                            <a:schemeClr val="dk1"/>
                          </a:solidFill>
                          <a:effectLst/>
                          <a:latin typeface="+mn-lt"/>
                          <a:ea typeface="+mn-ea"/>
                          <a:cs typeface="+mn-cs"/>
                        </a:rPr>
                        <a:t>last</a:t>
                      </a:r>
                      <a:r>
                        <a:rPr lang="zh-CN" sz="2000" kern="100" dirty="0">
                          <a:solidFill>
                            <a:schemeClr val="dk1"/>
                          </a:solidFill>
                          <a:effectLst/>
                          <a:latin typeface="+mn-lt"/>
                          <a:ea typeface="+mn-ea"/>
                          <a:cs typeface="+mn-cs"/>
                        </a:rPr>
                        <a:t>（包含）的条目，缺省</a:t>
                      </a:r>
                      <a:r>
                        <a:rPr lang="en-US" sz="2000" kern="100" dirty="0">
                          <a:solidFill>
                            <a:schemeClr val="dk1"/>
                          </a:solidFill>
                          <a:effectLst/>
                          <a:latin typeface="+mn-lt"/>
                          <a:ea typeface="+mn-ea"/>
                          <a:cs typeface="+mn-cs"/>
                        </a:rPr>
                        <a:t>last</a:t>
                      </a:r>
                      <a:r>
                        <a:rPr lang="zh-CN" sz="2000" kern="100" dirty="0">
                          <a:solidFill>
                            <a:schemeClr val="dk1"/>
                          </a:solidFill>
                          <a:effectLst/>
                          <a:latin typeface="+mn-lt"/>
                          <a:ea typeface="+mn-ea"/>
                          <a:cs typeface="+mn-cs"/>
                        </a:rPr>
                        <a:t>则只删除索引值为</a:t>
                      </a:r>
                      <a:r>
                        <a:rPr lang="en-US" sz="2000" kern="100" dirty="0">
                          <a:solidFill>
                            <a:schemeClr val="dk1"/>
                          </a:solidFill>
                          <a:effectLst/>
                          <a:latin typeface="+mn-lt"/>
                          <a:ea typeface="+mn-ea"/>
                          <a:cs typeface="+mn-cs"/>
                        </a:rPr>
                        <a:t>first</a:t>
                      </a:r>
                      <a:r>
                        <a:rPr lang="zh-CN" sz="2000" kern="100" dirty="0">
                          <a:solidFill>
                            <a:schemeClr val="dk1"/>
                          </a:solidFill>
                          <a:effectLst/>
                          <a:latin typeface="+mn-lt"/>
                          <a:ea typeface="+mn-ea"/>
                          <a:cs typeface="+mn-cs"/>
                        </a:rPr>
                        <a:t>的一个条目。</a:t>
                      </a:r>
                    </a:p>
                  </a:txBody>
                  <a:tcPr marL="68580" marR="68580" marT="0" marB="0" anchor="ctr"/>
                </a:tc>
                <a:extLst>
                  <a:ext uri="{0D108BD9-81ED-4DB2-BD59-A6C34878D82A}">
                    <a16:rowId xmlns:a16="http://schemas.microsoft.com/office/drawing/2014/main" val="2663872093"/>
                  </a:ext>
                </a:extLst>
              </a:tr>
              <a:tr h="830290">
                <a:tc>
                  <a:txBody>
                    <a:bodyPr/>
                    <a:lstStyle/>
                    <a:p>
                      <a:pPr marL="0" indent="266700" algn="l" defTabSz="914400" rtl="0" eaLnBrk="1" latinLnBrk="0" hangingPunct="1">
                        <a:spcAft>
                          <a:spcPts val="0"/>
                        </a:spcAft>
                      </a:pPr>
                      <a:r>
                        <a:rPr lang="en-US" sz="2000" kern="100" dirty="0" err="1">
                          <a:solidFill>
                            <a:schemeClr val="bg1"/>
                          </a:solidFill>
                          <a:effectLst/>
                          <a:latin typeface="+mn-lt"/>
                          <a:ea typeface="+mn-ea"/>
                          <a:cs typeface="+mn-cs"/>
                        </a:rPr>
                        <a:t>selection_set</a:t>
                      </a:r>
                      <a:r>
                        <a:rPr lang="en-US" sz="2000" kern="100" dirty="0">
                          <a:solidFill>
                            <a:schemeClr val="bg1"/>
                          </a:solidFill>
                          <a:effectLst/>
                          <a:latin typeface="+mn-lt"/>
                          <a:ea typeface="+mn-ea"/>
                          <a:cs typeface="+mn-cs"/>
                        </a:rPr>
                        <a:t>(first, last=None)</a:t>
                      </a:r>
                      <a:endParaRPr lang="zh-CN" sz="2000" kern="100" dirty="0">
                        <a:solidFill>
                          <a:schemeClr val="bg1"/>
                        </a:solidFill>
                        <a:effectLst/>
                        <a:latin typeface="+mn-lt"/>
                        <a:ea typeface="+mn-ea"/>
                        <a:cs typeface="+mn-cs"/>
                      </a:endParaRPr>
                    </a:p>
                  </a:txBody>
                  <a:tcPr marL="68580" marR="68580" marT="0" marB="0" anchor="ctr"/>
                </a:tc>
                <a:tc>
                  <a:txBody>
                    <a:bodyPr/>
                    <a:lstStyle/>
                    <a:p>
                      <a:pPr marL="0" indent="266700" algn="l" defTabSz="914400" rtl="0" eaLnBrk="1" latinLnBrk="0" hangingPunct="1">
                        <a:spcAft>
                          <a:spcPts val="0"/>
                        </a:spcAft>
                      </a:pPr>
                      <a:r>
                        <a:rPr lang="zh-CN" sz="2000" kern="100" dirty="0">
                          <a:solidFill>
                            <a:schemeClr val="dk1"/>
                          </a:solidFill>
                          <a:effectLst/>
                          <a:latin typeface="+mn-lt"/>
                          <a:ea typeface="+mn-ea"/>
                          <a:cs typeface="+mn-cs"/>
                        </a:rPr>
                        <a:t>选中索引值从</a:t>
                      </a:r>
                      <a:r>
                        <a:rPr lang="en-US" sz="2000" kern="100" dirty="0">
                          <a:solidFill>
                            <a:schemeClr val="dk1"/>
                          </a:solidFill>
                          <a:effectLst/>
                          <a:latin typeface="+mn-lt"/>
                          <a:ea typeface="+mn-ea"/>
                          <a:cs typeface="+mn-cs"/>
                        </a:rPr>
                        <a:t>first</a:t>
                      </a:r>
                      <a:r>
                        <a:rPr lang="zh-CN" sz="2000" kern="100" dirty="0">
                          <a:solidFill>
                            <a:schemeClr val="dk1"/>
                          </a:solidFill>
                          <a:effectLst/>
                          <a:latin typeface="+mn-lt"/>
                          <a:ea typeface="+mn-ea"/>
                          <a:cs typeface="+mn-cs"/>
                        </a:rPr>
                        <a:t>到</a:t>
                      </a:r>
                      <a:r>
                        <a:rPr lang="en-US" sz="2000" kern="100" dirty="0">
                          <a:solidFill>
                            <a:schemeClr val="dk1"/>
                          </a:solidFill>
                          <a:effectLst/>
                          <a:latin typeface="+mn-lt"/>
                          <a:ea typeface="+mn-ea"/>
                          <a:cs typeface="+mn-cs"/>
                        </a:rPr>
                        <a:t>last</a:t>
                      </a:r>
                      <a:r>
                        <a:rPr lang="zh-CN" sz="2000" kern="100" dirty="0">
                          <a:solidFill>
                            <a:schemeClr val="dk1"/>
                          </a:solidFill>
                          <a:effectLst/>
                          <a:latin typeface="+mn-lt"/>
                          <a:ea typeface="+mn-ea"/>
                          <a:cs typeface="+mn-cs"/>
                        </a:rPr>
                        <a:t>（包含）的条目，缺省</a:t>
                      </a:r>
                      <a:r>
                        <a:rPr lang="en-US" sz="2000" kern="100" dirty="0">
                          <a:solidFill>
                            <a:schemeClr val="dk1"/>
                          </a:solidFill>
                          <a:effectLst/>
                          <a:latin typeface="+mn-lt"/>
                          <a:ea typeface="+mn-ea"/>
                          <a:cs typeface="+mn-cs"/>
                        </a:rPr>
                        <a:t>last</a:t>
                      </a:r>
                      <a:r>
                        <a:rPr lang="zh-CN" sz="2000" kern="100" dirty="0">
                          <a:solidFill>
                            <a:schemeClr val="dk1"/>
                          </a:solidFill>
                          <a:effectLst/>
                          <a:latin typeface="+mn-lt"/>
                          <a:ea typeface="+mn-ea"/>
                          <a:cs typeface="+mn-cs"/>
                        </a:rPr>
                        <a:t>则只选中索引值为</a:t>
                      </a:r>
                      <a:r>
                        <a:rPr lang="en-US" sz="2000" kern="100" dirty="0">
                          <a:solidFill>
                            <a:schemeClr val="dk1"/>
                          </a:solidFill>
                          <a:effectLst/>
                          <a:latin typeface="+mn-lt"/>
                          <a:ea typeface="+mn-ea"/>
                          <a:cs typeface="+mn-cs"/>
                        </a:rPr>
                        <a:t>first</a:t>
                      </a:r>
                      <a:r>
                        <a:rPr lang="zh-CN" sz="2000" kern="100" dirty="0">
                          <a:solidFill>
                            <a:schemeClr val="dk1"/>
                          </a:solidFill>
                          <a:effectLst/>
                          <a:latin typeface="+mn-lt"/>
                          <a:ea typeface="+mn-ea"/>
                          <a:cs typeface="+mn-cs"/>
                        </a:rPr>
                        <a:t>的一个条目。</a:t>
                      </a:r>
                    </a:p>
                  </a:txBody>
                  <a:tcPr marL="68580" marR="68580" marT="0" marB="0" anchor="ctr"/>
                </a:tc>
                <a:extLst>
                  <a:ext uri="{0D108BD9-81ED-4DB2-BD59-A6C34878D82A}">
                    <a16:rowId xmlns:a16="http://schemas.microsoft.com/office/drawing/2014/main" val="3426569798"/>
                  </a:ext>
                </a:extLst>
              </a:tr>
              <a:tr h="455102">
                <a:tc>
                  <a:txBody>
                    <a:bodyPr/>
                    <a:lstStyle/>
                    <a:p>
                      <a:pPr marL="0" indent="266700" algn="l" defTabSz="914400" rtl="0" eaLnBrk="1" latinLnBrk="0" hangingPunct="1">
                        <a:spcAft>
                          <a:spcPts val="0"/>
                        </a:spcAft>
                      </a:pPr>
                      <a:r>
                        <a:rPr lang="en-US" sz="2000" kern="100" dirty="0">
                          <a:solidFill>
                            <a:schemeClr val="bg1"/>
                          </a:solidFill>
                          <a:effectLst/>
                          <a:latin typeface="+mn-lt"/>
                          <a:ea typeface="+mn-ea"/>
                          <a:cs typeface="+mn-cs"/>
                        </a:rPr>
                        <a:t>size()</a:t>
                      </a:r>
                      <a:endParaRPr lang="zh-CN" sz="2000" kern="100" dirty="0">
                        <a:solidFill>
                          <a:schemeClr val="bg1"/>
                        </a:solidFill>
                        <a:effectLst/>
                        <a:latin typeface="+mn-lt"/>
                        <a:ea typeface="+mn-ea"/>
                        <a:cs typeface="+mn-cs"/>
                      </a:endParaRPr>
                    </a:p>
                  </a:txBody>
                  <a:tcPr marL="68580" marR="68580" marT="0" marB="0" anchor="ctr"/>
                </a:tc>
                <a:tc>
                  <a:txBody>
                    <a:bodyPr/>
                    <a:lstStyle/>
                    <a:p>
                      <a:pPr marL="0" indent="266700" algn="l" defTabSz="914400" rtl="0" eaLnBrk="1" latinLnBrk="0" hangingPunct="1">
                        <a:spcAft>
                          <a:spcPts val="0"/>
                        </a:spcAft>
                      </a:pPr>
                      <a:r>
                        <a:rPr lang="zh-CN" sz="2000" kern="100" dirty="0">
                          <a:solidFill>
                            <a:schemeClr val="dk1"/>
                          </a:solidFill>
                          <a:effectLst/>
                          <a:latin typeface="+mn-lt"/>
                          <a:ea typeface="+mn-ea"/>
                          <a:cs typeface="+mn-cs"/>
                        </a:rPr>
                        <a:t>当前</a:t>
                      </a:r>
                      <a:r>
                        <a:rPr lang="en-US" sz="2000" kern="100" dirty="0" err="1">
                          <a:solidFill>
                            <a:schemeClr val="dk1"/>
                          </a:solidFill>
                          <a:effectLst/>
                          <a:latin typeface="+mn-lt"/>
                          <a:ea typeface="+mn-ea"/>
                          <a:cs typeface="+mn-cs"/>
                        </a:rPr>
                        <a:t>Listbox</a:t>
                      </a:r>
                      <a:r>
                        <a:rPr lang="zh-CN" sz="2000" kern="100" dirty="0">
                          <a:solidFill>
                            <a:schemeClr val="dk1"/>
                          </a:solidFill>
                          <a:effectLst/>
                          <a:latin typeface="+mn-lt"/>
                          <a:ea typeface="+mn-ea"/>
                          <a:cs typeface="+mn-cs"/>
                        </a:rPr>
                        <a:t>中的</a:t>
                      </a:r>
                      <a:r>
                        <a:rPr lang="en-US" sz="2000" kern="100" dirty="0">
                          <a:solidFill>
                            <a:schemeClr val="dk1"/>
                          </a:solidFill>
                          <a:effectLst/>
                          <a:latin typeface="+mn-lt"/>
                          <a:ea typeface="+mn-ea"/>
                          <a:cs typeface="+mn-cs"/>
                        </a:rPr>
                        <a:t>item</a:t>
                      </a:r>
                      <a:r>
                        <a:rPr lang="zh-CN" sz="2000" kern="100" dirty="0">
                          <a:solidFill>
                            <a:schemeClr val="dk1"/>
                          </a:solidFill>
                          <a:effectLst/>
                          <a:latin typeface="+mn-lt"/>
                          <a:ea typeface="+mn-ea"/>
                          <a:cs typeface="+mn-cs"/>
                        </a:rPr>
                        <a:t>个数。</a:t>
                      </a:r>
                    </a:p>
                  </a:txBody>
                  <a:tcPr marL="68580" marR="68580" marT="0" marB="0" anchor="ctr"/>
                </a:tc>
                <a:extLst>
                  <a:ext uri="{0D108BD9-81ED-4DB2-BD59-A6C34878D82A}">
                    <a16:rowId xmlns:a16="http://schemas.microsoft.com/office/drawing/2014/main" val="3509217440"/>
                  </a:ext>
                </a:extLst>
              </a:tr>
              <a:tr h="899036">
                <a:tc>
                  <a:txBody>
                    <a:bodyPr/>
                    <a:lstStyle/>
                    <a:p>
                      <a:pPr marL="0" indent="266700" algn="l" defTabSz="914400" rtl="0" eaLnBrk="1" latinLnBrk="0" hangingPunct="1">
                        <a:spcAft>
                          <a:spcPts val="0"/>
                        </a:spcAft>
                      </a:pPr>
                      <a:r>
                        <a:rPr lang="en-US" sz="2000" kern="100" dirty="0">
                          <a:solidFill>
                            <a:schemeClr val="bg1"/>
                          </a:solidFill>
                          <a:effectLst/>
                          <a:latin typeface="+mn-lt"/>
                          <a:ea typeface="+mn-ea"/>
                          <a:cs typeface="+mn-cs"/>
                        </a:rPr>
                        <a:t>get(first, last=None)</a:t>
                      </a:r>
                      <a:endParaRPr lang="zh-CN" sz="2000" kern="100" dirty="0">
                        <a:solidFill>
                          <a:schemeClr val="bg1"/>
                        </a:solidFill>
                        <a:effectLst/>
                        <a:latin typeface="+mn-lt"/>
                        <a:ea typeface="+mn-ea"/>
                        <a:cs typeface="+mn-cs"/>
                      </a:endParaRPr>
                    </a:p>
                  </a:txBody>
                  <a:tcPr marL="68580" marR="68580" marT="0" marB="0" anchor="ctr"/>
                </a:tc>
                <a:tc>
                  <a:txBody>
                    <a:bodyPr/>
                    <a:lstStyle/>
                    <a:p>
                      <a:pPr marL="0" indent="266700" algn="l" defTabSz="914400" rtl="0" eaLnBrk="1" latinLnBrk="0" hangingPunct="1">
                        <a:spcAft>
                          <a:spcPts val="0"/>
                        </a:spcAft>
                      </a:pPr>
                      <a:r>
                        <a:rPr lang="zh-CN" sz="2000" kern="100" dirty="0">
                          <a:solidFill>
                            <a:schemeClr val="dk1"/>
                          </a:solidFill>
                          <a:effectLst/>
                          <a:latin typeface="+mn-lt"/>
                          <a:ea typeface="+mn-ea"/>
                          <a:cs typeface="+mn-cs"/>
                        </a:rPr>
                        <a:t>获取从</a:t>
                      </a:r>
                      <a:r>
                        <a:rPr lang="en-US" sz="2000" kern="100" dirty="0">
                          <a:solidFill>
                            <a:schemeClr val="dk1"/>
                          </a:solidFill>
                          <a:effectLst/>
                          <a:latin typeface="+mn-lt"/>
                          <a:ea typeface="+mn-ea"/>
                          <a:cs typeface="+mn-cs"/>
                        </a:rPr>
                        <a:t>first</a:t>
                      </a:r>
                      <a:r>
                        <a:rPr lang="zh-CN" sz="2000" kern="100" dirty="0">
                          <a:solidFill>
                            <a:schemeClr val="dk1"/>
                          </a:solidFill>
                          <a:effectLst/>
                          <a:latin typeface="+mn-lt"/>
                          <a:ea typeface="+mn-ea"/>
                          <a:cs typeface="+mn-cs"/>
                        </a:rPr>
                        <a:t>到</a:t>
                      </a:r>
                      <a:r>
                        <a:rPr lang="en-US" sz="2000" kern="100" dirty="0">
                          <a:solidFill>
                            <a:schemeClr val="dk1"/>
                          </a:solidFill>
                          <a:effectLst/>
                          <a:latin typeface="+mn-lt"/>
                          <a:ea typeface="+mn-ea"/>
                          <a:cs typeface="+mn-cs"/>
                        </a:rPr>
                        <a:t>last</a:t>
                      </a:r>
                      <a:r>
                        <a:rPr lang="zh-CN" sz="2000" kern="100" dirty="0">
                          <a:solidFill>
                            <a:schemeClr val="dk1"/>
                          </a:solidFill>
                          <a:effectLst/>
                          <a:latin typeface="+mn-lt"/>
                          <a:ea typeface="+mn-ea"/>
                          <a:cs typeface="+mn-cs"/>
                        </a:rPr>
                        <a:t>（包含）的条目内容，缺省</a:t>
                      </a:r>
                      <a:r>
                        <a:rPr lang="en-US" sz="2000" kern="100" dirty="0">
                          <a:solidFill>
                            <a:schemeClr val="dk1"/>
                          </a:solidFill>
                          <a:effectLst/>
                          <a:latin typeface="+mn-lt"/>
                          <a:ea typeface="+mn-ea"/>
                          <a:cs typeface="+mn-cs"/>
                        </a:rPr>
                        <a:t>last</a:t>
                      </a:r>
                      <a:r>
                        <a:rPr lang="zh-CN" sz="2000" kern="100" dirty="0">
                          <a:solidFill>
                            <a:schemeClr val="dk1"/>
                          </a:solidFill>
                          <a:effectLst/>
                          <a:latin typeface="+mn-lt"/>
                          <a:ea typeface="+mn-ea"/>
                          <a:cs typeface="+mn-cs"/>
                        </a:rPr>
                        <a:t>则只获取索引值为</a:t>
                      </a:r>
                      <a:r>
                        <a:rPr lang="en-US" sz="2000" kern="100" dirty="0">
                          <a:solidFill>
                            <a:schemeClr val="dk1"/>
                          </a:solidFill>
                          <a:effectLst/>
                          <a:latin typeface="+mn-lt"/>
                          <a:ea typeface="+mn-ea"/>
                          <a:cs typeface="+mn-cs"/>
                        </a:rPr>
                        <a:t>first</a:t>
                      </a:r>
                      <a:r>
                        <a:rPr lang="zh-CN" sz="2000" kern="100" dirty="0">
                          <a:solidFill>
                            <a:schemeClr val="dk1"/>
                          </a:solidFill>
                          <a:effectLst/>
                          <a:latin typeface="+mn-lt"/>
                          <a:ea typeface="+mn-ea"/>
                          <a:cs typeface="+mn-cs"/>
                        </a:rPr>
                        <a:t>的一个条目内容。</a:t>
                      </a:r>
                    </a:p>
                  </a:txBody>
                  <a:tcPr marL="68580" marR="68580" marT="0" marB="0" anchor="ctr"/>
                </a:tc>
                <a:extLst>
                  <a:ext uri="{0D108BD9-81ED-4DB2-BD59-A6C34878D82A}">
                    <a16:rowId xmlns:a16="http://schemas.microsoft.com/office/drawing/2014/main" val="886115499"/>
                  </a:ext>
                </a:extLst>
              </a:tr>
              <a:tr h="487281">
                <a:tc>
                  <a:txBody>
                    <a:bodyPr/>
                    <a:lstStyle/>
                    <a:p>
                      <a:pPr marL="0" indent="266700" algn="l" defTabSz="914400" rtl="0" eaLnBrk="1" latinLnBrk="0" hangingPunct="1">
                        <a:spcAft>
                          <a:spcPts val="0"/>
                        </a:spcAft>
                      </a:pPr>
                      <a:r>
                        <a:rPr lang="en-US" sz="2000" kern="100" dirty="0" err="1">
                          <a:solidFill>
                            <a:schemeClr val="bg1"/>
                          </a:solidFill>
                          <a:effectLst/>
                          <a:latin typeface="+mn-lt"/>
                          <a:ea typeface="+mn-ea"/>
                          <a:cs typeface="+mn-cs"/>
                        </a:rPr>
                        <a:t>curselection</a:t>
                      </a:r>
                      <a:r>
                        <a:rPr lang="en-US" sz="2000" kern="100" dirty="0">
                          <a:solidFill>
                            <a:schemeClr val="bg1"/>
                          </a:solidFill>
                          <a:effectLst/>
                          <a:latin typeface="+mn-lt"/>
                          <a:ea typeface="+mn-ea"/>
                          <a:cs typeface="+mn-cs"/>
                        </a:rPr>
                        <a:t>()</a:t>
                      </a:r>
                      <a:endParaRPr lang="zh-CN" sz="2000" kern="100" dirty="0">
                        <a:solidFill>
                          <a:schemeClr val="bg1"/>
                        </a:solidFill>
                        <a:effectLst/>
                        <a:latin typeface="+mn-lt"/>
                        <a:ea typeface="+mn-ea"/>
                        <a:cs typeface="+mn-cs"/>
                      </a:endParaRPr>
                    </a:p>
                  </a:txBody>
                  <a:tcPr marL="68580" marR="68580" marT="0" marB="0" anchor="ctr"/>
                </a:tc>
                <a:tc>
                  <a:txBody>
                    <a:bodyPr/>
                    <a:lstStyle/>
                    <a:p>
                      <a:pPr marL="0" indent="266700" algn="l" defTabSz="914400" rtl="0" eaLnBrk="1" latinLnBrk="0" hangingPunct="1">
                        <a:spcAft>
                          <a:spcPts val="0"/>
                        </a:spcAft>
                      </a:pPr>
                      <a:r>
                        <a:rPr lang="zh-CN" sz="2000" kern="100" dirty="0">
                          <a:solidFill>
                            <a:schemeClr val="dk1"/>
                          </a:solidFill>
                          <a:effectLst/>
                          <a:latin typeface="+mn-lt"/>
                          <a:ea typeface="+mn-ea"/>
                          <a:cs typeface="+mn-cs"/>
                        </a:rPr>
                        <a:t>获取选中条目的索引值。</a:t>
                      </a:r>
                    </a:p>
                  </a:txBody>
                  <a:tcPr marL="68580" marR="68580" marT="0" marB="0" anchor="ctr"/>
                </a:tc>
                <a:extLst>
                  <a:ext uri="{0D108BD9-81ED-4DB2-BD59-A6C34878D82A}">
                    <a16:rowId xmlns:a16="http://schemas.microsoft.com/office/drawing/2014/main" val="689270863"/>
                  </a:ext>
                </a:extLst>
              </a:tr>
              <a:tr h="894850">
                <a:tc>
                  <a:txBody>
                    <a:bodyPr/>
                    <a:lstStyle/>
                    <a:p>
                      <a:pPr marL="0" indent="266700" algn="l" defTabSz="914400" rtl="0" eaLnBrk="1" latinLnBrk="0" hangingPunct="1">
                        <a:spcAft>
                          <a:spcPts val="0"/>
                        </a:spcAft>
                      </a:pPr>
                      <a:r>
                        <a:rPr lang="en-US" sz="2000" kern="100" dirty="0" err="1">
                          <a:solidFill>
                            <a:schemeClr val="bg1"/>
                          </a:solidFill>
                          <a:effectLst/>
                          <a:latin typeface="+mn-lt"/>
                          <a:ea typeface="+mn-ea"/>
                          <a:cs typeface="+mn-cs"/>
                        </a:rPr>
                        <a:t>selection_includes</a:t>
                      </a:r>
                      <a:r>
                        <a:rPr lang="en-US" sz="2000" kern="100" dirty="0">
                          <a:solidFill>
                            <a:schemeClr val="bg1"/>
                          </a:solidFill>
                          <a:effectLst/>
                          <a:latin typeface="+mn-lt"/>
                          <a:ea typeface="+mn-ea"/>
                          <a:cs typeface="+mn-cs"/>
                        </a:rPr>
                        <a:t>(index)</a:t>
                      </a:r>
                      <a:endParaRPr lang="zh-CN" sz="2000" kern="100" dirty="0">
                        <a:solidFill>
                          <a:schemeClr val="bg1"/>
                        </a:solidFill>
                        <a:effectLst/>
                        <a:latin typeface="+mn-lt"/>
                        <a:ea typeface="+mn-ea"/>
                        <a:cs typeface="+mn-cs"/>
                      </a:endParaRPr>
                    </a:p>
                  </a:txBody>
                  <a:tcPr marL="68580" marR="68580" marT="0" marB="0" anchor="ctr"/>
                </a:tc>
                <a:tc>
                  <a:txBody>
                    <a:bodyPr/>
                    <a:lstStyle/>
                    <a:p>
                      <a:pPr marL="0" indent="266700" algn="l" defTabSz="914400" rtl="0" eaLnBrk="1" latinLnBrk="0" hangingPunct="1">
                        <a:spcAft>
                          <a:spcPts val="0"/>
                        </a:spcAft>
                      </a:pPr>
                      <a:r>
                        <a:rPr lang="zh-CN" sz="2000" kern="100" dirty="0">
                          <a:solidFill>
                            <a:schemeClr val="dk1"/>
                          </a:solidFill>
                          <a:effectLst/>
                          <a:latin typeface="+mn-lt"/>
                          <a:ea typeface="+mn-ea"/>
                          <a:cs typeface="+mn-cs"/>
                        </a:rPr>
                        <a:t>判断索引值为</a:t>
                      </a:r>
                      <a:r>
                        <a:rPr lang="en-US" sz="2000" kern="100" dirty="0">
                          <a:solidFill>
                            <a:schemeClr val="dk1"/>
                          </a:solidFill>
                          <a:effectLst/>
                          <a:latin typeface="+mn-lt"/>
                          <a:ea typeface="+mn-ea"/>
                          <a:cs typeface="+mn-cs"/>
                        </a:rPr>
                        <a:t>index</a:t>
                      </a:r>
                      <a:r>
                        <a:rPr lang="zh-CN" sz="2000" kern="100" dirty="0">
                          <a:solidFill>
                            <a:schemeClr val="dk1"/>
                          </a:solidFill>
                          <a:effectLst/>
                          <a:latin typeface="+mn-lt"/>
                          <a:ea typeface="+mn-ea"/>
                          <a:cs typeface="+mn-cs"/>
                        </a:rPr>
                        <a:t>的条目是否被选中，选中则返回</a:t>
                      </a:r>
                      <a:r>
                        <a:rPr lang="en-US" sz="2000" kern="100" dirty="0">
                          <a:solidFill>
                            <a:schemeClr val="dk1"/>
                          </a:solidFill>
                          <a:effectLst/>
                          <a:latin typeface="+mn-lt"/>
                          <a:ea typeface="+mn-ea"/>
                          <a:cs typeface="+mn-cs"/>
                        </a:rPr>
                        <a:t>1</a:t>
                      </a:r>
                      <a:r>
                        <a:rPr lang="zh-CN" sz="2000" kern="100" dirty="0">
                          <a:solidFill>
                            <a:schemeClr val="dk1"/>
                          </a:solidFill>
                          <a:effectLst/>
                          <a:latin typeface="+mn-lt"/>
                          <a:ea typeface="+mn-ea"/>
                          <a:cs typeface="+mn-cs"/>
                        </a:rPr>
                        <a:t>。</a:t>
                      </a:r>
                    </a:p>
                  </a:txBody>
                  <a:tcPr marL="68580" marR="68580" marT="0" marB="0" anchor="ctr"/>
                </a:tc>
                <a:extLst>
                  <a:ext uri="{0D108BD9-81ED-4DB2-BD59-A6C34878D82A}">
                    <a16:rowId xmlns:a16="http://schemas.microsoft.com/office/drawing/2014/main" val="3090492158"/>
                  </a:ext>
                </a:extLst>
              </a:tr>
            </a:tbl>
          </a:graphicData>
        </a:graphic>
      </p:graphicFrame>
      <p:sp>
        <p:nvSpPr>
          <p:cNvPr id="3" name="灯片编号占位符 2">
            <a:extLst>
              <a:ext uri="{FF2B5EF4-FFF2-40B4-BE49-F238E27FC236}">
                <a16:creationId xmlns:a16="http://schemas.microsoft.com/office/drawing/2014/main" id="{064F0648-D09A-4326-876C-5512660EEBBE}"/>
              </a:ext>
            </a:extLst>
          </p:cNvPr>
          <p:cNvSpPr>
            <a:spLocks noGrp="1"/>
          </p:cNvSpPr>
          <p:nvPr>
            <p:ph type="sldNum" sz="quarter" idx="12"/>
          </p:nvPr>
        </p:nvSpPr>
        <p:spPr/>
        <p:txBody>
          <a:bodyPr/>
          <a:lstStyle/>
          <a:p>
            <a:fld id="{49AE70B2-8BF9-45C0-BB95-33D1B9D3A854}" type="slidenum">
              <a:rPr lang="zh-CN" altLang="en-US" smtClean="0"/>
              <a:t>40</a:t>
            </a:fld>
            <a:endParaRPr lang="zh-CN" altLang="en-US"/>
          </a:p>
        </p:txBody>
      </p:sp>
    </p:spTree>
    <p:extLst>
      <p:ext uri="{BB962C8B-B14F-4D97-AF65-F5344CB8AC3E}">
        <p14:creationId xmlns:p14="http://schemas.microsoft.com/office/powerpoint/2010/main" val="15193942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列表框的功能演示的两个示例</a:t>
            </a:r>
          </a:p>
        </p:txBody>
      </p:sp>
      <p:sp>
        <p:nvSpPr>
          <p:cNvPr id="4" name="内容占位符 3"/>
          <p:cNvSpPr>
            <a:spLocks noGrp="1"/>
          </p:cNvSpPr>
          <p:nvPr>
            <p:ph sz="half" idx="1"/>
          </p:nvPr>
        </p:nvSpPr>
        <p:spPr/>
        <p:txBody>
          <a:bodyPr>
            <a:normAutofit/>
          </a:bodyPr>
          <a:lstStyle/>
          <a:p>
            <a:r>
              <a:rPr lang="en-US" altLang="zh-CN" sz="2000" dirty="0"/>
              <a:t>【</a:t>
            </a:r>
            <a:r>
              <a:rPr lang="zh-CN" altLang="en-US" sz="2000" dirty="0"/>
              <a:t>例</a:t>
            </a:r>
            <a:r>
              <a:rPr lang="en-US" altLang="zh-CN" sz="2000" dirty="0"/>
              <a:t>13-11】</a:t>
            </a:r>
            <a:r>
              <a:rPr lang="zh-CN" altLang="en-US" sz="2000" dirty="0"/>
              <a:t>列表框的功能演示之一。</a:t>
            </a:r>
          </a:p>
        </p:txBody>
      </p:sp>
      <p:sp>
        <p:nvSpPr>
          <p:cNvPr id="5" name="内容占位符 4"/>
          <p:cNvSpPr>
            <a:spLocks noGrp="1"/>
          </p:cNvSpPr>
          <p:nvPr>
            <p:ph sz="half" idx="2"/>
          </p:nvPr>
        </p:nvSpPr>
        <p:spPr/>
        <p:txBody>
          <a:bodyPr>
            <a:normAutofit/>
          </a:bodyPr>
          <a:lstStyle/>
          <a:p>
            <a:r>
              <a:rPr lang="zh-CN" altLang="zh-CN" sz="2000" dirty="0"/>
              <a:t>【例</a:t>
            </a:r>
            <a:r>
              <a:rPr lang="en-US" altLang="zh-CN" sz="2000" dirty="0"/>
              <a:t>13-12</a:t>
            </a:r>
            <a:r>
              <a:rPr lang="zh-CN" altLang="zh-CN" sz="2000" dirty="0"/>
              <a:t>】列表框的功能演示之二。</a:t>
            </a:r>
            <a:endParaRPr lang="zh-CN" altLang="en-US" sz="2000" dirty="0"/>
          </a:p>
        </p:txBody>
      </p:sp>
      <p:pic>
        <p:nvPicPr>
          <p:cNvPr id="6" name="图片 5"/>
          <p:cNvPicPr>
            <a:picLocks noChangeAspect="1"/>
          </p:cNvPicPr>
          <p:nvPr/>
        </p:nvPicPr>
        <p:blipFill>
          <a:blip r:embed="rId2"/>
          <a:stretch>
            <a:fillRect/>
          </a:stretch>
        </p:blipFill>
        <p:spPr>
          <a:xfrm>
            <a:off x="948190" y="2132856"/>
            <a:ext cx="4726721" cy="2727494"/>
          </a:xfrm>
          <a:prstGeom prst="rect">
            <a:avLst/>
          </a:prstGeom>
        </p:spPr>
      </p:pic>
      <p:sp>
        <p:nvSpPr>
          <p:cNvPr id="7" name="Rectangle 2"/>
          <p:cNvSpPr>
            <a:spLocks noChangeAspect="1"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525174685"/>
              </p:ext>
            </p:extLst>
          </p:nvPr>
        </p:nvGraphicFramePr>
        <p:xfrm>
          <a:off x="6744072" y="2132856"/>
          <a:ext cx="4008634" cy="3634287"/>
        </p:xfrm>
        <a:graphic>
          <a:graphicData uri="http://schemas.openxmlformats.org/presentationml/2006/ole">
            <mc:AlternateContent xmlns:mc="http://schemas.openxmlformats.org/markup-compatibility/2006">
              <mc:Choice xmlns:v="urn:schemas-microsoft-com:vml" Requires="v">
                <p:oleObj name="BMP 图像" r:id="rId3" imgW="2895238" imgH="2629267" progId="Paint.Picture">
                  <p:embed/>
                </p:oleObj>
              </mc:Choice>
              <mc:Fallback>
                <p:oleObj name="BMP 图像" r:id="rId3" imgW="2895238" imgH="2629267" progId="Paint.Picture">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4072" y="2132856"/>
                        <a:ext cx="4008634" cy="3634287"/>
                      </a:xfrm>
                      <a:prstGeom prst="rect">
                        <a:avLst/>
                      </a:prstGeom>
                      <a:noFill/>
                    </p:spPr>
                  </p:pic>
                </p:oleObj>
              </mc:Fallback>
            </mc:AlternateContent>
          </a:graphicData>
        </a:graphic>
      </p:graphicFrame>
      <p:sp>
        <p:nvSpPr>
          <p:cNvPr id="3" name="灯片编号占位符 2">
            <a:extLst>
              <a:ext uri="{FF2B5EF4-FFF2-40B4-BE49-F238E27FC236}">
                <a16:creationId xmlns:a16="http://schemas.microsoft.com/office/drawing/2014/main" id="{AD91B2A5-663E-4D65-BDCF-63A717A9D91B}"/>
              </a:ext>
            </a:extLst>
          </p:cNvPr>
          <p:cNvSpPr>
            <a:spLocks noGrp="1"/>
          </p:cNvSpPr>
          <p:nvPr>
            <p:ph type="sldNum" sz="quarter" idx="12"/>
          </p:nvPr>
        </p:nvSpPr>
        <p:spPr/>
        <p:txBody>
          <a:bodyPr/>
          <a:lstStyle/>
          <a:p>
            <a:fld id="{49AE70B2-8BF9-45C0-BB95-33D1B9D3A854}" type="slidenum">
              <a:rPr lang="zh-CN" altLang="en-US" smtClean="0"/>
              <a:t>41</a:t>
            </a:fld>
            <a:endParaRPr lang="zh-CN" altLang="en-US"/>
          </a:p>
        </p:txBody>
      </p:sp>
    </p:spTree>
    <p:extLst>
      <p:ext uri="{BB962C8B-B14F-4D97-AF65-F5344CB8AC3E}">
        <p14:creationId xmlns:p14="http://schemas.microsoft.com/office/powerpoint/2010/main" val="18840434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13.2.7 </a:t>
            </a:r>
            <a:r>
              <a:rPr lang="zh-CN" altLang="en-US" dirty="0"/>
              <a:t>滚动条和刻度条</a:t>
            </a:r>
          </a:p>
        </p:txBody>
      </p:sp>
      <p:sp>
        <p:nvSpPr>
          <p:cNvPr id="6" name="内容占位符 5"/>
          <p:cNvSpPr>
            <a:spLocks noGrp="1"/>
          </p:cNvSpPr>
          <p:nvPr>
            <p:ph idx="1"/>
          </p:nvPr>
        </p:nvSpPr>
        <p:spPr>
          <a:xfrm>
            <a:off x="669925" y="1160145"/>
            <a:ext cx="10852150" cy="5142181"/>
          </a:xfrm>
        </p:spPr>
        <p:txBody>
          <a:bodyPr>
            <a:noAutofit/>
          </a:bodyPr>
          <a:lstStyle/>
          <a:p>
            <a:pPr marL="0" indent="0">
              <a:lnSpc>
                <a:spcPct val="120000"/>
              </a:lnSpc>
              <a:spcAft>
                <a:spcPts val="600"/>
              </a:spcAft>
              <a:buNone/>
            </a:pPr>
            <a:r>
              <a:rPr lang="en-US" altLang="zh-CN" sz="2400" dirty="0"/>
              <a:t>1</a:t>
            </a:r>
            <a:r>
              <a:rPr lang="zh-CN" altLang="en-US" sz="2400" dirty="0"/>
              <a:t>．滚动条</a:t>
            </a:r>
            <a:r>
              <a:rPr lang="en-US" altLang="zh-CN" sz="2400" dirty="0"/>
              <a:t>Scrollbar</a:t>
            </a:r>
            <a:r>
              <a:rPr lang="zh-CN" altLang="en-US" sz="2400" dirty="0"/>
              <a:t>控件</a:t>
            </a:r>
          </a:p>
          <a:p>
            <a:pPr lvl="1">
              <a:lnSpc>
                <a:spcPct val="120000"/>
              </a:lnSpc>
              <a:spcAft>
                <a:spcPts val="600"/>
              </a:spcAft>
            </a:pPr>
            <a:r>
              <a:rPr lang="en-US" altLang="zh-CN" sz="2400" dirty="0"/>
              <a:t>Scrollbar</a:t>
            </a:r>
            <a:r>
              <a:rPr lang="zh-CN" altLang="en-US" sz="2400" dirty="0"/>
              <a:t>（滚动条）控件用于辅助有较多显示内容的界面元素，只能与控件</a:t>
            </a:r>
            <a:r>
              <a:rPr lang="en-US" altLang="zh-CN" sz="2400" dirty="0"/>
              <a:t>Canvas</a:t>
            </a:r>
            <a:r>
              <a:rPr lang="zh-CN" altLang="en-US" sz="2400" dirty="0"/>
              <a:t>、</a:t>
            </a:r>
            <a:r>
              <a:rPr lang="en-US" altLang="zh-CN" sz="2400" dirty="0"/>
              <a:t>Entry</a:t>
            </a:r>
            <a:r>
              <a:rPr lang="zh-CN" altLang="en-US" sz="2400" dirty="0"/>
              <a:t>、</a:t>
            </a:r>
            <a:r>
              <a:rPr lang="en-US" altLang="zh-CN" sz="2400" dirty="0" err="1"/>
              <a:t>Listbox</a:t>
            </a:r>
            <a:r>
              <a:rPr lang="zh-CN" altLang="en-US" sz="2400" dirty="0"/>
              <a:t>、</a:t>
            </a:r>
            <a:r>
              <a:rPr lang="en-US" altLang="zh-CN" sz="2400" dirty="0"/>
              <a:t>Text</a:t>
            </a:r>
            <a:r>
              <a:rPr lang="zh-CN" altLang="en-US" sz="2400" dirty="0"/>
              <a:t>相结合。</a:t>
            </a:r>
            <a:endParaRPr lang="en-US" altLang="zh-CN" sz="2400" dirty="0"/>
          </a:p>
          <a:p>
            <a:pPr marL="0" indent="0" algn="ctr">
              <a:lnSpc>
                <a:spcPct val="120000"/>
              </a:lnSpc>
              <a:spcAft>
                <a:spcPts val="600"/>
              </a:spcAft>
              <a:buNone/>
            </a:pPr>
            <a:r>
              <a:rPr lang="zh-CN" altLang="en-US" sz="2400" dirty="0"/>
              <a:t>变量 </a:t>
            </a:r>
            <a:r>
              <a:rPr lang="en-US" altLang="zh-CN" sz="2400" dirty="0"/>
              <a:t>= Scrollbar (</a:t>
            </a:r>
            <a:r>
              <a:rPr lang="zh-CN" altLang="en-US" sz="2400" dirty="0"/>
              <a:t>父容器对象名</a:t>
            </a:r>
            <a:r>
              <a:rPr lang="en-US" altLang="zh-CN" sz="2400" dirty="0"/>
              <a:t>[, orient=HORIZONTAL])</a:t>
            </a:r>
          </a:p>
          <a:p>
            <a:pPr lvl="1">
              <a:lnSpc>
                <a:spcPct val="120000"/>
              </a:lnSpc>
              <a:spcAft>
                <a:spcPts val="600"/>
              </a:spcAft>
            </a:pPr>
            <a:r>
              <a:rPr lang="zh-CN" altLang="en-US" sz="2400" dirty="0"/>
              <a:t>缺省参数</a:t>
            </a:r>
            <a:r>
              <a:rPr lang="en-US" altLang="zh-CN" sz="2400" dirty="0"/>
              <a:t>orient</a:t>
            </a:r>
            <a:r>
              <a:rPr lang="zh-CN" altLang="en-US" sz="2400" dirty="0"/>
              <a:t>为垂直滚动条，水平滚动条用</a:t>
            </a:r>
            <a:r>
              <a:rPr lang="en-US" altLang="zh-CN" sz="2400" dirty="0"/>
              <a:t>HORIZONTAL</a:t>
            </a:r>
            <a:r>
              <a:rPr lang="zh-CN" altLang="en-US" sz="2400" dirty="0"/>
              <a:t>指定。</a:t>
            </a:r>
            <a:endParaRPr lang="en-US" altLang="zh-CN" sz="2400" dirty="0"/>
          </a:p>
          <a:p>
            <a:pPr>
              <a:lnSpc>
                <a:spcPct val="120000"/>
              </a:lnSpc>
              <a:spcAft>
                <a:spcPts val="600"/>
              </a:spcAft>
            </a:pPr>
            <a:r>
              <a:rPr lang="zh-CN" altLang="en-US" sz="2400" dirty="0"/>
              <a:t>滚动条与其他控件结合时的设置步骤：</a:t>
            </a:r>
          </a:p>
          <a:p>
            <a:pPr lvl="1">
              <a:lnSpc>
                <a:spcPct val="120000"/>
              </a:lnSpc>
              <a:spcAft>
                <a:spcPts val="600"/>
              </a:spcAft>
            </a:pPr>
            <a:r>
              <a:rPr lang="en-US" altLang="zh-CN" sz="2400" dirty="0"/>
              <a:t>Step1</a:t>
            </a:r>
            <a:r>
              <a:rPr lang="zh-CN" altLang="en-US" sz="2400" dirty="0"/>
              <a:t>：设置其他控件的</a:t>
            </a:r>
            <a:r>
              <a:rPr lang="en-US" altLang="zh-CN" sz="2400" dirty="0" err="1"/>
              <a:t>yscrollcommand</a:t>
            </a:r>
            <a:r>
              <a:rPr lang="zh-CN" altLang="en-US" sz="2400" dirty="0"/>
              <a:t>属性为</a:t>
            </a:r>
            <a:r>
              <a:rPr lang="en-US" altLang="zh-CN" sz="2400" dirty="0"/>
              <a:t>Scrollbar</a:t>
            </a:r>
            <a:r>
              <a:rPr lang="zh-CN" altLang="en-US" sz="2400" dirty="0"/>
              <a:t>控件的</a:t>
            </a:r>
            <a:r>
              <a:rPr lang="en-US" altLang="zh-CN" sz="2400" dirty="0"/>
              <a:t>set()</a:t>
            </a:r>
            <a:r>
              <a:rPr lang="zh-CN" altLang="en-US" sz="2400" dirty="0"/>
              <a:t>方法；</a:t>
            </a:r>
          </a:p>
          <a:p>
            <a:pPr lvl="1">
              <a:lnSpc>
                <a:spcPct val="120000"/>
              </a:lnSpc>
              <a:spcAft>
                <a:spcPts val="600"/>
              </a:spcAft>
            </a:pPr>
            <a:r>
              <a:rPr lang="en-US" altLang="zh-CN" sz="2400" dirty="0"/>
              <a:t>Step2</a:t>
            </a:r>
            <a:r>
              <a:rPr lang="zh-CN" altLang="en-US" sz="2400" dirty="0"/>
              <a:t>：设置</a:t>
            </a:r>
            <a:r>
              <a:rPr lang="en-US" altLang="zh-CN" sz="2400" dirty="0"/>
              <a:t>Scrollbar</a:t>
            </a:r>
            <a:r>
              <a:rPr lang="zh-CN" altLang="en-US" sz="2400" dirty="0"/>
              <a:t>控件的</a:t>
            </a:r>
            <a:r>
              <a:rPr lang="en-US" altLang="zh-CN" sz="2400" dirty="0"/>
              <a:t>command</a:t>
            </a:r>
            <a:r>
              <a:rPr lang="zh-CN" altLang="en-US" sz="2400" dirty="0"/>
              <a:t>属性为该控件的</a:t>
            </a:r>
            <a:r>
              <a:rPr lang="en-US" altLang="zh-CN" sz="2400" dirty="0" err="1"/>
              <a:t>yview</a:t>
            </a:r>
            <a:r>
              <a:rPr lang="en-US" altLang="zh-CN" sz="2400" dirty="0"/>
              <a:t>()</a:t>
            </a:r>
            <a:r>
              <a:rPr lang="zh-CN" altLang="en-US" sz="2400" dirty="0"/>
              <a:t>方法。</a:t>
            </a:r>
          </a:p>
        </p:txBody>
      </p:sp>
      <p:sp>
        <p:nvSpPr>
          <p:cNvPr id="2" name="灯片编号占位符 1">
            <a:extLst>
              <a:ext uri="{FF2B5EF4-FFF2-40B4-BE49-F238E27FC236}">
                <a16:creationId xmlns:a16="http://schemas.microsoft.com/office/drawing/2014/main" id="{B7287556-2047-4266-9890-EB9C32AC31B3}"/>
              </a:ext>
            </a:extLst>
          </p:cNvPr>
          <p:cNvSpPr>
            <a:spLocks noGrp="1"/>
          </p:cNvSpPr>
          <p:nvPr>
            <p:ph type="sldNum" sz="quarter" idx="12"/>
          </p:nvPr>
        </p:nvSpPr>
        <p:spPr/>
        <p:txBody>
          <a:bodyPr/>
          <a:lstStyle/>
          <a:p>
            <a:fld id="{49AE70B2-8BF9-45C0-BB95-33D1B9D3A854}" type="slidenum">
              <a:rPr lang="zh-CN" altLang="en-US" smtClean="0"/>
              <a:t>42</a:t>
            </a:fld>
            <a:endParaRPr lang="zh-CN" altLang="en-US"/>
          </a:p>
        </p:txBody>
      </p:sp>
    </p:spTree>
    <p:extLst>
      <p:ext uri="{BB962C8B-B14F-4D97-AF65-F5344CB8AC3E}">
        <p14:creationId xmlns:p14="http://schemas.microsoft.com/office/powerpoint/2010/main" val="26873815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13.2.7 </a:t>
            </a:r>
            <a:r>
              <a:rPr lang="zh-CN" altLang="en-US" dirty="0"/>
              <a:t>滚动条和刻度条</a:t>
            </a:r>
          </a:p>
        </p:txBody>
      </p:sp>
      <p:sp>
        <p:nvSpPr>
          <p:cNvPr id="3" name="内容占位符 2"/>
          <p:cNvSpPr>
            <a:spLocks noGrp="1"/>
          </p:cNvSpPr>
          <p:nvPr>
            <p:ph idx="1"/>
          </p:nvPr>
        </p:nvSpPr>
        <p:spPr/>
        <p:txBody>
          <a:bodyPr>
            <a:normAutofit/>
          </a:bodyPr>
          <a:lstStyle/>
          <a:p>
            <a:pPr marL="0" indent="0">
              <a:buNone/>
            </a:pPr>
            <a:r>
              <a:rPr lang="en-US" altLang="zh-CN" dirty="0"/>
              <a:t>2</a:t>
            </a:r>
            <a:r>
              <a:rPr lang="zh-CN" altLang="en-US" dirty="0"/>
              <a:t>．刻度条</a:t>
            </a:r>
            <a:r>
              <a:rPr lang="en-US" altLang="zh-CN" dirty="0"/>
              <a:t>Scale</a:t>
            </a:r>
            <a:r>
              <a:rPr lang="zh-CN" altLang="en-US" dirty="0"/>
              <a:t>控件</a:t>
            </a:r>
          </a:p>
          <a:p>
            <a:pPr lvl="1"/>
            <a:r>
              <a:rPr lang="en-US" altLang="zh-CN" dirty="0"/>
              <a:t>Scale</a:t>
            </a:r>
            <a:r>
              <a:rPr lang="zh-CN" altLang="en-US" dirty="0"/>
              <a:t>控件可以输出限定数字区间内的某个数值。</a:t>
            </a:r>
          </a:p>
          <a:p>
            <a:pPr marL="0" indent="0">
              <a:buNone/>
            </a:pPr>
            <a:r>
              <a:rPr lang="zh-CN" altLang="en-US" dirty="0"/>
              <a:t>变量 </a:t>
            </a:r>
            <a:r>
              <a:rPr lang="en-US" altLang="zh-CN" dirty="0"/>
              <a:t>= Scale (</a:t>
            </a:r>
            <a:r>
              <a:rPr lang="zh-CN" altLang="en-US" dirty="0"/>
              <a:t>父容器对象名</a:t>
            </a:r>
            <a:r>
              <a:rPr lang="en-US" altLang="zh-CN" dirty="0"/>
              <a:t>[, from_=</a:t>
            </a:r>
            <a:r>
              <a:rPr lang="zh-CN" altLang="en-US" dirty="0"/>
              <a:t>最小值</a:t>
            </a:r>
            <a:r>
              <a:rPr lang="en-US" altLang="zh-CN" dirty="0"/>
              <a:t>[, to=</a:t>
            </a:r>
            <a:r>
              <a:rPr lang="zh-CN" altLang="en-US" dirty="0"/>
              <a:t>最大值</a:t>
            </a:r>
            <a:r>
              <a:rPr lang="en-US" altLang="zh-CN" dirty="0"/>
              <a:t>[, resolution=</a:t>
            </a:r>
            <a:r>
              <a:rPr lang="zh-CN" altLang="en-US" dirty="0"/>
              <a:t>步长</a:t>
            </a:r>
            <a:r>
              <a:rPr lang="en-US" altLang="zh-CN" dirty="0"/>
              <a:t>[, orient=HORIZONTAL[, variable=</a:t>
            </a:r>
            <a:r>
              <a:rPr lang="zh-CN" altLang="en-US" dirty="0"/>
              <a:t>变量</a:t>
            </a:r>
            <a:r>
              <a:rPr lang="en-US" altLang="zh-CN" dirty="0"/>
              <a:t>[, command=</a:t>
            </a:r>
            <a:r>
              <a:rPr lang="zh-CN" altLang="en-US" dirty="0"/>
              <a:t>事件响应函数或命令</a:t>
            </a:r>
            <a:r>
              <a:rPr lang="en-US" altLang="zh-CN" dirty="0"/>
              <a:t>]]]]]])</a:t>
            </a:r>
          </a:p>
          <a:p>
            <a:pPr lvl="1"/>
            <a:r>
              <a:rPr lang="zh-CN" altLang="en-US" dirty="0"/>
              <a:t>参数</a:t>
            </a:r>
            <a:r>
              <a:rPr lang="en-US" altLang="zh-CN" dirty="0"/>
              <a:t>from_</a:t>
            </a:r>
            <a:r>
              <a:rPr lang="zh-CN" altLang="en-US" dirty="0"/>
              <a:t>后的下划线不能缺少</a:t>
            </a:r>
            <a:endParaRPr lang="en-US" altLang="zh-CN" dirty="0"/>
          </a:p>
          <a:p>
            <a:pPr lvl="1"/>
            <a:r>
              <a:rPr lang="en-US" altLang="zh-CN" dirty="0"/>
              <a:t>command</a:t>
            </a:r>
            <a:r>
              <a:rPr lang="zh-CN" altLang="en-US" dirty="0"/>
              <a:t>属性对应的响应函数有一个</a:t>
            </a:r>
            <a:r>
              <a:rPr lang="en-US" altLang="zh-CN" dirty="0"/>
              <a:t>value</a:t>
            </a:r>
            <a:r>
              <a:rPr lang="zh-CN" altLang="en-US" dirty="0"/>
              <a:t>参数，</a:t>
            </a:r>
            <a:r>
              <a:rPr lang="en-US" altLang="zh-CN" dirty="0"/>
              <a:t>value</a:t>
            </a:r>
            <a:r>
              <a:rPr lang="zh-CN" altLang="en-US" dirty="0"/>
              <a:t>的值代表刻度条的当前值。</a:t>
            </a:r>
          </a:p>
        </p:txBody>
      </p:sp>
      <p:sp>
        <p:nvSpPr>
          <p:cNvPr id="4" name="灯片编号占位符 3">
            <a:extLst>
              <a:ext uri="{FF2B5EF4-FFF2-40B4-BE49-F238E27FC236}">
                <a16:creationId xmlns:a16="http://schemas.microsoft.com/office/drawing/2014/main" id="{A00D8045-3DA8-4C3D-A54E-3570E5E48D7C}"/>
              </a:ext>
            </a:extLst>
          </p:cNvPr>
          <p:cNvSpPr>
            <a:spLocks noGrp="1"/>
          </p:cNvSpPr>
          <p:nvPr>
            <p:ph type="sldNum" sz="quarter" idx="12"/>
          </p:nvPr>
        </p:nvSpPr>
        <p:spPr/>
        <p:txBody>
          <a:bodyPr/>
          <a:lstStyle/>
          <a:p>
            <a:fld id="{49AE70B2-8BF9-45C0-BB95-33D1B9D3A854}" type="slidenum">
              <a:rPr lang="zh-CN" altLang="en-US" smtClean="0"/>
              <a:t>43</a:t>
            </a:fld>
            <a:endParaRPr lang="zh-CN" altLang="en-US"/>
          </a:p>
        </p:txBody>
      </p:sp>
    </p:spTree>
    <p:extLst>
      <p:ext uri="{BB962C8B-B14F-4D97-AF65-F5344CB8AC3E}">
        <p14:creationId xmlns:p14="http://schemas.microsoft.com/office/powerpoint/2010/main" val="37289385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Scale</a:t>
            </a:r>
            <a:r>
              <a:rPr lang="zh-CN" altLang="en-US" dirty="0"/>
              <a:t>控件的常用属性</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44953121"/>
              </p:ext>
            </p:extLst>
          </p:nvPr>
        </p:nvGraphicFramePr>
        <p:xfrm>
          <a:off x="953100" y="1556792"/>
          <a:ext cx="10285799" cy="3816424"/>
        </p:xfrm>
        <a:graphic>
          <a:graphicData uri="http://schemas.openxmlformats.org/drawingml/2006/table">
            <a:tbl>
              <a:tblPr firstRow="1" firstCol="1" bandRow="1">
                <a:tableStyleId>{5C22544A-7EE6-4342-B048-85BDC9FD1C3A}</a:tableStyleId>
              </a:tblPr>
              <a:tblGrid>
                <a:gridCol w="2016224">
                  <a:extLst>
                    <a:ext uri="{9D8B030D-6E8A-4147-A177-3AD203B41FA5}">
                      <a16:colId xmlns:a16="http://schemas.microsoft.com/office/drawing/2014/main" val="357449059"/>
                    </a:ext>
                  </a:extLst>
                </a:gridCol>
                <a:gridCol w="8269575">
                  <a:extLst>
                    <a:ext uri="{9D8B030D-6E8A-4147-A177-3AD203B41FA5}">
                      <a16:colId xmlns:a16="http://schemas.microsoft.com/office/drawing/2014/main" val="3254289361"/>
                    </a:ext>
                  </a:extLst>
                </a:gridCol>
              </a:tblGrid>
              <a:tr h="514278">
                <a:tc>
                  <a:txBody>
                    <a:bodyPr/>
                    <a:lstStyle/>
                    <a:p>
                      <a:pPr indent="266700" algn="ctr">
                        <a:spcAft>
                          <a:spcPts val="0"/>
                        </a:spcAft>
                      </a:pPr>
                      <a:r>
                        <a:rPr lang="zh-CN" sz="2400" kern="100">
                          <a:effectLst/>
                        </a:rPr>
                        <a:t>属性</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ctr">
                        <a:spcAft>
                          <a:spcPts val="0"/>
                        </a:spcAft>
                      </a:pPr>
                      <a:r>
                        <a:rPr lang="zh-CN" sz="2400" kern="100">
                          <a:effectLst/>
                        </a:rPr>
                        <a:t>作用及用法</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952058996"/>
                  </a:ext>
                </a:extLst>
              </a:tr>
              <a:tr h="440810">
                <a:tc>
                  <a:txBody>
                    <a:bodyPr/>
                    <a:lstStyle/>
                    <a:p>
                      <a:pPr indent="266700" algn="l">
                        <a:spcAft>
                          <a:spcPts val="0"/>
                        </a:spcAft>
                      </a:pPr>
                      <a:r>
                        <a:rPr lang="en-US" sz="2400" kern="100" dirty="0">
                          <a:effectLst/>
                        </a:rPr>
                        <a:t>from_</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dirty="0">
                          <a:effectLst/>
                        </a:rPr>
                        <a:t>限定区间的最小值，默认值为</a:t>
                      </a:r>
                      <a:r>
                        <a:rPr lang="en-US" sz="2400" kern="100" dirty="0">
                          <a:effectLst/>
                        </a:rPr>
                        <a:t>0</a:t>
                      </a:r>
                      <a:r>
                        <a:rPr lang="zh-CN" sz="2400" kern="100" dirty="0">
                          <a:effectLst/>
                        </a:rPr>
                        <a:t>。</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4664588"/>
                  </a:ext>
                </a:extLst>
              </a:tr>
              <a:tr h="440810">
                <a:tc>
                  <a:txBody>
                    <a:bodyPr/>
                    <a:lstStyle/>
                    <a:p>
                      <a:pPr indent="266700" algn="l">
                        <a:spcAft>
                          <a:spcPts val="0"/>
                        </a:spcAft>
                      </a:pPr>
                      <a:r>
                        <a:rPr lang="en-US" sz="2400" kern="100">
                          <a:effectLst/>
                        </a:rPr>
                        <a:t>to</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dirty="0">
                          <a:effectLst/>
                        </a:rPr>
                        <a:t>限定区间的最大值，默认值为</a:t>
                      </a:r>
                      <a:r>
                        <a:rPr lang="en-US" sz="2400" kern="100" dirty="0">
                          <a:effectLst/>
                        </a:rPr>
                        <a:t>100</a:t>
                      </a:r>
                      <a:r>
                        <a:rPr lang="zh-CN" sz="2400" kern="100" dirty="0">
                          <a:effectLst/>
                        </a:rPr>
                        <a:t>。</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79192599"/>
                  </a:ext>
                </a:extLst>
              </a:tr>
              <a:tr h="548389">
                <a:tc>
                  <a:txBody>
                    <a:bodyPr/>
                    <a:lstStyle/>
                    <a:p>
                      <a:pPr indent="266700" algn="l">
                        <a:spcAft>
                          <a:spcPts val="0"/>
                        </a:spcAft>
                      </a:pPr>
                      <a:r>
                        <a:rPr lang="en-US" sz="2400" kern="100">
                          <a:effectLst/>
                        </a:rPr>
                        <a:t>resolution</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dirty="0">
                          <a:effectLst/>
                        </a:rPr>
                        <a:t>指定移动滑块跳动一下递增递减的值，默认值为</a:t>
                      </a:r>
                      <a:r>
                        <a:rPr lang="en-US" sz="2400" kern="100" dirty="0">
                          <a:effectLst/>
                        </a:rPr>
                        <a:t>1</a:t>
                      </a:r>
                      <a:r>
                        <a:rPr lang="zh-CN" sz="2400" kern="100" dirty="0">
                          <a:effectLst/>
                        </a:rPr>
                        <a:t>。</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89905827"/>
                  </a:ext>
                </a:extLst>
              </a:tr>
              <a:tr h="759683">
                <a:tc>
                  <a:txBody>
                    <a:bodyPr/>
                    <a:lstStyle/>
                    <a:p>
                      <a:pPr indent="266700" algn="l">
                        <a:spcAft>
                          <a:spcPts val="0"/>
                        </a:spcAft>
                      </a:pPr>
                      <a:r>
                        <a:rPr lang="en-US" sz="2400" kern="100">
                          <a:effectLst/>
                        </a:rPr>
                        <a:t>orient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dirty="0">
                          <a:effectLst/>
                        </a:rPr>
                        <a:t>参数</a:t>
                      </a:r>
                      <a:r>
                        <a:rPr lang="en-US" sz="2400" kern="100" dirty="0">
                          <a:effectLst/>
                        </a:rPr>
                        <a:t>orient</a:t>
                      </a:r>
                      <a:r>
                        <a:rPr lang="zh-CN" sz="2400" kern="100" dirty="0">
                          <a:effectLst/>
                        </a:rPr>
                        <a:t>缺省时，默认为垂直滚动条，指定为</a:t>
                      </a:r>
                      <a:r>
                        <a:rPr lang="en-US" sz="2400" kern="100" dirty="0">
                          <a:effectLst/>
                        </a:rPr>
                        <a:t>HORIZONTAL</a:t>
                      </a:r>
                      <a:r>
                        <a:rPr lang="zh-CN" sz="2400" kern="100" dirty="0">
                          <a:effectLst/>
                        </a:rPr>
                        <a:t>后为水平滚动条。</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95028605"/>
                  </a:ext>
                </a:extLst>
              </a:tr>
              <a:tr h="514278">
                <a:tc>
                  <a:txBody>
                    <a:bodyPr/>
                    <a:lstStyle/>
                    <a:p>
                      <a:pPr indent="266700" algn="l">
                        <a:spcAft>
                          <a:spcPts val="0"/>
                        </a:spcAft>
                      </a:pPr>
                      <a:r>
                        <a:rPr lang="en-US" sz="2400" kern="100">
                          <a:effectLst/>
                        </a:rPr>
                        <a:t>variable</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dirty="0">
                          <a:effectLst/>
                        </a:rPr>
                        <a:t>指定与刻度条绑定的变量。</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61387325"/>
                  </a:ext>
                </a:extLst>
              </a:tr>
              <a:tr h="598176">
                <a:tc>
                  <a:txBody>
                    <a:bodyPr/>
                    <a:lstStyle/>
                    <a:p>
                      <a:pPr indent="266700" algn="l">
                        <a:spcAft>
                          <a:spcPts val="0"/>
                        </a:spcAft>
                      </a:pPr>
                      <a:r>
                        <a:rPr lang="en-US" sz="2400" kern="100" dirty="0">
                          <a:effectLst/>
                        </a:rPr>
                        <a:t>command</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l">
                        <a:spcAft>
                          <a:spcPts val="0"/>
                        </a:spcAft>
                      </a:pPr>
                      <a:r>
                        <a:rPr lang="zh-CN" sz="2400" kern="100" dirty="0">
                          <a:effectLst/>
                        </a:rPr>
                        <a:t>刻度值发生变化时系统会执行的响应代码。</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12246443"/>
                  </a:ext>
                </a:extLst>
              </a:tr>
            </a:tbl>
          </a:graphicData>
        </a:graphic>
      </p:graphicFrame>
      <p:sp>
        <p:nvSpPr>
          <p:cNvPr id="3" name="灯片编号占位符 2">
            <a:extLst>
              <a:ext uri="{FF2B5EF4-FFF2-40B4-BE49-F238E27FC236}">
                <a16:creationId xmlns:a16="http://schemas.microsoft.com/office/drawing/2014/main" id="{0A2CFA59-5898-46B9-8B2F-F28764C9FC0C}"/>
              </a:ext>
            </a:extLst>
          </p:cNvPr>
          <p:cNvSpPr>
            <a:spLocks noGrp="1"/>
          </p:cNvSpPr>
          <p:nvPr>
            <p:ph type="sldNum" sz="quarter" idx="12"/>
          </p:nvPr>
        </p:nvSpPr>
        <p:spPr/>
        <p:txBody>
          <a:bodyPr/>
          <a:lstStyle/>
          <a:p>
            <a:fld id="{49AE70B2-8BF9-45C0-BB95-33D1B9D3A854}" type="slidenum">
              <a:rPr lang="zh-CN" altLang="en-US" smtClean="0"/>
              <a:t>44</a:t>
            </a:fld>
            <a:endParaRPr lang="zh-CN" altLang="en-US"/>
          </a:p>
        </p:txBody>
      </p:sp>
    </p:spTree>
    <p:extLst>
      <p:ext uri="{BB962C8B-B14F-4D97-AF65-F5344CB8AC3E}">
        <p14:creationId xmlns:p14="http://schemas.microsoft.com/office/powerpoint/2010/main" val="2587015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滚动条和刻度条的示例</a:t>
            </a:r>
          </a:p>
        </p:txBody>
      </p:sp>
      <p:sp>
        <p:nvSpPr>
          <p:cNvPr id="3" name="内容占位符 2"/>
          <p:cNvSpPr>
            <a:spLocks noGrp="1"/>
          </p:cNvSpPr>
          <p:nvPr>
            <p:ph sz="half" idx="1"/>
          </p:nvPr>
        </p:nvSpPr>
        <p:spPr/>
        <p:txBody>
          <a:bodyPr/>
          <a:lstStyle/>
          <a:p>
            <a:r>
              <a:rPr lang="en-US" altLang="zh-CN" dirty="0"/>
              <a:t>【</a:t>
            </a:r>
            <a:r>
              <a:rPr lang="zh-CN" altLang="en-US" dirty="0"/>
              <a:t>例</a:t>
            </a:r>
            <a:r>
              <a:rPr lang="en-US" altLang="zh-CN" dirty="0"/>
              <a:t>13-13】</a:t>
            </a:r>
            <a:r>
              <a:rPr lang="zh-CN" altLang="en-US" dirty="0"/>
              <a:t>列表框与滚动条绑定的演示代码。</a:t>
            </a:r>
          </a:p>
        </p:txBody>
      </p:sp>
      <p:sp>
        <p:nvSpPr>
          <p:cNvPr id="4" name="内容占位符 3"/>
          <p:cNvSpPr>
            <a:spLocks noGrp="1"/>
          </p:cNvSpPr>
          <p:nvPr>
            <p:ph sz="half" idx="2"/>
          </p:nvPr>
        </p:nvSpPr>
        <p:spPr/>
        <p:txBody>
          <a:bodyPr/>
          <a:lstStyle/>
          <a:p>
            <a:r>
              <a:rPr lang="zh-CN" altLang="zh-CN" dirty="0"/>
              <a:t>【例</a:t>
            </a:r>
            <a:r>
              <a:rPr lang="en-US" altLang="zh-CN" dirty="0"/>
              <a:t>13-14</a:t>
            </a:r>
            <a:r>
              <a:rPr lang="zh-CN" altLang="zh-CN" dirty="0"/>
              <a:t>】刻度条的功能演示。</a:t>
            </a:r>
            <a:endParaRPr lang="zh-CN" altLang="en-US" dirty="0"/>
          </a:p>
        </p:txBody>
      </p:sp>
      <p:pic>
        <p:nvPicPr>
          <p:cNvPr id="5" name="图片 4"/>
          <p:cNvPicPr>
            <a:picLocks noChangeAspect="1"/>
          </p:cNvPicPr>
          <p:nvPr/>
        </p:nvPicPr>
        <p:blipFill>
          <a:blip r:embed="rId2"/>
          <a:stretch>
            <a:fillRect/>
          </a:stretch>
        </p:blipFill>
        <p:spPr>
          <a:xfrm>
            <a:off x="2086522" y="2286534"/>
            <a:ext cx="2450058" cy="3245654"/>
          </a:xfrm>
          <a:prstGeom prst="rect">
            <a:avLst/>
          </a:prstGeom>
        </p:spPr>
      </p:pic>
      <p:pic>
        <p:nvPicPr>
          <p:cNvPr id="6" name="图片 5"/>
          <p:cNvPicPr>
            <a:picLocks noChangeAspect="1"/>
          </p:cNvPicPr>
          <p:nvPr/>
        </p:nvPicPr>
        <p:blipFill>
          <a:blip r:embed="rId3"/>
          <a:stretch>
            <a:fillRect/>
          </a:stretch>
        </p:blipFill>
        <p:spPr>
          <a:xfrm>
            <a:off x="7320136" y="2303160"/>
            <a:ext cx="2520280" cy="1908918"/>
          </a:xfrm>
          <a:prstGeom prst="rect">
            <a:avLst/>
          </a:prstGeom>
        </p:spPr>
      </p:pic>
      <p:sp>
        <p:nvSpPr>
          <p:cNvPr id="7" name="灯片编号占位符 6">
            <a:extLst>
              <a:ext uri="{FF2B5EF4-FFF2-40B4-BE49-F238E27FC236}">
                <a16:creationId xmlns:a16="http://schemas.microsoft.com/office/drawing/2014/main" id="{1C438021-477A-443B-B898-FE3F151DD32E}"/>
              </a:ext>
            </a:extLst>
          </p:cNvPr>
          <p:cNvSpPr>
            <a:spLocks noGrp="1"/>
          </p:cNvSpPr>
          <p:nvPr>
            <p:ph type="sldNum" sz="quarter" idx="12"/>
          </p:nvPr>
        </p:nvSpPr>
        <p:spPr/>
        <p:txBody>
          <a:bodyPr/>
          <a:lstStyle/>
          <a:p>
            <a:fld id="{49AE70B2-8BF9-45C0-BB95-33D1B9D3A854}" type="slidenum">
              <a:rPr lang="zh-CN" altLang="en-US" smtClean="0"/>
              <a:t>45</a:t>
            </a:fld>
            <a:endParaRPr lang="zh-CN" altLang="en-US"/>
          </a:p>
        </p:txBody>
      </p:sp>
    </p:spTree>
    <p:extLst>
      <p:ext uri="{BB962C8B-B14F-4D97-AF65-F5344CB8AC3E}">
        <p14:creationId xmlns:p14="http://schemas.microsoft.com/office/powerpoint/2010/main" val="10228591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13.2.8 </a:t>
            </a:r>
            <a:r>
              <a:rPr lang="zh-CN" altLang="en-US" dirty="0"/>
              <a:t>框架</a:t>
            </a:r>
          </a:p>
        </p:txBody>
      </p:sp>
      <p:sp>
        <p:nvSpPr>
          <p:cNvPr id="6" name="内容占位符 5"/>
          <p:cNvSpPr>
            <a:spLocks noGrp="1"/>
          </p:cNvSpPr>
          <p:nvPr>
            <p:ph idx="1"/>
          </p:nvPr>
        </p:nvSpPr>
        <p:spPr/>
        <p:txBody>
          <a:bodyPr>
            <a:normAutofit/>
          </a:bodyPr>
          <a:lstStyle/>
          <a:p>
            <a:pPr marL="0" indent="0">
              <a:buNone/>
            </a:pPr>
            <a:r>
              <a:rPr lang="en-US" altLang="zh-CN" dirty="0"/>
              <a:t>1</a:t>
            </a:r>
            <a:r>
              <a:rPr lang="zh-CN" altLang="en-US" dirty="0"/>
              <a:t>．框架</a:t>
            </a:r>
            <a:r>
              <a:rPr lang="en-US" altLang="zh-CN" dirty="0"/>
              <a:t>Frame</a:t>
            </a:r>
            <a:r>
              <a:rPr lang="zh-CN" altLang="en-US" dirty="0"/>
              <a:t>控件</a:t>
            </a:r>
            <a:endParaRPr lang="en-US" altLang="zh-CN" dirty="0"/>
          </a:p>
          <a:p>
            <a:pPr lvl="1"/>
            <a:r>
              <a:rPr lang="en-US" altLang="zh-CN" dirty="0"/>
              <a:t>Frame</a:t>
            </a:r>
            <a:r>
              <a:rPr lang="zh-CN" altLang="en-US" dirty="0"/>
              <a:t>（框架）显示为一个矩形区域，它是一个容器控件，用于包含其他控件。</a:t>
            </a:r>
          </a:p>
          <a:p>
            <a:pPr marL="0" indent="0">
              <a:buNone/>
            </a:pPr>
            <a:r>
              <a:rPr lang="zh-CN" altLang="en-US" dirty="0"/>
              <a:t>变量 </a:t>
            </a:r>
            <a:r>
              <a:rPr lang="en-US" altLang="zh-CN" dirty="0"/>
              <a:t>= Frame(</a:t>
            </a:r>
            <a:r>
              <a:rPr lang="zh-CN" altLang="en-US" dirty="0"/>
              <a:t>父容器对象名</a:t>
            </a:r>
            <a:r>
              <a:rPr lang="en-US" altLang="zh-CN" dirty="0"/>
              <a:t>[, </a:t>
            </a:r>
            <a:r>
              <a:rPr lang="en-US" altLang="zh-CN" dirty="0" err="1"/>
              <a:t>bd</a:t>
            </a:r>
            <a:r>
              <a:rPr lang="en-US" altLang="zh-CN" dirty="0"/>
              <a:t>=</a:t>
            </a:r>
            <a:r>
              <a:rPr lang="zh-CN" altLang="en-US" dirty="0"/>
              <a:t>边框粗细</a:t>
            </a:r>
            <a:r>
              <a:rPr lang="en-US" altLang="zh-CN" dirty="0"/>
              <a:t>[, relief=</a:t>
            </a:r>
            <a:r>
              <a:rPr lang="zh-CN" altLang="en-US" dirty="0"/>
              <a:t>边框</a:t>
            </a:r>
            <a:r>
              <a:rPr lang="en-US" altLang="zh-CN" dirty="0"/>
              <a:t>3D</a:t>
            </a:r>
            <a:r>
              <a:rPr lang="zh-CN" altLang="en-US" dirty="0"/>
              <a:t>效果</a:t>
            </a:r>
            <a:r>
              <a:rPr lang="en-US" altLang="zh-CN" dirty="0"/>
              <a:t>[,…]]])</a:t>
            </a:r>
          </a:p>
          <a:p>
            <a:pPr lvl="1"/>
            <a:r>
              <a:rPr lang="zh-CN" altLang="en-US" dirty="0"/>
              <a:t>被框架包含的控件在创建时，第一个参数需要设置为框架。</a:t>
            </a:r>
            <a:endParaRPr lang="en-US" altLang="zh-CN" dirty="0"/>
          </a:p>
          <a:p>
            <a:pPr lvl="1"/>
            <a:r>
              <a:rPr lang="zh-CN" altLang="en-US" dirty="0"/>
              <a:t>框架作用：控件分组，或利用框架进行空间分割或填充。</a:t>
            </a:r>
          </a:p>
        </p:txBody>
      </p:sp>
      <p:sp>
        <p:nvSpPr>
          <p:cNvPr id="2" name="灯片编号占位符 1">
            <a:extLst>
              <a:ext uri="{FF2B5EF4-FFF2-40B4-BE49-F238E27FC236}">
                <a16:creationId xmlns:a16="http://schemas.microsoft.com/office/drawing/2014/main" id="{EC24BCC5-69D3-438E-8FE3-B80F250FB34B}"/>
              </a:ext>
            </a:extLst>
          </p:cNvPr>
          <p:cNvSpPr>
            <a:spLocks noGrp="1"/>
          </p:cNvSpPr>
          <p:nvPr>
            <p:ph type="sldNum" sz="quarter" idx="12"/>
          </p:nvPr>
        </p:nvSpPr>
        <p:spPr/>
        <p:txBody>
          <a:bodyPr/>
          <a:lstStyle/>
          <a:p>
            <a:fld id="{49AE70B2-8BF9-45C0-BB95-33D1B9D3A854}" type="slidenum">
              <a:rPr lang="zh-CN" altLang="en-US" smtClean="0"/>
              <a:t>46</a:t>
            </a:fld>
            <a:endParaRPr lang="zh-CN" altLang="en-US"/>
          </a:p>
        </p:txBody>
      </p:sp>
    </p:spTree>
    <p:extLst>
      <p:ext uri="{BB962C8B-B14F-4D97-AF65-F5344CB8AC3E}">
        <p14:creationId xmlns:p14="http://schemas.microsoft.com/office/powerpoint/2010/main" val="25586159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13.2.8 </a:t>
            </a:r>
            <a:r>
              <a:rPr lang="zh-CN" altLang="en-US"/>
              <a:t>框架</a:t>
            </a:r>
            <a:endParaRPr lang="zh-CN" altLang="en-US" dirty="0"/>
          </a:p>
        </p:txBody>
      </p:sp>
      <p:sp>
        <p:nvSpPr>
          <p:cNvPr id="6" name="内容占位符 5"/>
          <p:cNvSpPr>
            <a:spLocks noGrp="1"/>
          </p:cNvSpPr>
          <p:nvPr>
            <p:ph idx="1"/>
          </p:nvPr>
        </p:nvSpPr>
        <p:spPr/>
        <p:txBody>
          <a:bodyPr>
            <a:normAutofit/>
          </a:bodyPr>
          <a:lstStyle/>
          <a:p>
            <a:pPr marL="0" indent="0">
              <a:buNone/>
            </a:pPr>
            <a:r>
              <a:rPr lang="en-US" altLang="zh-CN" dirty="0"/>
              <a:t>2</a:t>
            </a:r>
            <a:r>
              <a:rPr lang="zh-CN" altLang="en-US" dirty="0"/>
              <a:t>．	标题框架</a:t>
            </a:r>
            <a:r>
              <a:rPr lang="en-US" altLang="zh-CN" dirty="0" err="1"/>
              <a:t>LabelFrame</a:t>
            </a:r>
            <a:r>
              <a:rPr lang="zh-CN" altLang="en-US" dirty="0"/>
              <a:t>控件</a:t>
            </a:r>
          </a:p>
          <a:p>
            <a:pPr lvl="1"/>
            <a:r>
              <a:rPr lang="en-US" altLang="zh-CN" dirty="0" err="1"/>
              <a:t>LabelFrame</a:t>
            </a:r>
            <a:r>
              <a:rPr lang="zh-CN" altLang="en-US" dirty="0"/>
              <a:t>控件比</a:t>
            </a:r>
            <a:r>
              <a:rPr lang="en-US" altLang="zh-CN" dirty="0"/>
              <a:t>Frame</a:t>
            </a:r>
            <a:r>
              <a:rPr lang="zh-CN" altLang="en-US" dirty="0"/>
              <a:t>控件多了文字提示部分，且默认的边框线是</a:t>
            </a:r>
            <a:r>
              <a:rPr lang="en-US" altLang="zh-CN" dirty="0"/>
              <a:t>3D</a:t>
            </a:r>
            <a:r>
              <a:rPr lang="zh-CN" altLang="en-US" dirty="0"/>
              <a:t>风格的。</a:t>
            </a:r>
            <a:endParaRPr lang="en-US" altLang="zh-CN" dirty="0"/>
          </a:p>
          <a:p>
            <a:pPr marL="457200" lvl="1" indent="0">
              <a:buNone/>
            </a:pPr>
            <a:r>
              <a:rPr lang="zh-CN" altLang="en-US" dirty="0"/>
              <a:t>变量 </a:t>
            </a:r>
            <a:r>
              <a:rPr lang="en-US" altLang="zh-CN" dirty="0"/>
              <a:t>= </a:t>
            </a:r>
            <a:r>
              <a:rPr lang="en-US" altLang="zh-CN" dirty="0" err="1"/>
              <a:t>LabelFrame</a:t>
            </a:r>
            <a:r>
              <a:rPr lang="en-US" altLang="zh-CN" dirty="0"/>
              <a:t>(</a:t>
            </a:r>
            <a:r>
              <a:rPr lang="zh-CN" altLang="en-US" dirty="0"/>
              <a:t>父容器对象名</a:t>
            </a:r>
            <a:r>
              <a:rPr lang="en-US" altLang="zh-CN" dirty="0"/>
              <a:t>[, text=</a:t>
            </a:r>
            <a:r>
              <a:rPr lang="zh-CN" altLang="en-US" dirty="0"/>
              <a:t>文字提示</a:t>
            </a:r>
            <a:r>
              <a:rPr lang="en-US" altLang="zh-CN" dirty="0"/>
              <a:t>[,…]])</a:t>
            </a:r>
          </a:p>
          <a:p>
            <a:endParaRPr lang="en-US" altLang="zh-CN" dirty="0"/>
          </a:p>
        </p:txBody>
      </p:sp>
      <p:sp>
        <p:nvSpPr>
          <p:cNvPr id="2" name="灯片编号占位符 1">
            <a:extLst>
              <a:ext uri="{FF2B5EF4-FFF2-40B4-BE49-F238E27FC236}">
                <a16:creationId xmlns:a16="http://schemas.microsoft.com/office/drawing/2014/main" id="{275E3D13-5558-4821-821A-D14AB92EBCCE}"/>
              </a:ext>
            </a:extLst>
          </p:cNvPr>
          <p:cNvSpPr>
            <a:spLocks noGrp="1"/>
          </p:cNvSpPr>
          <p:nvPr>
            <p:ph type="sldNum" sz="quarter" idx="12"/>
          </p:nvPr>
        </p:nvSpPr>
        <p:spPr/>
        <p:txBody>
          <a:bodyPr/>
          <a:lstStyle/>
          <a:p>
            <a:fld id="{49AE70B2-8BF9-45C0-BB95-33D1B9D3A854}" type="slidenum">
              <a:rPr lang="zh-CN" altLang="en-US" smtClean="0"/>
              <a:t>47</a:t>
            </a:fld>
            <a:endParaRPr lang="zh-CN" altLang="en-US"/>
          </a:p>
        </p:txBody>
      </p:sp>
    </p:spTree>
    <p:extLst>
      <p:ext uri="{BB962C8B-B14F-4D97-AF65-F5344CB8AC3E}">
        <p14:creationId xmlns:p14="http://schemas.microsoft.com/office/powerpoint/2010/main" val="19597082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框架的示例</a:t>
            </a:r>
          </a:p>
        </p:txBody>
      </p:sp>
      <p:sp>
        <p:nvSpPr>
          <p:cNvPr id="3" name="内容占位符 2"/>
          <p:cNvSpPr>
            <a:spLocks noGrp="1"/>
          </p:cNvSpPr>
          <p:nvPr>
            <p:ph sz="half" idx="1"/>
          </p:nvPr>
        </p:nvSpPr>
        <p:spPr/>
        <p:txBody>
          <a:bodyPr/>
          <a:lstStyle/>
          <a:p>
            <a:r>
              <a:rPr lang="en-US" altLang="zh-CN" dirty="0"/>
              <a:t>【</a:t>
            </a:r>
            <a:r>
              <a:rPr lang="zh-CN" altLang="en-US" dirty="0"/>
              <a:t>例</a:t>
            </a:r>
            <a:r>
              <a:rPr lang="en-US" altLang="zh-CN" dirty="0"/>
              <a:t>13-15】</a:t>
            </a:r>
            <a:r>
              <a:rPr lang="zh-CN" altLang="en-US" dirty="0"/>
              <a:t>框架的功能演示。</a:t>
            </a:r>
          </a:p>
          <a:p>
            <a:endParaRPr lang="zh-CN" altLang="en-US" dirty="0"/>
          </a:p>
        </p:txBody>
      </p:sp>
      <p:sp>
        <p:nvSpPr>
          <p:cNvPr id="4" name="内容占位符 3"/>
          <p:cNvSpPr>
            <a:spLocks noGrp="1"/>
          </p:cNvSpPr>
          <p:nvPr>
            <p:ph sz="half" idx="2"/>
          </p:nvPr>
        </p:nvSpPr>
        <p:spPr/>
        <p:txBody>
          <a:bodyPr/>
          <a:lstStyle/>
          <a:p>
            <a:r>
              <a:rPr lang="en-US" altLang="zh-CN" dirty="0"/>
              <a:t>【</a:t>
            </a:r>
            <a:r>
              <a:rPr lang="zh-CN" altLang="en-US" dirty="0"/>
              <a:t>例</a:t>
            </a:r>
            <a:r>
              <a:rPr lang="en-US" altLang="zh-CN" dirty="0"/>
              <a:t>13-16】</a:t>
            </a:r>
            <a:r>
              <a:rPr lang="zh-CN" altLang="en-US" dirty="0"/>
              <a:t>标题框架的功能演示。</a:t>
            </a:r>
          </a:p>
          <a:p>
            <a:endParaRPr lang="zh-CN" altLang="en-US" dirty="0"/>
          </a:p>
        </p:txBody>
      </p:sp>
      <p:pic>
        <p:nvPicPr>
          <p:cNvPr id="5" name="图片 4"/>
          <p:cNvPicPr>
            <a:picLocks noChangeAspect="1"/>
          </p:cNvPicPr>
          <p:nvPr/>
        </p:nvPicPr>
        <p:blipFill>
          <a:blip r:embed="rId2"/>
          <a:stretch>
            <a:fillRect/>
          </a:stretch>
        </p:blipFill>
        <p:spPr>
          <a:xfrm>
            <a:off x="1991544" y="2708920"/>
            <a:ext cx="2435631" cy="1796777"/>
          </a:xfrm>
          <a:prstGeom prst="rect">
            <a:avLst/>
          </a:prstGeom>
        </p:spPr>
      </p:pic>
      <p:pic>
        <p:nvPicPr>
          <p:cNvPr id="6" name="图片 5"/>
          <p:cNvPicPr>
            <a:picLocks noChangeAspect="1"/>
          </p:cNvPicPr>
          <p:nvPr/>
        </p:nvPicPr>
        <p:blipFill>
          <a:blip r:embed="rId3"/>
          <a:stretch>
            <a:fillRect/>
          </a:stretch>
        </p:blipFill>
        <p:spPr>
          <a:xfrm>
            <a:off x="7844750" y="2708920"/>
            <a:ext cx="2071496" cy="1816804"/>
          </a:xfrm>
          <a:prstGeom prst="rect">
            <a:avLst/>
          </a:prstGeom>
        </p:spPr>
      </p:pic>
      <p:sp>
        <p:nvSpPr>
          <p:cNvPr id="7" name="灯片编号占位符 6">
            <a:extLst>
              <a:ext uri="{FF2B5EF4-FFF2-40B4-BE49-F238E27FC236}">
                <a16:creationId xmlns:a16="http://schemas.microsoft.com/office/drawing/2014/main" id="{1C41FD7A-BAC3-4A8E-A490-E1EE4141CAA2}"/>
              </a:ext>
            </a:extLst>
          </p:cNvPr>
          <p:cNvSpPr>
            <a:spLocks noGrp="1"/>
          </p:cNvSpPr>
          <p:nvPr>
            <p:ph type="sldNum" sz="quarter" idx="12"/>
          </p:nvPr>
        </p:nvSpPr>
        <p:spPr/>
        <p:txBody>
          <a:bodyPr/>
          <a:lstStyle/>
          <a:p>
            <a:fld id="{49AE70B2-8BF9-45C0-BB95-33D1B9D3A854}" type="slidenum">
              <a:rPr lang="zh-CN" altLang="en-US" smtClean="0"/>
              <a:t>48</a:t>
            </a:fld>
            <a:endParaRPr lang="zh-CN" altLang="en-US"/>
          </a:p>
        </p:txBody>
      </p:sp>
    </p:spTree>
    <p:extLst>
      <p:ext uri="{BB962C8B-B14F-4D97-AF65-F5344CB8AC3E}">
        <p14:creationId xmlns:p14="http://schemas.microsoft.com/office/powerpoint/2010/main" val="33242306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13.2.9 </a:t>
            </a:r>
            <a:r>
              <a:rPr lang="zh-CN" altLang="en-US" dirty="0"/>
              <a:t>菜单</a:t>
            </a:r>
          </a:p>
        </p:txBody>
      </p:sp>
      <p:sp>
        <p:nvSpPr>
          <p:cNvPr id="6" name="内容占位符 5"/>
          <p:cNvSpPr>
            <a:spLocks noGrp="1"/>
          </p:cNvSpPr>
          <p:nvPr>
            <p:ph idx="1"/>
          </p:nvPr>
        </p:nvSpPr>
        <p:spPr>
          <a:xfrm>
            <a:off x="669925" y="1160145"/>
            <a:ext cx="5570091" cy="5180965"/>
          </a:xfrm>
        </p:spPr>
        <p:txBody>
          <a:bodyPr/>
          <a:lstStyle/>
          <a:p>
            <a:pPr marL="0" indent="0">
              <a:buNone/>
            </a:pPr>
            <a:r>
              <a:rPr lang="zh-CN" altLang="en-US" dirty="0"/>
              <a:t>一个窗体的菜单由顶层菜单条、菜单组和菜单项组成。</a:t>
            </a:r>
            <a:endParaRPr lang="en-US" altLang="zh-CN" dirty="0"/>
          </a:p>
          <a:p>
            <a:pPr lvl="1"/>
            <a:r>
              <a:rPr lang="zh-CN" altLang="en-US" dirty="0"/>
              <a:t>菜单项引发相应的动作事件。</a:t>
            </a:r>
            <a:endParaRPr lang="en-US" altLang="zh-CN" dirty="0"/>
          </a:p>
          <a:p>
            <a:pPr lvl="1"/>
            <a:r>
              <a:rPr lang="en-US" altLang="zh-CN" dirty="0" err="1"/>
              <a:t>tkinter</a:t>
            </a:r>
            <a:r>
              <a:rPr lang="zh-CN" altLang="en-US" dirty="0"/>
              <a:t>模块提供了</a:t>
            </a:r>
            <a:r>
              <a:rPr lang="en-US" altLang="zh-CN" dirty="0"/>
              <a:t>Menu</a:t>
            </a:r>
            <a:r>
              <a:rPr lang="zh-CN" altLang="en-US" dirty="0"/>
              <a:t>控件用于创建菜单。</a:t>
            </a:r>
          </a:p>
        </p:txBody>
      </p:sp>
      <p:pic>
        <p:nvPicPr>
          <p:cNvPr id="7" name="图片 6"/>
          <p:cNvPicPr>
            <a:picLocks noChangeAspect="1"/>
          </p:cNvPicPr>
          <p:nvPr/>
        </p:nvPicPr>
        <p:blipFill>
          <a:blip r:embed="rId2"/>
          <a:stretch>
            <a:fillRect/>
          </a:stretch>
        </p:blipFill>
        <p:spPr>
          <a:xfrm>
            <a:off x="7392144" y="1412776"/>
            <a:ext cx="3568089" cy="4427162"/>
          </a:xfrm>
          <a:prstGeom prst="rect">
            <a:avLst/>
          </a:prstGeom>
        </p:spPr>
      </p:pic>
      <p:sp>
        <p:nvSpPr>
          <p:cNvPr id="8" name="矩形 7"/>
          <p:cNvSpPr/>
          <p:nvPr/>
        </p:nvSpPr>
        <p:spPr>
          <a:xfrm>
            <a:off x="7392144" y="1988840"/>
            <a:ext cx="4392488" cy="36004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indent="266700" algn="r">
              <a:spcAft>
                <a:spcPts val="0"/>
              </a:spcAft>
            </a:pPr>
            <a:r>
              <a:rPr lang="zh-CN" sz="2400" kern="100" dirty="0">
                <a:solidFill>
                  <a:srgbClr val="000000"/>
                </a:solidFill>
                <a:effectLst/>
                <a:ea typeface="楷体" panose="02010609060101010101" pitchFamily="49" charset="-122"/>
                <a:cs typeface="Times New Roman" panose="02020603050405020304" pitchFamily="18" charset="0"/>
              </a:rPr>
              <a:t>顶层菜单条</a:t>
            </a:r>
            <a:endParaRPr lang="zh-CN" sz="2400" kern="100" dirty="0">
              <a:effectLst/>
              <a:ea typeface="宋体" panose="02010600030101010101" pitchFamily="2" charset="-122"/>
              <a:cs typeface="Times New Roman" panose="02020603050405020304" pitchFamily="18" charset="0"/>
            </a:endParaRPr>
          </a:p>
        </p:txBody>
      </p:sp>
      <p:sp>
        <p:nvSpPr>
          <p:cNvPr id="9" name="矩形 8"/>
          <p:cNvSpPr/>
          <p:nvPr/>
        </p:nvSpPr>
        <p:spPr>
          <a:xfrm>
            <a:off x="7412940" y="1955774"/>
            <a:ext cx="1563380" cy="2193305"/>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b" anchorCtr="0" forceAA="0" compatLnSpc="1">
            <a:noAutofit/>
          </a:bodyPr>
          <a:lstStyle/>
          <a:p>
            <a:pPr indent="266700" algn="ctr">
              <a:spcAft>
                <a:spcPts val="0"/>
              </a:spcAft>
            </a:pPr>
            <a:r>
              <a:rPr lang="zh-CN" sz="2400" kern="100">
                <a:solidFill>
                  <a:srgbClr val="000000"/>
                </a:solidFill>
                <a:effectLst/>
                <a:ea typeface="楷体" panose="02010609060101010101" pitchFamily="49" charset="-122"/>
                <a:cs typeface="Times New Roman" panose="02020603050405020304" pitchFamily="18" charset="0"/>
              </a:rPr>
              <a:t>菜单组</a:t>
            </a:r>
            <a:endParaRPr lang="zh-CN" sz="2400" kern="100">
              <a:effectLst/>
              <a:ea typeface="宋体" panose="02010600030101010101" pitchFamily="2" charset="-122"/>
              <a:cs typeface="Times New Roman" panose="02020603050405020304" pitchFamily="18" charset="0"/>
            </a:endParaRPr>
          </a:p>
        </p:txBody>
      </p:sp>
      <p:sp>
        <p:nvSpPr>
          <p:cNvPr id="10" name="矩形 9"/>
          <p:cNvSpPr/>
          <p:nvPr/>
        </p:nvSpPr>
        <p:spPr>
          <a:xfrm>
            <a:off x="9120335" y="2681148"/>
            <a:ext cx="2808313" cy="360040"/>
          </a:xfrm>
          <a:prstGeom prst="rect">
            <a:avLst/>
          </a:prstGeom>
          <a:noFill/>
          <a:ln w="57150">
            <a:solidFill>
              <a:srgbClr val="66FF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indent="266700" algn="r">
              <a:spcAft>
                <a:spcPts val="0"/>
              </a:spcAft>
            </a:pPr>
            <a:r>
              <a:rPr lang="zh-CN" sz="2400" kern="100" dirty="0">
                <a:solidFill>
                  <a:srgbClr val="000000"/>
                </a:solidFill>
                <a:effectLst/>
                <a:ea typeface="楷体" panose="02010609060101010101" pitchFamily="49" charset="-122"/>
                <a:cs typeface="Times New Roman" panose="02020603050405020304" pitchFamily="18" charset="0"/>
              </a:rPr>
              <a:t>菜单</a:t>
            </a:r>
            <a:r>
              <a:rPr lang="zh-CN" altLang="en-US" sz="2400" kern="100" dirty="0">
                <a:solidFill>
                  <a:srgbClr val="000000"/>
                </a:solidFill>
                <a:effectLst/>
                <a:ea typeface="楷体" panose="02010609060101010101" pitchFamily="49" charset="-122"/>
                <a:cs typeface="Times New Roman" panose="02020603050405020304" pitchFamily="18" charset="0"/>
              </a:rPr>
              <a:t>项</a:t>
            </a:r>
            <a:endParaRPr lang="zh-CN" sz="2400" kern="100" dirty="0">
              <a:effectLst/>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F6087A7A-B76C-4302-A681-157ACB452831}"/>
              </a:ext>
            </a:extLst>
          </p:cNvPr>
          <p:cNvSpPr>
            <a:spLocks noGrp="1"/>
          </p:cNvSpPr>
          <p:nvPr>
            <p:ph type="sldNum" sz="quarter" idx="12"/>
          </p:nvPr>
        </p:nvSpPr>
        <p:spPr/>
        <p:txBody>
          <a:bodyPr/>
          <a:lstStyle/>
          <a:p>
            <a:fld id="{49AE70B2-8BF9-45C0-BB95-33D1B9D3A854}" type="slidenum">
              <a:rPr lang="zh-CN" altLang="en-US" smtClean="0"/>
              <a:t>49</a:t>
            </a:fld>
            <a:endParaRPr lang="zh-CN" altLang="en-US"/>
          </a:p>
        </p:txBody>
      </p:sp>
    </p:spTree>
    <p:extLst>
      <p:ext uri="{BB962C8B-B14F-4D97-AF65-F5344CB8AC3E}">
        <p14:creationId xmlns:p14="http://schemas.microsoft.com/office/powerpoint/2010/main" val="112703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菜单创建步骤和格式</a:t>
            </a:r>
          </a:p>
        </p:txBody>
      </p:sp>
      <p:sp>
        <p:nvSpPr>
          <p:cNvPr id="3" name="内容占位符 2"/>
          <p:cNvSpPr>
            <a:spLocks noGrp="1"/>
          </p:cNvSpPr>
          <p:nvPr>
            <p:ph idx="1"/>
          </p:nvPr>
        </p:nvSpPr>
        <p:spPr/>
        <p:txBody>
          <a:bodyPr>
            <a:normAutofit/>
          </a:bodyPr>
          <a:lstStyle/>
          <a:p>
            <a:pPr marL="0" indent="0">
              <a:buNone/>
            </a:pPr>
            <a:r>
              <a:rPr lang="zh-CN" altLang="en-US" dirty="0"/>
              <a:t>（</a:t>
            </a:r>
            <a:r>
              <a:rPr lang="en-US" altLang="zh-CN" dirty="0"/>
              <a:t>1</a:t>
            </a:r>
            <a:r>
              <a:rPr lang="zh-CN" altLang="en-US" dirty="0"/>
              <a:t>）创建顶层菜单条</a:t>
            </a:r>
          </a:p>
          <a:p>
            <a:pPr marL="457200" lvl="1" indent="0">
              <a:buNone/>
            </a:pPr>
            <a:r>
              <a:rPr lang="zh-CN" altLang="en-US" dirty="0"/>
              <a:t>顶层菜单条变量 </a:t>
            </a:r>
            <a:r>
              <a:rPr lang="en-US" altLang="zh-CN" dirty="0"/>
              <a:t>= Menu([</a:t>
            </a:r>
            <a:r>
              <a:rPr lang="zh-CN" altLang="en-US" dirty="0"/>
              <a:t>父窗口变量</a:t>
            </a:r>
            <a:r>
              <a:rPr lang="en-US" altLang="zh-CN" dirty="0"/>
              <a:t>] [[,] </a:t>
            </a:r>
            <a:r>
              <a:rPr lang="en-US" altLang="zh-CN" dirty="0" err="1"/>
              <a:t>tearoff</a:t>
            </a:r>
            <a:r>
              <a:rPr lang="en-US" altLang="zh-CN" dirty="0"/>
              <a:t>=0])</a:t>
            </a:r>
          </a:p>
          <a:p>
            <a:pPr marL="0" indent="0">
              <a:buNone/>
            </a:pPr>
            <a:r>
              <a:rPr lang="zh-CN" altLang="en-US" dirty="0"/>
              <a:t>（</a:t>
            </a:r>
            <a:r>
              <a:rPr lang="en-US" altLang="zh-CN" dirty="0"/>
              <a:t>2</a:t>
            </a:r>
            <a:r>
              <a:rPr lang="zh-CN" altLang="en-US" dirty="0"/>
              <a:t>）将顶层菜单条关联到父窗口</a:t>
            </a:r>
          </a:p>
          <a:p>
            <a:pPr marL="457200" lvl="1" indent="0">
              <a:buNone/>
            </a:pPr>
            <a:r>
              <a:rPr lang="zh-CN" altLang="en-US" dirty="0"/>
              <a:t>格式</a:t>
            </a:r>
            <a:r>
              <a:rPr lang="en-US" altLang="zh-CN" dirty="0"/>
              <a:t>1</a:t>
            </a:r>
            <a:r>
              <a:rPr lang="zh-CN" altLang="en-US" dirty="0"/>
              <a:t>：父窗口变量</a:t>
            </a:r>
            <a:r>
              <a:rPr lang="en-US" altLang="zh-CN" dirty="0"/>
              <a:t>.</a:t>
            </a:r>
            <a:r>
              <a:rPr lang="en-US" altLang="zh-CN" dirty="0" err="1"/>
              <a:t>config</a:t>
            </a:r>
            <a:r>
              <a:rPr lang="en-US" altLang="zh-CN" dirty="0"/>
              <a:t>(menu=</a:t>
            </a:r>
            <a:r>
              <a:rPr lang="zh-CN" altLang="en-US" dirty="0"/>
              <a:t>顶层菜单条变量</a:t>
            </a:r>
            <a:r>
              <a:rPr lang="en-US" altLang="zh-CN" dirty="0"/>
              <a:t>)</a:t>
            </a:r>
          </a:p>
          <a:p>
            <a:pPr marL="457200" lvl="1" indent="0">
              <a:buNone/>
            </a:pPr>
            <a:r>
              <a:rPr lang="zh-CN" altLang="en-US" dirty="0"/>
              <a:t>格式</a:t>
            </a:r>
            <a:r>
              <a:rPr lang="en-US" altLang="zh-CN" dirty="0"/>
              <a:t>2</a:t>
            </a:r>
            <a:r>
              <a:rPr lang="zh-CN" altLang="en-US" dirty="0"/>
              <a:t>：父窗口变量</a:t>
            </a:r>
            <a:r>
              <a:rPr lang="en-US" altLang="zh-CN" dirty="0"/>
              <a:t>['menu']=</a:t>
            </a:r>
            <a:r>
              <a:rPr lang="zh-CN" altLang="en-US" dirty="0"/>
              <a:t>顶层菜单条变量</a:t>
            </a:r>
          </a:p>
          <a:p>
            <a:endParaRPr lang="zh-CN" altLang="en-US" dirty="0"/>
          </a:p>
        </p:txBody>
      </p:sp>
      <p:sp>
        <p:nvSpPr>
          <p:cNvPr id="4" name="灯片编号占位符 3">
            <a:extLst>
              <a:ext uri="{FF2B5EF4-FFF2-40B4-BE49-F238E27FC236}">
                <a16:creationId xmlns:a16="http://schemas.microsoft.com/office/drawing/2014/main" id="{FA1E717A-8636-4359-AF8D-B787CCED54BA}"/>
              </a:ext>
            </a:extLst>
          </p:cNvPr>
          <p:cNvSpPr>
            <a:spLocks noGrp="1"/>
          </p:cNvSpPr>
          <p:nvPr>
            <p:ph type="sldNum" sz="quarter" idx="12"/>
          </p:nvPr>
        </p:nvSpPr>
        <p:spPr/>
        <p:txBody>
          <a:bodyPr/>
          <a:lstStyle/>
          <a:p>
            <a:fld id="{49AE70B2-8BF9-45C0-BB95-33D1B9D3A854}" type="slidenum">
              <a:rPr lang="zh-CN" altLang="en-US" smtClean="0"/>
              <a:t>50</a:t>
            </a:fld>
            <a:endParaRPr lang="zh-CN" altLang="en-US"/>
          </a:p>
        </p:txBody>
      </p:sp>
    </p:spTree>
    <p:extLst>
      <p:ext uri="{BB962C8B-B14F-4D97-AF65-F5344CB8AC3E}">
        <p14:creationId xmlns:p14="http://schemas.microsoft.com/office/powerpoint/2010/main" val="41653514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菜单创建步骤和格式</a:t>
            </a:r>
          </a:p>
        </p:txBody>
      </p:sp>
      <p:sp>
        <p:nvSpPr>
          <p:cNvPr id="3" name="内容占位符 2"/>
          <p:cNvSpPr>
            <a:spLocks noGrp="1"/>
          </p:cNvSpPr>
          <p:nvPr>
            <p:ph idx="1"/>
          </p:nvPr>
        </p:nvSpPr>
        <p:spPr/>
        <p:txBody>
          <a:bodyPr>
            <a:normAutofit/>
          </a:bodyPr>
          <a:lstStyle/>
          <a:p>
            <a:pPr marL="0" indent="0">
              <a:buNone/>
            </a:pPr>
            <a:r>
              <a:rPr lang="zh-CN" altLang="en-US" sz="2600" dirty="0"/>
              <a:t>（</a:t>
            </a:r>
            <a:r>
              <a:rPr lang="en-US" altLang="zh-CN" sz="2600" dirty="0"/>
              <a:t>3</a:t>
            </a:r>
            <a:r>
              <a:rPr lang="zh-CN" altLang="en-US" sz="2600" dirty="0"/>
              <a:t>）分别创建菜单组</a:t>
            </a:r>
          </a:p>
          <a:p>
            <a:pPr marL="457200" lvl="1" indent="0">
              <a:buNone/>
            </a:pPr>
            <a:r>
              <a:rPr lang="zh-CN" altLang="en-US" sz="2600" dirty="0"/>
              <a:t>菜单组变量 </a:t>
            </a:r>
            <a:r>
              <a:rPr lang="en-US" altLang="zh-CN" sz="2600" dirty="0"/>
              <a:t>= Menu([</a:t>
            </a:r>
            <a:r>
              <a:rPr lang="zh-CN" altLang="en-US" sz="2600" dirty="0"/>
              <a:t>顶层菜单条变量</a:t>
            </a:r>
            <a:r>
              <a:rPr lang="en-US" altLang="zh-CN" sz="2600" dirty="0"/>
              <a:t>| </a:t>
            </a:r>
            <a:r>
              <a:rPr lang="zh-CN" altLang="en-US" sz="2600" dirty="0"/>
              <a:t>父窗口变量</a:t>
            </a:r>
            <a:r>
              <a:rPr lang="en-US" altLang="zh-CN" sz="2600" dirty="0"/>
              <a:t>[, </a:t>
            </a:r>
            <a:r>
              <a:rPr lang="en-US" altLang="zh-CN" sz="2600" dirty="0" err="1"/>
              <a:t>tearoff</a:t>
            </a:r>
            <a:r>
              <a:rPr lang="en-US" altLang="zh-CN" sz="2600" dirty="0"/>
              <a:t>=0]])</a:t>
            </a:r>
          </a:p>
          <a:p>
            <a:pPr lvl="2"/>
            <a:r>
              <a:rPr lang="zh-CN" altLang="en-US" sz="2600" dirty="0"/>
              <a:t>属性</a:t>
            </a:r>
            <a:r>
              <a:rPr lang="en-US" altLang="zh-CN" sz="2600" dirty="0" err="1"/>
              <a:t>tearoff</a:t>
            </a:r>
            <a:r>
              <a:rPr lang="zh-CN" altLang="en-US" sz="2600" dirty="0"/>
              <a:t>默认值为</a:t>
            </a:r>
            <a:r>
              <a:rPr lang="en-US" altLang="zh-CN" sz="2600" dirty="0"/>
              <a:t>1</a:t>
            </a:r>
            <a:r>
              <a:rPr lang="zh-CN" altLang="en-US" sz="2600" dirty="0"/>
              <a:t>，表示整组菜单可以游离在屏幕上，值为</a:t>
            </a:r>
            <a:r>
              <a:rPr lang="en-US" altLang="zh-CN" sz="2600" dirty="0"/>
              <a:t>0</a:t>
            </a:r>
            <a:r>
              <a:rPr lang="zh-CN" altLang="en-US" sz="2600" dirty="0"/>
              <a:t>则不能游离。</a:t>
            </a:r>
          </a:p>
          <a:p>
            <a:pPr marL="0" indent="0">
              <a:buNone/>
            </a:pPr>
            <a:r>
              <a:rPr lang="zh-CN" altLang="en-US" sz="2600" dirty="0"/>
              <a:t>（</a:t>
            </a:r>
            <a:r>
              <a:rPr lang="en-US" altLang="zh-CN" sz="2600" dirty="0"/>
              <a:t>4</a:t>
            </a:r>
            <a:r>
              <a:rPr lang="zh-CN" altLang="en-US" sz="2600" dirty="0"/>
              <a:t>）将菜单组关联到顶层菜单条</a:t>
            </a:r>
          </a:p>
          <a:p>
            <a:pPr marL="457200" lvl="1" indent="0">
              <a:buNone/>
            </a:pPr>
            <a:r>
              <a:rPr lang="zh-CN" altLang="en-US" sz="2600" dirty="0"/>
              <a:t>顶层菜单条变量</a:t>
            </a:r>
            <a:r>
              <a:rPr lang="en-US" altLang="zh-CN" sz="2600" dirty="0"/>
              <a:t>.</a:t>
            </a:r>
            <a:r>
              <a:rPr lang="en-US" altLang="zh-CN" sz="2600" dirty="0" err="1"/>
              <a:t>add_cascade</a:t>
            </a:r>
            <a:r>
              <a:rPr lang="en-US" altLang="zh-CN" sz="2600" dirty="0"/>
              <a:t>(label=</a:t>
            </a:r>
            <a:r>
              <a:rPr lang="zh-CN" altLang="en-US" sz="2600" dirty="0"/>
              <a:t>菜单组提示文字</a:t>
            </a:r>
            <a:r>
              <a:rPr lang="en-US" altLang="zh-CN" sz="2600" dirty="0"/>
              <a:t>, menu=</a:t>
            </a:r>
            <a:r>
              <a:rPr lang="zh-CN" altLang="en-US" sz="2600" dirty="0"/>
              <a:t>菜单组变量</a:t>
            </a:r>
            <a:r>
              <a:rPr lang="en-US" altLang="zh-CN" sz="2600" dirty="0"/>
              <a:t>)</a:t>
            </a:r>
            <a:endParaRPr lang="zh-CN" altLang="en-US" sz="2600" dirty="0"/>
          </a:p>
        </p:txBody>
      </p:sp>
      <p:sp>
        <p:nvSpPr>
          <p:cNvPr id="4" name="灯片编号占位符 3">
            <a:extLst>
              <a:ext uri="{FF2B5EF4-FFF2-40B4-BE49-F238E27FC236}">
                <a16:creationId xmlns:a16="http://schemas.microsoft.com/office/drawing/2014/main" id="{1A1B2975-11FE-445B-9637-2185600536F1}"/>
              </a:ext>
            </a:extLst>
          </p:cNvPr>
          <p:cNvSpPr>
            <a:spLocks noGrp="1"/>
          </p:cNvSpPr>
          <p:nvPr>
            <p:ph type="sldNum" sz="quarter" idx="12"/>
          </p:nvPr>
        </p:nvSpPr>
        <p:spPr/>
        <p:txBody>
          <a:bodyPr/>
          <a:lstStyle/>
          <a:p>
            <a:fld id="{49AE70B2-8BF9-45C0-BB95-33D1B9D3A854}" type="slidenum">
              <a:rPr lang="zh-CN" altLang="en-US" smtClean="0"/>
              <a:t>51</a:t>
            </a:fld>
            <a:endParaRPr lang="zh-CN" altLang="en-US"/>
          </a:p>
        </p:txBody>
      </p:sp>
    </p:spTree>
    <p:extLst>
      <p:ext uri="{BB962C8B-B14F-4D97-AF65-F5344CB8AC3E}">
        <p14:creationId xmlns:p14="http://schemas.microsoft.com/office/powerpoint/2010/main" val="20565337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菜单创建步骤和格式</a:t>
            </a:r>
          </a:p>
        </p:txBody>
      </p:sp>
      <p:sp>
        <p:nvSpPr>
          <p:cNvPr id="3" name="内容占位符 2"/>
          <p:cNvSpPr>
            <a:spLocks noGrp="1"/>
          </p:cNvSpPr>
          <p:nvPr>
            <p:ph idx="1"/>
          </p:nvPr>
        </p:nvSpPr>
        <p:spPr>
          <a:xfrm>
            <a:off x="669925" y="1160145"/>
            <a:ext cx="10852150" cy="5437207"/>
          </a:xfrm>
        </p:spPr>
        <p:txBody>
          <a:bodyPr>
            <a:normAutofit lnSpcReduction="10000"/>
          </a:bodyPr>
          <a:lstStyle/>
          <a:p>
            <a:pPr marL="0" indent="0">
              <a:buNone/>
            </a:pPr>
            <a:r>
              <a:rPr lang="zh-CN" altLang="en-US" dirty="0"/>
              <a:t>（</a:t>
            </a:r>
            <a:r>
              <a:rPr lang="en-US" altLang="zh-CN" dirty="0"/>
              <a:t>5</a:t>
            </a:r>
            <a:r>
              <a:rPr lang="zh-CN" altLang="en-US" dirty="0"/>
              <a:t>）	为菜单组添加菜单项</a:t>
            </a:r>
            <a:endParaRPr lang="en-US" altLang="zh-CN" dirty="0"/>
          </a:p>
          <a:p>
            <a:pPr lvl="1"/>
            <a:r>
              <a:rPr lang="zh-CN" altLang="en-US" dirty="0"/>
              <a:t>格式</a:t>
            </a:r>
            <a:r>
              <a:rPr lang="en-US" altLang="zh-CN" dirty="0"/>
              <a:t>1</a:t>
            </a:r>
            <a:r>
              <a:rPr lang="zh-CN" altLang="en-US" dirty="0"/>
              <a:t>：菜单组变量</a:t>
            </a:r>
            <a:r>
              <a:rPr lang="en-US" altLang="zh-CN" dirty="0"/>
              <a:t>.</a:t>
            </a:r>
            <a:r>
              <a:rPr lang="en-US" altLang="zh-CN" dirty="0" err="1"/>
              <a:t>add_command</a:t>
            </a:r>
            <a:r>
              <a:rPr lang="en-US" altLang="zh-CN" dirty="0"/>
              <a:t>(label=</a:t>
            </a:r>
            <a:r>
              <a:rPr lang="zh-CN" altLang="en-US" dirty="0"/>
              <a:t>菜单项提示文字</a:t>
            </a:r>
            <a:r>
              <a:rPr lang="en-US" altLang="zh-CN" dirty="0"/>
              <a:t>, command=</a:t>
            </a:r>
            <a:r>
              <a:rPr lang="zh-CN" altLang="en-US" dirty="0"/>
              <a:t>响应函数或代码</a:t>
            </a:r>
            <a:r>
              <a:rPr lang="en-US" altLang="zh-CN" dirty="0"/>
              <a:t>)</a:t>
            </a:r>
          </a:p>
          <a:p>
            <a:pPr lvl="2"/>
            <a:r>
              <a:rPr lang="zh-CN" altLang="en-US" dirty="0"/>
              <a:t>用</a:t>
            </a:r>
            <a:r>
              <a:rPr lang="en-US" altLang="zh-CN" dirty="0" err="1"/>
              <a:t>add_checkbutton</a:t>
            </a:r>
            <a:r>
              <a:rPr lang="zh-CN" altLang="en-US" dirty="0"/>
              <a:t>创建复选按钮菜单项</a:t>
            </a:r>
            <a:endParaRPr lang="en-US" altLang="zh-CN" dirty="0"/>
          </a:p>
          <a:p>
            <a:pPr lvl="1"/>
            <a:r>
              <a:rPr lang="zh-CN" altLang="en-US" dirty="0"/>
              <a:t>格式</a:t>
            </a:r>
            <a:r>
              <a:rPr lang="en-US" altLang="zh-CN" dirty="0"/>
              <a:t>2</a:t>
            </a:r>
            <a:r>
              <a:rPr lang="zh-CN" altLang="en-US" dirty="0"/>
              <a:t>：菜单组变量</a:t>
            </a:r>
            <a:r>
              <a:rPr lang="en-US" altLang="zh-CN" dirty="0"/>
              <a:t>.</a:t>
            </a:r>
            <a:r>
              <a:rPr lang="en-US" altLang="zh-CN" dirty="0" err="1"/>
              <a:t>add_radiobutton</a:t>
            </a:r>
            <a:r>
              <a:rPr lang="en-US" altLang="zh-CN" dirty="0"/>
              <a:t> (label=</a:t>
            </a:r>
            <a:r>
              <a:rPr lang="zh-CN" altLang="en-US" dirty="0"/>
              <a:t>菜单项提示文字</a:t>
            </a:r>
            <a:r>
              <a:rPr lang="en-US" altLang="zh-CN" dirty="0"/>
              <a:t>, command=</a:t>
            </a:r>
            <a:r>
              <a:rPr lang="zh-CN" altLang="en-US" dirty="0"/>
              <a:t>响应函数或代码</a:t>
            </a:r>
            <a:r>
              <a:rPr lang="en-US" altLang="zh-CN" dirty="0"/>
              <a:t>, variable=</a:t>
            </a:r>
            <a:r>
              <a:rPr lang="zh-CN" altLang="en-US" dirty="0"/>
              <a:t>与单选按钮绑定的变量</a:t>
            </a:r>
            <a:r>
              <a:rPr lang="en-US" altLang="zh-CN" dirty="0"/>
              <a:t>)</a:t>
            </a:r>
          </a:p>
          <a:p>
            <a:pPr lvl="2"/>
            <a:r>
              <a:rPr lang="zh-CN" altLang="en-US" dirty="0"/>
              <a:t>用</a:t>
            </a:r>
            <a:r>
              <a:rPr lang="en-US" altLang="zh-CN" dirty="0" err="1"/>
              <a:t>add_radiobutton</a:t>
            </a:r>
            <a:r>
              <a:rPr lang="zh-CN" altLang="en-US" dirty="0"/>
              <a:t>创建单选按钮菜单项</a:t>
            </a:r>
            <a:endParaRPr lang="en-US" altLang="zh-CN" dirty="0"/>
          </a:p>
          <a:p>
            <a:pPr lvl="1"/>
            <a:r>
              <a:rPr lang="zh-CN" altLang="en-US" dirty="0"/>
              <a:t>格式</a:t>
            </a:r>
            <a:r>
              <a:rPr lang="en-US" altLang="zh-CN" dirty="0"/>
              <a:t>3</a:t>
            </a:r>
            <a:r>
              <a:rPr lang="zh-CN" altLang="en-US" dirty="0"/>
              <a:t>：菜单组变量</a:t>
            </a:r>
            <a:r>
              <a:rPr lang="en-US" altLang="zh-CN" dirty="0"/>
              <a:t>.</a:t>
            </a:r>
            <a:r>
              <a:rPr lang="en-US" altLang="zh-CN" dirty="0" err="1"/>
              <a:t>add_command</a:t>
            </a:r>
            <a:r>
              <a:rPr lang="en-US" altLang="zh-CN" dirty="0"/>
              <a:t>(label=</a:t>
            </a:r>
            <a:r>
              <a:rPr lang="zh-CN" altLang="en-US" dirty="0"/>
              <a:t>菜单项提示文字</a:t>
            </a:r>
            <a:r>
              <a:rPr lang="en-US" altLang="zh-CN" dirty="0"/>
              <a:t>, command=</a:t>
            </a:r>
            <a:r>
              <a:rPr lang="zh-CN" altLang="en-US" dirty="0"/>
              <a:t>响应函数或代码</a:t>
            </a:r>
            <a:r>
              <a:rPr lang="en-US" altLang="zh-CN" dirty="0"/>
              <a:t>, variable=</a:t>
            </a:r>
            <a:r>
              <a:rPr lang="zh-CN" altLang="en-US" dirty="0"/>
              <a:t>与复选框绑定的变量</a:t>
            </a:r>
            <a:r>
              <a:rPr lang="en-US" altLang="zh-CN" dirty="0"/>
              <a:t>)</a:t>
            </a:r>
          </a:p>
          <a:p>
            <a:pPr lvl="2"/>
            <a:r>
              <a:rPr lang="en-US" altLang="zh-CN" dirty="0" err="1"/>
              <a:t>add_command</a:t>
            </a:r>
            <a:r>
              <a:rPr lang="zh-CN" altLang="en-US" dirty="0"/>
              <a:t>创建的是普通菜单项</a:t>
            </a:r>
          </a:p>
        </p:txBody>
      </p:sp>
      <p:sp>
        <p:nvSpPr>
          <p:cNvPr id="4" name="灯片编号占位符 3">
            <a:extLst>
              <a:ext uri="{FF2B5EF4-FFF2-40B4-BE49-F238E27FC236}">
                <a16:creationId xmlns:a16="http://schemas.microsoft.com/office/drawing/2014/main" id="{EA4AB987-9A8E-4F9A-AEFB-B2FD10571C53}"/>
              </a:ext>
            </a:extLst>
          </p:cNvPr>
          <p:cNvSpPr>
            <a:spLocks noGrp="1"/>
          </p:cNvSpPr>
          <p:nvPr>
            <p:ph type="sldNum" sz="quarter" idx="12"/>
          </p:nvPr>
        </p:nvSpPr>
        <p:spPr/>
        <p:txBody>
          <a:bodyPr/>
          <a:lstStyle/>
          <a:p>
            <a:fld id="{49AE70B2-8BF9-45C0-BB95-33D1B9D3A854}" type="slidenum">
              <a:rPr lang="zh-CN" altLang="en-US" smtClean="0"/>
              <a:t>52</a:t>
            </a:fld>
            <a:endParaRPr lang="zh-CN" altLang="en-US"/>
          </a:p>
        </p:txBody>
      </p:sp>
    </p:spTree>
    <p:extLst>
      <p:ext uri="{BB962C8B-B14F-4D97-AF65-F5344CB8AC3E}">
        <p14:creationId xmlns:p14="http://schemas.microsoft.com/office/powerpoint/2010/main" val="3921634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菜单创建步骤和格式</a:t>
            </a:r>
          </a:p>
        </p:txBody>
      </p:sp>
      <p:sp>
        <p:nvSpPr>
          <p:cNvPr id="3" name="内容占位符 2"/>
          <p:cNvSpPr>
            <a:spLocks noGrp="1"/>
          </p:cNvSpPr>
          <p:nvPr>
            <p:ph idx="1"/>
          </p:nvPr>
        </p:nvSpPr>
        <p:spPr/>
        <p:txBody>
          <a:bodyPr/>
          <a:lstStyle/>
          <a:p>
            <a:pPr marL="0" indent="0">
              <a:buNone/>
            </a:pPr>
            <a:r>
              <a:rPr lang="zh-CN" altLang="en-US" dirty="0"/>
              <a:t>（</a:t>
            </a:r>
            <a:r>
              <a:rPr lang="en-US" altLang="zh-CN" dirty="0"/>
              <a:t>6</a:t>
            </a:r>
            <a:r>
              <a:rPr lang="zh-CN" altLang="en-US" dirty="0"/>
              <a:t>）为菜单组添加分隔线</a:t>
            </a:r>
          </a:p>
          <a:p>
            <a:pPr marL="457200" lvl="1" indent="0">
              <a:buNone/>
            </a:pPr>
            <a:r>
              <a:rPr lang="zh-CN" altLang="en-US" dirty="0"/>
              <a:t>菜单组变量</a:t>
            </a:r>
            <a:r>
              <a:rPr lang="en-US" altLang="zh-CN" dirty="0"/>
              <a:t>.</a:t>
            </a:r>
            <a:r>
              <a:rPr lang="en-US" altLang="zh-CN" dirty="0" err="1"/>
              <a:t>add_separator</a:t>
            </a:r>
            <a:r>
              <a:rPr lang="en-US" altLang="zh-CN" dirty="0"/>
              <a:t>()</a:t>
            </a:r>
          </a:p>
          <a:p>
            <a:endParaRPr lang="en-US" altLang="zh-CN" dirty="0"/>
          </a:p>
          <a:p>
            <a:r>
              <a:rPr lang="en-US" altLang="zh-CN" dirty="0"/>
              <a:t>【</a:t>
            </a:r>
            <a:r>
              <a:rPr lang="zh-CN" altLang="en-US" dirty="0"/>
              <a:t>例</a:t>
            </a:r>
            <a:r>
              <a:rPr lang="en-US" altLang="zh-CN" dirty="0"/>
              <a:t>13-17】</a:t>
            </a:r>
            <a:r>
              <a:rPr lang="zh-CN" altLang="en-US" dirty="0"/>
              <a:t>菜单的功能演示。</a:t>
            </a:r>
          </a:p>
          <a:p>
            <a:endParaRPr lang="zh-CN" altLang="en-US" dirty="0"/>
          </a:p>
        </p:txBody>
      </p:sp>
      <p:pic>
        <p:nvPicPr>
          <p:cNvPr id="5" name="图片 4"/>
          <p:cNvPicPr>
            <a:picLocks noChangeAspect="1"/>
          </p:cNvPicPr>
          <p:nvPr/>
        </p:nvPicPr>
        <p:blipFill>
          <a:blip r:embed="rId2"/>
          <a:stretch>
            <a:fillRect/>
          </a:stretch>
        </p:blipFill>
        <p:spPr>
          <a:xfrm>
            <a:off x="7824192" y="1537046"/>
            <a:ext cx="3568089" cy="4427162"/>
          </a:xfrm>
          <a:prstGeom prst="rect">
            <a:avLst/>
          </a:prstGeom>
        </p:spPr>
      </p:pic>
      <p:sp>
        <p:nvSpPr>
          <p:cNvPr id="4" name="灯片编号占位符 3">
            <a:extLst>
              <a:ext uri="{FF2B5EF4-FFF2-40B4-BE49-F238E27FC236}">
                <a16:creationId xmlns:a16="http://schemas.microsoft.com/office/drawing/2014/main" id="{A154DFE4-1C85-4BC7-B0F3-92BA0A99A705}"/>
              </a:ext>
            </a:extLst>
          </p:cNvPr>
          <p:cNvSpPr>
            <a:spLocks noGrp="1"/>
          </p:cNvSpPr>
          <p:nvPr>
            <p:ph type="sldNum" sz="quarter" idx="12"/>
          </p:nvPr>
        </p:nvSpPr>
        <p:spPr/>
        <p:txBody>
          <a:bodyPr/>
          <a:lstStyle/>
          <a:p>
            <a:fld id="{49AE70B2-8BF9-45C0-BB95-33D1B9D3A854}" type="slidenum">
              <a:rPr lang="zh-CN" altLang="en-US" smtClean="0"/>
              <a:t>53</a:t>
            </a:fld>
            <a:endParaRPr lang="zh-CN" altLang="en-US"/>
          </a:p>
        </p:txBody>
      </p:sp>
    </p:spTree>
    <p:extLst>
      <p:ext uri="{BB962C8B-B14F-4D97-AF65-F5344CB8AC3E}">
        <p14:creationId xmlns:p14="http://schemas.microsoft.com/office/powerpoint/2010/main" val="16169255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菜单控件的常用方法</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3095432434"/>
              </p:ext>
            </p:extLst>
          </p:nvPr>
        </p:nvGraphicFramePr>
        <p:xfrm>
          <a:off x="839416" y="1160148"/>
          <a:ext cx="10682659" cy="5321788"/>
        </p:xfrm>
        <a:graphic>
          <a:graphicData uri="http://schemas.openxmlformats.org/drawingml/2006/table">
            <a:tbl>
              <a:tblPr firstRow="1" firstCol="1" bandRow="1">
                <a:tableStyleId>{5C22544A-7EE6-4342-B048-85BDC9FD1C3A}</a:tableStyleId>
              </a:tblPr>
              <a:tblGrid>
                <a:gridCol w="3888432">
                  <a:extLst>
                    <a:ext uri="{9D8B030D-6E8A-4147-A177-3AD203B41FA5}">
                      <a16:colId xmlns:a16="http://schemas.microsoft.com/office/drawing/2014/main" val="1262508484"/>
                    </a:ext>
                  </a:extLst>
                </a:gridCol>
                <a:gridCol w="6794227">
                  <a:extLst>
                    <a:ext uri="{9D8B030D-6E8A-4147-A177-3AD203B41FA5}">
                      <a16:colId xmlns:a16="http://schemas.microsoft.com/office/drawing/2014/main" val="3820024445"/>
                    </a:ext>
                  </a:extLst>
                </a:gridCol>
              </a:tblGrid>
              <a:tr h="264659">
                <a:tc>
                  <a:txBody>
                    <a:bodyPr/>
                    <a:lstStyle/>
                    <a:p>
                      <a:pPr indent="266700" algn="ctr">
                        <a:spcAft>
                          <a:spcPts val="0"/>
                        </a:spcAft>
                      </a:pPr>
                      <a:r>
                        <a:rPr lang="zh-CN" sz="2000" kern="100">
                          <a:effectLst/>
                        </a:rPr>
                        <a:t>方法</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ctr">
                        <a:spcAft>
                          <a:spcPts val="0"/>
                        </a:spcAft>
                      </a:pPr>
                      <a:r>
                        <a:rPr lang="zh-CN" sz="2000" kern="100">
                          <a:effectLst/>
                        </a:rPr>
                        <a:t>作用</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39438953"/>
                  </a:ext>
                </a:extLst>
              </a:tr>
              <a:tr h="264659">
                <a:tc>
                  <a:txBody>
                    <a:bodyPr/>
                    <a:lstStyle/>
                    <a:p>
                      <a:pPr indent="0" algn="just">
                        <a:spcAft>
                          <a:spcPts val="0"/>
                        </a:spcAft>
                      </a:pPr>
                      <a:r>
                        <a:rPr lang="en-US" sz="2000" kern="100" dirty="0" err="1">
                          <a:effectLst/>
                        </a:rPr>
                        <a:t>add_command</a:t>
                      </a:r>
                      <a:r>
                        <a:rPr lang="en-US" sz="2000" kern="100" dirty="0">
                          <a:effectLst/>
                        </a:rPr>
                        <a:t>(</a:t>
                      </a:r>
                      <a:r>
                        <a:rPr lang="zh-CN" sz="2000" kern="100" dirty="0">
                          <a:effectLst/>
                        </a:rPr>
                        <a:t>选项</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0" algn="just">
                        <a:spcAft>
                          <a:spcPts val="0"/>
                        </a:spcAft>
                      </a:pPr>
                      <a:r>
                        <a:rPr lang="zh-CN" sz="2000" kern="100">
                          <a:effectLst/>
                        </a:rPr>
                        <a:t>在菜单中添加一个菜单项。</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06584761"/>
                  </a:ext>
                </a:extLst>
              </a:tr>
              <a:tr h="264659">
                <a:tc>
                  <a:txBody>
                    <a:bodyPr/>
                    <a:lstStyle/>
                    <a:p>
                      <a:pPr indent="0" algn="just">
                        <a:spcAft>
                          <a:spcPts val="0"/>
                        </a:spcAft>
                      </a:pPr>
                      <a:r>
                        <a:rPr lang="en-US" sz="2000" kern="100" dirty="0" err="1">
                          <a:effectLst/>
                        </a:rPr>
                        <a:t>add_radiobutton</a:t>
                      </a:r>
                      <a:r>
                        <a:rPr lang="en-US" sz="2000" kern="100" dirty="0">
                          <a:effectLst/>
                        </a:rPr>
                        <a:t>(</a:t>
                      </a:r>
                      <a:r>
                        <a:rPr lang="zh-CN" sz="2000" kern="100" dirty="0">
                          <a:effectLst/>
                        </a:rPr>
                        <a:t>选项</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0" algn="just">
                        <a:spcAft>
                          <a:spcPts val="0"/>
                        </a:spcAft>
                      </a:pPr>
                      <a:r>
                        <a:rPr lang="zh-CN" sz="2000" kern="100">
                          <a:effectLst/>
                        </a:rPr>
                        <a:t>创建单选按钮菜单项。</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72561006"/>
                  </a:ext>
                </a:extLst>
              </a:tr>
              <a:tr h="346340">
                <a:tc>
                  <a:txBody>
                    <a:bodyPr/>
                    <a:lstStyle/>
                    <a:p>
                      <a:pPr indent="0" algn="just">
                        <a:spcAft>
                          <a:spcPts val="0"/>
                        </a:spcAft>
                      </a:pPr>
                      <a:r>
                        <a:rPr lang="en-US" sz="2000" kern="100" dirty="0" err="1">
                          <a:effectLst/>
                        </a:rPr>
                        <a:t>add_checkbutton</a:t>
                      </a:r>
                      <a:r>
                        <a:rPr lang="en-US" sz="2000" kern="100" dirty="0">
                          <a:effectLst/>
                        </a:rPr>
                        <a:t>(</a:t>
                      </a:r>
                      <a:r>
                        <a:rPr lang="zh-CN" sz="2000" kern="100" dirty="0">
                          <a:effectLst/>
                        </a:rPr>
                        <a:t>选项</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0" algn="just">
                        <a:spcAft>
                          <a:spcPts val="0"/>
                        </a:spcAft>
                      </a:pPr>
                      <a:r>
                        <a:rPr lang="zh-CN" sz="2000" kern="100">
                          <a:effectLst/>
                        </a:rPr>
                        <a:t>创建一个复选按钮菜单项。</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91881531"/>
                  </a:ext>
                </a:extLst>
              </a:tr>
              <a:tr h="264659">
                <a:tc>
                  <a:txBody>
                    <a:bodyPr/>
                    <a:lstStyle/>
                    <a:p>
                      <a:pPr indent="0" algn="just">
                        <a:spcAft>
                          <a:spcPts val="0"/>
                        </a:spcAft>
                      </a:pPr>
                      <a:r>
                        <a:rPr lang="en-US" sz="2000" kern="100" dirty="0" err="1">
                          <a:effectLst/>
                        </a:rPr>
                        <a:t>add_cascade</a:t>
                      </a:r>
                      <a:r>
                        <a:rPr lang="en-US" sz="2000" kern="100" dirty="0">
                          <a:effectLst/>
                        </a:rPr>
                        <a:t>(</a:t>
                      </a:r>
                      <a:r>
                        <a:rPr lang="zh-CN" sz="2000" kern="100" dirty="0">
                          <a:effectLst/>
                        </a:rPr>
                        <a:t>选项</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0" algn="just">
                        <a:spcAft>
                          <a:spcPts val="0"/>
                        </a:spcAft>
                      </a:pPr>
                      <a:r>
                        <a:rPr lang="zh-CN" sz="2000" kern="100">
                          <a:effectLst/>
                        </a:rPr>
                        <a:t>通过将给定的菜单与父菜单相关联来创建新的分层菜单。</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47774360"/>
                  </a:ext>
                </a:extLst>
              </a:tr>
              <a:tr h="264659">
                <a:tc>
                  <a:txBody>
                    <a:bodyPr/>
                    <a:lstStyle/>
                    <a:p>
                      <a:pPr indent="0" algn="just">
                        <a:spcAft>
                          <a:spcPts val="0"/>
                        </a:spcAft>
                      </a:pPr>
                      <a:r>
                        <a:rPr lang="en-US" sz="2000" kern="100" dirty="0" err="1">
                          <a:effectLst/>
                        </a:rPr>
                        <a:t>add_separator</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0" algn="just">
                        <a:spcAft>
                          <a:spcPts val="0"/>
                        </a:spcAft>
                      </a:pPr>
                      <a:r>
                        <a:rPr lang="zh-CN" sz="2000" kern="100">
                          <a:effectLst/>
                        </a:rPr>
                        <a:t>在菜单中添加分隔线。</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88982288"/>
                  </a:ext>
                </a:extLst>
              </a:tr>
              <a:tr h="264659">
                <a:tc>
                  <a:txBody>
                    <a:bodyPr/>
                    <a:lstStyle/>
                    <a:p>
                      <a:pPr indent="0" algn="just">
                        <a:spcAft>
                          <a:spcPts val="0"/>
                        </a:spcAft>
                      </a:pPr>
                      <a:r>
                        <a:rPr lang="en-US" sz="2000" kern="100" dirty="0">
                          <a:effectLst/>
                        </a:rPr>
                        <a:t>add(</a:t>
                      </a:r>
                      <a:r>
                        <a:rPr lang="zh-CN" sz="2000" kern="100" dirty="0">
                          <a:effectLst/>
                        </a:rPr>
                        <a:t>类型</a:t>
                      </a:r>
                      <a:r>
                        <a:rPr lang="en-US" sz="2000" kern="100" dirty="0">
                          <a:effectLst/>
                        </a:rPr>
                        <a:t>, </a:t>
                      </a:r>
                      <a:r>
                        <a:rPr lang="zh-CN" sz="2000" kern="100" dirty="0">
                          <a:effectLst/>
                        </a:rPr>
                        <a:t>选项</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0" algn="just">
                        <a:spcAft>
                          <a:spcPts val="0"/>
                        </a:spcAft>
                      </a:pPr>
                      <a:r>
                        <a:rPr lang="zh-CN" sz="2000" kern="100">
                          <a:effectLst/>
                        </a:rPr>
                        <a:t>在菜单中添加一个特定类型的菜单项。</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83913165"/>
                  </a:ext>
                </a:extLst>
              </a:tr>
              <a:tr h="381744">
                <a:tc>
                  <a:txBody>
                    <a:bodyPr/>
                    <a:lstStyle/>
                    <a:p>
                      <a:pPr indent="0" algn="just">
                        <a:spcAft>
                          <a:spcPts val="0"/>
                        </a:spcAft>
                      </a:pPr>
                      <a:r>
                        <a:rPr lang="en-US" sz="2000" kern="100" dirty="0">
                          <a:effectLst/>
                        </a:rPr>
                        <a:t>delete(</a:t>
                      </a:r>
                      <a:r>
                        <a:rPr lang="en-US" sz="2000" kern="100" dirty="0" err="1">
                          <a:effectLst/>
                        </a:rPr>
                        <a:t>startindex</a:t>
                      </a:r>
                      <a:r>
                        <a:rPr lang="en-US" sz="2000" kern="100" dirty="0">
                          <a:effectLst/>
                        </a:rPr>
                        <a:t>[, </a:t>
                      </a:r>
                      <a:r>
                        <a:rPr lang="en-US" sz="2000" kern="100" dirty="0" err="1">
                          <a:effectLst/>
                        </a:rPr>
                        <a:t>endindex</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0" algn="just">
                        <a:spcAft>
                          <a:spcPts val="0"/>
                        </a:spcAft>
                      </a:pPr>
                      <a:r>
                        <a:rPr lang="zh-CN" sz="2000" kern="100" dirty="0">
                          <a:effectLst/>
                        </a:rPr>
                        <a:t>删除从</a:t>
                      </a:r>
                      <a:r>
                        <a:rPr lang="en-US" sz="2000" kern="100" dirty="0" err="1">
                          <a:effectLst/>
                        </a:rPr>
                        <a:t>startindex</a:t>
                      </a:r>
                      <a:r>
                        <a:rPr lang="zh-CN" sz="2000" kern="100" dirty="0">
                          <a:effectLst/>
                        </a:rPr>
                        <a:t>到</a:t>
                      </a:r>
                      <a:r>
                        <a:rPr lang="en-US" sz="2000" kern="100" dirty="0" err="1">
                          <a:effectLst/>
                        </a:rPr>
                        <a:t>endindex</a:t>
                      </a:r>
                      <a:r>
                        <a:rPr lang="zh-CN" sz="2000" kern="100" dirty="0">
                          <a:effectLst/>
                        </a:rPr>
                        <a:t>的菜单项。</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38372133"/>
                  </a:ext>
                </a:extLst>
              </a:tr>
              <a:tr h="288032">
                <a:tc>
                  <a:txBody>
                    <a:bodyPr/>
                    <a:lstStyle/>
                    <a:p>
                      <a:pPr indent="0" algn="just">
                        <a:spcAft>
                          <a:spcPts val="0"/>
                        </a:spcAft>
                      </a:pPr>
                      <a:r>
                        <a:rPr lang="en-US" sz="2000" kern="100" dirty="0" err="1">
                          <a:effectLst/>
                        </a:rPr>
                        <a:t>entryconfig</a:t>
                      </a:r>
                      <a:r>
                        <a:rPr lang="en-US" sz="2000" kern="100" dirty="0">
                          <a:effectLst/>
                        </a:rPr>
                        <a:t>(index, options)</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0" algn="just">
                        <a:spcAft>
                          <a:spcPts val="0"/>
                        </a:spcAft>
                      </a:pPr>
                      <a:r>
                        <a:rPr lang="zh-CN" sz="2000" kern="100" dirty="0">
                          <a:effectLst/>
                        </a:rPr>
                        <a:t>允许修改由索引标识的菜单项，并更改其选项。</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5453463"/>
                  </a:ext>
                </a:extLst>
              </a:tr>
              <a:tr h="264659">
                <a:tc>
                  <a:txBody>
                    <a:bodyPr/>
                    <a:lstStyle/>
                    <a:p>
                      <a:pPr indent="0" algn="just">
                        <a:spcAft>
                          <a:spcPts val="0"/>
                        </a:spcAft>
                      </a:pPr>
                      <a:r>
                        <a:rPr lang="en-US" sz="2000" kern="100">
                          <a:effectLst/>
                        </a:rPr>
                        <a:t>index(item)</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0" algn="just">
                        <a:spcAft>
                          <a:spcPts val="0"/>
                        </a:spcAft>
                      </a:pPr>
                      <a:r>
                        <a:rPr lang="zh-CN" sz="2000" kern="100" dirty="0">
                          <a:effectLst/>
                        </a:rPr>
                        <a:t>返回给定菜单项标签的索引号。</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65080687"/>
                  </a:ext>
                </a:extLst>
              </a:tr>
              <a:tr h="326504">
                <a:tc>
                  <a:txBody>
                    <a:bodyPr/>
                    <a:lstStyle/>
                    <a:p>
                      <a:pPr indent="0" algn="just">
                        <a:spcAft>
                          <a:spcPts val="0"/>
                        </a:spcAft>
                      </a:pPr>
                      <a:r>
                        <a:rPr lang="en-US" sz="2000" kern="100" dirty="0" err="1">
                          <a:effectLst/>
                        </a:rPr>
                        <a:t>insert_separator</a:t>
                      </a:r>
                      <a:r>
                        <a:rPr lang="en-US" sz="2000" kern="100" dirty="0">
                          <a:effectLst/>
                        </a:rPr>
                        <a:t>(index)</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0" algn="just">
                        <a:spcAft>
                          <a:spcPts val="0"/>
                        </a:spcAft>
                      </a:pPr>
                      <a:r>
                        <a:rPr lang="zh-CN" sz="2000" kern="100" dirty="0">
                          <a:effectLst/>
                        </a:rPr>
                        <a:t>在</a:t>
                      </a:r>
                      <a:r>
                        <a:rPr lang="en-US" sz="2000" kern="100" dirty="0">
                          <a:effectLst/>
                        </a:rPr>
                        <a:t>index</a:t>
                      </a:r>
                      <a:r>
                        <a:rPr lang="zh-CN" sz="2000" kern="100" dirty="0">
                          <a:effectLst/>
                        </a:rPr>
                        <a:t>指定的位置插入一个新的分隔符。</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88610137"/>
                  </a:ext>
                </a:extLst>
              </a:tr>
              <a:tr h="793979">
                <a:tc>
                  <a:txBody>
                    <a:bodyPr/>
                    <a:lstStyle/>
                    <a:p>
                      <a:pPr indent="0" algn="just">
                        <a:spcAft>
                          <a:spcPts val="0"/>
                        </a:spcAft>
                      </a:pPr>
                      <a:r>
                        <a:rPr lang="en-US" sz="2000" kern="100">
                          <a:effectLst/>
                        </a:rPr>
                        <a:t>invoke(index)</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0" algn="just">
                        <a:spcAft>
                          <a:spcPts val="0"/>
                        </a:spcAft>
                      </a:pPr>
                      <a:r>
                        <a:rPr lang="zh-CN" sz="2000" kern="100" dirty="0">
                          <a:effectLst/>
                        </a:rPr>
                        <a:t>调用与位置索引选择相关联的命令回调。如果是一个复选按钮，其状态在设置和清除之间切换；如果是一个单选按钮，那个选择则是设置的。</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497071521"/>
                  </a:ext>
                </a:extLst>
              </a:tr>
              <a:tr h="529319">
                <a:tc>
                  <a:txBody>
                    <a:bodyPr/>
                    <a:lstStyle/>
                    <a:p>
                      <a:pPr indent="0" algn="just">
                        <a:spcAft>
                          <a:spcPts val="0"/>
                        </a:spcAft>
                      </a:pPr>
                      <a:r>
                        <a:rPr lang="en-US" sz="2000" kern="100">
                          <a:effectLst/>
                        </a:rPr>
                        <a:t>type(index</a:t>
                      </a: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0" algn="just">
                        <a:spcAft>
                          <a:spcPts val="0"/>
                        </a:spcAft>
                      </a:pPr>
                      <a:r>
                        <a:rPr lang="zh-CN" sz="2000" kern="100" dirty="0">
                          <a:effectLst/>
                        </a:rPr>
                        <a:t>返回由</a:t>
                      </a:r>
                      <a:r>
                        <a:rPr lang="en-US" sz="2000" kern="100" dirty="0">
                          <a:effectLst/>
                        </a:rPr>
                        <a:t>index</a:t>
                      </a:r>
                      <a:r>
                        <a:rPr lang="zh-CN" sz="2000" kern="100" dirty="0">
                          <a:effectLst/>
                        </a:rPr>
                        <a:t>指定的选项的类型：</a:t>
                      </a:r>
                      <a:r>
                        <a:rPr lang="en-US" sz="2000" kern="100" dirty="0">
                          <a:effectLst/>
                        </a:rPr>
                        <a:t>cascade</a:t>
                      </a:r>
                      <a:r>
                        <a:rPr lang="zh-CN" sz="2000" kern="100" dirty="0">
                          <a:effectLst/>
                        </a:rPr>
                        <a:t>，</a:t>
                      </a:r>
                      <a:r>
                        <a:rPr lang="en-US" sz="2000" kern="100" dirty="0" err="1">
                          <a:effectLst/>
                        </a:rPr>
                        <a:t>checkbutton</a:t>
                      </a:r>
                      <a:r>
                        <a:rPr lang="zh-CN" sz="2000" kern="100" dirty="0">
                          <a:effectLst/>
                        </a:rPr>
                        <a:t>，</a:t>
                      </a:r>
                      <a:r>
                        <a:rPr lang="en-US" sz="2000" kern="100" dirty="0">
                          <a:effectLst/>
                        </a:rPr>
                        <a:t>command</a:t>
                      </a:r>
                      <a:r>
                        <a:rPr lang="zh-CN" sz="2000" kern="100" dirty="0">
                          <a:effectLst/>
                        </a:rPr>
                        <a:t>，</a:t>
                      </a:r>
                      <a:r>
                        <a:rPr lang="en-US" sz="2000" kern="100" dirty="0" err="1">
                          <a:effectLst/>
                        </a:rPr>
                        <a:t>radiobutton</a:t>
                      </a:r>
                      <a:r>
                        <a:rPr lang="zh-CN" sz="2000" kern="100" dirty="0">
                          <a:effectLst/>
                        </a:rPr>
                        <a:t>，</a:t>
                      </a:r>
                      <a:r>
                        <a:rPr lang="en-US" sz="2000" kern="100" dirty="0">
                          <a:effectLst/>
                        </a:rPr>
                        <a:t>separator</a:t>
                      </a:r>
                      <a:r>
                        <a:rPr lang="zh-CN" sz="2000" kern="100" dirty="0">
                          <a:effectLst/>
                        </a:rPr>
                        <a:t>或</a:t>
                      </a:r>
                      <a:r>
                        <a:rPr lang="en-US" sz="2000" kern="100" dirty="0" err="1">
                          <a:effectLst/>
                        </a:rPr>
                        <a:t>tearoff</a:t>
                      </a:r>
                      <a:r>
                        <a:rPr lang="zh-CN"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3263445"/>
                  </a:ext>
                </a:extLst>
              </a:tr>
            </a:tbl>
          </a:graphicData>
        </a:graphic>
      </p:graphicFrame>
      <p:sp>
        <p:nvSpPr>
          <p:cNvPr id="3" name="灯片编号占位符 2">
            <a:extLst>
              <a:ext uri="{FF2B5EF4-FFF2-40B4-BE49-F238E27FC236}">
                <a16:creationId xmlns:a16="http://schemas.microsoft.com/office/drawing/2014/main" id="{3A5BFA90-BCBF-4DBD-B329-2C3E4D2ACC60}"/>
              </a:ext>
            </a:extLst>
          </p:cNvPr>
          <p:cNvSpPr>
            <a:spLocks noGrp="1"/>
          </p:cNvSpPr>
          <p:nvPr>
            <p:ph type="sldNum" sz="quarter" idx="12"/>
          </p:nvPr>
        </p:nvSpPr>
        <p:spPr/>
        <p:txBody>
          <a:bodyPr/>
          <a:lstStyle/>
          <a:p>
            <a:fld id="{49AE70B2-8BF9-45C0-BB95-33D1B9D3A854}" type="slidenum">
              <a:rPr lang="zh-CN" altLang="en-US" smtClean="0"/>
              <a:t>54</a:t>
            </a:fld>
            <a:endParaRPr lang="zh-CN" altLang="en-US"/>
          </a:p>
        </p:txBody>
      </p:sp>
    </p:spTree>
    <p:extLst>
      <p:ext uri="{BB962C8B-B14F-4D97-AF65-F5344CB8AC3E}">
        <p14:creationId xmlns:p14="http://schemas.microsoft.com/office/powerpoint/2010/main" val="28807256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上下文菜单</a:t>
            </a:r>
            <a:br>
              <a:rPr lang="zh-CN" altLang="en-US" dirty="0"/>
            </a:br>
            <a:endParaRPr lang="zh-CN" altLang="en-US" dirty="0"/>
          </a:p>
        </p:txBody>
      </p:sp>
      <p:sp>
        <p:nvSpPr>
          <p:cNvPr id="3" name="内容占位符 2"/>
          <p:cNvSpPr>
            <a:spLocks noGrp="1"/>
          </p:cNvSpPr>
          <p:nvPr>
            <p:ph idx="1"/>
          </p:nvPr>
        </p:nvSpPr>
        <p:spPr/>
        <p:txBody>
          <a:bodyPr>
            <a:normAutofit/>
          </a:bodyPr>
          <a:lstStyle/>
          <a:p>
            <a:r>
              <a:rPr lang="zh-CN" altLang="en-US" dirty="0"/>
              <a:t>上下文菜单也叫快捷菜单，是右击对象时弹出的菜单</a:t>
            </a:r>
            <a:endParaRPr lang="en-US" altLang="zh-CN" dirty="0"/>
          </a:p>
          <a:p>
            <a:r>
              <a:rPr lang="zh-CN" altLang="en-US" dirty="0"/>
              <a:t>创建快捷菜单的步骤：</a:t>
            </a:r>
          </a:p>
          <a:p>
            <a:pPr lvl="1"/>
            <a:r>
              <a:rPr lang="en-US" altLang="zh-CN" dirty="0"/>
              <a:t>Step1</a:t>
            </a:r>
            <a:r>
              <a:rPr lang="zh-CN" altLang="en-US" dirty="0"/>
              <a:t>：建好菜单组并添加上必要的菜单项，或直接使用普通菜单中的某个菜单组，甚至顶层菜单。</a:t>
            </a:r>
          </a:p>
          <a:p>
            <a:pPr lvl="1"/>
            <a:r>
              <a:rPr lang="en-US" altLang="zh-CN" dirty="0"/>
              <a:t>Step2</a:t>
            </a:r>
            <a:r>
              <a:rPr lang="zh-CN" altLang="en-US" dirty="0"/>
              <a:t>：定义以下格式的响应函数：</a:t>
            </a:r>
          </a:p>
          <a:p>
            <a:pPr marL="457200" lvl="1" indent="0">
              <a:buNone/>
            </a:pPr>
            <a:r>
              <a:rPr lang="en-US" altLang="zh-CN" dirty="0" err="1"/>
              <a:t>def</a:t>
            </a:r>
            <a:r>
              <a:rPr lang="en-US" altLang="zh-CN" dirty="0"/>
              <a:t> </a:t>
            </a:r>
            <a:r>
              <a:rPr lang="zh-CN" altLang="en-US" dirty="0"/>
              <a:t>响应函数名</a:t>
            </a:r>
            <a:r>
              <a:rPr lang="en-US" altLang="zh-CN" dirty="0"/>
              <a:t>(event):</a:t>
            </a:r>
          </a:p>
          <a:p>
            <a:pPr marL="457200" lvl="1" indent="0">
              <a:buNone/>
            </a:pPr>
            <a:r>
              <a:rPr lang="en-US" altLang="zh-CN" dirty="0"/>
              <a:t>    </a:t>
            </a:r>
            <a:r>
              <a:rPr lang="zh-CN" altLang="en-US" dirty="0"/>
              <a:t>菜单组变量</a:t>
            </a:r>
            <a:r>
              <a:rPr lang="en-US" altLang="zh-CN" dirty="0"/>
              <a:t>|</a:t>
            </a:r>
            <a:r>
              <a:rPr lang="zh-CN" altLang="en-US" dirty="0"/>
              <a:t>顶层菜单条变量</a:t>
            </a:r>
            <a:r>
              <a:rPr lang="en-US" altLang="zh-CN" dirty="0"/>
              <a:t>.post(</a:t>
            </a:r>
            <a:r>
              <a:rPr lang="en-US" altLang="zh-CN" dirty="0" err="1"/>
              <a:t>event.x_root</a:t>
            </a:r>
            <a:r>
              <a:rPr lang="en-US" altLang="zh-CN" dirty="0"/>
              <a:t>, </a:t>
            </a:r>
            <a:r>
              <a:rPr lang="en-US" altLang="zh-CN" dirty="0" err="1"/>
              <a:t>event.y_root</a:t>
            </a:r>
            <a:r>
              <a:rPr lang="en-US" altLang="zh-CN" dirty="0"/>
              <a:t>)</a:t>
            </a:r>
          </a:p>
          <a:p>
            <a:pPr lvl="1"/>
            <a:r>
              <a:rPr lang="en-US" altLang="zh-CN" dirty="0"/>
              <a:t>Step3</a:t>
            </a:r>
            <a:r>
              <a:rPr lang="zh-CN" altLang="en-US" dirty="0"/>
              <a:t>：设置需要弹出快捷菜单的对象的事件绑定：</a:t>
            </a:r>
          </a:p>
          <a:p>
            <a:pPr marL="457200" lvl="1" indent="0">
              <a:buNone/>
            </a:pPr>
            <a:r>
              <a:rPr lang="zh-CN" altLang="en-US" dirty="0"/>
              <a:t>控件对象变量</a:t>
            </a:r>
            <a:r>
              <a:rPr lang="en-US" altLang="zh-CN" dirty="0"/>
              <a:t>.bind('&lt;Button-3&gt;', </a:t>
            </a:r>
            <a:r>
              <a:rPr lang="zh-CN" altLang="en-US" dirty="0"/>
              <a:t>响应函数名</a:t>
            </a:r>
            <a:r>
              <a:rPr lang="en-US" altLang="zh-CN" dirty="0"/>
              <a:t>)</a:t>
            </a:r>
            <a:endParaRPr lang="zh-CN" altLang="en-US" dirty="0"/>
          </a:p>
        </p:txBody>
      </p:sp>
      <p:sp>
        <p:nvSpPr>
          <p:cNvPr id="4" name="灯片编号占位符 3">
            <a:extLst>
              <a:ext uri="{FF2B5EF4-FFF2-40B4-BE49-F238E27FC236}">
                <a16:creationId xmlns:a16="http://schemas.microsoft.com/office/drawing/2014/main" id="{B9981A56-DE9F-4B87-975D-478D09FD03CC}"/>
              </a:ext>
            </a:extLst>
          </p:cNvPr>
          <p:cNvSpPr>
            <a:spLocks noGrp="1"/>
          </p:cNvSpPr>
          <p:nvPr>
            <p:ph type="sldNum" sz="quarter" idx="12"/>
          </p:nvPr>
        </p:nvSpPr>
        <p:spPr/>
        <p:txBody>
          <a:bodyPr/>
          <a:lstStyle/>
          <a:p>
            <a:fld id="{49AE70B2-8BF9-45C0-BB95-33D1B9D3A854}" type="slidenum">
              <a:rPr lang="zh-CN" altLang="en-US" smtClean="0"/>
              <a:t>55</a:t>
            </a:fld>
            <a:endParaRPr lang="zh-CN" altLang="en-US"/>
          </a:p>
        </p:txBody>
      </p:sp>
    </p:spTree>
    <p:extLst>
      <p:ext uri="{BB962C8B-B14F-4D97-AF65-F5344CB8AC3E}">
        <p14:creationId xmlns:p14="http://schemas.microsoft.com/office/powerpoint/2010/main" val="39836885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a:t>
            </a:r>
            <a:r>
              <a:rPr lang="zh-CN" altLang="en-US" dirty="0"/>
              <a:t>例</a:t>
            </a:r>
            <a:r>
              <a:rPr lang="en-US" altLang="zh-CN" dirty="0"/>
              <a:t>13-18】</a:t>
            </a:r>
            <a:r>
              <a:rPr lang="zh-CN" altLang="en-US" dirty="0"/>
              <a:t>增加上下文菜单，并修改“菜单一”。</a:t>
            </a:r>
          </a:p>
        </p:txBody>
      </p:sp>
      <p:sp>
        <p:nvSpPr>
          <p:cNvPr id="3" name="内容占位符 2"/>
          <p:cNvSpPr>
            <a:spLocks noGrp="1"/>
          </p:cNvSpPr>
          <p:nvPr>
            <p:ph idx="1"/>
          </p:nvPr>
        </p:nvSpPr>
        <p:spPr/>
        <p:txBody>
          <a:bodyPr/>
          <a:lstStyle/>
          <a:p>
            <a:endParaRPr lang="zh-CN" altLang="en-US" dirty="0"/>
          </a:p>
        </p:txBody>
      </p:sp>
      <p:sp>
        <p:nvSpPr>
          <p:cNvPr id="4" name="Rectangle 2"/>
          <p:cNvSpPr>
            <a:spLocks noChangeArrowheads="1"/>
          </p:cNvSpPr>
          <p:nvPr/>
        </p:nvSpPr>
        <p:spPr bwMode="auto">
          <a:xfrm>
            <a:off x="8616280" y="31409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166936333"/>
              </p:ext>
            </p:extLst>
          </p:nvPr>
        </p:nvGraphicFramePr>
        <p:xfrm>
          <a:off x="7752184" y="1484784"/>
          <a:ext cx="3233142" cy="4072122"/>
        </p:xfrm>
        <a:graphic>
          <a:graphicData uri="http://schemas.openxmlformats.org/presentationml/2006/ole">
            <mc:AlternateContent xmlns:mc="http://schemas.openxmlformats.org/markup-compatibility/2006">
              <mc:Choice xmlns:v="urn:schemas-microsoft-com:vml" Requires="v">
                <p:oleObj name="BMP 图像" r:id="rId2" imgW="1943371" imgH="2429214" progId="Paint.Picture">
                  <p:embed/>
                </p:oleObj>
              </mc:Choice>
              <mc:Fallback>
                <p:oleObj name="BMP 图像" r:id="rId2" imgW="1943371" imgH="2429214" progId="Paint.Picture">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2184" y="1484784"/>
                        <a:ext cx="3233142" cy="4072122"/>
                      </a:xfrm>
                      <a:prstGeom prst="rect">
                        <a:avLst/>
                      </a:prstGeom>
                      <a:noFill/>
                    </p:spPr>
                  </p:pic>
                </p:oleObj>
              </mc:Fallback>
            </mc:AlternateContent>
          </a:graphicData>
        </a:graphic>
      </p:graphicFrame>
      <p:sp>
        <p:nvSpPr>
          <p:cNvPr id="6" name="灯片编号占位符 5">
            <a:extLst>
              <a:ext uri="{FF2B5EF4-FFF2-40B4-BE49-F238E27FC236}">
                <a16:creationId xmlns:a16="http://schemas.microsoft.com/office/drawing/2014/main" id="{008D20E8-F349-4A11-A598-237B28D99E1F}"/>
              </a:ext>
            </a:extLst>
          </p:cNvPr>
          <p:cNvSpPr>
            <a:spLocks noGrp="1"/>
          </p:cNvSpPr>
          <p:nvPr>
            <p:ph type="sldNum" sz="quarter" idx="12"/>
          </p:nvPr>
        </p:nvSpPr>
        <p:spPr/>
        <p:txBody>
          <a:bodyPr/>
          <a:lstStyle/>
          <a:p>
            <a:fld id="{49AE70B2-8BF9-45C0-BB95-33D1B9D3A854}" type="slidenum">
              <a:rPr lang="zh-CN" altLang="en-US" smtClean="0"/>
              <a:t>56</a:t>
            </a:fld>
            <a:endParaRPr lang="zh-CN" altLang="en-US"/>
          </a:p>
        </p:txBody>
      </p:sp>
    </p:spTree>
    <p:extLst>
      <p:ext uri="{BB962C8B-B14F-4D97-AF65-F5344CB8AC3E}">
        <p14:creationId xmlns:p14="http://schemas.microsoft.com/office/powerpoint/2010/main" val="5206120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13.2.10 </a:t>
            </a:r>
            <a:r>
              <a:rPr lang="en-US" altLang="zh-CN" dirty="0" err="1"/>
              <a:t>ttk</a:t>
            </a:r>
            <a:r>
              <a:rPr lang="zh-CN" altLang="en-US" dirty="0"/>
              <a:t>子模块</a:t>
            </a:r>
          </a:p>
        </p:txBody>
      </p:sp>
      <p:sp>
        <p:nvSpPr>
          <p:cNvPr id="3" name="内容占位符 2"/>
          <p:cNvSpPr>
            <a:spLocks noGrp="1"/>
          </p:cNvSpPr>
          <p:nvPr>
            <p:ph idx="1"/>
          </p:nvPr>
        </p:nvSpPr>
        <p:spPr/>
        <p:txBody>
          <a:bodyPr>
            <a:normAutofit/>
          </a:bodyPr>
          <a:lstStyle/>
          <a:p>
            <a:r>
              <a:rPr lang="en-US" altLang="zh-CN" dirty="0" err="1"/>
              <a:t>ttk</a:t>
            </a:r>
            <a:r>
              <a:rPr lang="zh-CN" altLang="en-US" dirty="0"/>
              <a:t>对各种控件进行了美化</a:t>
            </a:r>
            <a:endParaRPr lang="en-US" altLang="zh-CN" dirty="0"/>
          </a:p>
          <a:p>
            <a:pPr lvl="1"/>
            <a:r>
              <a:rPr lang="zh-CN" altLang="en-US" dirty="0"/>
              <a:t>下拉列表框</a:t>
            </a:r>
            <a:r>
              <a:rPr lang="en-US" altLang="zh-CN" dirty="0" err="1"/>
              <a:t>Combobox</a:t>
            </a:r>
            <a:r>
              <a:rPr lang="zh-CN" altLang="en-US" dirty="0"/>
              <a:t>取代了原来的</a:t>
            </a:r>
            <a:r>
              <a:rPr lang="en-US" altLang="zh-CN" dirty="0" err="1"/>
              <a:t>Listbox</a:t>
            </a:r>
            <a:endParaRPr lang="en-US" altLang="zh-CN" dirty="0"/>
          </a:p>
          <a:p>
            <a:pPr lvl="1"/>
            <a:r>
              <a:rPr lang="zh-CN" altLang="en-US" dirty="0"/>
              <a:t>新增了</a:t>
            </a:r>
            <a:r>
              <a:rPr lang="en-US" altLang="zh-CN" dirty="0" err="1"/>
              <a:t>LabeledScale</a:t>
            </a:r>
            <a:r>
              <a:rPr lang="zh-CN" altLang="en-US" dirty="0"/>
              <a:t>（带标签的</a:t>
            </a:r>
            <a:r>
              <a:rPr lang="en-US" altLang="zh-CN" dirty="0"/>
              <a:t>Scale</a:t>
            </a:r>
            <a:r>
              <a:rPr lang="zh-CN" altLang="en-US" dirty="0"/>
              <a:t>）、</a:t>
            </a:r>
            <a:r>
              <a:rPr lang="en-US" altLang="zh-CN" dirty="0"/>
              <a:t>Notebook</a:t>
            </a:r>
            <a:r>
              <a:rPr lang="zh-CN" altLang="en-US" dirty="0"/>
              <a:t>（多文档窗口）、</a:t>
            </a:r>
            <a:r>
              <a:rPr lang="en-US" altLang="zh-CN" dirty="0" err="1"/>
              <a:t>Progressbar</a:t>
            </a:r>
            <a:r>
              <a:rPr lang="zh-CN" altLang="en-US" dirty="0"/>
              <a:t>（进度条）、</a:t>
            </a:r>
            <a:r>
              <a:rPr lang="en-US" altLang="zh-CN" dirty="0" err="1"/>
              <a:t>Treeview</a:t>
            </a:r>
            <a:r>
              <a:rPr lang="zh-CN" altLang="en-US" dirty="0"/>
              <a:t>（树）等组件。</a:t>
            </a:r>
            <a:endParaRPr lang="en-US" altLang="zh-CN" dirty="0"/>
          </a:p>
          <a:p>
            <a:pPr lvl="1"/>
            <a:r>
              <a:rPr lang="en-US" altLang="zh-CN" dirty="0"/>
              <a:t>Style</a:t>
            </a:r>
            <a:r>
              <a:rPr lang="zh-CN" altLang="en-US" dirty="0"/>
              <a:t>对象可以统一设置控件的样式。</a:t>
            </a:r>
            <a:endParaRPr lang="en-US" altLang="zh-CN" dirty="0"/>
          </a:p>
          <a:p>
            <a:r>
              <a:rPr lang="zh-CN" altLang="en-US" dirty="0"/>
              <a:t>导入</a:t>
            </a:r>
            <a:r>
              <a:rPr lang="en-US" altLang="zh-CN" dirty="0" err="1"/>
              <a:t>ttk</a:t>
            </a:r>
            <a:r>
              <a:rPr lang="zh-CN" altLang="en-US" dirty="0"/>
              <a:t>子模块：</a:t>
            </a:r>
          </a:p>
          <a:p>
            <a:pPr marL="457200" lvl="1" indent="0">
              <a:buNone/>
            </a:pPr>
            <a:r>
              <a:rPr lang="zh-CN" altLang="en-US" dirty="0"/>
              <a:t>方式</a:t>
            </a:r>
            <a:r>
              <a:rPr lang="en-US" altLang="zh-CN" dirty="0"/>
              <a:t>1</a:t>
            </a:r>
            <a:r>
              <a:rPr lang="zh-CN" altLang="en-US" dirty="0"/>
              <a:t>：</a:t>
            </a:r>
            <a:r>
              <a:rPr lang="en-US" altLang="zh-CN" dirty="0"/>
              <a:t>import </a:t>
            </a:r>
            <a:r>
              <a:rPr lang="en-US" altLang="zh-CN" dirty="0" err="1"/>
              <a:t>tkinter.ttk</a:t>
            </a:r>
            <a:r>
              <a:rPr lang="en-US" altLang="zh-CN" dirty="0"/>
              <a:t> [as</a:t>
            </a:r>
            <a:r>
              <a:rPr lang="zh-CN" altLang="en-US" dirty="0"/>
              <a:t>别名</a:t>
            </a:r>
            <a:r>
              <a:rPr lang="en-US" altLang="zh-CN" dirty="0"/>
              <a:t>]</a:t>
            </a:r>
          </a:p>
          <a:p>
            <a:pPr marL="457200" lvl="1" indent="0">
              <a:buNone/>
            </a:pPr>
            <a:r>
              <a:rPr lang="zh-CN" altLang="en-US" dirty="0"/>
              <a:t>方式</a:t>
            </a:r>
            <a:r>
              <a:rPr lang="en-US" altLang="zh-CN" dirty="0"/>
              <a:t>2</a:t>
            </a:r>
            <a:r>
              <a:rPr lang="zh-CN" altLang="en-US" dirty="0"/>
              <a:t>：</a:t>
            </a:r>
            <a:r>
              <a:rPr lang="en-US" altLang="zh-CN" dirty="0"/>
              <a:t>from </a:t>
            </a:r>
            <a:r>
              <a:rPr lang="en-US" altLang="zh-CN" dirty="0" err="1"/>
              <a:t>tkinter</a:t>
            </a:r>
            <a:r>
              <a:rPr lang="en-US" altLang="zh-CN" dirty="0"/>
              <a:t> import *</a:t>
            </a:r>
          </a:p>
        </p:txBody>
      </p:sp>
      <p:sp>
        <p:nvSpPr>
          <p:cNvPr id="4" name="灯片编号占位符 3">
            <a:extLst>
              <a:ext uri="{FF2B5EF4-FFF2-40B4-BE49-F238E27FC236}">
                <a16:creationId xmlns:a16="http://schemas.microsoft.com/office/drawing/2014/main" id="{98F7C34F-BE0D-4DC5-A755-BEF3C00976F6}"/>
              </a:ext>
            </a:extLst>
          </p:cNvPr>
          <p:cNvSpPr>
            <a:spLocks noGrp="1"/>
          </p:cNvSpPr>
          <p:nvPr>
            <p:ph type="sldNum" sz="quarter" idx="12"/>
          </p:nvPr>
        </p:nvSpPr>
        <p:spPr/>
        <p:txBody>
          <a:bodyPr/>
          <a:lstStyle/>
          <a:p>
            <a:fld id="{49AE70B2-8BF9-45C0-BB95-33D1B9D3A854}" type="slidenum">
              <a:rPr lang="zh-CN" altLang="en-US" smtClean="0"/>
              <a:t>57</a:t>
            </a:fld>
            <a:endParaRPr lang="zh-CN" altLang="en-US"/>
          </a:p>
        </p:txBody>
      </p:sp>
    </p:spTree>
    <p:extLst>
      <p:ext uri="{BB962C8B-B14F-4D97-AF65-F5344CB8AC3E}">
        <p14:creationId xmlns:p14="http://schemas.microsoft.com/office/powerpoint/2010/main" val="35923956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WordArt 6"/>
          <p:cNvSpPr>
            <a:spLocks noChangeArrowheads="1" noChangeShapeType="1"/>
          </p:cNvSpPr>
          <p:nvPr/>
        </p:nvSpPr>
        <p:spPr bwMode="auto">
          <a:xfrm>
            <a:off x="1882775" y="1557338"/>
            <a:ext cx="8426450" cy="2011363"/>
          </a:xfrm>
          <a:prstGeom prst="rect">
            <a:avLst/>
          </a:prstGeom>
        </p:spPr>
        <p:txBody>
          <a:bodyPr wrap="none" fromWordArt="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8500" b="1" i="0" u="none" strike="noStrike" kern="10" cap="none" spc="0" normalizeH="0" baseline="0" noProof="0" dirty="0">
              <a:ln w="9525">
                <a:noFill/>
                <a:round/>
              </a:ln>
              <a:solidFill>
                <a:schemeClr val="tx1"/>
              </a:solidFill>
              <a:effectLst>
                <a:outerShdw blurRad="38100" dist="38100" dir="2700000" algn="tl">
                  <a:srgbClr val="000000">
                    <a:alpha val="43137"/>
                  </a:srgbClr>
                </a:outerShdw>
              </a:effectLst>
              <a:uLnTx/>
              <a:uFillTx/>
              <a:latin typeface="华文新魏" panose="02010800040101010101" pitchFamily="2" charset="-122"/>
              <a:ea typeface="华文新魏" panose="02010800040101010101" pitchFamily="2" charset="-122"/>
              <a:cs typeface="+mn-cs"/>
            </a:endParaRPr>
          </a:p>
        </p:txBody>
      </p:sp>
      <p:sp>
        <p:nvSpPr>
          <p:cNvPr id="10245" name="标题 1"/>
          <p:cNvSpPr>
            <a:spLocks noGrp="1"/>
          </p:cNvSpPr>
          <p:nvPr>
            <p:ph type="ctrTitle"/>
          </p:nvPr>
        </p:nvSpPr>
        <p:spPr>
          <a:xfrm>
            <a:off x="1882775" y="2292350"/>
            <a:ext cx="8684895" cy="1151255"/>
          </a:xfrm>
        </p:spPr>
        <p:txBody>
          <a:bodyPr vert="horz" wrap="square" lIns="91440" tIns="45720" rIns="91440" bIns="45720" anchor="b"/>
          <a:lstStyle/>
          <a:p>
            <a:pPr>
              <a:buClrTx/>
              <a:buSzTx/>
              <a:buFontTx/>
              <a:buNone/>
            </a:pPr>
            <a:r>
              <a:rPr lang="en-US" kern="1200" dirty="0">
                <a:latin typeface="+mj-lt"/>
                <a:ea typeface="+mj-ea"/>
                <a:cs typeface="+mj-cs"/>
              </a:rPr>
              <a:t>13.3 </a:t>
            </a:r>
            <a:r>
              <a:rPr lang="zh-CN" altLang="en-US" kern="1200" dirty="0">
                <a:latin typeface="+mj-lt"/>
                <a:ea typeface="+mj-ea"/>
                <a:cs typeface="+mj-cs"/>
              </a:rPr>
              <a:t>对话框</a:t>
            </a:r>
          </a:p>
        </p:txBody>
      </p:sp>
      <p:sp>
        <p:nvSpPr>
          <p:cNvPr id="2" name="灯片编号占位符 1">
            <a:extLst>
              <a:ext uri="{FF2B5EF4-FFF2-40B4-BE49-F238E27FC236}">
                <a16:creationId xmlns:a16="http://schemas.microsoft.com/office/drawing/2014/main" id="{56A8DEEE-6AB5-4BB9-BD08-1211B552B28C}"/>
              </a:ext>
            </a:extLst>
          </p:cNvPr>
          <p:cNvSpPr>
            <a:spLocks noGrp="1"/>
          </p:cNvSpPr>
          <p:nvPr>
            <p:ph type="sldNum" sz="quarter" idx="12"/>
          </p:nvPr>
        </p:nvSpPr>
        <p:spPr/>
        <p:txBody>
          <a:bodyPr/>
          <a:lstStyle/>
          <a:p>
            <a:fld id="{49AE70B2-8BF9-45C0-BB95-33D1B9D3A854}" type="slidenum">
              <a:rPr lang="zh-CN" altLang="en-US" smtClean="0"/>
              <a:t>58</a:t>
            </a:fld>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nodePh="1">
                                  <p:stCondLst>
                                    <p:cond delay="0"/>
                                  </p:stCondLst>
                                  <p:endCondLst>
                                    <p:cond evt="begin" delay="0">
                                      <p:tn val="5"/>
                                    </p:cond>
                                  </p:endCondLst>
                                  <p:childTnLst>
                                    <p:set>
                                      <p:cBhvr>
                                        <p:cTn id="6" dur="1" fill="hold">
                                          <p:stCondLst>
                                            <p:cond delay="0"/>
                                          </p:stCondLst>
                                        </p:cTn>
                                        <p:tgtEl>
                                          <p:spTgt spid="16387"/>
                                        </p:tgtEl>
                                        <p:attrNameLst>
                                          <p:attrName>style.visibility</p:attrName>
                                        </p:attrNameLst>
                                      </p:cBhvr>
                                      <p:to>
                                        <p:strVal val="visible"/>
                                      </p:to>
                                    </p:set>
                                    <p:animEffect transition="in" filter="fade">
                                      <p:cBhvr>
                                        <p:cTn id="7" dur="1000"/>
                                        <p:tgtEl>
                                          <p:spTgt spid="16387"/>
                                        </p:tgtEl>
                                      </p:cBhvr>
                                    </p:animEffect>
                                    <p:anim calcmode="lin" valueType="num">
                                      <p:cBhvr>
                                        <p:cTn id="8" dur="1000" fill="hold"/>
                                        <p:tgtEl>
                                          <p:spTgt spid="16387"/>
                                        </p:tgtEl>
                                        <p:attrNameLst>
                                          <p:attrName>ppt_x</p:attrName>
                                        </p:attrNameLst>
                                      </p:cBhvr>
                                      <p:tavLst>
                                        <p:tav tm="0">
                                          <p:val>
                                            <p:strVal val="#ppt_x"/>
                                          </p:val>
                                        </p:tav>
                                        <p:tav tm="100000">
                                          <p:val>
                                            <p:strVal val="#ppt_x"/>
                                          </p:val>
                                        </p:tav>
                                      </p:tavLst>
                                    </p:anim>
                                    <p:anim calcmode="lin" valueType="num">
                                      <p:cBhvr>
                                        <p:cTn id="9" dur="1000" fill="hold"/>
                                        <p:tgtEl>
                                          <p:spTgt spid="163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13.3.1 </a:t>
            </a:r>
            <a:r>
              <a:rPr lang="zh-CN" altLang="en-US" dirty="0"/>
              <a:t>弹出消息框</a:t>
            </a:r>
          </a:p>
        </p:txBody>
      </p:sp>
      <p:sp>
        <p:nvSpPr>
          <p:cNvPr id="3" name="内容占位符 2"/>
          <p:cNvSpPr>
            <a:spLocks noGrp="1"/>
          </p:cNvSpPr>
          <p:nvPr>
            <p:ph idx="1"/>
          </p:nvPr>
        </p:nvSpPr>
        <p:spPr>
          <a:xfrm>
            <a:off x="669925" y="1160145"/>
            <a:ext cx="8378403" cy="5180965"/>
          </a:xfrm>
        </p:spPr>
        <p:txBody>
          <a:bodyPr>
            <a:normAutofit/>
          </a:bodyPr>
          <a:lstStyle/>
          <a:p>
            <a:r>
              <a:rPr lang="zh-CN" altLang="en-US" dirty="0"/>
              <a:t>消息对话框是独立于窗口的弹出式提示信息。</a:t>
            </a:r>
            <a:endParaRPr lang="en-US" altLang="zh-CN" dirty="0"/>
          </a:p>
          <a:p>
            <a:r>
              <a:rPr lang="zh-CN" altLang="en-US" dirty="0"/>
              <a:t>需要导入</a:t>
            </a:r>
            <a:r>
              <a:rPr lang="en-US" altLang="zh-CN" dirty="0" err="1"/>
              <a:t>tkinter</a:t>
            </a:r>
            <a:r>
              <a:rPr lang="zh-CN" altLang="en-US" dirty="0"/>
              <a:t>的子模块</a:t>
            </a:r>
            <a:r>
              <a:rPr lang="en-US" altLang="zh-CN" dirty="0" err="1"/>
              <a:t>messagebox</a:t>
            </a:r>
            <a:r>
              <a:rPr lang="zh-CN" altLang="en-US" dirty="0"/>
              <a:t>：</a:t>
            </a:r>
          </a:p>
          <a:p>
            <a:pPr marL="457200" lvl="1" indent="0">
              <a:buNone/>
            </a:pPr>
            <a:r>
              <a:rPr lang="zh-CN" altLang="en-US" dirty="0"/>
              <a:t>方式</a:t>
            </a:r>
            <a:r>
              <a:rPr lang="en-US" altLang="zh-CN" dirty="0"/>
              <a:t>1</a:t>
            </a:r>
            <a:r>
              <a:rPr lang="zh-CN" altLang="en-US" dirty="0"/>
              <a:t>：</a:t>
            </a:r>
            <a:r>
              <a:rPr lang="en-US" altLang="zh-CN" dirty="0"/>
              <a:t>import </a:t>
            </a:r>
            <a:r>
              <a:rPr lang="en-US" altLang="zh-CN" dirty="0" err="1"/>
              <a:t>tkinter.messagebox</a:t>
            </a:r>
            <a:r>
              <a:rPr lang="en-US" altLang="zh-CN" dirty="0"/>
              <a:t> [as</a:t>
            </a:r>
            <a:r>
              <a:rPr lang="zh-CN" altLang="en-US" dirty="0"/>
              <a:t>别名</a:t>
            </a:r>
            <a:r>
              <a:rPr lang="en-US" altLang="zh-CN" dirty="0"/>
              <a:t>]</a:t>
            </a:r>
          </a:p>
          <a:p>
            <a:pPr marL="457200" lvl="1" indent="0">
              <a:buNone/>
            </a:pPr>
            <a:r>
              <a:rPr lang="zh-CN" altLang="en-US" dirty="0"/>
              <a:t>方式</a:t>
            </a:r>
            <a:r>
              <a:rPr lang="en-US" altLang="zh-CN" dirty="0"/>
              <a:t>2</a:t>
            </a:r>
            <a:r>
              <a:rPr lang="zh-CN" altLang="en-US" dirty="0"/>
              <a:t>：</a:t>
            </a:r>
            <a:r>
              <a:rPr lang="en-US" altLang="zh-CN" dirty="0"/>
              <a:t>from </a:t>
            </a:r>
            <a:r>
              <a:rPr lang="en-US" altLang="zh-CN" dirty="0" err="1"/>
              <a:t>tkinter.messagebox</a:t>
            </a:r>
            <a:r>
              <a:rPr lang="en-US" altLang="zh-CN" dirty="0"/>
              <a:t> import *</a:t>
            </a:r>
          </a:p>
          <a:p>
            <a:r>
              <a:rPr lang="zh-CN" altLang="en-US" dirty="0"/>
              <a:t>消息框分成四个区域</a:t>
            </a:r>
            <a:endParaRPr lang="en-US" altLang="zh-CN" dirty="0"/>
          </a:p>
          <a:p>
            <a:pPr lvl="1"/>
            <a:r>
              <a:rPr lang="zh-CN" altLang="en-US" dirty="0"/>
              <a:t>标题区、图标区、提示区、按钮区。</a:t>
            </a:r>
          </a:p>
          <a:p>
            <a:endParaRPr lang="zh-CN" altLang="en-US" dirty="0"/>
          </a:p>
        </p:txBody>
      </p:sp>
      <p:pic>
        <p:nvPicPr>
          <p:cNvPr id="4" name="图片 3"/>
          <p:cNvPicPr>
            <a:picLocks noChangeAspect="1"/>
          </p:cNvPicPr>
          <p:nvPr/>
        </p:nvPicPr>
        <p:blipFill>
          <a:blip r:embed="rId2"/>
          <a:stretch>
            <a:fillRect/>
          </a:stretch>
        </p:blipFill>
        <p:spPr>
          <a:xfrm>
            <a:off x="7968208" y="3861048"/>
            <a:ext cx="3922241" cy="2770757"/>
          </a:xfrm>
          <a:prstGeom prst="rect">
            <a:avLst/>
          </a:prstGeom>
        </p:spPr>
      </p:pic>
      <p:sp>
        <p:nvSpPr>
          <p:cNvPr id="5" name="灯片编号占位符 4">
            <a:extLst>
              <a:ext uri="{FF2B5EF4-FFF2-40B4-BE49-F238E27FC236}">
                <a16:creationId xmlns:a16="http://schemas.microsoft.com/office/drawing/2014/main" id="{1DCA11C8-E0A0-433C-99EE-44F4D466210C}"/>
              </a:ext>
            </a:extLst>
          </p:cNvPr>
          <p:cNvSpPr>
            <a:spLocks noGrp="1"/>
          </p:cNvSpPr>
          <p:nvPr>
            <p:ph type="sldNum" sz="quarter" idx="12"/>
          </p:nvPr>
        </p:nvSpPr>
        <p:spPr/>
        <p:txBody>
          <a:bodyPr/>
          <a:lstStyle/>
          <a:p>
            <a:fld id="{49AE70B2-8BF9-45C0-BB95-33D1B9D3A854}" type="slidenum">
              <a:rPr lang="zh-CN" altLang="en-US" smtClean="0"/>
              <a:t>59</a:t>
            </a:fld>
            <a:endParaRPr lang="zh-CN" altLang="en-US"/>
          </a:p>
        </p:txBody>
      </p:sp>
    </p:spTree>
    <p:extLst>
      <p:ext uri="{BB962C8B-B14F-4D97-AF65-F5344CB8AC3E}">
        <p14:creationId xmlns:p14="http://schemas.microsoft.com/office/powerpoint/2010/main" val="2482569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消息框分类</a:t>
            </a:r>
          </a:p>
        </p:txBody>
      </p:sp>
      <p:sp>
        <p:nvSpPr>
          <p:cNvPr id="3" name="内容占位符 2"/>
          <p:cNvSpPr>
            <a:spLocks noGrp="1"/>
          </p:cNvSpPr>
          <p:nvPr>
            <p:ph idx="1"/>
          </p:nvPr>
        </p:nvSpPr>
        <p:spPr/>
        <p:txBody>
          <a:bodyPr/>
          <a:lstStyle/>
          <a:p>
            <a:r>
              <a:rPr lang="zh-CN" altLang="en-US" dirty="0"/>
              <a:t>提示消息框</a:t>
            </a:r>
          </a:p>
          <a:p>
            <a:pPr lvl="1"/>
            <a:r>
              <a:rPr lang="zh-CN" altLang="en-US" dirty="0"/>
              <a:t>提示消息框是给出一定的提示信息，消息框中只有一个确定按钮。</a:t>
            </a:r>
          </a:p>
          <a:p>
            <a:r>
              <a:rPr lang="zh-CN" altLang="en-US" dirty="0"/>
              <a:t>疑问消息框</a:t>
            </a:r>
          </a:p>
          <a:p>
            <a:pPr lvl="1"/>
            <a:r>
              <a:rPr lang="zh-CN" altLang="en-US" dirty="0"/>
              <a:t>疑问消息框在给出提示信息的同时，会给出不同数量和种类的按钮，供用户进行选择。</a:t>
            </a:r>
          </a:p>
          <a:p>
            <a:endParaRPr lang="zh-CN" altLang="en-US" dirty="0"/>
          </a:p>
        </p:txBody>
      </p:sp>
      <p:sp>
        <p:nvSpPr>
          <p:cNvPr id="4" name="灯片编号占位符 3">
            <a:extLst>
              <a:ext uri="{FF2B5EF4-FFF2-40B4-BE49-F238E27FC236}">
                <a16:creationId xmlns:a16="http://schemas.microsoft.com/office/drawing/2014/main" id="{1A16D3A5-3CC1-4782-81B4-4DFB10453FD0}"/>
              </a:ext>
            </a:extLst>
          </p:cNvPr>
          <p:cNvSpPr>
            <a:spLocks noGrp="1"/>
          </p:cNvSpPr>
          <p:nvPr>
            <p:ph type="sldNum" sz="quarter" idx="12"/>
          </p:nvPr>
        </p:nvSpPr>
        <p:spPr/>
        <p:txBody>
          <a:bodyPr/>
          <a:lstStyle/>
          <a:p>
            <a:fld id="{49AE70B2-8BF9-45C0-BB95-33D1B9D3A854}" type="slidenum">
              <a:rPr lang="zh-CN" altLang="en-US" smtClean="0"/>
              <a:t>60</a:t>
            </a:fld>
            <a:endParaRPr lang="zh-CN" altLang="en-US"/>
          </a:p>
        </p:txBody>
      </p:sp>
    </p:spTree>
    <p:extLst>
      <p:ext uri="{BB962C8B-B14F-4D97-AF65-F5344CB8AC3E}">
        <p14:creationId xmlns:p14="http://schemas.microsoft.com/office/powerpoint/2010/main" val="15621782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提示消息框</a:t>
            </a:r>
          </a:p>
        </p:txBody>
      </p:sp>
      <p:sp>
        <p:nvSpPr>
          <p:cNvPr id="3" name="内容占位符 2"/>
          <p:cNvSpPr>
            <a:spLocks noGrp="1"/>
          </p:cNvSpPr>
          <p:nvPr>
            <p:ph sz="half" idx="1"/>
          </p:nvPr>
        </p:nvSpPr>
        <p:spPr/>
        <p:txBody>
          <a:bodyPr/>
          <a:lstStyle/>
          <a:p>
            <a:pPr marL="0" indent="0">
              <a:buNone/>
            </a:pPr>
            <a:r>
              <a:rPr lang="zh-CN" altLang="en-US" dirty="0"/>
              <a:t>（</a:t>
            </a:r>
            <a:r>
              <a:rPr lang="en-US" altLang="zh-CN" dirty="0"/>
              <a:t>1</a:t>
            </a:r>
            <a:r>
              <a:rPr lang="zh-CN" altLang="en-US" dirty="0"/>
              <a:t>）</a:t>
            </a:r>
            <a:r>
              <a:rPr lang="en-US" altLang="zh-CN" dirty="0" err="1"/>
              <a:t>showinfo</a:t>
            </a:r>
            <a:r>
              <a:rPr lang="zh-CN" altLang="en-US" dirty="0"/>
              <a:t>函数</a:t>
            </a:r>
          </a:p>
          <a:p>
            <a:pPr marL="0" indent="0">
              <a:buNone/>
            </a:pPr>
            <a:r>
              <a:rPr lang="en-US" altLang="zh-CN" dirty="0"/>
              <a:t>&gt;&gt;&gt; </a:t>
            </a:r>
            <a:r>
              <a:rPr lang="en-US" altLang="zh-CN" dirty="0" err="1"/>
              <a:t>btxt</a:t>
            </a:r>
            <a:r>
              <a:rPr lang="en-US" altLang="zh-CN" dirty="0"/>
              <a:t> = </a:t>
            </a:r>
            <a:r>
              <a:rPr lang="en-US" altLang="zh-CN" dirty="0" err="1"/>
              <a:t>showinfo</a:t>
            </a:r>
            <a:r>
              <a:rPr lang="en-US" altLang="zh-CN" dirty="0"/>
              <a:t>(title='</a:t>
            </a:r>
            <a:r>
              <a:rPr lang="zh-CN" altLang="en-US" dirty="0"/>
              <a:t>提示</a:t>
            </a:r>
            <a:r>
              <a:rPr lang="en-US" altLang="zh-CN" dirty="0"/>
              <a:t>', message='</a:t>
            </a:r>
            <a:r>
              <a:rPr lang="zh-CN" altLang="en-US" dirty="0"/>
              <a:t>再见！欢迎下次光临！</a:t>
            </a:r>
            <a:r>
              <a:rPr lang="en-US" altLang="zh-CN" dirty="0"/>
              <a:t>')</a:t>
            </a:r>
          </a:p>
          <a:p>
            <a:endParaRPr lang="zh-CN" altLang="en-US" dirty="0"/>
          </a:p>
        </p:txBody>
      </p:sp>
      <p:sp>
        <p:nvSpPr>
          <p:cNvPr id="4" name="内容占位符 3"/>
          <p:cNvSpPr>
            <a:spLocks noGrp="1"/>
          </p:cNvSpPr>
          <p:nvPr>
            <p:ph sz="half" idx="2"/>
          </p:nvPr>
        </p:nvSpPr>
        <p:spPr/>
        <p:txBody>
          <a:bodyPr/>
          <a:lstStyle/>
          <a:p>
            <a:pPr marL="0" indent="0">
              <a:buNone/>
            </a:pPr>
            <a:r>
              <a:rPr lang="zh-CN" altLang="en-US" dirty="0"/>
              <a:t>（</a:t>
            </a:r>
            <a:r>
              <a:rPr lang="en-US" altLang="zh-CN" dirty="0"/>
              <a:t>2</a:t>
            </a:r>
            <a:r>
              <a:rPr lang="zh-CN" altLang="en-US" dirty="0"/>
              <a:t>）</a:t>
            </a:r>
            <a:r>
              <a:rPr lang="en-US" altLang="zh-CN" dirty="0" err="1"/>
              <a:t>showwarning</a:t>
            </a:r>
            <a:r>
              <a:rPr lang="zh-CN" altLang="en-US" dirty="0"/>
              <a:t>函数</a:t>
            </a:r>
          </a:p>
          <a:p>
            <a:pPr marL="0" indent="0">
              <a:buNone/>
            </a:pPr>
            <a:r>
              <a:rPr lang="en-US" altLang="zh-CN" dirty="0"/>
              <a:t>&gt;&gt;&gt; </a:t>
            </a:r>
            <a:r>
              <a:rPr lang="en-US" altLang="zh-CN" dirty="0" err="1"/>
              <a:t>btxt</a:t>
            </a:r>
            <a:r>
              <a:rPr lang="en-US" altLang="zh-CN" dirty="0"/>
              <a:t> = </a:t>
            </a:r>
            <a:r>
              <a:rPr lang="en-US" altLang="zh-CN" dirty="0" err="1"/>
              <a:t>showwarning</a:t>
            </a:r>
            <a:r>
              <a:rPr lang="en-US" altLang="zh-CN" dirty="0"/>
              <a:t>(title='</a:t>
            </a:r>
            <a:r>
              <a:rPr lang="zh-CN" altLang="en-US" dirty="0"/>
              <a:t>提示</a:t>
            </a:r>
            <a:r>
              <a:rPr lang="en-US" altLang="zh-CN" dirty="0"/>
              <a:t>', message='</a:t>
            </a:r>
            <a:r>
              <a:rPr lang="zh-CN" altLang="en-US" dirty="0"/>
              <a:t>不能输入数字！</a:t>
            </a:r>
            <a:r>
              <a:rPr lang="en-US" altLang="zh-CN" dirty="0"/>
              <a:t>')</a:t>
            </a:r>
          </a:p>
          <a:p>
            <a:endParaRPr lang="zh-CN" altLang="en-US" dirty="0"/>
          </a:p>
        </p:txBody>
      </p:sp>
      <p:pic>
        <p:nvPicPr>
          <p:cNvPr id="5" name="图片 4"/>
          <p:cNvPicPr>
            <a:picLocks noChangeAspect="1"/>
          </p:cNvPicPr>
          <p:nvPr/>
        </p:nvPicPr>
        <p:blipFill>
          <a:blip r:embed="rId2"/>
          <a:stretch>
            <a:fillRect/>
          </a:stretch>
        </p:blipFill>
        <p:spPr>
          <a:xfrm>
            <a:off x="1487488" y="3212976"/>
            <a:ext cx="3119442" cy="2484000"/>
          </a:xfrm>
          <a:prstGeom prst="rect">
            <a:avLst/>
          </a:prstGeom>
        </p:spPr>
      </p:pic>
      <p:pic>
        <p:nvPicPr>
          <p:cNvPr id="6" name="图片 5"/>
          <p:cNvPicPr>
            <a:picLocks noChangeAspect="1"/>
          </p:cNvPicPr>
          <p:nvPr/>
        </p:nvPicPr>
        <p:blipFill>
          <a:blip r:embed="rId3"/>
          <a:stretch>
            <a:fillRect/>
          </a:stretch>
        </p:blipFill>
        <p:spPr>
          <a:xfrm>
            <a:off x="7536160" y="3212976"/>
            <a:ext cx="2666511" cy="2520000"/>
          </a:xfrm>
          <a:prstGeom prst="rect">
            <a:avLst/>
          </a:prstGeom>
        </p:spPr>
      </p:pic>
      <p:sp>
        <p:nvSpPr>
          <p:cNvPr id="7" name="灯片编号占位符 6">
            <a:extLst>
              <a:ext uri="{FF2B5EF4-FFF2-40B4-BE49-F238E27FC236}">
                <a16:creationId xmlns:a16="http://schemas.microsoft.com/office/drawing/2014/main" id="{E6141AF2-9586-4832-9DDE-93B95C27417B}"/>
              </a:ext>
            </a:extLst>
          </p:cNvPr>
          <p:cNvSpPr>
            <a:spLocks noGrp="1"/>
          </p:cNvSpPr>
          <p:nvPr>
            <p:ph type="sldNum" sz="quarter" idx="12"/>
          </p:nvPr>
        </p:nvSpPr>
        <p:spPr/>
        <p:txBody>
          <a:bodyPr/>
          <a:lstStyle/>
          <a:p>
            <a:fld id="{49AE70B2-8BF9-45C0-BB95-33D1B9D3A854}" type="slidenum">
              <a:rPr lang="zh-CN" altLang="en-US" smtClean="0"/>
              <a:t>61</a:t>
            </a:fld>
            <a:endParaRPr lang="zh-CN" altLang="en-US"/>
          </a:p>
        </p:txBody>
      </p:sp>
    </p:spTree>
    <p:extLst>
      <p:ext uri="{BB962C8B-B14F-4D97-AF65-F5344CB8AC3E}">
        <p14:creationId xmlns:p14="http://schemas.microsoft.com/office/powerpoint/2010/main" val="17345637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提示消息框</a:t>
            </a:r>
          </a:p>
        </p:txBody>
      </p:sp>
      <p:sp>
        <p:nvSpPr>
          <p:cNvPr id="3" name="内容占位符 2"/>
          <p:cNvSpPr>
            <a:spLocks noGrp="1"/>
          </p:cNvSpPr>
          <p:nvPr>
            <p:ph sz="half" idx="1"/>
          </p:nvPr>
        </p:nvSpPr>
        <p:spPr/>
        <p:txBody>
          <a:bodyPr/>
          <a:lstStyle/>
          <a:p>
            <a:pPr marL="0" indent="0">
              <a:buNone/>
            </a:pPr>
            <a:r>
              <a:rPr lang="zh-CN" altLang="en-US" dirty="0"/>
              <a:t>（</a:t>
            </a:r>
            <a:r>
              <a:rPr lang="en-US" altLang="zh-CN" dirty="0"/>
              <a:t>3</a:t>
            </a:r>
            <a:r>
              <a:rPr lang="zh-CN" altLang="en-US" dirty="0"/>
              <a:t>）	</a:t>
            </a:r>
            <a:r>
              <a:rPr lang="en-US" altLang="zh-CN" dirty="0" err="1"/>
              <a:t>showerror</a:t>
            </a:r>
            <a:r>
              <a:rPr lang="zh-CN" altLang="en-US" dirty="0"/>
              <a:t>函数</a:t>
            </a:r>
          </a:p>
          <a:p>
            <a:pPr marL="0" indent="0">
              <a:buNone/>
            </a:pPr>
            <a:r>
              <a:rPr lang="en-US" altLang="zh-CN" dirty="0"/>
              <a:t>&gt;&gt;&gt; </a:t>
            </a:r>
            <a:r>
              <a:rPr lang="en-US" altLang="zh-CN" dirty="0" err="1"/>
              <a:t>btxt</a:t>
            </a:r>
            <a:r>
              <a:rPr lang="en-US" altLang="zh-CN" dirty="0"/>
              <a:t> = </a:t>
            </a:r>
            <a:r>
              <a:rPr lang="en-US" altLang="zh-CN" dirty="0" err="1"/>
              <a:t>showerror</a:t>
            </a:r>
            <a:r>
              <a:rPr lang="en-US" altLang="zh-CN" dirty="0"/>
              <a:t>(title='</a:t>
            </a:r>
            <a:r>
              <a:rPr lang="zh-CN" altLang="en-US" dirty="0"/>
              <a:t>提示</a:t>
            </a:r>
            <a:r>
              <a:rPr lang="en-US" altLang="zh-CN" dirty="0"/>
              <a:t>', message='</a:t>
            </a:r>
            <a:r>
              <a:rPr lang="zh-CN" altLang="en-US" dirty="0"/>
              <a:t>用户名或密码错误</a:t>
            </a:r>
            <a:r>
              <a:rPr lang="en-US" altLang="zh-CN" dirty="0"/>
              <a:t>')</a:t>
            </a:r>
          </a:p>
        </p:txBody>
      </p:sp>
      <p:pic>
        <p:nvPicPr>
          <p:cNvPr id="8" name="图片 7"/>
          <p:cNvPicPr>
            <a:picLocks noChangeAspect="1"/>
          </p:cNvPicPr>
          <p:nvPr/>
        </p:nvPicPr>
        <p:blipFill>
          <a:blip r:embed="rId2"/>
          <a:stretch>
            <a:fillRect/>
          </a:stretch>
        </p:blipFill>
        <p:spPr>
          <a:xfrm>
            <a:off x="1775520" y="3140968"/>
            <a:ext cx="2666512" cy="2520000"/>
          </a:xfrm>
          <a:prstGeom prst="rect">
            <a:avLst/>
          </a:prstGeom>
        </p:spPr>
      </p:pic>
      <p:sp>
        <p:nvSpPr>
          <p:cNvPr id="4" name="灯片编号占位符 3">
            <a:extLst>
              <a:ext uri="{FF2B5EF4-FFF2-40B4-BE49-F238E27FC236}">
                <a16:creationId xmlns:a16="http://schemas.microsoft.com/office/drawing/2014/main" id="{8CE78943-9749-47C3-A483-CB30DE3323E9}"/>
              </a:ext>
            </a:extLst>
          </p:cNvPr>
          <p:cNvSpPr>
            <a:spLocks noGrp="1"/>
          </p:cNvSpPr>
          <p:nvPr>
            <p:ph type="sldNum" sz="quarter" idx="12"/>
          </p:nvPr>
        </p:nvSpPr>
        <p:spPr/>
        <p:txBody>
          <a:bodyPr/>
          <a:lstStyle/>
          <a:p>
            <a:fld id="{49AE70B2-8BF9-45C0-BB95-33D1B9D3A854}" type="slidenum">
              <a:rPr lang="zh-CN" altLang="en-US" smtClean="0"/>
              <a:t>62</a:t>
            </a:fld>
            <a:endParaRPr lang="zh-CN" altLang="en-US"/>
          </a:p>
        </p:txBody>
      </p:sp>
    </p:spTree>
    <p:extLst>
      <p:ext uri="{BB962C8B-B14F-4D97-AF65-F5344CB8AC3E}">
        <p14:creationId xmlns:p14="http://schemas.microsoft.com/office/powerpoint/2010/main" val="34552112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疑问消息框</a:t>
            </a:r>
          </a:p>
        </p:txBody>
      </p:sp>
      <p:sp>
        <p:nvSpPr>
          <p:cNvPr id="3" name="内容占位符 2"/>
          <p:cNvSpPr>
            <a:spLocks noGrp="1"/>
          </p:cNvSpPr>
          <p:nvPr>
            <p:ph sz="half" idx="1"/>
          </p:nvPr>
        </p:nvSpPr>
        <p:spPr/>
        <p:txBody>
          <a:bodyPr/>
          <a:lstStyle/>
          <a:p>
            <a:pPr marL="0" indent="0">
              <a:buNone/>
            </a:pPr>
            <a:r>
              <a:rPr lang="zh-CN" altLang="en-US" dirty="0"/>
              <a:t>（</a:t>
            </a:r>
            <a:r>
              <a:rPr lang="en-US" altLang="zh-CN" dirty="0"/>
              <a:t>1</a:t>
            </a:r>
            <a:r>
              <a:rPr lang="zh-CN" altLang="en-US" dirty="0"/>
              <a:t>）	</a:t>
            </a:r>
            <a:r>
              <a:rPr lang="en-US" altLang="zh-CN" dirty="0" err="1"/>
              <a:t>askquestion</a:t>
            </a:r>
            <a:r>
              <a:rPr lang="zh-CN" altLang="en-US" dirty="0"/>
              <a:t>函数</a:t>
            </a:r>
          </a:p>
          <a:p>
            <a:pPr marL="0" indent="0">
              <a:buNone/>
            </a:pPr>
            <a:r>
              <a:rPr lang="en-US" altLang="zh-CN" dirty="0"/>
              <a:t>&gt;&gt;&gt; </a:t>
            </a:r>
            <a:r>
              <a:rPr lang="en-US" altLang="zh-CN" dirty="0" err="1"/>
              <a:t>btxt</a:t>
            </a:r>
            <a:r>
              <a:rPr lang="en-US" altLang="zh-CN" dirty="0"/>
              <a:t> = </a:t>
            </a:r>
            <a:r>
              <a:rPr lang="en-US" altLang="zh-CN" dirty="0" err="1"/>
              <a:t>askquestion</a:t>
            </a:r>
            <a:r>
              <a:rPr lang="en-US" altLang="zh-CN" dirty="0"/>
              <a:t>(title='</a:t>
            </a:r>
            <a:r>
              <a:rPr lang="zh-CN" altLang="en-US" dirty="0"/>
              <a:t>提示</a:t>
            </a:r>
            <a:r>
              <a:rPr lang="en-US" altLang="zh-CN" dirty="0"/>
              <a:t>', message='</a:t>
            </a:r>
            <a:r>
              <a:rPr lang="zh-CN" altLang="en-US" dirty="0"/>
              <a:t>是否删除该同学？</a:t>
            </a:r>
            <a:r>
              <a:rPr lang="en-US" altLang="zh-CN" dirty="0"/>
              <a:t>')</a:t>
            </a:r>
          </a:p>
          <a:p>
            <a:endParaRPr lang="zh-CN" altLang="en-US" dirty="0"/>
          </a:p>
        </p:txBody>
      </p:sp>
      <p:sp>
        <p:nvSpPr>
          <p:cNvPr id="4" name="内容占位符 3"/>
          <p:cNvSpPr>
            <a:spLocks noGrp="1"/>
          </p:cNvSpPr>
          <p:nvPr>
            <p:ph sz="half" idx="2"/>
          </p:nvPr>
        </p:nvSpPr>
        <p:spPr/>
        <p:txBody>
          <a:bodyPr/>
          <a:lstStyle/>
          <a:p>
            <a:pPr marL="0" indent="0">
              <a:buNone/>
            </a:pPr>
            <a:r>
              <a:rPr lang="zh-CN" altLang="en-US" dirty="0"/>
              <a:t>（</a:t>
            </a:r>
            <a:r>
              <a:rPr lang="en-US" altLang="zh-CN" dirty="0"/>
              <a:t>2</a:t>
            </a:r>
            <a:r>
              <a:rPr lang="zh-CN" altLang="en-US" dirty="0"/>
              <a:t>）	</a:t>
            </a:r>
            <a:r>
              <a:rPr lang="en-US" altLang="zh-CN" dirty="0" err="1"/>
              <a:t>askyesnocancel</a:t>
            </a:r>
            <a:r>
              <a:rPr lang="zh-CN" altLang="en-US" dirty="0"/>
              <a:t>函数</a:t>
            </a:r>
          </a:p>
          <a:p>
            <a:pPr marL="0" indent="0">
              <a:buNone/>
            </a:pPr>
            <a:r>
              <a:rPr lang="en-US" altLang="zh-CN" dirty="0"/>
              <a:t>&gt;&gt;&gt; </a:t>
            </a:r>
            <a:r>
              <a:rPr lang="en-US" altLang="zh-CN" dirty="0" err="1"/>
              <a:t>btxt</a:t>
            </a:r>
            <a:r>
              <a:rPr lang="en-US" altLang="zh-CN" dirty="0"/>
              <a:t> = </a:t>
            </a:r>
            <a:r>
              <a:rPr lang="en-US" altLang="zh-CN" dirty="0" err="1"/>
              <a:t>askyesnocancel</a:t>
            </a:r>
            <a:r>
              <a:rPr lang="en-US" altLang="zh-CN" dirty="0"/>
              <a:t> (title='</a:t>
            </a:r>
            <a:r>
              <a:rPr lang="zh-CN" altLang="en-US" dirty="0"/>
              <a:t>提示</a:t>
            </a:r>
            <a:r>
              <a:rPr lang="en-US" altLang="zh-CN" dirty="0"/>
              <a:t>', message='</a:t>
            </a:r>
            <a:r>
              <a:rPr lang="zh-CN" altLang="en-US" dirty="0"/>
              <a:t>是否删除该同学？</a:t>
            </a:r>
            <a:r>
              <a:rPr lang="en-US" altLang="zh-CN" dirty="0"/>
              <a:t>')</a:t>
            </a:r>
          </a:p>
          <a:p>
            <a:pPr marL="0" indent="0">
              <a:buNone/>
            </a:pPr>
            <a:endParaRPr lang="zh-CN" altLang="en-US" dirty="0"/>
          </a:p>
        </p:txBody>
      </p:sp>
      <p:pic>
        <p:nvPicPr>
          <p:cNvPr id="7" name="图片 6"/>
          <p:cNvPicPr>
            <a:picLocks noChangeAspect="1"/>
          </p:cNvPicPr>
          <p:nvPr/>
        </p:nvPicPr>
        <p:blipFill>
          <a:blip r:embed="rId2"/>
          <a:stretch>
            <a:fillRect/>
          </a:stretch>
        </p:blipFill>
        <p:spPr>
          <a:xfrm>
            <a:off x="1537285" y="3284983"/>
            <a:ext cx="3125379" cy="2268000"/>
          </a:xfrm>
          <a:prstGeom prst="rect">
            <a:avLst/>
          </a:prstGeom>
        </p:spPr>
      </p:pic>
      <p:pic>
        <p:nvPicPr>
          <p:cNvPr id="8" name="图片 7"/>
          <p:cNvPicPr>
            <a:picLocks noChangeAspect="1"/>
          </p:cNvPicPr>
          <p:nvPr/>
        </p:nvPicPr>
        <p:blipFill>
          <a:blip r:embed="rId3"/>
          <a:stretch>
            <a:fillRect/>
          </a:stretch>
        </p:blipFill>
        <p:spPr>
          <a:xfrm>
            <a:off x="6520616" y="3284983"/>
            <a:ext cx="4417948" cy="2268000"/>
          </a:xfrm>
          <a:prstGeom prst="rect">
            <a:avLst/>
          </a:prstGeom>
        </p:spPr>
      </p:pic>
      <p:sp>
        <p:nvSpPr>
          <p:cNvPr id="5" name="灯片编号占位符 4">
            <a:extLst>
              <a:ext uri="{FF2B5EF4-FFF2-40B4-BE49-F238E27FC236}">
                <a16:creationId xmlns:a16="http://schemas.microsoft.com/office/drawing/2014/main" id="{83D11A93-A15F-4CC0-8F05-C940AA8891F9}"/>
              </a:ext>
            </a:extLst>
          </p:cNvPr>
          <p:cNvSpPr>
            <a:spLocks noGrp="1"/>
          </p:cNvSpPr>
          <p:nvPr>
            <p:ph type="sldNum" sz="quarter" idx="12"/>
          </p:nvPr>
        </p:nvSpPr>
        <p:spPr/>
        <p:txBody>
          <a:bodyPr/>
          <a:lstStyle/>
          <a:p>
            <a:fld id="{49AE70B2-8BF9-45C0-BB95-33D1B9D3A854}" type="slidenum">
              <a:rPr lang="zh-CN" altLang="en-US" smtClean="0"/>
              <a:t>63</a:t>
            </a:fld>
            <a:endParaRPr lang="zh-CN" altLang="en-US"/>
          </a:p>
        </p:txBody>
      </p:sp>
    </p:spTree>
    <p:extLst>
      <p:ext uri="{BB962C8B-B14F-4D97-AF65-F5344CB8AC3E}">
        <p14:creationId xmlns:p14="http://schemas.microsoft.com/office/powerpoint/2010/main" val="28292318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疑问消息框</a:t>
            </a:r>
          </a:p>
        </p:txBody>
      </p:sp>
      <p:sp>
        <p:nvSpPr>
          <p:cNvPr id="3" name="内容占位符 2"/>
          <p:cNvSpPr>
            <a:spLocks noGrp="1"/>
          </p:cNvSpPr>
          <p:nvPr>
            <p:ph sz="half" idx="1"/>
          </p:nvPr>
        </p:nvSpPr>
        <p:spPr/>
        <p:txBody>
          <a:bodyPr/>
          <a:lstStyle/>
          <a:p>
            <a:pPr marL="0" indent="0">
              <a:buNone/>
            </a:pPr>
            <a:r>
              <a:rPr lang="zh-CN" altLang="en-US" dirty="0"/>
              <a:t>（</a:t>
            </a:r>
            <a:r>
              <a:rPr lang="en-US" altLang="zh-CN" dirty="0"/>
              <a:t>3</a:t>
            </a:r>
            <a:r>
              <a:rPr lang="zh-CN" altLang="en-US" dirty="0"/>
              <a:t>）	</a:t>
            </a:r>
            <a:r>
              <a:rPr lang="en-US" altLang="zh-CN" dirty="0" err="1"/>
              <a:t>askokcancel</a:t>
            </a:r>
            <a:r>
              <a:rPr lang="zh-CN" altLang="en-US" dirty="0"/>
              <a:t>函数</a:t>
            </a:r>
          </a:p>
          <a:p>
            <a:pPr marL="0" indent="0">
              <a:buNone/>
            </a:pPr>
            <a:r>
              <a:rPr lang="en-US" altLang="zh-CN" dirty="0"/>
              <a:t>&gt;&gt;&gt; </a:t>
            </a:r>
            <a:r>
              <a:rPr lang="en-US" altLang="zh-CN" dirty="0" err="1"/>
              <a:t>btxt</a:t>
            </a:r>
            <a:r>
              <a:rPr lang="en-US" altLang="zh-CN" dirty="0"/>
              <a:t> = </a:t>
            </a:r>
            <a:r>
              <a:rPr lang="en-US" altLang="zh-CN" dirty="0" err="1"/>
              <a:t>askokcancel</a:t>
            </a:r>
            <a:r>
              <a:rPr lang="en-US" altLang="zh-CN" dirty="0"/>
              <a:t>(title='</a:t>
            </a:r>
            <a:r>
              <a:rPr lang="zh-CN" altLang="en-US" dirty="0"/>
              <a:t>提示</a:t>
            </a:r>
            <a:r>
              <a:rPr lang="en-US" altLang="zh-CN" dirty="0"/>
              <a:t>', message='</a:t>
            </a:r>
            <a:r>
              <a:rPr lang="zh-CN" altLang="en-US" dirty="0"/>
              <a:t>是否确定退出系统</a:t>
            </a:r>
            <a:r>
              <a:rPr lang="en-US" altLang="zh-CN" dirty="0"/>
              <a:t>')</a:t>
            </a:r>
          </a:p>
          <a:p>
            <a:endParaRPr lang="zh-CN" altLang="en-US" dirty="0"/>
          </a:p>
        </p:txBody>
      </p:sp>
      <p:sp>
        <p:nvSpPr>
          <p:cNvPr id="4" name="内容占位符 3"/>
          <p:cNvSpPr>
            <a:spLocks noGrp="1"/>
          </p:cNvSpPr>
          <p:nvPr>
            <p:ph sz="half" idx="2"/>
          </p:nvPr>
        </p:nvSpPr>
        <p:spPr/>
        <p:txBody>
          <a:bodyPr/>
          <a:lstStyle/>
          <a:p>
            <a:pPr marL="0" indent="0">
              <a:buNone/>
            </a:pPr>
            <a:r>
              <a:rPr lang="zh-CN" altLang="en-US" dirty="0"/>
              <a:t>（</a:t>
            </a:r>
            <a:r>
              <a:rPr lang="en-US" altLang="zh-CN" dirty="0"/>
              <a:t>4</a:t>
            </a:r>
            <a:r>
              <a:rPr lang="zh-CN" altLang="en-US" dirty="0"/>
              <a:t>）	</a:t>
            </a:r>
            <a:r>
              <a:rPr lang="en-US" altLang="zh-CN" dirty="0" err="1"/>
              <a:t>askretrycancel</a:t>
            </a:r>
            <a:r>
              <a:rPr lang="zh-CN" altLang="en-US" dirty="0"/>
              <a:t>函数</a:t>
            </a:r>
          </a:p>
          <a:p>
            <a:pPr marL="0" indent="0">
              <a:buNone/>
            </a:pPr>
            <a:r>
              <a:rPr lang="en-US" altLang="zh-CN" dirty="0"/>
              <a:t>&gt;&gt;&gt; </a:t>
            </a:r>
            <a:r>
              <a:rPr lang="en-US" altLang="zh-CN" dirty="0" err="1"/>
              <a:t>btxt</a:t>
            </a:r>
            <a:r>
              <a:rPr lang="en-US" altLang="zh-CN" dirty="0"/>
              <a:t> = </a:t>
            </a:r>
            <a:r>
              <a:rPr lang="en-US" altLang="zh-CN" dirty="0" err="1"/>
              <a:t>askretrycancel</a:t>
            </a:r>
            <a:r>
              <a:rPr lang="en-US" altLang="zh-CN" dirty="0"/>
              <a:t>(title='</a:t>
            </a:r>
            <a:r>
              <a:rPr lang="zh-CN" altLang="en-US" dirty="0"/>
              <a:t>提示</a:t>
            </a:r>
            <a:r>
              <a:rPr lang="en-US" altLang="zh-CN" dirty="0"/>
              <a:t>', message='</a:t>
            </a:r>
            <a:r>
              <a:rPr lang="zh-CN" altLang="en-US" dirty="0"/>
              <a:t>消息无法发送，请选择</a:t>
            </a:r>
            <a:r>
              <a:rPr lang="en-US" altLang="zh-CN" dirty="0"/>
              <a:t>')</a:t>
            </a:r>
          </a:p>
          <a:p>
            <a:pPr marL="0" indent="0">
              <a:buNone/>
            </a:pPr>
            <a:endParaRPr lang="zh-CN" altLang="en-US" dirty="0"/>
          </a:p>
        </p:txBody>
      </p:sp>
      <p:pic>
        <p:nvPicPr>
          <p:cNvPr id="9" name="图片 8"/>
          <p:cNvPicPr>
            <a:picLocks noChangeAspect="1"/>
          </p:cNvPicPr>
          <p:nvPr/>
        </p:nvPicPr>
        <p:blipFill>
          <a:blip r:embed="rId2"/>
          <a:stretch>
            <a:fillRect/>
          </a:stretch>
        </p:blipFill>
        <p:spPr>
          <a:xfrm>
            <a:off x="1408384" y="3573016"/>
            <a:ext cx="3125094" cy="2268000"/>
          </a:xfrm>
          <a:prstGeom prst="rect">
            <a:avLst/>
          </a:prstGeom>
        </p:spPr>
      </p:pic>
      <p:pic>
        <p:nvPicPr>
          <p:cNvPr id="10" name="图片 9"/>
          <p:cNvPicPr>
            <a:picLocks noChangeAspect="1"/>
          </p:cNvPicPr>
          <p:nvPr/>
        </p:nvPicPr>
        <p:blipFill>
          <a:blip r:embed="rId3"/>
          <a:stretch>
            <a:fillRect/>
          </a:stretch>
        </p:blipFill>
        <p:spPr>
          <a:xfrm>
            <a:off x="7176120" y="3573016"/>
            <a:ext cx="3174697" cy="2304000"/>
          </a:xfrm>
          <a:prstGeom prst="rect">
            <a:avLst/>
          </a:prstGeom>
        </p:spPr>
      </p:pic>
      <p:sp>
        <p:nvSpPr>
          <p:cNvPr id="5" name="灯片编号占位符 4">
            <a:extLst>
              <a:ext uri="{FF2B5EF4-FFF2-40B4-BE49-F238E27FC236}">
                <a16:creationId xmlns:a16="http://schemas.microsoft.com/office/drawing/2014/main" id="{5D62C1FF-42B7-44A8-BE70-3FF72AD59109}"/>
              </a:ext>
            </a:extLst>
          </p:cNvPr>
          <p:cNvSpPr>
            <a:spLocks noGrp="1"/>
          </p:cNvSpPr>
          <p:nvPr>
            <p:ph type="sldNum" sz="quarter" idx="12"/>
          </p:nvPr>
        </p:nvSpPr>
        <p:spPr/>
        <p:txBody>
          <a:bodyPr/>
          <a:lstStyle/>
          <a:p>
            <a:fld id="{49AE70B2-8BF9-45C0-BB95-33D1B9D3A854}" type="slidenum">
              <a:rPr lang="zh-CN" altLang="en-US" smtClean="0"/>
              <a:t>64</a:t>
            </a:fld>
            <a:endParaRPr lang="zh-CN" altLang="en-US"/>
          </a:p>
        </p:txBody>
      </p:sp>
    </p:spTree>
    <p:extLst>
      <p:ext uri="{BB962C8B-B14F-4D97-AF65-F5344CB8AC3E}">
        <p14:creationId xmlns:p14="http://schemas.microsoft.com/office/powerpoint/2010/main" val="18183425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13.3.2 </a:t>
            </a:r>
            <a:r>
              <a:rPr lang="zh-CN" altLang="en-US" dirty="0"/>
              <a:t>文件选择对话框</a:t>
            </a:r>
          </a:p>
        </p:txBody>
      </p:sp>
      <p:sp>
        <p:nvSpPr>
          <p:cNvPr id="3" name="内容占位符 2"/>
          <p:cNvSpPr>
            <a:spLocks noGrp="1"/>
          </p:cNvSpPr>
          <p:nvPr>
            <p:ph idx="1"/>
          </p:nvPr>
        </p:nvSpPr>
        <p:spPr/>
        <p:txBody>
          <a:bodyPr>
            <a:normAutofit/>
          </a:bodyPr>
          <a:lstStyle/>
          <a:p>
            <a:r>
              <a:rPr lang="en-US" altLang="zh-CN" sz="2400" dirty="0" err="1"/>
              <a:t>tkinter</a:t>
            </a:r>
            <a:r>
              <a:rPr lang="zh-CN" altLang="en-US" sz="2400" dirty="0"/>
              <a:t>中的</a:t>
            </a:r>
            <a:r>
              <a:rPr lang="en-US" altLang="zh-CN" sz="2400" dirty="0" err="1"/>
              <a:t>filedialog</a:t>
            </a:r>
            <a:r>
              <a:rPr lang="zh-CN" altLang="en-US" sz="2400" dirty="0"/>
              <a:t>子模块提供了相关函数，用于调用系统的文件浏览、打开和保存的标准对话框</a:t>
            </a:r>
            <a:endParaRPr lang="en-US" altLang="zh-CN" sz="2400" dirty="0"/>
          </a:p>
          <a:p>
            <a:pPr lvl="1"/>
            <a:r>
              <a:rPr lang="en-US" altLang="zh-CN" sz="2400" dirty="0" err="1"/>
              <a:t>askopenfilename</a:t>
            </a:r>
            <a:r>
              <a:rPr lang="en-US" altLang="zh-CN" sz="2400" dirty="0"/>
              <a:t>()</a:t>
            </a:r>
            <a:r>
              <a:rPr lang="zh-CN" altLang="en-US" sz="2400" dirty="0"/>
              <a:t>：调用打开文件的标准对话框</a:t>
            </a:r>
            <a:endParaRPr lang="en-US" altLang="zh-CN" sz="2400" dirty="0"/>
          </a:p>
          <a:p>
            <a:pPr lvl="1"/>
            <a:r>
              <a:rPr lang="en-US" altLang="zh-CN" sz="2400" dirty="0" err="1"/>
              <a:t>asksaveasfilename</a:t>
            </a:r>
            <a:r>
              <a:rPr lang="en-US" altLang="zh-CN" sz="2400" dirty="0"/>
              <a:t>()</a:t>
            </a:r>
            <a:r>
              <a:rPr lang="zh-CN" altLang="en-US" sz="2400" dirty="0"/>
              <a:t>：调用另存为的标准对话框</a:t>
            </a:r>
            <a:endParaRPr lang="en-US" altLang="zh-CN" sz="2400" dirty="0"/>
          </a:p>
          <a:p>
            <a:pPr lvl="1"/>
            <a:endParaRPr lang="en-US" altLang="zh-CN" sz="1600" dirty="0"/>
          </a:p>
          <a:p>
            <a:pPr marL="0" indent="0">
              <a:buNone/>
            </a:pPr>
            <a:r>
              <a:rPr lang="en-US" altLang="zh-CN" sz="2000" dirty="0"/>
              <a:t>&gt;&gt;&gt; from </a:t>
            </a:r>
            <a:r>
              <a:rPr lang="en-US" altLang="zh-CN" sz="2000" dirty="0" err="1"/>
              <a:t>tkinter</a:t>
            </a:r>
            <a:r>
              <a:rPr lang="en-US" altLang="zh-CN" sz="2000" dirty="0"/>
              <a:t> import *</a:t>
            </a:r>
          </a:p>
          <a:p>
            <a:pPr marL="0" indent="0">
              <a:buNone/>
            </a:pPr>
            <a:r>
              <a:rPr lang="en-US" altLang="zh-CN" sz="2000" dirty="0"/>
              <a:t>&gt;&gt;&gt; from </a:t>
            </a:r>
            <a:r>
              <a:rPr lang="en-US" altLang="zh-CN" sz="2000" dirty="0" err="1"/>
              <a:t>tkinter.filedialog</a:t>
            </a:r>
            <a:r>
              <a:rPr lang="en-US" altLang="zh-CN" sz="2000" dirty="0"/>
              <a:t> import *</a:t>
            </a:r>
          </a:p>
          <a:p>
            <a:pPr marL="0" indent="0">
              <a:buNone/>
            </a:pPr>
            <a:r>
              <a:rPr lang="en-US" altLang="zh-CN" sz="2000" dirty="0"/>
              <a:t>&gt;&gt;&gt; </a:t>
            </a:r>
            <a:r>
              <a:rPr lang="en-US" altLang="zh-CN" sz="2000" dirty="0" err="1"/>
              <a:t>askopenfilename</a:t>
            </a:r>
            <a:r>
              <a:rPr lang="en-US" altLang="zh-CN" sz="2000" dirty="0"/>
              <a:t>(title='</a:t>
            </a:r>
            <a:r>
              <a:rPr lang="zh-CN" altLang="en-US" sz="2000" dirty="0"/>
              <a:t>打开</a:t>
            </a:r>
            <a:r>
              <a:rPr lang="en-US" altLang="zh-CN" sz="2000" dirty="0"/>
              <a:t>Python</a:t>
            </a:r>
            <a:r>
              <a:rPr lang="zh-CN" altLang="en-US" sz="2000" dirty="0"/>
              <a:t>程序文件</a:t>
            </a:r>
            <a:r>
              <a:rPr lang="en-US" altLang="zh-CN" sz="2000" dirty="0"/>
              <a:t>',</a:t>
            </a:r>
          </a:p>
          <a:p>
            <a:pPr marL="0" indent="0">
              <a:buNone/>
            </a:pPr>
            <a:r>
              <a:rPr lang="en-US" altLang="zh-CN" sz="2000" dirty="0"/>
              <a:t>		  </a:t>
            </a:r>
            <a:r>
              <a:rPr lang="en-US" altLang="zh-CN" sz="2000" dirty="0" err="1"/>
              <a:t>filetypes</a:t>
            </a:r>
            <a:r>
              <a:rPr lang="en-US" altLang="zh-CN" sz="2000" dirty="0"/>
              <a:t>=[('Python</a:t>
            </a:r>
            <a:r>
              <a:rPr lang="zh-CN" altLang="en-US" sz="2000" dirty="0"/>
              <a:t>源文件</a:t>
            </a:r>
            <a:r>
              <a:rPr lang="en-US" altLang="zh-CN" sz="2000" dirty="0"/>
              <a:t>','.</a:t>
            </a:r>
            <a:r>
              <a:rPr lang="en-US" altLang="zh-CN" sz="2000" dirty="0" err="1"/>
              <a:t>py</a:t>
            </a:r>
            <a:r>
              <a:rPr lang="en-US" altLang="zh-CN" sz="2000" dirty="0"/>
              <a:t>'),('</a:t>
            </a:r>
            <a:r>
              <a:rPr lang="zh-CN" altLang="en-US" sz="2000" dirty="0"/>
              <a:t>所有文件</a:t>
            </a:r>
            <a:r>
              <a:rPr lang="en-US" altLang="zh-CN" sz="2000" dirty="0"/>
              <a:t>','*.*')])</a:t>
            </a:r>
          </a:p>
          <a:p>
            <a:endParaRPr lang="zh-CN" altLang="en-US" dirty="0"/>
          </a:p>
        </p:txBody>
      </p:sp>
      <p:sp>
        <p:nvSpPr>
          <p:cNvPr id="4" name="灯片编号占位符 3">
            <a:extLst>
              <a:ext uri="{FF2B5EF4-FFF2-40B4-BE49-F238E27FC236}">
                <a16:creationId xmlns:a16="http://schemas.microsoft.com/office/drawing/2014/main" id="{71ACD7CD-907D-4404-BEA1-01FB8F206995}"/>
              </a:ext>
            </a:extLst>
          </p:cNvPr>
          <p:cNvSpPr>
            <a:spLocks noGrp="1"/>
          </p:cNvSpPr>
          <p:nvPr>
            <p:ph type="sldNum" sz="quarter" idx="12"/>
          </p:nvPr>
        </p:nvSpPr>
        <p:spPr/>
        <p:txBody>
          <a:bodyPr/>
          <a:lstStyle/>
          <a:p>
            <a:fld id="{49AE70B2-8BF9-45C0-BB95-33D1B9D3A854}" type="slidenum">
              <a:rPr lang="zh-CN" altLang="en-US" smtClean="0"/>
              <a:t>65</a:t>
            </a:fld>
            <a:endParaRPr lang="zh-CN" altLang="en-US"/>
          </a:p>
        </p:txBody>
      </p:sp>
    </p:spTree>
    <p:extLst>
      <p:ext uri="{BB962C8B-B14F-4D97-AF65-F5344CB8AC3E}">
        <p14:creationId xmlns:p14="http://schemas.microsoft.com/office/powerpoint/2010/main" val="17499862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13.3.3 </a:t>
            </a:r>
            <a:r>
              <a:rPr lang="zh-CN" altLang="en-US" dirty="0"/>
              <a:t>颜色选择对话框</a:t>
            </a:r>
          </a:p>
        </p:txBody>
      </p:sp>
      <p:sp>
        <p:nvSpPr>
          <p:cNvPr id="3" name="内容占位符 2"/>
          <p:cNvSpPr>
            <a:spLocks noGrp="1"/>
          </p:cNvSpPr>
          <p:nvPr>
            <p:ph idx="1"/>
          </p:nvPr>
        </p:nvSpPr>
        <p:spPr/>
        <p:txBody>
          <a:bodyPr/>
          <a:lstStyle/>
          <a:p>
            <a:r>
              <a:rPr lang="en-US" altLang="zh-CN" dirty="0" err="1"/>
              <a:t>tkinter</a:t>
            </a:r>
            <a:r>
              <a:rPr lang="zh-CN" altLang="en-US" dirty="0"/>
              <a:t>中的</a:t>
            </a:r>
            <a:r>
              <a:rPr lang="en-US" altLang="zh-CN" dirty="0" err="1"/>
              <a:t>colorchooser</a:t>
            </a:r>
            <a:r>
              <a:rPr lang="zh-CN" altLang="en-US" dirty="0"/>
              <a:t>子模块提供了</a:t>
            </a:r>
            <a:r>
              <a:rPr lang="en-US" altLang="zh-CN" dirty="0" err="1"/>
              <a:t>askcolor</a:t>
            </a:r>
            <a:r>
              <a:rPr lang="en-US" altLang="zh-CN" dirty="0"/>
              <a:t>()</a:t>
            </a:r>
            <a:r>
              <a:rPr lang="zh-CN" altLang="en-US" dirty="0"/>
              <a:t>函数，用于调用系统的颜色选择的标准对话框</a:t>
            </a:r>
            <a:endParaRPr lang="en-US" altLang="zh-CN" dirty="0"/>
          </a:p>
          <a:p>
            <a:endParaRPr lang="en-US" altLang="zh-CN" dirty="0"/>
          </a:p>
          <a:p>
            <a:pPr marL="0" indent="0">
              <a:buNone/>
            </a:pPr>
            <a:r>
              <a:rPr lang="en-US" altLang="zh-CN" sz="2000" dirty="0"/>
              <a:t>&gt;&gt;&gt; from </a:t>
            </a:r>
            <a:r>
              <a:rPr lang="en-US" altLang="zh-CN" sz="2000" dirty="0" err="1"/>
              <a:t>tkinter</a:t>
            </a:r>
            <a:r>
              <a:rPr lang="en-US" altLang="zh-CN" sz="2000" dirty="0"/>
              <a:t> import *</a:t>
            </a:r>
          </a:p>
          <a:p>
            <a:pPr marL="0" indent="0">
              <a:buNone/>
            </a:pPr>
            <a:r>
              <a:rPr lang="en-US" altLang="zh-CN" sz="2000" dirty="0"/>
              <a:t>&gt;&gt;&gt; from </a:t>
            </a:r>
            <a:r>
              <a:rPr lang="en-US" altLang="zh-CN" sz="2000" dirty="0" err="1"/>
              <a:t>tkinter.colorchooser</a:t>
            </a:r>
            <a:r>
              <a:rPr lang="en-US" altLang="zh-CN" sz="2000" dirty="0"/>
              <a:t> import *</a:t>
            </a:r>
          </a:p>
          <a:p>
            <a:pPr marL="0" indent="0">
              <a:buNone/>
            </a:pPr>
            <a:r>
              <a:rPr lang="en-US" altLang="zh-CN" sz="2000" dirty="0"/>
              <a:t>&gt;&gt;&gt; </a:t>
            </a:r>
            <a:r>
              <a:rPr lang="en-US" altLang="zh-CN" sz="2000" dirty="0" err="1"/>
              <a:t>askcolor</a:t>
            </a:r>
            <a:r>
              <a:rPr lang="en-US" altLang="zh-CN" sz="2000" dirty="0"/>
              <a:t>(title='</a:t>
            </a:r>
            <a:r>
              <a:rPr lang="zh-CN" altLang="en-US" sz="2000" dirty="0"/>
              <a:t>请选择颜色</a:t>
            </a:r>
            <a:r>
              <a:rPr lang="en-US" altLang="zh-CN" sz="2000" dirty="0"/>
              <a:t>')</a:t>
            </a:r>
          </a:p>
          <a:p>
            <a:pPr marL="0" indent="0">
              <a:buNone/>
            </a:pPr>
            <a:endParaRPr lang="zh-CN" altLang="en-US" dirty="0"/>
          </a:p>
        </p:txBody>
      </p:sp>
      <p:pic>
        <p:nvPicPr>
          <p:cNvPr id="4" name="图片 3"/>
          <p:cNvPicPr>
            <a:picLocks noChangeAspect="1"/>
          </p:cNvPicPr>
          <p:nvPr/>
        </p:nvPicPr>
        <p:blipFill>
          <a:blip r:embed="rId2"/>
          <a:stretch>
            <a:fillRect/>
          </a:stretch>
        </p:blipFill>
        <p:spPr>
          <a:xfrm>
            <a:off x="6456040" y="2496274"/>
            <a:ext cx="5046960" cy="3254486"/>
          </a:xfrm>
          <a:prstGeom prst="rect">
            <a:avLst/>
          </a:prstGeom>
          <a:noFill/>
          <a:ln>
            <a:noFill/>
          </a:ln>
        </p:spPr>
      </p:pic>
      <p:sp>
        <p:nvSpPr>
          <p:cNvPr id="5" name="灯片编号占位符 4">
            <a:extLst>
              <a:ext uri="{FF2B5EF4-FFF2-40B4-BE49-F238E27FC236}">
                <a16:creationId xmlns:a16="http://schemas.microsoft.com/office/drawing/2014/main" id="{A98FB9C5-73B0-4C46-9B31-96A13AE5FAE9}"/>
              </a:ext>
            </a:extLst>
          </p:cNvPr>
          <p:cNvSpPr>
            <a:spLocks noGrp="1"/>
          </p:cNvSpPr>
          <p:nvPr>
            <p:ph type="sldNum" sz="quarter" idx="12"/>
          </p:nvPr>
        </p:nvSpPr>
        <p:spPr/>
        <p:txBody>
          <a:bodyPr/>
          <a:lstStyle/>
          <a:p>
            <a:fld id="{49AE70B2-8BF9-45C0-BB95-33D1B9D3A854}" type="slidenum">
              <a:rPr lang="zh-CN" altLang="en-US" smtClean="0"/>
              <a:t>66</a:t>
            </a:fld>
            <a:endParaRPr lang="zh-CN" altLang="en-US"/>
          </a:p>
        </p:txBody>
      </p:sp>
    </p:spTree>
    <p:extLst>
      <p:ext uri="{BB962C8B-B14F-4D97-AF65-F5344CB8AC3E}">
        <p14:creationId xmlns:p14="http://schemas.microsoft.com/office/powerpoint/2010/main" val="27711840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13.3.4 </a:t>
            </a:r>
            <a:r>
              <a:rPr lang="zh-CN" altLang="en-US" dirty="0"/>
              <a:t>自定义对话框</a:t>
            </a:r>
            <a:br>
              <a:rPr lang="zh-CN" altLang="en-US" dirty="0"/>
            </a:br>
            <a:endParaRPr lang="zh-CN" altLang="en-US" dirty="0"/>
          </a:p>
        </p:txBody>
      </p:sp>
      <p:sp>
        <p:nvSpPr>
          <p:cNvPr id="3" name="内容占位符 2"/>
          <p:cNvSpPr>
            <a:spLocks noGrp="1"/>
          </p:cNvSpPr>
          <p:nvPr>
            <p:ph idx="1"/>
          </p:nvPr>
        </p:nvSpPr>
        <p:spPr/>
        <p:txBody>
          <a:bodyPr/>
          <a:lstStyle/>
          <a:p>
            <a:r>
              <a:rPr lang="zh-CN" altLang="en-US" dirty="0"/>
              <a:t>自定义对话框，可以直接创建新的窗口或顶层窗口</a:t>
            </a:r>
            <a:r>
              <a:rPr lang="en-US" altLang="zh-CN" dirty="0" err="1"/>
              <a:t>Toplevel</a:t>
            </a:r>
            <a:r>
              <a:rPr lang="zh-CN" altLang="en-US" dirty="0"/>
              <a:t>来实现</a:t>
            </a:r>
            <a:endParaRPr lang="en-US" altLang="zh-CN" dirty="0"/>
          </a:p>
          <a:p>
            <a:pPr lvl="1"/>
            <a:r>
              <a:rPr lang="zh-CN" altLang="en-US" dirty="0"/>
              <a:t>自定义对话框与其他窗口一样的。</a:t>
            </a:r>
            <a:endParaRPr lang="en-US" altLang="zh-CN" dirty="0"/>
          </a:p>
          <a:p>
            <a:pPr lvl="1"/>
            <a:endParaRPr lang="en-US" altLang="zh-CN" dirty="0"/>
          </a:p>
          <a:p>
            <a:r>
              <a:rPr lang="en-US" altLang="zh-CN" dirty="0"/>
              <a:t>【</a:t>
            </a:r>
            <a:r>
              <a:rPr lang="zh-CN" altLang="en-US" dirty="0"/>
              <a:t>例</a:t>
            </a:r>
            <a:r>
              <a:rPr lang="en-US" altLang="zh-CN" dirty="0"/>
              <a:t>13-19】</a:t>
            </a:r>
            <a:r>
              <a:rPr lang="zh-CN" altLang="en-US" dirty="0"/>
              <a:t>创建自定义对话框。</a:t>
            </a:r>
          </a:p>
          <a:p>
            <a:endParaRPr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597416615"/>
              </p:ext>
            </p:extLst>
          </p:nvPr>
        </p:nvGraphicFramePr>
        <p:xfrm>
          <a:off x="7320136" y="2348880"/>
          <a:ext cx="4691320" cy="4144228"/>
        </p:xfrm>
        <a:graphic>
          <a:graphicData uri="http://schemas.openxmlformats.org/presentationml/2006/ole">
            <mc:AlternateContent xmlns:mc="http://schemas.openxmlformats.org/markup-compatibility/2006">
              <mc:Choice xmlns:v="urn:schemas-microsoft-com:vml" Requires="v">
                <p:oleObj name="BMP 图像" r:id="rId2" imgW="3933333" imgH="3448531" progId="Paint.Picture">
                  <p:embed/>
                </p:oleObj>
              </mc:Choice>
              <mc:Fallback>
                <p:oleObj name="BMP 图像" r:id="rId2" imgW="3933333" imgH="3448531" progId="Paint.Picture">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0136" y="2348880"/>
                        <a:ext cx="4691320" cy="4144228"/>
                      </a:xfrm>
                      <a:prstGeom prst="rect">
                        <a:avLst/>
                      </a:prstGeom>
                      <a:noFill/>
                    </p:spPr>
                  </p:pic>
                </p:oleObj>
              </mc:Fallback>
            </mc:AlternateContent>
          </a:graphicData>
        </a:graphic>
      </p:graphicFrame>
      <p:sp>
        <p:nvSpPr>
          <p:cNvPr id="6" name="灯片编号占位符 5">
            <a:extLst>
              <a:ext uri="{FF2B5EF4-FFF2-40B4-BE49-F238E27FC236}">
                <a16:creationId xmlns:a16="http://schemas.microsoft.com/office/drawing/2014/main" id="{1A96339B-FDE0-413D-AE0D-79CAF6BE923F}"/>
              </a:ext>
            </a:extLst>
          </p:cNvPr>
          <p:cNvSpPr>
            <a:spLocks noGrp="1"/>
          </p:cNvSpPr>
          <p:nvPr>
            <p:ph type="sldNum" sz="quarter" idx="12"/>
          </p:nvPr>
        </p:nvSpPr>
        <p:spPr/>
        <p:txBody>
          <a:bodyPr/>
          <a:lstStyle/>
          <a:p>
            <a:fld id="{49AE70B2-8BF9-45C0-BB95-33D1B9D3A854}" type="slidenum">
              <a:rPr lang="zh-CN" altLang="en-US" smtClean="0"/>
              <a:t>67</a:t>
            </a:fld>
            <a:endParaRPr lang="zh-CN" altLang="en-US"/>
          </a:p>
        </p:txBody>
      </p:sp>
    </p:spTree>
    <p:extLst>
      <p:ext uri="{BB962C8B-B14F-4D97-AF65-F5344CB8AC3E}">
        <p14:creationId xmlns:p14="http://schemas.microsoft.com/office/powerpoint/2010/main" val="7567973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WordArt 6"/>
          <p:cNvSpPr>
            <a:spLocks noChangeArrowheads="1" noChangeShapeType="1"/>
          </p:cNvSpPr>
          <p:nvPr/>
        </p:nvSpPr>
        <p:spPr bwMode="auto">
          <a:xfrm>
            <a:off x="1882775" y="1557338"/>
            <a:ext cx="8426450" cy="2011363"/>
          </a:xfrm>
          <a:prstGeom prst="rect">
            <a:avLst/>
          </a:prstGeom>
        </p:spPr>
        <p:txBody>
          <a:bodyPr wrap="none" fromWordArt="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8500" b="1" i="0" u="none" strike="noStrike" kern="10" cap="none" spc="0" normalizeH="0" baseline="0" noProof="0" dirty="0">
              <a:ln w="9525">
                <a:noFill/>
                <a:round/>
              </a:ln>
              <a:solidFill>
                <a:schemeClr val="tx1"/>
              </a:solidFill>
              <a:effectLst>
                <a:outerShdw blurRad="38100" dist="38100" dir="2700000" algn="tl">
                  <a:srgbClr val="000000">
                    <a:alpha val="43137"/>
                  </a:srgbClr>
                </a:outerShdw>
              </a:effectLst>
              <a:uLnTx/>
              <a:uFillTx/>
              <a:latin typeface="华文新魏" panose="02010800040101010101" pitchFamily="2" charset="-122"/>
              <a:ea typeface="华文新魏" panose="02010800040101010101" pitchFamily="2" charset="-122"/>
              <a:cs typeface="+mn-cs"/>
            </a:endParaRPr>
          </a:p>
        </p:txBody>
      </p:sp>
      <p:sp>
        <p:nvSpPr>
          <p:cNvPr id="10245" name="标题 1"/>
          <p:cNvSpPr>
            <a:spLocks noGrp="1"/>
          </p:cNvSpPr>
          <p:nvPr>
            <p:ph type="ctrTitle"/>
          </p:nvPr>
        </p:nvSpPr>
        <p:spPr>
          <a:xfrm>
            <a:off x="1779905" y="2292350"/>
            <a:ext cx="8731885" cy="1151255"/>
          </a:xfrm>
        </p:spPr>
        <p:txBody>
          <a:bodyPr vert="horz" wrap="square" lIns="91440" tIns="45720" rIns="91440" bIns="45720" anchor="b"/>
          <a:lstStyle/>
          <a:p>
            <a:pPr>
              <a:buClrTx/>
              <a:buSzTx/>
              <a:buFontTx/>
              <a:buNone/>
            </a:pPr>
            <a:r>
              <a:rPr lang="en-US" kern="1200" dirty="0">
                <a:latin typeface="+mj-lt"/>
                <a:ea typeface="+mj-ea"/>
                <a:cs typeface="+mj-cs"/>
              </a:rPr>
              <a:t>13.4 </a:t>
            </a:r>
            <a:r>
              <a:rPr lang="zh-CN" altLang="en-US" kern="1200" dirty="0">
                <a:latin typeface="+mj-lt"/>
                <a:ea typeface="+mj-ea"/>
                <a:cs typeface="+mj-cs"/>
              </a:rPr>
              <a:t>布局管理器</a:t>
            </a:r>
          </a:p>
        </p:txBody>
      </p:sp>
      <p:sp>
        <p:nvSpPr>
          <p:cNvPr id="2" name="灯片编号占位符 1">
            <a:extLst>
              <a:ext uri="{FF2B5EF4-FFF2-40B4-BE49-F238E27FC236}">
                <a16:creationId xmlns:a16="http://schemas.microsoft.com/office/drawing/2014/main" id="{1C58A36E-FE22-426C-BAFF-1E27F3D78A07}"/>
              </a:ext>
            </a:extLst>
          </p:cNvPr>
          <p:cNvSpPr>
            <a:spLocks noGrp="1"/>
          </p:cNvSpPr>
          <p:nvPr>
            <p:ph type="sldNum" sz="quarter" idx="12"/>
          </p:nvPr>
        </p:nvSpPr>
        <p:spPr/>
        <p:txBody>
          <a:bodyPr/>
          <a:lstStyle/>
          <a:p>
            <a:fld id="{49AE70B2-8BF9-45C0-BB95-33D1B9D3A854}" type="slidenum">
              <a:rPr lang="zh-CN" altLang="en-US" smtClean="0"/>
              <a:t>68</a:t>
            </a:fld>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nodePh="1">
                                  <p:stCondLst>
                                    <p:cond delay="0"/>
                                  </p:stCondLst>
                                  <p:endCondLst>
                                    <p:cond evt="begin" delay="0">
                                      <p:tn val="5"/>
                                    </p:cond>
                                  </p:endCondLst>
                                  <p:childTnLst>
                                    <p:set>
                                      <p:cBhvr>
                                        <p:cTn id="6" dur="1" fill="hold">
                                          <p:stCondLst>
                                            <p:cond delay="0"/>
                                          </p:stCondLst>
                                        </p:cTn>
                                        <p:tgtEl>
                                          <p:spTgt spid="16387"/>
                                        </p:tgtEl>
                                        <p:attrNameLst>
                                          <p:attrName>style.visibility</p:attrName>
                                        </p:attrNameLst>
                                      </p:cBhvr>
                                      <p:to>
                                        <p:strVal val="visible"/>
                                      </p:to>
                                    </p:set>
                                    <p:animEffect transition="in" filter="fade">
                                      <p:cBhvr>
                                        <p:cTn id="7" dur="1000"/>
                                        <p:tgtEl>
                                          <p:spTgt spid="16387"/>
                                        </p:tgtEl>
                                      </p:cBhvr>
                                    </p:animEffect>
                                    <p:anim calcmode="lin" valueType="num">
                                      <p:cBhvr>
                                        <p:cTn id="8" dur="1000" fill="hold"/>
                                        <p:tgtEl>
                                          <p:spTgt spid="16387"/>
                                        </p:tgtEl>
                                        <p:attrNameLst>
                                          <p:attrName>ppt_x</p:attrName>
                                        </p:attrNameLst>
                                      </p:cBhvr>
                                      <p:tavLst>
                                        <p:tav tm="0">
                                          <p:val>
                                            <p:strVal val="#ppt_x"/>
                                          </p:val>
                                        </p:tav>
                                        <p:tav tm="100000">
                                          <p:val>
                                            <p:strVal val="#ppt_x"/>
                                          </p:val>
                                        </p:tav>
                                      </p:tavLst>
                                    </p:anim>
                                    <p:anim calcmode="lin" valueType="num">
                                      <p:cBhvr>
                                        <p:cTn id="9" dur="1000" fill="hold"/>
                                        <p:tgtEl>
                                          <p:spTgt spid="163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布局管理器</a:t>
            </a:r>
          </a:p>
        </p:txBody>
      </p:sp>
      <p:sp>
        <p:nvSpPr>
          <p:cNvPr id="3" name="内容占位符 2"/>
          <p:cNvSpPr>
            <a:spLocks noGrp="1"/>
          </p:cNvSpPr>
          <p:nvPr>
            <p:ph idx="1"/>
          </p:nvPr>
        </p:nvSpPr>
        <p:spPr/>
        <p:txBody>
          <a:bodyPr/>
          <a:lstStyle/>
          <a:p>
            <a:r>
              <a:rPr lang="zh-CN" altLang="en-US" dirty="0"/>
              <a:t>布局指的是子控件在父控件中的位置安排</a:t>
            </a:r>
            <a:endParaRPr lang="en-US" altLang="zh-CN" dirty="0"/>
          </a:p>
          <a:p>
            <a:r>
              <a:rPr lang="en-US" altLang="zh-CN" dirty="0" err="1"/>
              <a:t>tkinter</a:t>
            </a:r>
            <a:r>
              <a:rPr lang="zh-CN" altLang="en-US" dirty="0"/>
              <a:t>模块提供了三种布局管理器：</a:t>
            </a:r>
            <a:endParaRPr lang="en-US" altLang="zh-CN" dirty="0"/>
          </a:p>
          <a:p>
            <a:pPr lvl="1"/>
            <a:r>
              <a:rPr lang="en-US" altLang="zh-CN" dirty="0"/>
              <a:t>pack</a:t>
            </a:r>
            <a:r>
              <a:rPr lang="zh-CN" altLang="zh-CN" dirty="0"/>
              <a:t>布局管理器</a:t>
            </a:r>
            <a:endParaRPr lang="en-US" altLang="zh-CN" dirty="0"/>
          </a:p>
          <a:p>
            <a:pPr lvl="1"/>
            <a:r>
              <a:rPr lang="en-US" altLang="zh-CN" dirty="0"/>
              <a:t>grid</a:t>
            </a:r>
            <a:r>
              <a:rPr lang="zh-CN" altLang="zh-CN" dirty="0"/>
              <a:t>布局管理器</a:t>
            </a:r>
            <a:endParaRPr lang="en-US" altLang="zh-CN" dirty="0"/>
          </a:p>
          <a:p>
            <a:pPr lvl="1"/>
            <a:r>
              <a:rPr lang="en-US" altLang="zh-CN" dirty="0"/>
              <a:t>place</a:t>
            </a:r>
            <a:r>
              <a:rPr lang="zh-CN" altLang="zh-CN" dirty="0"/>
              <a:t>布局管理器</a:t>
            </a:r>
            <a:endParaRPr lang="zh-CN" altLang="en-US" dirty="0"/>
          </a:p>
        </p:txBody>
      </p:sp>
      <p:sp>
        <p:nvSpPr>
          <p:cNvPr id="4" name="灯片编号占位符 3">
            <a:extLst>
              <a:ext uri="{FF2B5EF4-FFF2-40B4-BE49-F238E27FC236}">
                <a16:creationId xmlns:a16="http://schemas.microsoft.com/office/drawing/2014/main" id="{8564276E-881C-4AA6-810B-E0EA63457805}"/>
              </a:ext>
            </a:extLst>
          </p:cNvPr>
          <p:cNvSpPr>
            <a:spLocks noGrp="1"/>
          </p:cNvSpPr>
          <p:nvPr>
            <p:ph type="sldNum" sz="quarter" idx="12"/>
          </p:nvPr>
        </p:nvSpPr>
        <p:spPr/>
        <p:txBody>
          <a:bodyPr/>
          <a:lstStyle/>
          <a:p>
            <a:fld id="{49AE70B2-8BF9-45C0-BB95-33D1B9D3A854}" type="slidenum">
              <a:rPr lang="zh-CN" altLang="en-US" smtClean="0"/>
              <a:t>69</a:t>
            </a:fld>
            <a:endParaRPr lang="zh-CN" altLang="en-US"/>
          </a:p>
        </p:txBody>
      </p:sp>
    </p:spTree>
    <p:extLst>
      <p:ext uri="{BB962C8B-B14F-4D97-AF65-F5344CB8AC3E}">
        <p14:creationId xmlns:p14="http://schemas.microsoft.com/office/powerpoint/2010/main" val="38800776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13.4.1 </a:t>
            </a:r>
            <a:r>
              <a:rPr lang="en-US" altLang="zh-CN" dirty="0" err="1"/>
              <a:t>tkinter</a:t>
            </a:r>
            <a:r>
              <a:rPr lang="zh-CN" altLang="en-US" dirty="0"/>
              <a:t>模块绘图坐标系</a:t>
            </a:r>
          </a:p>
        </p:txBody>
      </p:sp>
      <p:sp>
        <p:nvSpPr>
          <p:cNvPr id="3" name="内容占位符 2"/>
          <p:cNvSpPr>
            <a:spLocks noGrp="1"/>
          </p:cNvSpPr>
          <p:nvPr>
            <p:ph idx="1"/>
          </p:nvPr>
        </p:nvSpPr>
        <p:spPr>
          <a:xfrm>
            <a:off x="669925" y="1160145"/>
            <a:ext cx="6362179" cy="5180965"/>
          </a:xfrm>
        </p:spPr>
        <p:txBody>
          <a:bodyPr>
            <a:normAutofit/>
          </a:bodyPr>
          <a:lstStyle/>
          <a:p>
            <a:r>
              <a:rPr lang="en-US" altLang="zh-CN" dirty="0" err="1"/>
              <a:t>tkinter</a:t>
            </a:r>
            <a:r>
              <a:rPr lang="zh-CN" altLang="en-US" dirty="0"/>
              <a:t>控件的位置用父控件的坐标系的值来表示。</a:t>
            </a:r>
            <a:endParaRPr lang="en-US" altLang="zh-CN" dirty="0"/>
          </a:p>
          <a:p>
            <a:r>
              <a:rPr lang="en-US" altLang="zh-CN" dirty="0" err="1"/>
              <a:t>tkinter</a:t>
            </a:r>
            <a:r>
              <a:rPr lang="zh-CN" altLang="en-US" dirty="0"/>
              <a:t>的相对位置</a:t>
            </a:r>
            <a:endParaRPr lang="en-US" altLang="zh-CN" dirty="0"/>
          </a:p>
          <a:p>
            <a:pPr lvl="1"/>
            <a:r>
              <a:rPr lang="zh-CN" altLang="en-US" dirty="0"/>
              <a:t>方位值</a:t>
            </a:r>
            <a:r>
              <a:rPr lang="en-US" altLang="zh-CN" dirty="0"/>
              <a:t>N</a:t>
            </a:r>
            <a:r>
              <a:rPr lang="zh-CN" altLang="en-US" dirty="0"/>
              <a:t>、</a:t>
            </a:r>
            <a:r>
              <a:rPr lang="en-US" altLang="zh-CN" dirty="0"/>
              <a:t>S</a:t>
            </a:r>
            <a:r>
              <a:rPr lang="zh-CN" altLang="en-US" dirty="0"/>
              <a:t>、</a:t>
            </a:r>
            <a:r>
              <a:rPr lang="en-US" altLang="zh-CN" dirty="0"/>
              <a:t>W</a:t>
            </a:r>
            <a:r>
              <a:rPr lang="zh-CN" altLang="en-US" dirty="0"/>
              <a:t>、</a:t>
            </a:r>
            <a:r>
              <a:rPr lang="en-US" altLang="zh-CN" dirty="0"/>
              <a:t>E</a:t>
            </a:r>
            <a:r>
              <a:rPr lang="zh-CN" altLang="en-US" dirty="0"/>
              <a:t>、</a:t>
            </a:r>
            <a:r>
              <a:rPr lang="en-US" altLang="zh-CN" dirty="0"/>
              <a:t>CENTER</a:t>
            </a:r>
            <a:r>
              <a:rPr lang="zh-CN" altLang="en-US" dirty="0"/>
              <a:t>表示上、下、左、右、中心点</a:t>
            </a:r>
            <a:endParaRPr lang="en-US" altLang="zh-CN" dirty="0"/>
          </a:p>
          <a:p>
            <a:pPr lvl="1"/>
            <a:r>
              <a:rPr lang="en-US" altLang="zh-CN" dirty="0"/>
              <a:t>NW</a:t>
            </a:r>
            <a:r>
              <a:rPr lang="zh-CN" altLang="en-US" dirty="0"/>
              <a:t>、</a:t>
            </a:r>
            <a:r>
              <a:rPr lang="en-US" altLang="zh-CN" dirty="0"/>
              <a:t>SW</a:t>
            </a:r>
            <a:r>
              <a:rPr lang="zh-CN" altLang="en-US" dirty="0"/>
              <a:t>、</a:t>
            </a:r>
            <a:r>
              <a:rPr lang="en-US" altLang="zh-CN" dirty="0"/>
              <a:t>NE</a:t>
            </a:r>
            <a:r>
              <a:rPr lang="zh-CN" altLang="en-US" dirty="0"/>
              <a:t>、</a:t>
            </a:r>
            <a:r>
              <a:rPr lang="en-US" altLang="zh-CN" dirty="0"/>
              <a:t>SE</a:t>
            </a:r>
            <a:r>
              <a:rPr lang="zh-CN" altLang="en-US" dirty="0"/>
              <a:t>表示左上角、左下角、右上角、右下角。</a:t>
            </a:r>
          </a:p>
        </p:txBody>
      </p:sp>
      <p:pic>
        <p:nvPicPr>
          <p:cNvPr id="4" name="图片 3"/>
          <p:cNvPicPr>
            <a:picLocks noChangeAspect="1"/>
          </p:cNvPicPr>
          <p:nvPr/>
        </p:nvPicPr>
        <p:blipFill>
          <a:blip r:embed="rId2"/>
          <a:stretch>
            <a:fillRect/>
          </a:stretch>
        </p:blipFill>
        <p:spPr>
          <a:xfrm>
            <a:off x="7248128" y="2348880"/>
            <a:ext cx="4589517" cy="3591148"/>
          </a:xfrm>
          <a:prstGeom prst="rect">
            <a:avLst/>
          </a:prstGeom>
        </p:spPr>
      </p:pic>
      <p:sp>
        <p:nvSpPr>
          <p:cNvPr id="5" name="灯片编号占位符 4">
            <a:extLst>
              <a:ext uri="{FF2B5EF4-FFF2-40B4-BE49-F238E27FC236}">
                <a16:creationId xmlns:a16="http://schemas.microsoft.com/office/drawing/2014/main" id="{385780C0-7963-4907-B3AA-3F27F6BCDB64}"/>
              </a:ext>
            </a:extLst>
          </p:cNvPr>
          <p:cNvSpPr>
            <a:spLocks noGrp="1"/>
          </p:cNvSpPr>
          <p:nvPr>
            <p:ph type="sldNum" sz="quarter" idx="12"/>
          </p:nvPr>
        </p:nvSpPr>
        <p:spPr/>
        <p:txBody>
          <a:bodyPr/>
          <a:lstStyle/>
          <a:p>
            <a:fld id="{49AE70B2-8BF9-45C0-BB95-33D1B9D3A854}" type="slidenum">
              <a:rPr lang="zh-CN" altLang="en-US" smtClean="0"/>
              <a:t>70</a:t>
            </a:fld>
            <a:endParaRPr lang="zh-CN" altLang="en-US"/>
          </a:p>
        </p:txBody>
      </p:sp>
    </p:spTree>
    <p:extLst>
      <p:ext uri="{BB962C8B-B14F-4D97-AF65-F5344CB8AC3E}">
        <p14:creationId xmlns:p14="http://schemas.microsoft.com/office/powerpoint/2010/main" val="33345324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13.4.2 pack</a:t>
            </a:r>
            <a:r>
              <a:rPr lang="zh-CN" altLang="en-US" dirty="0"/>
              <a:t>布局管理器</a:t>
            </a:r>
          </a:p>
        </p:txBody>
      </p:sp>
      <p:sp>
        <p:nvSpPr>
          <p:cNvPr id="3" name="内容占位符 2"/>
          <p:cNvSpPr>
            <a:spLocks noGrp="1"/>
          </p:cNvSpPr>
          <p:nvPr>
            <p:ph idx="1"/>
          </p:nvPr>
        </p:nvSpPr>
        <p:spPr/>
        <p:txBody>
          <a:bodyPr>
            <a:normAutofit/>
          </a:bodyPr>
          <a:lstStyle/>
          <a:p>
            <a:r>
              <a:rPr lang="en-US" altLang="zh-CN" dirty="0"/>
              <a:t>pack</a:t>
            </a:r>
            <a:r>
              <a:rPr lang="zh-CN" altLang="en-US" dirty="0"/>
              <a:t>布局管理器将所有控件排列成一行或一列。</a:t>
            </a:r>
            <a:endParaRPr lang="en-US" altLang="zh-CN" dirty="0"/>
          </a:p>
          <a:p>
            <a:pPr lvl="1"/>
            <a:r>
              <a:rPr lang="zh-CN" altLang="en-US" sz="2600" dirty="0"/>
              <a:t>调用控件</a:t>
            </a:r>
            <a:r>
              <a:rPr lang="en-US" altLang="zh-CN" sz="2600" dirty="0"/>
              <a:t>pack</a:t>
            </a:r>
            <a:r>
              <a:rPr lang="zh-CN" altLang="en-US" sz="2600" dirty="0"/>
              <a:t>方法时，即通知</a:t>
            </a:r>
            <a:r>
              <a:rPr lang="en-US" altLang="zh-CN" sz="2600" dirty="0"/>
              <a:t>pack</a:t>
            </a:r>
            <a:r>
              <a:rPr lang="zh-CN" altLang="en-US" sz="2600" dirty="0"/>
              <a:t>布局管理器放置控件。</a:t>
            </a:r>
            <a:endParaRPr lang="en-US" altLang="zh-CN" sz="2600" dirty="0"/>
          </a:p>
          <a:p>
            <a:pPr lvl="1"/>
            <a:r>
              <a:rPr lang="zh-CN" altLang="en-US" sz="2600" dirty="0"/>
              <a:t>控件以一个系统自认为合适的大小放置到父控件适当位置</a:t>
            </a:r>
            <a:endParaRPr lang="en-US" altLang="zh-CN" sz="2600" dirty="0"/>
          </a:p>
          <a:p>
            <a:pPr lvl="1"/>
            <a:r>
              <a:rPr lang="zh-CN" altLang="en-US" sz="2600" dirty="0"/>
              <a:t>先调用</a:t>
            </a:r>
            <a:r>
              <a:rPr lang="en-US" altLang="zh-CN" sz="2600" dirty="0"/>
              <a:t>pack</a:t>
            </a:r>
            <a:r>
              <a:rPr lang="zh-CN" altLang="en-US" sz="2600" dirty="0"/>
              <a:t>方法的控件对象放到上面，然后依次向下排成一列。</a:t>
            </a:r>
            <a:endParaRPr lang="en-US" altLang="zh-CN" sz="2600" dirty="0"/>
          </a:p>
          <a:p>
            <a:r>
              <a:rPr lang="en-US" altLang="zh-CN" dirty="0"/>
              <a:t>pack</a:t>
            </a:r>
            <a:r>
              <a:rPr lang="zh-CN" altLang="en-US" dirty="0"/>
              <a:t>方法的一般调用格式如下：</a:t>
            </a:r>
          </a:p>
          <a:p>
            <a:pPr marL="0" indent="0" algn="ctr">
              <a:buNone/>
            </a:pPr>
            <a:r>
              <a:rPr lang="zh-CN" altLang="en-US" dirty="0"/>
              <a:t>控件对象</a:t>
            </a:r>
            <a:r>
              <a:rPr lang="en-US" altLang="zh-CN" dirty="0"/>
              <a:t>.pack([</a:t>
            </a:r>
            <a:r>
              <a:rPr lang="zh-CN" altLang="en-US" dirty="0"/>
              <a:t>选项</a:t>
            </a:r>
            <a:r>
              <a:rPr lang="en-US" altLang="zh-CN" dirty="0"/>
              <a:t>1=</a:t>
            </a:r>
            <a:r>
              <a:rPr lang="zh-CN" altLang="en-US" dirty="0"/>
              <a:t>值</a:t>
            </a:r>
            <a:r>
              <a:rPr lang="en-US" altLang="zh-CN" dirty="0"/>
              <a:t>1[, </a:t>
            </a:r>
            <a:r>
              <a:rPr lang="zh-CN" altLang="en-US" dirty="0"/>
              <a:t>选项</a:t>
            </a:r>
            <a:r>
              <a:rPr lang="en-US" altLang="zh-CN" dirty="0"/>
              <a:t>2=</a:t>
            </a:r>
            <a:r>
              <a:rPr lang="zh-CN" altLang="en-US" dirty="0"/>
              <a:t>值</a:t>
            </a:r>
            <a:r>
              <a:rPr lang="en-US" altLang="zh-CN" dirty="0"/>
              <a:t>2[,..]]])</a:t>
            </a:r>
            <a:endParaRPr lang="zh-CN" altLang="en-US" dirty="0"/>
          </a:p>
        </p:txBody>
      </p:sp>
      <p:sp>
        <p:nvSpPr>
          <p:cNvPr id="4" name="灯片编号占位符 3">
            <a:extLst>
              <a:ext uri="{FF2B5EF4-FFF2-40B4-BE49-F238E27FC236}">
                <a16:creationId xmlns:a16="http://schemas.microsoft.com/office/drawing/2014/main" id="{37591A03-0315-455F-A262-EA5D17AD8650}"/>
              </a:ext>
            </a:extLst>
          </p:cNvPr>
          <p:cNvSpPr>
            <a:spLocks noGrp="1"/>
          </p:cNvSpPr>
          <p:nvPr>
            <p:ph type="sldNum" sz="quarter" idx="12"/>
          </p:nvPr>
        </p:nvSpPr>
        <p:spPr/>
        <p:txBody>
          <a:bodyPr/>
          <a:lstStyle/>
          <a:p>
            <a:fld id="{49AE70B2-8BF9-45C0-BB95-33D1B9D3A854}" type="slidenum">
              <a:rPr lang="zh-CN" altLang="en-US" smtClean="0"/>
              <a:t>71</a:t>
            </a:fld>
            <a:endParaRPr lang="zh-CN" altLang="en-US"/>
          </a:p>
        </p:txBody>
      </p:sp>
    </p:spTree>
    <p:extLst>
      <p:ext uri="{BB962C8B-B14F-4D97-AF65-F5344CB8AC3E}">
        <p14:creationId xmlns:p14="http://schemas.microsoft.com/office/powerpoint/2010/main" val="32706828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pack</a:t>
            </a:r>
            <a:r>
              <a:rPr lang="zh-CN" altLang="en-US" dirty="0"/>
              <a:t>方法的常用选项</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1908463334"/>
              </p:ext>
            </p:extLst>
          </p:nvPr>
        </p:nvGraphicFramePr>
        <p:xfrm>
          <a:off x="335360" y="1160144"/>
          <a:ext cx="11449273" cy="5176692"/>
        </p:xfrm>
        <a:graphic>
          <a:graphicData uri="http://schemas.openxmlformats.org/drawingml/2006/table">
            <a:tbl>
              <a:tblPr firstRow="1" firstCol="1" bandRow="1">
                <a:tableStyleId>{5C22544A-7EE6-4342-B048-85BDC9FD1C3A}</a:tableStyleId>
              </a:tblPr>
              <a:tblGrid>
                <a:gridCol w="1138875">
                  <a:extLst>
                    <a:ext uri="{9D8B030D-6E8A-4147-A177-3AD203B41FA5}">
                      <a16:colId xmlns:a16="http://schemas.microsoft.com/office/drawing/2014/main" val="1286365925"/>
                    </a:ext>
                  </a:extLst>
                </a:gridCol>
                <a:gridCol w="10310398">
                  <a:extLst>
                    <a:ext uri="{9D8B030D-6E8A-4147-A177-3AD203B41FA5}">
                      <a16:colId xmlns:a16="http://schemas.microsoft.com/office/drawing/2014/main" val="859458781"/>
                    </a:ext>
                  </a:extLst>
                </a:gridCol>
              </a:tblGrid>
              <a:tr h="340127">
                <a:tc>
                  <a:txBody>
                    <a:bodyPr/>
                    <a:lstStyle/>
                    <a:p>
                      <a:pPr indent="266700" algn="ctr">
                        <a:spcAft>
                          <a:spcPts val="0"/>
                        </a:spcAft>
                      </a:pPr>
                      <a:r>
                        <a:rPr lang="zh-CN" sz="2000" kern="100" dirty="0">
                          <a:effectLst/>
                        </a:rPr>
                        <a:t>选项</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spcAft>
                          <a:spcPts val="0"/>
                        </a:spcAft>
                      </a:pPr>
                      <a:r>
                        <a:rPr lang="zh-CN" sz="2000" kern="100">
                          <a:effectLst/>
                        </a:rPr>
                        <a:t>作用</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0411297"/>
                  </a:ext>
                </a:extLst>
              </a:tr>
              <a:tr h="340127">
                <a:tc>
                  <a:txBody>
                    <a:bodyPr/>
                    <a:lstStyle/>
                    <a:p>
                      <a:pPr indent="0" algn="just">
                        <a:spcAft>
                          <a:spcPts val="0"/>
                        </a:spcAft>
                      </a:pPr>
                      <a:r>
                        <a:rPr lang="en-US" sz="2000" kern="100" dirty="0">
                          <a:effectLst/>
                        </a:rPr>
                        <a:t>side</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控件靠在窗口的位置。左：</a:t>
                      </a:r>
                      <a:r>
                        <a:rPr lang="en-US" sz="2000" kern="100" dirty="0">
                          <a:effectLst/>
                        </a:rPr>
                        <a:t>LEFT</a:t>
                      </a:r>
                      <a:r>
                        <a:rPr lang="zh-CN" sz="2000" kern="100" dirty="0">
                          <a:effectLst/>
                        </a:rPr>
                        <a:t>，上：</a:t>
                      </a:r>
                      <a:r>
                        <a:rPr lang="en-US" sz="2000" kern="100" dirty="0">
                          <a:effectLst/>
                        </a:rPr>
                        <a:t>TOP</a:t>
                      </a:r>
                      <a:r>
                        <a:rPr lang="zh-CN" sz="2000" kern="100" dirty="0">
                          <a:effectLst/>
                        </a:rPr>
                        <a:t>，右：</a:t>
                      </a:r>
                      <a:r>
                        <a:rPr lang="en-US" sz="2000" kern="100" dirty="0">
                          <a:effectLst/>
                        </a:rPr>
                        <a:t>RIGHT</a:t>
                      </a:r>
                      <a:r>
                        <a:rPr lang="zh-CN" sz="2000" kern="100" dirty="0">
                          <a:effectLst/>
                        </a:rPr>
                        <a:t>，下：</a:t>
                      </a:r>
                      <a:r>
                        <a:rPr lang="en-US" sz="2000" kern="100" dirty="0">
                          <a:effectLst/>
                        </a:rPr>
                        <a:t>BOTTOM</a:t>
                      </a:r>
                      <a:r>
                        <a:rPr lang="zh-CN"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57387058"/>
                  </a:ext>
                </a:extLst>
              </a:tr>
              <a:tr h="1020381">
                <a:tc>
                  <a:txBody>
                    <a:bodyPr/>
                    <a:lstStyle/>
                    <a:p>
                      <a:pPr indent="0" algn="just">
                        <a:spcAft>
                          <a:spcPts val="0"/>
                        </a:spcAft>
                      </a:pPr>
                      <a:r>
                        <a:rPr lang="en-US" sz="2000" kern="100" dirty="0">
                          <a:effectLst/>
                        </a:rPr>
                        <a:t>fill</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指定控件是否在</a:t>
                      </a:r>
                      <a:r>
                        <a:rPr lang="en-US" sz="2000" kern="100" dirty="0">
                          <a:effectLst/>
                        </a:rPr>
                        <a:t>x</a:t>
                      </a:r>
                      <a:r>
                        <a:rPr lang="zh-CN" sz="2000" kern="100" dirty="0">
                          <a:effectLst/>
                        </a:rPr>
                        <a:t>和</a:t>
                      </a:r>
                      <a:r>
                        <a:rPr lang="en-US" sz="2000" kern="100" dirty="0">
                          <a:effectLst/>
                        </a:rPr>
                        <a:t>y</a:t>
                      </a:r>
                      <a:r>
                        <a:rPr lang="zh-CN" sz="2000" kern="100" dirty="0">
                          <a:effectLst/>
                        </a:rPr>
                        <a:t>方向上填充（占满）父控件的空闲空间。取值</a:t>
                      </a:r>
                      <a:r>
                        <a:rPr lang="en-US" sz="2000" kern="100" dirty="0">
                          <a:effectLst/>
                        </a:rPr>
                        <a:t>X</a:t>
                      </a:r>
                      <a:r>
                        <a:rPr lang="zh-CN" sz="2000" kern="100" dirty="0">
                          <a:effectLst/>
                        </a:rPr>
                        <a:t>，则在</a:t>
                      </a:r>
                      <a:r>
                        <a:rPr lang="en-US" sz="2000" kern="100" dirty="0">
                          <a:effectLst/>
                        </a:rPr>
                        <a:t>x</a:t>
                      </a:r>
                      <a:r>
                        <a:rPr lang="zh-CN" sz="2000" kern="100" dirty="0">
                          <a:effectLst/>
                        </a:rPr>
                        <a:t>方向上填充；取值</a:t>
                      </a:r>
                      <a:r>
                        <a:rPr lang="en-US" sz="2000" kern="100" dirty="0">
                          <a:effectLst/>
                        </a:rPr>
                        <a:t>Y</a:t>
                      </a:r>
                      <a:r>
                        <a:rPr lang="zh-CN" sz="2000" kern="100" dirty="0">
                          <a:effectLst/>
                        </a:rPr>
                        <a:t>，则在</a:t>
                      </a:r>
                      <a:r>
                        <a:rPr lang="en-US" sz="2000" kern="100" dirty="0">
                          <a:effectLst/>
                        </a:rPr>
                        <a:t>y</a:t>
                      </a:r>
                      <a:r>
                        <a:rPr lang="zh-CN" sz="2000" kern="100" dirty="0">
                          <a:effectLst/>
                        </a:rPr>
                        <a:t>方向上填充；取值</a:t>
                      </a:r>
                      <a:r>
                        <a:rPr lang="en-US" sz="2000" kern="100" dirty="0">
                          <a:effectLst/>
                        </a:rPr>
                        <a:t>BOTH</a:t>
                      </a:r>
                      <a:r>
                        <a:rPr lang="zh-CN" sz="2000" kern="100" dirty="0">
                          <a:effectLst/>
                        </a:rPr>
                        <a:t>，则在</a:t>
                      </a:r>
                      <a:r>
                        <a:rPr lang="en-US" sz="2000" kern="100" dirty="0">
                          <a:effectLst/>
                        </a:rPr>
                        <a:t>x</a:t>
                      </a:r>
                      <a:r>
                        <a:rPr lang="zh-CN" sz="2000" kern="100" dirty="0">
                          <a:effectLst/>
                        </a:rPr>
                        <a:t>和</a:t>
                      </a:r>
                      <a:r>
                        <a:rPr lang="en-US" sz="2000" kern="100" dirty="0">
                          <a:effectLst/>
                        </a:rPr>
                        <a:t>y</a:t>
                      </a:r>
                      <a:r>
                        <a:rPr lang="zh-CN" sz="2000" kern="100" dirty="0">
                          <a:effectLst/>
                        </a:rPr>
                        <a:t>方向上都填充；取值</a:t>
                      </a:r>
                      <a:r>
                        <a:rPr lang="en-US" sz="2000" kern="100" dirty="0">
                          <a:effectLst/>
                        </a:rPr>
                        <a:t>NONE</a:t>
                      </a:r>
                      <a:r>
                        <a:rPr lang="zh-CN" sz="2000" kern="100" dirty="0">
                          <a:effectLst/>
                        </a:rPr>
                        <a:t>或缺省时，不填充。</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58835273"/>
                  </a:ext>
                </a:extLst>
              </a:tr>
              <a:tr h="680254">
                <a:tc>
                  <a:txBody>
                    <a:bodyPr/>
                    <a:lstStyle/>
                    <a:p>
                      <a:pPr indent="0" algn="just">
                        <a:spcAft>
                          <a:spcPts val="0"/>
                        </a:spcAft>
                      </a:pPr>
                      <a:r>
                        <a:rPr lang="en-US" sz="2000" kern="100">
                          <a:effectLst/>
                        </a:rPr>
                        <a:t>expand</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指定如何使用额外的“空白”空间。取值</a:t>
                      </a:r>
                      <a:r>
                        <a:rPr lang="en-US" sz="2000" kern="100" dirty="0">
                          <a:effectLst/>
                        </a:rPr>
                        <a:t>1</a:t>
                      </a:r>
                      <a:r>
                        <a:rPr lang="zh-CN" sz="2000" kern="100" dirty="0">
                          <a:effectLst/>
                        </a:rPr>
                        <a:t>，则随着父控件的大小变化而变化；取值</a:t>
                      </a:r>
                      <a:r>
                        <a:rPr lang="en-US" sz="2000" kern="100" dirty="0">
                          <a:effectLst/>
                        </a:rPr>
                        <a:t>0</a:t>
                      </a:r>
                      <a:r>
                        <a:rPr lang="zh-CN" sz="2000" kern="100" dirty="0">
                          <a:effectLst/>
                        </a:rPr>
                        <a:t>，则子控件大小不能扩展。</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32516424"/>
                  </a:ext>
                </a:extLst>
              </a:tr>
              <a:tr h="680254">
                <a:tc>
                  <a:txBody>
                    <a:bodyPr/>
                    <a:lstStyle/>
                    <a:p>
                      <a:pPr indent="0" algn="just">
                        <a:spcAft>
                          <a:spcPts val="0"/>
                        </a:spcAft>
                      </a:pPr>
                      <a:r>
                        <a:rPr lang="en-US" sz="2000" kern="100">
                          <a:effectLst/>
                        </a:rPr>
                        <a:t>padx</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设置子控件外部在</a:t>
                      </a:r>
                      <a:r>
                        <a:rPr lang="en-US" sz="2000" kern="100" dirty="0">
                          <a:effectLst/>
                        </a:rPr>
                        <a:t>x</a:t>
                      </a:r>
                      <a:r>
                        <a:rPr lang="zh-CN" sz="2000" kern="100" dirty="0">
                          <a:effectLst/>
                        </a:rPr>
                        <a:t>方向的间隙。默认单位为像素，可选单位为</a:t>
                      </a:r>
                      <a:r>
                        <a:rPr lang="en-US" sz="2000" kern="100" dirty="0">
                          <a:effectLst/>
                        </a:rPr>
                        <a:t>c</a:t>
                      </a:r>
                      <a:r>
                        <a:rPr lang="zh-CN" sz="2000" kern="100" dirty="0">
                          <a:effectLst/>
                        </a:rPr>
                        <a:t>（厘米）、</a:t>
                      </a:r>
                      <a:r>
                        <a:rPr lang="en-US" sz="2000" kern="100" dirty="0">
                          <a:effectLst/>
                        </a:rPr>
                        <a:t>m</a:t>
                      </a:r>
                      <a:r>
                        <a:rPr lang="zh-CN" sz="2000" kern="100" dirty="0">
                          <a:effectLst/>
                        </a:rPr>
                        <a:t>（毫米）、</a:t>
                      </a:r>
                      <a:r>
                        <a:rPr lang="en-US" sz="2000" kern="100" dirty="0" err="1">
                          <a:effectLst/>
                        </a:rPr>
                        <a:t>i</a:t>
                      </a:r>
                      <a:r>
                        <a:rPr lang="zh-CN" sz="2000" kern="100" dirty="0">
                          <a:effectLst/>
                        </a:rPr>
                        <a:t>（英寸）、</a:t>
                      </a:r>
                      <a:r>
                        <a:rPr lang="en-US" sz="2000" kern="100" dirty="0">
                          <a:effectLst/>
                        </a:rPr>
                        <a:t>p</a:t>
                      </a:r>
                      <a:r>
                        <a:rPr lang="zh-CN" sz="2000" kern="100" dirty="0">
                          <a:effectLst/>
                        </a:rPr>
                        <a:t>（打印机的点，即</a:t>
                      </a:r>
                      <a:r>
                        <a:rPr lang="en-US" sz="2000" kern="100" dirty="0">
                          <a:effectLst/>
                        </a:rPr>
                        <a:t>1/27</a:t>
                      </a:r>
                      <a:r>
                        <a:rPr lang="zh-CN" sz="2000" kern="100" dirty="0">
                          <a:effectLst/>
                        </a:rPr>
                        <a:t>英寸），在属性值后加上一个后缀即可。</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883849"/>
                  </a:ext>
                </a:extLst>
              </a:tr>
              <a:tr h="340127">
                <a:tc>
                  <a:txBody>
                    <a:bodyPr/>
                    <a:lstStyle/>
                    <a:p>
                      <a:pPr indent="0" algn="just">
                        <a:spcAft>
                          <a:spcPts val="0"/>
                        </a:spcAft>
                      </a:pPr>
                      <a:r>
                        <a:rPr lang="en-US" sz="2000" kern="100">
                          <a:effectLst/>
                        </a:rPr>
                        <a:t>pady</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设置子控件外部在</a:t>
                      </a:r>
                      <a:r>
                        <a:rPr lang="en-US" sz="2000" kern="100" dirty="0">
                          <a:effectLst/>
                        </a:rPr>
                        <a:t>y</a:t>
                      </a:r>
                      <a:r>
                        <a:rPr lang="zh-CN" sz="2000" kern="100" dirty="0">
                          <a:effectLst/>
                        </a:rPr>
                        <a:t>方向的间隙。单位同</a:t>
                      </a:r>
                      <a:r>
                        <a:rPr lang="en-US" sz="2000" kern="100" dirty="0" err="1">
                          <a:effectLst/>
                        </a:rPr>
                        <a:t>padx</a:t>
                      </a:r>
                      <a:r>
                        <a:rPr lang="zh-CN" sz="2000" kern="100" dirty="0">
                          <a:effectLst/>
                        </a:rPr>
                        <a:t>选项。</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31958286"/>
                  </a:ext>
                </a:extLst>
              </a:tr>
              <a:tr h="340127">
                <a:tc>
                  <a:txBody>
                    <a:bodyPr/>
                    <a:lstStyle/>
                    <a:p>
                      <a:pPr indent="0" algn="just">
                        <a:spcAft>
                          <a:spcPts val="0"/>
                        </a:spcAft>
                      </a:pPr>
                      <a:r>
                        <a:rPr lang="en-US" sz="2000" kern="100">
                          <a:effectLst/>
                        </a:rPr>
                        <a:t>ipadx</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设置子控件内部在</a:t>
                      </a:r>
                      <a:r>
                        <a:rPr lang="en-US" sz="2000" kern="100" dirty="0">
                          <a:effectLst/>
                        </a:rPr>
                        <a:t>x</a:t>
                      </a:r>
                      <a:r>
                        <a:rPr lang="zh-CN" sz="2000" kern="100" dirty="0">
                          <a:effectLst/>
                        </a:rPr>
                        <a:t>方向与其他控件之间的间隙。单位同</a:t>
                      </a:r>
                      <a:r>
                        <a:rPr lang="en-US" sz="2000" kern="100" dirty="0" err="1">
                          <a:effectLst/>
                        </a:rPr>
                        <a:t>padx</a:t>
                      </a:r>
                      <a:r>
                        <a:rPr lang="zh-CN" sz="2000" kern="100" dirty="0">
                          <a:effectLst/>
                        </a:rPr>
                        <a:t>选项。</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92426156"/>
                  </a:ext>
                </a:extLst>
              </a:tr>
              <a:tr h="340127">
                <a:tc>
                  <a:txBody>
                    <a:bodyPr/>
                    <a:lstStyle/>
                    <a:p>
                      <a:pPr indent="0" algn="just">
                        <a:spcAft>
                          <a:spcPts val="0"/>
                        </a:spcAft>
                      </a:pPr>
                      <a:r>
                        <a:rPr lang="en-US" sz="2000" kern="100">
                          <a:effectLst/>
                        </a:rPr>
                        <a:t>ipady</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设置子控件内部在</a:t>
                      </a:r>
                      <a:r>
                        <a:rPr lang="en-US" sz="2000" kern="100" dirty="0">
                          <a:effectLst/>
                        </a:rPr>
                        <a:t>y</a:t>
                      </a:r>
                      <a:r>
                        <a:rPr lang="zh-CN" sz="2000" kern="100" dirty="0">
                          <a:effectLst/>
                        </a:rPr>
                        <a:t>方向与其他控件之间的间隙。单位同</a:t>
                      </a:r>
                      <a:r>
                        <a:rPr lang="en-US" sz="2000" kern="100" dirty="0" err="1">
                          <a:effectLst/>
                        </a:rPr>
                        <a:t>padx</a:t>
                      </a:r>
                      <a:r>
                        <a:rPr lang="zh-CN" sz="2000" kern="100" dirty="0">
                          <a:effectLst/>
                        </a:rPr>
                        <a:t>选项。</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66496708"/>
                  </a:ext>
                </a:extLst>
              </a:tr>
              <a:tr h="340127">
                <a:tc>
                  <a:txBody>
                    <a:bodyPr/>
                    <a:lstStyle/>
                    <a:p>
                      <a:pPr indent="0" algn="just">
                        <a:spcAft>
                          <a:spcPts val="0"/>
                        </a:spcAft>
                      </a:pPr>
                      <a:r>
                        <a:rPr lang="en-US" sz="2000" kern="100">
                          <a:effectLst/>
                        </a:rPr>
                        <a:t>after</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将控件置于其他控件之后。</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62066158"/>
                  </a:ext>
                </a:extLst>
              </a:tr>
              <a:tr h="344724">
                <a:tc>
                  <a:txBody>
                    <a:bodyPr/>
                    <a:lstStyle/>
                    <a:p>
                      <a:pPr indent="0" algn="just">
                        <a:spcAft>
                          <a:spcPts val="0"/>
                        </a:spcAft>
                      </a:pPr>
                      <a:r>
                        <a:rPr lang="en-US" sz="2000" kern="100">
                          <a:effectLst/>
                        </a:rPr>
                        <a:t>before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将控件置于其他控件之前。</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03000120"/>
                  </a:ext>
                </a:extLst>
              </a:tr>
              <a:tr h="410317">
                <a:tc>
                  <a:txBody>
                    <a:bodyPr/>
                    <a:lstStyle/>
                    <a:p>
                      <a:pPr indent="0" algn="just">
                        <a:spcAft>
                          <a:spcPts val="0"/>
                        </a:spcAft>
                      </a:pPr>
                      <a:r>
                        <a:rPr lang="en-US" sz="2000" kern="100" dirty="0">
                          <a:effectLst/>
                        </a:rPr>
                        <a:t>anchor</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设置控件的锚点。锚点可用的方位值有</a:t>
                      </a:r>
                      <a:r>
                        <a:rPr lang="en-US" sz="2000" kern="100" dirty="0">
                          <a:effectLst/>
                        </a:rPr>
                        <a:t>N</a:t>
                      </a:r>
                      <a:r>
                        <a:rPr lang="zh-CN" sz="2000" kern="100" dirty="0">
                          <a:effectLst/>
                        </a:rPr>
                        <a:t>、</a:t>
                      </a:r>
                      <a:r>
                        <a:rPr lang="en-US" sz="2000" kern="100" dirty="0">
                          <a:effectLst/>
                        </a:rPr>
                        <a:t>S</a:t>
                      </a:r>
                      <a:r>
                        <a:rPr lang="zh-CN" sz="2000" kern="100" dirty="0">
                          <a:effectLst/>
                        </a:rPr>
                        <a:t>、</a:t>
                      </a:r>
                      <a:r>
                        <a:rPr lang="en-US" sz="2000" kern="100" dirty="0">
                          <a:effectLst/>
                        </a:rPr>
                        <a:t>E</a:t>
                      </a:r>
                      <a:r>
                        <a:rPr lang="zh-CN" sz="2000" kern="100" dirty="0">
                          <a:effectLst/>
                        </a:rPr>
                        <a:t>、</a:t>
                      </a:r>
                      <a:r>
                        <a:rPr lang="en-US" sz="2000" kern="100" dirty="0">
                          <a:effectLst/>
                        </a:rPr>
                        <a:t>W</a:t>
                      </a:r>
                      <a:r>
                        <a:rPr lang="zh-CN" sz="2000" kern="100" dirty="0">
                          <a:effectLst/>
                        </a:rPr>
                        <a:t>、</a:t>
                      </a:r>
                      <a:r>
                        <a:rPr lang="en-US" sz="2000" kern="100" dirty="0">
                          <a:effectLst/>
                        </a:rPr>
                        <a:t>CENTER</a:t>
                      </a:r>
                      <a:r>
                        <a:rPr lang="zh-CN" sz="2000" kern="100" dirty="0">
                          <a:effectLst/>
                        </a:rPr>
                        <a:t>、</a:t>
                      </a:r>
                      <a:r>
                        <a:rPr lang="en-US" sz="2000" kern="100" dirty="0">
                          <a:effectLst/>
                        </a:rPr>
                        <a:t>NE</a:t>
                      </a:r>
                      <a:r>
                        <a:rPr lang="zh-CN" sz="2000" kern="100" dirty="0">
                          <a:effectLst/>
                        </a:rPr>
                        <a:t>、</a:t>
                      </a:r>
                      <a:r>
                        <a:rPr lang="en-US" sz="2000" kern="100" dirty="0">
                          <a:effectLst/>
                        </a:rPr>
                        <a:t>SE</a:t>
                      </a:r>
                      <a:r>
                        <a:rPr lang="zh-CN" sz="2000" kern="100" dirty="0">
                          <a:effectLst/>
                        </a:rPr>
                        <a:t>、</a:t>
                      </a:r>
                      <a:r>
                        <a:rPr lang="en-US" sz="2000" kern="100" dirty="0">
                          <a:effectLst/>
                        </a:rPr>
                        <a:t>NW</a:t>
                      </a:r>
                      <a:r>
                        <a:rPr lang="zh-CN" sz="2000" kern="100" dirty="0">
                          <a:effectLst/>
                        </a:rPr>
                        <a:t>、</a:t>
                      </a:r>
                      <a:r>
                        <a:rPr lang="en-US" sz="2000" kern="100" dirty="0">
                          <a:effectLst/>
                        </a:rPr>
                        <a:t>SW</a:t>
                      </a:r>
                      <a:r>
                        <a:rPr lang="zh-CN"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26757433"/>
                  </a:ext>
                </a:extLst>
              </a:tr>
            </a:tbl>
          </a:graphicData>
        </a:graphic>
      </p:graphicFrame>
      <p:sp>
        <p:nvSpPr>
          <p:cNvPr id="3" name="灯片编号占位符 2">
            <a:extLst>
              <a:ext uri="{FF2B5EF4-FFF2-40B4-BE49-F238E27FC236}">
                <a16:creationId xmlns:a16="http://schemas.microsoft.com/office/drawing/2014/main" id="{62F3CA16-E07F-4193-BC7D-B02479381FF4}"/>
              </a:ext>
            </a:extLst>
          </p:cNvPr>
          <p:cNvSpPr>
            <a:spLocks noGrp="1"/>
          </p:cNvSpPr>
          <p:nvPr>
            <p:ph type="sldNum" sz="quarter" idx="12"/>
          </p:nvPr>
        </p:nvSpPr>
        <p:spPr/>
        <p:txBody>
          <a:bodyPr/>
          <a:lstStyle/>
          <a:p>
            <a:fld id="{49AE70B2-8BF9-45C0-BB95-33D1B9D3A854}" type="slidenum">
              <a:rPr lang="zh-CN" altLang="en-US" smtClean="0"/>
              <a:t>72</a:t>
            </a:fld>
            <a:endParaRPr lang="zh-CN" altLang="en-US"/>
          </a:p>
        </p:txBody>
      </p:sp>
    </p:spTree>
    <p:extLst>
      <p:ext uri="{BB962C8B-B14F-4D97-AF65-F5344CB8AC3E}">
        <p14:creationId xmlns:p14="http://schemas.microsoft.com/office/powerpoint/2010/main" val="7747334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13.4.3 grid</a:t>
            </a:r>
            <a:r>
              <a:rPr lang="zh-CN" altLang="en-US" dirty="0"/>
              <a:t>布局管理器</a:t>
            </a:r>
            <a:br>
              <a:rPr lang="zh-CN" altLang="en-US" dirty="0"/>
            </a:br>
            <a:endParaRPr lang="zh-CN" altLang="en-US" dirty="0"/>
          </a:p>
        </p:txBody>
      </p:sp>
      <p:sp>
        <p:nvSpPr>
          <p:cNvPr id="3" name="内容占位符 2"/>
          <p:cNvSpPr>
            <a:spLocks noGrp="1"/>
          </p:cNvSpPr>
          <p:nvPr>
            <p:ph idx="1"/>
          </p:nvPr>
        </p:nvSpPr>
        <p:spPr/>
        <p:txBody>
          <a:bodyPr>
            <a:noAutofit/>
          </a:bodyPr>
          <a:lstStyle/>
          <a:p>
            <a:pPr>
              <a:lnSpc>
                <a:spcPct val="120000"/>
              </a:lnSpc>
              <a:spcAft>
                <a:spcPts val="600"/>
              </a:spcAft>
            </a:pPr>
            <a:r>
              <a:rPr lang="en-US" altLang="zh-CN" sz="2600" dirty="0"/>
              <a:t>grid</a:t>
            </a:r>
            <a:r>
              <a:rPr lang="zh-CN" altLang="en-US" sz="2600" dirty="0"/>
              <a:t>布局管理器是将父控件逻辑上分割成由行列组成的表格，在指定位置放置想要的子控件。</a:t>
            </a:r>
            <a:endParaRPr lang="en-US" altLang="zh-CN" sz="2600" dirty="0"/>
          </a:p>
          <a:p>
            <a:pPr lvl="1">
              <a:lnSpc>
                <a:spcPct val="120000"/>
              </a:lnSpc>
              <a:spcAft>
                <a:spcPts val="600"/>
              </a:spcAft>
            </a:pPr>
            <a:r>
              <a:rPr lang="zh-CN" altLang="en-US" sz="2600" dirty="0"/>
              <a:t>调用控件的</a:t>
            </a:r>
            <a:r>
              <a:rPr lang="en-US" altLang="zh-CN" sz="2600" dirty="0"/>
              <a:t>grid</a:t>
            </a:r>
            <a:r>
              <a:rPr lang="zh-CN" altLang="en-US" sz="2600" dirty="0"/>
              <a:t>方法时，即通知</a:t>
            </a:r>
            <a:r>
              <a:rPr lang="en-US" altLang="zh-CN" sz="2600" dirty="0"/>
              <a:t>grid</a:t>
            </a:r>
            <a:r>
              <a:rPr lang="zh-CN" altLang="en-US" sz="2600" dirty="0"/>
              <a:t>布局管理器放置控件。</a:t>
            </a:r>
            <a:endParaRPr lang="en-US" altLang="zh-CN" sz="2600" dirty="0"/>
          </a:p>
          <a:p>
            <a:pPr lvl="1">
              <a:lnSpc>
                <a:spcPct val="120000"/>
              </a:lnSpc>
              <a:spcAft>
                <a:spcPts val="600"/>
              </a:spcAft>
            </a:pPr>
            <a:r>
              <a:rPr lang="en-US" altLang="zh-CN" sz="2600" dirty="0"/>
              <a:t>grid</a:t>
            </a:r>
            <a:r>
              <a:rPr lang="zh-CN" altLang="en-US" sz="2600" dirty="0"/>
              <a:t>布局管理器自动根据里面的控件调节网格的大小。</a:t>
            </a:r>
            <a:endParaRPr lang="en-US" altLang="zh-CN" sz="2600" dirty="0"/>
          </a:p>
          <a:p>
            <a:pPr>
              <a:lnSpc>
                <a:spcPct val="120000"/>
              </a:lnSpc>
              <a:spcAft>
                <a:spcPts val="600"/>
              </a:spcAft>
            </a:pPr>
            <a:r>
              <a:rPr lang="en-US" altLang="zh-CN" sz="2600" dirty="0"/>
              <a:t>grid</a:t>
            </a:r>
            <a:r>
              <a:rPr lang="zh-CN" altLang="en-US" sz="2600" dirty="0"/>
              <a:t>方法的一般调用格式：</a:t>
            </a:r>
          </a:p>
          <a:p>
            <a:pPr marL="0" indent="0" algn="ctr">
              <a:lnSpc>
                <a:spcPct val="120000"/>
              </a:lnSpc>
              <a:spcAft>
                <a:spcPts val="600"/>
              </a:spcAft>
              <a:buNone/>
            </a:pPr>
            <a:r>
              <a:rPr lang="zh-CN" altLang="en-US" sz="2600" dirty="0"/>
              <a:t>控件对象</a:t>
            </a:r>
            <a:r>
              <a:rPr lang="en-US" altLang="zh-CN" sz="2600" dirty="0"/>
              <a:t>.grid([column=</a:t>
            </a:r>
            <a:r>
              <a:rPr lang="zh-CN" altLang="en-US" sz="2600" dirty="0"/>
              <a:t>值</a:t>
            </a:r>
            <a:r>
              <a:rPr lang="en-US" altLang="zh-CN" sz="2600" dirty="0"/>
              <a:t>1[, row=</a:t>
            </a:r>
            <a:r>
              <a:rPr lang="zh-CN" altLang="en-US" sz="2600" dirty="0"/>
              <a:t>值</a:t>
            </a:r>
            <a:r>
              <a:rPr lang="en-US" altLang="zh-CN" sz="2600" dirty="0"/>
              <a:t>2[, sticky=</a:t>
            </a:r>
            <a:r>
              <a:rPr lang="zh-CN" altLang="en-US" sz="2600" dirty="0"/>
              <a:t>值</a:t>
            </a:r>
            <a:r>
              <a:rPr lang="en-US" altLang="zh-CN" sz="2600" dirty="0"/>
              <a:t>3[,..]]]])</a:t>
            </a:r>
          </a:p>
          <a:p>
            <a:pPr lvl="1">
              <a:lnSpc>
                <a:spcPct val="120000"/>
              </a:lnSpc>
              <a:spcAft>
                <a:spcPts val="600"/>
              </a:spcAft>
            </a:pPr>
            <a:r>
              <a:rPr lang="zh-CN" altLang="en-US" sz="2600" dirty="0"/>
              <a:t>占位表格的行和列都是从</a:t>
            </a:r>
            <a:r>
              <a:rPr lang="en-US" altLang="zh-CN" sz="2600" dirty="0"/>
              <a:t>0</a:t>
            </a:r>
            <a:r>
              <a:rPr lang="zh-CN" altLang="en-US" sz="2600" dirty="0"/>
              <a:t>开始编号的。</a:t>
            </a:r>
            <a:endParaRPr lang="en-US" altLang="zh-CN" sz="2600" dirty="0"/>
          </a:p>
          <a:p>
            <a:pPr lvl="1">
              <a:lnSpc>
                <a:spcPct val="120000"/>
              </a:lnSpc>
              <a:spcAft>
                <a:spcPts val="600"/>
              </a:spcAft>
            </a:pPr>
            <a:r>
              <a:rPr lang="en-US" altLang="zh-CN" sz="2600" dirty="0"/>
              <a:t>column</a:t>
            </a:r>
            <a:r>
              <a:rPr lang="zh-CN" altLang="en-US" sz="2600" dirty="0"/>
              <a:t>选项指定行编号，使用</a:t>
            </a:r>
            <a:r>
              <a:rPr lang="en-US" altLang="zh-CN" sz="2600" dirty="0"/>
              <a:t>row</a:t>
            </a:r>
            <a:r>
              <a:rPr lang="zh-CN" altLang="en-US" sz="2600" dirty="0"/>
              <a:t>选项指定列编号。</a:t>
            </a:r>
            <a:endParaRPr lang="en-US" altLang="zh-CN" sz="2600" dirty="0"/>
          </a:p>
          <a:p>
            <a:pPr lvl="1">
              <a:lnSpc>
                <a:spcPct val="120000"/>
              </a:lnSpc>
              <a:spcAft>
                <a:spcPts val="600"/>
              </a:spcAft>
            </a:pPr>
            <a:r>
              <a:rPr lang="zh-CN" altLang="en-US" sz="2600" dirty="0"/>
              <a:t>子控件大小比单元格小时，可以设置</a:t>
            </a:r>
            <a:r>
              <a:rPr lang="en-US" altLang="zh-CN" sz="2600" dirty="0"/>
              <a:t>sticky</a:t>
            </a:r>
            <a:r>
              <a:rPr lang="zh-CN" altLang="en-US" sz="2600" dirty="0"/>
              <a:t>选项来指定对齐方式。</a:t>
            </a:r>
          </a:p>
          <a:p>
            <a:pPr>
              <a:lnSpc>
                <a:spcPct val="120000"/>
              </a:lnSpc>
              <a:spcAft>
                <a:spcPts val="600"/>
              </a:spcAft>
            </a:pPr>
            <a:endParaRPr lang="zh-CN" altLang="en-US" sz="2600" dirty="0"/>
          </a:p>
        </p:txBody>
      </p:sp>
      <p:sp>
        <p:nvSpPr>
          <p:cNvPr id="4" name="灯片编号占位符 3">
            <a:extLst>
              <a:ext uri="{FF2B5EF4-FFF2-40B4-BE49-F238E27FC236}">
                <a16:creationId xmlns:a16="http://schemas.microsoft.com/office/drawing/2014/main" id="{0710D892-AB25-4CA1-AED7-FEB7783A3B68}"/>
              </a:ext>
            </a:extLst>
          </p:cNvPr>
          <p:cNvSpPr>
            <a:spLocks noGrp="1"/>
          </p:cNvSpPr>
          <p:nvPr>
            <p:ph type="sldNum" sz="quarter" idx="12"/>
          </p:nvPr>
        </p:nvSpPr>
        <p:spPr/>
        <p:txBody>
          <a:bodyPr/>
          <a:lstStyle/>
          <a:p>
            <a:fld id="{49AE70B2-8BF9-45C0-BB95-33D1B9D3A854}" type="slidenum">
              <a:rPr lang="zh-CN" altLang="en-US" smtClean="0"/>
              <a:t>73</a:t>
            </a:fld>
            <a:endParaRPr lang="zh-CN" altLang="en-US"/>
          </a:p>
        </p:txBody>
      </p:sp>
    </p:spTree>
    <p:extLst>
      <p:ext uri="{BB962C8B-B14F-4D97-AF65-F5344CB8AC3E}">
        <p14:creationId xmlns:p14="http://schemas.microsoft.com/office/powerpoint/2010/main" val="41136196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grid</a:t>
            </a:r>
            <a:r>
              <a:rPr lang="zh-CN" altLang="en-US" dirty="0"/>
              <a:t>方法的常用选项</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2334896458"/>
              </p:ext>
            </p:extLst>
          </p:nvPr>
        </p:nvGraphicFramePr>
        <p:xfrm>
          <a:off x="669926" y="1160144"/>
          <a:ext cx="11042698" cy="5005159"/>
        </p:xfrm>
        <a:graphic>
          <a:graphicData uri="http://schemas.openxmlformats.org/drawingml/2006/table">
            <a:tbl>
              <a:tblPr firstRow="1" firstCol="1" bandRow="1">
                <a:tableStyleId>{5C22544A-7EE6-4342-B048-85BDC9FD1C3A}</a:tableStyleId>
              </a:tblPr>
              <a:tblGrid>
                <a:gridCol w="2110509">
                  <a:extLst>
                    <a:ext uri="{9D8B030D-6E8A-4147-A177-3AD203B41FA5}">
                      <a16:colId xmlns:a16="http://schemas.microsoft.com/office/drawing/2014/main" val="1087271818"/>
                    </a:ext>
                  </a:extLst>
                </a:gridCol>
                <a:gridCol w="8932189">
                  <a:extLst>
                    <a:ext uri="{9D8B030D-6E8A-4147-A177-3AD203B41FA5}">
                      <a16:colId xmlns:a16="http://schemas.microsoft.com/office/drawing/2014/main" val="4260641135"/>
                    </a:ext>
                  </a:extLst>
                </a:gridCol>
              </a:tblGrid>
              <a:tr h="402225">
                <a:tc>
                  <a:txBody>
                    <a:bodyPr/>
                    <a:lstStyle/>
                    <a:p>
                      <a:pPr indent="266700" algn="ctr">
                        <a:spcAft>
                          <a:spcPts val="0"/>
                        </a:spcAft>
                      </a:pPr>
                      <a:r>
                        <a:rPr lang="zh-CN" sz="2400" kern="100">
                          <a:effectLst/>
                        </a:rPr>
                        <a:t>选项</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spcAft>
                          <a:spcPts val="0"/>
                        </a:spcAft>
                      </a:pPr>
                      <a:r>
                        <a:rPr lang="zh-CN" sz="2400" kern="100">
                          <a:effectLst/>
                        </a:rPr>
                        <a:t>作用</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00058275"/>
                  </a:ext>
                </a:extLst>
              </a:tr>
              <a:tr h="368707">
                <a:tc>
                  <a:txBody>
                    <a:bodyPr/>
                    <a:lstStyle/>
                    <a:p>
                      <a:pPr indent="0" algn="just">
                        <a:spcAft>
                          <a:spcPts val="0"/>
                        </a:spcAft>
                      </a:pPr>
                      <a:r>
                        <a:rPr lang="en-US" sz="2200" kern="100" dirty="0">
                          <a:effectLst/>
                        </a:rPr>
                        <a:t>column</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a:effectLst/>
                        </a:rPr>
                        <a:t>控件所在单元格的列号。</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94573376"/>
                  </a:ext>
                </a:extLst>
              </a:tr>
              <a:tr h="395935">
                <a:tc>
                  <a:txBody>
                    <a:bodyPr/>
                    <a:lstStyle/>
                    <a:p>
                      <a:pPr indent="0" algn="just">
                        <a:spcAft>
                          <a:spcPts val="0"/>
                        </a:spcAft>
                      </a:pPr>
                      <a:r>
                        <a:rPr lang="en-US" sz="2200" kern="100" dirty="0" err="1">
                          <a:effectLst/>
                        </a:rPr>
                        <a:t>columnspan</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a:effectLst/>
                        </a:rPr>
                        <a:t>从控件所在单元格算起，控件占据的列数。</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59266379"/>
                  </a:ext>
                </a:extLst>
              </a:tr>
              <a:tr h="388060">
                <a:tc>
                  <a:txBody>
                    <a:bodyPr/>
                    <a:lstStyle/>
                    <a:p>
                      <a:pPr indent="0" algn="just">
                        <a:spcAft>
                          <a:spcPts val="0"/>
                        </a:spcAft>
                      </a:pPr>
                      <a:r>
                        <a:rPr lang="en-US" sz="2200" kern="100" dirty="0">
                          <a:effectLst/>
                        </a:rPr>
                        <a:t>row</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dirty="0">
                          <a:effectLst/>
                        </a:rPr>
                        <a:t>控件所在单元格的行号。</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60020695"/>
                  </a:ext>
                </a:extLst>
              </a:tr>
              <a:tr h="403810">
                <a:tc>
                  <a:txBody>
                    <a:bodyPr/>
                    <a:lstStyle/>
                    <a:p>
                      <a:pPr indent="0" algn="just">
                        <a:spcAft>
                          <a:spcPts val="0"/>
                        </a:spcAft>
                      </a:pPr>
                      <a:r>
                        <a:rPr lang="en-US" sz="2200" kern="100" dirty="0" err="1">
                          <a:effectLst/>
                        </a:rPr>
                        <a:t>rowspan</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dirty="0">
                          <a:effectLst/>
                        </a:rPr>
                        <a:t>从控件所在单元格算起，控件占据的行数。</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45250370"/>
                  </a:ext>
                </a:extLst>
              </a:tr>
              <a:tr h="1106120">
                <a:tc>
                  <a:txBody>
                    <a:bodyPr/>
                    <a:lstStyle/>
                    <a:p>
                      <a:pPr indent="0" algn="just">
                        <a:spcAft>
                          <a:spcPts val="0"/>
                        </a:spcAft>
                      </a:pPr>
                      <a:r>
                        <a:rPr lang="en-US" sz="2200" kern="100" dirty="0" err="1">
                          <a:effectLst/>
                        </a:rPr>
                        <a:t>padx</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dirty="0">
                          <a:effectLst/>
                        </a:rPr>
                        <a:t>设置子控件外部在</a:t>
                      </a:r>
                      <a:r>
                        <a:rPr lang="en-US" sz="2200" kern="100" dirty="0">
                          <a:effectLst/>
                        </a:rPr>
                        <a:t>x</a:t>
                      </a:r>
                      <a:r>
                        <a:rPr lang="zh-CN" sz="2200" kern="100" dirty="0">
                          <a:effectLst/>
                        </a:rPr>
                        <a:t>方向的间隙。默认单位为像素，可选单位为</a:t>
                      </a:r>
                      <a:r>
                        <a:rPr lang="en-US" sz="2200" kern="100" dirty="0">
                          <a:effectLst/>
                        </a:rPr>
                        <a:t>c</a:t>
                      </a:r>
                      <a:r>
                        <a:rPr lang="zh-CN" sz="2200" kern="100" dirty="0">
                          <a:effectLst/>
                        </a:rPr>
                        <a:t>（厘米）、</a:t>
                      </a:r>
                      <a:r>
                        <a:rPr lang="en-US" sz="2200" kern="100" dirty="0">
                          <a:effectLst/>
                        </a:rPr>
                        <a:t>m</a:t>
                      </a:r>
                      <a:r>
                        <a:rPr lang="zh-CN" sz="2200" kern="100" dirty="0">
                          <a:effectLst/>
                        </a:rPr>
                        <a:t>（毫米）、</a:t>
                      </a:r>
                      <a:r>
                        <a:rPr lang="en-US" sz="2200" kern="100" dirty="0" err="1">
                          <a:effectLst/>
                        </a:rPr>
                        <a:t>i</a:t>
                      </a:r>
                      <a:r>
                        <a:rPr lang="zh-CN" sz="2200" kern="100" dirty="0">
                          <a:effectLst/>
                        </a:rPr>
                        <a:t>（英寸）、</a:t>
                      </a:r>
                      <a:r>
                        <a:rPr lang="en-US" sz="2200" kern="100" dirty="0">
                          <a:effectLst/>
                        </a:rPr>
                        <a:t>p</a:t>
                      </a:r>
                      <a:r>
                        <a:rPr lang="zh-CN" sz="2200" kern="100" dirty="0">
                          <a:effectLst/>
                        </a:rPr>
                        <a:t>（打印机的点，即</a:t>
                      </a:r>
                      <a:r>
                        <a:rPr lang="en-US" sz="2200" kern="100" dirty="0">
                          <a:effectLst/>
                        </a:rPr>
                        <a:t>1/27</a:t>
                      </a:r>
                      <a:r>
                        <a:rPr lang="zh-CN" sz="2200" kern="100" dirty="0">
                          <a:effectLst/>
                        </a:rPr>
                        <a:t>英寸），在属性值后加上一个后缀即可。</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48898897"/>
                  </a:ext>
                </a:extLst>
              </a:tr>
              <a:tr h="388060">
                <a:tc>
                  <a:txBody>
                    <a:bodyPr/>
                    <a:lstStyle/>
                    <a:p>
                      <a:pPr indent="0" algn="just">
                        <a:spcAft>
                          <a:spcPts val="0"/>
                        </a:spcAft>
                      </a:pPr>
                      <a:r>
                        <a:rPr lang="en-US" sz="2200" kern="100">
                          <a:effectLst/>
                        </a:rPr>
                        <a:t>pady</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dirty="0">
                          <a:effectLst/>
                        </a:rPr>
                        <a:t>设置子控件外部在</a:t>
                      </a:r>
                      <a:r>
                        <a:rPr lang="en-US" sz="2200" kern="100" dirty="0">
                          <a:effectLst/>
                        </a:rPr>
                        <a:t>y</a:t>
                      </a:r>
                      <a:r>
                        <a:rPr lang="zh-CN" sz="2200" kern="100" dirty="0">
                          <a:effectLst/>
                        </a:rPr>
                        <a:t>方向的间隙。单位同</a:t>
                      </a:r>
                      <a:r>
                        <a:rPr lang="en-US" sz="2200" kern="100" dirty="0" err="1">
                          <a:effectLst/>
                        </a:rPr>
                        <a:t>padx</a:t>
                      </a:r>
                      <a:r>
                        <a:rPr lang="zh-CN" sz="2200" kern="100" dirty="0">
                          <a:effectLst/>
                        </a:rPr>
                        <a:t>选项。</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87429693"/>
                  </a:ext>
                </a:extLst>
              </a:tr>
              <a:tr h="388060">
                <a:tc>
                  <a:txBody>
                    <a:bodyPr/>
                    <a:lstStyle/>
                    <a:p>
                      <a:pPr indent="0" algn="just">
                        <a:spcAft>
                          <a:spcPts val="0"/>
                        </a:spcAft>
                      </a:pPr>
                      <a:r>
                        <a:rPr lang="en-US" sz="2200" kern="100">
                          <a:effectLst/>
                        </a:rPr>
                        <a:t>ipadx</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dirty="0">
                          <a:effectLst/>
                        </a:rPr>
                        <a:t>设置子控件内部在</a:t>
                      </a:r>
                      <a:r>
                        <a:rPr lang="en-US" sz="2200" kern="100" dirty="0">
                          <a:effectLst/>
                        </a:rPr>
                        <a:t>x</a:t>
                      </a:r>
                      <a:r>
                        <a:rPr lang="zh-CN" sz="2200" kern="100" dirty="0">
                          <a:effectLst/>
                        </a:rPr>
                        <a:t>方向与其他控件之间的间隙。单位同</a:t>
                      </a:r>
                      <a:r>
                        <a:rPr lang="en-US" sz="2200" kern="100" dirty="0" err="1">
                          <a:effectLst/>
                        </a:rPr>
                        <a:t>padx</a:t>
                      </a:r>
                      <a:r>
                        <a:rPr lang="zh-CN" sz="2200" kern="100" dirty="0">
                          <a:effectLst/>
                        </a:rPr>
                        <a:t>选项。</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72451988"/>
                  </a:ext>
                </a:extLst>
              </a:tr>
              <a:tr h="388060">
                <a:tc>
                  <a:txBody>
                    <a:bodyPr/>
                    <a:lstStyle/>
                    <a:p>
                      <a:pPr indent="0" algn="just">
                        <a:spcAft>
                          <a:spcPts val="0"/>
                        </a:spcAft>
                      </a:pPr>
                      <a:r>
                        <a:rPr lang="en-US" sz="2200" kern="100">
                          <a:effectLst/>
                        </a:rPr>
                        <a:t>ipady</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dirty="0">
                          <a:effectLst/>
                        </a:rPr>
                        <a:t>设置子控件内部在</a:t>
                      </a:r>
                      <a:r>
                        <a:rPr lang="en-US" sz="2200" kern="100" dirty="0">
                          <a:effectLst/>
                        </a:rPr>
                        <a:t>y</a:t>
                      </a:r>
                      <a:r>
                        <a:rPr lang="zh-CN" sz="2200" kern="100" dirty="0">
                          <a:effectLst/>
                        </a:rPr>
                        <a:t>方向与其他控件之间的间隙。单位同</a:t>
                      </a:r>
                      <a:r>
                        <a:rPr lang="en-US" sz="2200" kern="100" dirty="0" err="1">
                          <a:effectLst/>
                        </a:rPr>
                        <a:t>padx</a:t>
                      </a:r>
                      <a:r>
                        <a:rPr lang="zh-CN" sz="2200" kern="100" dirty="0">
                          <a:effectLst/>
                        </a:rPr>
                        <a:t>选项。</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7733547"/>
                  </a:ext>
                </a:extLst>
              </a:tr>
              <a:tr h="776122">
                <a:tc>
                  <a:txBody>
                    <a:bodyPr/>
                    <a:lstStyle/>
                    <a:p>
                      <a:pPr indent="0" algn="just">
                        <a:spcAft>
                          <a:spcPts val="0"/>
                        </a:spcAft>
                      </a:pPr>
                      <a:r>
                        <a:rPr lang="en-US" sz="2200" kern="100" dirty="0">
                          <a:effectLst/>
                        </a:rPr>
                        <a:t>sticky</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dirty="0">
                          <a:effectLst/>
                        </a:rPr>
                        <a:t>设置控件处在单元格中的方位，默认值为</a:t>
                      </a:r>
                      <a:r>
                        <a:rPr lang="en-US" sz="2200" kern="100" dirty="0">
                          <a:effectLst/>
                        </a:rPr>
                        <a:t>CENTER</a:t>
                      </a:r>
                      <a:r>
                        <a:rPr lang="zh-CN" sz="2200" kern="100" dirty="0">
                          <a:effectLst/>
                        </a:rPr>
                        <a:t>。其他方位值包括</a:t>
                      </a:r>
                      <a:r>
                        <a:rPr lang="en-US" sz="2200" kern="100" dirty="0">
                          <a:effectLst/>
                        </a:rPr>
                        <a:t>N</a:t>
                      </a:r>
                      <a:r>
                        <a:rPr lang="zh-CN" sz="2200" kern="100" dirty="0">
                          <a:effectLst/>
                        </a:rPr>
                        <a:t>、</a:t>
                      </a:r>
                      <a:r>
                        <a:rPr lang="en-US" sz="2200" kern="100" dirty="0">
                          <a:effectLst/>
                        </a:rPr>
                        <a:t>S</a:t>
                      </a:r>
                      <a:r>
                        <a:rPr lang="zh-CN" sz="2200" kern="100" dirty="0">
                          <a:effectLst/>
                        </a:rPr>
                        <a:t>、</a:t>
                      </a:r>
                      <a:r>
                        <a:rPr lang="en-US" sz="2200" kern="100" dirty="0">
                          <a:effectLst/>
                        </a:rPr>
                        <a:t>E</a:t>
                      </a:r>
                      <a:r>
                        <a:rPr lang="zh-CN" sz="2200" kern="100" dirty="0">
                          <a:effectLst/>
                        </a:rPr>
                        <a:t>、</a:t>
                      </a:r>
                      <a:r>
                        <a:rPr lang="en-US" sz="2200" kern="100" dirty="0">
                          <a:effectLst/>
                        </a:rPr>
                        <a:t>W</a:t>
                      </a:r>
                      <a:r>
                        <a:rPr lang="zh-CN" sz="2200" kern="100" dirty="0">
                          <a:effectLst/>
                        </a:rPr>
                        <a:t>、</a:t>
                      </a:r>
                      <a:r>
                        <a:rPr lang="en-US" sz="2200" kern="100" dirty="0">
                          <a:effectLst/>
                        </a:rPr>
                        <a:t>CENTER</a:t>
                      </a:r>
                      <a:r>
                        <a:rPr lang="zh-CN" sz="2200" kern="100" dirty="0">
                          <a:effectLst/>
                        </a:rPr>
                        <a:t>、</a:t>
                      </a:r>
                      <a:r>
                        <a:rPr lang="en-US" sz="2200" kern="100" dirty="0">
                          <a:effectLst/>
                        </a:rPr>
                        <a:t>NE</a:t>
                      </a:r>
                      <a:r>
                        <a:rPr lang="zh-CN" sz="2200" kern="100" dirty="0">
                          <a:effectLst/>
                        </a:rPr>
                        <a:t>、</a:t>
                      </a:r>
                      <a:r>
                        <a:rPr lang="en-US" sz="2200" kern="100" dirty="0">
                          <a:effectLst/>
                        </a:rPr>
                        <a:t>SE</a:t>
                      </a:r>
                      <a:r>
                        <a:rPr lang="zh-CN" sz="2200" kern="100" dirty="0">
                          <a:effectLst/>
                        </a:rPr>
                        <a:t>、</a:t>
                      </a:r>
                      <a:r>
                        <a:rPr lang="en-US" sz="2200" kern="100" dirty="0">
                          <a:effectLst/>
                        </a:rPr>
                        <a:t>NW</a:t>
                      </a:r>
                      <a:r>
                        <a:rPr lang="zh-CN" sz="2200" kern="100" dirty="0">
                          <a:effectLst/>
                        </a:rPr>
                        <a:t>、</a:t>
                      </a:r>
                      <a:r>
                        <a:rPr lang="en-US" sz="2200" kern="100" dirty="0">
                          <a:effectLst/>
                        </a:rPr>
                        <a:t>SW</a:t>
                      </a:r>
                      <a:r>
                        <a:rPr lang="zh-CN" sz="2200" kern="100" dirty="0">
                          <a:effectLst/>
                        </a:rPr>
                        <a:t>。</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53342735"/>
                  </a:ext>
                </a:extLst>
              </a:tr>
            </a:tbl>
          </a:graphicData>
        </a:graphic>
      </p:graphicFrame>
      <p:sp>
        <p:nvSpPr>
          <p:cNvPr id="3" name="灯片编号占位符 2">
            <a:extLst>
              <a:ext uri="{FF2B5EF4-FFF2-40B4-BE49-F238E27FC236}">
                <a16:creationId xmlns:a16="http://schemas.microsoft.com/office/drawing/2014/main" id="{E6CAE3F1-DD2C-4394-8FDE-70F66A0D3001}"/>
              </a:ext>
            </a:extLst>
          </p:cNvPr>
          <p:cNvSpPr>
            <a:spLocks noGrp="1"/>
          </p:cNvSpPr>
          <p:nvPr>
            <p:ph type="sldNum" sz="quarter" idx="12"/>
          </p:nvPr>
        </p:nvSpPr>
        <p:spPr/>
        <p:txBody>
          <a:bodyPr/>
          <a:lstStyle/>
          <a:p>
            <a:fld id="{49AE70B2-8BF9-45C0-BB95-33D1B9D3A854}" type="slidenum">
              <a:rPr lang="zh-CN" altLang="en-US" smtClean="0"/>
              <a:t>74</a:t>
            </a:fld>
            <a:endParaRPr lang="zh-CN" altLang="en-US"/>
          </a:p>
        </p:txBody>
      </p:sp>
    </p:spTree>
    <p:extLst>
      <p:ext uri="{BB962C8B-B14F-4D97-AF65-F5344CB8AC3E}">
        <p14:creationId xmlns:p14="http://schemas.microsoft.com/office/powerpoint/2010/main" val="29167033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13.4.4 place</a:t>
            </a:r>
            <a:r>
              <a:rPr lang="zh-CN" altLang="en-US" dirty="0"/>
              <a:t>布局管理器</a:t>
            </a:r>
          </a:p>
        </p:txBody>
      </p:sp>
      <p:sp>
        <p:nvSpPr>
          <p:cNvPr id="3" name="内容占位符 2"/>
          <p:cNvSpPr>
            <a:spLocks noGrp="1"/>
          </p:cNvSpPr>
          <p:nvPr>
            <p:ph idx="1"/>
          </p:nvPr>
        </p:nvSpPr>
        <p:spPr/>
        <p:txBody>
          <a:bodyPr>
            <a:normAutofit/>
          </a:bodyPr>
          <a:lstStyle/>
          <a:p>
            <a:r>
              <a:rPr lang="en-US" altLang="zh-CN" dirty="0"/>
              <a:t>place</a:t>
            </a:r>
            <a:r>
              <a:rPr lang="zh-CN" altLang="en-US" dirty="0"/>
              <a:t>布局管理器是使用绝对坐标来排列控件。</a:t>
            </a:r>
            <a:endParaRPr lang="en-US" altLang="zh-CN" dirty="0"/>
          </a:p>
          <a:p>
            <a:pPr marL="457200" lvl="1" indent="0" algn="ctr">
              <a:buNone/>
            </a:pPr>
            <a:r>
              <a:rPr lang="zh-CN" altLang="en-US" dirty="0"/>
              <a:t>控件对象</a:t>
            </a:r>
            <a:r>
              <a:rPr lang="en-US" altLang="zh-CN" dirty="0"/>
              <a:t>.place(</a:t>
            </a:r>
            <a:r>
              <a:rPr lang="zh-CN" altLang="en-US" dirty="0"/>
              <a:t>坐标</a:t>
            </a:r>
            <a:r>
              <a:rPr lang="en-US" altLang="zh-CN" dirty="0"/>
              <a:t>[, </a:t>
            </a:r>
            <a:r>
              <a:rPr lang="zh-CN" altLang="en-US" dirty="0"/>
              <a:t>其他选项</a:t>
            </a:r>
            <a:r>
              <a:rPr lang="en-US" altLang="zh-CN" dirty="0"/>
              <a:t>…])</a:t>
            </a:r>
          </a:p>
          <a:p>
            <a:pPr lvl="1"/>
            <a:r>
              <a:rPr lang="zh-CN" altLang="en-US" dirty="0"/>
              <a:t>坐标有两种方式：</a:t>
            </a:r>
          </a:p>
          <a:p>
            <a:pPr marL="914400" lvl="2" indent="0">
              <a:buNone/>
            </a:pPr>
            <a:r>
              <a:rPr lang="zh-CN" altLang="en-US" dirty="0"/>
              <a:t>方式</a:t>
            </a:r>
            <a:r>
              <a:rPr lang="en-US" altLang="zh-CN" dirty="0"/>
              <a:t>1</a:t>
            </a:r>
            <a:r>
              <a:rPr lang="zh-CN" altLang="en-US" dirty="0"/>
              <a:t>：</a:t>
            </a:r>
            <a:r>
              <a:rPr lang="en-US" altLang="zh-CN" dirty="0"/>
              <a:t>x=</a:t>
            </a:r>
            <a:r>
              <a:rPr lang="zh-CN" altLang="en-US" dirty="0"/>
              <a:t>值</a:t>
            </a:r>
            <a:r>
              <a:rPr lang="en-US" altLang="zh-CN" dirty="0"/>
              <a:t>1, y=</a:t>
            </a:r>
            <a:r>
              <a:rPr lang="zh-CN" altLang="en-US" dirty="0"/>
              <a:t>值</a:t>
            </a:r>
            <a:r>
              <a:rPr lang="en-US" altLang="zh-CN" dirty="0"/>
              <a:t>2</a:t>
            </a:r>
          </a:p>
          <a:p>
            <a:pPr marL="914400" lvl="2" indent="0">
              <a:buNone/>
            </a:pPr>
            <a:r>
              <a:rPr lang="zh-CN" altLang="en-US" dirty="0"/>
              <a:t>方式</a:t>
            </a:r>
            <a:r>
              <a:rPr lang="en-US" altLang="zh-CN" dirty="0"/>
              <a:t>2</a:t>
            </a:r>
            <a:r>
              <a:rPr lang="zh-CN" altLang="en-US" dirty="0"/>
              <a:t>：</a:t>
            </a:r>
            <a:r>
              <a:rPr lang="en-US" altLang="zh-CN" dirty="0" err="1"/>
              <a:t>relx</a:t>
            </a:r>
            <a:r>
              <a:rPr lang="en-US" altLang="zh-CN" dirty="0"/>
              <a:t>=</a:t>
            </a:r>
            <a:r>
              <a:rPr lang="zh-CN" altLang="en-US" dirty="0"/>
              <a:t>值</a:t>
            </a:r>
            <a:r>
              <a:rPr lang="en-US" altLang="zh-CN" dirty="0"/>
              <a:t>1, rely=</a:t>
            </a:r>
            <a:r>
              <a:rPr lang="zh-CN" altLang="en-US" dirty="0"/>
              <a:t>值</a:t>
            </a:r>
            <a:r>
              <a:rPr lang="en-US" altLang="zh-CN" dirty="0"/>
              <a:t>2</a:t>
            </a:r>
          </a:p>
          <a:p>
            <a:pPr lvl="3"/>
            <a:r>
              <a:rPr lang="zh-CN" altLang="en-US" dirty="0"/>
              <a:t>方式</a:t>
            </a:r>
            <a:r>
              <a:rPr lang="en-US" altLang="zh-CN" dirty="0"/>
              <a:t>1</a:t>
            </a:r>
            <a:r>
              <a:rPr lang="zh-CN" altLang="en-US" dirty="0"/>
              <a:t>是绝对坐标。方式</a:t>
            </a:r>
            <a:r>
              <a:rPr lang="en-US" altLang="zh-CN" dirty="0"/>
              <a:t>2</a:t>
            </a:r>
            <a:r>
              <a:rPr lang="zh-CN" altLang="en-US" dirty="0"/>
              <a:t>是相对坐标。</a:t>
            </a:r>
          </a:p>
          <a:p>
            <a:pPr lvl="3"/>
            <a:r>
              <a:rPr lang="en-US" altLang="zh-CN" dirty="0"/>
              <a:t>place</a:t>
            </a:r>
            <a:r>
              <a:rPr lang="zh-CN" altLang="en-US" dirty="0"/>
              <a:t>管理器中的</a:t>
            </a:r>
            <a:r>
              <a:rPr lang="en-US" altLang="zh-CN" dirty="0"/>
              <a:t>anchor</a:t>
            </a:r>
            <a:r>
              <a:rPr lang="zh-CN" altLang="en-US" dirty="0"/>
              <a:t>选项用来指定子控件的锚点。</a:t>
            </a:r>
            <a:endParaRPr lang="en-US" altLang="zh-CN" dirty="0"/>
          </a:p>
          <a:p>
            <a:pPr lvl="1"/>
            <a:r>
              <a:rPr lang="zh-CN" altLang="en-US" dirty="0"/>
              <a:t>放置子控件即是令父控件的坐标点与子控件的锚点重合。</a:t>
            </a:r>
            <a:endParaRPr lang="en-US" altLang="zh-CN" dirty="0"/>
          </a:p>
        </p:txBody>
      </p:sp>
      <p:sp>
        <p:nvSpPr>
          <p:cNvPr id="4" name="灯片编号占位符 3">
            <a:extLst>
              <a:ext uri="{FF2B5EF4-FFF2-40B4-BE49-F238E27FC236}">
                <a16:creationId xmlns:a16="http://schemas.microsoft.com/office/drawing/2014/main" id="{DF90A09F-F693-426B-82D4-8948951A905F}"/>
              </a:ext>
            </a:extLst>
          </p:cNvPr>
          <p:cNvSpPr>
            <a:spLocks noGrp="1"/>
          </p:cNvSpPr>
          <p:nvPr>
            <p:ph type="sldNum" sz="quarter" idx="12"/>
          </p:nvPr>
        </p:nvSpPr>
        <p:spPr/>
        <p:txBody>
          <a:bodyPr/>
          <a:lstStyle/>
          <a:p>
            <a:fld id="{49AE70B2-8BF9-45C0-BB95-33D1B9D3A854}" type="slidenum">
              <a:rPr lang="zh-CN" altLang="en-US" smtClean="0"/>
              <a:t>75</a:t>
            </a:fld>
            <a:endParaRPr lang="zh-CN" altLang="en-US"/>
          </a:p>
        </p:txBody>
      </p:sp>
    </p:spTree>
    <p:extLst>
      <p:ext uri="{BB962C8B-B14F-4D97-AF65-F5344CB8AC3E}">
        <p14:creationId xmlns:p14="http://schemas.microsoft.com/office/powerpoint/2010/main" val="7814493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place</a:t>
            </a:r>
            <a:r>
              <a:rPr lang="zh-CN" altLang="en-US" dirty="0"/>
              <a:t>方法的常用选项</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4092827899"/>
              </p:ext>
            </p:extLst>
          </p:nvPr>
        </p:nvGraphicFramePr>
        <p:xfrm>
          <a:off x="911424" y="1412774"/>
          <a:ext cx="10369152" cy="4608512"/>
        </p:xfrm>
        <a:graphic>
          <a:graphicData uri="http://schemas.openxmlformats.org/drawingml/2006/table">
            <a:tbl>
              <a:tblPr firstRow="1" firstCol="1" bandRow="1">
                <a:tableStyleId>{5C22544A-7EE6-4342-B048-85BDC9FD1C3A}</a:tableStyleId>
              </a:tblPr>
              <a:tblGrid>
                <a:gridCol w="1761483">
                  <a:extLst>
                    <a:ext uri="{9D8B030D-6E8A-4147-A177-3AD203B41FA5}">
                      <a16:colId xmlns:a16="http://schemas.microsoft.com/office/drawing/2014/main" val="1129376088"/>
                    </a:ext>
                  </a:extLst>
                </a:gridCol>
                <a:gridCol w="8607669">
                  <a:extLst>
                    <a:ext uri="{9D8B030D-6E8A-4147-A177-3AD203B41FA5}">
                      <a16:colId xmlns:a16="http://schemas.microsoft.com/office/drawing/2014/main" val="4120278796"/>
                    </a:ext>
                  </a:extLst>
                </a:gridCol>
              </a:tblGrid>
              <a:tr h="512057">
                <a:tc>
                  <a:txBody>
                    <a:bodyPr/>
                    <a:lstStyle/>
                    <a:p>
                      <a:pPr indent="266700" algn="ctr">
                        <a:spcAft>
                          <a:spcPts val="0"/>
                        </a:spcAft>
                      </a:pPr>
                      <a:r>
                        <a:rPr lang="zh-CN" sz="2400" kern="100">
                          <a:effectLst/>
                        </a:rPr>
                        <a:t>选项</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spcAft>
                          <a:spcPts val="0"/>
                        </a:spcAft>
                      </a:pPr>
                      <a:r>
                        <a:rPr lang="zh-CN" sz="2400" kern="100">
                          <a:effectLst/>
                        </a:rPr>
                        <a:t>作用</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52884385"/>
                  </a:ext>
                </a:extLst>
              </a:tr>
              <a:tr h="512057">
                <a:tc>
                  <a:txBody>
                    <a:bodyPr/>
                    <a:lstStyle/>
                    <a:p>
                      <a:pPr indent="266700" algn="just">
                        <a:spcAft>
                          <a:spcPts val="0"/>
                        </a:spcAft>
                      </a:pPr>
                      <a:r>
                        <a:rPr lang="en-US" sz="2400" kern="100">
                          <a:effectLst/>
                        </a:rPr>
                        <a:t>x, y</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400" kern="100">
                          <a:effectLst/>
                        </a:rPr>
                        <a:t>设置子控件放置到父控件中的绝对坐标。</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79352608"/>
                  </a:ext>
                </a:extLst>
              </a:tr>
              <a:tr h="512057">
                <a:tc>
                  <a:txBody>
                    <a:bodyPr/>
                    <a:lstStyle/>
                    <a:p>
                      <a:pPr indent="266700" algn="just">
                        <a:spcAft>
                          <a:spcPts val="0"/>
                        </a:spcAft>
                      </a:pPr>
                      <a:r>
                        <a:rPr lang="en-US" sz="2400" kern="100">
                          <a:effectLst/>
                        </a:rPr>
                        <a:t>relx, rely</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400" kern="100">
                          <a:effectLst/>
                        </a:rPr>
                        <a:t>设置子控件放置到父控件中的比例坐标。</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58298439"/>
                  </a:ext>
                </a:extLst>
              </a:tr>
              <a:tr h="512057">
                <a:tc>
                  <a:txBody>
                    <a:bodyPr/>
                    <a:lstStyle/>
                    <a:p>
                      <a:pPr indent="266700" algn="just">
                        <a:spcAft>
                          <a:spcPts val="0"/>
                        </a:spcAft>
                      </a:pPr>
                      <a:r>
                        <a:rPr lang="en-US" sz="2400" kern="100">
                          <a:effectLst/>
                        </a:rPr>
                        <a:t>height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400" kern="100">
                          <a:effectLst/>
                        </a:rPr>
                        <a:t>子控件绝对高度。</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9355433"/>
                  </a:ext>
                </a:extLst>
              </a:tr>
              <a:tr h="512057">
                <a:tc>
                  <a:txBody>
                    <a:bodyPr/>
                    <a:lstStyle/>
                    <a:p>
                      <a:pPr indent="266700" algn="just">
                        <a:spcAft>
                          <a:spcPts val="0"/>
                        </a:spcAft>
                      </a:pPr>
                      <a:r>
                        <a:rPr lang="en-US" sz="2400" kern="100">
                          <a:effectLst/>
                        </a:rPr>
                        <a:t>width</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400" kern="100">
                          <a:effectLst/>
                        </a:rPr>
                        <a:t>子控件的相对宽度。</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46669585"/>
                  </a:ext>
                </a:extLst>
              </a:tr>
              <a:tr h="512057">
                <a:tc>
                  <a:txBody>
                    <a:bodyPr/>
                    <a:lstStyle/>
                    <a:p>
                      <a:pPr indent="266700" algn="just">
                        <a:spcAft>
                          <a:spcPts val="0"/>
                        </a:spcAft>
                      </a:pPr>
                      <a:r>
                        <a:rPr lang="en-US" sz="2400" kern="100">
                          <a:effectLst/>
                        </a:rPr>
                        <a:t>relheight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400" kern="100">
                          <a:effectLst/>
                        </a:rPr>
                        <a:t>子控件相对于父控件的高度比例。</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24063353"/>
                  </a:ext>
                </a:extLst>
              </a:tr>
              <a:tr h="512057">
                <a:tc>
                  <a:txBody>
                    <a:bodyPr/>
                    <a:lstStyle/>
                    <a:p>
                      <a:pPr indent="266700" algn="just">
                        <a:spcAft>
                          <a:spcPts val="0"/>
                        </a:spcAft>
                      </a:pPr>
                      <a:r>
                        <a:rPr lang="en-US" sz="2400" kern="100">
                          <a:effectLst/>
                        </a:rPr>
                        <a:t>relwidth</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400" kern="100">
                          <a:effectLst/>
                        </a:rPr>
                        <a:t>子控件相对于父控件的宽度比例。</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64537251"/>
                  </a:ext>
                </a:extLst>
              </a:tr>
              <a:tr h="1024113">
                <a:tc>
                  <a:txBody>
                    <a:bodyPr/>
                    <a:lstStyle/>
                    <a:p>
                      <a:pPr indent="266700" algn="just">
                        <a:spcAft>
                          <a:spcPts val="0"/>
                        </a:spcAft>
                      </a:pPr>
                      <a:r>
                        <a:rPr lang="en-US" sz="2400" kern="100">
                          <a:effectLst/>
                        </a:rPr>
                        <a:t>anchor</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400" kern="100" dirty="0">
                          <a:effectLst/>
                        </a:rPr>
                        <a:t>设置控件的锚点。锚点可用的方位值有</a:t>
                      </a:r>
                      <a:r>
                        <a:rPr lang="en-US" sz="2400" kern="100" dirty="0">
                          <a:effectLst/>
                        </a:rPr>
                        <a:t>N</a:t>
                      </a:r>
                      <a:r>
                        <a:rPr lang="zh-CN" sz="2400" kern="100" dirty="0">
                          <a:effectLst/>
                        </a:rPr>
                        <a:t>、</a:t>
                      </a:r>
                      <a:r>
                        <a:rPr lang="en-US" sz="2400" kern="100" dirty="0">
                          <a:effectLst/>
                        </a:rPr>
                        <a:t>S</a:t>
                      </a:r>
                      <a:r>
                        <a:rPr lang="zh-CN" sz="2400" kern="100" dirty="0">
                          <a:effectLst/>
                        </a:rPr>
                        <a:t>、</a:t>
                      </a:r>
                      <a:r>
                        <a:rPr lang="en-US" sz="2400" kern="100" dirty="0">
                          <a:effectLst/>
                        </a:rPr>
                        <a:t>E</a:t>
                      </a:r>
                      <a:r>
                        <a:rPr lang="zh-CN" sz="2400" kern="100" dirty="0">
                          <a:effectLst/>
                        </a:rPr>
                        <a:t>、</a:t>
                      </a:r>
                      <a:r>
                        <a:rPr lang="en-US" sz="2400" kern="100" dirty="0">
                          <a:effectLst/>
                        </a:rPr>
                        <a:t>W</a:t>
                      </a:r>
                      <a:r>
                        <a:rPr lang="zh-CN" sz="2400" kern="100" dirty="0">
                          <a:effectLst/>
                        </a:rPr>
                        <a:t>、</a:t>
                      </a:r>
                      <a:r>
                        <a:rPr lang="en-US" sz="2400" kern="100" dirty="0">
                          <a:effectLst/>
                        </a:rPr>
                        <a:t>CENTER</a:t>
                      </a:r>
                      <a:r>
                        <a:rPr lang="zh-CN" sz="2400" kern="100" dirty="0">
                          <a:effectLst/>
                        </a:rPr>
                        <a:t>、</a:t>
                      </a:r>
                      <a:r>
                        <a:rPr lang="en-US" sz="2400" kern="100" dirty="0">
                          <a:effectLst/>
                        </a:rPr>
                        <a:t>NE</a:t>
                      </a:r>
                      <a:r>
                        <a:rPr lang="zh-CN" sz="2400" kern="100" dirty="0">
                          <a:effectLst/>
                        </a:rPr>
                        <a:t>、</a:t>
                      </a:r>
                      <a:r>
                        <a:rPr lang="en-US" sz="2400" kern="100" dirty="0">
                          <a:effectLst/>
                        </a:rPr>
                        <a:t>SE</a:t>
                      </a:r>
                      <a:r>
                        <a:rPr lang="zh-CN" sz="2400" kern="100" dirty="0">
                          <a:effectLst/>
                        </a:rPr>
                        <a:t>、</a:t>
                      </a:r>
                      <a:r>
                        <a:rPr lang="en-US" sz="2400" kern="100" dirty="0">
                          <a:effectLst/>
                        </a:rPr>
                        <a:t>NW</a:t>
                      </a:r>
                      <a:r>
                        <a:rPr lang="zh-CN" sz="2400" kern="100" dirty="0">
                          <a:effectLst/>
                        </a:rPr>
                        <a:t>、</a:t>
                      </a:r>
                      <a:r>
                        <a:rPr lang="en-US" sz="2400" kern="100" dirty="0">
                          <a:effectLst/>
                        </a:rPr>
                        <a:t>SW</a:t>
                      </a:r>
                      <a:r>
                        <a:rPr lang="zh-CN" sz="2400" kern="100" dirty="0">
                          <a:effectLst/>
                        </a:rPr>
                        <a:t>。</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24032702"/>
                  </a:ext>
                </a:extLst>
              </a:tr>
            </a:tbl>
          </a:graphicData>
        </a:graphic>
      </p:graphicFrame>
      <p:sp>
        <p:nvSpPr>
          <p:cNvPr id="3" name="灯片编号占位符 2">
            <a:extLst>
              <a:ext uri="{FF2B5EF4-FFF2-40B4-BE49-F238E27FC236}">
                <a16:creationId xmlns:a16="http://schemas.microsoft.com/office/drawing/2014/main" id="{D5C10501-7542-4D50-8BC6-AB7DC9ABC126}"/>
              </a:ext>
            </a:extLst>
          </p:cNvPr>
          <p:cNvSpPr>
            <a:spLocks noGrp="1"/>
          </p:cNvSpPr>
          <p:nvPr>
            <p:ph type="sldNum" sz="quarter" idx="12"/>
          </p:nvPr>
        </p:nvSpPr>
        <p:spPr/>
        <p:txBody>
          <a:bodyPr/>
          <a:lstStyle/>
          <a:p>
            <a:fld id="{49AE70B2-8BF9-45C0-BB95-33D1B9D3A854}" type="slidenum">
              <a:rPr lang="zh-CN" altLang="en-US" smtClean="0"/>
              <a:t>76</a:t>
            </a:fld>
            <a:endParaRPr lang="zh-CN" altLang="en-US"/>
          </a:p>
        </p:txBody>
      </p:sp>
    </p:spTree>
    <p:extLst>
      <p:ext uri="{BB962C8B-B14F-4D97-AF65-F5344CB8AC3E}">
        <p14:creationId xmlns:p14="http://schemas.microsoft.com/office/powerpoint/2010/main" val="28416359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WordArt 6"/>
          <p:cNvSpPr>
            <a:spLocks noChangeArrowheads="1" noChangeShapeType="1"/>
          </p:cNvSpPr>
          <p:nvPr/>
        </p:nvSpPr>
        <p:spPr bwMode="auto">
          <a:xfrm>
            <a:off x="1882775" y="1557338"/>
            <a:ext cx="8426450" cy="2011363"/>
          </a:xfrm>
          <a:prstGeom prst="rect">
            <a:avLst/>
          </a:prstGeom>
        </p:spPr>
        <p:txBody>
          <a:bodyPr wrap="none" fromWordArt="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8500" b="1" i="0" u="none" strike="noStrike" kern="10" cap="none" spc="0" normalizeH="0" baseline="0" noProof="0" dirty="0">
              <a:ln w="9525">
                <a:noFill/>
                <a:round/>
              </a:ln>
              <a:solidFill>
                <a:schemeClr val="tx1"/>
              </a:solidFill>
              <a:effectLst>
                <a:outerShdw blurRad="38100" dist="38100" dir="2700000" algn="tl">
                  <a:srgbClr val="000000">
                    <a:alpha val="43137"/>
                  </a:srgbClr>
                </a:outerShdw>
              </a:effectLst>
              <a:uLnTx/>
              <a:uFillTx/>
              <a:latin typeface="华文新魏" panose="02010800040101010101" pitchFamily="2" charset="-122"/>
              <a:ea typeface="华文新魏" panose="02010800040101010101" pitchFamily="2" charset="-122"/>
              <a:cs typeface="+mn-cs"/>
            </a:endParaRPr>
          </a:p>
        </p:txBody>
      </p:sp>
      <p:sp>
        <p:nvSpPr>
          <p:cNvPr id="10245" name="标题 1"/>
          <p:cNvSpPr>
            <a:spLocks noGrp="1"/>
          </p:cNvSpPr>
          <p:nvPr>
            <p:ph type="ctrTitle"/>
          </p:nvPr>
        </p:nvSpPr>
        <p:spPr/>
        <p:txBody>
          <a:bodyPr vert="horz" wrap="square" lIns="91440" tIns="45720" rIns="91440" bIns="45720" anchor="b"/>
          <a:lstStyle/>
          <a:p>
            <a:pPr>
              <a:buClrTx/>
              <a:buSzTx/>
              <a:buFontTx/>
              <a:buNone/>
            </a:pPr>
            <a:r>
              <a:rPr lang="en-US" kern="1200" dirty="0">
                <a:latin typeface="+mj-lt"/>
                <a:ea typeface="+mj-ea"/>
                <a:cs typeface="+mj-cs"/>
              </a:rPr>
              <a:t>13.5 </a:t>
            </a:r>
            <a:r>
              <a:rPr lang="zh-CN" altLang="en-US" kern="1200" dirty="0">
                <a:latin typeface="+mj-lt"/>
                <a:ea typeface="+mj-ea"/>
                <a:cs typeface="+mj-cs"/>
              </a:rPr>
              <a:t>事件处理</a:t>
            </a:r>
          </a:p>
        </p:txBody>
      </p:sp>
      <p:sp>
        <p:nvSpPr>
          <p:cNvPr id="2" name="灯片编号占位符 1">
            <a:extLst>
              <a:ext uri="{FF2B5EF4-FFF2-40B4-BE49-F238E27FC236}">
                <a16:creationId xmlns:a16="http://schemas.microsoft.com/office/drawing/2014/main" id="{C992EE52-33F4-43E4-B7DC-148421342100}"/>
              </a:ext>
            </a:extLst>
          </p:cNvPr>
          <p:cNvSpPr>
            <a:spLocks noGrp="1"/>
          </p:cNvSpPr>
          <p:nvPr>
            <p:ph type="sldNum" sz="quarter" idx="12"/>
          </p:nvPr>
        </p:nvSpPr>
        <p:spPr/>
        <p:txBody>
          <a:bodyPr/>
          <a:lstStyle/>
          <a:p>
            <a:fld id="{49AE70B2-8BF9-45C0-BB95-33D1B9D3A854}" type="slidenum">
              <a:rPr lang="zh-CN" altLang="en-US" smtClean="0"/>
              <a:t>77</a:t>
            </a:fld>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nodePh="1">
                                  <p:stCondLst>
                                    <p:cond delay="0"/>
                                  </p:stCondLst>
                                  <p:endCondLst>
                                    <p:cond evt="begin" delay="0">
                                      <p:tn val="5"/>
                                    </p:cond>
                                  </p:endCondLst>
                                  <p:childTnLst>
                                    <p:set>
                                      <p:cBhvr>
                                        <p:cTn id="6" dur="1" fill="hold">
                                          <p:stCondLst>
                                            <p:cond delay="0"/>
                                          </p:stCondLst>
                                        </p:cTn>
                                        <p:tgtEl>
                                          <p:spTgt spid="16387"/>
                                        </p:tgtEl>
                                        <p:attrNameLst>
                                          <p:attrName>style.visibility</p:attrName>
                                        </p:attrNameLst>
                                      </p:cBhvr>
                                      <p:to>
                                        <p:strVal val="visible"/>
                                      </p:to>
                                    </p:set>
                                    <p:animEffect transition="in" filter="fade">
                                      <p:cBhvr>
                                        <p:cTn id="7" dur="1000"/>
                                        <p:tgtEl>
                                          <p:spTgt spid="16387"/>
                                        </p:tgtEl>
                                      </p:cBhvr>
                                    </p:animEffect>
                                    <p:anim calcmode="lin" valueType="num">
                                      <p:cBhvr>
                                        <p:cTn id="8" dur="1000" fill="hold"/>
                                        <p:tgtEl>
                                          <p:spTgt spid="16387"/>
                                        </p:tgtEl>
                                        <p:attrNameLst>
                                          <p:attrName>ppt_x</p:attrName>
                                        </p:attrNameLst>
                                      </p:cBhvr>
                                      <p:tavLst>
                                        <p:tav tm="0">
                                          <p:val>
                                            <p:strVal val="#ppt_x"/>
                                          </p:val>
                                        </p:tav>
                                        <p:tav tm="100000">
                                          <p:val>
                                            <p:strVal val="#ppt_x"/>
                                          </p:val>
                                        </p:tav>
                                      </p:tavLst>
                                    </p:anim>
                                    <p:anim calcmode="lin" valueType="num">
                                      <p:cBhvr>
                                        <p:cTn id="9" dur="1000" fill="hold"/>
                                        <p:tgtEl>
                                          <p:spTgt spid="163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13.5.1 </a:t>
            </a:r>
            <a:r>
              <a:rPr lang="en-US" altLang="zh-CN" dirty="0" err="1"/>
              <a:t>tkinter</a:t>
            </a:r>
            <a:r>
              <a:rPr lang="zh-CN" altLang="en-US" dirty="0"/>
              <a:t>的事件处理机制</a:t>
            </a:r>
          </a:p>
        </p:txBody>
      </p:sp>
      <p:sp>
        <p:nvSpPr>
          <p:cNvPr id="3" name="内容占位符 2"/>
          <p:cNvSpPr>
            <a:spLocks noGrp="1"/>
          </p:cNvSpPr>
          <p:nvPr>
            <p:ph idx="1"/>
          </p:nvPr>
        </p:nvSpPr>
        <p:spPr/>
        <p:txBody>
          <a:bodyPr/>
          <a:lstStyle/>
          <a:p>
            <a:pPr marL="0" indent="0">
              <a:buNone/>
            </a:pPr>
            <a:r>
              <a:rPr lang="en-US" altLang="zh-CN" dirty="0"/>
              <a:t>1</a:t>
            </a:r>
            <a:r>
              <a:rPr lang="zh-CN" altLang="en-US" dirty="0"/>
              <a:t>．控件的</a:t>
            </a:r>
            <a:r>
              <a:rPr lang="en-US" altLang="zh-CN" dirty="0"/>
              <a:t>command</a:t>
            </a:r>
            <a:r>
              <a:rPr lang="zh-CN" altLang="en-US" dirty="0"/>
              <a:t>属性</a:t>
            </a:r>
          </a:p>
          <a:p>
            <a:pPr lvl="1"/>
            <a:r>
              <a:rPr lang="en-US" altLang="zh-CN" dirty="0"/>
              <a:t>command</a:t>
            </a:r>
            <a:r>
              <a:rPr lang="zh-CN" altLang="en-US" dirty="0"/>
              <a:t>属性可以绑定某个函数，当用户点击相关控件（也可以是拖动鼠标等其他操作），</a:t>
            </a:r>
            <a:r>
              <a:rPr lang="en-US" altLang="zh-CN" dirty="0" err="1"/>
              <a:t>tkinter</a:t>
            </a:r>
            <a:r>
              <a:rPr lang="zh-CN" altLang="en-US" dirty="0"/>
              <a:t>就会自动去调用被绑定的函数。</a:t>
            </a:r>
            <a:endParaRPr lang="en-US" altLang="zh-CN" dirty="0"/>
          </a:p>
          <a:p>
            <a:pPr marL="0" indent="0">
              <a:buNone/>
            </a:pPr>
            <a:r>
              <a:rPr lang="en-US" altLang="zh-CN" dirty="0"/>
              <a:t>2</a:t>
            </a:r>
            <a:r>
              <a:rPr lang="zh-CN" altLang="en-US" dirty="0"/>
              <a:t>．</a:t>
            </a:r>
            <a:r>
              <a:rPr lang="en-US" altLang="zh-CN" dirty="0"/>
              <a:t>bind()</a:t>
            </a:r>
            <a:r>
              <a:rPr lang="zh-CN" altLang="en-US" dirty="0"/>
              <a:t>方法处理事件的机制</a:t>
            </a:r>
            <a:endParaRPr lang="en-US" altLang="zh-CN" dirty="0"/>
          </a:p>
          <a:p>
            <a:pPr lvl="1"/>
            <a:r>
              <a:rPr lang="en-US" altLang="zh-CN" dirty="0" err="1"/>
              <a:t>tkinter</a:t>
            </a:r>
            <a:r>
              <a:rPr lang="zh-CN" altLang="en-US" dirty="0"/>
              <a:t>使用</a:t>
            </a:r>
            <a:r>
              <a:rPr lang="en-US" altLang="zh-CN" dirty="0"/>
              <a:t>bind()</a:t>
            </a:r>
            <a:r>
              <a:rPr lang="zh-CN" altLang="en-US" dirty="0"/>
              <a:t>方法来进行更丰富多样的事件处理。</a:t>
            </a:r>
          </a:p>
          <a:p>
            <a:endParaRPr lang="zh-CN" altLang="en-US" dirty="0"/>
          </a:p>
        </p:txBody>
      </p:sp>
      <p:sp>
        <p:nvSpPr>
          <p:cNvPr id="4" name="灯片编号占位符 3">
            <a:extLst>
              <a:ext uri="{FF2B5EF4-FFF2-40B4-BE49-F238E27FC236}">
                <a16:creationId xmlns:a16="http://schemas.microsoft.com/office/drawing/2014/main" id="{1CF4CE39-C169-4930-A815-CFBFE6AC1FE0}"/>
              </a:ext>
            </a:extLst>
          </p:cNvPr>
          <p:cNvSpPr>
            <a:spLocks noGrp="1"/>
          </p:cNvSpPr>
          <p:nvPr>
            <p:ph type="sldNum" sz="quarter" idx="12"/>
          </p:nvPr>
        </p:nvSpPr>
        <p:spPr/>
        <p:txBody>
          <a:bodyPr/>
          <a:lstStyle/>
          <a:p>
            <a:fld id="{49AE70B2-8BF9-45C0-BB95-33D1B9D3A854}" type="slidenum">
              <a:rPr lang="zh-CN" altLang="en-US" smtClean="0"/>
              <a:t>78</a:t>
            </a:fld>
            <a:endParaRPr lang="zh-CN" altLang="en-US"/>
          </a:p>
        </p:txBody>
      </p:sp>
    </p:spTree>
    <p:extLst>
      <p:ext uri="{BB962C8B-B14F-4D97-AF65-F5344CB8AC3E}">
        <p14:creationId xmlns:p14="http://schemas.microsoft.com/office/powerpoint/2010/main" val="14181929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13.5.1 tkinter</a:t>
            </a:r>
            <a:r>
              <a:rPr lang="zh-CN" altLang="en-US" dirty="0"/>
              <a:t>的事件处理机制</a:t>
            </a:r>
          </a:p>
        </p:txBody>
      </p:sp>
      <p:sp>
        <p:nvSpPr>
          <p:cNvPr id="6" name="内容占位符 5"/>
          <p:cNvSpPr>
            <a:spLocks noGrp="1"/>
          </p:cNvSpPr>
          <p:nvPr>
            <p:ph idx="1"/>
          </p:nvPr>
        </p:nvSpPr>
        <p:spPr/>
        <p:txBody>
          <a:bodyPr/>
          <a:lstStyle/>
          <a:p>
            <a:r>
              <a:rPr lang="en-US" altLang="zh-CN" dirty="0" err="1"/>
              <a:t>tkinter</a:t>
            </a:r>
            <a:r>
              <a:rPr lang="zh-CN" altLang="en-US" dirty="0"/>
              <a:t>的事件处理机制如图，其中包括</a:t>
            </a:r>
            <a:r>
              <a:rPr lang="en-US" altLang="zh-CN" dirty="0"/>
              <a:t>GUI</a:t>
            </a:r>
            <a:r>
              <a:rPr lang="zh-CN" altLang="en-US" dirty="0"/>
              <a:t>控件、</a:t>
            </a:r>
            <a:r>
              <a:rPr lang="en-US" altLang="zh-CN" dirty="0"/>
              <a:t>event</a:t>
            </a:r>
            <a:r>
              <a:rPr lang="zh-CN" altLang="en-US" dirty="0"/>
              <a:t>类、</a:t>
            </a:r>
            <a:r>
              <a:rPr lang="en-US" altLang="zh-CN" dirty="0"/>
              <a:t>bind</a:t>
            </a:r>
            <a:r>
              <a:rPr lang="zh-CN" altLang="en-US" dirty="0"/>
              <a:t>方法、事件描述符和用户自定义的回调函数。</a:t>
            </a:r>
          </a:p>
        </p:txBody>
      </p:sp>
      <p:pic>
        <p:nvPicPr>
          <p:cNvPr id="4" name="内容占位符 3"/>
          <p:cNvPicPr>
            <a:picLocks noChangeAspect="1"/>
          </p:cNvPicPr>
          <p:nvPr/>
        </p:nvPicPr>
        <p:blipFill>
          <a:blip r:embed="rId2"/>
          <a:stretch>
            <a:fillRect/>
          </a:stretch>
        </p:blipFill>
        <p:spPr>
          <a:xfrm>
            <a:off x="2063552" y="2492896"/>
            <a:ext cx="7517762" cy="4189740"/>
          </a:xfrm>
          <a:prstGeom prst="rect">
            <a:avLst/>
          </a:prstGeom>
        </p:spPr>
      </p:pic>
      <p:sp>
        <p:nvSpPr>
          <p:cNvPr id="3" name="灯片编号占位符 2">
            <a:extLst>
              <a:ext uri="{FF2B5EF4-FFF2-40B4-BE49-F238E27FC236}">
                <a16:creationId xmlns:a16="http://schemas.microsoft.com/office/drawing/2014/main" id="{69EC2927-6D59-4CAB-88FA-7595F5EFEC9D}"/>
              </a:ext>
            </a:extLst>
          </p:cNvPr>
          <p:cNvSpPr>
            <a:spLocks noGrp="1"/>
          </p:cNvSpPr>
          <p:nvPr>
            <p:ph type="sldNum" sz="quarter" idx="12"/>
          </p:nvPr>
        </p:nvSpPr>
        <p:spPr/>
        <p:txBody>
          <a:bodyPr/>
          <a:lstStyle/>
          <a:p>
            <a:fld id="{49AE70B2-8BF9-45C0-BB95-33D1B9D3A854}" type="slidenum">
              <a:rPr lang="zh-CN" altLang="en-US" smtClean="0"/>
              <a:t>79</a:t>
            </a:fld>
            <a:endParaRPr lang="zh-CN" altLang="en-US"/>
          </a:p>
        </p:txBody>
      </p:sp>
    </p:spTree>
    <p:extLst>
      <p:ext uri="{BB962C8B-B14F-4D97-AF65-F5344CB8AC3E}">
        <p14:creationId xmlns:p14="http://schemas.microsoft.com/office/powerpoint/2010/main" val="37606041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tkinter</a:t>
            </a:r>
            <a:r>
              <a:rPr lang="zh-CN" altLang="en-US" dirty="0"/>
              <a:t>的事件处理过程</a:t>
            </a:r>
          </a:p>
        </p:txBody>
      </p:sp>
      <p:sp>
        <p:nvSpPr>
          <p:cNvPr id="3" name="内容占位符 2"/>
          <p:cNvSpPr>
            <a:spLocks noGrp="1"/>
          </p:cNvSpPr>
          <p:nvPr>
            <p:ph idx="1"/>
          </p:nvPr>
        </p:nvSpPr>
        <p:spPr/>
        <p:txBody>
          <a:bodyPr>
            <a:normAutofit/>
          </a:bodyPr>
          <a:lstStyle/>
          <a:p>
            <a:r>
              <a:rPr lang="en-US" altLang="zh-CN" dirty="0"/>
              <a:t>Step1</a:t>
            </a:r>
            <a:r>
              <a:rPr lang="zh-CN" altLang="en-US" dirty="0"/>
              <a:t>：创建</a:t>
            </a:r>
            <a:r>
              <a:rPr lang="en-US" altLang="zh-CN" dirty="0"/>
              <a:t>GUI</a:t>
            </a:r>
            <a:r>
              <a:rPr lang="zh-CN" altLang="en-US" dirty="0"/>
              <a:t>控件，把需要事件处理的控件存放在变量中。</a:t>
            </a:r>
          </a:p>
          <a:p>
            <a:r>
              <a:rPr lang="en-US" altLang="zh-CN" dirty="0"/>
              <a:t>Step2</a:t>
            </a:r>
            <a:r>
              <a:rPr lang="zh-CN" altLang="en-US" dirty="0"/>
              <a:t>：创建包含</a:t>
            </a:r>
            <a:r>
              <a:rPr lang="en-US" altLang="zh-CN" dirty="0"/>
              <a:t>event</a:t>
            </a:r>
            <a:r>
              <a:rPr lang="zh-CN" altLang="en-US" dirty="0"/>
              <a:t>参数的用户自定义的回调函数。</a:t>
            </a:r>
          </a:p>
          <a:p>
            <a:pPr marL="914400" lvl="2" indent="0">
              <a:buNone/>
            </a:pPr>
            <a:r>
              <a:rPr lang="en-US" altLang="zh-CN" dirty="0" err="1"/>
              <a:t>def</a:t>
            </a:r>
            <a:r>
              <a:rPr lang="en-US" altLang="zh-CN" dirty="0"/>
              <a:t> </a:t>
            </a:r>
            <a:r>
              <a:rPr lang="zh-CN" altLang="en-US" dirty="0"/>
              <a:t>函数名</a:t>
            </a:r>
            <a:r>
              <a:rPr lang="en-US" altLang="zh-CN" dirty="0"/>
              <a:t>(</a:t>
            </a:r>
            <a:r>
              <a:rPr lang="zh-CN" altLang="en-US" dirty="0"/>
              <a:t>参数</a:t>
            </a:r>
            <a:r>
              <a:rPr lang="en-US" altLang="zh-CN" dirty="0"/>
              <a:t>):			# </a:t>
            </a:r>
            <a:r>
              <a:rPr lang="zh-CN" altLang="en-US" dirty="0"/>
              <a:t>参数名可以任意</a:t>
            </a:r>
          </a:p>
          <a:p>
            <a:pPr marL="914400" lvl="2" indent="0">
              <a:buNone/>
            </a:pPr>
            <a:r>
              <a:rPr lang="zh-CN" altLang="en-US" dirty="0"/>
              <a:t>    函数体</a:t>
            </a:r>
          </a:p>
          <a:p>
            <a:pPr lvl="2"/>
            <a:r>
              <a:rPr lang="zh-CN" altLang="en-US" dirty="0"/>
              <a:t>回调函数的参数名可以任意，但一般多使用</a:t>
            </a:r>
            <a:r>
              <a:rPr lang="en-US" altLang="zh-CN" dirty="0"/>
              <a:t>event</a:t>
            </a:r>
            <a:r>
              <a:rPr lang="zh-CN" altLang="en-US" dirty="0"/>
              <a:t>作为参数。</a:t>
            </a:r>
          </a:p>
          <a:p>
            <a:r>
              <a:rPr lang="en-US" altLang="zh-CN" dirty="0"/>
              <a:t>Step3</a:t>
            </a:r>
            <a:r>
              <a:rPr lang="zh-CN" altLang="en-US" dirty="0"/>
              <a:t>：调用</a:t>
            </a:r>
            <a:r>
              <a:rPr lang="en-US" altLang="zh-CN" dirty="0"/>
              <a:t>bind()</a:t>
            </a:r>
            <a:r>
              <a:rPr lang="zh-CN" altLang="en-US" dirty="0"/>
              <a:t>方法将控件和回调函数绑定。</a:t>
            </a:r>
          </a:p>
          <a:p>
            <a:r>
              <a:rPr lang="en-US" altLang="zh-CN" dirty="0"/>
              <a:t>Step4</a:t>
            </a:r>
            <a:r>
              <a:rPr lang="zh-CN" altLang="en-US" dirty="0"/>
              <a:t>：调用窗口的</a:t>
            </a:r>
            <a:r>
              <a:rPr lang="en-US" altLang="zh-CN" dirty="0" err="1"/>
              <a:t>mainloop</a:t>
            </a:r>
            <a:r>
              <a:rPr lang="en-US" altLang="zh-CN" dirty="0"/>
              <a:t>()</a:t>
            </a:r>
            <a:r>
              <a:rPr lang="zh-CN" altLang="en-US" dirty="0"/>
              <a:t>函数激活窗体及其包含的控件</a:t>
            </a:r>
            <a:endParaRPr lang="en-US" altLang="zh-CN" dirty="0"/>
          </a:p>
          <a:p>
            <a:pPr lvl="1"/>
            <a:r>
              <a:rPr lang="en-US" altLang="zh-CN" dirty="0" err="1"/>
              <a:t>tkinter</a:t>
            </a:r>
            <a:r>
              <a:rPr lang="zh-CN" altLang="en-US" dirty="0"/>
              <a:t>将监控用户的动作，并生成相应的</a:t>
            </a:r>
            <a:r>
              <a:rPr lang="en-US" altLang="zh-CN" dirty="0"/>
              <a:t>event</a:t>
            </a:r>
            <a:r>
              <a:rPr lang="zh-CN" altLang="en-US" dirty="0"/>
              <a:t>对象。</a:t>
            </a:r>
          </a:p>
        </p:txBody>
      </p:sp>
      <p:sp>
        <p:nvSpPr>
          <p:cNvPr id="4" name="灯片编号占位符 3">
            <a:extLst>
              <a:ext uri="{FF2B5EF4-FFF2-40B4-BE49-F238E27FC236}">
                <a16:creationId xmlns:a16="http://schemas.microsoft.com/office/drawing/2014/main" id="{60104253-4D76-4D11-943B-7CCE6584C815}"/>
              </a:ext>
            </a:extLst>
          </p:cNvPr>
          <p:cNvSpPr>
            <a:spLocks noGrp="1"/>
          </p:cNvSpPr>
          <p:nvPr>
            <p:ph type="sldNum" sz="quarter" idx="12"/>
          </p:nvPr>
        </p:nvSpPr>
        <p:spPr/>
        <p:txBody>
          <a:bodyPr/>
          <a:lstStyle/>
          <a:p>
            <a:fld id="{49AE70B2-8BF9-45C0-BB95-33D1B9D3A854}" type="slidenum">
              <a:rPr lang="zh-CN" altLang="en-US" smtClean="0"/>
              <a:t>80</a:t>
            </a:fld>
            <a:endParaRPr lang="zh-CN" altLang="en-US"/>
          </a:p>
        </p:txBody>
      </p:sp>
    </p:spTree>
    <p:extLst>
      <p:ext uri="{BB962C8B-B14F-4D97-AF65-F5344CB8AC3E}">
        <p14:creationId xmlns:p14="http://schemas.microsoft.com/office/powerpoint/2010/main" val="15740046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13.5.2 event</a:t>
            </a:r>
            <a:r>
              <a:rPr lang="zh-CN" altLang="en-US" dirty="0"/>
              <a:t>类</a:t>
            </a:r>
          </a:p>
        </p:txBody>
      </p:sp>
      <p:sp>
        <p:nvSpPr>
          <p:cNvPr id="3" name="内容占位符 2"/>
          <p:cNvSpPr>
            <a:spLocks noGrp="1"/>
          </p:cNvSpPr>
          <p:nvPr>
            <p:ph idx="1"/>
          </p:nvPr>
        </p:nvSpPr>
        <p:spPr/>
        <p:txBody>
          <a:bodyPr>
            <a:normAutofit/>
          </a:bodyPr>
          <a:lstStyle/>
          <a:p>
            <a:r>
              <a:rPr lang="en-US" altLang="zh-CN" dirty="0"/>
              <a:t>event</a:t>
            </a:r>
            <a:r>
              <a:rPr lang="zh-CN" altLang="en-US" dirty="0"/>
              <a:t>类是</a:t>
            </a:r>
            <a:r>
              <a:rPr lang="en-US" altLang="zh-CN" dirty="0" err="1"/>
              <a:t>tkinter</a:t>
            </a:r>
            <a:r>
              <a:rPr lang="zh-CN" altLang="en-US" dirty="0"/>
              <a:t>用来记录事件发生时的环境参数的专用类</a:t>
            </a:r>
            <a:endParaRPr lang="en-US" altLang="zh-CN" dirty="0"/>
          </a:p>
          <a:p>
            <a:pPr lvl="1"/>
            <a:r>
              <a:rPr lang="zh-CN" altLang="en-US" dirty="0"/>
              <a:t>当事件发生时，</a:t>
            </a:r>
            <a:r>
              <a:rPr lang="en-US" altLang="zh-CN" dirty="0" err="1"/>
              <a:t>tkinter</a:t>
            </a:r>
            <a:r>
              <a:rPr lang="zh-CN" altLang="en-US" dirty="0"/>
              <a:t>会自动生成一个</a:t>
            </a:r>
            <a:r>
              <a:rPr lang="en-US" altLang="zh-CN" dirty="0"/>
              <a:t>event</a:t>
            </a:r>
            <a:r>
              <a:rPr lang="zh-CN" altLang="en-US" dirty="0"/>
              <a:t>对象，并作为回调函数参数传递给回调函数。</a:t>
            </a:r>
            <a:endParaRPr lang="en-US" altLang="zh-CN" dirty="0"/>
          </a:p>
          <a:p>
            <a:pPr lvl="1"/>
            <a:r>
              <a:rPr lang="zh-CN" altLang="en-US" dirty="0"/>
              <a:t>在回调函数中，通过访问</a:t>
            </a:r>
            <a:r>
              <a:rPr lang="en-US" altLang="zh-CN" dirty="0"/>
              <a:t>event</a:t>
            </a:r>
            <a:r>
              <a:rPr lang="zh-CN" altLang="en-US" dirty="0"/>
              <a:t>对象参数的各种属性来了解事件发生时的环境状态。</a:t>
            </a:r>
            <a:endParaRPr lang="en-US" altLang="zh-CN" dirty="0"/>
          </a:p>
          <a:p>
            <a:r>
              <a:rPr lang="en-US" altLang="zh-CN" dirty="0"/>
              <a:t>event</a:t>
            </a:r>
            <a:r>
              <a:rPr lang="zh-CN" altLang="en-US" dirty="0"/>
              <a:t>对象的属性的使用格式</a:t>
            </a:r>
          </a:p>
          <a:p>
            <a:pPr marL="0" indent="0">
              <a:buNone/>
            </a:pPr>
            <a:r>
              <a:rPr lang="en-US" altLang="zh-CN" dirty="0"/>
              <a:t>		event.</a:t>
            </a:r>
            <a:r>
              <a:rPr lang="zh-CN" altLang="en-US" dirty="0"/>
              <a:t>属性</a:t>
            </a:r>
          </a:p>
          <a:p>
            <a:pPr lvl="1"/>
            <a:r>
              <a:rPr lang="en-US" altLang="zh-CN" dirty="0"/>
              <a:t>print(‘X:’, </a:t>
            </a:r>
            <a:r>
              <a:rPr lang="en-US" altLang="zh-CN" dirty="0" err="1"/>
              <a:t>event.x</a:t>
            </a:r>
            <a:r>
              <a:rPr lang="en-US" altLang="zh-CN" dirty="0"/>
              <a:t>, ‘Y:’, </a:t>
            </a:r>
            <a:r>
              <a:rPr lang="en-US" altLang="zh-CN" dirty="0" err="1"/>
              <a:t>event.y</a:t>
            </a:r>
            <a:r>
              <a:rPr lang="en-US" altLang="zh-CN" dirty="0"/>
              <a:t>)</a:t>
            </a:r>
            <a:r>
              <a:rPr lang="zh-CN" altLang="en-US" dirty="0"/>
              <a:t>：显示鼠标的相对位置。</a:t>
            </a:r>
          </a:p>
        </p:txBody>
      </p:sp>
      <p:sp>
        <p:nvSpPr>
          <p:cNvPr id="4" name="灯片编号占位符 3">
            <a:extLst>
              <a:ext uri="{FF2B5EF4-FFF2-40B4-BE49-F238E27FC236}">
                <a16:creationId xmlns:a16="http://schemas.microsoft.com/office/drawing/2014/main" id="{050CA549-CE6E-47A8-9C20-9594FDAAD539}"/>
              </a:ext>
            </a:extLst>
          </p:cNvPr>
          <p:cNvSpPr>
            <a:spLocks noGrp="1"/>
          </p:cNvSpPr>
          <p:nvPr>
            <p:ph type="sldNum" sz="quarter" idx="12"/>
          </p:nvPr>
        </p:nvSpPr>
        <p:spPr/>
        <p:txBody>
          <a:bodyPr/>
          <a:lstStyle/>
          <a:p>
            <a:fld id="{49AE70B2-8BF9-45C0-BB95-33D1B9D3A854}" type="slidenum">
              <a:rPr lang="zh-CN" altLang="en-US" smtClean="0"/>
              <a:t>81</a:t>
            </a:fld>
            <a:endParaRPr lang="zh-CN" altLang="en-US"/>
          </a:p>
        </p:txBody>
      </p:sp>
    </p:spTree>
    <p:extLst>
      <p:ext uri="{BB962C8B-B14F-4D97-AF65-F5344CB8AC3E}">
        <p14:creationId xmlns:p14="http://schemas.microsoft.com/office/powerpoint/2010/main" val="29698016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event</a:t>
            </a:r>
            <a:r>
              <a:rPr lang="zh-CN" altLang="en-US" dirty="0"/>
              <a:t>类的常用属性</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1052908804"/>
              </p:ext>
            </p:extLst>
          </p:nvPr>
        </p:nvGraphicFramePr>
        <p:xfrm>
          <a:off x="669924" y="1268758"/>
          <a:ext cx="10970693" cy="5146138"/>
        </p:xfrm>
        <a:graphic>
          <a:graphicData uri="http://schemas.openxmlformats.org/drawingml/2006/table">
            <a:tbl>
              <a:tblPr firstRow="1" firstCol="1" bandRow="1">
                <a:tableStyleId>{5C22544A-7EE6-4342-B048-85BDC9FD1C3A}</a:tableStyleId>
              </a:tblPr>
              <a:tblGrid>
                <a:gridCol w="3697884">
                  <a:extLst>
                    <a:ext uri="{9D8B030D-6E8A-4147-A177-3AD203B41FA5}">
                      <a16:colId xmlns:a16="http://schemas.microsoft.com/office/drawing/2014/main" val="1025445908"/>
                    </a:ext>
                  </a:extLst>
                </a:gridCol>
                <a:gridCol w="7272809">
                  <a:extLst>
                    <a:ext uri="{9D8B030D-6E8A-4147-A177-3AD203B41FA5}">
                      <a16:colId xmlns:a16="http://schemas.microsoft.com/office/drawing/2014/main" val="3776430009"/>
                    </a:ext>
                  </a:extLst>
                </a:gridCol>
              </a:tblGrid>
              <a:tr h="398814">
                <a:tc>
                  <a:txBody>
                    <a:bodyPr/>
                    <a:lstStyle/>
                    <a:p>
                      <a:pPr indent="266700" algn="ctr">
                        <a:spcAft>
                          <a:spcPts val="0"/>
                        </a:spcAft>
                      </a:pPr>
                      <a:r>
                        <a:rPr lang="zh-CN" sz="2200" kern="100">
                          <a:effectLst/>
                        </a:rPr>
                        <a:t>属性</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spcAft>
                          <a:spcPts val="0"/>
                        </a:spcAft>
                      </a:pPr>
                      <a:r>
                        <a:rPr lang="zh-CN" sz="2200" kern="100">
                          <a:effectLst/>
                        </a:rPr>
                        <a:t>说明</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54724073"/>
                  </a:ext>
                </a:extLst>
              </a:tr>
              <a:tr h="398814">
                <a:tc>
                  <a:txBody>
                    <a:bodyPr/>
                    <a:lstStyle/>
                    <a:p>
                      <a:pPr indent="266700" algn="just">
                        <a:spcAft>
                          <a:spcPts val="0"/>
                        </a:spcAft>
                      </a:pPr>
                      <a:r>
                        <a:rPr lang="en-US" sz="2200" kern="100">
                          <a:effectLst/>
                        </a:rPr>
                        <a:t>char</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a:effectLst/>
                        </a:rPr>
                        <a:t>键盘事件，按键的字符。</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74670608"/>
                  </a:ext>
                </a:extLst>
              </a:tr>
              <a:tr h="398814">
                <a:tc>
                  <a:txBody>
                    <a:bodyPr/>
                    <a:lstStyle/>
                    <a:p>
                      <a:pPr indent="266700" algn="just">
                        <a:spcAft>
                          <a:spcPts val="0"/>
                        </a:spcAft>
                      </a:pPr>
                      <a:r>
                        <a:rPr lang="en-US" sz="2200" kern="100">
                          <a:effectLst/>
                        </a:rPr>
                        <a:t>delta</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a:effectLst/>
                        </a:rPr>
                        <a:t>鼠标滚动事件，鼠标滚动的距离。</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31660791"/>
                  </a:ext>
                </a:extLst>
              </a:tr>
              <a:tr h="797626">
                <a:tc>
                  <a:txBody>
                    <a:bodyPr/>
                    <a:lstStyle/>
                    <a:p>
                      <a:pPr indent="266700" algn="just">
                        <a:spcAft>
                          <a:spcPts val="0"/>
                        </a:spcAft>
                      </a:pPr>
                      <a:r>
                        <a:rPr lang="en-US" sz="2200" kern="100">
                          <a:effectLst/>
                        </a:rPr>
                        <a:t>height, width</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a:effectLst/>
                        </a:rPr>
                        <a:t>仅用于</a:t>
                      </a:r>
                      <a:r>
                        <a:rPr lang="en-US" sz="2200" kern="100">
                          <a:effectLst/>
                        </a:rPr>
                        <a:t>Configure</a:t>
                      </a:r>
                      <a:r>
                        <a:rPr lang="zh-CN" sz="2200" kern="100">
                          <a:effectLst/>
                        </a:rPr>
                        <a:t>事件，即当控件形状发生变化之后的宽度和高度，相当于</a:t>
                      </a:r>
                      <a:r>
                        <a:rPr lang="en-US" sz="2200" kern="100">
                          <a:effectLst/>
                        </a:rPr>
                        <a:t>SizeChanged</a:t>
                      </a:r>
                      <a:r>
                        <a:rPr lang="zh-CN" sz="2200" kern="100">
                          <a:effectLst/>
                        </a:rPr>
                        <a:t>事件。</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12091002"/>
                  </a:ext>
                </a:extLst>
              </a:tr>
              <a:tr h="398814">
                <a:tc>
                  <a:txBody>
                    <a:bodyPr/>
                    <a:lstStyle/>
                    <a:p>
                      <a:pPr indent="266700" algn="just">
                        <a:spcAft>
                          <a:spcPts val="0"/>
                        </a:spcAft>
                      </a:pPr>
                      <a:r>
                        <a:rPr lang="en-US" sz="2200" kern="100">
                          <a:effectLst/>
                        </a:rPr>
                        <a:t>keycode</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a:effectLst/>
                        </a:rPr>
                        <a:t>键盘事件，按键码。</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86991510"/>
                  </a:ext>
                </a:extLst>
              </a:tr>
              <a:tr h="487440">
                <a:tc>
                  <a:txBody>
                    <a:bodyPr/>
                    <a:lstStyle/>
                    <a:p>
                      <a:pPr indent="266700" algn="just">
                        <a:spcAft>
                          <a:spcPts val="0"/>
                        </a:spcAft>
                      </a:pPr>
                      <a:r>
                        <a:rPr lang="en-US" sz="2200" kern="100">
                          <a:effectLst/>
                        </a:rPr>
                        <a:t>Keysym, keysym_num</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a:effectLst/>
                        </a:rPr>
                        <a:t>按键事件。</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12680036"/>
                  </a:ext>
                </a:extLst>
              </a:tr>
              <a:tr h="398814">
                <a:tc>
                  <a:txBody>
                    <a:bodyPr/>
                    <a:lstStyle/>
                    <a:p>
                      <a:pPr indent="266700" algn="just">
                        <a:spcAft>
                          <a:spcPts val="0"/>
                        </a:spcAft>
                      </a:pPr>
                      <a:r>
                        <a:rPr lang="en-US" sz="2200" kern="100">
                          <a:effectLst/>
                        </a:rPr>
                        <a:t>num</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a:effectLst/>
                        </a:rPr>
                        <a:t>鼠标事件，鼠标按键码，</a:t>
                      </a:r>
                      <a:r>
                        <a:rPr lang="en-US" sz="2200" kern="100">
                          <a:effectLst/>
                        </a:rPr>
                        <a:t>1</a:t>
                      </a:r>
                      <a:r>
                        <a:rPr lang="zh-CN" sz="2200" kern="100">
                          <a:effectLst/>
                        </a:rPr>
                        <a:t>为左键，</a:t>
                      </a:r>
                      <a:r>
                        <a:rPr lang="en-US" sz="2200" kern="100">
                          <a:effectLst/>
                        </a:rPr>
                        <a:t>2</a:t>
                      </a:r>
                      <a:r>
                        <a:rPr lang="zh-CN" sz="2200" kern="100">
                          <a:effectLst/>
                        </a:rPr>
                        <a:t>为中建，</a:t>
                      </a:r>
                      <a:r>
                        <a:rPr lang="en-US" sz="2200" kern="100">
                          <a:effectLst/>
                        </a:rPr>
                        <a:t>3</a:t>
                      </a:r>
                      <a:r>
                        <a:rPr lang="zh-CN" sz="2200" kern="100">
                          <a:effectLst/>
                        </a:rPr>
                        <a:t>为右键。</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95936601"/>
                  </a:ext>
                </a:extLst>
              </a:tr>
              <a:tr h="398814">
                <a:tc>
                  <a:txBody>
                    <a:bodyPr/>
                    <a:lstStyle/>
                    <a:p>
                      <a:pPr indent="266700" algn="just">
                        <a:spcAft>
                          <a:spcPts val="0"/>
                        </a:spcAft>
                      </a:pPr>
                      <a:r>
                        <a:rPr lang="en-US" sz="2200" kern="100">
                          <a:effectLst/>
                        </a:rPr>
                        <a:t>serial</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a:effectLst/>
                        </a:rPr>
                        <a:t>相当于</a:t>
                      </a:r>
                      <a:r>
                        <a:rPr lang="en-US" sz="2200" kern="100">
                          <a:effectLst/>
                        </a:rPr>
                        <a:t>event</a:t>
                      </a:r>
                      <a:r>
                        <a:rPr lang="zh-CN" sz="2200" kern="100">
                          <a:effectLst/>
                        </a:rPr>
                        <a:t>对象的</a:t>
                      </a:r>
                      <a:r>
                        <a:rPr lang="en-US" sz="2200" kern="100">
                          <a:effectLst/>
                        </a:rPr>
                        <a:t>ID</a:t>
                      </a:r>
                      <a:r>
                        <a:rPr lang="zh-CN" sz="2200" kern="100">
                          <a:effectLst/>
                        </a:rPr>
                        <a:t>。</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88905239"/>
                  </a:ext>
                </a:extLst>
              </a:tr>
              <a:tr h="398814">
                <a:tc>
                  <a:txBody>
                    <a:bodyPr/>
                    <a:lstStyle/>
                    <a:p>
                      <a:pPr indent="266700" algn="just">
                        <a:spcAft>
                          <a:spcPts val="0"/>
                        </a:spcAft>
                      </a:pPr>
                      <a:r>
                        <a:rPr lang="en-US" sz="2200" kern="100">
                          <a:effectLst/>
                        </a:rPr>
                        <a:t>state</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a:effectLst/>
                        </a:rPr>
                        <a:t>用来表示修饰键的状态，即</a:t>
                      </a:r>
                      <a:r>
                        <a:rPr lang="en-US" sz="2200" kern="100">
                          <a:effectLst/>
                        </a:rPr>
                        <a:t>ctrl</a:t>
                      </a:r>
                      <a:r>
                        <a:rPr lang="zh-CN" sz="2200" kern="100">
                          <a:effectLst/>
                        </a:rPr>
                        <a:t>，</a:t>
                      </a:r>
                      <a:r>
                        <a:rPr lang="en-US" sz="2200" kern="100">
                          <a:effectLst/>
                        </a:rPr>
                        <a:t>shift</a:t>
                      </a:r>
                      <a:r>
                        <a:rPr lang="zh-CN" sz="2200" kern="100">
                          <a:effectLst/>
                        </a:rPr>
                        <a:t>，</a:t>
                      </a:r>
                      <a:r>
                        <a:rPr lang="en-US" sz="2200" kern="100">
                          <a:effectLst/>
                        </a:rPr>
                        <a:t>alt</a:t>
                      </a:r>
                      <a:r>
                        <a:rPr lang="zh-CN" sz="2200" kern="100">
                          <a:effectLst/>
                        </a:rPr>
                        <a:t>等修饰键的状态。</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00026070"/>
                  </a:ext>
                </a:extLst>
              </a:tr>
              <a:tr h="398814">
                <a:tc>
                  <a:txBody>
                    <a:bodyPr/>
                    <a:lstStyle/>
                    <a:p>
                      <a:pPr indent="266700" algn="just">
                        <a:spcAft>
                          <a:spcPts val="0"/>
                        </a:spcAft>
                      </a:pPr>
                      <a:r>
                        <a:rPr lang="en-US" sz="2200" kern="100">
                          <a:effectLst/>
                        </a:rPr>
                        <a:t>x, y</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a:effectLst/>
                        </a:rPr>
                        <a:t>鼠标事件，鼠标的相对坐标位置。</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64449137"/>
                  </a:ext>
                </a:extLst>
              </a:tr>
              <a:tr h="398814">
                <a:tc>
                  <a:txBody>
                    <a:bodyPr/>
                    <a:lstStyle/>
                    <a:p>
                      <a:pPr indent="266700" algn="just">
                        <a:spcAft>
                          <a:spcPts val="0"/>
                        </a:spcAft>
                      </a:pPr>
                      <a:r>
                        <a:rPr lang="en-US" sz="2200" kern="100">
                          <a:effectLst/>
                        </a:rPr>
                        <a:t>x_root, y_root</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just">
                        <a:spcAft>
                          <a:spcPts val="0"/>
                        </a:spcAft>
                      </a:pPr>
                      <a:r>
                        <a:rPr lang="zh-CN" sz="2200" kern="100" dirty="0">
                          <a:effectLst/>
                        </a:rPr>
                        <a:t>鼠标事件，鼠标的绝对坐标系。</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58382855"/>
                  </a:ext>
                </a:extLst>
              </a:tr>
            </a:tbl>
          </a:graphicData>
        </a:graphic>
      </p:graphicFrame>
      <p:sp>
        <p:nvSpPr>
          <p:cNvPr id="3" name="灯片编号占位符 2">
            <a:extLst>
              <a:ext uri="{FF2B5EF4-FFF2-40B4-BE49-F238E27FC236}">
                <a16:creationId xmlns:a16="http://schemas.microsoft.com/office/drawing/2014/main" id="{3B2EE0E4-56E8-418B-A03F-F7553BAE41B3}"/>
              </a:ext>
            </a:extLst>
          </p:cNvPr>
          <p:cNvSpPr>
            <a:spLocks noGrp="1"/>
          </p:cNvSpPr>
          <p:nvPr>
            <p:ph type="sldNum" sz="quarter" idx="12"/>
          </p:nvPr>
        </p:nvSpPr>
        <p:spPr/>
        <p:txBody>
          <a:bodyPr/>
          <a:lstStyle/>
          <a:p>
            <a:fld id="{49AE70B2-8BF9-45C0-BB95-33D1B9D3A854}" type="slidenum">
              <a:rPr lang="zh-CN" altLang="en-US" smtClean="0"/>
              <a:t>82</a:t>
            </a:fld>
            <a:endParaRPr lang="zh-CN" altLang="en-US"/>
          </a:p>
        </p:txBody>
      </p:sp>
    </p:spTree>
    <p:extLst>
      <p:ext uri="{BB962C8B-B14F-4D97-AF65-F5344CB8AC3E}">
        <p14:creationId xmlns:p14="http://schemas.microsoft.com/office/powerpoint/2010/main" val="15329898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13.5.3 </a:t>
            </a:r>
            <a:r>
              <a:rPr lang="zh-CN" altLang="en-US" dirty="0"/>
              <a:t>事件描述</a:t>
            </a:r>
          </a:p>
        </p:txBody>
      </p:sp>
      <p:sp>
        <p:nvSpPr>
          <p:cNvPr id="3" name="内容占位符 2"/>
          <p:cNvSpPr>
            <a:spLocks noGrp="1"/>
          </p:cNvSpPr>
          <p:nvPr>
            <p:ph idx="1"/>
          </p:nvPr>
        </p:nvSpPr>
        <p:spPr/>
        <p:txBody>
          <a:bodyPr>
            <a:normAutofit/>
          </a:bodyPr>
          <a:lstStyle/>
          <a:p>
            <a:r>
              <a:rPr lang="en-US" altLang="zh-CN" dirty="0" err="1"/>
              <a:t>tkinter</a:t>
            </a:r>
            <a:r>
              <a:rPr lang="zh-CN" altLang="en-US" dirty="0"/>
              <a:t>用“事件描述符”来描述不同的鼠标键盘等的动作。</a:t>
            </a:r>
            <a:endParaRPr lang="en-US" altLang="zh-CN" dirty="0"/>
          </a:p>
          <a:p>
            <a:pPr lvl="1"/>
            <a:r>
              <a:rPr lang="zh-CN" altLang="en-US" dirty="0"/>
              <a:t>事件描述符是以字符串的形式表示的。</a:t>
            </a:r>
            <a:endParaRPr lang="en-US" altLang="zh-CN" dirty="0"/>
          </a:p>
          <a:p>
            <a:r>
              <a:rPr lang="zh-CN" altLang="en-US" dirty="0"/>
              <a:t>事件描述符的语法如下：</a:t>
            </a:r>
          </a:p>
          <a:p>
            <a:pPr lvl="1"/>
            <a:r>
              <a:rPr lang="zh-CN" altLang="en-US" dirty="0"/>
              <a:t>格式</a:t>
            </a:r>
            <a:r>
              <a:rPr lang="en-US" altLang="zh-CN" dirty="0"/>
              <a:t>1</a:t>
            </a:r>
            <a:r>
              <a:rPr lang="zh-CN" altLang="en-US" dirty="0"/>
              <a:t>：可打印的单个字符</a:t>
            </a:r>
          </a:p>
          <a:p>
            <a:pPr lvl="2"/>
            <a:r>
              <a:rPr lang="zh-CN" altLang="en-US" dirty="0"/>
              <a:t>格式</a:t>
            </a:r>
            <a:r>
              <a:rPr lang="en-US" altLang="zh-CN" dirty="0"/>
              <a:t>1</a:t>
            </a:r>
            <a:r>
              <a:rPr lang="zh-CN" altLang="en-US" dirty="0"/>
              <a:t>是用户输入的可打印字符</a:t>
            </a:r>
            <a:endParaRPr lang="en-US" altLang="zh-CN" dirty="0"/>
          </a:p>
          <a:p>
            <a:pPr lvl="2"/>
            <a:r>
              <a:rPr lang="en-US" altLang="zh-CN" dirty="0" err="1"/>
              <a:t>mainw.bind</a:t>
            </a:r>
            <a:r>
              <a:rPr lang="en-US" altLang="zh-CN" dirty="0"/>
              <a:t>('A', callback3)</a:t>
            </a:r>
            <a:r>
              <a:rPr lang="zh-CN" altLang="en-US" dirty="0"/>
              <a:t>是指在窗口上输入字符</a:t>
            </a:r>
            <a:r>
              <a:rPr lang="en-US" altLang="zh-CN" dirty="0"/>
              <a:t>A</a:t>
            </a:r>
            <a:r>
              <a:rPr lang="zh-CN" altLang="en-US" dirty="0"/>
              <a:t>（注意区分大小写），回调函数</a:t>
            </a:r>
            <a:r>
              <a:rPr lang="en-US" altLang="zh-CN" dirty="0"/>
              <a:t>callback3</a:t>
            </a:r>
            <a:r>
              <a:rPr lang="zh-CN" altLang="en-US" dirty="0"/>
              <a:t>会被调用。</a:t>
            </a:r>
          </a:p>
          <a:p>
            <a:pPr marL="0" indent="0">
              <a:buNone/>
            </a:pPr>
            <a:endParaRPr lang="zh-CN" altLang="en-US" dirty="0"/>
          </a:p>
        </p:txBody>
      </p:sp>
      <p:sp>
        <p:nvSpPr>
          <p:cNvPr id="4" name="灯片编号占位符 3">
            <a:extLst>
              <a:ext uri="{FF2B5EF4-FFF2-40B4-BE49-F238E27FC236}">
                <a16:creationId xmlns:a16="http://schemas.microsoft.com/office/drawing/2014/main" id="{9C824459-85F3-4823-870F-B846EFF8C5F9}"/>
              </a:ext>
            </a:extLst>
          </p:cNvPr>
          <p:cNvSpPr>
            <a:spLocks noGrp="1"/>
          </p:cNvSpPr>
          <p:nvPr>
            <p:ph type="sldNum" sz="quarter" idx="12"/>
          </p:nvPr>
        </p:nvSpPr>
        <p:spPr/>
        <p:txBody>
          <a:bodyPr/>
          <a:lstStyle/>
          <a:p>
            <a:fld id="{49AE70B2-8BF9-45C0-BB95-33D1B9D3A854}" type="slidenum">
              <a:rPr lang="zh-CN" altLang="en-US" smtClean="0"/>
              <a:t>83</a:t>
            </a:fld>
            <a:endParaRPr lang="zh-CN" altLang="en-US"/>
          </a:p>
        </p:txBody>
      </p:sp>
    </p:spTree>
    <p:extLst>
      <p:ext uri="{BB962C8B-B14F-4D97-AF65-F5344CB8AC3E}">
        <p14:creationId xmlns:p14="http://schemas.microsoft.com/office/powerpoint/2010/main" val="375528133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事件描述符</a:t>
            </a:r>
            <a:r>
              <a:rPr lang="en-US" altLang="zh-CN" dirty="0"/>
              <a:t>——</a:t>
            </a:r>
            <a:r>
              <a:rPr lang="zh-CN" altLang="en-US" dirty="0"/>
              <a:t>格式</a:t>
            </a:r>
            <a:r>
              <a:rPr lang="en-US" altLang="zh-CN" dirty="0"/>
              <a:t>2</a:t>
            </a:r>
            <a:endParaRPr lang="zh-CN" altLang="en-US" dirty="0"/>
          </a:p>
        </p:txBody>
      </p:sp>
      <p:sp>
        <p:nvSpPr>
          <p:cNvPr id="3" name="内容占位符 2"/>
          <p:cNvSpPr>
            <a:spLocks noGrp="1"/>
          </p:cNvSpPr>
          <p:nvPr>
            <p:ph idx="1"/>
          </p:nvPr>
        </p:nvSpPr>
        <p:spPr/>
        <p:txBody>
          <a:bodyPr>
            <a:normAutofit/>
          </a:bodyPr>
          <a:lstStyle/>
          <a:p>
            <a:r>
              <a:rPr lang="zh-CN" altLang="en-US" dirty="0"/>
              <a:t>格式</a:t>
            </a:r>
            <a:r>
              <a:rPr lang="en-US" altLang="zh-CN" dirty="0"/>
              <a:t>2</a:t>
            </a:r>
            <a:r>
              <a:rPr lang="zh-CN" altLang="en-US" dirty="0"/>
              <a:t>：</a:t>
            </a:r>
            <a:r>
              <a:rPr lang="en-US" altLang="zh-CN" dirty="0"/>
              <a:t>&lt;modifier - type - </a:t>
            </a:r>
            <a:r>
              <a:rPr lang="en-US" altLang="zh-CN" dirty="0" err="1"/>
              <a:t>dateil</a:t>
            </a:r>
            <a:r>
              <a:rPr lang="en-US" altLang="zh-CN" dirty="0"/>
              <a:t>&gt;</a:t>
            </a:r>
          </a:p>
          <a:p>
            <a:pPr lvl="1"/>
            <a:r>
              <a:rPr lang="zh-CN" altLang="en-US" dirty="0"/>
              <a:t>必须包含尖括号</a:t>
            </a:r>
            <a:r>
              <a:rPr lang="en-US" altLang="zh-CN" dirty="0"/>
              <a:t>&lt;...&gt;</a:t>
            </a:r>
            <a:r>
              <a:rPr lang="zh-CN" altLang="en-US" dirty="0"/>
              <a:t>。</a:t>
            </a:r>
          </a:p>
          <a:p>
            <a:pPr lvl="1"/>
            <a:r>
              <a:rPr lang="en-US" altLang="zh-CN" dirty="0"/>
              <a:t>type</a:t>
            </a:r>
            <a:r>
              <a:rPr lang="zh-CN" altLang="en-US" dirty="0"/>
              <a:t>用来描述普通的数据类型</a:t>
            </a:r>
            <a:endParaRPr lang="en-US" altLang="zh-CN" dirty="0"/>
          </a:p>
          <a:p>
            <a:pPr lvl="1"/>
            <a:r>
              <a:rPr lang="en-US" altLang="zh-CN" dirty="0"/>
              <a:t>modifier</a:t>
            </a:r>
            <a:r>
              <a:rPr lang="zh-CN" altLang="en-US" dirty="0"/>
              <a:t>部分是可选的，它通常用于描述组合键</a:t>
            </a:r>
            <a:endParaRPr lang="en-US" altLang="zh-CN" dirty="0"/>
          </a:p>
          <a:p>
            <a:pPr lvl="1"/>
            <a:r>
              <a:rPr lang="en-US" altLang="zh-CN" dirty="0" err="1"/>
              <a:t>dateil</a:t>
            </a:r>
            <a:r>
              <a:rPr lang="zh-CN" altLang="en-US" dirty="0"/>
              <a:t>部分是可选的，它通常是描述具体的键</a:t>
            </a:r>
            <a:endParaRPr lang="en-US" altLang="zh-CN" dirty="0"/>
          </a:p>
          <a:p>
            <a:endParaRPr lang="zh-CN" altLang="en-US" dirty="0"/>
          </a:p>
        </p:txBody>
      </p:sp>
      <p:sp>
        <p:nvSpPr>
          <p:cNvPr id="4" name="灯片编号占位符 3">
            <a:extLst>
              <a:ext uri="{FF2B5EF4-FFF2-40B4-BE49-F238E27FC236}">
                <a16:creationId xmlns:a16="http://schemas.microsoft.com/office/drawing/2014/main" id="{905AF572-FF46-4ADD-A5AB-12C52CF3884D}"/>
              </a:ext>
            </a:extLst>
          </p:cNvPr>
          <p:cNvSpPr>
            <a:spLocks noGrp="1"/>
          </p:cNvSpPr>
          <p:nvPr>
            <p:ph type="sldNum" sz="quarter" idx="12"/>
          </p:nvPr>
        </p:nvSpPr>
        <p:spPr/>
        <p:txBody>
          <a:bodyPr/>
          <a:lstStyle/>
          <a:p>
            <a:fld id="{49AE70B2-8BF9-45C0-BB95-33D1B9D3A854}" type="slidenum">
              <a:rPr lang="zh-CN" altLang="en-US" smtClean="0"/>
              <a:t>84</a:t>
            </a:fld>
            <a:endParaRPr lang="zh-CN" altLang="en-US"/>
          </a:p>
        </p:txBody>
      </p:sp>
    </p:spTree>
    <p:extLst>
      <p:ext uri="{BB962C8B-B14F-4D97-AF65-F5344CB8AC3E}">
        <p14:creationId xmlns:p14="http://schemas.microsoft.com/office/powerpoint/2010/main" val="124419503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事件描述符的常用表述方式</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2135485912"/>
              </p:ext>
            </p:extLst>
          </p:nvPr>
        </p:nvGraphicFramePr>
        <p:xfrm>
          <a:off x="479377" y="1340772"/>
          <a:ext cx="11233250" cy="5184570"/>
        </p:xfrm>
        <a:graphic>
          <a:graphicData uri="http://schemas.openxmlformats.org/drawingml/2006/table">
            <a:tbl>
              <a:tblPr firstRow="1" firstCol="1" bandRow="1">
                <a:tableStyleId>{5C22544A-7EE6-4342-B048-85BDC9FD1C3A}</a:tableStyleId>
              </a:tblPr>
              <a:tblGrid>
                <a:gridCol w="1344423">
                  <a:extLst>
                    <a:ext uri="{9D8B030D-6E8A-4147-A177-3AD203B41FA5}">
                      <a16:colId xmlns:a16="http://schemas.microsoft.com/office/drawing/2014/main" val="561251547"/>
                    </a:ext>
                  </a:extLst>
                </a:gridCol>
                <a:gridCol w="2051015">
                  <a:extLst>
                    <a:ext uri="{9D8B030D-6E8A-4147-A177-3AD203B41FA5}">
                      <a16:colId xmlns:a16="http://schemas.microsoft.com/office/drawing/2014/main" val="3350131951"/>
                    </a:ext>
                  </a:extLst>
                </a:gridCol>
                <a:gridCol w="7837812">
                  <a:extLst>
                    <a:ext uri="{9D8B030D-6E8A-4147-A177-3AD203B41FA5}">
                      <a16:colId xmlns:a16="http://schemas.microsoft.com/office/drawing/2014/main" val="1962383013"/>
                    </a:ext>
                  </a:extLst>
                </a:gridCol>
              </a:tblGrid>
              <a:tr h="345638">
                <a:tc>
                  <a:txBody>
                    <a:bodyPr/>
                    <a:lstStyle/>
                    <a:p>
                      <a:pPr indent="266700" algn="ctr">
                        <a:spcAft>
                          <a:spcPts val="0"/>
                        </a:spcAft>
                      </a:pPr>
                      <a:r>
                        <a:rPr lang="zh-CN" sz="2000" kern="100" dirty="0">
                          <a:effectLst/>
                        </a:rPr>
                        <a:t>部分</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spcAft>
                          <a:spcPts val="0"/>
                        </a:spcAft>
                      </a:pPr>
                      <a:r>
                        <a:rPr lang="zh-CN" sz="2000" kern="100" dirty="0">
                          <a:effectLst/>
                        </a:rPr>
                        <a:t>值</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spcAft>
                          <a:spcPts val="0"/>
                        </a:spcAft>
                      </a:pPr>
                      <a:r>
                        <a:rPr lang="zh-CN" sz="2000" kern="100">
                          <a:effectLst/>
                        </a:rPr>
                        <a:t>说明</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54202573"/>
                  </a:ext>
                </a:extLst>
              </a:tr>
              <a:tr h="345638">
                <a:tc rowSpan="7">
                  <a:txBody>
                    <a:bodyPr/>
                    <a:lstStyle/>
                    <a:p>
                      <a:pPr indent="0" algn="just">
                        <a:spcAft>
                          <a:spcPts val="0"/>
                        </a:spcAft>
                      </a:pPr>
                      <a:r>
                        <a:rPr lang="en-US" sz="2000" kern="100" dirty="0">
                          <a:effectLst/>
                        </a:rPr>
                        <a:t>type</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en-US" sz="2000" kern="100" dirty="0">
                          <a:effectLst/>
                        </a:rPr>
                        <a:t>Button</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用户单击鼠标按键。</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65120571"/>
                  </a:ext>
                </a:extLst>
              </a:tr>
              <a:tr h="345638">
                <a:tc vMerge="1">
                  <a:txBody>
                    <a:bodyPr/>
                    <a:lstStyle/>
                    <a:p>
                      <a:endParaRPr lang="zh-CN" altLang="en-US"/>
                    </a:p>
                  </a:txBody>
                  <a:tcPr/>
                </a:tc>
                <a:tc>
                  <a:txBody>
                    <a:bodyPr/>
                    <a:lstStyle/>
                    <a:p>
                      <a:pPr indent="0" algn="just">
                        <a:spcAft>
                          <a:spcPts val="0"/>
                        </a:spcAft>
                      </a:pPr>
                      <a:r>
                        <a:rPr lang="en-US" sz="2000" kern="100" dirty="0" err="1">
                          <a:effectLst/>
                        </a:rPr>
                        <a:t>ButtonRelease</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用户释放鼠标按键。</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62771172"/>
                  </a:ext>
                </a:extLst>
              </a:tr>
              <a:tr h="345638">
                <a:tc vMerge="1">
                  <a:txBody>
                    <a:bodyPr/>
                    <a:lstStyle/>
                    <a:p>
                      <a:endParaRPr lang="zh-CN" altLang="en-US"/>
                    </a:p>
                  </a:txBody>
                  <a:tcPr/>
                </a:tc>
                <a:tc>
                  <a:txBody>
                    <a:bodyPr/>
                    <a:lstStyle/>
                    <a:p>
                      <a:pPr indent="0" algn="just">
                        <a:spcAft>
                          <a:spcPts val="0"/>
                        </a:spcAft>
                      </a:pPr>
                      <a:r>
                        <a:rPr lang="en-US" sz="2000" kern="100" dirty="0" err="1">
                          <a:effectLst/>
                        </a:rPr>
                        <a:t>KeyPress</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用户按下键盘，简写为</a:t>
                      </a:r>
                      <a:r>
                        <a:rPr lang="en-US" sz="2000" kern="100" dirty="0">
                          <a:effectLst/>
                        </a:rPr>
                        <a:t>key</a:t>
                      </a:r>
                      <a:r>
                        <a:rPr lang="zh-CN"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59750803"/>
                  </a:ext>
                </a:extLst>
              </a:tr>
              <a:tr h="345638">
                <a:tc vMerge="1">
                  <a:txBody>
                    <a:bodyPr/>
                    <a:lstStyle/>
                    <a:p>
                      <a:endParaRPr lang="zh-CN" altLang="en-US"/>
                    </a:p>
                  </a:txBody>
                  <a:tcPr/>
                </a:tc>
                <a:tc>
                  <a:txBody>
                    <a:bodyPr/>
                    <a:lstStyle/>
                    <a:p>
                      <a:pPr indent="0" algn="just">
                        <a:spcAft>
                          <a:spcPts val="0"/>
                        </a:spcAft>
                      </a:pPr>
                      <a:r>
                        <a:rPr lang="en-US" sz="2000" kern="100" dirty="0">
                          <a:effectLst/>
                        </a:rPr>
                        <a:t>Enter</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鼠标指针进入控件范围，注意，该事件不是用户按下回车键的意思。</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39029076"/>
                  </a:ext>
                </a:extLst>
              </a:tr>
              <a:tr h="345638">
                <a:tc vMerge="1">
                  <a:txBody>
                    <a:bodyPr/>
                    <a:lstStyle/>
                    <a:p>
                      <a:endParaRPr lang="zh-CN" altLang="en-US"/>
                    </a:p>
                  </a:txBody>
                  <a:tcPr/>
                </a:tc>
                <a:tc>
                  <a:txBody>
                    <a:bodyPr/>
                    <a:lstStyle/>
                    <a:p>
                      <a:pPr indent="0" algn="just">
                        <a:spcAft>
                          <a:spcPts val="0"/>
                        </a:spcAft>
                      </a:pPr>
                      <a:r>
                        <a:rPr lang="en-US" sz="2000" kern="100" dirty="0">
                          <a:effectLst/>
                        </a:rPr>
                        <a:t>Leave</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鼠标指针离开控件范围。</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40972901"/>
                  </a:ext>
                </a:extLst>
              </a:tr>
              <a:tr h="345638">
                <a:tc vMerge="1">
                  <a:txBody>
                    <a:bodyPr/>
                    <a:lstStyle/>
                    <a:p>
                      <a:endParaRPr lang="zh-CN" altLang="en-US"/>
                    </a:p>
                  </a:txBody>
                  <a:tcPr/>
                </a:tc>
                <a:tc>
                  <a:txBody>
                    <a:bodyPr/>
                    <a:lstStyle/>
                    <a:p>
                      <a:pPr indent="0" algn="just">
                        <a:spcAft>
                          <a:spcPts val="0"/>
                        </a:spcAft>
                      </a:pPr>
                      <a:r>
                        <a:rPr lang="en-US" sz="2000" kern="100" dirty="0" err="1">
                          <a:effectLst/>
                        </a:rPr>
                        <a:t>FocusIn</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键盘焦点切换到这个控件或者子控件。</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84937068"/>
                  </a:ext>
                </a:extLst>
              </a:tr>
              <a:tr h="345638">
                <a:tc vMerge="1">
                  <a:txBody>
                    <a:bodyPr/>
                    <a:lstStyle/>
                    <a:p>
                      <a:endParaRPr lang="zh-CN" altLang="en-US"/>
                    </a:p>
                  </a:txBody>
                  <a:tcPr/>
                </a:tc>
                <a:tc>
                  <a:txBody>
                    <a:bodyPr/>
                    <a:lstStyle/>
                    <a:p>
                      <a:pPr indent="0" algn="just">
                        <a:spcAft>
                          <a:spcPts val="0"/>
                        </a:spcAft>
                      </a:pPr>
                      <a:r>
                        <a:rPr lang="en-US" sz="2000" kern="100" dirty="0" err="1">
                          <a:effectLst/>
                        </a:rPr>
                        <a:t>FocusOut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键盘焦点从一个控件切换到另外一个控件。</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01525258"/>
                  </a:ext>
                </a:extLst>
              </a:tr>
              <a:tr h="345638">
                <a:tc rowSpan="7">
                  <a:txBody>
                    <a:bodyPr/>
                    <a:lstStyle/>
                    <a:p>
                      <a:pPr indent="0" algn="just">
                        <a:spcAft>
                          <a:spcPts val="0"/>
                        </a:spcAft>
                      </a:pPr>
                      <a:r>
                        <a:rPr lang="en-US" sz="2000" kern="100" dirty="0">
                          <a:effectLst/>
                        </a:rPr>
                        <a:t>modifier</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en-US" sz="2000" kern="100" dirty="0">
                          <a:effectLst/>
                        </a:rPr>
                        <a:t>Alt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用户按下</a:t>
                      </a:r>
                      <a:r>
                        <a:rPr lang="en-US" sz="2000" kern="100" dirty="0">
                          <a:effectLst/>
                        </a:rPr>
                        <a:t>Alt</a:t>
                      </a:r>
                      <a:r>
                        <a:rPr lang="zh-CN" sz="2000" kern="100" dirty="0">
                          <a:effectLst/>
                        </a:rPr>
                        <a:t>按键。</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02103804"/>
                  </a:ext>
                </a:extLst>
              </a:tr>
              <a:tr h="345638">
                <a:tc vMerge="1">
                  <a:txBody>
                    <a:bodyPr/>
                    <a:lstStyle/>
                    <a:p>
                      <a:endParaRPr lang="zh-CN" altLang="en-US"/>
                    </a:p>
                  </a:txBody>
                  <a:tcPr/>
                </a:tc>
                <a:tc>
                  <a:txBody>
                    <a:bodyPr/>
                    <a:lstStyle/>
                    <a:p>
                      <a:pPr indent="0" algn="just">
                        <a:spcAft>
                          <a:spcPts val="0"/>
                        </a:spcAft>
                      </a:pPr>
                      <a:r>
                        <a:rPr lang="en-US" sz="2000" kern="100" dirty="0">
                          <a:effectLst/>
                        </a:rPr>
                        <a:t>Control</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用户按下</a:t>
                      </a:r>
                      <a:r>
                        <a:rPr lang="en-US" sz="2000" kern="100" dirty="0">
                          <a:effectLst/>
                        </a:rPr>
                        <a:t>Ctrl</a:t>
                      </a:r>
                      <a:r>
                        <a:rPr lang="zh-CN" sz="2000" kern="100" dirty="0">
                          <a:effectLst/>
                        </a:rPr>
                        <a:t>键。</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82951841"/>
                  </a:ext>
                </a:extLst>
              </a:tr>
              <a:tr h="345638">
                <a:tc vMerge="1">
                  <a:txBody>
                    <a:bodyPr/>
                    <a:lstStyle/>
                    <a:p>
                      <a:endParaRPr lang="zh-CN" altLang="en-US"/>
                    </a:p>
                  </a:txBody>
                  <a:tcPr/>
                </a:tc>
                <a:tc>
                  <a:txBody>
                    <a:bodyPr/>
                    <a:lstStyle/>
                    <a:p>
                      <a:pPr indent="0" algn="just">
                        <a:spcAft>
                          <a:spcPts val="0"/>
                        </a:spcAft>
                      </a:pPr>
                      <a:r>
                        <a:rPr lang="en-US" sz="2000" kern="100" dirty="0">
                          <a:effectLst/>
                        </a:rPr>
                        <a:t>Any</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任何类型的按键被按下。</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22714186"/>
                  </a:ext>
                </a:extLst>
              </a:tr>
              <a:tr h="345638">
                <a:tc vMerge="1">
                  <a:txBody>
                    <a:bodyPr/>
                    <a:lstStyle/>
                    <a:p>
                      <a:endParaRPr lang="zh-CN" altLang="en-US"/>
                    </a:p>
                  </a:txBody>
                  <a:tcPr/>
                </a:tc>
                <a:tc>
                  <a:txBody>
                    <a:bodyPr/>
                    <a:lstStyle/>
                    <a:p>
                      <a:pPr indent="0" algn="just">
                        <a:spcAft>
                          <a:spcPts val="0"/>
                        </a:spcAft>
                      </a:pPr>
                      <a:r>
                        <a:rPr lang="en-US" sz="2000" kern="100" dirty="0">
                          <a:effectLst/>
                        </a:rPr>
                        <a:t>Double</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后续两个事件被连续触发。</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81082920"/>
                  </a:ext>
                </a:extLst>
              </a:tr>
              <a:tr h="345638">
                <a:tc vMerge="1">
                  <a:txBody>
                    <a:bodyPr/>
                    <a:lstStyle/>
                    <a:p>
                      <a:endParaRPr lang="zh-CN" altLang="en-US"/>
                    </a:p>
                  </a:txBody>
                  <a:tcPr/>
                </a:tc>
                <a:tc>
                  <a:txBody>
                    <a:bodyPr/>
                    <a:lstStyle/>
                    <a:p>
                      <a:pPr indent="0" algn="just">
                        <a:spcAft>
                          <a:spcPts val="0"/>
                        </a:spcAft>
                      </a:pPr>
                      <a:r>
                        <a:rPr lang="en-US" sz="2000" kern="100" dirty="0">
                          <a:effectLst/>
                        </a:rPr>
                        <a:t>Lock</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打开大写字母。</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5709101"/>
                  </a:ext>
                </a:extLst>
              </a:tr>
              <a:tr h="345638">
                <a:tc vMerge="1">
                  <a:txBody>
                    <a:bodyPr/>
                    <a:lstStyle/>
                    <a:p>
                      <a:endParaRPr lang="zh-CN" altLang="en-US"/>
                    </a:p>
                  </a:txBody>
                  <a:tcPr/>
                </a:tc>
                <a:tc>
                  <a:txBody>
                    <a:bodyPr/>
                    <a:lstStyle/>
                    <a:p>
                      <a:pPr indent="0" algn="just">
                        <a:spcAft>
                          <a:spcPts val="0"/>
                        </a:spcAft>
                      </a:pPr>
                      <a:r>
                        <a:rPr lang="en-US" sz="2000" kern="100" dirty="0">
                          <a:effectLst/>
                        </a:rPr>
                        <a:t>Shift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按下</a:t>
                      </a:r>
                      <a:r>
                        <a:rPr lang="en-US" sz="2000" kern="100" dirty="0">
                          <a:effectLst/>
                        </a:rPr>
                        <a:t>Shift</a:t>
                      </a:r>
                      <a:r>
                        <a:rPr lang="zh-CN" sz="2000" kern="100" dirty="0">
                          <a:effectLst/>
                        </a:rPr>
                        <a:t>键。</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4944933"/>
                  </a:ext>
                </a:extLst>
              </a:tr>
              <a:tr h="345638">
                <a:tc vMerge="1">
                  <a:txBody>
                    <a:bodyPr/>
                    <a:lstStyle/>
                    <a:p>
                      <a:endParaRPr lang="zh-CN" altLang="en-US"/>
                    </a:p>
                  </a:txBody>
                  <a:tcPr/>
                </a:tc>
                <a:tc>
                  <a:txBody>
                    <a:bodyPr/>
                    <a:lstStyle/>
                    <a:p>
                      <a:pPr indent="0" algn="just">
                        <a:spcAft>
                          <a:spcPts val="0"/>
                        </a:spcAft>
                      </a:pPr>
                      <a:r>
                        <a:rPr lang="en-US" sz="2000" kern="100" dirty="0">
                          <a:effectLst/>
                        </a:rPr>
                        <a:t>Triple</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just">
                        <a:spcAft>
                          <a:spcPts val="0"/>
                        </a:spcAft>
                      </a:pPr>
                      <a:r>
                        <a:rPr lang="zh-CN" sz="2000" kern="100" dirty="0">
                          <a:effectLst/>
                        </a:rPr>
                        <a:t>后续三个事件被触发。</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72098977"/>
                  </a:ext>
                </a:extLst>
              </a:tr>
            </a:tbl>
          </a:graphicData>
        </a:graphic>
      </p:graphicFrame>
      <p:sp>
        <p:nvSpPr>
          <p:cNvPr id="3" name="灯片编号占位符 2">
            <a:extLst>
              <a:ext uri="{FF2B5EF4-FFF2-40B4-BE49-F238E27FC236}">
                <a16:creationId xmlns:a16="http://schemas.microsoft.com/office/drawing/2014/main" id="{82359B9C-B74D-466D-8261-ED09BBD8ACB2}"/>
              </a:ext>
            </a:extLst>
          </p:cNvPr>
          <p:cNvSpPr>
            <a:spLocks noGrp="1"/>
          </p:cNvSpPr>
          <p:nvPr>
            <p:ph type="sldNum" sz="quarter" idx="12"/>
          </p:nvPr>
        </p:nvSpPr>
        <p:spPr/>
        <p:txBody>
          <a:bodyPr/>
          <a:lstStyle/>
          <a:p>
            <a:fld id="{49AE70B2-8BF9-45C0-BB95-33D1B9D3A854}" type="slidenum">
              <a:rPr lang="zh-CN" altLang="en-US" smtClean="0"/>
              <a:t>85</a:t>
            </a:fld>
            <a:endParaRPr lang="zh-CN" altLang="en-US"/>
          </a:p>
        </p:txBody>
      </p:sp>
    </p:spTree>
    <p:extLst>
      <p:ext uri="{BB962C8B-B14F-4D97-AF65-F5344CB8AC3E}">
        <p14:creationId xmlns:p14="http://schemas.microsoft.com/office/powerpoint/2010/main" val="21712008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13.5.4 </a:t>
            </a:r>
            <a:r>
              <a:rPr lang="zh-CN" altLang="en-US" dirty="0"/>
              <a:t>用</a:t>
            </a:r>
            <a:r>
              <a:rPr lang="en-US" altLang="zh-CN" dirty="0"/>
              <a:t>bind</a:t>
            </a:r>
            <a:r>
              <a:rPr lang="zh-CN" altLang="en-US" dirty="0"/>
              <a:t>方法进行事件绑定</a:t>
            </a:r>
          </a:p>
        </p:txBody>
      </p:sp>
      <p:sp>
        <p:nvSpPr>
          <p:cNvPr id="4" name="内容占位符 3"/>
          <p:cNvSpPr>
            <a:spLocks noGrp="1"/>
          </p:cNvSpPr>
          <p:nvPr>
            <p:ph idx="1"/>
          </p:nvPr>
        </p:nvSpPr>
        <p:spPr/>
        <p:txBody>
          <a:bodyPr>
            <a:normAutofit/>
          </a:bodyPr>
          <a:lstStyle/>
          <a:p>
            <a:pPr marL="0" indent="0">
              <a:buNone/>
            </a:pPr>
            <a:r>
              <a:rPr lang="en-US" altLang="zh-CN" dirty="0"/>
              <a:t>1</a:t>
            </a:r>
            <a:r>
              <a:rPr lang="zh-CN" altLang="en-US" dirty="0"/>
              <a:t>．控件绑定</a:t>
            </a:r>
          </a:p>
          <a:p>
            <a:pPr marL="457200" lvl="1" indent="0">
              <a:buNone/>
            </a:pPr>
            <a:r>
              <a:rPr lang="zh-CN" altLang="en-US" dirty="0"/>
              <a:t>控件对象</a:t>
            </a:r>
            <a:r>
              <a:rPr lang="en-US" altLang="zh-CN" dirty="0"/>
              <a:t>.bind(</a:t>
            </a:r>
            <a:r>
              <a:rPr lang="zh-CN" altLang="en-US" dirty="0"/>
              <a:t>事件描述符</a:t>
            </a:r>
            <a:r>
              <a:rPr lang="en-US" altLang="zh-CN" dirty="0"/>
              <a:t>, </a:t>
            </a:r>
            <a:r>
              <a:rPr lang="zh-CN" altLang="en-US" dirty="0"/>
              <a:t>事件回调函数</a:t>
            </a:r>
            <a:r>
              <a:rPr lang="en-US" altLang="zh-CN" dirty="0"/>
              <a:t>)</a:t>
            </a:r>
          </a:p>
          <a:p>
            <a:pPr lvl="1"/>
            <a:r>
              <a:rPr lang="en-US" altLang="zh-CN" dirty="0"/>
              <a:t>b1.bind('&lt;Return&gt;', callback1)	# b1</a:t>
            </a:r>
            <a:r>
              <a:rPr lang="zh-CN" altLang="en-US" dirty="0"/>
              <a:t>为按钮对象</a:t>
            </a:r>
          </a:p>
          <a:p>
            <a:pPr marL="0" indent="0">
              <a:buNone/>
            </a:pPr>
            <a:r>
              <a:rPr lang="en-US" altLang="zh-CN" dirty="0"/>
              <a:t>2</a:t>
            </a:r>
            <a:r>
              <a:rPr lang="zh-CN" altLang="en-US" dirty="0"/>
              <a:t>．窗口绑定</a:t>
            </a:r>
          </a:p>
          <a:p>
            <a:pPr marL="457200" lvl="1" indent="0">
              <a:buNone/>
            </a:pPr>
            <a:r>
              <a:rPr lang="zh-CN" altLang="en-US" dirty="0"/>
              <a:t>窗口对象</a:t>
            </a:r>
            <a:r>
              <a:rPr lang="en-US" altLang="zh-CN" dirty="0"/>
              <a:t>.bind(</a:t>
            </a:r>
            <a:r>
              <a:rPr lang="zh-CN" altLang="en-US" dirty="0"/>
              <a:t>事件描述符</a:t>
            </a:r>
            <a:r>
              <a:rPr lang="en-US" altLang="zh-CN" dirty="0"/>
              <a:t>, </a:t>
            </a:r>
            <a:r>
              <a:rPr lang="zh-CN" altLang="en-US" dirty="0"/>
              <a:t>事件回调函数</a:t>
            </a:r>
            <a:r>
              <a:rPr lang="en-US" altLang="zh-CN" dirty="0"/>
              <a:t>)</a:t>
            </a:r>
          </a:p>
          <a:p>
            <a:pPr lvl="1"/>
            <a:r>
              <a:rPr lang="en-US" altLang="zh-CN" dirty="0"/>
              <a:t>b1.bind('&lt;Return&gt;', callback1)		# b1</a:t>
            </a:r>
            <a:r>
              <a:rPr lang="zh-CN" altLang="en-US" dirty="0"/>
              <a:t>为按钮对象</a:t>
            </a:r>
          </a:p>
          <a:p>
            <a:pPr lvl="1"/>
            <a:r>
              <a:rPr lang="en-US" altLang="zh-CN" dirty="0" err="1"/>
              <a:t>mainw.bind</a:t>
            </a:r>
            <a:r>
              <a:rPr lang="en-US" altLang="zh-CN" dirty="0"/>
              <a:t>('&lt;Return&gt;', callback2) 	# </a:t>
            </a:r>
            <a:r>
              <a:rPr lang="en-US" altLang="zh-CN" dirty="0" err="1"/>
              <a:t>mainw</a:t>
            </a:r>
            <a:r>
              <a:rPr lang="zh-CN" altLang="en-US" dirty="0"/>
              <a:t>为窗口</a:t>
            </a:r>
          </a:p>
          <a:p>
            <a:endParaRPr lang="zh-CN" altLang="en-US" dirty="0"/>
          </a:p>
        </p:txBody>
      </p:sp>
      <p:sp>
        <p:nvSpPr>
          <p:cNvPr id="3" name="灯片编号占位符 2">
            <a:extLst>
              <a:ext uri="{FF2B5EF4-FFF2-40B4-BE49-F238E27FC236}">
                <a16:creationId xmlns:a16="http://schemas.microsoft.com/office/drawing/2014/main" id="{B2F68370-6CD4-443A-B6FE-19F225E3FF3E}"/>
              </a:ext>
            </a:extLst>
          </p:cNvPr>
          <p:cNvSpPr>
            <a:spLocks noGrp="1"/>
          </p:cNvSpPr>
          <p:nvPr>
            <p:ph type="sldNum" sz="quarter" idx="12"/>
          </p:nvPr>
        </p:nvSpPr>
        <p:spPr/>
        <p:txBody>
          <a:bodyPr/>
          <a:lstStyle/>
          <a:p>
            <a:fld id="{49AE70B2-8BF9-45C0-BB95-33D1B9D3A854}" type="slidenum">
              <a:rPr lang="zh-CN" altLang="en-US" smtClean="0"/>
              <a:t>86</a:t>
            </a:fld>
            <a:endParaRPr lang="zh-CN" altLang="en-US"/>
          </a:p>
        </p:txBody>
      </p:sp>
    </p:spTree>
    <p:extLst>
      <p:ext uri="{BB962C8B-B14F-4D97-AF65-F5344CB8AC3E}">
        <p14:creationId xmlns:p14="http://schemas.microsoft.com/office/powerpoint/2010/main" val="10886039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13.5.4 </a:t>
            </a:r>
            <a:r>
              <a:rPr lang="zh-CN" altLang="en-US" dirty="0"/>
              <a:t>用</a:t>
            </a:r>
            <a:r>
              <a:rPr lang="en-US" altLang="zh-CN" dirty="0"/>
              <a:t>bind</a:t>
            </a:r>
            <a:r>
              <a:rPr lang="zh-CN" altLang="en-US" dirty="0"/>
              <a:t>方法进行事件绑定</a:t>
            </a:r>
          </a:p>
        </p:txBody>
      </p:sp>
      <p:sp>
        <p:nvSpPr>
          <p:cNvPr id="4" name="内容占位符 3"/>
          <p:cNvSpPr>
            <a:spLocks noGrp="1"/>
          </p:cNvSpPr>
          <p:nvPr>
            <p:ph idx="1"/>
          </p:nvPr>
        </p:nvSpPr>
        <p:spPr/>
        <p:txBody>
          <a:bodyPr>
            <a:noAutofit/>
          </a:bodyPr>
          <a:lstStyle/>
          <a:p>
            <a:pPr marL="0" indent="0">
              <a:lnSpc>
                <a:spcPct val="110000"/>
              </a:lnSpc>
              <a:spcAft>
                <a:spcPts val="600"/>
              </a:spcAft>
              <a:buNone/>
            </a:pPr>
            <a:r>
              <a:rPr lang="en-US" altLang="zh-CN" sz="2600" dirty="0"/>
              <a:t>3</a:t>
            </a:r>
            <a:r>
              <a:rPr lang="zh-CN" altLang="en-US" sz="2600" dirty="0"/>
              <a:t>．类绑定</a:t>
            </a:r>
          </a:p>
          <a:p>
            <a:pPr marL="0" indent="0" algn="ctr">
              <a:lnSpc>
                <a:spcPct val="110000"/>
              </a:lnSpc>
              <a:spcAft>
                <a:spcPts val="600"/>
              </a:spcAft>
              <a:buNone/>
            </a:pPr>
            <a:r>
              <a:rPr lang="zh-CN" altLang="en-US" sz="2600" dirty="0"/>
              <a:t>任意对象</a:t>
            </a:r>
            <a:r>
              <a:rPr lang="en-US" altLang="zh-CN" sz="2600" dirty="0"/>
              <a:t>.</a:t>
            </a:r>
            <a:r>
              <a:rPr lang="en-US" altLang="zh-CN" sz="2600" dirty="0" err="1"/>
              <a:t>bind_class</a:t>
            </a:r>
            <a:r>
              <a:rPr lang="en-US" altLang="zh-CN" sz="2600" dirty="0"/>
              <a:t>(</a:t>
            </a:r>
            <a:r>
              <a:rPr lang="zh-CN" altLang="en-US" sz="2600" dirty="0"/>
              <a:t>控件类描述符</a:t>
            </a:r>
            <a:r>
              <a:rPr lang="en-US" altLang="zh-CN" sz="2600" dirty="0"/>
              <a:t>, </a:t>
            </a:r>
            <a:r>
              <a:rPr lang="zh-CN" altLang="en-US" sz="2600" dirty="0"/>
              <a:t>事件描述符</a:t>
            </a:r>
            <a:r>
              <a:rPr lang="en-US" altLang="zh-CN" sz="2600" dirty="0"/>
              <a:t>, </a:t>
            </a:r>
            <a:r>
              <a:rPr lang="zh-CN" altLang="en-US" sz="2600" dirty="0"/>
              <a:t>事件回调函数</a:t>
            </a:r>
            <a:r>
              <a:rPr lang="en-US" altLang="zh-CN" sz="2600" dirty="0"/>
              <a:t>)</a:t>
            </a:r>
          </a:p>
          <a:p>
            <a:pPr lvl="1">
              <a:lnSpc>
                <a:spcPct val="110000"/>
              </a:lnSpc>
              <a:spcAft>
                <a:spcPts val="600"/>
              </a:spcAft>
            </a:pPr>
            <a:r>
              <a:rPr lang="zh-CN" altLang="en-US" sz="2600" dirty="0"/>
              <a:t>控件类描述符是控件的类名。</a:t>
            </a:r>
            <a:endParaRPr lang="en-US" altLang="zh-CN" sz="2600" dirty="0"/>
          </a:p>
          <a:p>
            <a:pPr lvl="1">
              <a:lnSpc>
                <a:spcPct val="110000"/>
              </a:lnSpc>
              <a:spcAft>
                <a:spcPts val="600"/>
              </a:spcAft>
            </a:pPr>
            <a:r>
              <a:rPr lang="zh-CN" altLang="en-US" sz="2600" dirty="0"/>
              <a:t>类绑定后，所有该控件类的实例都会响应该事件。</a:t>
            </a:r>
          </a:p>
          <a:p>
            <a:pPr marL="0" indent="0">
              <a:lnSpc>
                <a:spcPct val="110000"/>
              </a:lnSpc>
              <a:spcAft>
                <a:spcPts val="600"/>
              </a:spcAft>
              <a:buNone/>
            </a:pPr>
            <a:r>
              <a:rPr lang="en-US" altLang="zh-CN" sz="2400" dirty="0" err="1"/>
              <a:t>mainw.bind_class</a:t>
            </a:r>
            <a:r>
              <a:rPr lang="en-US" altLang="zh-CN" sz="2400" dirty="0"/>
              <a:t>('Button', '&lt;Button-3&gt;', callback4) 	# </a:t>
            </a:r>
            <a:r>
              <a:rPr lang="en-US" altLang="zh-CN" sz="2400" dirty="0" err="1"/>
              <a:t>mainw</a:t>
            </a:r>
            <a:r>
              <a:rPr lang="zh-CN" altLang="en-US" sz="2400" dirty="0"/>
              <a:t>为窗口</a:t>
            </a:r>
          </a:p>
          <a:p>
            <a:pPr marL="0" indent="0">
              <a:lnSpc>
                <a:spcPct val="110000"/>
              </a:lnSpc>
              <a:spcAft>
                <a:spcPts val="600"/>
              </a:spcAft>
              <a:buNone/>
            </a:pPr>
            <a:r>
              <a:rPr lang="en-US" altLang="zh-CN" sz="2600" dirty="0"/>
              <a:t>4</a:t>
            </a:r>
            <a:r>
              <a:rPr lang="zh-CN" altLang="en-US" sz="2600" dirty="0"/>
              <a:t>．应用程序绑定</a:t>
            </a:r>
          </a:p>
          <a:p>
            <a:pPr marL="0" indent="0" algn="ctr">
              <a:lnSpc>
                <a:spcPct val="110000"/>
              </a:lnSpc>
              <a:spcAft>
                <a:spcPts val="600"/>
              </a:spcAft>
              <a:buNone/>
            </a:pPr>
            <a:r>
              <a:rPr lang="zh-CN" altLang="en-US" sz="2600" dirty="0"/>
              <a:t>任意对象</a:t>
            </a:r>
            <a:r>
              <a:rPr lang="en-US" altLang="zh-CN" sz="2600" dirty="0"/>
              <a:t>.</a:t>
            </a:r>
            <a:r>
              <a:rPr lang="en-US" altLang="zh-CN" sz="2600" dirty="0" err="1"/>
              <a:t>bind_all</a:t>
            </a:r>
            <a:r>
              <a:rPr lang="en-US" altLang="zh-CN" sz="2600" dirty="0"/>
              <a:t>(</a:t>
            </a:r>
            <a:r>
              <a:rPr lang="zh-CN" altLang="en-US" sz="2600" dirty="0"/>
              <a:t>事件描述符</a:t>
            </a:r>
            <a:r>
              <a:rPr lang="en-US" altLang="zh-CN" sz="2600" dirty="0"/>
              <a:t>, </a:t>
            </a:r>
            <a:r>
              <a:rPr lang="zh-CN" altLang="en-US" sz="2600" dirty="0"/>
              <a:t>事件回调函数</a:t>
            </a:r>
            <a:r>
              <a:rPr lang="en-US" altLang="zh-CN" sz="2600" dirty="0"/>
              <a:t>)</a:t>
            </a:r>
          </a:p>
          <a:p>
            <a:pPr lvl="1">
              <a:lnSpc>
                <a:spcPct val="110000"/>
              </a:lnSpc>
              <a:spcAft>
                <a:spcPts val="600"/>
              </a:spcAft>
            </a:pPr>
            <a:r>
              <a:rPr lang="zh-CN" altLang="en-US" sz="2600" dirty="0"/>
              <a:t>调用任意对象的</a:t>
            </a:r>
            <a:r>
              <a:rPr lang="en-US" altLang="zh-CN" sz="2600" dirty="0" err="1"/>
              <a:t>bind_all</a:t>
            </a:r>
            <a:r>
              <a:rPr lang="zh-CN" altLang="en-US" sz="2600" dirty="0"/>
              <a:t>方法进行应用绑定。</a:t>
            </a:r>
            <a:endParaRPr lang="en-US" altLang="zh-CN" sz="2600" dirty="0"/>
          </a:p>
          <a:p>
            <a:pPr lvl="1">
              <a:lnSpc>
                <a:spcPct val="110000"/>
              </a:lnSpc>
              <a:spcAft>
                <a:spcPts val="600"/>
              </a:spcAft>
            </a:pPr>
            <a:r>
              <a:rPr lang="zh-CN" altLang="en-US" sz="2600" dirty="0"/>
              <a:t>应用绑定后，当前程序中所有控件都会响应该事件。</a:t>
            </a:r>
          </a:p>
          <a:p>
            <a:pPr marL="0" indent="0">
              <a:lnSpc>
                <a:spcPct val="110000"/>
              </a:lnSpc>
              <a:spcAft>
                <a:spcPts val="600"/>
              </a:spcAft>
              <a:buNone/>
            </a:pPr>
            <a:r>
              <a:rPr lang="en-US" altLang="zh-CN" sz="2400" dirty="0" err="1"/>
              <a:t>mainw.bind_all</a:t>
            </a:r>
            <a:r>
              <a:rPr lang="en-US" altLang="zh-CN" sz="2400" dirty="0"/>
              <a:t>('&lt;3&gt;', callback4) 	# </a:t>
            </a:r>
            <a:r>
              <a:rPr lang="en-US" altLang="zh-CN" sz="2400" dirty="0" err="1"/>
              <a:t>mainw</a:t>
            </a:r>
            <a:r>
              <a:rPr lang="zh-CN" altLang="en-US" sz="2400" dirty="0"/>
              <a:t>为窗口</a:t>
            </a:r>
          </a:p>
          <a:p>
            <a:pPr>
              <a:lnSpc>
                <a:spcPct val="110000"/>
              </a:lnSpc>
              <a:spcAft>
                <a:spcPts val="600"/>
              </a:spcAft>
            </a:pPr>
            <a:endParaRPr lang="zh-CN" altLang="en-US" sz="2600" dirty="0"/>
          </a:p>
        </p:txBody>
      </p:sp>
      <p:sp>
        <p:nvSpPr>
          <p:cNvPr id="3" name="灯片编号占位符 2">
            <a:extLst>
              <a:ext uri="{FF2B5EF4-FFF2-40B4-BE49-F238E27FC236}">
                <a16:creationId xmlns:a16="http://schemas.microsoft.com/office/drawing/2014/main" id="{FE5B85ED-FA70-4825-886B-0F6109AD7B74}"/>
              </a:ext>
            </a:extLst>
          </p:cNvPr>
          <p:cNvSpPr>
            <a:spLocks noGrp="1"/>
          </p:cNvSpPr>
          <p:nvPr>
            <p:ph type="sldNum" sz="quarter" idx="12"/>
          </p:nvPr>
        </p:nvSpPr>
        <p:spPr/>
        <p:txBody>
          <a:bodyPr/>
          <a:lstStyle/>
          <a:p>
            <a:fld id="{49AE70B2-8BF9-45C0-BB95-33D1B9D3A854}" type="slidenum">
              <a:rPr lang="zh-CN" altLang="en-US" smtClean="0"/>
              <a:t>87</a:t>
            </a:fld>
            <a:endParaRPr lang="zh-CN" altLang="en-US"/>
          </a:p>
        </p:txBody>
      </p:sp>
    </p:spTree>
    <p:extLst>
      <p:ext uri="{BB962C8B-B14F-4D97-AF65-F5344CB8AC3E}">
        <p14:creationId xmlns:p14="http://schemas.microsoft.com/office/powerpoint/2010/main" val="39648014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13.5.4 </a:t>
            </a:r>
            <a:r>
              <a:rPr lang="zh-CN" altLang="en-US" dirty="0"/>
              <a:t>用</a:t>
            </a:r>
            <a:r>
              <a:rPr lang="en-US" altLang="zh-CN" dirty="0"/>
              <a:t>bind</a:t>
            </a:r>
            <a:r>
              <a:rPr lang="zh-CN" altLang="en-US" dirty="0"/>
              <a:t>方法进行事件绑定</a:t>
            </a:r>
          </a:p>
        </p:txBody>
      </p:sp>
      <p:sp>
        <p:nvSpPr>
          <p:cNvPr id="4" name="内容占位符 3"/>
          <p:cNvSpPr>
            <a:spLocks noGrp="1" noChangeAspect="1"/>
          </p:cNvSpPr>
          <p:nvPr>
            <p:ph idx="1"/>
          </p:nvPr>
        </p:nvSpPr>
        <p:spPr>
          <a:xfrm>
            <a:off x="669925" y="1160145"/>
            <a:ext cx="5210051" cy="5180965"/>
          </a:xfrm>
        </p:spPr>
        <p:txBody>
          <a:bodyPr>
            <a:noAutofit/>
          </a:bodyPr>
          <a:lstStyle/>
          <a:p>
            <a:pPr marL="0" indent="0">
              <a:lnSpc>
                <a:spcPct val="110000"/>
              </a:lnSpc>
              <a:spcAft>
                <a:spcPts val="600"/>
              </a:spcAft>
              <a:buNone/>
            </a:pPr>
            <a:r>
              <a:rPr lang="en-US" altLang="zh-CN" sz="2600" dirty="0"/>
              <a:t>5</a:t>
            </a:r>
            <a:r>
              <a:rPr lang="zh-CN" altLang="en-US" sz="2600" dirty="0"/>
              <a:t>．事件响应顺序</a:t>
            </a:r>
          </a:p>
          <a:p>
            <a:pPr lvl="1">
              <a:lnSpc>
                <a:spcPct val="110000"/>
              </a:lnSpc>
              <a:spcAft>
                <a:spcPts val="600"/>
              </a:spcAft>
            </a:pPr>
            <a:r>
              <a:rPr lang="zh-CN" altLang="en-US" sz="2600" dirty="0"/>
              <a:t>当某个控件的事件响应与四种类别的绑定都相关时，按控件绑定、类绑定、窗口绑定和应用程序绑定的顺序回调绑定函数。</a:t>
            </a:r>
            <a:endParaRPr lang="en-US" altLang="zh-CN" sz="2600" dirty="0"/>
          </a:p>
          <a:p>
            <a:pPr lvl="1">
              <a:lnSpc>
                <a:spcPct val="110000"/>
              </a:lnSpc>
              <a:spcAft>
                <a:spcPts val="600"/>
              </a:spcAft>
            </a:pPr>
            <a:endParaRPr lang="zh-CN" altLang="en-US" sz="2600" dirty="0"/>
          </a:p>
          <a:p>
            <a:pPr>
              <a:lnSpc>
                <a:spcPct val="110000"/>
              </a:lnSpc>
              <a:spcAft>
                <a:spcPts val="600"/>
              </a:spcAft>
            </a:pPr>
            <a:r>
              <a:rPr lang="en-US" altLang="zh-CN" sz="2600" dirty="0"/>
              <a:t>【</a:t>
            </a:r>
            <a:r>
              <a:rPr lang="zh-CN" altLang="en-US" sz="2600" dirty="0"/>
              <a:t>例</a:t>
            </a:r>
            <a:r>
              <a:rPr lang="en-US" altLang="zh-CN" sz="2600" dirty="0"/>
              <a:t>13-23】</a:t>
            </a:r>
            <a:r>
              <a:rPr lang="zh-CN" altLang="en-US" sz="2600" dirty="0"/>
              <a:t>事件绑定演示。</a:t>
            </a:r>
          </a:p>
          <a:p>
            <a:pPr>
              <a:lnSpc>
                <a:spcPct val="110000"/>
              </a:lnSpc>
              <a:spcAft>
                <a:spcPts val="600"/>
              </a:spcAft>
            </a:pPr>
            <a:endParaRPr lang="zh-CN" altLang="en-US" sz="2600" dirty="0"/>
          </a:p>
        </p:txBody>
      </p:sp>
      <p:sp>
        <p:nvSpPr>
          <p:cNvPr id="3" name="Rectangle 2"/>
          <p:cNvSpPr>
            <a:spLocks noChangeAspect="1"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473005260"/>
              </p:ext>
            </p:extLst>
          </p:nvPr>
        </p:nvGraphicFramePr>
        <p:xfrm>
          <a:off x="7104112" y="1160145"/>
          <a:ext cx="3913907" cy="4902905"/>
        </p:xfrm>
        <a:graphic>
          <a:graphicData uri="http://schemas.openxmlformats.org/presentationml/2006/ole">
            <mc:AlternateContent xmlns:mc="http://schemas.openxmlformats.org/markup-compatibility/2006">
              <mc:Choice xmlns:v="urn:schemas-microsoft-com:vml" Requires="v">
                <p:oleObj name="BMP 图像" r:id="rId2" imgW="2448267" imgH="3067478" progId="Paint.Picture">
                  <p:embed/>
                </p:oleObj>
              </mc:Choice>
              <mc:Fallback>
                <p:oleObj name="BMP 图像" r:id="rId2" imgW="2448267" imgH="3067478" progId="Paint.Picture">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4112" y="1160145"/>
                        <a:ext cx="3913907" cy="4902905"/>
                      </a:xfrm>
                      <a:prstGeom prst="rect">
                        <a:avLst/>
                      </a:prstGeom>
                      <a:noFill/>
                    </p:spPr>
                  </p:pic>
                </p:oleObj>
              </mc:Fallback>
            </mc:AlternateContent>
          </a:graphicData>
        </a:graphic>
      </p:graphicFrame>
      <p:sp>
        <p:nvSpPr>
          <p:cNvPr id="6" name="灯片编号占位符 5">
            <a:extLst>
              <a:ext uri="{FF2B5EF4-FFF2-40B4-BE49-F238E27FC236}">
                <a16:creationId xmlns:a16="http://schemas.microsoft.com/office/drawing/2014/main" id="{25304990-CFC4-4D12-B194-80556705A118}"/>
              </a:ext>
            </a:extLst>
          </p:cNvPr>
          <p:cNvSpPr>
            <a:spLocks noGrp="1"/>
          </p:cNvSpPr>
          <p:nvPr>
            <p:ph type="sldNum" sz="quarter" idx="12"/>
          </p:nvPr>
        </p:nvSpPr>
        <p:spPr/>
        <p:txBody>
          <a:bodyPr/>
          <a:lstStyle/>
          <a:p>
            <a:fld id="{49AE70B2-8BF9-45C0-BB95-33D1B9D3A854}" type="slidenum">
              <a:rPr lang="zh-CN" altLang="en-US" smtClean="0"/>
              <a:t>88</a:t>
            </a:fld>
            <a:endParaRPr lang="zh-CN" altLang="en-US"/>
          </a:p>
        </p:txBody>
      </p:sp>
    </p:spTree>
    <p:extLst>
      <p:ext uri="{BB962C8B-B14F-4D97-AF65-F5344CB8AC3E}">
        <p14:creationId xmlns:p14="http://schemas.microsoft.com/office/powerpoint/2010/main" val="4385220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WordArt 6"/>
          <p:cNvSpPr>
            <a:spLocks noChangeArrowheads="1" noChangeShapeType="1"/>
          </p:cNvSpPr>
          <p:nvPr/>
        </p:nvSpPr>
        <p:spPr bwMode="auto">
          <a:xfrm>
            <a:off x="1882775" y="1557338"/>
            <a:ext cx="8426450" cy="2011363"/>
          </a:xfrm>
          <a:prstGeom prst="rect">
            <a:avLst/>
          </a:prstGeom>
        </p:spPr>
        <p:txBody>
          <a:bodyPr wrap="none" fromWordArt="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8500" b="1" i="0" u="none" strike="noStrike" kern="10" cap="none" spc="0" normalizeH="0" baseline="0" noProof="0" dirty="0">
              <a:ln w="9525">
                <a:noFill/>
                <a:round/>
              </a:ln>
              <a:solidFill>
                <a:schemeClr val="tx1"/>
              </a:solidFill>
              <a:effectLst>
                <a:outerShdw blurRad="38100" dist="38100" dir="2700000" algn="tl">
                  <a:srgbClr val="000000">
                    <a:alpha val="43137"/>
                  </a:srgbClr>
                </a:outerShdw>
              </a:effectLst>
              <a:uLnTx/>
              <a:uFillTx/>
              <a:latin typeface="华文新魏" panose="02010800040101010101" pitchFamily="2" charset="-122"/>
              <a:ea typeface="华文新魏" panose="02010800040101010101" pitchFamily="2" charset="-122"/>
              <a:cs typeface="+mn-cs"/>
            </a:endParaRPr>
          </a:p>
        </p:txBody>
      </p:sp>
      <p:sp>
        <p:nvSpPr>
          <p:cNvPr id="10245" name="标题 1"/>
          <p:cNvSpPr>
            <a:spLocks noGrp="1"/>
          </p:cNvSpPr>
          <p:nvPr>
            <p:ph type="ctrTitle"/>
          </p:nvPr>
        </p:nvSpPr>
        <p:spPr>
          <a:xfrm>
            <a:off x="608965" y="2292350"/>
            <a:ext cx="10748645" cy="1151255"/>
          </a:xfrm>
        </p:spPr>
        <p:txBody>
          <a:bodyPr vert="horz" wrap="square" lIns="91440" tIns="45720" rIns="91440" bIns="45720" anchor="b"/>
          <a:lstStyle/>
          <a:p>
            <a:pPr>
              <a:buClrTx/>
              <a:buSzTx/>
              <a:buFontTx/>
              <a:buNone/>
            </a:pPr>
            <a:r>
              <a:rPr lang="en-US" kern="1200" dirty="0">
                <a:latin typeface="+mj-lt"/>
                <a:ea typeface="+mj-ea"/>
                <a:cs typeface="+mj-cs"/>
              </a:rPr>
              <a:t>13.6 </a:t>
            </a:r>
            <a:r>
              <a:rPr lang="zh-CN" altLang="en-US" kern="1200" dirty="0">
                <a:latin typeface="+mj-lt"/>
                <a:ea typeface="+mj-ea"/>
                <a:cs typeface="+mj-cs"/>
              </a:rPr>
              <a:t>图形用户界面应用举例</a:t>
            </a:r>
          </a:p>
        </p:txBody>
      </p:sp>
      <p:sp>
        <p:nvSpPr>
          <p:cNvPr id="2" name="灯片编号占位符 1">
            <a:extLst>
              <a:ext uri="{FF2B5EF4-FFF2-40B4-BE49-F238E27FC236}">
                <a16:creationId xmlns:a16="http://schemas.microsoft.com/office/drawing/2014/main" id="{06ACA80D-24D8-4835-8ED7-41FACC84D8B1}"/>
              </a:ext>
            </a:extLst>
          </p:cNvPr>
          <p:cNvSpPr>
            <a:spLocks noGrp="1"/>
          </p:cNvSpPr>
          <p:nvPr>
            <p:ph type="sldNum" sz="quarter" idx="12"/>
          </p:nvPr>
        </p:nvSpPr>
        <p:spPr/>
        <p:txBody>
          <a:bodyPr/>
          <a:lstStyle/>
          <a:p>
            <a:fld id="{49AE70B2-8BF9-45C0-BB95-33D1B9D3A854}" type="slidenum">
              <a:rPr lang="zh-CN" altLang="en-US" smtClean="0"/>
              <a:t>89</a:t>
            </a:fld>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nodePh="1">
                                  <p:stCondLst>
                                    <p:cond delay="0"/>
                                  </p:stCondLst>
                                  <p:endCondLst>
                                    <p:cond evt="begin" delay="0">
                                      <p:tn val="5"/>
                                    </p:cond>
                                  </p:endCondLst>
                                  <p:childTnLst>
                                    <p:set>
                                      <p:cBhvr>
                                        <p:cTn id="6" dur="1" fill="hold">
                                          <p:stCondLst>
                                            <p:cond delay="0"/>
                                          </p:stCondLst>
                                        </p:cTn>
                                        <p:tgtEl>
                                          <p:spTgt spid="16387"/>
                                        </p:tgtEl>
                                        <p:attrNameLst>
                                          <p:attrName>style.visibility</p:attrName>
                                        </p:attrNameLst>
                                      </p:cBhvr>
                                      <p:to>
                                        <p:strVal val="visible"/>
                                      </p:to>
                                    </p:set>
                                    <p:animEffect transition="in" filter="fade">
                                      <p:cBhvr>
                                        <p:cTn id="7" dur="1000"/>
                                        <p:tgtEl>
                                          <p:spTgt spid="16387"/>
                                        </p:tgtEl>
                                      </p:cBhvr>
                                    </p:animEffect>
                                    <p:anim calcmode="lin" valueType="num">
                                      <p:cBhvr>
                                        <p:cTn id="8" dur="1000" fill="hold"/>
                                        <p:tgtEl>
                                          <p:spTgt spid="16387"/>
                                        </p:tgtEl>
                                        <p:attrNameLst>
                                          <p:attrName>ppt_x</p:attrName>
                                        </p:attrNameLst>
                                      </p:cBhvr>
                                      <p:tavLst>
                                        <p:tav tm="0">
                                          <p:val>
                                            <p:strVal val="#ppt_x"/>
                                          </p:val>
                                        </p:tav>
                                        <p:tav tm="100000">
                                          <p:val>
                                            <p:strVal val="#ppt_x"/>
                                          </p:val>
                                        </p:tav>
                                      </p:tavLst>
                                    </p:anim>
                                    <p:anim calcmode="lin" valueType="num">
                                      <p:cBhvr>
                                        <p:cTn id="9" dur="1000" fill="hold"/>
                                        <p:tgtEl>
                                          <p:spTgt spid="163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例</a:t>
            </a:r>
            <a:r>
              <a:rPr lang="en-US" altLang="zh-CN" dirty="0"/>
              <a:t>13-24】</a:t>
            </a:r>
            <a:r>
              <a:rPr lang="zh-CN" altLang="en-US" dirty="0"/>
              <a:t>简单计算器</a:t>
            </a:r>
          </a:p>
        </p:txBody>
      </p:sp>
      <p:sp>
        <p:nvSpPr>
          <p:cNvPr id="3" name="内容占位符 2"/>
          <p:cNvSpPr>
            <a:spLocks noGrp="1"/>
          </p:cNvSpPr>
          <p:nvPr>
            <p:ph idx="1"/>
          </p:nvPr>
        </p:nvSpPr>
        <p:spPr/>
        <p:txBody>
          <a:bodyPr/>
          <a:lstStyle/>
          <a:p>
            <a:r>
              <a:rPr lang="zh-CN" altLang="en-US" dirty="0"/>
              <a:t>设计并实现一个简单计算器</a:t>
            </a:r>
            <a:endParaRPr lang="en-US" altLang="zh-CN" dirty="0"/>
          </a:p>
          <a:p>
            <a:pPr lvl="1"/>
            <a:r>
              <a:rPr lang="zh-CN" altLang="en-US" dirty="0"/>
              <a:t>计算器包含菜单，若干按键能实现基本的算术运算。</a:t>
            </a:r>
          </a:p>
        </p:txBody>
      </p:sp>
      <p:pic>
        <p:nvPicPr>
          <p:cNvPr id="4" name="图片 3"/>
          <p:cNvPicPr>
            <a:picLocks noChangeAspect="1"/>
          </p:cNvPicPr>
          <p:nvPr/>
        </p:nvPicPr>
        <p:blipFill>
          <a:blip r:embed="rId2"/>
          <a:stretch>
            <a:fillRect/>
          </a:stretch>
        </p:blipFill>
        <p:spPr>
          <a:xfrm>
            <a:off x="2107911" y="2692899"/>
            <a:ext cx="3480626" cy="3610070"/>
          </a:xfrm>
          <a:prstGeom prst="rect">
            <a:avLst/>
          </a:prstGeom>
        </p:spPr>
      </p:pic>
      <p:pic>
        <p:nvPicPr>
          <p:cNvPr id="5" name="图片 4"/>
          <p:cNvPicPr>
            <a:picLocks noChangeAspect="1"/>
          </p:cNvPicPr>
          <p:nvPr/>
        </p:nvPicPr>
        <p:blipFill>
          <a:blip r:embed="rId3"/>
          <a:stretch>
            <a:fillRect/>
          </a:stretch>
        </p:blipFill>
        <p:spPr>
          <a:xfrm>
            <a:off x="6600056" y="3212976"/>
            <a:ext cx="3910500" cy="2569916"/>
          </a:xfrm>
          <a:prstGeom prst="rect">
            <a:avLst/>
          </a:prstGeom>
        </p:spPr>
      </p:pic>
      <p:sp>
        <p:nvSpPr>
          <p:cNvPr id="6" name="灯片编号占位符 5">
            <a:extLst>
              <a:ext uri="{FF2B5EF4-FFF2-40B4-BE49-F238E27FC236}">
                <a16:creationId xmlns:a16="http://schemas.microsoft.com/office/drawing/2014/main" id="{1482831A-813B-4CF8-BD2A-94D83F2F5DC9}"/>
              </a:ext>
            </a:extLst>
          </p:cNvPr>
          <p:cNvSpPr>
            <a:spLocks noGrp="1"/>
          </p:cNvSpPr>
          <p:nvPr>
            <p:ph type="sldNum" sz="quarter" idx="12"/>
          </p:nvPr>
        </p:nvSpPr>
        <p:spPr/>
        <p:txBody>
          <a:bodyPr/>
          <a:lstStyle/>
          <a:p>
            <a:fld id="{49AE70B2-8BF9-45C0-BB95-33D1B9D3A854}" type="slidenum">
              <a:rPr lang="zh-CN" altLang="en-US" smtClean="0"/>
              <a:t>90</a:t>
            </a:fld>
            <a:endParaRPr lang="zh-CN" altLang="en-US"/>
          </a:p>
        </p:txBody>
      </p:sp>
    </p:spTree>
    <p:extLst>
      <p:ext uri="{BB962C8B-B14F-4D97-AF65-F5344CB8AC3E}">
        <p14:creationId xmlns:p14="http://schemas.microsoft.com/office/powerpoint/2010/main" val="7725895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0C2DD7-5A7C-4AFC-BA08-FBD495054710}"/>
              </a:ext>
            </a:extLst>
          </p:cNvPr>
          <p:cNvSpPr>
            <a:spLocks noGrp="1"/>
          </p:cNvSpPr>
          <p:nvPr>
            <p:ph type="ctrTitle"/>
          </p:nvPr>
        </p:nvSpPr>
        <p:spPr>
          <a:xfrm>
            <a:off x="1371600" y="1803405"/>
            <a:ext cx="9448800" cy="1049531"/>
          </a:xfrm>
        </p:spPr>
        <p:txBody>
          <a:bodyPr/>
          <a:lstStyle/>
          <a:p>
            <a:pPr algn="ctr"/>
            <a:r>
              <a:rPr lang="zh-CN" altLang="en-US" dirty="0"/>
              <a:t>本章习题  </a:t>
            </a:r>
            <a:r>
              <a:rPr lang="en-US" altLang="zh-CN" sz="3200" dirty="0"/>
              <a:t>P</a:t>
            </a:r>
            <a:endParaRPr lang="zh-CN" altLang="en-US" sz="3200" dirty="0"/>
          </a:p>
        </p:txBody>
      </p:sp>
      <p:sp>
        <p:nvSpPr>
          <p:cNvPr id="3" name="副标题 2">
            <a:extLst>
              <a:ext uri="{FF2B5EF4-FFF2-40B4-BE49-F238E27FC236}">
                <a16:creationId xmlns:a16="http://schemas.microsoft.com/office/drawing/2014/main" id="{449AE7BC-7354-4629-8554-FC05A9081B6F}"/>
              </a:ext>
            </a:extLst>
          </p:cNvPr>
          <p:cNvSpPr>
            <a:spLocks noGrp="1"/>
          </p:cNvSpPr>
          <p:nvPr>
            <p:ph type="subTitle" idx="1"/>
          </p:nvPr>
        </p:nvSpPr>
        <p:spPr/>
        <p:txBody>
          <a:bodyPr/>
          <a:lstStyle/>
          <a:p>
            <a:endParaRPr lang="zh-CN" altLang="en-US"/>
          </a:p>
        </p:txBody>
      </p:sp>
      <p:sp>
        <p:nvSpPr>
          <p:cNvPr id="4" name="灯片编号占位符 3">
            <a:extLst>
              <a:ext uri="{FF2B5EF4-FFF2-40B4-BE49-F238E27FC236}">
                <a16:creationId xmlns:a16="http://schemas.microsoft.com/office/drawing/2014/main" id="{12291311-7409-4F84-842C-304DE1AB5873}"/>
              </a:ext>
            </a:extLst>
          </p:cNvPr>
          <p:cNvSpPr>
            <a:spLocks noGrp="1"/>
          </p:cNvSpPr>
          <p:nvPr>
            <p:ph type="sldNum" sz="quarter" idx="12"/>
          </p:nvPr>
        </p:nvSpPr>
        <p:spPr/>
        <p:txBody>
          <a:bodyPr/>
          <a:lstStyle/>
          <a:p>
            <a:fld id="{49AE70B2-8BF9-45C0-BB95-33D1B9D3A854}" type="slidenum">
              <a:rPr lang="zh-CN" altLang="en-US" smtClean="0"/>
              <a:t>91</a:t>
            </a:fld>
            <a:endParaRPr lang="zh-CN" altLang="en-US" dirty="0"/>
          </a:p>
        </p:txBody>
      </p:sp>
    </p:spTree>
    <p:extLst>
      <p:ext uri="{BB962C8B-B14F-4D97-AF65-F5344CB8AC3E}">
        <p14:creationId xmlns:p14="http://schemas.microsoft.com/office/powerpoint/2010/main" val="228384133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3F6981-AB5E-411A-8782-6B755465BF70}"/>
              </a:ext>
            </a:extLst>
          </p:cNvPr>
          <p:cNvSpPr>
            <a:spLocks noGrp="1"/>
          </p:cNvSpPr>
          <p:nvPr>
            <p:ph type="title"/>
          </p:nvPr>
        </p:nvSpPr>
        <p:spPr/>
        <p:txBody>
          <a:bodyPr/>
          <a:lstStyle/>
          <a:p>
            <a:r>
              <a:rPr lang="zh-CN" altLang="en-US" dirty="0"/>
              <a:t>课后作业</a:t>
            </a:r>
          </a:p>
        </p:txBody>
      </p:sp>
      <p:sp>
        <p:nvSpPr>
          <p:cNvPr id="3" name="内容占位符 2">
            <a:extLst>
              <a:ext uri="{FF2B5EF4-FFF2-40B4-BE49-F238E27FC236}">
                <a16:creationId xmlns:a16="http://schemas.microsoft.com/office/drawing/2014/main" id="{3D1E19F2-D970-42E6-A24E-080C6AEBF816}"/>
              </a:ext>
            </a:extLst>
          </p:cNvPr>
          <p:cNvSpPr>
            <a:spLocks noGrp="1"/>
          </p:cNvSpPr>
          <p:nvPr>
            <p:ph idx="1"/>
          </p:nvPr>
        </p:nvSpPr>
        <p:spPr/>
        <p:txBody>
          <a:bodyPr/>
          <a:lstStyle/>
          <a:p>
            <a:r>
              <a:rPr lang="en-US" altLang="zh-CN" dirty="0"/>
              <a:t>3.5</a:t>
            </a:r>
            <a:r>
              <a:rPr lang="zh-CN" altLang="en-US" dirty="0"/>
              <a:t>节习题全部</a:t>
            </a:r>
            <a:r>
              <a:rPr lang="en-US" altLang="zh-CN" dirty="0"/>
              <a:t>(P69-71)</a:t>
            </a:r>
          </a:p>
          <a:p>
            <a:r>
              <a:rPr lang="zh-CN" altLang="en-US" dirty="0"/>
              <a:t>要求：</a:t>
            </a:r>
            <a:endParaRPr lang="en-US" altLang="zh-CN" dirty="0"/>
          </a:p>
          <a:p>
            <a:pPr lvl="1"/>
            <a:r>
              <a:rPr lang="zh-CN" altLang="en-US" dirty="0"/>
              <a:t>将作业写在</a:t>
            </a:r>
            <a:r>
              <a:rPr lang="en-US" altLang="zh-CN" dirty="0"/>
              <a:t>word</a:t>
            </a:r>
            <a:r>
              <a:rPr lang="zh-CN" altLang="en-US" dirty="0"/>
              <a:t>文档中，写清题号，保存为</a:t>
            </a:r>
            <a:r>
              <a:rPr lang="en-US" altLang="zh-CN" dirty="0"/>
              <a:t>:</a:t>
            </a:r>
          </a:p>
          <a:p>
            <a:pPr marL="457200" lvl="1" indent="0">
              <a:buNone/>
            </a:pPr>
            <a:r>
              <a:rPr lang="en-US" altLang="zh-CN" dirty="0"/>
              <a:t>           ”</a:t>
            </a:r>
            <a:r>
              <a:rPr lang="zh-CN" altLang="en-US" dirty="0"/>
              <a:t>学号姓名</a:t>
            </a:r>
            <a:r>
              <a:rPr lang="en-US" altLang="zh-CN" dirty="0"/>
              <a:t>-</a:t>
            </a:r>
            <a:r>
              <a:rPr lang="zh-CN" altLang="en-US" dirty="0"/>
              <a:t>第</a:t>
            </a:r>
            <a:r>
              <a:rPr lang="en-US" altLang="zh-CN" dirty="0"/>
              <a:t>x</a:t>
            </a:r>
            <a:r>
              <a:rPr lang="zh-CN" altLang="en-US" dirty="0"/>
              <a:t>章作业</a:t>
            </a:r>
            <a:r>
              <a:rPr lang="en-US" altLang="zh-CN" dirty="0"/>
              <a:t>.docx</a:t>
            </a:r>
            <a:r>
              <a:rPr lang="zh-CN" altLang="en-US" dirty="0"/>
              <a:t>“</a:t>
            </a:r>
            <a:endParaRPr lang="en-US" altLang="zh-CN" dirty="0"/>
          </a:p>
          <a:p>
            <a:pPr marL="457200" lvl="1" indent="0">
              <a:buNone/>
            </a:pPr>
            <a:r>
              <a:rPr lang="zh-CN" altLang="en-US" dirty="0"/>
              <a:t>本章是第</a:t>
            </a:r>
            <a:r>
              <a:rPr lang="en-US" altLang="zh-CN" dirty="0"/>
              <a:t>3</a:t>
            </a:r>
            <a:r>
              <a:rPr lang="zh-CN" altLang="en-US" dirty="0"/>
              <a:t>章，</a:t>
            </a:r>
            <a:r>
              <a:rPr lang="en-US" altLang="zh-CN" dirty="0"/>
              <a:t>x</a:t>
            </a:r>
            <a:r>
              <a:rPr lang="zh-CN" altLang="en-US" dirty="0"/>
              <a:t>写</a:t>
            </a:r>
            <a:r>
              <a:rPr lang="en-US" altLang="zh-CN" dirty="0"/>
              <a:t>3</a:t>
            </a:r>
            <a:r>
              <a:rPr lang="zh-CN" altLang="en-US" dirty="0"/>
              <a:t>，其他章类推。</a:t>
            </a:r>
            <a:endParaRPr lang="en-US" altLang="zh-CN" dirty="0"/>
          </a:p>
          <a:p>
            <a:pPr marL="457200" lvl="1" indent="0">
              <a:buNone/>
            </a:pPr>
            <a:r>
              <a:rPr lang="zh-CN" altLang="en-US" dirty="0"/>
              <a:t>上传作业到教学网站</a:t>
            </a:r>
            <a:r>
              <a:rPr lang="en-US" altLang="zh-CN" dirty="0"/>
              <a:t>-</a:t>
            </a:r>
            <a:r>
              <a:rPr lang="zh-CN" altLang="en-US" dirty="0"/>
              <a:t>提交作业，周次选择</a:t>
            </a:r>
            <a:r>
              <a:rPr lang="en-US" altLang="zh-CN" dirty="0"/>
              <a:t>x</a:t>
            </a:r>
            <a:r>
              <a:rPr lang="zh-CN" altLang="en-US" dirty="0"/>
              <a:t>，即第几章作业就传到周次为几。</a:t>
            </a:r>
          </a:p>
        </p:txBody>
      </p:sp>
      <p:sp>
        <p:nvSpPr>
          <p:cNvPr id="4" name="灯片编号占位符 3">
            <a:extLst>
              <a:ext uri="{FF2B5EF4-FFF2-40B4-BE49-F238E27FC236}">
                <a16:creationId xmlns:a16="http://schemas.microsoft.com/office/drawing/2014/main" id="{28C3E4F9-A110-4164-A5AB-9FA113E67406}"/>
              </a:ext>
            </a:extLst>
          </p:cNvPr>
          <p:cNvSpPr>
            <a:spLocks noGrp="1"/>
          </p:cNvSpPr>
          <p:nvPr>
            <p:ph type="sldNum" sz="quarter" idx="12"/>
          </p:nvPr>
        </p:nvSpPr>
        <p:spPr/>
        <p:txBody>
          <a:bodyPr/>
          <a:lstStyle/>
          <a:p>
            <a:fld id="{49AE70B2-8BF9-45C0-BB95-33D1B9D3A854}" type="slidenum">
              <a:rPr lang="zh-CN" altLang="en-US" smtClean="0"/>
              <a:t>92</a:t>
            </a:fld>
            <a:endParaRPr lang="zh-CN" altLang="en-US"/>
          </a:p>
        </p:txBody>
      </p:sp>
    </p:spTree>
    <p:extLst>
      <p:ext uri="{BB962C8B-B14F-4D97-AF65-F5344CB8AC3E}">
        <p14:creationId xmlns:p14="http://schemas.microsoft.com/office/powerpoint/2010/main" val="1056231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435785-3F71-4046-A30D-C980A3398DD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EA8DAD2-E315-41C4-A23B-CF40B2823071}"/>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F9780108-9FC9-4AD1-9114-F843371C3ECD}"/>
              </a:ext>
            </a:extLst>
          </p:cNvPr>
          <p:cNvSpPr>
            <a:spLocks noGrp="1"/>
          </p:cNvSpPr>
          <p:nvPr>
            <p:ph type="sldNum" sz="quarter" idx="12"/>
          </p:nvPr>
        </p:nvSpPr>
        <p:spPr/>
        <p:txBody>
          <a:bodyPr/>
          <a:lstStyle/>
          <a:p>
            <a:fld id="{49AE70B2-8BF9-45C0-BB95-33D1B9D3A854}" type="slidenum">
              <a:rPr lang="zh-CN" altLang="en-US" smtClean="0"/>
              <a:pPr/>
              <a:t>93</a:t>
            </a:fld>
            <a:endParaRPr lang="zh-CN" altLang="en-US"/>
          </a:p>
        </p:txBody>
      </p:sp>
    </p:spTree>
    <p:extLst>
      <p:ext uri="{BB962C8B-B14F-4D97-AF65-F5344CB8AC3E}">
        <p14:creationId xmlns:p14="http://schemas.microsoft.com/office/powerpoint/2010/main" val="208319574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4327525" y="1499870"/>
            <a:ext cx="3436620" cy="922020"/>
          </a:xfrm>
          <a:prstGeom prst="rect">
            <a:avLst/>
          </a:prstGeom>
          <a:noFill/>
        </p:spPr>
        <p:txBody>
          <a:bodyPr wrap="square" rtlCol="0">
            <a:normAutofit fontScale="67500" lnSpcReduction="20000"/>
          </a:bodyPr>
          <a:lstStyle/>
          <a:p>
            <a:pPr algn="dist"/>
            <a:r>
              <a:rPr lang="zh-CN" altLang="en-US" sz="5400" dirty="0">
                <a:solidFill>
                  <a:schemeClr val="accent1"/>
                </a:solidFill>
                <a:uFillTx/>
                <a:latin typeface="Arial" panose="020B0604020202020204" pitchFamily="34" charset="0"/>
                <a:ea typeface="微软雅黑" panose="020B0503020204020204" charset="-122"/>
                <a:cs typeface="Arial" panose="020B0604020202020204" pitchFamily="34" charset="0"/>
              </a:rPr>
              <a:t>清华大学出版社</a:t>
            </a:r>
          </a:p>
        </p:txBody>
      </p:sp>
      <p:sp>
        <p:nvSpPr>
          <p:cNvPr id="4" name="标题 3"/>
          <p:cNvSpPr>
            <a:spLocks noGrp="1"/>
          </p:cNvSpPr>
          <p:nvPr>
            <p:ph type="title"/>
            <p:custDataLst>
              <p:tags r:id="rId3"/>
            </p:custDataLst>
          </p:nvPr>
        </p:nvSpPr>
        <p:spPr/>
        <p:txBody>
          <a:bodyPr/>
          <a:lstStyle/>
          <a:p>
            <a:r>
              <a:rPr lang="zh-CN" altLang="en-US" dirty="0"/>
              <a:t>谢谢观赏</a:t>
            </a:r>
          </a:p>
        </p:txBody>
      </p:sp>
      <p:sp>
        <p:nvSpPr>
          <p:cNvPr id="2" name="灯片编号占位符 1">
            <a:extLst>
              <a:ext uri="{FF2B5EF4-FFF2-40B4-BE49-F238E27FC236}">
                <a16:creationId xmlns:a16="http://schemas.microsoft.com/office/drawing/2014/main" id="{A919FB08-FBE6-4CD1-A3AE-711325878D7C}"/>
              </a:ext>
            </a:extLst>
          </p:cNvPr>
          <p:cNvSpPr>
            <a:spLocks noGrp="1"/>
          </p:cNvSpPr>
          <p:nvPr>
            <p:ph type="sldNum" sz="quarter" idx="12"/>
          </p:nvPr>
        </p:nvSpPr>
        <p:spPr/>
        <p:txBody>
          <a:bodyPr/>
          <a:lstStyle/>
          <a:p>
            <a:fld id="{49AE70B2-8BF9-45C0-BB95-33D1B9D3A854}" type="slidenum">
              <a:rPr lang="zh-CN" altLang="en-US" smtClean="0"/>
              <a:t>94</a:t>
            </a:fld>
            <a:endParaRPr lang="zh-CN" altLang="en-US"/>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幻灯片 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i*1"/>
  <p:tag name="KSO_WM_UNIT_LAYERLEVEL" val="1"/>
  <p:tag name="KSO_WM_TAG_VERSION" val="1.0"/>
  <p:tag name="KSO_WM_BEAUTIFY_FLAG" val="#wm#"/>
  <p:tag name="KSO_WM_SLIDE_BACKGROUND_TYPE" val="topBottom"/>
  <p:tag name="KSO_WM_SLIDE_BK_DARK_LIGHT" val="2"/>
  <p:tag name="KSO_WM_UNIT_TYPE" val="i"/>
  <p:tag name="KSO_WM_UNIT_INDEX"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SLIDE_BACKGROUND_TYPE" val="general"/>
  <p:tag name="KSO_WM_SLIDE_BK_DARK_LIGHT" val="2"/>
  <p:tag name="KSO_WM_UNIT_TYPE" val="i"/>
  <p:tag name="KSO_WM_UNIT_INDEX"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SLIDE_BACKGROUND_TYPE" val="frame"/>
  <p:tag name="KSO_WM_SLIDE_BK_DARK_LIGHT" val="2"/>
  <p:tag name="KSO_WM_UNIT_TYPE" val="i"/>
  <p:tag name="KSO_WM_UNIT_INDEX" val="1"/>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leftRight"/>
  <p:tag name="KSO_WM_SLIDE_BK_DARK_LIGHT" val="2"/>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SLIDE_BACKGROUND_TYPE" val="leftRight"/>
  <p:tag name="KSO_WM_SLIDE_BK_DARK_LIGHT" val="2"/>
  <p:tag name="KSO_WM_UNIT_TYPE" val="i"/>
  <p:tag name="KSO_WM_UNIT_INDEX" val="1"/>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topBottom"/>
  <p:tag name="KSO_WM_SLIDE_BK_DARK_LIGHT" val="2"/>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SLIDE_BACKGROUND_TYPE" val="topBottom"/>
  <p:tag name="KSO_WM_SLIDE_BK_DARK_LIGHT" val="2"/>
  <p:tag name="KSO_WM_UNIT_TYPE" val="i"/>
  <p:tag name="KSO_WM_UNIT_INDEX"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SLIDE_BACKGROUND_TYPE" val="bottomTop"/>
  <p:tag name="KSO_WM_SLIDE_BK_DARK_LIGHT" val="2"/>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bottomTop"/>
  <p:tag name="KSO_WM_SLIDE_BK_DARK_LIGHT" val="2"/>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navigation"/>
  <p:tag name="KSO_WM_SLIDE_BK_DARK_LIGHT" val="2"/>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elt"/>
  <p:tag name="KSO_WM_SLIDE_BK_DARK_LIGHT" val="2"/>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SLIDE_BACKGROUND_TYPE" val="belt"/>
  <p:tag name="KSO_WM_SLIDE_BK_DARK_LIGHT" val="2"/>
  <p:tag name="KSO_WM_UNIT_TYPE" val="i"/>
  <p:tag name="KSO_WM_UNIT_INDEX" val="1"/>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2"/>
  <p:tag name="KSO_WM_UNIT_TYPE" val="i"/>
  <p:tag name="KSO_WM_UNIT_INDEX"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9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9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0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0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0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0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04.xml><?xml version="1.0" encoding="utf-8"?>
<p:tagLst xmlns:a="http://schemas.openxmlformats.org/drawingml/2006/main" xmlns:r="http://schemas.openxmlformats.org/officeDocument/2006/relationships" xmlns:p="http://schemas.openxmlformats.org/presentationml/2006/main">
  <p:tag name="KSO_WM_SLIDE_ID" val="custom20202601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2601"/>
  <p:tag name="KSO_WM_SLIDE_LAYOUT" val="a_b"/>
  <p:tag name="KSO_WM_SLIDE_LAYOUT_CNT" val="1_2"/>
  <p:tag name="KSO_WM_SLIDE_TYPE" val="endPage"/>
  <p:tag name="KSO_WM_SLIDE_SUBTYPE" val="pureTxt"/>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2601_15*i*1"/>
  <p:tag name="KSO_WM_TEMPLATE_CATEGORY" val="custom"/>
  <p:tag name="KSO_WM_TEMPLATE_INDEX" val="20202601"/>
  <p:tag name="KSO_WM_UNIT_LAYERLEVEL" val="1"/>
  <p:tag name="KSO_WM_TAG_VERSION" val="1.0"/>
  <p:tag name="KSO_WM_BEAUTIFY_FLAG" val="#wm#"/>
  <p:tag name="KSO_WM_UNIT_ISCONTENTSTITLE" val="0"/>
  <p:tag name="KSO_WM_UNIT_NOCLEAR" val="0"/>
  <p:tag name="KSO_WM_UNIT_TYPE" val="i"/>
  <p:tag name="KSO_WM_UNIT_INDEX" val="1"/>
  <p:tag name="KSO_WM_UNIT_PRESET_TEXT" val="2019"/>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2601_15*a*1"/>
  <p:tag name="KSO_WM_TEMPLATE_CATEGORY" val="custom"/>
  <p:tag name="KSO_WM_TEMPLATE_INDEX" val="20202601"/>
  <p:tag name="KSO_WM_UNIT_LAYERLEVEL" val="1"/>
  <p:tag name="KSO_WM_TAG_VERSION" val="1.0"/>
  <p:tag name="KSO_WM_BEAUTIFY_FLAG" val="#wm#"/>
  <p:tag name="KSO_WM_UNIT_ISCONTENTSTITLE" val="0"/>
  <p:tag name="KSO_WM_UNIT_PRESET_TEXT" val="谢谢观赏"/>
  <p:tag name="KSO_WM_UNIT_NOCLEAR" val="1"/>
  <p:tag name="KSO_WM_UNIT_VALUE" val="6"/>
  <p:tag name="KSO_WM_UNIT_TYPE" val="a"/>
  <p:tag name="KSO_WM_UNIT_INDEX" val="1"/>
</p:tagLst>
</file>

<file path=ppt/theme/theme1.xml><?xml version="1.0" encoding="utf-8"?>
<a:theme xmlns:a="http://schemas.openxmlformats.org/drawingml/2006/main" name="水汽尾迹">
  <a:themeElements>
    <a:clrScheme name="水汽尾迹">
      <a:dk1>
        <a:sysClr val="windowText" lastClr="FFFFFF"/>
      </a:dk1>
      <a:lt1>
        <a:sysClr val="window" lastClr="000000"/>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水汽尾迹">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水汽尾迹">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水汽尾迹</Template>
  <TotalTime>526</TotalTime>
  <Words>7774</Words>
  <Application>Microsoft Office PowerPoint</Application>
  <PresentationFormat>宽屏</PresentationFormat>
  <Paragraphs>921</Paragraphs>
  <Slides>94</Slides>
  <Notes>6</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94</vt:i4>
      </vt:variant>
    </vt:vector>
  </HeadingPairs>
  <TitlesOfParts>
    <vt:vector size="107" baseType="lpstr">
      <vt:lpstr>等线</vt:lpstr>
      <vt:lpstr>黑体</vt:lpstr>
      <vt:lpstr>华文新魏</vt:lpstr>
      <vt:lpstr>宋体</vt:lpstr>
      <vt:lpstr>微软雅黑</vt:lpstr>
      <vt:lpstr>Arial</vt:lpstr>
      <vt:lpstr>Calibri</vt:lpstr>
      <vt:lpstr>Cambria Math</vt:lpstr>
      <vt:lpstr>Century Gothic</vt:lpstr>
      <vt:lpstr>Viner Hand ITC</vt:lpstr>
      <vt:lpstr>Wingdings</vt:lpstr>
      <vt:lpstr>水汽尾迹</vt:lpstr>
      <vt:lpstr>BMP 图像</vt:lpstr>
      <vt:lpstr>PowerPoint 演示文稿</vt:lpstr>
      <vt:lpstr>目录</vt:lpstr>
      <vt:lpstr>13.1 图形用户界面概述</vt:lpstr>
      <vt:lpstr>13.1.1 图形用户界面</vt:lpstr>
      <vt:lpstr>13.1.2 tkinter库创建图形用户界面</vt:lpstr>
      <vt:lpstr>tkinter库</vt:lpstr>
      <vt:lpstr>tkinter库创建图形用户界面的基本步骤 </vt:lpstr>
      <vt:lpstr>设置主窗口或控件的属性</vt:lpstr>
      <vt:lpstr>创建主窗口 </vt:lpstr>
      <vt:lpstr>窗口对象常用的属性和方法</vt:lpstr>
      <vt:lpstr>窗口对象常用的属性和方法</vt:lpstr>
      <vt:lpstr>设置窗口大小和位置</vt:lpstr>
      <vt:lpstr>进入主窗口的事件循环 </vt:lpstr>
      <vt:lpstr>13.2 常用控件</vt:lpstr>
      <vt:lpstr>13.2.1 概述</vt:lpstr>
      <vt:lpstr>tkinter提供的控件</vt:lpstr>
      <vt:lpstr>创建控件实例</vt:lpstr>
      <vt:lpstr>控件的布局 </vt:lpstr>
      <vt:lpstr>控件的公共属性</vt:lpstr>
      <vt:lpstr>控件的公共属性——font属性 </vt:lpstr>
      <vt:lpstr>13.2.2 按钮</vt:lpstr>
      <vt:lpstr>Button控件的属性</vt:lpstr>
      <vt:lpstr>13.2.3 标签和消息</vt:lpstr>
      <vt:lpstr>Label控件的常用属性</vt:lpstr>
      <vt:lpstr>消息Message控件</vt:lpstr>
      <vt:lpstr>13.2.4 文本框</vt:lpstr>
      <vt:lpstr>单行文本框Entry控件</vt:lpstr>
      <vt:lpstr>Entry控件的常用属性</vt:lpstr>
      <vt:lpstr>多行文本框Text控件</vt:lpstr>
      <vt:lpstr>Text控件的常用方法</vt:lpstr>
      <vt:lpstr>Text控件的常用方法中的参数index</vt:lpstr>
      <vt:lpstr>参数index中文本位置常量</vt:lpstr>
      <vt:lpstr>【例13-8】多行文本框的基本功能演示。</vt:lpstr>
      <vt:lpstr>13.2.5 单选按钮和复选框</vt:lpstr>
      <vt:lpstr>13.2.5 单选按钮和复选框</vt:lpstr>
      <vt:lpstr> Radiobutton（或Checkbutton）控件的常用属性和方法</vt:lpstr>
      <vt:lpstr>单选按钮和复选框的示例</vt:lpstr>
      <vt:lpstr>13.2.6 列表框</vt:lpstr>
      <vt:lpstr>Listbox控件的常用属性和方法(一)</vt:lpstr>
      <vt:lpstr>Listbox控件的常用属性和方法(二)</vt:lpstr>
      <vt:lpstr>列表框的功能演示的两个示例</vt:lpstr>
      <vt:lpstr>13.2.7 滚动条和刻度条</vt:lpstr>
      <vt:lpstr>13.2.7 滚动条和刻度条</vt:lpstr>
      <vt:lpstr>Scale控件的常用属性</vt:lpstr>
      <vt:lpstr>滚动条和刻度条的示例</vt:lpstr>
      <vt:lpstr>13.2.8 框架</vt:lpstr>
      <vt:lpstr>13.2.8 框架</vt:lpstr>
      <vt:lpstr>框架的示例</vt:lpstr>
      <vt:lpstr>13.2.9 菜单</vt:lpstr>
      <vt:lpstr>菜单创建步骤和格式</vt:lpstr>
      <vt:lpstr>菜单创建步骤和格式</vt:lpstr>
      <vt:lpstr>菜单创建步骤和格式</vt:lpstr>
      <vt:lpstr>菜单创建步骤和格式</vt:lpstr>
      <vt:lpstr>菜单控件的常用方法</vt:lpstr>
      <vt:lpstr>上下文菜单 </vt:lpstr>
      <vt:lpstr>【例13-18】增加上下文菜单，并修改“菜单一”。</vt:lpstr>
      <vt:lpstr>13.2.10 ttk子模块</vt:lpstr>
      <vt:lpstr>13.3 对话框</vt:lpstr>
      <vt:lpstr>13.3.1 弹出消息框</vt:lpstr>
      <vt:lpstr>消息框分类</vt:lpstr>
      <vt:lpstr>提示消息框</vt:lpstr>
      <vt:lpstr>提示消息框</vt:lpstr>
      <vt:lpstr>疑问消息框</vt:lpstr>
      <vt:lpstr>疑问消息框</vt:lpstr>
      <vt:lpstr>13.3.2 文件选择对话框</vt:lpstr>
      <vt:lpstr>13.3.3 颜色选择对话框</vt:lpstr>
      <vt:lpstr>13.3.4 自定义对话框 </vt:lpstr>
      <vt:lpstr>13.4 布局管理器</vt:lpstr>
      <vt:lpstr>布局管理器</vt:lpstr>
      <vt:lpstr>13.4.1 tkinter模块绘图坐标系</vt:lpstr>
      <vt:lpstr>13.4.2 pack布局管理器</vt:lpstr>
      <vt:lpstr>pack方法的常用选项</vt:lpstr>
      <vt:lpstr>13.4.3 grid布局管理器 </vt:lpstr>
      <vt:lpstr>grid方法的常用选项</vt:lpstr>
      <vt:lpstr>13.4.4 place布局管理器</vt:lpstr>
      <vt:lpstr>place方法的常用选项</vt:lpstr>
      <vt:lpstr>13.5 事件处理</vt:lpstr>
      <vt:lpstr>13.5.1 tkinter的事件处理机制</vt:lpstr>
      <vt:lpstr>13.5.1 tkinter的事件处理机制</vt:lpstr>
      <vt:lpstr>tkinter的事件处理过程</vt:lpstr>
      <vt:lpstr>13.5.2 event类</vt:lpstr>
      <vt:lpstr>event类的常用属性</vt:lpstr>
      <vt:lpstr>13.5.3 事件描述</vt:lpstr>
      <vt:lpstr>事件描述符——格式2</vt:lpstr>
      <vt:lpstr>事件描述符的常用表述方式</vt:lpstr>
      <vt:lpstr>13.5.4 用bind方法进行事件绑定</vt:lpstr>
      <vt:lpstr>13.5.4 用bind方法进行事件绑定</vt:lpstr>
      <vt:lpstr>13.5.4 用bind方法进行事件绑定</vt:lpstr>
      <vt:lpstr>13.6 图形用户界面应用举例</vt:lpstr>
      <vt:lpstr>【例13-24】简单计算器</vt:lpstr>
      <vt:lpstr>本章习题  P</vt:lpstr>
      <vt:lpstr>课后作业</vt:lpstr>
      <vt:lpstr>PowerPoint 演示文稿</vt:lpstr>
      <vt:lpstr>谢谢观赏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当图网</dc:title>
  <dc:creator>钱毅湘</dc:creator>
  <cp:lastModifiedBy>Ge Julia</cp:lastModifiedBy>
  <cp:revision>163</cp:revision>
  <dcterms:created xsi:type="dcterms:W3CDTF">2018-10-09T06:59:00Z</dcterms:created>
  <dcterms:modified xsi:type="dcterms:W3CDTF">2021-03-16T05:05:36Z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2052-11.1.0.9175</vt:lpwstr>
  </property>
</Properties>
</file>