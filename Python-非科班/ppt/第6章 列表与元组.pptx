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2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tags/tag99.xml" ContentType="application/vnd.openxmlformats-officedocument.presentationml.tags+xml"/>
  <Override PartName="/ppt/notesSlides/notesSlide2.xml" ContentType="application/vnd.openxmlformats-officedocument.presentationml.notesSlide+xml"/>
  <Override PartName="/ppt/tags/tag100.xml" ContentType="application/vnd.openxmlformats-officedocument.presentationml.tags+xml"/>
  <Override PartName="/ppt/notesSlides/notesSlide3.xml" ContentType="application/vnd.openxmlformats-officedocument.presentationml.notesSlide+xml"/>
  <Override PartName="/ppt/tags/tag10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1" r:id="rId1"/>
  </p:sldMasterIdLst>
  <p:notesMasterIdLst>
    <p:notesMasterId r:id="rId101"/>
  </p:notesMasterIdLst>
  <p:sldIdLst>
    <p:sldId id="582" r:id="rId2"/>
    <p:sldId id="485" r:id="rId3"/>
    <p:sldId id="483" r:id="rId4"/>
    <p:sldId id="498" r:id="rId5"/>
    <p:sldId id="499" r:id="rId6"/>
    <p:sldId id="488" r:id="rId7"/>
    <p:sldId id="583" r:id="rId8"/>
    <p:sldId id="500" r:id="rId9"/>
    <p:sldId id="584" r:id="rId10"/>
    <p:sldId id="501" r:id="rId11"/>
    <p:sldId id="503" r:id="rId12"/>
    <p:sldId id="502" r:id="rId13"/>
    <p:sldId id="504" r:id="rId14"/>
    <p:sldId id="585" r:id="rId15"/>
    <p:sldId id="505" r:id="rId16"/>
    <p:sldId id="506" r:id="rId17"/>
    <p:sldId id="587" r:id="rId18"/>
    <p:sldId id="507" r:id="rId19"/>
    <p:sldId id="588" r:id="rId20"/>
    <p:sldId id="508" r:id="rId21"/>
    <p:sldId id="613" r:id="rId22"/>
    <p:sldId id="589" r:id="rId23"/>
    <p:sldId id="615" r:id="rId24"/>
    <p:sldId id="614" r:id="rId25"/>
    <p:sldId id="590" r:id="rId26"/>
    <p:sldId id="592" r:id="rId27"/>
    <p:sldId id="591" r:id="rId28"/>
    <p:sldId id="593" r:id="rId29"/>
    <p:sldId id="594" r:id="rId30"/>
    <p:sldId id="616" r:id="rId31"/>
    <p:sldId id="595" r:id="rId32"/>
    <p:sldId id="628" r:id="rId33"/>
    <p:sldId id="621" r:id="rId34"/>
    <p:sldId id="596" r:id="rId35"/>
    <p:sldId id="511" r:id="rId36"/>
    <p:sldId id="512" r:id="rId37"/>
    <p:sldId id="513" r:id="rId38"/>
    <p:sldId id="618" r:id="rId39"/>
    <p:sldId id="629" r:id="rId40"/>
    <p:sldId id="515" r:id="rId41"/>
    <p:sldId id="597" r:id="rId42"/>
    <p:sldId id="630" r:id="rId43"/>
    <p:sldId id="617" r:id="rId44"/>
    <p:sldId id="619" r:id="rId45"/>
    <p:sldId id="514" r:id="rId46"/>
    <p:sldId id="598" r:id="rId47"/>
    <p:sldId id="599" r:id="rId48"/>
    <p:sldId id="489" r:id="rId49"/>
    <p:sldId id="516" r:id="rId50"/>
    <p:sldId id="600" r:id="rId51"/>
    <p:sldId id="517" r:id="rId52"/>
    <p:sldId id="518" r:id="rId53"/>
    <p:sldId id="519" r:id="rId54"/>
    <p:sldId id="601" r:id="rId55"/>
    <p:sldId id="520" r:id="rId56"/>
    <p:sldId id="620" r:id="rId57"/>
    <p:sldId id="521" r:id="rId58"/>
    <p:sldId id="522" r:id="rId59"/>
    <p:sldId id="523" r:id="rId60"/>
    <p:sldId id="604" r:id="rId61"/>
    <p:sldId id="524" r:id="rId62"/>
    <p:sldId id="602" r:id="rId63"/>
    <p:sldId id="525" r:id="rId64"/>
    <p:sldId id="490" r:id="rId65"/>
    <p:sldId id="526" r:id="rId66"/>
    <p:sldId id="527" r:id="rId67"/>
    <p:sldId id="528" r:id="rId68"/>
    <p:sldId id="529" r:id="rId69"/>
    <p:sldId id="538" r:id="rId70"/>
    <p:sldId id="541" r:id="rId71"/>
    <p:sldId id="543" r:id="rId72"/>
    <p:sldId id="540" r:id="rId73"/>
    <p:sldId id="539" r:id="rId74"/>
    <p:sldId id="530" r:id="rId75"/>
    <p:sldId id="531" r:id="rId76"/>
    <p:sldId id="603" r:id="rId77"/>
    <p:sldId id="532" r:id="rId78"/>
    <p:sldId id="533" r:id="rId79"/>
    <p:sldId id="536" r:id="rId80"/>
    <p:sldId id="537" r:id="rId81"/>
    <p:sldId id="534" r:id="rId82"/>
    <p:sldId id="535" r:id="rId83"/>
    <p:sldId id="622" r:id="rId84"/>
    <p:sldId id="623" r:id="rId85"/>
    <p:sldId id="577" r:id="rId86"/>
    <p:sldId id="573" r:id="rId87"/>
    <p:sldId id="578" r:id="rId88"/>
    <p:sldId id="605" r:id="rId89"/>
    <p:sldId id="624" r:id="rId90"/>
    <p:sldId id="606" r:id="rId91"/>
    <p:sldId id="612" r:id="rId92"/>
    <p:sldId id="608" r:id="rId93"/>
    <p:sldId id="609" r:id="rId94"/>
    <p:sldId id="625" r:id="rId95"/>
    <p:sldId id="610" r:id="rId96"/>
    <p:sldId id="626" r:id="rId97"/>
    <p:sldId id="611" r:id="rId98"/>
    <p:sldId id="627" r:id="rId99"/>
    <p:sldId id="497" r:id="rId100"/>
  </p:sldIdLst>
  <p:sldSz cx="12192000" cy="6858000"/>
  <p:notesSz cx="6858000" cy="9144000"/>
  <p:custDataLst>
    <p:tags r:id="rId10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="" xmlns:wppc="http://www.wps.cn/officeDocument/PresentationCustomData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620" autoAdjust="0"/>
  </p:normalViewPr>
  <p:slideViewPr>
    <p:cSldViewPr showGuides="1">
      <p:cViewPr varScale="1">
        <p:scale>
          <a:sx n="78" d="100"/>
          <a:sy n="78" d="100"/>
        </p:scale>
        <p:origin x="662" y="47"/>
      </p:cViewPr>
      <p:guideLst>
        <p:guide orient="horz" pos="216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gs" Target="tags/tag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5911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64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9012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4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3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3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2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5.pn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7.png"/><Relationship Id="rId5" Type="http://schemas.openxmlformats.org/officeDocument/2006/relationships/tags" Target="../tags/tag27.xml"/><Relationship Id="rId10" Type="http://schemas.openxmlformats.org/officeDocument/2006/relationships/image" Target="../media/image6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2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9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0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8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8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1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2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4.png"/><Relationship Id="rId5" Type="http://schemas.openxmlformats.org/officeDocument/2006/relationships/tags" Target="../tags/tag93.xml"/><Relationship Id="rId10" Type="http://schemas.openxmlformats.org/officeDocument/2006/relationships/image" Target="../media/image13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E8463F6-D119-4C1A-88F4-ED8B27699F0D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135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80E9-689E-4E71-8A27-2C41BAF4D5AD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6360" y="6262242"/>
            <a:ext cx="2743200" cy="365125"/>
          </a:xfrm>
        </p:spPr>
        <p:txBody>
          <a:bodyPr/>
          <a:lstStyle>
            <a:lvl1pPr>
              <a:defRPr sz="2800" b="1"/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764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CCC6D36-4F4B-44E3-99BA-71505E056033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069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FC8E-6511-4B03-B536-F8D5CC2814E7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56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1016-B5FD-4B9B-8D29-B3440921A408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60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83C-26AA-4217-AE1F-80CBCD58CF02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22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D21-F611-49A5-B4BF-E0A6E5414EE9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481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EF76-1FEE-467C-A3A5-A44942D0A70D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50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0A546-B39D-494D-A69F-36B4ABD916D6}" type="datetime1">
              <a:rPr lang="zh-CN" altLang="en-US" smtClean="0"/>
              <a:t>2023/3/27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27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287B-7C0E-4216-ABB9-BB4C8F387972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551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2D01B77-1944-4112-93E6-436D9CE6A261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0792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8A823-E402-48FA-9D2D-AA29B9660419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8349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9548B8-C147-4F6C-8EF5-DE434F6FDF07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2125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BA76-7495-49AB-89DD-21C85EC23F51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2295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2CE0-DD7E-4B50-BB71-618E39EE605C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103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AF83-2D2A-4ED7-8CC2-AA4E827B5570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58260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E3FC963-E2B8-44BB-8E38-7C2F6A9631AE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253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29D593B4-F2F9-4C56-8FA0-A862F1752450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5400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3298892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4DA1B-22C5-4C9A-8DA6-FF224CC8A9A4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10713835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27544BDE-A6E8-4187-A624-7F163245F186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A2C1FE7-A765-408B-A7A2-48DFC82DB912}" type="datetime1">
              <a:rPr lang="zh-CN" altLang="en-US" smtClean="0"/>
              <a:t>2023/3/27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D5782964-18F8-4279-8A9B-DC85CD7857C7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13BB559D-2DC1-43F7-836B-BB3443E1738C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E4801540-0002-45D7-A0B6-3B4EEAD37D44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29F7419A-BFC7-4FB3-9D98-6823A2B943ED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C99A7588-1EA6-41D0-A6CA-3CC6E153D8E4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B9E27C0-72E6-41D8-B26F-F582B9320BAC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A996262C-907E-4A16-8DA4-48B342A3C552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E26B10B9-34C0-4540-B8C4-EDA276700D4A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265D-5658-49D5-8AD3-3E310F5A68E4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60DD4-1614-4DB3-B064-0C4D1EE22569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ECB-4C81-47A1-B3D2-73A4B4B75A68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A7522-23DA-4666-8263-53D3049EC247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769-3FD4-4216-A2CE-E35B9FF5B51F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E6B2-9B83-4A3B-9518-3E02311D2F23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3AD4-9FAC-4927-9069-3A7E7E663F65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AFD5-75DA-418A-A000-43FD8DA65185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336" y="136525"/>
            <a:ext cx="8643664" cy="988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189" y="1268760"/>
            <a:ext cx="11386864" cy="4849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 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12F1811-E979-4CA5-B6AA-EEC3907B68E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2023/3/27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033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08" r:id="rId20"/>
    <p:sldLayoutId id="2147483712" r:id="rId21"/>
    <p:sldLayoutId id="2147483714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66000"/>
        <a:buFont typeface="Wingdings" panose="05000000000000000000" pitchFamily="2" charset="2"/>
        <a:buChar char="p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Relationship Id="rId6" Type="http://schemas.openxmlformats.org/officeDocument/2006/relationships/slide" Target="slide64.xml"/><Relationship Id="rId5" Type="http://schemas.openxmlformats.org/officeDocument/2006/relationships/slide" Target="slide48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4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6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列表与元组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6.1 </a:t>
            </a:r>
            <a:r>
              <a:rPr sz="3200" dirty="0">
                <a:hlinkClick r:id="rId3" action="ppaction://hlinksldjump"/>
              </a:rPr>
              <a:t>序列</a:t>
            </a:r>
            <a:endParaRPr lang="zh-CN" altLang="en-US" sz="3200" dirty="0"/>
          </a:p>
          <a:p>
            <a:r>
              <a:rPr lang="en-US" altLang="zh-CN" sz="3200" dirty="0"/>
              <a:t>6.2 </a:t>
            </a:r>
            <a:r>
              <a:rPr sz="3200" dirty="0">
                <a:hlinkClick r:id="rId4" action="ppaction://hlinksldjump"/>
              </a:rPr>
              <a:t>列表</a:t>
            </a:r>
            <a:endParaRPr lang="zh-CN" altLang="en-US" sz="3200" dirty="0"/>
          </a:p>
          <a:p>
            <a:r>
              <a:rPr lang="en-US" altLang="zh-CN" sz="3200" dirty="0"/>
              <a:t>6.3 </a:t>
            </a:r>
            <a:r>
              <a:rPr sz="3200" dirty="0">
                <a:hlinkClick r:id="rId5" action="ppaction://hlinksldjump"/>
              </a:rPr>
              <a:t>元组</a:t>
            </a:r>
            <a:endParaRPr lang="zh-CN" altLang="en-US" sz="3200" dirty="0"/>
          </a:p>
          <a:p>
            <a:r>
              <a:rPr lang="en-US" altLang="zh-CN" sz="3200" dirty="0"/>
              <a:t>6.4 </a:t>
            </a:r>
            <a:r>
              <a:rPr sz="3200" dirty="0">
                <a:hlinkClick r:id="rId6" action="ppaction://hlinksldjump"/>
              </a:rPr>
              <a:t>应用举例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C29D9C4-F9AA-4677-9E99-882D2757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1276350"/>
          </a:xfrm>
        </p:spPr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6.1 </a:t>
            </a:r>
            <a:r>
              <a:rPr lang="zh-CN" altLang="en-US" dirty="0">
                <a:latin typeface="+mj-lt"/>
                <a:ea typeface="+mj-ea"/>
                <a:sym typeface="+mn-ea"/>
              </a:rPr>
              <a:t>序列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6F32DEF-4C8A-45E0-A5BA-CA314376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什么是序列？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610651" cy="1980823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3200" dirty="0"/>
              <a:t>序列是</a:t>
            </a:r>
            <a:r>
              <a:rPr lang="en-US" altLang="zh-CN" sz="3200" dirty="0"/>
              <a:t>python</a:t>
            </a:r>
            <a:r>
              <a:rPr lang="zh-CN" altLang="en-US" sz="3200" dirty="0"/>
              <a:t>提供的内置的重要数据结构，其元素按照顺序排列，通过索引（下标）访问。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“容器”</a:t>
            </a:r>
            <a:endParaRPr lang="en-US" altLang="zh-CN" sz="3200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613952" y="3846363"/>
            <a:ext cx="10852150" cy="71691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/>
              <a:t>为什么要使用序列？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835333" y="4653136"/>
            <a:ext cx="7586315" cy="108012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3200" dirty="0"/>
              <a:t>可提高程序开发效率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34E7A-450C-4843-84AF-CC4494F5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9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序列</a:t>
            </a:r>
            <a:r>
              <a:rPr lang="zh-CN" altLang="en-US" dirty="0"/>
              <a:t>分类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E8CD829-D93E-4B9A-B542-3E6EE5DC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2F01A14-11DE-4240-B0C7-8EA578264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077" y="136525"/>
            <a:ext cx="7497339" cy="6561632"/>
          </a:xfrm>
        </p:spPr>
      </p:pic>
    </p:spTree>
    <p:extLst>
      <p:ext uri="{BB962C8B-B14F-4D97-AF65-F5344CB8AC3E}">
        <p14:creationId xmlns:p14="http://schemas.microsoft.com/office/powerpoint/2010/main" val="81150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6.2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列表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71AA6E-CE7B-4CC2-9590-31362996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BC305-7A1B-4E82-B98D-89A10F0FA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什么是列表</a:t>
            </a:r>
            <a:r>
              <a:rPr lang="en-US" altLang="zh-CN" dirty="0"/>
              <a:t>(list)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26A40-AE37-422C-88EB-5D4F27479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有序的数据集合</a:t>
            </a:r>
            <a:endParaRPr lang="en-US" altLang="zh-CN" dirty="0"/>
          </a:p>
          <a:p>
            <a:r>
              <a:rPr lang="zh-CN" altLang="en-US" dirty="0"/>
              <a:t>用方括弧</a:t>
            </a:r>
            <a:r>
              <a:rPr lang="en-US" altLang="zh-CN" dirty="0"/>
              <a:t>[ ]</a:t>
            </a:r>
            <a:r>
              <a:rPr lang="zh-CN" altLang="en-US" dirty="0"/>
              <a:t>引起</a:t>
            </a:r>
            <a:endParaRPr lang="en-US" altLang="zh-CN" dirty="0"/>
          </a:p>
          <a:p>
            <a:r>
              <a:rPr lang="zh-CN" altLang="en-US" dirty="0"/>
              <a:t>列表的内容可以修改</a:t>
            </a:r>
            <a:endParaRPr lang="en-US" altLang="zh-CN" dirty="0"/>
          </a:p>
          <a:p>
            <a:r>
              <a:rPr lang="zh-CN" altLang="en-US" dirty="0"/>
              <a:t>元素是有序的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679C99-75E9-48F1-A7BC-CB0EF0BF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643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．</a:t>
            </a:r>
            <a:r>
              <a:rPr lang="zh-CN" altLang="zh-CN" b="1" dirty="0"/>
              <a:t>列表的创建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9170491" cy="2412871"/>
          </a:xfrm>
        </p:spPr>
        <p:txBody>
          <a:bodyPr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种</a:t>
            </a:r>
            <a:r>
              <a:rPr lang="zh-CN" altLang="zh-CN" dirty="0"/>
              <a:t>：列表名 </a:t>
            </a:r>
            <a:r>
              <a:rPr lang="en-US" altLang="zh-CN" dirty="0"/>
              <a:t>= [</a:t>
            </a:r>
            <a:r>
              <a:rPr lang="zh-CN" altLang="zh-CN" dirty="0"/>
              <a:t>元素</a:t>
            </a:r>
            <a:r>
              <a:rPr lang="en-US" altLang="zh-CN" dirty="0"/>
              <a:t>1, </a:t>
            </a:r>
            <a:r>
              <a:rPr lang="zh-CN" altLang="zh-CN" dirty="0"/>
              <a:t>元素</a:t>
            </a:r>
            <a:r>
              <a:rPr lang="en-US" altLang="zh-CN" dirty="0"/>
              <a:t>2, </a:t>
            </a:r>
            <a:r>
              <a:rPr lang="zh-CN" altLang="zh-CN" dirty="0"/>
              <a:t>…</a:t>
            </a:r>
            <a:r>
              <a:rPr lang="en-US" altLang="zh-CN" dirty="0"/>
              <a:t>, </a:t>
            </a:r>
            <a:r>
              <a:rPr lang="zh-CN" altLang="zh-CN" dirty="0"/>
              <a:t>元素</a:t>
            </a:r>
            <a:r>
              <a:rPr lang="en-US" altLang="zh-CN" dirty="0"/>
              <a:t>n]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69925" y="3284984"/>
            <a:ext cx="10852150" cy="224676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 list1 = []             	# 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创建空列表</a:t>
            </a:r>
          </a:p>
          <a:p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 list2 = [1, 2, 3, 4, 5]</a:t>
            </a:r>
          </a:p>
          <a:p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 list3 = ["a", "b", "c"]</a:t>
            </a:r>
          </a:p>
          <a:p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 list4 = [1, "a",3.14,3-4j,[0,1]]</a:t>
            </a:r>
            <a:endParaRPr lang="zh-CN" altLang="zh-CN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 list5 = list()         	#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list()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创建空列表</a:t>
            </a:r>
            <a:endParaRPr lang="en-US" altLang="zh-CN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82ABA7-38F1-44E7-B648-D690E6AE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901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FA486-C0AC-4AB1-83B4-B1FD359E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1CE620-8AFF-4867-B657-07F90B9A0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89" y="1268760"/>
            <a:ext cx="8163051" cy="48494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sz="4100" dirty="0"/>
              <a:t>第</a:t>
            </a:r>
            <a:r>
              <a:rPr lang="en-US" altLang="zh-CN" sz="4100" dirty="0"/>
              <a:t>2</a:t>
            </a:r>
            <a:r>
              <a:rPr lang="zh-CN" altLang="en-US" sz="4100" dirty="0"/>
              <a:t>种</a:t>
            </a:r>
            <a:r>
              <a:rPr lang="zh-CN" altLang="zh-CN" sz="4100" dirty="0"/>
              <a:t>：列表名 </a:t>
            </a:r>
            <a:r>
              <a:rPr lang="en-US" altLang="zh-CN" sz="4100" dirty="0"/>
              <a:t>= list(tuple/range…)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a = (1,2) 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b = {"1":2,"3":3}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c = {1,2,3} 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d = range(2,10,2) 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e = </a:t>
            </a:r>
            <a:r>
              <a:rPr lang="en-US" altLang="zh-CN" sz="2800" dirty="0"/>
              <a:t>‘hello’</a:t>
            </a:r>
            <a:endParaRPr lang="en-US" altLang="zh-CN" sz="2800" dirty="0">
              <a:effectLst/>
            </a:endParaRP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print(list(a)) 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print(list(b))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print(list(c)) 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print(list(d))</a:t>
            </a:r>
          </a:p>
          <a:p>
            <a:pPr marL="0" indent="0">
              <a:buNone/>
            </a:pPr>
            <a:r>
              <a:rPr lang="en-US" altLang="zh-CN" sz="2800" dirty="0"/>
              <a:t>Print(list(e))</a:t>
            </a: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4397D7-AD56-4BE9-9836-128FFDD5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754B8F-C44F-465E-90BE-E9C0BB7DB79F}"/>
              </a:ext>
            </a:extLst>
          </p:cNvPr>
          <p:cNvSpPr txBox="1"/>
          <p:nvPr/>
        </p:nvSpPr>
        <p:spPr>
          <a:xfrm>
            <a:off x="4727848" y="2204864"/>
            <a:ext cx="43204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运行结果：</a:t>
            </a:r>
            <a:endParaRPr lang="en-US" altLang="zh-CN" sz="2800" dirty="0"/>
          </a:p>
          <a:p>
            <a:r>
              <a:rPr lang="en-US" altLang="zh-CN" sz="2800" dirty="0">
                <a:effectLst/>
              </a:rPr>
              <a:t>[1, 2]</a:t>
            </a:r>
          </a:p>
          <a:p>
            <a:r>
              <a:rPr lang="en-US" altLang="zh-CN" sz="2800" dirty="0">
                <a:effectLst/>
              </a:rPr>
              <a:t>['1', '3’]</a:t>
            </a:r>
          </a:p>
          <a:p>
            <a:r>
              <a:rPr lang="en-US" altLang="zh-CN" sz="2800" dirty="0">
                <a:effectLst/>
              </a:rPr>
              <a:t>[1, 2, 3] </a:t>
            </a:r>
          </a:p>
          <a:p>
            <a:r>
              <a:rPr lang="en-US" altLang="zh-CN" sz="2800" dirty="0">
                <a:effectLst/>
              </a:rPr>
              <a:t>[2, 4, 6, 8] </a:t>
            </a:r>
          </a:p>
          <a:p>
            <a:r>
              <a:rPr lang="it-IT" altLang="zh-CN" sz="2800" dirty="0"/>
              <a:t>['h', 'e', 'l', 'l', 'o']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547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548680"/>
            <a:ext cx="10852150" cy="792088"/>
          </a:xfrm>
        </p:spPr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．列表元素的引用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12776"/>
            <a:ext cx="10852150" cy="4928334"/>
          </a:xfrm>
        </p:spPr>
        <p:txBody>
          <a:bodyPr>
            <a:normAutofit/>
          </a:bodyPr>
          <a:lstStyle/>
          <a:p>
            <a:r>
              <a:rPr lang="zh-CN" altLang="en-US" dirty="0"/>
              <a:t>格式：列表名</a:t>
            </a:r>
            <a:r>
              <a:rPr lang="en-US" altLang="zh-CN" dirty="0"/>
              <a:t>[</a:t>
            </a:r>
            <a:r>
              <a:rPr lang="zh-CN" altLang="en-US" dirty="0"/>
              <a:t>下标</a:t>
            </a:r>
            <a:r>
              <a:rPr lang="en-US" altLang="zh-CN" dirty="0"/>
              <a:t>]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zh-CN" dirty="0"/>
              <a:t>正向下标</a:t>
            </a:r>
            <a:r>
              <a:rPr lang="zh-CN" altLang="en-US" dirty="0"/>
              <a:t>：</a:t>
            </a:r>
            <a:r>
              <a:rPr lang="en-US" altLang="zh-CN" dirty="0"/>
              <a:t>a[0],a[1],a[2],…</a:t>
            </a:r>
          </a:p>
          <a:p>
            <a:r>
              <a:rPr lang="zh-CN" altLang="zh-CN" dirty="0"/>
              <a:t>反向</a:t>
            </a:r>
            <a:r>
              <a:rPr lang="zh-CN" altLang="en-US" dirty="0"/>
              <a:t>下标：</a:t>
            </a:r>
            <a:r>
              <a:rPr lang="en-US" altLang="zh-CN" dirty="0"/>
              <a:t>…, a[-3],a[-2],a[-1]</a:t>
            </a:r>
          </a:p>
          <a:p>
            <a:r>
              <a:rPr lang="zh-CN" altLang="en-US" dirty="0"/>
              <a:t>引用的</a:t>
            </a:r>
            <a:r>
              <a:rPr lang="zh-CN" altLang="zh-CN" dirty="0"/>
              <a:t>下标不能越界</a:t>
            </a:r>
            <a:r>
              <a:rPr lang="zh-CN" altLang="en-US" dirty="0"/>
              <a:t>，否则出错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9D4400-284D-485B-8793-9AE779B3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403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9376" y="404664"/>
            <a:ext cx="10297144" cy="569386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举例：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 = [1, 2, 3, 4, 5]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list1[0]      # </a:t>
            </a:r>
            <a:r>
              <a:rPr lang="zh-CN" altLang="en-US" sz="2800" b="1" dirty="0">
                <a:solidFill>
                  <a:schemeClr val="tx1"/>
                </a:solidFill>
              </a:rPr>
              <a:t>引用下标为</a:t>
            </a:r>
            <a:r>
              <a:rPr lang="en-US" altLang="zh-CN" sz="2800" b="1" dirty="0">
                <a:solidFill>
                  <a:schemeClr val="tx1"/>
                </a:solidFill>
              </a:rPr>
              <a:t>0</a:t>
            </a:r>
            <a:r>
              <a:rPr lang="zh-CN" altLang="en-US" sz="2800" b="1" dirty="0">
                <a:solidFill>
                  <a:schemeClr val="tx1"/>
                </a:solidFill>
              </a:rPr>
              <a:t>的元素，即</a:t>
            </a:r>
            <a:r>
              <a:rPr lang="en-US" altLang="zh-CN" sz="2800" b="1" dirty="0">
                <a:solidFill>
                  <a:schemeClr val="tx1"/>
                </a:solidFill>
              </a:rPr>
              <a:t>list1</a:t>
            </a:r>
            <a:r>
              <a:rPr lang="zh-CN" altLang="en-US" sz="2800" b="1" dirty="0">
                <a:solidFill>
                  <a:schemeClr val="tx1"/>
                </a:solidFill>
              </a:rPr>
              <a:t>的第一个元素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list1[2]      # </a:t>
            </a:r>
            <a:r>
              <a:rPr lang="zh-CN" altLang="en-US" sz="2800" b="1" dirty="0">
                <a:solidFill>
                  <a:schemeClr val="tx1"/>
                </a:solidFill>
              </a:rPr>
              <a:t>引用下标为</a:t>
            </a: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</a:rPr>
              <a:t>的元素，即</a:t>
            </a:r>
            <a:r>
              <a:rPr lang="en-US" altLang="zh-CN" sz="2800" b="1" dirty="0">
                <a:solidFill>
                  <a:schemeClr val="tx1"/>
                </a:solidFill>
              </a:rPr>
              <a:t>list1</a:t>
            </a:r>
            <a:r>
              <a:rPr lang="zh-CN" altLang="en-US" sz="2800" b="1" dirty="0">
                <a:solidFill>
                  <a:schemeClr val="tx1"/>
                </a:solidFill>
              </a:rPr>
              <a:t>的第三个元素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3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list1[-1]     # </a:t>
            </a:r>
            <a:r>
              <a:rPr lang="zh-CN" altLang="zh-CN" sz="2800" b="1" dirty="0">
                <a:solidFill>
                  <a:schemeClr val="tx1"/>
                </a:solidFill>
              </a:rPr>
              <a:t>反向引用，</a:t>
            </a:r>
            <a:r>
              <a:rPr lang="en-US" altLang="zh-CN" sz="2800" b="1" dirty="0">
                <a:solidFill>
                  <a:schemeClr val="tx1"/>
                </a:solidFill>
              </a:rPr>
              <a:t>-1</a:t>
            </a:r>
            <a:r>
              <a:rPr lang="zh-CN" altLang="en-US" sz="2800" b="1" dirty="0">
                <a:solidFill>
                  <a:schemeClr val="tx1"/>
                </a:solidFill>
              </a:rPr>
              <a:t>为</a:t>
            </a:r>
            <a:r>
              <a:rPr lang="zh-CN" altLang="zh-CN" sz="2800" b="1" dirty="0">
                <a:solidFill>
                  <a:schemeClr val="tx1"/>
                </a:solidFill>
              </a:rPr>
              <a:t>最后一个元素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5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list2 = [1, 'a', 3.5, ["hello", "world"]]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list2[1]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‘a’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&gt;&gt;&gt;list2[-1]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["hello", "world"]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D12294-B9E3-4E59-A30D-10DF4AC5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3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zh-CN" dirty="0"/>
              <a:t>3</a:t>
            </a:r>
            <a:r>
              <a:rPr lang="zh-CN" altLang="en-US" dirty="0"/>
              <a:t>．列表的删除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del </a:t>
            </a:r>
            <a:r>
              <a:rPr lang="zh-CN" altLang="zh-CN" dirty="0"/>
              <a:t>列表名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1384" y="2060848"/>
            <a:ext cx="9505056" cy="381642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举例：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 = [1, 2]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del list1             # </a:t>
            </a:r>
            <a:r>
              <a:rPr lang="zh-CN" altLang="zh-CN" sz="2800" b="1" dirty="0">
                <a:solidFill>
                  <a:schemeClr val="tx1"/>
                </a:solidFill>
              </a:rPr>
              <a:t>删除列表</a:t>
            </a:r>
            <a:r>
              <a:rPr lang="en-US" altLang="zh-CN" sz="2800" b="1" dirty="0">
                <a:solidFill>
                  <a:schemeClr val="tx1"/>
                </a:solidFill>
              </a:rPr>
              <a:t>list1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                   # list1</a:t>
            </a:r>
            <a:r>
              <a:rPr lang="zh-CN" altLang="zh-CN" sz="2800" b="1" dirty="0">
                <a:solidFill>
                  <a:schemeClr val="tx1"/>
                </a:solidFill>
              </a:rPr>
              <a:t>已被删除，访问时会抛出异常</a:t>
            </a: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800" b="1" dirty="0">
                <a:solidFill>
                  <a:schemeClr val="tx1"/>
                </a:solidFill>
              </a:rPr>
              <a:t> (most recent call last):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File "&lt;pyshell#6&gt;", line 1, in &lt;module&gt;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List1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NameError</a:t>
            </a:r>
            <a:r>
              <a:rPr lang="en-US" altLang="zh-CN" sz="2800" b="1" dirty="0">
                <a:solidFill>
                  <a:schemeClr val="tx1"/>
                </a:solidFill>
              </a:rPr>
              <a:t>: name 'list1' is not defined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6478F5-FB8F-49A0-98D1-321B2806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734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6.2.2 </a:t>
            </a:r>
            <a:r>
              <a:rPr lang="zh-CN" altLang="en-US" dirty="0"/>
              <a:t>运算符对列表的操作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40768"/>
            <a:ext cx="6552728" cy="388843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zh-CN" dirty="0"/>
              <a:t>列表的运算符</a:t>
            </a:r>
            <a:r>
              <a:rPr lang="en-US" altLang="zh-CN" dirty="0"/>
              <a:t>:</a:t>
            </a:r>
          </a:p>
          <a:p>
            <a:pPr marL="0" lvl="0" indent="0">
              <a:buNone/>
            </a:pPr>
            <a:r>
              <a:rPr lang="en-US" altLang="zh-CN" dirty="0"/>
              <a:t>+</a:t>
            </a:r>
            <a:r>
              <a:rPr lang="zh-CN" altLang="zh-CN" dirty="0"/>
              <a:t>、</a:t>
            </a:r>
            <a:r>
              <a:rPr lang="en-US" altLang="zh-CN" dirty="0"/>
              <a:t>+= </a:t>
            </a:r>
            <a:r>
              <a:rPr lang="zh-CN" altLang="en-US" dirty="0"/>
              <a:t>增加元素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*</a:t>
            </a:r>
            <a:r>
              <a:rPr lang="zh-CN" altLang="zh-CN" dirty="0"/>
              <a:t>、</a:t>
            </a:r>
            <a:r>
              <a:rPr lang="en-US" altLang="zh-CN" dirty="0"/>
              <a:t>*= </a:t>
            </a:r>
            <a:r>
              <a:rPr lang="zh-CN" altLang="en-US" dirty="0"/>
              <a:t>列表元素重复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In	  </a:t>
            </a:r>
            <a:r>
              <a:rPr lang="zh-CN" altLang="en-US" dirty="0"/>
              <a:t>是否成员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&lt;</a:t>
            </a:r>
            <a:r>
              <a:rPr lang="zh-CN" altLang="zh-CN" dirty="0"/>
              <a:t>、</a:t>
            </a:r>
            <a:r>
              <a:rPr lang="en-US" altLang="zh-CN" dirty="0"/>
              <a:t>&lt;=</a:t>
            </a:r>
            <a:r>
              <a:rPr lang="zh-CN" altLang="zh-CN" dirty="0"/>
              <a:t>、</a:t>
            </a:r>
            <a:r>
              <a:rPr lang="en-US" altLang="zh-CN" dirty="0"/>
              <a:t>&gt;</a:t>
            </a:r>
            <a:r>
              <a:rPr lang="zh-CN" altLang="zh-CN" dirty="0"/>
              <a:t>、</a:t>
            </a:r>
            <a:r>
              <a:rPr lang="en-US" altLang="zh-CN" dirty="0"/>
              <a:t>&gt;=</a:t>
            </a:r>
            <a:r>
              <a:rPr lang="zh-CN" altLang="zh-CN" dirty="0"/>
              <a:t>、</a:t>
            </a:r>
            <a:r>
              <a:rPr lang="en-US" altLang="zh-CN" dirty="0"/>
              <a:t>==</a:t>
            </a:r>
            <a:r>
              <a:rPr lang="zh-CN" altLang="zh-CN" dirty="0"/>
              <a:t>及</a:t>
            </a:r>
            <a:r>
              <a:rPr lang="en-US" altLang="zh-CN" dirty="0"/>
              <a:t>!=  </a:t>
            </a:r>
            <a:r>
              <a:rPr lang="zh-CN" altLang="en-US" dirty="0"/>
              <a:t>比大小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46106" y="4516958"/>
            <a:ext cx="1132993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150" noProof="1">
                <a:ea typeface="微软雅黑" panose="020B0503020204020204" charset="-122"/>
                <a:sym typeface="+mn-ea"/>
              </a:rPr>
              <a:t>注意：</a:t>
            </a:r>
            <a:endParaRPr lang="en-US" altLang="zh-CN" sz="3200" b="1" spc="150" noProof="1">
              <a:ea typeface="微软雅黑" panose="020B0503020204020204" charset="-122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b="1" spc="150" noProof="1">
                <a:latin typeface="+mj-lt"/>
                <a:sym typeface="+mn-ea"/>
              </a:rPr>
              <a:t>+</a:t>
            </a:r>
            <a:r>
              <a:rPr lang="zh-CN" altLang="en-US" sz="3200" b="1" spc="150" noProof="1">
                <a:latin typeface="+mj-lt"/>
                <a:sym typeface="+mn-ea"/>
              </a:rPr>
              <a:t>和*不属于原地操作，返回一个新的列表，效率低</a:t>
            </a:r>
            <a:endParaRPr lang="en-US" altLang="zh-CN" sz="3200" b="1" spc="150" noProof="1">
              <a:latin typeface="+mj-lt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b="1" spc="150" noProof="1">
                <a:latin typeface="+mj-lt"/>
                <a:sym typeface="+mn-ea"/>
              </a:rPr>
              <a:t>+=</a:t>
            </a:r>
            <a:r>
              <a:rPr lang="zh-CN" altLang="en-US" sz="3200" b="1" spc="150" noProof="1">
                <a:latin typeface="+mj-lt"/>
                <a:sym typeface="+mn-ea"/>
              </a:rPr>
              <a:t>和*</a:t>
            </a:r>
            <a:r>
              <a:rPr lang="en-US" altLang="zh-CN" sz="3200" b="1" spc="150" noProof="1">
                <a:latin typeface="+mj-lt"/>
                <a:sym typeface="+mn-ea"/>
              </a:rPr>
              <a:t>=</a:t>
            </a:r>
            <a:r>
              <a:rPr lang="zh-CN" altLang="en-US" sz="3200" b="1" spc="150" noProof="1">
                <a:latin typeface="+mj-lt"/>
                <a:sym typeface="+mn-ea"/>
              </a:rPr>
              <a:t>属于原地操作，效率较高。</a:t>
            </a:r>
            <a:endParaRPr lang="en-US" altLang="zh-CN" sz="3200" b="1" spc="150" noProof="1">
              <a:latin typeface="+mj-lt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800" b="1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B230DC-FD1E-4DD4-BAA1-8A3FE019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831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3352" y="476672"/>
            <a:ext cx="11521280" cy="6555641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&gt;&gt;&gt; list1 = [1, 2]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list1 = list1 + [3, 4]    # </a:t>
            </a:r>
            <a:r>
              <a:rPr lang="zh-CN" altLang="zh-CN" sz="2800" dirty="0">
                <a:solidFill>
                  <a:schemeClr val="tx1"/>
                </a:solidFill>
              </a:rPr>
              <a:t>连接两个列表，返回新列表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list1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[1, 2, 3, 4]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list1 += [5, 6] 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list1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[1, 2, 3, 4, 5, 6]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list2 = [1, 2, 3]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list2 = list2 * 2          # </a:t>
            </a:r>
            <a:r>
              <a:rPr lang="zh-CN" altLang="zh-CN" sz="2800" dirty="0">
                <a:solidFill>
                  <a:schemeClr val="tx1"/>
                </a:solidFill>
              </a:rPr>
              <a:t>元素重复两次，返回新列表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list2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[1, 2, 3, 1, 2, 3]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list2 *= 2               # </a:t>
            </a:r>
            <a:r>
              <a:rPr lang="zh-CN" altLang="zh-CN" sz="2800" dirty="0">
                <a:solidFill>
                  <a:schemeClr val="tx1"/>
                </a:solidFill>
              </a:rPr>
              <a:t>元素重复，原地操作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list2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[1, 2, 3, 1, 2, 3, 1, 2, 3, 1, 2, 3]</a:t>
            </a:r>
            <a:endParaRPr lang="zh-CN" altLang="en-US" sz="2800" dirty="0">
              <a:solidFill>
                <a:schemeClr val="tx1"/>
              </a:solidFill>
            </a:endParaRPr>
          </a:p>
          <a:p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B230DC-FD1E-4DD4-BAA1-8A3FE019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251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5400" y="616536"/>
            <a:ext cx="4608512" cy="3108543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举例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list3 = [1, 2, 3, 4, 5]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2 in list3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True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2 not in list3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False</a:t>
            </a:r>
            <a:endParaRPr lang="zh-CN" altLang="zh-CN" sz="2800" dirty="0">
              <a:solidFill>
                <a:schemeClr val="tx1"/>
              </a:solidFill>
            </a:endParaRPr>
          </a:p>
          <a:p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79976" y="404665"/>
            <a:ext cx="3816424" cy="606319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举例</a:t>
            </a:r>
            <a:r>
              <a:rPr lang="en-US" altLang="zh-CN" sz="2800" dirty="0">
                <a:solidFill>
                  <a:schemeClr val="tx1"/>
                </a:solidFill>
              </a:rPr>
              <a:t>3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list1 = [1, 2]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list2 = [1, 2]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list3 = [1, 2, 3]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list4 = [3, 2, 1]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list1 &lt; list2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False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list1 &gt;= list2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True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list1 == list2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True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list4 &gt; list3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True</a:t>
            </a:r>
            <a:endParaRPr lang="zh-CN" altLang="zh-CN" sz="2800" dirty="0">
              <a:solidFill>
                <a:schemeClr val="tx1"/>
              </a:solidFill>
            </a:endParaRPr>
          </a:p>
          <a:p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008D88C-CD18-4655-A0BE-245980FE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tx1"/>
                </a:solidFill>
              </a:rPr>
              <a:t>15</a:t>
            </a:fld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216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</a:t>
            </a:r>
            <a:r>
              <a:rPr lang="zh-CN" altLang="en-US" dirty="0"/>
              <a:t>内置函数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002" y="1450331"/>
            <a:ext cx="5906448" cy="4599022"/>
          </a:xfrm>
        </p:spPr>
        <p:txBody>
          <a:bodyPr>
            <a:normAutofit/>
          </a:bodyPr>
          <a:lstStyle/>
          <a:p>
            <a:r>
              <a:rPr lang="en-US" altLang="zh-CN" sz="2800" dirty="0" err="1"/>
              <a:t>len</a:t>
            </a:r>
            <a:r>
              <a:rPr lang="en-US" altLang="zh-CN" sz="2800" dirty="0"/>
              <a:t>()</a:t>
            </a:r>
            <a:r>
              <a:rPr lang="zh-CN" altLang="en-US" sz="2800" dirty="0"/>
              <a:t>：计算列表元素个数</a:t>
            </a:r>
            <a:r>
              <a:rPr lang="en-US" altLang="zh-CN" sz="2800" dirty="0"/>
              <a:t> </a:t>
            </a:r>
          </a:p>
          <a:p>
            <a:endParaRPr lang="en-US" altLang="zh-CN" sz="2800" dirty="0"/>
          </a:p>
          <a:p>
            <a:r>
              <a:rPr lang="en-US" altLang="zh-CN" sz="2800" dirty="0"/>
              <a:t>max()</a:t>
            </a:r>
            <a:r>
              <a:rPr lang="zh-CN" altLang="zh-CN" sz="2800" dirty="0"/>
              <a:t>、</a:t>
            </a:r>
            <a:r>
              <a:rPr lang="en-US" altLang="zh-CN" sz="2800" dirty="0"/>
              <a:t>min()</a:t>
            </a:r>
            <a:r>
              <a:rPr lang="zh-CN" altLang="en-US" sz="2800" dirty="0"/>
              <a:t>：列表的最大</a:t>
            </a:r>
            <a:r>
              <a:rPr lang="en-US" altLang="zh-CN" sz="2800" dirty="0"/>
              <a:t>/</a:t>
            </a:r>
            <a:r>
              <a:rPr lang="zh-CN" altLang="en-US" sz="2800" dirty="0"/>
              <a:t>最小元素</a:t>
            </a:r>
            <a:endParaRPr lang="en-US" altLang="zh-CN" sz="2800" dirty="0"/>
          </a:p>
          <a:p>
            <a:pPr lvl="0"/>
            <a:endParaRPr lang="en-US" altLang="zh-CN" sz="2800" dirty="0"/>
          </a:p>
          <a:p>
            <a:endParaRPr lang="zh-CN" altLang="zh-CN" sz="2800" dirty="0"/>
          </a:p>
          <a:p>
            <a:r>
              <a:rPr lang="en-US" altLang="zh-CN" sz="2800" dirty="0"/>
              <a:t>sum()</a:t>
            </a:r>
            <a:r>
              <a:rPr lang="zh-CN" altLang="en-US" sz="2800" dirty="0"/>
              <a:t>：计算</a:t>
            </a:r>
            <a:r>
              <a:rPr lang="zh-CN" altLang="zh-CN" sz="2800" dirty="0"/>
              <a:t>列表中的元素之和</a:t>
            </a:r>
            <a:endParaRPr lang="en-US" altLang="zh-CN" sz="2800" dirty="0"/>
          </a:p>
          <a:p>
            <a:endParaRPr lang="zh-CN" altLang="zh-CN" sz="2800" dirty="0"/>
          </a:p>
          <a:p>
            <a:pPr marL="0" lvl="0" indent="0">
              <a:buNone/>
            </a:pPr>
            <a:endParaRPr lang="en-US" altLang="zh-CN" sz="2800" dirty="0"/>
          </a:p>
          <a:p>
            <a:pPr marL="0" lvl="0" indent="0">
              <a:buNone/>
            </a:pPr>
            <a:endParaRPr lang="zh-CN" altLang="zh-CN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7155384" y="850166"/>
            <a:ext cx="4077935" cy="120032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&gt;&gt;&gt; list1 = [1, 2, 3, 4, 5]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 </a:t>
            </a:r>
            <a:r>
              <a:rPr lang="en-US" altLang="zh-CN" sz="2400" dirty="0" err="1">
                <a:solidFill>
                  <a:schemeClr val="tx1"/>
                </a:solidFill>
              </a:rPr>
              <a:t>len</a:t>
            </a:r>
            <a:r>
              <a:rPr lang="en-US" altLang="zh-CN" sz="2400" dirty="0">
                <a:solidFill>
                  <a:schemeClr val="tx1"/>
                </a:solidFill>
              </a:rPr>
              <a:t>(list1)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5</a:t>
            </a: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0216" y="2156308"/>
            <a:ext cx="4585770" cy="193899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&gt;&gt;&gt; list2 = [1, 2, 3, 4, 5]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 max(list2)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5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 min(list2)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6209126" y="2754753"/>
            <a:ext cx="1471169" cy="2160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930909" y="4513188"/>
            <a:ext cx="4500453" cy="120032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&gt;&gt;&gt; list3 = [1, 2, 3, 4, 5]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 sum(list3)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15</a:t>
            </a: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5581694" y="4600786"/>
            <a:ext cx="1028611" cy="2160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>
            <a:off x="5243010" y="1690260"/>
            <a:ext cx="1193126" cy="2160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E89DBE-64C1-4338-AAD2-6B314768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302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</a:t>
            </a:r>
            <a:r>
              <a:rPr lang="zh-CN" altLang="en-US" dirty="0"/>
              <a:t>内置函数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002" y="1450331"/>
            <a:ext cx="5906448" cy="4599022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sorted()</a:t>
            </a:r>
            <a:r>
              <a:rPr lang="zh-CN" altLang="en-US" sz="2800" dirty="0"/>
              <a:t>：</a:t>
            </a:r>
            <a:r>
              <a:rPr lang="zh-CN" altLang="zh-CN" sz="2800" dirty="0"/>
              <a:t>返回排序后的新列表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reversed()</a:t>
            </a:r>
            <a:r>
              <a:rPr lang="zh-CN" altLang="en-US" sz="2800" dirty="0"/>
              <a:t>：返回逆序后的迭代器</a:t>
            </a:r>
            <a:r>
              <a:rPr lang="en-US" altLang="zh-CN" sz="2800" dirty="0"/>
              <a:t>reversed</a:t>
            </a:r>
            <a:r>
              <a:rPr lang="zh-CN" altLang="en-US" sz="2800" dirty="0"/>
              <a:t>对象</a:t>
            </a:r>
            <a:endParaRPr lang="en-US" altLang="zh-CN" sz="2800" dirty="0"/>
          </a:p>
          <a:p>
            <a:endParaRPr lang="zh-CN" altLang="zh-CN" sz="2800" dirty="0"/>
          </a:p>
          <a:p>
            <a:pPr marL="0" lvl="0" indent="0">
              <a:buNone/>
            </a:pPr>
            <a:endParaRPr lang="en-US" altLang="zh-CN" sz="2800" dirty="0"/>
          </a:p>
          <a:p>
            <a:pPr marL="0" lvl="0" indent="0">
              <a:buNone/>
            </a:pPr>
            <a:endParaRPr lang="zh-CN" altLang="zh-CN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5843598" y="808647"/>
            <a:ext cx="6229066" cy="193899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&gt;&gt;&gt; list4 = [3, 5, 1, 2, 8, 7]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 sorted(list4)            # </a:t>
            </a:r>
            <a:r>
              <a:rPr lang="zh-CN" altLang="zh-CN" sz="2400" dirty="0">
                <a:solidFill>
                  <a:schemeClr val="tx1"/>
                </a:solidFill>
              </a:rPr>
              <a:t>默认升序</a:t>
            </a:r>
          </a:p>
          <a:p>
            <a:r>
              <a:rPr lang="en-US" altLang="zh-CN" sz="2400" dirty="0">
                <a:solidFill>
                  <a:schemeClr val="tx1"/>
                </a:solidFill>
              </a:rPr>
              <a:t>[1, 2, 3, 5, 7, 8]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 sorted(list4, reverse=True)   #</a:t>
            </a:r>
            <a:r>
              <a:rPr lang="zh-CN" altLang="zh-CN" sz="2400" dirty="0">
                <a:solidFill>
                  <a:schemeClr val="tx1"/>
                </a:solidFill>
              </a:rPr>
              <a:t>降序</a:t>
            </a:r>
          </a:p>
          <a:p>
            <a:r>
              <a:rPr lang="en-US" altLang="zh-CN" sz="2400" dirty="0">
                <a:solidFill>
                  <a:schemeClr val="tx1"/>
                </a:solidFill>
              </a:rPr>
              <a:t>[8, 7, 5, 3, 2, 1]</a:t>
            </a: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E89DBE-64C1-4338-AAD2-6B314768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6271504C-1949-4801-BA8A-97A15E3B80FC}"/>
              </a:ext>
            </a:extLst>
          </p:cNvPr>
          <p:cNvSpPr txBox="1"/>
          <p:nvPr/>
        </p:nvSpPr>
        <p:spPr>
          <a:xfrm>
            <a:off x="6494748" y="3400329"/>
            <a:ext cx="5584812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&gt;&gt;&gt; list5 = [2, 1, 3, 4]</a:t>
            </a: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&gt;&gt;&gt;a=reversed(list5)</a:t>
            </a: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&gt;&gt;&gt;a</a:t>
            </a:r>
          </a:p>
          <a:p>
            <a:r>
              <a:rPr lang="en-US" altLang="zh-CN" sz="2400" dirty="0">
                <a:solidFill>
                  <a:schemeClr val="tx1"/>
                </a:solidFill>
              </a:rPr>
              <a:t>&lt;</a:t>
            </a:r>
            <a:r>
              <a:rPr lang="en-US" altLang="zh-CN" sz="2400" dirty="0" err="1">
                <a:solidFill>
                  <a:schemeClr val="tx1"/>
                </a:solidFill>
              </a:rPr>
              <a:t>list_reverseiterator</a:t>
            </a:r>
            <a:r>
              <a:rPr lang="en-US" altLang="zh-CN" sz="2400" dirty="0">
                <a:solidFill>
                  <a:schemeClr val="tx1"/>
                </a:solidFill>
              </a:rPr>
              <a:t> object at 0x0000023A38BEF0A0&gt;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 list(reversed(list5))   #</a:t>
            </a:r>
            <a:r>
              <a:rPr lang="zh-CN" altLang="en-US" sz="2400" dirty="0">
                <a:solidFill>
                  <a:schemeClr val="tx1"/>
                </a:solidFill>
              </a:rPr>
              <a:t>转换为列表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altLang="zh-CN" sz="2400" dirty="0">
                <a:solidFill>
                  <a:schemeClr val="tx1"/>
                </a:solidFill>
              </a:rPr>
              <a:t> [4, 3, 1, 2]</a:t>
            </a:r>
            <a:endParaRPr lang="zh-CN" altLang="zh-C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95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620688"/>
            <a:ext cx="7704855" cy="5832648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zip()</a:t>
            </a:r>
            <a:r>
              <a:rPr lang="zh-CN" altLang="en-US" sz="2800" dirty="0"/>
              <a:t>：将多个列表对应位置的元素拉链式组合成元组，并返回</a:t>
            </a:r>
            <a:r>
              <a:rPr lang="en-US" altLang="zh-CN" sz="2800" dirty="0"/>
              <a:t>zip</a:t>
            </a:r>
            <a:r>
              <a:rPr lang="zh-CN" altLang="en-US" sz="2800" dirty="0"/>
              <a:t>对象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zh-CN" altLang="zh-CN" sz="2800" dirty="0"/>
          </a:p>
          <a:p>
            <a:r>
              <a:rPr lang="en-US" altLang="zh-CN" sz="2800" dirty="0"/>
              <a:t>enumerate()</a:t>
            </a:r>
            <a:r>
              <a:rPr lang="zh-CN" altLang="en-US" sz="2800" dirty="0"/>
              <a:t>：</a:t>
            </a:r>
            <a:r>
              <a:rPr lang="zh-CN" altLang="zh-CN" sz="2800" dirty="0"/>
              <a:t>返回由下标和值组合成元组的</a:t>
            </a:r>
            <a:r>
              <a:rPr lang="en-US" altLang="zh-CN" sz="2800" dirty="0"/>
              <a:t>enumerate</a:t>
            </a:r>
            <a:r>
              <a:rPr lang="zh-CN" altLang="zh-CN" sz="2800" dirty="0"/>
              <a:t>对象</a:t>
            </a:r>
            <a:endParaRPr lang="en-US" altLang="zh-CN" sz="2800" dirty="0"/>
          </a:p>
          <a:p>
            <a:endParaRPr lang="en-US" altLang="zh-CN" sz="2800" dirty="0"/>
          </a:p>
          <a:p>
            <a:endParaRPr lang="zh-CN" altLang="zh-CN" sz="2800" dirty="0"/>
          </a:p>
          <a:p>
            <a:endParaRPr lang="zh-CN" altLang="en-US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2514836" y="1556792"/>
            <a:ext cx="9264352" cy="224676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&gt;&gt;&gt; </a:t>
            </a:r>
            <a:r>
              <a:rPr lang="en-US" altLang="zh-CN" sz="2800" b="1" dirty="0" err="1">
                <a:solidFill>
                  <a:schemeClr val="tx1"/>
                </a:solidFill>
              </a:rPr>
              <a:t>list_a</a:t>
            </a:r>
            <a:r>
              <a:rPr lang="en-US" altLang="zh-CN" sz="2800" b="1" dirty="0">
                <a:solidFill>
                  <a:schemeClr val="tx1"/>
                </a:solidFill>
              </a:rPr>
              <a:t> = [1, 2, 3]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</a:t>
            </a:r>
            <a:r>
              <a:rPr lang="en-US" altLang="zh-CN" sz="2800" b="1" dirty="0" err="1">
                <a:solidFill>
                  <a:schemeClr val="tx1"/>
                </a:solidFill>
              </a:rPr>
              <a:t>list_b</a:t>
            </a:r>
            <a:r>
              <a:rPr lang="en-US" altLang="zh-CN" sz="2800" b="1" dirty="0">
                <a:solidFill>
                  <a:schemeClr val="tx1"/>
                </a:solidFill>
              </a:rPr>
              <a:t> = ['a', 'b', 'c']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list6 = zip(</a:t>
            </a:r>
            <a:r>
              <a:rPr lang="en-US" altLang="zh-CN" sz="2800" b="1" dirty="0" err="1">
                <a:solidFill>
                  <a:schemeClr val="tx1"/>
                </a:solidFill>
              </a:rPr>
              <a:t>list_a</a:t>
            </a:r>
            <a:r>
              <a:rPr lang="en-US" altLang="zh-CN" sz="2800" b="1" dirty="0">
                <a:solidFill>
                  <a:schemeClr val="tx1"/>
                </a:solidFill>
              </a:rPr>
              <a:t>, </a:t>
            </a:r>
            <a:r>
              <a:rPr lang="en-US" altLang="zh-CN" sz="2800" b="1" dirty="0" err="1">
                <a:solidFill>
                  <a:schemeClr val="tx1"/>
                </a:solidFill>
              </a:rPr>
              <a:t>list_b</a:t>
            </a:r>
            <a:r>
              <a:rPr lang="en-US" altLang="zh-CN" sz="2800" b="1" dirty="0">
                <a:solidFill>
                  <a:schemeClr val="tx1"/>
                </a:solidFill>
              </a:rPr>
              <a:t>) </a:t>
            </a:r>
            <a:r>
              <a:rPr lang="en-US" altLang="zh-CN" sz="2400" b="1" dirty="0">
                <a:solidFill>
                  <a:schemeClr val="tx1"/>
                </a:solidFill>
              </a:rPr>
              <a:t>#</a:t>
            </a:r>
            <a:r>
              <a:rPr lang="zh-CN" altLang="zh-CN" sz="2400" b="1" dirty="0">
                <a:solidFill>
                  <a:schemeClr val="tx1"/>
                </a:solidFill>
              </a:rPr>
              <a:t>返回</a:t>
            </a:r>
            <a:r>
              <a:rPr lang="en-US" altLang="zh-CN" sz="2400" b="1" dirty="0">
                <a:solidFill>
                  <a:schemeClr val="tx1"/>
                </a:solidFill>
              </a:rPr>
              <a:t>zip</a:t>
            </a:r>
            <a:r>
              <a:rPr lang="zh-CN" altLang="zh-CN" sz="2400" b="1" dirty="0">
                <a:solidFill>
                  <a:schemeClr val="tx1"/>
                </a:solidFill>
              </a:rPr>
              <a:t>对象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list(list6)     #  </a:t>
            </a:r>
            <a:r>
              <a:rPr lang="zh-CN" altLang="zh-CN" sz="2800" b="1" dirty="0">
                <a:solidFill>
                  <a:schemeClr val="tx1"/>
                </a:solidFill>
              </a:rPr>
              <a:t>将</a:t>
            </a:r>
            <a:r>
              <a:rPr lang="en-US" altLang="zh-CN" sz="2800" b="1" dirty="0">
                <a:solidFill>
                  <a:schemeClr val="tx1"/>
                </a:solidFill>
              </a:rPr>
              <a:t>zip</a:t>
            </a:r>
            <a:r>
              <a:rPr lang="zh-CN" altLang="zh-CN" sz="2800" b="1" dirty="0">
                <a:solidFill>
                  <a:schemeClr val="tx1"/>
                </a:solidFill>
              </a:rPr>
              <a:t>对象转换为列表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[(1, 'a'), (2, 'b'), (3, 'c')]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14464" y="5242372"/>
            <a:ext cx="9865096" cy="138499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&gt;&gt;&gt; list7 = [1, 2, 3, 4, 5]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list(enumerate(list7))   # </a:t>
            </a:r>
            <a:r>
              <a:rPr lang="zh-CN" altLang="zh-CN" sz="2800" b="1" dirty="0">
                <a:solidFill>
                  <a:schemeClr val="tx1"/>
                </a:solidFill>
              </a:rPr>
              <a:t>将</a:t>
            </a:r>
            <a:r>
              <a:rPr lang="en-US" altLang="zh-CN" sz="2800" b="1" dirty="0">
                <a:solidFill>
                  <a:schemeClr val="tx1"/>
                </a:solidFill>
              </a:rPr>
              <a:t>enumerate</a:t>
            </a:r>
            <a:r>
              <a:rPr lang="zh-CN" altLang="zh-CN" sz="2800" b="1" dirty="0">
                <a:solidFill>
                  <a:schemeClr val="tx1"/>
                </a:solidFill>
              </a:rPr>
              <a:t>对象转换为列表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[(0, 1), (1, 2), (2, 3), (3, 4), (4, 5)]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2EE5B5-2105-4D86-9CDA-6B3428E1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407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5" y="548680"/>
            <a:ext cx="5544616" cy="5904656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all()</a:t>
            </a:r>
            <a:r>
              <a:rPr lang="zh-CN" altLang="en-US" sz="2800" dirty="0"/>
              <a:t>：</a:t>
            </a:r>
            <a:r>
              <a:rPr lang="zh-CN" altLang="zh-CN" sz="2800" dirty="0"/>
              <a:t>测试列表中是否</a:t>
            </a:r>
            <a:r>
              <a:rPr lang="zh-CN" altLang="en-US" sz="2800" dirty="0"/>
              <a:t>全</a:t>
            </a:r>
            <a:r>
              <a:rPr lang="zh-CN" altLang="zh-CN" sz="2800" dirty="0"/>
              <a:t>都等价于</a:t>
            </a:r>
            <a:r>
              <a:rPr lang="en-US" altLang="zh-CN" sz="2800" dirty="0"/>
              <a:t>True</a:t>
            </a:r>
            <a:r>
              <a:rPr lang="zh-CN" altLang="zh-CN" sz="2800" dirty="0"/>
              <a:t>，</a:t>
            </a:r>
            <a:endParaRPr lang="en-US" altLang="zh-CN" sz="2800" dirty="0"/>
          </a:p>
          <a:p>
            <a:r>
              <a:rPr lang="en-US" altLang="zh-CN" sz="2800" dirty="0"/>
              <a:t>any()</a:t>
            </a:r>
            <a:r>
              <a:rPr lang="zh-CN" altLang="en-US" sz="2800" dirty="0"/>
              <a:t>：测试是否全都等价于</a:t>
            </a:r>
            <a:r>
              <a:rPr lang="en-US" altLang="zh-CN" sz="2800" dirty="0"/>
              <a:t>False</a:t>
            </a:r>
            <a:endParaRPr lang="zh-CN" altLang="zh-CN" sz="2800" dirty="0"/>
          </a:p>
          <a:p>
            <a:endParaRPr lang="zh-CN" altLang="en-US" sz="4400" dirty="0"/>
          </a:p>
        </p:txBody>
      </p:sp>
      <p:sp>
        <p:nvSpPr>
          <p:cNvPr id="10" name="TextBox 9"/>
          <p:cNvSpPr txBox="1"/>
          <p:nvPr/>
        </p:nvSpPr>
        <p:spPr>
          <a:xfrm>
            <a:off x="1487489" y="2636912"/>
            <a:ext cx="6048672" cy="224676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&gt;&gt;&gt; list8 = [0, 1, 2, 3, 4]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all(list8) 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False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&gt;&gt;&gt; any(list8)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True</a:t>
            </a:r>
            <a:endParaRPr lang="zh-CN" altLang="zh-CN" sz="28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2EE5B5-2105-4D86-9CDA-6B3428E1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929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4680" y="116632"/>
            <a:ext cx="8715672" cy="41215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6.2.4 </a:t>
            </a:r>
            <a:r>
              <a:rPr lang="zh-CN" altLang="en-US" sz="3600" dirty="0"/>
              <a:t>列表的方法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DBA43D3-E33C-4441-B113-0BACFFAC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E39169-F811-4AAA-9C2D-41458280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1" y="980728"/>
            <a:ext cx="10945217" cy="5472608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列表的方法，使用如下形式：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列表名</a:t>
            </a:r>
            <a:r>
              <a:rPr lang="en-US" altLang="zh-CN" sz="2800" dirty="0"/>
              <a:t>.</a:t>
            </a:r>
            <a:r>
              <a:rPr lang="zh-CN" altLang="en-US" sz="2800" dirty="0"/>
              <a:t>方法名</a:t>
            </a:r>
            <a:endParaRPr lang="en-US" altLang="zh-CN" sz="2800" dirty="0"/>
          </a:p>
          <a:p>
            <a:r>
              <a:rPr lang="zh-CN" altLang="en-US" sz="2800" dirty="0"/>
              <a:t>例如：</a:t>
            </a:r>
            <a:br>
              <a:rPr lang="en-US" altLang="zh-CN" sz="2800" dirty="0"/>
            </a:br>
            <a:r>
              <a:rPr lang="en-US" altLang="zh-CN" sz="2800" dirty="0"/>
              <a:t>    List1.append(x)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54510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116632"/>
            <a:ext cx="8715672" cy="41215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6.2.4 </a:t>
            </a:r>
            <a:r>
              <a:rPr lang="zh-CN" altLang="en-US" dirty="0"/>
              <a:t>列表对象的常用方法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759096"/>
              </p:ext>
            </p:extLst>
          </p:nvPr>
        </p:nvGraphicFramePr>
        <p:xfrm>
          <a:off x="335360" y="595755"/>
          <a:ext cx="11665296" cy="61456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83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38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方法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功能说明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976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list.append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在列表末尾添加新的元素</a:t>
                      </a: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8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list.count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统计某个</a:t>
                      </a: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在列表中出现的次数。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77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list.extend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(L)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将列表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中所有的元素添加到列表尾部（用新列表扩展原来的列表</a:t>
                      </a:r>
                      <a:r>
                        <a:rPr lang="zh-CN" alt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，是原地操作</a:t>
                      </a: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）。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77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list.index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返回列表中第一个值为</a:t>
                      </a: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的元素的下标，如果不存在此元素，则抛出异常。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580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list.insert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(index, </a:t>
                      </a: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将</a:t>
                      </a: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插入列表指定位置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index</a:t>
                      </a: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处。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277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list.pop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([index=-1])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删除列表中的指定位置的元素（默认位置为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，即最后一个元素），并且返回该元素的值。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38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list.reverse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对原列表进行逆序排列。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277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list.sort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(key=None, </a:t>
                      </a: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reverse=False)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对原列表进行排序。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38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list.clear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清空列表所有元素，但列表对象保留。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38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600" kern="100" dirty="0" err="1">
                          <a:solidFill>
                            <a:schemeClr val="tx1"/>
                          </a:solidFill>
                          <a:effectLst/>
                        </a:rPr>
                        <a:t>list.copy</a:t>
                      </a: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复制并返回一个新列表。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DBA43D3-E33C-4441-B113-0BACFFAC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180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9C9E0-59D5-40EE-BA52-A6FE90DDC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116632"/>
            <a:ext cx="11458872" cy="50654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4000" dirty="0">
                <a:solidFill>
                  <a:schemeClr val="tx1"/>
                </a:solidFill>
              </a:rPr>
              <a:t>append, extend</a:t>
            </a:r>
          </a:p>
          <a:p>
            <a:pPr marL="0" indent="0"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append</a:t>
            </a:r>
            <a:r>
              <a:rPr lang="en-US" altLang="zh-CN" sz="2800" dirty="0"/>
              <a:t>:</a:t>
            </a:r>
            <a:r>
              <a:rPr lang="zh-CN" altLang="en-US" sz="2800" dirty="0"/>
              <a:t>向列表尾部添加一个元素（原地操作）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extend:</a:t>
            </a:r>
            <a:r>
              <a:rPr lang="zh-CN" altLang="en-US" sz="2800" dirty="0">
                <a:solidFill>
                  <a:schemeClr val="tx1"/>
                </a:solidFill>
              </a:rPr>
              <a:t>向列表末尾添加另一个列表，相当于</a:t>
            </a:r>
            <a:r>
              <a:rPr lang="en-US" altLang="zh-CN" sz="2800" dirty="0">
                <a:solidFill>
                  <a:schemeClr val="tx1"/>
                </a:solidFill>
              </a:rPr>
              <a:t>+</a:t>
            </a:r>
            <a:r>
              <a:rPr lang="zh-CN" altLang="en-US" sz="2800" dirty="0">
                <a:solidFill>
                  <a:schemeClr val="tx1"/>
                </a:solidFill>
              </a:rPr>
              <a:t>（原地操作）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 = [2, 3]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list1.append(4)    # </a:t>
            </a:r>
            <a:r>
              <a:rPr lang="zh-CN" altLang="zh-CN" sz="2800" dirty="0">
                <a:solidFill>
                  <a:schemeClr val="tx1"/>
                </a:solidFill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</a:rPr>
              <a:t>list1</a:t>
            </a:r>
            <a:r>
              <a:rPr lang="zh-CN" altLang="zh-CN" sz="2800" dirty="0">
                <a:solidFill>
                  <a:schemeClr val="tx1"/>
                </a:solidFill>
              </a:rPr>
              <a:t>尾部追加一个元素</a:t>
            </a:r>
            <a:r>
              <a:rPr lang="en-US" altLang="zh-CN" sz="2800" dirty="0">
                <a:solidFill>
                  <a:schemeClr val="tx1"/>
                </a:solidFill>
              </a:rPr>
              <a:t>4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[2, 3, 4]</a:t>
            </a:r>
          </a:p>
          <a:p>
            <a:pPr marL="0" indent="0">
              <a:buNone/>
            </a:pPr>
            <a:r>
              <a:rPr lang="en-US" altLang="zh-CN" sz="2800" dirty="0"/>
              <a:t>&gt;&gt;&gt;list1.extend([0,1])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&gt;&gt;&gt;list1</a:t>
            </a:r>
          </a:p>
          <a:p>
            <a:pPr marL="0" indent="0">
              <a:buNone/>
            </a:pPr>
            <a:r>
              <a:rPr lang="en-US" altLang="zh-CN" sz="2800" dirty="0"/>
              <a:t>[2,3,4,0,1]</a:t>
            </a:r>
            <a:endParaRPr lang="zh-CN" altLang="zh-CN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4F342-DA38-4252-B9E7-403AF598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755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54A68-3E6B-4EAD-BEAF-F7F5BC0AD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Append </a:t>
            </a:r>
            <a:r>
              <a:rPr lang="zh-CN" altLang="en-US" dirty="0"/>
              <a:t>一个列表会如何？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36AC4-5725-4309-AD01-E8B5692DC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 = [2, 3]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list1.append([4,5])    # </a:t>
            </a:r>
            <a:r>
              <a:rPr lang="zh-CN" altLang="zh-CN" sz="2800" dirty="0">
                <a:solidFill>
                  <a:schemeClr val="tx1"/>
                </a:solidFill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</a:rPr>
              <a:t>list1</a:t>
            </a:r>
            <a:r>
              <a:rPr lang="zh-CN" altLang="zh-CN" sz="2800" dirty="0">
                <a:solidFill>
                  <a:schemeClr val="tx1"/>
                </a:solidFill>
              </a:rPr>
              <a:t>尾部追加一个元素</a:t>
            </a:r>
            <a:r>
              <a:rPr lang="en-US" altLang="zh-CN" sz="2800" dirty="0">
                <a:solidFill>
                  <a:schemeClr val="tx1"/>
                </a:solidFill>
              </a:rPr>
              <a:t>4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[2, 3, [4,5]]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 = [2, 3]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list1.extend([4,5])    # 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[2, 3, 4, 5]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CA9D8A-1359-42D1-ACDB-BF555EAF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530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9C9E0-59D5-40EE-BA52-A6FE90DDC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386864" cy="48494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4000" dirty="0">
                <a:solidFill>
                  <a:schemeClr val="tx1"/>
                </a:solidFill>
              </a:rPr>
              <a:t>insert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向指定位置添加一个元素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 = [2,3,4]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list1.insert(0, 1)    # </a:t>
            </a:r>
            <a:r>
              <a:rPr lang="zh-CN" altLang="zh-CN" sz="2800" dirty="0">
                <a:solidFill>
                  <a:schemeClr val="tx1"/>
                </a:solidFill>
              </a:rPr>
              <a:t>在下标</a:t>
            </a:r>
            <a:r>
              <a:rPr lang="zh-CN" altLang="en-US" sz="2800" dirty="0"/>
              <a:t>为</a:t>
            </a:r>
            <a:r>
              <a:rPr lang="en-US" altLang="zh-CN" sz="2800" dirty="0"/>
              <a:t>0</a:t>
            </a:r>
            <a:r>
              <a:rPr lang="zh-CN" altLang="en-US" sz="2800" dirty="0"/>
              <a:t>的元素前</a:t>
            </a:r>
            <a:r>
              <a:rPr lang="zh-CN" altLang="zh-CN" sz="2800" dirty="0">
                <a:solidFill>
                  <a:schemeClr val="tx1"/>
                </a:solidFill>
              </a:rPr>
              <a:t>插入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[1, 2, 3, 4]</a:t>
            </a:r>
          </a:p>
          <a:p>
            <a:pPr marL="0" indent="0">
              <a:buNone/>
            </a:pP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list1.insert(100,5)    # </a:t>
            </a:r>
            <a:r>
              <a:rPr lang="zh-CN" altLang="zh-CN" sz="2800" dirty="0">
                <a:solidFill>
                  <a:schemeClr val="tx1"/>
                </a:solidFill>
              </a:rPr>
              <a:t>下标</a:t>
            </a:r>
            <a:r>
              <a:rPr lang="zh-CN" altLang="en-US" sz="2800" dirty="0">
                <a:solidFill>
                  <a:schemeClr val="tx1"/>
                </a:solidFill>
              </a:rPr>
              <a:t>超界</a:t>
            </a:r>
            <a:r>
              <a:rPr lang="zh-CN" altLang="zh-CN" sz="2800" dirty="0">
                <a:solidFill>
                  <a:schemeClr val="tx1"/>
                </a:solidFill>
              </a:rPr>
              <a:t>，则在列表尾部插入元素</a:t>
            </a:r>
            <a:r>
              <a:rPr lang="en-US" altLang="zh-CN" sz="2800" dirty="0">
                <a:solidFill>
                  <a:schemeClr val="tx1"/>
                </a:solidFill>
              </a:rPr>
              <a:t>5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[1, 2, 3, 4, 5]</a:t>
            </a:r>
            <a:endParaRPr lang="zh-CN" altLang="zh-CN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4F342-DA38-4252-B9E7-403AF598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2785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C26A4-52A4-4891-8933-559DF7ADB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3" y="1412776"/>
            <a:ext cx="11216700" cy="4705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list1.insert(-100, -1)   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# </a:t>
            </a:r>
            <a:r>
              <a:rPr lang="zh-CN" altLang="zh-CN" sz="2800" dirty="0">
                <a:solidFill>
                  <a:schemeClr val="tx1"/>
                </a:solidFill>
              </a:rPr>
              <a:t>下标位置</a:t>
            </a:r>
            <a:r>
              <a:rPr lang="en-US" altLang="zh-CN" sz="2800" dirty="0">
                <a:solidFill>
                  <a:schemeClr val="tx1"/>
                </a:solidFill>
              </a:rPr>
              <a:t>-8</a:t>
            </a:r>
            <a:r>
              <a:rPr lang="zh-CN" altLang="zh-CN" sz="2800" dirty="0">
                <a:solidFill>
                  <a:schemeClr val="tx1"/>
                </a:solidFill>
              </a:rPr>
              <a:t>小于反向列表长度，则在列表头部插入元素</a:t>
            </a:r>
            <a:r>
              <a:rPr lang="en-US" altLang="zh-CN" sz="2800" dirty="0">
                <a:solidFill>
                  <a:schemeClr val="tx1"/>
                </a:solidFill>
              </a:rPr>
              <a:t>-1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list1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[-1, 1, 2, 3, 4, 5]</a:t>
            </a:r>
            <a:endParaRPr lang="zh-CN" altLang="zh-CN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7137D6-86FE-448D-9E80-D2DD0C3B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7075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9A0E2F-C541-44A0-BA91-BAC592A0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230633"/>
            <a:ext cx="11216701" cy="65107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4600" dirty="0">
                <a:solidFill>
                  <a:schemeClr val="tx1"/>
                </a:solidFill>
              </a:rPr>
              <a:t>remove: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删除值为</a:t>
            </a:r>
            <a:r>
              <a:rPr lang="en-US" altLang="zh-CN" dirty="0"/>
              <a:t>…</a:t>
            </a:r>
            <a:r>
              <a:rPr lang="zh-CN" altLang="en-US" dirty="0"/>
              <a:t>的元素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&gt;&gt;&gt; list2 = [1, 2, 4, 5, 4, 5]</a:t>
            </a:r>
            <a:endParaRPr lang="zh-CN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&gt;&gt;&gt; list2.remove(4)        </a:t>
            </a:r>
            <a:r>
              <a:rPr lang="en-US" altLang="zh-CN" sz="2800" dirty="0">
                <a:solidFill>
                  <a:schemeClr val="tx1"/>
                </a:solidFill>
              </a:rPr>
              <a:t># </a:t>
            </a:r>
            <a:r>
              <a:rPr lang="zh-CN" altLang="zh-CN" sz="2800" dirty="0">
                <a:solidFill>
                  <a:schemeClr val="tx1"/>
                </a:solidFill>
              </a:rPr>
              <a:t>删除</a:t>
            </a:r>
            <a:r>
              <a:rPr lang="en-US" altLang="zh-CN" sz="2800" dirty="0">
                <a:solidFill>
                  <a:schemeClr val="tx1"/>
                </a:solidFill>
              </a:rPr>
              <a:t>list2</a:t>
            </a:r>
            <a:r>
              <a:rPr lang="zh-CN" altLang="zh-CN" sz="2800" dirty="0">
                <a:solidFill>
                  <a:schemeClr val="tx1"/>
                </a:solidFill>
              </a:rPr>
              <a:t>中首个值为</a:t>
            </a:r>
            <a:r>
              <a:rPr lang="en-US" altLang="zh-CN" sz="2800" dirty="0">
                <a:solidFill>
                  <a:schemeClr val="tx1"/>
                </a:solidFill>
              </a:rPr>
              <a:t>4</a:t>
            </a:r>
            <a:r>
              <a:rPr lang="zh-CN" altLang="zh-CN" sz="2800" dirty="0">
                <a:solidFill>
                  <a:schemeClr val="tx1"/>
                </a:solidFill>
              </a:rPr>
              <a:t>的元素</a:t>
            </a: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&gt;&gt;&gt; list2</a:t>
            </a:r>
            <a:endParaRPr lang="zh-CN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[1, 2, 5, 4, 5]</a:t>
            </a:r>
            <a:endParaRPr lang="zh-CN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del</a:t>
            </a:r>
            <a:r>
              <a:rPr lang="zh-CN" altLang="en-US" sz="3200" dirty="0">
                <a:solidFill>
                  <a:schemeClr val="tx1"/>
                </a:solidFill>
              </a:rPr>
              <a:t>（内置函数）和</a:t>
            </a:r>
            <a:r>
              <a:rPr lang="en-US" altLang="zh-CN" sz="3200" dirty="0">
                <a:solidFill>
                  <a:schemeClr val="tx1"/>
                </a:solidFill>
              </a:rPr>
              <a:t>clear</a:t>
            </a: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&gt;&gt;&gt;del list2[2]          </a:t>
            </a:r>
            <a:r>
              <a:rPr lang="en-US" altLang="zh-CN" sz="2800" dirty="0">
                <a:solidFill>
                  <a:schemeClr val="tx1"/>
                </a:solidFill>
              </a:rPr>
              <a:t># </a:t>
            </a:r>
            <a:r>
              <a:rPr lang="zh-CN" altLang="zh-CN" sz="2800" dirty="0">
                <a:solidFill>
                  <a:schemeClr val="tx1"/>
                </a:solidFill>
              </a:rPr>
              <a:t>删除下标位置为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zh-CN" sz="2800" dirty="0">
                <a:solidFill>
                  <a:schemeClr val="tx1"/>
                </a:solidFill>
              </a:rPr>
              <a:t>的元素</a:t>
            </a: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&gt;&gt;&gt; list2</a:t>
            </a:r>
            <a:endParaRPr lang="zh-CN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[1, 2, 4, 5]</a:t>
            </a:r>
            <a:endParaRPr lang="zh-CN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&gt;&gt;&gt; </a:t>
            </a:r>
            <a:r>
              <a:rPr lang="en-US" altLang="zh-CN" sz="3200" dirty="0" err="1">
                <a:solidFill>
                  <a:schemeClr val="tx1"/>
                </a:solidFill>
              </a:rPr>
              <a:t>x.clear</a:t>
            </a:r>
            <a:r>
              <a:rPr lang="en-US" altLang="zh-CN" sz="3200" dirty="0">
                <a:solidFill>
                  <a:schemeClr val="tx1"/>
                </a:solidFill>
              </a:rPr>
              <a:t>()            </a:t>
            </a:r>
            <a:r>
              <a:rPr lang="en-US" altLang="zh-CN" sz="2800" dirty="0">
                <a:solidFill>
                  <a:schemeClr val="tx1"/>
                </a:solidFill>
              </a:rPr>
              <a:t># </a:t>
            </a:r>
            <a:r>
              <a:rPr lang="zh-CN" altLang="zh-CN" sz="2800" dirty="0">
                <a:solidFill>
                  <a:schemeClr val="tx1"/>
                </a:solidFill>
              </a:rPr>
              <a:t>删除</a:t>
            </a:r>
            <a:r>
              <a:rPr lang="en-US" altLang="zh-CN" sz="2800" dirty="0">
                <a:solidFill>
                  <a:schemeClr val="tx1"/>
                </a:solidFill>
              </a:rPr>
              <a:t>list2</a:t>
            </a:r>
            <a:r>
              <a:rPr lang="zh-CN" altLang="zh-CN" sz="2800" dirty="0">
                <a:solidFill>
                  <a:schemeClr val="tx1"/>
                </a:solidFill>
              </a:rPr>
              <a:t>中所有元素，</a:t>
            </a:r>
            <a:r>
              <a:rPr lang="en-US" altLang="zh-CN" sz="2800" dirty="0">
                <a:solidFill>
                  <a:schemeClr val="tx1"/>
                </a:solidFill>
              </a:rPr>
              <a:t>list2</a:t>
            </a:r>
            <a:r>
              <a:rPr lang="zh-CN" altLang="zh-CN" sz="2800" dirty="0">
                <a:solidFill>
                  <a:schemeClr val="tx1"/>
                </a:solidFill>
              </a:rPr>
              <a:t>变为空列表</a:t>
            </a: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&gt;&gt;&gt; list2</a:t>
            </a:r>
            <a:endParaRPr lang="zh-CN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[]</a:t>
            </a:r>
            <a:endParaRPr lang="zh-CN" altLang="en-US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3F1D0A-C42F-452F-B67F-EE980081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9958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9A0E2F-C541-44A0-BA91-BAC592A0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59" y="230633"/>
            <a:ext cx="11144693" cy="58875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pop</a:t>
            </a:r>
          </a:p>
          <a:p>
            <a:pPr marL="0" indent="0">
              <a:buNone/>
            </a:pP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删除一个元素，并返回被删除的元素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list2 = [1, 2, 3, 4, 5, 6]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list2.pop()      # </a:t>
            </a:r>
            <a:r>
              <a:rPr lang="en-US" altLang="zh-CN" sz="2600" dirty="0"/>
              <a:t>pop</a:t>
            </a:r>
            <a:r>
              <a:rPr lang="zh-CN" altLang="en-US" sz="2600" dirty="0"/>
              <a:t>不带参数，</a:t>
            </a:r>
            <a:r>
              <a:rPr lang="zh-CN" altLang="zh-CN" sz="2600" dirty="0">
                <a:solidFill>
                  <a:schemeClr val="tx1"/>
                </a:solidFill>
              </a:rPr>
              <a:t>默认弹出尾部元素</a:t>
            </a:r>
            <a:r>
              <a:rPr lang="zh-CN" altLang="en-US" sz="2600" dirty="0">
                <a:solidFill>
                  <a:schemeClr val="tx1"/>
                </a:solidFill>
              </a:rPr>
              <a:t>，并返回该值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6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list2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[1, 2, 3, 4, 5]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list2.pop(2)    # </a:t>
            </a:r>
            <a:r>
              <a:rPr lang="zh-CN" altLang="zh-CN" sz="2600" dirty="0">
                <a:solidFill>
                  <a:schemeClr val="tx1"/>
                </a:solidFill>
              </a:rPr>
              <a:t>弹出并返回下标</a:t>
            </a:r>
            <a:r>
              <a:rPr lang="en-US" altLang="zh-CN" sz="2600" dirty="0">
                <a:solidFill>
                  <a:schemeClr val="tx1"/>
                </a:solidFill>
              </a:rPr>
              <a:t>2</a:t>
            </a:r>
            <a:r>
              <a:rPr lang="zh-CN" altLang="zh-CN" sz="2600" dirty="0">
                <a:solidFill>
                  <a:schemeClr val="tx1"/>
                </a:solidFill>
              </a:rPr>
              <a:t>的元素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3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list2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[1, 2, 4, 5]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3F1D0A-C42F-452F-B67F-EE980081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469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600476-DA70-46D6-B4AE-6D443CD8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41" y="332655"/>
            <a:ext cx="11367612" cy="62947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00" dirty="0"/>
              <a:t>index  </a:t>
            </a:r>
            <a:r>
              <a:rPr lang="zh-CN" altLang="en-US" sz="2600" dirty="0"/>
              <a:t>返回元素的下标（首个） </a:t>
            </a:r>
            <a:endParaRPr lang="en-US" altLang="zh-CN" sz="2600" dirty="0"/>
          </a:p>
          <a:p>
            <a:pPr marL="0" indent="0">
              <a:buNone/>
            </a:pPr>
            <a:endParaRPr lang="en-US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list3 = [1, 2, 3, 2, 1]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list3.index(2)       # </a:t>
            </a:r>
            <a:r>
              <a:rPr lang="zh-CN" altLang="zh-CN" sz="2600" dirty="0">
                <a:solidFill>
                  <a:schemeClr val="tx1"/>
                </a:solidFill>
              </a:rPr>
              <a:t>元素</a:t>
            </a:r>
            <a:r>
              <a:rPr lang="en-US" altLang="zh-CN" sz="2600" dirty="0">
                <a:solidFill>
                  <a:schemeClr val="tx1"/>
                </a:solidFill>
              </a:rPr>
              <a:t>2</a:t>
            </a:r>
            <a:r>
              <a:rPr lang="zh-CN" altLang="zh-CN" sz="2600" dirty="0">
                <a:solidFill>
                  <a:schemeClr val="tx1"/>
                </a:solidFill>
              </a:rPr>
              <a:t>在</a:t>
            </a:r>
            <a:r>
              <a:rPr lang="en-US" altLang="zh-CN" sz="2600" dirty="0">
                <a:solidFill>
                  <a:schemeClr val="tx1"/>
                </a:solidFill>
              </a:rPr>
              <a:t>list3</a:t>
            </a:r>
            <a:r>
              <a:rPr lang="zh-CN" altLang="zh-CN" sz="2600" dirty="0">
                <a:solidFill>
                  <a:schemeClr val="tx1"/>
                </a:solidFill>
              </a:rPr>
              <a:t>中首次出现的位置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1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list3.index(4)       # list3</a:t>
            </a:r>
            <a:r>
              <a:rPr lang="zh-CN" altLang="zh-CN" sz="2600" dirty="0">
                <a:solidFill>
                  <a:schemeClr val="tx1"/>
                </a:solidFill>
              </a:rPr>
              <a:t>中没有元素</a:t>
            </a:r>
            <a:r>
              <a:rPr lang="en-US" altLang="zh-CN" sz="2600" dirty="0">
                <a:solidFill>
                  <a:schemeClr val="tx1"/>
                </a:solidFill>
              </a:rPr>
              <a:t>4</a:t>
            </a:r>
            <a:r>
              <a:rPr lang="zh-CN" altLang="zh-CN" sz="2600" dirty="0">
                <a:solidFill>
                  <a:schemeClr val="tx1"/>
                </a:solidFill>
              </a:rPr>
              <a:t>，抛出异常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Traceback (most recent call last):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  File "&lt;pyshell#4&gt;", line 1, in &lt;module&gt;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    list3.index(4)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 err="1">
                <a:solidFill>
                  <a:schemeClr val="tx1"/>
                </a:solidFill>
              </a:rPr>
              <a:t>ValueError</a:t>
            </a:r>
            <a:r>
              <a:rPr lang="en-US" altLang="zh-CN" sz="2600" dirty="0">
                <a:solidFill>
                  <a:schemeClr val="tx1"/>
                </a:solidFill>
              </a:rPr>
              <a:t>: 4 is not in list</a:t>
            </a:r>
          </a:p>
          <a:p>
            <a:pPr marL="0" indent="0">
              <a:buNone/>
            </a:pP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注；字符串</a:t>
            </a:r>
            <a:r>
              <a:rPr lang="zh-CN" altLang="en-US" sz="2600">
                <a:solidFill>
                  <a:schemeClr val="tx1"/>
                </a:solidFill>
              </a:rPr>
              <a:t>中的</a:t>
            </a:r>
            <a:r>
              <a:rPr lang="zh-CN" altLang="en-US" sz="2600"/>
              <a:t>查找</a:t>
            </a:r>
            <a:r>
              <a:rPr lang="zh-CN" altLang="en-US" sz="2600">
                <a:solidFill>
                  <a:schemeClr val="tx1"/>
                </a:solidFill>
              </a:rPr>
              <a:t>用</a:t>
            </a:r>
            <a:r>
              <a:rPr lang="en-US" altLang="zh-CN" sz="2600" dirty="0">
                <a:solidFill>
                  <a:schemeClr val="tx1"/>
                </a:solidFill>
              </a:rPr>
              <a:t>find</a:t>
            </a:r>
            <a:r>
              <a:rPr lang="zh-CN" altLang="en-US" sz="2600" dirty="0">
                <a:solidFill>
                  <a:schemeClr val="tx1"/>
                </a:solidFill>
              </a:rPr>
              <a:t>方法</a:t>
            </a:r>
            <a:endParaRPr lang="en-US" altLang="zh-CN" sz="26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A7C7C-CB46-4AE7-9004-CD3601CA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076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600476-DA70-46D6-B4AE-6D443CD8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5" y="332656"/>
            <a:ext cx="11360717" cy="5785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>
                <a:solidFill>
                  <a:schemeClr val="tx1"/>
                </a:solidFill>
              </a:rPr>
              <a:t>count </a:t>
            </a:r>
            <a:r>
              <a:rPr lang="zh-CN" altLang="en-US" sz="4000" dirty="0">
                <a:solidFill>
                  <a:schemeClr val="tx1"/>
                </a:solidFill>
              </a:rPr>
              <a:t>返回指定元素出现几次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list4 = [1, 2, 3, 3, 2, 4, 2]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list4.count(2)         # </a:t>
            </a:r>
            <a:r>
              <a:rPr lang="zh-CN" altLang="zh-CN" sz="2800" dirty="0">
                <a:solidFill>
                  <a:schemeClr val="tx1"/>
                </a:solidFill>
              </a:rPr>
              <a:t>元素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zh-CN" sz="2800" dirty="0">
                <a:solidFill>
                  <a:schemeClr val="tx1"/>
                </a:solidFill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</a:rPr>
              <a:t>list4</a:t>
            </a:r>
            <a:r>
              <a:rPr lang="zh-CN" altLang="zh-CN" sz="2800" dirty="0">
                <a:solidFill>
                  <a:schemeClr val="tx1"/>
                </a:solidFill>
              </a:rPr>
              <a:t>中出现的次数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3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list4.count(6)         # </a:t>
            </a:r>
            <a:r>
              <a:rPr lang="zh-CN" altLang="zh-CN" sz="2800" dirty="0">
                <a:solidFill>
                  <a:schemeClr val="tx1"/>
                </a:solidFill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</a:rPr>
              <a:t>list4</a:t>
            </a:r>
            <a:r>
              <a:rPr lang="zh-CN" altLang="zh-CN" sz="2800" dirty="0">
                <a:solidFill>
                  <a:schemeClr val="tx1"/>
                </a:solidFill>
              </a:rPr>
              <a:t>中没有元素</a:t>
            </a:r>
            <a:r>
              <a:rPr lang="en-US" altLang="zh-CN" sz="2800" dirty="0">
                <a:solidFill>
                  <a:schemeClr val="tx1"/>
                </a:solidFill>
              </a:rPr>
              <a:t>6</a:t>
            </a:r>
            <a:r>
              <a:rPr lang="zh-CN" altLang="zh-CN" sz="2800" dirty="0">
                <a:solidFill>
                  <a:schemeClr val="tx1"/>
                </a:solidFill>
              </a:rPr>
              <a:t>，返回</a:t>
            </a:r>
            <a:r>
              <a:rPr lang="en-US" altLang="zh-CN" sz="2800" dirty="0">
                <a:solidFill>
                  <a:schemeClr val="tx1"/>
                </a:solidFill>
              </a:rPr>
              <a:t>0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0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A7C7C-CB46-4AE7-9004-CD3601CA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4998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600476-DA70-46D6-B4AE-6D443CD8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5" y="332656"/>
            <a:ext cx="11360717" cy="5785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>
                <a:solidFill>
                  <a:schemeClr val="tx1"/>
                </a:solidFill>
              </a:rPr>
              <a:t>reverse </a:t>
            </a:r>
            <a:r>
              <a:rPr lang="zh-CN" altLang="en-US" sz="4000" dirty="0">
                <a:solidFill>
                  <a:schemeClr val="tx1"/>
                </a:solidFill>
              </a:rPr>
              <a:t>逆序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list5 = [1, 2, 3, 4, 5, 6, 7, 8, 9, 10]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list5.reverse()           # </a:t>
            </a:r>
            <a:r>
              <a:rPr lang="zh-CN" altLang="zh-CN" sz="2800" dirty="0">
                <a:solidFill>
                  <a:schemeClr val="tx1"/>
                </a:solidFill>
              </a:rPr>
              <a:t>对</a:t>
            </a:r>
            <a:r>
              <a:rPr lang="en-US" altLang="zh-CN" sz="2800" dirty="0">
                <a:solidFill>
                  <a:schemeClr val="tx1"/>
                </a:solidFill>
              </a:rPr>
              <a:t>list5</a:t>
            </a:r>
            <a:r>
              <a:rPr lang="zh-CN" altLang="zh-CN" sz="2800" dirty="0">
                <a:solidFill>
                  <a:schemeClr val="tx1"/>
                </a:solidFill>
              </a:rPr>
              <a:t>逆序（翻转）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list5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[10, 9, 8, 7, 6, 5, 4, 3, 2, 1]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A7C7C-CB46-4AE7-9004-CD3601CA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638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600476-DA70-46D6-B4AE-6D443CD8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5" y="332656"/>
            <a:ext cx="12072665" cy="57855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3900" dirty="0"/>
              <a:t>sort  </a:t>
            </a:r>
            <a:r>
              <a:rPr lang="zh-CN" altLang="en-US" sz="3900" dirty="0"/>
              <a:t>排序</a:t>
            </a:r>
            <a:endParaRPr lang="en-US" altLang="zh-CN" sz="3900" dirty="0"/>
          </a:p>
          <a:p>
            <a:pPr marL="0" indent="0"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list6 = [10, 4, 2, 6, 1, 7, 3, 9, 8, 5]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list6.sort()           # </a:t>
            </a:r>
            <a:r>
              <a:rPr lang="zh-CN" altLang="zh-CN" sz="2800" dirty="0">
                <a:solidFill>
                  <a:schemeClr val="tx1"/>
                </a:solidFill>
              </a:rPr>
              <a:t>默认升序排序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list6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[1, 2, 3, 4, 5, 6, 7, 8, 9, 10]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list6 = [10, 4, 2, 6, 1, 7, 3, 9, 8, 5]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list6.sort(reverse=True)     # </a:t>
            </a:r>
            <a:r>
              <a:rPr lang="zh-CN" altLang="zh-CN" sz="2800" dirty="0">
                <a:solidFill>
                  <a:schemeClr val="tx1"/>
                </a:solidFill>
              </a:rPr>
              <a:t>降序排序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list6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[10, 9, 8, 7, 6, 5, 4, 3, 2, 1]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list6 = [23, 21, 345, 6, 98, 110]</a:t>
            </a:r>
            <a:endParaRPr lang="zh-CN" altLang="zh-C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&gt;&gt;&gt; list6.sort(key=str, reverse=True)  # </a:t>
            </a:r>
            <a:r>
              <a:rPr lang="zh-CN" altLang="zh-CN" sz="2800" dirty="0">
                <a:solidFill>
                  <a:schemeClr val="tx1"/>
                </a:solidFill>
              </a:rPr>
              <a:t>将列表元素转换为字符串后再降序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[98, 6, 345, 23, 21, 110]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A7C7C-CB46-4AE7-9004-CD3601CA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6211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7EFED-0FBF-43DA-82FF-41C0E79C0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ffectLst/>
              </a:rPr>
              <a:t>sort()</a:t>
            </a:r>
            <a:r>
              <a:rPr lang="zh-CN" altLang="en-US" dirty="0">
                <a:effectLst/>
              </a:rPr>
              <a:t>方法 </a:t>
            </a:r>
            <a:r>
              <a:rPr lang="en-US" altLang="zh-CN" dirty="0">
                <a:effectLst/>
              </a:rPr>
              <a:t>vs sorted()</a:t>
            </a:r>
            <a:r>
              <a:rPr lang="zh-CN" altLang="en-US" dirty="0">
                <a:effectLst/>
              </a:rPr>
              <a:t>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38E692-2609-431F-AD81-2048DA74A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 </a:t>
            </a:r>
            <a:r>
              <a:rPr lang="en-US" altLang="zh-CN" dirty="0" err="1">
                <a:effectLst/>
              </a:rPr>
              <a:t>list.sort</a:t>
            </a:r>
            <a:r>
              <a:rPr lang="en-US" altLang="zh-CN" dirty="0">
                <a:effectLst/>
              </a:rPr>
              <a:t>()</a:t>
            </a:r>
            <a:r>
              <a:rPr lang="zh-CN" altLang="en-US" dirty="0">
                <a:effectLst/>
              </a:rPr>
              <a:t>方法：对已存在的列表排序，没有返回值；</a:t>
            </a:r>
            <a:endParaRPr lang="en-US" altLang="zh-CN" dirty="0">
              <a:effectLst/>
            </a:endParaRPr>
          </a:p>
          <a:p>
            <a:r>
              <a:rPr lang="en-US" altLang="zh-CN" dirty="0">
                <a:effectLst/>
              </a:rPr>
              <a:t>sorted(list)</a:t>
            </a:r>
            <a:r>
              <a:rPr lang="zh-CN" altLang="en-US" dirty="0">
                <a:effectLst/>
              </a:rPr>
              <a:t>函数</a:t>
            </a:r>
            <a:r>
              <a:rPr lang="zh-CN" altLang="en-US" dirty="0"/>
              <a:t>：有返回值，</a:t>
            </a:r>
            <a:r>
              <a:rPr lang="zh-CN" altLang="en-US" dirty="0">
                <a:effectLst/>
              </a:rPr>
              <a:t>返回新的排序后的</a:t>
            </a:r>
            <a:r>
              <a:rPr lang="en-US" altLang="zh-CN" dirty="0">
                <a:effectLst/>
              </a:rPr>
              <a:t>list,</a:t>
            </a:r>
            <a:r>
              <a:rPr lang="zh-CN" altLang="en-US" dirty="0">
                <a:effectLst/>
              </a:rPr>
              <a:t>不在原来的</a:t>
            </a:r>
            <a:r>
              <a:rPr lang="en-US" altLang="zh-CN" dirty="0">
                <a:effectLst/>
              </a:rPr>
              <a:t>list</a:t>
            </a:r>
            <a:r>
              <a:rPr lang="zh-CN" altLang="en-US" dirty="0">
                <a:effectLst/>
              </a:rPr>
              <a:t>上进行操作。</a:t>
            </a:r>
            <a:endParaRPr lang="en-US" altLang="zh-CN" dirty="0">
              <a:effectLst/>
            </a:endParaRPr>
          </a:p>
          <a:p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L1=[3,2,4,1,5]</a:t>
            </a:r>
          </a:p>
          <a:p>
            <a:pPr marL="0" indent="0">
              <a:buNone/>
            </a:pPr>
            <a:r>
              <a:rPr lang="en-US" altLang="zh-CN" dirty="0"/>
              <a:t>&gt;&gt;&gt; L1.sort()   #</a:t>
            </a:r>
            <a:r>
              <a:rPr lang="zh-CN" altLang="en-US" dirty="0"/>
              <a:t>将</a:t>
            </a:r>
            <a:r>
              <a:rPr lang="en-US" altLang="zh-CN" dirty="0"/>
              <a:t>L1</a:t>
            </a:r>
            <a:r>
              <a:rPr lang="zh-CN" altLang="en-US" dirty="0"/>
              <a:t>排序，没有返回值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L2 = sorted(L1)  # </a:t>
            </a:r>
            <a:r>
              <a:rPr lang="zh-CN" altLang="en-US" dirty="0"/>
              <a:t>函数有返回值，</a:t>
            </a:r>
            <a:r>
              <a:rPr lang="en-US" altLang="zh-CN" dirty="0"/>
              <a:t>L1</a:t>
            </a:r>
            <a:r>
              <a:rPr lang="zh-CN" altLang="en-US"/>
              <a:t>不变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6F2915-A241-4A4D-8B84-A71CF829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1135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6B388D-AC7E-49DC-8C71-35883251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shuffle </a:t>
            </a:r>
            <a:r>
              <a:rPr lang="zh-CN" altLang="en-US" sz="4000" dirty="0"/>
              <a:t>打乱次序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3E8EC8-529D-4FA7-87D7-E568C53D6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39" y="1268759"/>
            <a:ext cx="11367613" cy="53586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t=(‘2040100’+ str(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range(1,6,1))   #</a:t>
            </a:r>
            <a:r>
              <a:rPr lang="zh-CN" altLang="en-US" sz="2400" dirty="0"/>
              <a:t>推导式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L1=list(t)</a:t>
            </a:r>
          </a:p>
          <a:p>
            <a:pPr marL="0" indent="0">
              <a:buNone/>
            </a:pPr>
            <a:r>
              <a:rPr lang="en-US" altLang="zh-CN" sz="2400" dirty="0"/>
              <a:t>&gt;&gt;&gt; L1</a:t>
            </a:r>
          </a:p>
          <a:p>
            <a:pPr marL="0" indent="0">
              <a:buNone/>
            </a:pPr>
            <a:r>
              <a:rPr lang="en-US" altLang="zh-CN" sz="2400" dirty="0"/>
              <a:t>['20401001', '20401002', '20401003', '20401004', '20401005’]</a:t>
            </a:r>
          </a:p>
          <a:p>
            <a:pPr marL="0" indent="0">
              <a:buNone/>
            </a:pPr>
            <a:r>
              <a:rPr lang="en-US" altLang="zh-CN" sz="2400" dirty="0"/>
              <a:t>&gt;&gt;&gt; import random</a:t>
            </a:r>
          </a:p>
          <a:p>
            <a:pPr marL="0" indent="0">
              <a:buNone/>
            </a:pPr>
            <a:r>
              <a:rPr lang="en-US" altLang="zh-CN" sz="2400" dirty="0"/>
              <a:t>&gt;&gt;&gt; </a:t>
            </a:r>
            <a:r>
              <a:rPr lang="en-US" altLang="zh-CN" sz="2400" dirty="0" err="1"/>
              <a:t>random.shuffle</a:t>
            </a:r>
            <a:r>
              <a:rPr lang="en-US" altLang="zh-CN" sz="2400" dirty="0"/>
              <a:t>(L1)</a:t>
            </a:r>
          </a:p>
          <a:p>
            <a:pPr marL="0" indent="0">
              <a:buNone/>
            </a:pPr>
            <a:r>
              <a:rPr lang="en-US" altLang="zh-CN" sz="2400" dirty="0"/>
              <a:t>&gt;&gt;&gt; L1</a:t>
            </a:r>
          </a:p>
          <a:p>
            <a:pPr marL="0" indent="0">
              <a:buNone/>
            </a:pPr>
            <a:r>
              <a:rPr lang="en-US" altLang="zh-CN" sz="2400" dirty="0"/>
              <a:t>['20401004', '20401003', '20401002', '20401001', '20401005’]</a:t>
            </a:r>
          </a:p>
          <a:p>
            <a:pPr marL="0" indent="0">
              <a:buNone/>
            </a:pPr>
            <a:r>
              <a:rPr lang="en-US" altLang="zh-CN" sz="2400" dirty="0"/>
              <a:t>&gt;&gt;&gt; </a:t>
            </a:r>
            <a:r>
              <a:rPr lang="en-US" altLang="zh-CN" sz="2400" dirty="0" err="1"/>
              <a:t>random.shuffle</a:t>
            </a:r>
            <a:r>
              <a:rPr lang="en-US" altLang="zh-CN" sz="2400" dirty="0"/>
              <a:t>(L1)</a:t>
            </a:r>
          </a:p>
          <a:p>
            <a:pPr marL="0" indent="0">
              <a:buNone/>
            </a:pPr>
            <a:r>
              <a:rPr lang="en-US" altLang="zh-CN" sz="2400" dirty="0"/>
              <a:t>&gt;&gt;&gt; L1</a:t>
            </a:r>
          </a:p>
          <a:p>
            <a:pPr marL="0" indent="0">
              <a:buNone/>
            </a:pPr>
            <a:r>
              <a:rPr lang="en-US" altLang="zh-CN" sz="2400" dirty="0"/>
              <a:t>['20401002', '20401003', '20401001', '20401005', '20401004']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000B2-E25A-43A3-9CAD-025B305B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6205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600476-DA70-46D6-B4AE-6D443CD8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5" y="332656"/>
            <a:ext cx="11360717" cy="5785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copy </a:t>
            </a:r>
            <a:r>
              <a:rPr lang="zh-CN" altLang="en-US" sz="3600" dirty="0">
                <a:solidFill>
                  <a:schemeClr val="tx1"/>
                </a:solidFill>
              </a:rPr>
              <a:t>拷贝列表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x= [1, 2, 3, 4, 5]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list7 = </a:t>
            </a:r>
            <a:r>
              <a:rPr lang="en-US" altLang="zh-CN" sz="2600" dirty="0" err="1">
                <a:solidFill>
                  <a:schemeClr val="tx1"/>
                </a:solidFill>
              </a:rPr>
              <a:t>x.copy</a:t>
            </a:r>
            <a:r>
              <a:rPr lang="en-US" altLang="zh-CN" sz="2600" dirty="0">
                <a:solidFill>
                  <a:schemeClr val="tx1"/>
                </a:solidFill>
              </a:rPr>
              <a:t>()      # </a:t>
            </a:r>
            <a:r>
              <a:rPr lang="zh-CN" altLang="zh-CN" sz="2600" dirty="0">
                <a:solidFill>
                  <a:schemeClr val="tx1"/>
                </a:solidFill>
              </a:rPr>
              <a:t>复制列表到</a:t>
            </a:r>
            <a:r>
              <a:rPr lang="en-US" altLang="zh-CN" sz="2600" dirty="0">
                <a:solidFill>
                  <a:schemeClr val="tx1"/>
                </a:solidFill>
              </a:rPr>
              <a:t>list7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list7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[1, 2, 3, 4, 5]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x[0] = 10          # </a:t>
            </a:r>
            <a:r>
              <a:rPr lang="zh-CN" altLang="zh-CN" sz="2600" dirty="0">
                <a:solidFill>
                  <a:schemeClr val="tx1"/>
                </a:solidFill>
              </a:rPr>
              <a:t>改变元素</a:t>
            </a:r>
            <a:r>
              <a:rPr lang="en-US" altLang="zh-CN" sz="2600" dirty="0">
                <a:solidFill>
                  <a:schemeClr val="tx1"/>
                </a:solidFill>
              </a:rPr>
              <a:t>x[0]</a:t>
            </a:r>
            <a:r>
              <a:rPr lang="zh-CN" altLang="zh-CN" sz="2600" dirty="0">
                <a:solidFill>
                  <a:schemeClr val="tx1"/>
                </a:solidFill>
              </a:rPr>
              <a:t>的值，不影响</a:t>
            </a:r>
            <a:r>
              <a:rPr lang="en-US" altLang="zh-CN" sz="2600" dirty="0">
                <a:solidFill>
                  <a:schemeClr val="tx1"/>
                </a:solidFill>
              </a:rPr>
              <a:t>list7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x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[10, 2, 3, 4, 5]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list7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[1, 2, 3, 4, 5]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A7C7C-CB46-4AE7-9004-CD3601CA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6493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3392" y="404664"/>
            <a:ext cx="10945216" cy="569386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列表赋值与</a:t>
            </a:r>
            <a:r>
              <a:rPr lang="en-US" altLang="zh-CN" sz="2800" b="1" dirty="0">
                <a:solidFill>
                  <a:schemeClr val="tx1"/>
                </a:solidFill>
              </a:rPr>
              <a:t>copy</a:t>
            </a:r>
            <a:r>
              <a:rPr lang="zh-CN" altLang="en-US" sz="2800" b="1" dirty="0">
                <a:solidFill>
                  <a:schemeClr val="tx1"/>
                </a:solidFill>
              </a:rPr>
              <a:t>不同：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x = [1, 2, 3, 4, 5]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list7 = x            # </a:t>
            </a:r>
            <a:r>
              <a:rPr lang="zh-CN" altLang="zh-CN" sz="2800" b="1" dirty="0">
                <a:solidFill>
                  <a:schemeClr val="tx1"/>
                </a:solidFill>
              </a:rPr>
              <a:t>赋值运算，</a:t>
            </a:r>
            <a:r>
              <a:rPr lang="en-US" altLang="zh-CN" sz="2800" b="1" dirty="0">
                <a:solidFill>
                  <a:schemeClr val="tx1"/>
                </a:solidFill>
              </a:rPr>
              <a:t>x</a:t>
            </a:r>
            <a:r>
              <a:rPr lang="zh-CN" altLang="zh-CN" sz="2800" b="1" dirty="0">
                <a:solidFill>
                  <a:schemeClr val="tx1"/>
                </a:solidFill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</a:rPr>
              <a:t>list7</a:t>
            </a:r>
            <a:r>
              <a:rPr lang="zh-CN" altLang="zh-CN" sz="2800" b="1" dirty="0">
                <a:solidFill>
                  <a:schemeClr val="tx1"/>
                </a:solidFill>
              </a:rPr>
              <a:t>指向同一个列表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x[0] = 10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x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[10, 2, 3, 4, 5]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list7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[10, 2, 3, 4, 5]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list7[2] = 30      # list7</a:t>
            </a:r>
            <a:r>
              <a:rPr lang="zh-CN" altLang="zh-CN" sz="2800" b="1" dirty="0">
                <a:solidFill>
                  <a:schemeClr val="tx1"/>
                </a:solidFill>
              </a:rPr>
              <a:t>发生改变，</a:t>
            </a:r>
            <a:r>
              <a:rPr lang="en-US" altLang="zh-CN" sz="2800" b="1" dirty="0">
                <a:solidFill>
                  <a:schemeClr val="tx1"/>
                </a:solidFill>
              </a:rPr>
              <a:t>x</a:t>
            </a:r>
            <a:r>
              <a:rPr lang="zh-CN" altLang="zh-CN" sz="2800" b="1" dirty="0">
                <a:solidFill>
                  <a:schemeClr val="tx1"/>
                </a:solidFill>
              </a:rPr>
              <a:t>也立刻发生改变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list7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[10, 2, 30, 4, 5]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x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[10, 2, 30, 4, 5]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349997-EB62-43EB-BB23-DF904EAA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44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列表的遍历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803022"/>
            <a:ext cx="10510329" cy="1761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800" dirty="0"/>
              <a:t>第一种</a:t>
            </a:r>
            <a:r>
              <a:rPr lang="zh-CN" altLang="en-US" sz="2800" dirty="0"/>
              <a:t>：</a:t>
            </a:r>
            <a:r>
              <a:rPr lang="zh-CN" altLang="zh-CN" sz="2800" dirty="0"/>
              <a:t>使用</a:t>
            </a:r>
            <a:r>
              <a:rPr lang="en-US" altLang="zh-CN" sz="2800" dirty="0"/>
              <a:t>in</a:t>
            </a:r>
            <a:r>
              <a:rPr lang="zh-CN" altLang="zh-CN" sz="2800" dirty="0"/>
              <a:t>，无需知道列表的长度。例如：</a:t>
            </a:r>
          </a:p>
          <a:p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919536" y="1429622"/>
            <a:ext cx="6048671" cy="193899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list8 = [1, 2, 3, 4, 5, 6, 7, 8]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in list8: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	if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% 2 == 1: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====		print(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, end=' ')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1 3 5 7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360" y="3489386"/>
            <a:ext cx="74719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spc="15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+mn-ea"/>
              </a:rPr>
              <a:t>第二种</a:t>
            </a:r>
            <a:r>
              <a:rPr lang="zh-CN" altLang="en-US" sz="2800" b="1" spc="15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+mn-ea"/>
              </a:rPr>
              <a:t>：</a:t>
            </a:r>
            <a:r>
              <a:rPr lang="zh-CN" altLang="zh-CN" sz="2800" b="1" spc="15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+mn-ea"/>
              </a:rPr>
              <a:t>用</a:t>
            </a:r>
            <a:r>
              <a:rPr lang="en-US" altLang="zh-CN" sz="2800" b="1" spc="15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+mn-ea"/>
              </a:rPr>
              <a:t>len()</a:t>
            </a:r>
            <a:r>
              <a:rPr lang="zh-CN" altLang="zh-CN" sz="2800" b="1" spc="15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+mn-ea"/>
              </a:rPr>
              <a:t>函数确定列表长度</a:t>
            </a:r>
            <a:r>
              <a:rPr lang="zh-CN" altLang="en-US" sz="2800" b="1" spc="15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+mn-ea"/>
              </a:rPr>
              <a:t>再遍历</a:t>
            </a:r>
            <a:r>
              <a:rPr lang="zh-CN" altLang="zh-CN" sz="2800" b="1" spc="15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+mn-ea"/>
              </a:rPr>
              <a:t>：</a:t>
            </a:r>
          </a:p>
          <a:p>
            <a:endParaRPr lang="zh-CN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559496" y="4136480"/>
            <a:ext cx="4831772" cy="2308324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in range(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(list8)):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	if i%2==0: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		print(list8[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],end=' ‘)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====	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1 3 5 7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89E4DF-6800-45A4-AAAE-AD770CF6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972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6" y="-27384"/>
            <a:ext cx="8643664" cy="988219"/>
          </a:xfrm>
        </p:spPr>
        <p:txBody>
          <a:bodyPr/>
          <a:lstStyle/>
          <a:p>
            <a:r>
              <a:rPr lang="en-US" altLang="zh-CN" dirty="0"/>
              <a:t>6.2.5 </a:t>
            </a:r>
            <a:r>
              <a:rPr lang="zh-CN" altLang="en-US" dirty="0"/>
              <a:t>列表的切片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124744"/>
            <a:ext cx="10086796" cy="3692301"/>
          </a:xfrm>
        </p:spPr>
        <p:txBody>
          <a:bodyPr>
            <a:normAutofit/>
          </a:bodyPr>
          <a:lstStyle/>
          <a:p>
            <a:endParaRPr lang="en-US" altLang="zh-CN" sz="2800" dirty="0"/>
          </a:p>
          <a:p>
            <a:r>
              <a:rPr lang="zh-CN" altLang="zh-CN" sz="2800" dirty="0"/>
              <a:t>格式</a:t>
            </a:r>
            <a:r>
              <a:rPr lang="en-US" altLang="zh-CN" sz="2800" dirty="0"/>
              <a:t>1</a:t>
            </a:r>
            <a:r>
              <a:rPr lang="zh-CN" altLang="zh-CN" sz="2800" dirty="0"/>
              <a:t>：</a:t>
            </a:r>
            <a:r>
              <a:rPr lang="en-US" altLang="zh-CN" sz="2800" dirty="0"/>
              <a:t>x[</a:t>
            </a:r>
            <a:r>
              <a:rPr lang="en-US" altLang="zh-CN" sz="2800" dirty="0" err="1"/>
              <a:t>start:end:step</a:t>
            </a:r>
            <a:r>
              <a:rPr lang="en-US" altLang="zh-CN" sz="2800" dirty="0"/>
              <a:t>]</a:t>
            </a:r>
            <a:endParaRPr lang="zh-CN" altLang="zh-CN" sz="2800" dirty="0"/>
          </a:p>
          <a:p>
            <a:r>
              <a:rPr lang="zh-CN" altLang="zh-CN" sz="2800" dirty="0"/>
              <a:t>格式</a:t>
            </a:r>
            <a:r>
              <a:rPr lang="en-US" altLang="zh-CN" sz="2800" dirty="0"/>
              <a:t>2</a:t>
            </a:r>
            <a:r>
              <a:rPr lang="zh-CN" altLang="zh-CN" sz="2800" dirty="0"/>
              <a:t>：</a:t>
            </a:r>
            <a:r>
              <a:rPr lang="en-US" altLang="zh-CN" sz="2800" dirty="0"/>
              <a:t>x[</a:t>
            </a:r>
            <a:r>
              <a:rPr lang="en-US" altLang="zh-CN" sz="2800" dirty="0" err="1"/>
              <a:t>start:end</a:t>
            </a:r>
            <a:r>
              <a:rPr lang="en-US" altLang="zh-CN" sz="2800" dirty="0"/>
              <a:t>]</a:t>
            </a:r>
            <a:endParaRPr lang="zh-CN" altLang="zh-CN" sz="2800" dirty="0"/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CD2AE-BA73-4ADB-B57A-3ED7E7A6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7131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6" y="-27384"/>
            <a:ext cx="8643664" cy="988219"/>
          </a:xfrm>
        </p:spPr>
        <p:txBody>
          <a:bodyPr/>
          <a:lstStyle/>
          <a:p>
            <a:r>
              <a:rPr lang="en-US" altLang="zh-CN" dirty="0"/>
              <a:t>6.2.5 </a:t>
            </a:r>
            <a:r>
              <a:rPr lang="zh-CN" altLang="en-US" dirty="0"/>
              <a:t>列表的切片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408" y="960834"/>
            <a:ext cx="9612740" cy="569386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&gt;&gt;&gt; list1 = [1, 2, 3, 4, 5, 6, 7, 8, 9, 10]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list1[0:10:1]           # </a:t>
            </a:r>
            <a:r>
              <a:rPr lang="zh-CN" altLang="zh-CN" sz="2800" b="1" dirty="0">
                <a:solidFill>
                  <a:schemeClr val="tx1"/>
                </a:solidFill>
              </a:rPr>
              <a:t>正向截取列表所有元素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[1, 2, 3, 4, 5, 6, 7, 8, 9, 10]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list1[::]                   # </a:t>
            </a:r>
            <a:r>
              <a:rPr lang="zh-CN" altLang="zh-CN" sz="2800" b="1" dirty="0">
                <a:solidFill>
                  <a:schemeClr val="tx1"/>
                </a:solidFill>
              </a:rPr>
              <a:t>默认</a:t>
            </a:r>
            <a:r>
              <a:rPr lang="en-US" altLang="zh-CN" sz="2800" b="1" dirty="0">
                <a:solidFill>
                  <a:schemeClr val="tx1"/>
                </a:solidFill>
              </a:rPr>
              <a:t>start</a:t>
            </a:r>
            <a:r>
              <a:rPr lang="zh-CN" altLang="zh-CN" sz="2800" b="1" dirty="0">
                <a:solidFill>
                  <a:schemeClr val="tx1"/>
                </a:solidFill>
              </a:rPr>
              <a:t>为</a:t>
            </a:r>
            <a:r>
              <a:rPr lang="en-US" altLang="zh-CN" sz="2800" b="1" dirty="0">
                <a:solidFill>
                  <a:schemeClr val="tx1"/>
                </a:solidFill>
              </a:rPr>
              <a:t>0</a:t>
            </a:r>
            <a:r>
              <a:rPr lang="zh-CN" altLang="zh-CN" sz="2800" b="1" dirty="0">
                <a:solidFill>
                  <a:schemeClr val="tx1"/>
                </a:solidFill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</a:rPr>
              <a:t>end</a:t>
            </a:r>
            <a:r>
              <a:rPr lang="zh-CN" altLang="zh-CN" sz="2800" b="1" dirty="0">
                <a:solidFill>
                  <a:schemeClr val="tx1"/>
                </a:solidFill>
              </a:rPr>
              <a:t>为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(list1)</a:t>
            </a:r>
            <a:r>
              <a:rPr lang="zh-CN" altLang="zh-CN" sz="2800" b="1" dirty="0">
                <a:solidFill>
                  <a:schemeClr val="tx1"/>
                </a:solidFill>
              </a:rPr>
              <a:t>，步长为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[1, 2, 3, 4, 5, 6, 7, 8, 9, 10]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list1[::2]                 # </a:t>
            </a:r>
            <a:r>
              <a:rPr lang="zh-CN" altLang="zh-CN" sz="2800" b="1" dirty="0">
                <a:solidFill>
                  <a:schemeClr val="tx1"/>
                </a:solidFill>
              </a:rPr>
              <a:t>正向截取，步长为</a:t>
            </a: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[1, 3, 5, 7, 9]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list1[::-1]                 # </a:t>
            </a:r>
            <a:r>
              <a:rPr lang="zh-CN" altLang="zh-CN" sz="2800" b="1" dirty="0">
                <a:solidFill>
                  <a:schemeClr val="tx1"/>
                </a:solidFill>
              </a:rPr>
              <a:t>反向截取，步长为</a:t>
            </a:r>
            <a:r>
              <a:rPr lang="en-US" altLang="zh-CN" sz="2800" b="1" dirty="0">
                <a:solidFill>
                  <a:schemeClr val="tx1"/>
                </a:solidFill>
              </a:rPr>
              <a:t>-1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[10, 9, 8, 7, 6, 5, 4, 3, 2, 1]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CD2AE-BA73-4ADB-B57A-3ED7E7A6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386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6" y="-27384"/>
            <a:ext cx="8643664" cy="988219"/>
          </a:xfrm>
        </p:spPr>
        <p:txBody>
          <a:bodyPr/>
          <a:lstStyle/>
          <a:p>
            <a:r>
              <a:rPr lang="en-US" altLang="zh-CN" dirty="0"/>
              <a:t>6.2.5 </a:t>
            </a:r>
            <a:r>
              <a:rPr lang="zh-CN" altLang="en-US" dirty="0"/>
              <a:t>列表的切片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408" y="960834"/>
            <a:ext cx="9612740" cy="289310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1"/>
                </a:solidFill>
              </a:rPr>
              <a:t>&gt;&gt;&gt; list1[5:0:-1]   # </a:t>
            </a:r>
            <a:r>
              <a:rPr lang="zh-CN" altLang="zh-CN" sz="2600" b="1" dirty="0">
                <a:solidFill>
                  <a:schemeClr val="tx1"/>
                </a:solidFill>
              </a:rPr>
              <a:t>反向截取，</a:t>
            </a:r>
            <a:r>
              <a:rPr lang="en-US" altLang="zh-CN" sz="2600" b="1" dirty="0">
                <a:solidFill>
                  <a:schemeClr val="tx1"/>
                </a:solidFill>
              </a:rPr>
              <a:t>start</a:t>
            </a:r>
            <a:r>
              <a:rPr lang="zh-CN" altLang="zh-CN" sz="2600" b="1" dirty="0">
                <a:solidFill>
                  <a:schemeClr val="tx1"/>
                </a:solidFill>
              </a:rPr>
              <a:t>为</a:t>
            </a:r>
            <a:r>
              <a:rPr lang="en-US" altLang="zh-CN" sz="2600" b="1" dirty="0">
                <a:solidFill>
                  <a:schemeClr val="tx1"/>
                </a:solidFill>
              </a:rPr>
              <a:t>5,end</a:t>
            </a:r>
            <a:r>
              <a:rPr lang="zh-CN" altLang="zh-CN" sz="2600" b="1" dirty="0">
                <a:solidFill>
                  <a:schemeClr val="tx1"/>
                </a:solidFill>
              </a:rPr>
              <a:t>为</a:t>
            </a:r>
            <a:r>
              <a:rPr lang="en-US" altLang="zh-CN" sz="2600" b="1" dirty="0">
                <a:solidFill>
                  <a:schemeClr val="tx1"/>
                </a:solidFill>
              </a:rPr>
              <a:t>0(</a:t>
            </a:r>
            <a:r>
              <a:rPr lang="zh-CN" altLang="zh-CN" sz="2600" b="1" dirty="0">
                <a:solidFill>
                  <a:schemeClr val="tx1"/>
                </a:solidFill>
              </a:rPr>
              <a:t>不包含</a:t>
            </a:r>
            <a:r>
              <a:rPr lang="en-US" altLang="zh-CN" sz="2600" b="1" dirty="0">
                <a:solidFill>
                  <a:schemeClr val="tx1"/>
                </a:solidFill>
              </a:rPr>
              <a:t>)</a:t>
            </a:r>
            <a:r>
              <a:rPr lang="zh-CN" altLang="zh-CN" sz="2600" b="1" dirty="0">
                <a:solidFill>
                  <a:schemeClr val="tx1"/>
                </a:solidFill>
              </a:rPr>
              <a:t>，步长为</a:t>
            </a:r>
            <a:r>
              <a:rPr lang="en-US" altLang="zh-CN" sz="2600" b="1" dirty="0">
                <a:solidFill>
                  <a:schemeClr val="tx1"/>
                </a:solidFill>
              </a:rPr>
              <a:t>-1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[6, 5, 4, 3, 2]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endParaRPr lang="en-US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&gt;&gt;&gt; list1[-2:-6:-1]  # </a:t>
            </a:r>
            <a:r>
              <a:rPr lang="zh-CN" altLang="zh-CN" sz="2600" b="1" dirty="0">
                <a:solidFill>
                  <a:schemeClr val="tx1"/>
                </a:solidFill>
              </a:rPr>
              <a:t>反向截取，</a:t>
            </a:r>
            <a:r>
              <a:rPr lang="en-US" altLang="zh-CN" sz="2600" b="1" dirty="0">
                <a:solidFill>
                  <a:schemeClr val="tx1"/>
                </a:solidFill>
              </a:rPr>
              <a:t>start</a:t>
            </a:r>
            <a:r>
              <a:rPr lang="zh-CN" altLang="zh-CN" sz="2600" b="1" dirty="0">
                <a:solidFill>
                  <a:schemeClr val="tx1"/>
                </a:solidFill>
              </a:rPr>
              <a:t>为</a:t>
            </a:r>
            <a:r>
              <a:rPr lang="en-US" altLang="zh-CN" sz="2600" b="1" dirty="0">
                <a:solidFill>
                  <a:schemeClr val="tx1"/>
                </a:solidFill>
              </a:rPr>
              <a:t>-2</a:t>
            </a:r>
            <a:r>
              <a:rPr lang="zh-CN" altLang="zh-CN" sz="2600" b="1" dirty="0">
                <a:solidFill>
                  <a:schemeClr val="tx1"/>
                </a:solidFill>
              </a:rPr>
              <a:t>，</a:t>
            </a:r>
            <a:r>
              <a:rPr lang="en-US" altLang="zh-CN" sz="2600" b="1" dirty="0">
                <a:solidFill>
                  <a:schemeClr val="tx1"/>
                </a:solidFill>
              </a:rPr>
              <a:t>end</a:t>
            </a:r>
            <a:r>
              <a:rPr lang="zh-CN" altLang="zh-CN" sz="2600" b="1" dirty="0">
                <a:solidFill>
                  <a:schemeClr val="tx1"/>
                </a:solidFill>
              </a:rPr>
              <a:t>为</a:t>
            </a:r>
            <a:r>
              <a:rPr lang="en-US" altLang="zh-CN" sz="2600" b="1" dirty="0">
                <a:solidFill>
                  <a:schemeClr val="tx1"/>
                </a:solidFill>
              </a:rPr>
              <a:t>-6</a:t>
            </a:r>
            <a:r>
              <a:rPr lang="zh-CN" altLang="zh-CN" sz="2600" b="1" dirty="0">
                <a:solidFill>
                  <a:schemeClr val="tx1"/>
                </a:solidFill>
              </a:rPr>
              <a:t>（不包含），步长为</a:t>
            </a:r>
            <a:r>
              <a:rPr lang="en-US" altLang="zh-CN" sz="2600" b="1" dirty="0">
                <a:solidFill>
                  <a:schemeClr val="tx1"/>
                </a:solidFill>
              </a:rPr>
              <a:t>-1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[9, 8, 7, 6]</a:t>
            </a:r>
            <a:endParaRPr lang="zh-CN" altLang="zh-CN" sz="2600" b="1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CD2AE-BA73-4ADB-B57A-3ED7E7A6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3675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5066" y="260648"/>
            <a:ext cx="9649072" cy="50405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zh-CN" dirty="0"/>
              <a:t>切片</a:t>
            </a:r>
            <a:r>
              <a:rPr lang="zh-CN" altLang="en-US" dirty="0"/>
              <a:t>还可以</a:t>
            </a:r>
            <a:r>
              <a:rPr lang="zh-CN" altLang="zh-CN" dirty="0"/>
              <a:t>实现列表元素的增加、删除、修改及复制功能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59496" y="856357"/>
            <a:ext cx="9505056" cy="526297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&gt;&gt;&gt; list1 = [1, 2, 3, 4, 5]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(list1):] = [9]       #</a:t>
            </a:r>
            <a:r>
              <a:rPr lang="zh-CN" altLang="zh-CN" sz="2800" b="1" dirty="0">
                <a:solidFill>
                  <a:schemeClr val="tx1"/>
                </a:solidFill>
              </a:rPr>
              <a:t>在列表的尾部添加一个元素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[1, 2, 3, 4, 5, 9]</a:t>
            </a:r>
          </a:p>
          <a:p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list1[:0] = [7, 8]           </a:t>
            </a:r>
            <a:r>
              <a:rPr lang="zh-CN" altLang="en-US" sz="2800" b="1" dirty="0">
                <a:solidFill>
                  <a:schemeClr val="tx1"/>
                </a:solidFill>
              </a:rPr>
              <a:t>　</a:t>
            </a:r>
            <a:r>
              <a:rPr lang="en-US" altLang="zh-CN" sz="2800" b="1" dirty="0">
                <a:solidFill>
                  <a:schemeClr val="tx1"/>
                </a:solidFill>
              </a:rPr>
              <a:t># </a:t>
            </a:r>
            <a:r>
              <a:rPr lang="zh-CN" altLang="zh-CN" sz="2800" b="1" dirty="0">
                <a:solidFill>
                  <a:schemeClr val="tx1"/>
                </a:solidFill>
              </a:rPr>
              <a:t>在列表的首部添加多个元素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[7, 8, 1, 2, 3, 4, 5, 9]</a:t>
            </a:r>
          </a:p>
          <a:p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list1[2:2]=[11]      #</a:t>
            </a:r>
            <a:r>
              <a:rPr lang="zh-CN" altLang="zh-CN" sz="2800" b="1" dirty="0">
                <a:solidFill>
                  <a:schemeClr val="tx1"/>
                </a:solidFill>
              </a:rPr>
              <a:t>在列表的指定位置添加（插入）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[7, 8, 11, 1, 2, 3, 4, 5, 9]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F97DAD-C63B-452A-BC77-F03F911F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C54140-7DB9-47A4-BBD7-8135681493D6}"/>
              </a:ext>
            </a:extLst>
          </p:cNvPr>
          <p:cNvSpPr txBox="1"/>
          <p:nvPr/>
        </p:nvSpPr>
        <p:spPr>
          <a:xfrm>
            <a:off x="6960096" y="5750004"/>
            <a:ext cx="61036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&gt;&gt;&gt; x= [1, 2, 3, 4, 5]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&gt;&gt;&gt; list7 = </a:t>
            </a:r>
            <a:r>
              <a:rPr lang="en-US" altLang="zh-CN" sz="1800" dirty="0" err="1">
                <a:solidFill>
                  <a:schemeClr val="tx1"/>
                </a:solidFill>
              </a:rPr>
              <a:t>x.copy</a:t>
            </a:r>
            <a:r>
              <a:rPr lang="en-US" altLang="zh-CN" sz="1800" dirty="0">
                <a:solidFill>
                  <a:schemeClr val="tx1"/>
                </a:solidFill>
              </a:rPr>
              <a:t>()      # </a:t>
            </a:r>
            <a:r>
              <a:rPr lang="zh-CN" altLang="zh-CN" sz="1800" dirty="0">
                <a:solidFill>
                  <a:schemeClr val="tx1"/>
                </a:solidFill>
              </a:rPr>
              <a:t>复制列表到</a:t>
            </a:r>
            <a:r>
              <a:rPr lang="en-US" altLang="zh-CN" sz="1800" dirty="0">
                <a:solidFill>
                  <a:schemeClr val="tx1"/>
                </a:solidFill>
              </a:rPr>
              <a:t>list7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&gt;&gt;&gt; list7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[1, 2, 3, 4, 5]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&gt;&gt;&gt; x[0] = 10          # </a:t>
            </a:r>
            <a:r>
              <a:rPr lang="zh-CN" altLang="zh-CN" sz="1800" dirty="0">
                <a:solidFill>
                  <a:schemeClr val="tx1"/>
                </a:solidFill>
              </a:rPr>
              <a:t>改变元素</a:t>
            </a:r>
            <a:r>
              <a:rPr lang="en-US" altLang="zh-CN" sz="1800" dirty="0">
                <a:solidFill>
                  <a:schemeClr val="tx1"/>
                </a:solidFill>
              </a:rPr>
              <a:t>x[0]</a:t>
            </a:r>
            <a:r>
              <a:rPr lang="zh-CN" altLang="zh-CN" sz="1800" dirty="0">
                <a:solidFill>
                  <a:schemeClr val="tx1"/>
                </a:solidFill>
              </a:rPr>
              <a:t>的值，不影响</a:t>
            </a:r>
            <a:r>
              <a:rPr lang="en-US" altLang="zh-CN" sz="1800" dirty="0">
                <a:solidFill>
                  <a:schemeClr val="tx1"/>
                </a:solidFill>
              </a:rPr>
              <a:t>list7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&gt;&gt;&gt; x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[10, 2, 3, 4, 5]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&gt;&gt;&gt; list7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[1, 2, 3, 4, 5]</a:t>
            </a:r>
            <a:endParaRPr lang="zh-CN" altLang="zh-CN" sz="1800" dirty="0">
              <a:solidFill>
                <a:schemeClr val="tx1"/>
              </a:solidFill>
            </a:endParaRPr>
          </a:p>
          <a:p>
            <a:endParaRPr lang="zh-CN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502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2C7639-6DB7-4E54-85DB-13A73609C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404664"/>
            <a:ext cx="11072684" cy="59346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list1[:3] = [-2, -1, 0]    # </a:t>
            </a:r>
            <a:r>
              <a:rPr lang="zh-CN" altLang="zh-CN" sz="2600" dirty="0">
                <a:solidFill>
                  <a:schemeClr val="tx1"/>
                </a:solidFill>
              </a:rPr>
              <a:t>使用切片替换列表中的元素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list1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[-2, -1, 0, 1, 2, 3, 4, 5, 9]</a:t>
            </a:r>
          </a:p>
          <a:p>
            <a:pPr marL="0" indent="0">
              <a:buNone/>
            </a:pP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list1[::2] = [8] * 5    # </a:t>
            </a:r>
            <a:r>
              <a:rPr lang="zh-CN" altLang="zh-CN" sz="2600" dirty="0">
                <a:solidFill>
                  <a:schemeClr val="tx1"/>
                </a:solidFill>
              </a:rPr>
              <a:t>隔一个修改一个，切片不连续时等号两边列表长度必须相等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list1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[8, -1, 8, 1, 8, 3, 8, 5, 8]</a:t>
            </a:r>
          </a:p>
          <a:p>
            <a:pPr marL="0" indent="0">
              <a:buNone/>
            </a:pP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list1[:2] = []       # </a:t>
            </a:r>
            <a:r>
              <a:rPr lang="zh-CN" altLang="zh-CN" sz="2600" dirty="0">
                <a:solidFill>
                  <a:schemeClr val="tx1"/>
                </a:solidFill>
              </a:rPr>
              <a:t>删除列表中的前</a:t>
            </a:r>
            <a:r>
              <a:rPr lang="en-US" altLang="zh-CN" sz="2600" dirty="0">
                <a:solidFill>
                  <a:schemeClr val="tx1"/>
                </a:solidFill>
              </a:rPr>
              <a:t>2</a:t>
            </a:r>
            <a:r>
              <a:rPr lang="zh-CN" altLang="zh-CN" sz="2600" dirty="0">
                <a:solidFill>
                  <a:schemeClr val="tx1"/>
                </a:solidFill>
              </a:rPr>
              <a:t>个元素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list1</a:t>
            </a:r>
            <a:endParaRPr lang="zh-CN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[8, 1, 8, 3, 8, 5, 8]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8F61D6-15D1-4135-AF36-AFBEE89D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2C7639-6DB7-4E54-85DB-13A73609C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404664"/>
            <a:ext cx="11377264" cy="59346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list2 = list1[::]     # </a:t>
            </a:r>
            <a:r>
              <a:rPr lang="zh-CN" altLang="zh-CN" sz="2600" dirty="0">
                <a:solidFill>
                  <a:schemeClr val="tx1"/>
                </a:solidFill>
              </a:rPr>
              <a:t>利用切片复制，为浅复制</a:t>
            </a:r>
            <a:r>
              <a:rPr lang="en-US" altLang="zh-CN" sz="2600" dirty="0">
                <a:solidFill>
                  <a:schemeClr val="tx1"/>
                </a:solidFill>
              </a:rPr>
              <a:t>(</a:t>
            </a:r>
            <a:r>
              <a:rPr lang="zh-CN" altLang="en-US" sz="2600" dirty="0">
                <a:solidFill>
                  <a:schemeClr val="tx1"/>
                </a:solidFill>
              </a:rPr>
              <a:t>复制值</a:t>
            </a:r>
            <a:r>
              <a:rPr lang="en-US" altLang="zh-CN" sz="2600" dirty="0">
                <a:solidFill>
                  <a:schemeClr val="tx1"/>
                </a:solidFill>
              </a:rPr>
              <a:t>,</a:t>
            </a:r>
            <a:r>
              <a:rPr lang="zh-CN" altLang="en-US" sz="2600" dirty="0">
                <a:solidFill>
                  <a:schemeClr val="tx1"/>
                </a:solidFill>
              </a:rPr>
              <a:t>新建列表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&gt;&gt;&gt; list2           </a:t>
            </a:r>
            <a:r>
              <a:rPr lang="zh-CN" altLang="en-US" sz="2600" dirty="0">
                <a:solidFill>
                  <a:schemeClr val="tx1"/>
                </a:solidFill>
              </a:rPr>
              <a:t>　　　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[8, 1, 8, 3, 8, 5, 8]</a:t>
            </a:r>
            <a:endParaRPr lang="zh-CN" altLang="zh-CN" sz="26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8F61D6-15D1-4135-AF36-AFBEE89D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69185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3C80D-3D93-4F25-BC92-ADE2A6BB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列表与字符串的转换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66D80-DA9F-429C-9D24-CBE5967A3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728"/>
            <a:ext cx="11480053" cy="547260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US" altLang="zh-CN" dirty="0"/>
              <a:t>split</a:t>
            </a:r>
          </a:p>
          <a:p>
            <a:pPr marL="0" indent="0">
              <a:buNone/>
            </a:pPr>
            <a:r>
              <a:rPr lang="en-US" altLang="zh-CN" dirty="0"/>
              <a:t>&gt;&gt;&gt; s='this is a word.'</a:t>
            </a:r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s.split</a:t>
            </a:r>
            <a:r>
              <a:rPr lang="en-US" altLang="zh-CN" dirty="0"/>
              <a:t>()		#</a:t>
            </a:r>
            <a:r>
              <a:rPr lang="zh-CN" altLang="en-US" dirty="0"/>
              <a:t>默认用空格分割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['this', 'is', 'a', 'word.’]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 split</a:t>
            </a:r>
            <a:r>
              <a:rPr lang="zh-CN" altLang="en-US" dirty="0"/>
              <a:t>函数与</a:t>
            </a:r>
            <a:r>
              <a:rPr lang="en-US" altLang="zh-CN" dirty="0"/>
              <a:t>list</a:t>
            </a:r>
            <a:r>
              <a:rPr lang="zh-CN" altLang="en-US" dirty="0"/>
              <a:t>函数转换列表不同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list(s)</a:t>
            </a:r>
          </a:p>
          <a:p>
            <a:pPr marL="0" indent="0">
              <a:buNone/>
            </a:pPr>
            <a:r>
              <a:rPr lang="en-US" altLang="zh-CN" dirty="0"/>
              <a:t>['t', 'h', '</a:t>
            </a:r>
            <a:r>
              <a:rPr lang="en-US" altLang="zh-CN" dirty="0" err="1"/>
              <a:t>i</a:t>
            </a:r>
            <a:r>
              <a:rPr lang="en-US" altLang="zh-CN" dirty="0"/>
              <a:t>', 's', ' ', '</a:t>
            </a:r>
            <a:r>
              <a:rPr lang="en-US" altLang="zh-CN" dirty="0" err="1"/>
              <a:t>i</a:t>
            </a:r>
            <a:r>
              <a:rPr lang="en-US" altLang="zh-CN" dirty="0"/>
              <a:t>', 's', ' ', 'a', ' ', 'w', 'o', 'r', 'd', '.’]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zh-CN" altLang="en-US" dirty="0"/>
              <a:t>用其他字符分割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s1='12:35'</a:t>
            </a:r>
          </a:p>
          <a:p>
            <a:pPr marL="0" indent="0">
              <a:buNone/>
            </a:pPr>
            <a:r>
              <a:rPr lang="en-US" altLang="zh-CN" dirty="0"/>
              <a:t>&gt;&gt;&gt; s1.split(':')</a:t>
            </a:r>
          </a:p>
          <a:p>
            <a:pPr marL="0" indent="0">
              <a:buNone/>
            </a:pPr>
            <a:r>
              <a:rPr lang="en-US" altLang="zh-CN" dirty="0"/>
              <a:t>['12', '35']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C4ECBE-41EA-4565-BA7D-3DCC21DF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0478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BE61F-DD37-448B-9D29-20E3F3B0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C30F59-BB29-4B5D-BE3F-D8DB1DC67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2. join()</a:t>
            </a:r>
            <a:r>
              <a:rPr lang="zh-CN" altLang="en-US" dirty="0"/>
              <a:t>函数连接列表得到字符串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&gt;&gt;&gt; list1 =['this', 'is', 'a', 'test.']</a:t>
            </a: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&gt;&gt;&gt; t = ‘ ’.join(list1)   </a:t>
            </a: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#  .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前面是空格，用空格去连接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list1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的每个元素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&gt;&gt;&gt; t</a:t>
            </a: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'this is a test.’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说明：程序中，会将字符串</a:t>
            </a:r>
            <a:r>
              <a:rPr lang="en-US" altLang="zh-CN" dirty="0"/>
              <a:t>split</a:t>
            </a:r>
            <a:r>
              <a:rPr lang="zh-CN" altLang="en-US" dirty="0"/>
              <a:t>成列表，对每个元素进行各种处理，然后再</a:t>
            </a:r>
            <a:r>
              <a:rPr lang="en-US" altLang="zh-CN" dirty="0"/>
              <a:t>join</a:t>
            </a:r>
            <a:r>
              <a:rPr lang="zh-CN" altLang="en-US" dirty="0"/>
              <a:t>成一个字符串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7E39F4-8124-437A-B7B0-67358FF7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15772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6.2.6 </a:t>
            </a:r>
            <a:r>
              <a:rPr lang="zh-CN" altLang="en-US" dirty="0"/>
              <a:t>列表推导式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79376" y="1196752"/>
                <a:ext cx="11600184" cy="262889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sz="2800" dirty="0"/>
                  <a:t>语法格式：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en-US" altLang="zh-CN" sz="2800" dirty="0"/>
                  <a:t>[expr for i</a:t>
                </a:r>
                <a:r>
                  <a:rPr lang="en-US" altLang="zh-CN" sz="2800" baseline="-25000" dirty="0"/>
                  <a:t>1</a:t>
                </a:r>
                <a:r>
                  <a:rPr lang="en-US" altLang="zh-CN" sz="2800" dirty="0"/>
                  <a:t> in </a:t>
                </a:r>
                <a:r>
                  <a:rPr lang="zh-CN" altLang="zh-CN" sz="2800" dirty="0"/>
                  <a:t>序列</a:t>
                </a:r>
                <a:r>
                  <a:rPr lang="en-US" altLang="zh-CN" sz="2800" dirty="0"/>
                  <a:t>1 if condition1</a:t>
                </a:r>
                <a:endParaRPr lang="zh-CN" altLang="zh-CN" sz="2800" dirty="0"/>
              </a:p>
              <a:p>
                <a:pPr marL="0" indent="0">
                  <a:buNone/>
                </a:pPr>
                <a:r>
                  <a:rPr lang="en-US" altLang="zh-CN" sz="2800" dirty="0"/>
                  <a:t>	 for i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 in </a:t>
                </a:r>
                <a:r>
                  <a:rPr lang="zh-CN" altLang="zh-CN" sz="2800" dirty="0"/>
                  <a:t>序列</a:t>
                </a:r>
                <a:r>
                  <a:rPr lang="en-US" altLang="zh-CN" sz="2800" dirty="0"/>
                  <a:t>2 if condition2</a:t>
                </a:r>
                <a:endParaRPr lang="zh-CN" altLang="zh-CN" sz="2800" dirty="0"/>
              </a:p>
              <a:p>
                <a:pPr marL="0" indent="0">
                  <a:buNone/>
                </a:pPr>
                <a:r>
                  <a:rPr lang="en-US" altLang="zh-CN" sz="2800" dirty="0"/>
                  <a:t>	 for i</a:t>
                </a:r>
                <a:r>
                  <a:rPr lang="en-US" altLang="zh-CN" sz="2800" baseline="-25000" dirty="0"/>
                  <a:t>3</a:t>
                </a:r>
                <a:r>
                  <a:rPr lang="en-US" altLang="zh-CN" sz="2800" dirty="0"/>
                  <a:t> in </a:t>
                </a:r>
                <a:r>
                  <a:rPr lang="zh-CN" altLang="zh-CN" sz="2800" dirty="0"/>
                  <a:t>序列</a:t>
                </a:r>
                <a:r>
                  <a:rPr lang="en-US" altLang="zh-CN" sz="2800" dirty="0"/>
                  <a:t>3 if condition3</a:t>
                </a:r>
                <a:endParaRPr lang="zh-CN" altLang="zh-CN" sz="2800" dirty="0"/>
              </a:p>
              <a:p>
                <a:pPr marL="0" indent="0">
                  <a:buNone/>
                </a:pPr>
                <a:r>
                  <a:rPr lang="en-US" altLang="zh-CN" sz="2800" dirty="0"/>
                  <a:t>	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latin typeface="Cambria Math"/>
                      </a:rPr>
                      <m:t>⋮</m:t>
                    </m:r>
                  </m:oMath>
                </a14:m>
                <a:endParaRPr lang="zh-CN" altLang="zh-CN" sz="2800" dirty="0"/>
              </a:p>
              <a:p>
                <a:pPr marL="0" indent="0">
                  <a:buNone/>
                </a:pPr>
                <a:r>
                  <a:rPr lang="en-US" altLang="zh-CN" sz="2800" dirty="0"/>
                  <a:t>	 for </a:t>
                </a:r>
                <a:r>
                  <a:rPr lang="en-US" altLang="zh-CN" sz="2800" dirty="0" err="1"/>
                  <a:t>i</a:t>
                </a:r>
                <a:r>
                  <a:rPr lang="en-US" altLang="zh-CN" sz="2800" baseline="-25000" dirty="0" err="1"/>
                  <a:t>N</a:t>
                </a:r>
                <a:r>
                  <a:rPr lang="en-US" altLang="zh-CN" sz="2800" dirty="0"/>
                  <a:t> in</a:t>
                </a:r>
                <a:r>
                  <a:rPr lang="zh-CN" altLang="zh-CN" sz="2800" dirty="0"/>
                  <a:t>序列</a:t>
                </a:r>
                <a:r>
                  <a:rPr lang="en-US" altLang="zh-CN" sz="2800" dirty="0"/>
                  <a:t>N if </a:t>
                </a:r>
                <a:r>
                  <a:rPr lang="en-US" altLang="zh-CN" sz="2800" dirty="0" err="1"/>
                  <a:t>conditionN</a:t>
                </a:r>
                <a:r>
                  <a:rPr lang="en-US" altLang="zh-CN" sz="2800" dirty="0"/>
                  <a:t>]</a:t>
                </a:r>
                <a:endParaRPr lang="zh-CN" altLang="zh-CN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196752"/>
                <a:ext cx="11600184" cy="2628895"/>
              </a:xfrm>
              <a:blipFill>
                <a:blip r:embed="rId2"/>
                <a:stretch>
                  <a:fillRect l="-1104" t="-3935" b="-215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AD4157-36E9-4102-A7A6-1A44778E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998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6.2.6 </a:t>
            </a:r>
            <a:r>
              <a:rPr lang="zh-CN" altLang="en-US" dirty="0"/>
              <a:t>列表推导式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376" y="1303600"/>
            <a:ext cx="11017224" cy="156966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举例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list1 = [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** 2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in range(10)]    # </a:t>
            </a:r>
            <a:r>
              <a:rPr lang="zh-CN" altLang="zh-CN" sz="2400" b="1" dirty="0">
                <a:solidFill>
                  <a:schemeClr val="tx1"/>
                </a:solidFill>
              </a:rPr>
              <a:t>不带条件表达式的列表推导式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list1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[0, 1, 4, 9, 16, 25, 36, 49, 64, 81]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8815" y="3052116"/>
            <a:ext cx="11017224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举例</a:t>
            </a:r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list1 = [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in range(10) if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% 2 == 0]    # </a:t>
            </a:r>
            <a:r>
              <a:rPr lang="zh-CN" altLang="zh-CN" sz="2400" b="1" dirty="0">
                <a:solidFill>
                  <a:schemeClr val="tx1"/>
                </a:solidFill>
              </a:rPr>
              <a:t>带条件，取偶数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list1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[0, 2, 4, 6, 8]</a:t>
            </a:r>
          </a:p>
          <a:p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[ [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, j]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in [1, 2, 3] for j in [4, 5, 6]]      # </a:t>
            </a:r>
            <a:r>
              <a:rPr lang="zh-CN" altLang="zh-CN" sz="2400" b="1" dirty="0">
                <a:solidFill>
                  <a:schemeClr val="tx1"/>
                </a:solidFill>
              </a:rPr>
              <a:t>遍历两个列表，相当于二重循环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[[1, 4], [1, 5], [1, 6], [2, 4], [2, 5], [2, 6], [3, 4], [3, 5], [3, 6]]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AD4157-36E9-4102-A7A6-1A44778E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8271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30D71-CF92-482C-A860-656C7D83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-</a:t>
            </a:r>
            <a:r>
              <a:rPr lang="zh-CN" altLang="en-US" dirty="0"/>
              <a:t>列表推导式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CD3A38-2DE9-47DB-AFAB-2CCCD99D5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411B48-23C7-4501-AFD5-F1F6C926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46007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6.3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元组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C105C0-EBAF-4B7F-B056-AE0CAD1B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946FBF-4C21-47DD-924A-6BA4527D3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7BA3341-C710-490F-A4E6-C9AA4F585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88" y="1268760"/>
            <a:ext cx="11986371" cy="4849466"/>
          </a:xfrm>
        </p:spPr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元组</a:t>
            </a:r>
            <a:r>
              <a:rPr lang="en-US" altLang="zh-CN" dirty="0"/>
              <a:t>】</a:t>
            </a:r>
          </a:p>
          <a:p>
            <a:pPr lvl="1"/>
            <a:r>
              <a:rPr lang="zh-CN" altLang="en-US" dirty="0"/>
              <a:t>与列表类似，但无法修改（添加</a:t>
            </a:r>
            <a:r>
              <a:rPr lang="en-US" altLang="zh-CN" dirty="0"/>
              <a:t>/</a:t>
            </a:r>
            <a:r>
              <a:rPr lang="zh-CN" altLang="en-US" dirty="0"/>
              <a:t>删除</a:t>
            </a:r>
            <a:r>
              <a:rPr lang="en-US" altLang="zh-CN" dirty="0"/>
              <a:t>/</a:t>
            </a:r>
            <a:r>
              <a:rPr lang="zh-CN" altLang="en-US" dirty="0"/>
              <a:t>修改）</a:t>
            </a:r>
            <a:endParaRPr lang="en-US" altLang="zh-CN" dirty="0"/>
          </a:p>
          <a:p>
            <a:pPr lvl="1"/>
            <a:r>
              <a:rPr lang="zh-CN" altLang="en-US" dirty="0"/>
              <a:t>列表虽然灵活，但有些操作效率低下：</a:t>
            </a:r>
            <a:endParaRPr lang="en-US" altLang="zh-CN" dirty="0"/>
          </a:p>
          <a:p>
            <a:pPr lvl="2"/>
            <a:r>
              <a:rPr lang="en-US" altLang="zh-CN" dirty="0" err="1"/>
              <a:t>Eg</a:t>
            </a:r>
            <a:r>
              <a:rPr lang="en-US" altLang="zh-CN" dirty="0"/>
              <a:t> </a:t>
            </a:r>
            <a:r>
              <a:rPr lang="zh-CN" altLang="en-US" dirty="0"/>
              <a:t>列表中间部位的添加</a:t>
            </a:r>
            <a:r>
              <a:rPr lang="en-US" altLang="zh-CN" dirty="0"/>
              <a:t>/</a:t>
            </a:r>
            <a:r>
              <a:rPr lang="zh-CN" altLang="en-US" dirty="0"/>
              <a:t>删除，后续元素的索引都要变化</a:t>
            </a:r>
            <a:endParaRPr lang="en-US" altLang="zh-CN" dirty="0"/>
          </a:p>
          <a:p>
            <a:pPr lvl="1"/>
            <a:r>
              <a:rPr lang="zh-CN" altLang="en-US" dirty="0"/>
              <a:t>元组将这些低效操作去掉，是轻量级的列表。</a:t>
            </a:r>
          </a:p>
        </p:txBody>
      </p:sp>
    </p:spTree>
    <p:extLst>
      <p:ext uri="{BB962C8B-B14F-4D97-AF65-F5344CB8AC3E}">
        <p14:creationId xmlns:p14="http://schemas.microsoft.com/office/powerpoint/2010/main" val="8377889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6.3.1 </a:t>
            </a:r>
            <a:r>
              <a:rPr lang="zh-CN" altLang="en-US" dirty="0"/>
              <a:t>元组的创建、元素引用与删除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336" y="1124744"/>
            <a:ext cx="11386864" cy="4849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．元组的创建</a:t>
            </a:r>
            <a:endParaRPr lang="en-US" altLang="zh-CN" b="1" dirty="0"/>
          </a:p>
          <a:p>
            <a:r>
              <a:rPr lang="zh-CN" altLang="zh-CN" dirty="0"/>
              <a:t>格式</a:t>
            </a:r>
            <a:r>
              <a:rPr lang="en-US" altLang="zh-CN" dirty="0"/>
              <a:t>1</a:t>
            </a:r>
            <a:r>
              <a:rPr lang="zh-CN" altLang="zh-CN" dirty="0"/>
              <a:t>：元组名 </a:t>
            </a:r>
            <a:r>
              <a:rPr lang="en-US" altLang="zh-CN" dirty="0"/>
              <a:t>= tuple()</a:t>
            </a:r>
            <a:endParaRPr lang="zh-CN" altLang="zh-CN" dirty="0"/>
          </a:p>
          <a:p>
            <a:r>
              <a:rPr lang="zh-CN" altLang="zh-CN" dirty="0"/>
              <a:t>格式</a:t>
            </a:r>
            <a:r>
              <a:rPr lang="en-US" altLang="zh-CN" dirty="0"/>
              <a:t>2</a:t>
            </a:r>
            <a:r>
              <a:rPr lang="zh-CN" altLang="zh-CN" dirty="0"/>
              <a:t>：元组名 </a:t>
            </a:r>
            <a:r>
              <a:rPr lang="en-US" altLang="zh-CN" dirty="0"/>
              <a:t>= (</a:t>
            </a:r>
            <a:r>
              <a:rPr lang="zh-CN" altLang="zh-CN" dirty="0"/>
              <a:t>元素</a:t>
            </a:r>
            <a:r>
              <a:rPr lang="en-US" altLang="zh-CN" dirty="0"/>
              <a:t>1, </a:t>
            </a:r>
            <a:r>
              <a:rPr lang="zh-CN" altLang="zh-CN" dirty="0"/>
              <a:t>元素</a:t>
            </a:r>
            <a:r>
              <a:rPr lang="en-US" altLang="zh-CN" dirty="0"/>
              <a:t>2, </a:t>
            </a:r>
            <a:r>
              <a:rPr lang="zh-CN" altLang="zh-CN" dirty="0"/>
              <a:t>…</a:t>
            </a:r>
            <a:r>
              <a:rPr lang="en-US" altLang="zh-CN" dirty="0"/>
              <a:t> , </a:t>
            </a:r>
            <a:r>
              <a:rPr lang="zh-CN" altLang="zh-CN" dirty="0"/>
              <a:t>元素</a:t>
            </a:r>
            <a:r>
              <a:rPr lang="en-US" altLang="zh-CN" dirty="0"/>
              <a:t>n)</a:t>
            </a: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8172" y="3071238"/>
            <a:ext cx="10729192" cy="304698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tuple1 = (1, 2, 3, 4)   # </a:t>
            </a:r>
            <a:r>
              <a:rPr lang="zh-CN" altLang="zh-CN" sz="2400" b="1" dirty="0">
                <a:solidFill>
                  <a:schemeClr val="tx1"/>
                </a:solidFill>
              </a:rPr>
              <a:t>直接把元组赋值给变量</a:t>
            </a:r>
            <a:r>
              <a:rPr lang="en-US" altLang="zh-CN" sz="2400" b="1" dirty="0">
                <a:solidFill>
                  <a:schemeClr val="tx1"/>
                </a:solidFill>
              </a:rPr>
              <a:t>tuple1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tuple2 = (1,)  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元组中只包含一个元素时，后面要加逗号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tuple2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(1,)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tuple3 = (1)  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不加逗号，</a:t>
            </a:r>
            <a:r>
              <a:rPr lang="en-US" altLang="zh-CN" sz="2400" b="1" dirty="0">
                <a:solidFill>
                  <a:schemeClr val="tx1"/>
                </a:solidFill>
              </a:rPr>
              <a:t>(1)</a:t>
            </a:r>
            <a:r>
              <a:rPr lang="zh-CN" altLang="zh-CN" sz="2400" b="1" dirty="0">
                <a:solidFill>
                  <a:schemeClr val="tx1"/>
                </a:solidFill>
              </a:rPr>
              <a:t>被认为是整数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tuple3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tuple4 = tuple()         #</a:t>
            </a:r>
            <a:r>
              <a:rPr lang="zh-CN" altLang="zh-CN" sz="2400" b="1" dirty="0">
                <a:solidFill>
                  <a:schemeClr val="tx1"/>
                </a:solidFill>
              </a:rPr>
              <a:t>调用</a:t>
            </a:r>
            <a:r>
              <a:rPr lang="en-US" altLang="zh-CN" sz="2400" b="1" dirty="0">
                <a:solidFill>
                  <a:schemeClr val="tx1"/>
                </a:solidFill>
              </a:rPr>
              <a:t>tuple()</a:t>
            </a:r>
            <a:r>
              <a:rPr lang="zh-CN" altLang="zh-CN" sz="2400" b="1" dirty="0">
                <a:solidFill>
                  <a:schemeClr val="tx1"/>
                </a:solidFill>
              </a:rPr>
              <a:t>方法，返回一个空元组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946FBF-4C21-47DD-924A-6BA4527D3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470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．元组元素的引用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格式：元组名</a:t>
            </a:r>
            <a:r>
              <a:rPr lang="en-US" altLang="zh-CN" dirty="0"/>
              <a:t>[</a:t>
            </a:r>
            <a:r>
              <a:rPr lang="zh-CN" altLang="en-US" dirty="0"/>
              <a:t>下标</a:t>
            </a:r>
            <a:r>
              <a:rPr lang="en-US" altLang="zh-CN" dirty="0"/>
              <a:t>]</a:t>
            </a:r>
          </a:p>
          <a:p>
            <a:r>
              <a:rPr lang="zh-CN" altLang="zh-CN" dirty="0"/>
              <a:t>双向索引</a:t>
            </a:r>
            <a:endParaRPr lang="en-US" altLang="zh-CN" dirty="0"/>
          </a:p>
          <a:p>
            <a:r>
              <a:rPr lang="zh-CN" altLang="zh-CN" dirty="0"/>
              <a:t>元组属于不可变序列，</a:t>
            </a:r>
            <a:br>
              <a:rPr lang="en-US" altLang="zh-CN" dirty="0"/>
            </a:br>
            <a:r>
              <a:rPr lang="zh-CN" altLang="zh-CN" dirty="0"/>
              <a:t>不可修改</a:t>
            </a:r>
            <a:r>
              <a:rPr lang="en-US" altLang="zh-CN" dirty="0"/>
              <a:t>/</a:t>
            </a:r>
            <a:r>
              <a:rPr lang="zh-CN" altLang="zh-CN" dirty="0"/>
              <a:t>添加</a:t>
            </a:r>
            <a:r>
              <a:rPr lang="en-US" altLang="zh-CN" dirty="0"/>
              <a:t>/</a:t>
            </a:r>
            <a:r>
              <a:rPr lang="zh-CN" altLang="zh-CN" dirty="0"/>
              <a:t>删除</a:t>
            </a:r>
            <a:br>
              <a:rPr lang="en-US" altLang="zh-CN" dirty="0"/>
            </a:br>
            <a:r>
              <a:rPr lang="zh-CN" altLang="zh-CN" dirty="0"/>
              <a:t>元素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83832" y="290819"/>
            <a:ext cx="6864605" cy="224676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&gt;&gt;&gt; tuple1 = (1, 2, 3, 4)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tuple1[0]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tuple1[-1]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4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68220" y="2876804"/>
            <a:ext cx="8440548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&gt;&gt;&gt;tuple1[0]=10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800" b="1" dirty="0">
                <a:solidFill>
                  <a:schemeClr val="tx1"/>
                </a:solidFill>
              </a:rPr>
              <a:t> (most recent call last):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File "&lt;pyshell#123&gt;", line 1, in &lt;module&gt;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tuple1[0]=10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TypeError</a:t>
            </a:r>
            <a:r>
              <a:rPr lang="en-US" altLang="zh-CN" sz="2800" b="1" dirty="0">
                <a:solidFill>
                  <a:schemeClr val="tx1"/>
                </a:solidFill>
              </a:rPr>
              <a:t>: 'tuple' object does not support item assignment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902C8B-7EAE-4761-B314-B3986F9C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0742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dirty="0"/>
              <a:t>3</a:t>
            </a:r>
            <a:r>
              <a:rPr lang="zh-CN" altLang="en-US" dirty="0"/>
              <a:t>．元组的删除</a:t>
            </a:r>
            <a:endParaRPr lang="zh-CN" altLang="en-US" sz="5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del </a:t>
            </a:r>
            <a:r>
              <a:rPr lang="zh-CN" altLang="en-US" dirty="0"/>
              <a:t>元组名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408" y="2060848"/>
            <a:ext cx="9289032" cy="3108543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&gt;&gt;&gt; tuple1 = (1, 2, 3, 4)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del tuple1     # </a:t>
            </a:r>
            <a:r>
              <a:rPr lang="zh-CN" altLang="zh-CN" sz="2800" b="1" dirty="0">
                <a:solidFill>
                  <a:schemeClr val="tx1"/>
                </a:solidFill>
              </a:rPr>
              <a:t>删除元组</a:t>
            </a:r>
            <a:r>
              <a:rPr lang="en-US" altLang="zh-CN" sz="2800" b="1" dirty="0">
                <a:solidFill>
                  <a:schemeClr val="tx1"/>
                </a:solidFill>
              </a:rPr>
              <a:t>tuple1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tuple1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800" b="1" dirty="0">
                <a:solidFill>
                  <a:schemeClr val="tx1"/>
                </a:solidFill>
              </a:rPr>
              <a:t> (most recent call last):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File "&lt;pyshell#3&gt;", line 1, in &lt;module&gt;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tuple1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NameError</a:t>
            </a:r>
            <a:r>
              <a:rPr lang="en-US" altLang="zh-CN" sz="2800" b="1" dirty="0">
                <a:solidFill>
                  <a:schemeClr val="tx1"/>
                </a:solidFill>
              </a:rPr>
              <a:t>: name 'tuple1' is not defined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2FB7B1-0B15-4D5D-B1D0-7FADD4A2E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3318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6.3.2 </a:t>
            </a:r>
            <a:r>
              <a:rPr lang="zh-CN" altLang="en-US" dirty="0"/>
              <a:t>元组的常用操作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1412776"/>
            <a:ext cx="9217023" cy="496923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．运算符对元组的操作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+=</a:t>
            </a:r>
            <a:r>
              <a:rPr lang="zh-CN" altLang="en-US" dirty="0"/>
              <a:t>、*、*</a:t>
            </a:r>
            <a:r>
              <a:rPr lang="en-US" altLang="zh-CN" dirty="0"/>
              <a:t>=</a:t>
            </a:r>
            <a:r>
              <a:rPr lang="zh-CN" altLang="en-US" dirty="0"/>
              <a:t>、</a:t>
            </a:r>
            <a:r>
              <a:rPr lang="en-US" altLang="zh-CN" dirty="0"/>
              <a:t>in</a:t>
            </a:r>
            <a:r>
              <a:rPr lang="zh-CN" altLang="en-US" dirty="0"/>
              <a:t>、</a:t>
            </a:r>
            <a:r>
              <a:rPr lang="en-US" altLang="zh-CN" dirty="0"/>
              <a:t>&lt;</a:t>
            </a:r>
            <a:r>
              <a:rPr lang="zh-CN" altLang="en-US" dirty="0"/>
              <a:t>、</a:t>
            </a:r>
            <a:r>
              <a:rPr lang="en-US" altLang="zh-CN" dirty="0"/>
              <a:t>&lt;=</a:t>
            </a:r>
            <a:r>
              <a:rPr lang="zh-CN" altLang="en-US" dirty="0"/>
              <a:t>、</a:t>
            </a:r>
            <a:r>
              <a:rPr lang="en-US" altLang="zh-CN" dirty="0"/>
              <a:t>&gt;</a:t>
            </a:r>
            <a:r>
              <a:rPr lang="zh-CN" altLang="en-US" dirty="0"/>
              <a:t>、</a:t>
            </a:r>
            <a:r>
              <a:rPr lang="en-US" altLang="zh-CN" dirty="0"/>
              <a:t>&gt;=</a:t>
            </a:r>
            <a:r>
              <a:rPr lang="zh-CN" altLang="en-US" dirty="0"/>
              <a:t>、</a:t>
            </a:r>
            <a:r>
              <a:rPr lang="en-US" altLang="zh-CN" dirty="0"/>
              <a:t>==</a:t>
            </a:r>
            <a:r>
              <a:rPr lang="zh-CN" altLang="en-US" dirty="0"/>
              <a:t>、</a:t>
            </a:r>
            <a:r>
              <a:rPr lang="en-US" altLang="zh-CN" dirty="0"/>
              <a:t>!=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lvl="0" indent="0">
              <a:buNone/>
            </a:pPr>
            <a:r>
              <a:rPr lang="zh-CN" altLang="en-US" dirty="0"/>
              <a:t>使用方法和列表类似</a:t>
            </a:r>
            <a:endParaRPr lang="en-US" altLang="zh-CN" dirty="0"/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&gt;&gt;&gt;t1=(1,2)</a:t>
            </a:r>
          </a:p>
          <a:p>
            <a:pPr marL="0" lvl="0" indent="0">
              <a:buNone/>
            </a:pPr>
            <a:r>
              <a:rPr lang="en-US" altLang="zh-CN" dirty="0"/>
              <a:t>&gt;&gt;&gt;t1+=(3,4)</a:t>
            </a:r>
          </a:p>
          <a:p>
            <a:pPr marL="0" lvl="0" indent="0">
              <a:buNone/>
            </a:pPr>
            <a:r>
              <a:rPr lang="en-US" altLang="zh-CN" dirty="0"/>
              <a:t>&gt;&gt;&gt;t1</a:t>
            </a:r>
          </a:p>
          <a:p>
            <a:pPr marL="0" lvl="0" indent="0">
              <a:buNone/>
            </a:pPr>
            <a:r>
              <a:rPr lang="en-US" altLang="zh-CN" dirty="0"/>
              <a:t>(1,2,3,4)  #</a:t>
            </a:r>
            <a:r>
              <a:rPr lang="zh-CN" altLang="en-US" dirty="0"/>
              <a:t>非原地增加，地址变化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5AB470-6AF7-4A29-A330-718265FA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6382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6.3.2 </a:t>
            </a:r>
            <a:r>
              <a:rPr lang="zh-CN" altLang="en-US" dirty="0"/>
              <a:t>元组的常用操作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63352" y="1268760"/>
            <a:ext cx="9796671" cy="302433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dirty="0"/>
              <a:t>2</a:t>
            </a:r>
            <a:r>
              <a:rPr lang="zh-CN" altLang="en-US" sz="3200" dirty="0"/>
              <a:t>．元组的内置函数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 err="1"/>
              <a:t>len</a:t>
            </a:r>
            <a:r>
              <a:rPr lang="en-US" altLang="zh-CN" sz="3200" dirty="0"/>
              <a:t>()</a:t>
            </a:r>
            <a:r>
              <a:rPr lang="zh-CN" altLang="en-US" sz="3200" dirty="0"/>
              <a:t>、</a:t>
            </a:r>
            <a:r>
              <a:rPr lang="en-US" altLang="zh-CN" sz="3200" dirty="0"/>
              <a:t>max()</a:t>
            </a:r>
            <a:r>
              <a:rPr lang="zh-CN" altLang="en-US" sz="3200" dirty="0"/>
              <a:t>、</a:t>
            </a:r>
            <a:r>
              <a:rPr lang="en-US" altLang="zh-CN" sz="3200" dirty="0"/>
              <a:t>min()</a:t>
            </a:r>
            <a:r>
              <a:rPr lang="zh-CN" altLang="en-US" sz="3200" dirty="0"/>
              <a:t>、</a:t>
            </a:r>
            <a:r>
              <a:rPr lang="en-US" altLang="zh-CN" sz="3200" dirty="0"/>
              <a:t>sum()</a:t>
            </a:r>
            <a:r>
              <a:rPr lang="zh-CN" altLang="en-US" sz="3200" dirty="0"/>
              <a:t>、</a:t>
            </a:r>
            <a:r>
              <a:rPr lang="en-US" altLang="zh-CN" sz="3200" dirty="0"/>
              <a:t>sorted()</a:t>
            </a:r>
            <a:r>
              <a:rPr lang="zh-CN" altLang="en-US" sz="3200" dirty="0"/>
              <a:t>、</a:t>
            </a:r>
            <a:r>
              <a:rPr lang="en-US" altLang="zh-CN" sz="3200" dirty="0"/>
              <a:t>reversed()</a:t>
            </a:r>
            <a:r>
              <a:rPr lang="zh-CN" altLang="en-US" sz="3200" dirty="0"/>
              <a:t>、</a:t>
            </a:r>
            <a:r>
              <a:rPr lang="en-US" altLang="zh-CN" sz="3200" dirty="0"/>
              <a:t>zip()</a:t>
            </a:r>
            <a:r>
              <a:rPr lang="zh-CN" altLang="en-US" sz="3200" dirty="0"/>
              <a:t>、</a:t>
            </a:r>
            <a:r>
              <a:rPr lang="en-US" altLang="zh-CN" sz="3200" dirty="0"/>
              <a:t>enumerate()</a:t>
            </a:r>
            <a:r>
              <a:rPr lang="zh-CN" altLang="en-US" sz="3200" dirty="0"/>
              <a:t>、</a:t>
            </a:r>
            <a:r>
              <a:rPr lang="en-US" altLang="zh-CN" sz="3200" dirty="0"/>
              <a:t>all()</a:t>
            </a:r>
            <a:r>
              <a:rPr lang="zh-CN" altLang="en-US" sz="3200" dirty="0"/>
              <a:t>、</a:t>
            </a:r>
            <a:r>
              <a:rPr lang="en-US" altLang="zh-CN" sz="3200" dirty="0"/>
              <a:t>any()</a:t>
            </a:r>
            <a:r>
              <a:rPr lang="zh-CN" altLang="en-US" sz="3200" dirty="0"/>
              <a:t>，使用方法和列表类似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5AB470-6AF7-4A29-A330-718265FA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71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1817" y="1293003"/>
            <a:ext cx="10300727" cy="184796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．元组的常用方法</a:t>
            </a:r>
            <a:endParaRPr lang="en-US" altLang="zh-CN" dirty="0"/>
          </a:p>
          <a:p>
            <a:pPr marL="0" lvl="0" indent="0">
              <a:buNone/>
            </a:pPr>
            <a:r>
              <a:rPr lang="zh-CN" altLang="en-US" dirty="0"/>
              <a:t>列表的常用方法大多不能用于元组</a:t>
            </a:r>
            <a:endParaRPr lang="en-US" altLang="zh-CN" dirty="0"/>
          </a:p>
          <a:p>
            <a:pPr marL="0" lvl="0" indent="0">
              <a:buNone/>
            </a:pPr>
            <a:r>
              <a:rPr lang="zh-CN" altLang="en-US" dirty="0"/>
              <a:t>只有</a:t>
            </a:r>
            <a:r>
              <a:rPr lang="en-US" altLang="zh-CN" dirty="0"/>
              <a:t>count()</a:t>
            </a:r>
            <a:r>
              <a:rPr lang="zh-CN" altLang="en-US" dirty="0"/>
              <a:t>和</a:t>
            </a:r>
            <a:r>
              <a:rPr lang="en-US" altLang="zh-CN" dirty="0"/>
              <a:t>index()</a:t>
            </a:r>
            <a:r>
              <a:rPr lang="zh-CN" altLang="en-US" dirty="0"/>
              <a:t>可用于元组</a:t>
            </a:r>
            <a:endParaRPr lang="en-US" altLang="zh-CN" dirty="0"/>
          </a:p>
          <a:p>
            <a:pPr marL="0" lvl="0" indent="0">
              <a:buNone/>
            </a:pPr>
            <a:r>
              <a:rPr lang="zh-CN" altLang="en-US" dirty="0"/>
              <a:t>因为能修改的方法都被去掉了。</a:t>
            </a:r>
            <a:endParaRPr lang="en-US" altLang="zh-CN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767408" y="3924524"/>
            <a:ext cx="9479200" cy="25202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dirty="0"/>
              <a:t>4</a:t>
            </a:r>
            <a:r>
              <a:rPr lang="zh-CN" altLang="en-US" sz="3200" dirty="0"/>
              <a:t>．元组的切片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zh-CN" sz="3200" dirty="0"/>
              <a:t>元组支持切片，但仅限于</a:t>
            </a:r>
            <a:r>
              <a:rPr lang="zh-CN" altLang="en-US" sz="3200" dirty="0"/>
              <a:t>用来</a:t>
            </a:r>
            <a:r>
              <a:rPr lang="zh-CN" altLang="zh-CN" sz="3200" dirty="0"/>
              <a:t>访问元组元素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en-US" sz="3200" dirty="0"/>
              <a:t>不能</a:t>
            </a:r>
            <a:r>
              <a:rPr lang="zh-CN" altLang="zh-CN" sz="3200" dirty="0"/>
              <a:t>通过切片来修改元组元素值</a:t>
            </a:r>
            <a:endParaRPr lang="en-US" altLang="zh-CN" sz="3200" dirty="0" err="1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85120E-E299-4610-B980-E76FACBD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1660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EFD7A-C084-4486-9A0B-226594BC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094C1C-EBDE-43B1-8FDA-AEF9F63BC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一些连续的元素用逗号分隔，即使不带圆括号，</a:t>
            </a:r>
            <a:r>
              <a:rPr lang="en-US" altLang="zh-CN" dirty="0"/>
              <a:t>python</a:t>
            </a:r>
            <a:r>
              <a:rPr lang="zh-CN" altLang="en-US" dirty="0"/>
              <a:t>会把它看作元组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t = 1,2,3</a:t>
            </a:r>
          </a:p>
          <a:p>
            <a:pPr marL="0" indent="0">
              <a:buNone/>
            </a:pPr>
            <a:r>
              <a:rPr lang="en-US" altLang="zh-CN" dirty="0"/>
              <a:t>&gt;&gt;&gt; t</a:t>
            </a:r>
          </a:p>
          <a:p>
            <a:pPr marL="0" indent="0">
              <a:buNone/>
            </a:pPr>
            <a:r>
              <a:rPr lang="en-US" altLang="zh-CN" dirty="0"/>
              <a:t>(1, 2, 3)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157F85-08EC-4B40-BEE4-0C4BDDF7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90124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6.3.3 </a:t>
            </a:r>
            <a:r>
              <a:rPr lang="zh-CN" altLang="en-US" dirty="0"/>
              <a:t>生成器推导式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293003"/>
            <a:ext cx="10585176" cy="4080213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gen =(</a:t>
            </a:r>
            <a:r>
              <a:rPr lang="en-US" altLang="zh-CN" sz="3200" b="1" dirty="0" err="1">
                <a:solidFill>
                  <a:schemeClr val="tx1"/>
                </a:solidFill>
              </a:rPr>
              <a:t>i</a:t>
            </a:r>
            <a:r>
              <a:rPr lang="en-US" altLang="zh-CN" sz="3200" b="1" dirty="0">
                <a:solidFill>
                  <a:schemeClr val="tx1"/>
                </a:solidFill>
              </a:rPr>
              <a:t>**2 for </a:t>
            </a:r>
            <a:r>
              <a:rPr lang="en-US" altLang="zh-CN" sz="3200" b="1" dirty="0" err="1">
                <a:solidFill>
                  <a:schemeClr val="tx1"/>
                </a:solidFill>
              </a:rPr>
              <a:t>i</a:t>
            </a:r>
            <a:r>
              <a:rPr lang="en-US" altLang="zh-CN" sz="3200" b="1" dirty="0">
                <a:solidFill>
                  <a:schemeClr val="tx1"/>
                </a:solidFill>
              </a:rPr>
              <a:t> in range(10))  #</a:t>
            </a:r>
            <a:r>
              <a:rPr lang="zh-CN" altLang="zh-CN" sz="3200" b="1" dirty="0">
                <a:solidFill>
                  <a:schemeClr val="tx1"/>
                </a:solidFill>
              </a:rPr>
              <a:t>创建生成器对象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zh-CN" altLang="en-US" dirty="0"/>
              <a:t>生成器推导式 </a:t>
            </a:r>
            <a:r>
              <a:rPr lang="en-US" altLang="zh-CN" dirty="0"/>
              <a:t>vs </a:t>
            </a:r>
            <a:r>
              <a:rPr lang="zh-CN" altLang="en-US" dirty="0"/>
              <a:t>列表推导式：</a:t>
            </a:r>
            <a:endParaRPr lang="en-US" altLang="zh-CN" dirty="0"/>
          </a:p>
          <a:p>
            <a:r>
              <a:rPr lang="zh-CN" altLang="zh-CN" dirty="0"/>
              <a:t>形式</a:t>
            </a:r>
            <a:r>
              <a:rPr lang="zh-CN" altLang="en-US" dirty="0"/>
              <a:t>类似</a:t>
            </a:r>
            <a:endParaRPr lang="en-US" altLang="zh-CN" dirty="0"/>
          </a:p>
          <a:p>
            <a:r>
              <a:rPr lang="zh-CN" altLang="zh-CN" sz="3200" u="sng" dirty="0">
                <a:solidFill>
                  <a:schemeClr val="tx1"/>
                </a:solidFill>
              </a:rPr>
              <a:t>区别</a:t>
            </a:r>
            <a:r>
              <a:rPr lang="zh-CN" altLang="en-US" sz="3200" u="sng" dirty="0">
                <a:solidFill>
                  <a:schemeClr val="tx1"/>
                </a:solidFill>
              </a:rPr>
              <a:t>：</a:t>
            </a:r>
            <a:endParaRPr lang="en-US" altLang="zh-CN" sz="3200" u="sng" dirty="0">
              <a:solidFill>
                <a:schemeClr val="tx1"/>
              </a:solidFill>
            </a:endParaRPr>
          </a:p>
          <a:p>
            <a:pPr lvl="1"/>
            <a:r>
              <a:rPr lang="zh-CN" altLang="zh-CN" dirty="0">
                <a:solidFill>
                  <a:schemeClr val="tx1"/>
                </a:solidFill>
              </a:rPr>
              <a:t>列表推导式的结果是列表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zh-CN" dirty="0">
                <a:solidFill>
                  <a:schemeClr val="tx1"/>
                </a:solidFill>
              </a:rPr>
              <a:t>生成器推导式的结果是一个生成器对象，既不是元组，也不是列表。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30897" y="3356992"/>
            <a:ext cx="10017631" cy="2664296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91FA18-17E4-4404-AA16-423C012A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7419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生成器对象的使用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1817" y="1293003"/>
            <a:ext cx="10012695" cy="2784069"/>
          </a:xfrm>
        </p:spPr>
        <p:txBody>
          <a:bodyPr>
            <a:noAutofit/>
          </a:bodyPr>
          <a:lstStyle/>
          <a:p>
            <a:r>
              <a:rPr lang="en-US" altLang="zh-CN" dirty="0"/>
              <a:t>tuple()</a:t>
            </a:r>
            <a:r>
              <a:rPr lang="zh-CN" altLang="zh-CN" dirty="0"/>
              <a:t>、</a:t>
            </a:r>
            <a:r>
              <a:rPr lang="en-US" altLang="zh-CN" dirty="0"/>
              <a:t>list()</a:t>
            </a:r>
            <a:r>
              <a:rPr lang="zh-CN" altLang="en-US" dirty="0"/>
              <a:t>可</a:t>
            </a:r>
            <a:r>
              <a:rPr lang="zh-CN" altLang="zh-CN" dirty="0"/>
              <a:t>将生成器对象转换为元组或列表使用</a:t>
            </a:r>
            <a:endParaRPr lang="en-US" altLang="zh-CN" dirty="0"/>
          </a:p>
          <a:p>
            <a:r>
              <a:rPr lang="zh-CN" altLang="zh-CN" dirty="0"/>
              <a:t>直接将其看做是迭代器对象来使用，通过</a:t>
            </a:r>
            <a:r>
              <a:rPr lang="en-US" altLang="zh-CN" dirty="0"/>
              <a:t>__next__()</a:t>
            </a:r>
            <a:r>
              <a:rPr lang="zh-CN" altLang="zh-CN" dirty="0"/>
              <a:t>方法或内置函数</a:t>
            </a:r>
            <a:r>
              <a:rPr lang="en-US" altLang="zh-CN" dirty="0"/>
              <a:t>next()</a:t>
            </a:r>
            <a:r>
              <a:rPr lang="zh-CN" altLang="zh-CN" dirty="0"/>
              <a:t>进行遍历</a:t>
            </a:r>
            <a:endParaRPr lang="en-US" altLang="zh-CN" dirty="0"/>
          </a:p>
          <a:p>
            <a:r>
              <a:rPr lang="zh-CN" altLang="zh-CN" dirty="0"/>
              <a:t>直接使用在循环中。</a:t>
            </a:r>
            <a:endParaRPr lang="en-US" altLang="zh-CN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52993" y="4221088"/>
            <a:ext cx="10931639" cy="201622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/>
              <a:t>不管怎么使用，只能从前往后访问其中的元素，</a:t>
            </a:r>
            <a:endParaRPr lang="en-US" altLang="zh-CN" sz="3200" dirty="0"/>
          </a:p>
          <a:p>
            <a:r>
              <a:rPr lang="zh-CN" altLang="en-US" sz="3200" dirty="0"/>
              <a:t>当元素访问完后，无法回头重新访问，只能重新创建该生成器对象。</a:t>
            </a:r>
            <a:endParaRPr lang="en-US" altLang="zh-CN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11BB5-5BC5-4320-BB0F-F70A61830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4746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384" y="404664"/>
            <a:ext cx="11528176" cy="397031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举例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</a:rPr>
              <a:t>（转成列表）：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gen = (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** 2 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range(10))  # </a:t>
            </a:r>
            <a:r>
              <a:rPr lang="zh-CN" altLang="zh-CN" sz="2800" b="1" dirty="0">
                <a:solidFill>
                  <a:schemeClr val="tx1"/>
                </a:solidFill>
              </a:rPr>
              <a:t>生成器推导式</a:t>
            </a:r>
            <a:r>
              <a:rPr lang="zh-CN" altLang="en-US" sz="2800" b="1" dirty="0">
                <a:solidFill>
                  <a:schemeClr val="tx1"/>
                </a:solidFill>
              </a:rPr>
              <a:t>，</a:t>
            </a:r>
            <a:r>
              <a:rPr lang="zh-CN" altLang="zh-CN" sz="2800" b="1" dirty="0">
                <a:solidFill>
                  <a:schemeClr val="tx1"/>
                </a:solidFill>
              </a:rPr>
              <a:t>创建生成器对象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gen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&lt;generator object &lt;</a:t>
            </a:r>
            <a:r>
              <a:rPr lang="en-US" altLang="zh-CN" sz="2800" b="1" dirty="0" err="1">
                <a:solidFill>
                  <a:schemeClr val="tx1"/>
                </a:solidFill>
              </a:rPr>
              <a:t>genexpr</a:t>
            </a:r>
            <a:r>
              <a:rPr lang="en-US" altLang="zh-CN" sz="2800" b="1" dirty="0">
                <a:solidFill>
                  <a:schemeClr val="tx1"/>
                </a:solidFill>
              </a:rPr>
              <a:t>&gt; at 0x0000000003363FC0&gt;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 = list(gen)      # </a:t>
            </a:r>
            <a:r>
              <a:rPr lang="zh-CN" altLang="zh-CN" sz="2800" b="1" dirty="0">
                <a:solidFill>
                  <a:schemeClr val="tx1"/>
                </a:solidFill>
              </a:rPr>
              <a:t>将</a:t>
            </a:r>
            <a:r>
              <a:rPr lang="en-US" altLang="zh-CN" sz="2800" b="1" dirty="0">
                <a:solidFill>
                  <a:schemeClr val="tx1"/>
                </a:solidFill>
              </a:rPr>
              <a:t>gen</a:t>
            </a:r>
            <a:r>
              <a:rPr lang="zh-CN" altLang="zh-CN" sz="2800" b="1" dirty="0">
                <a:solidFill>
                  <a:schemeClr val="tx1"/>
                </a:solidFill>
              </a:rPr>
              <a:t>转换为列表并赋予</a:t>
            </a:r>
            <a:r>
              <a:rPr lang="en-US" altLang="zh-CN" sz="2800" b="1" dirty="0">
                <a:solidFill>
                  <a:schemeClr val="tx1"/>
                </a:solidFill>
              </a:rPr>
              <a:t>list1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[0, 1, 4, 9, 16, 25, 36, 49, 64, 81]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list(gen)          # gen</a:t>
            </a:r>
            <a:r>
              <a:rPr lang="zh-CN" altLang="zh-CN" sz="2800" b="1" dirty="0">
                <a:solidFill>
                  <a:schemeClr val="tx1"/>
                </a:solidFill>
              </a:rPr>
              <a:t>已经遍历结束（转换为列表时），没有元素了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[]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DEC814-225F-490F-81CF-30BBA3788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2629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384" y="404664"/>
            <a:ext cx="11528176" cy="440120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举例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</a:rPr>
              <a:t>（转成元组）：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gen = (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** 2 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range(10))  # </a:t>
            </a:r>
            <a:r>
              <a:rPr lang="zh-CN" altLang="zh-CN" sz="2800" b="1" dirty="0">
                <a:solidFill>
                  <a:schemeClr val="tx1"/>
                </a:solidFill>
              </a:rPr>
              <a:t>生成器推导式</a:t>
            </a:r>
            <a:r>
              <a:rPr lang="zh-CN" altLang="en-US" sz="2800" b="1" dirty="0">
                <a:solidFill>
                  <a:schemeClr val="tx1"/>
                </a:solidFill>
              </a:rPr>
              <a:t>，</a:t>
            </a:r>
            <a:r>
              <a:rPr lang="zh-CN" altLang="zh-CN" sz="2800" b="1" dirty="0">
                <a:solidFill>
                  <a:schemeClr val="tx1"/>
                </a:solidFill>
              </a:rPr>
              <a:t>创建生成器对象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gen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&lt;generator object &lt;</a:t>
            </a:r>
            <a:r>
              <a:rPr lang="en-US" altLang="zh-CN" sz="2800" b="1" dirty="0" err="1">
                <a:solidFill>
                  <a:schemeClr val="tx1"/>
                </a:solidFill>
              </a:rPr>
              <a:t>genexpr</a:t>
            </a:r>
            <a:r>
              <a:rPr lang="en-US" altLang="zh-CN" sz="2800" b="1" dirty="0">
                <a:solidFill>
                  <a:schemeClr val="tx1"/>
                </a:solidFill>
              </a:rPr>
              <a:t>&gt; at 0x0000000003363FC0&gt;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t1 = tuple(gen)      # </a:t>
            </a:r>
            <a:r>
              <a:rPr lang="zh-CN" altLang="zh-CN" sz="2800" b="1" dirty="0">
                <a:solidFill>
                  <a:schemeClr val="tx1"/>
                </a:solidFill>
              </a:rPr>
              <a:t>将</a:t>
            </a:r>
            <a:r>
              <a:rPr lang="en-US" altLang="zh-CN" sz="2800" b="1" dirty="0">
                <a:solidFill>
                  <a:schemeClr val="tx1"/>
                </a:solidFill>
              </a:rPr>
              <a:t>gen</a:t>
            </a:r>
            <a:r>
              <a:rPr lang="zh-CN" altLang="zh-CN" sz="2800" b="1" dirty="0">
                <a:solidFill>
                  <a:schemeClr val="tx1"/>
                </a:solidFill>
              </a:rPr>
              <a:t>转换为列表并赋予</a:t>
            </a:r>
            <a:r>
              <a:rPr lang="en-US" altLang="zh-CN" sz="2800" b="1" dirty="0">
                <a:solidFill>
                  <a:schemeClr val="tx1"/>
                </a:solidFill>
              </a:rPr>
              <a:t>list1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(0, 1, 4, 9, 16, 25, 36, 49, 64, 81)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tuple(gen)          # gen</a:t>
            </a:r>
            <a:r>
              <a:rPr lang="zh-CN" altLang="zh-CN" sz="2800" b="1" dirty="0">
                <a:solidFill>
                  <a:schemeClr val="tx1"/>
                </a:solidFill>
              </a:rPr>
              <a:t>已经遍历结束（转换为列表时），没有元素了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DEC814-225F-490F-81CF-30BBA3788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5883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9416" y="692696"/>
            <a:ext cx="11089232" cy="440120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举例</a:t>
            </a: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</a:rPr>
              <a:t>_next_</a:t>
            </a:r>
            <a:r>
              <a:rPr lang="zh-CN" altLang="en-US" sz="2800" b="1" dirty="0">
                <a:solidFill>
                  <a:schemeClr val="tx1"/>
                </a:solidFill>
              </a:rPr>
              <a:t>方法和</a:t>
            </a:r>
            <a:r>
              <a:rPr lang="en-US" altLang="zh-CN" sz="2800" b="1" dirty="0">
                <a:solidFill>
                  <a:schemeClr val="tx1"/>
                </a:solidFill>
              </a:rPr>
              <a:t>next</a:t>
            </a:r>
            <a:r>
              <a:rPr lang="zh-CN" altLang="en-US" sz="2800" b="1" dirty="0">
                <a:solidFill>
                  <a:schemeClr val="tx1"/>
                </a:solidFill>
              </a:rPr>
              <a:t>函数）：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gen = (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** 2 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range(10))    # </a:t>
            </a:r>
            <a:r>
              <a:rPr lang="zh-CN" altLang="zh-CN" sz="2800" b="1" dirty="0">
                <a:solidFill>
                  <a:schemeClr val="tx1"/>
                </a:solidFill>
              </a:rPr>
              <a:t>重新创建生成器对象</a:t>
            </a:r>
            <a:r>
              <a:rPr lang="en-US" altLang="zh-CN" sz="2800" b="1" dirty="0">
                <a:solidFill>
                  <a:schemeClr val="tx1"/>
                </a:solidFill>
              </a:rPr>
              <a:t>gen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</a:t>
            </a:r>
            <a:r>
              <a:rPr lang="en-US" altLang="zh-CN" sz="2800" b="1" dirty="0" err="1">
                <a:solidFill>
                  <a:schemeClr val="tx1"/>
                </a:solidFill>
              </a:rPr>
              <a:t>gen.__next</a:t>
            </a:r>
            <a:r>
              <a:rPr lang="en-US" altLang="zh-CN" sz="2800" b="1" dirty="0">
                <a:solidFill>
                  <a:schemeClr val="tx1"/>
                </a:solidFill>
              </a:rPr>
              <a:t>__()       # </a:t>
            </a:r>
            <a:r>
              <a:rPr lang="zh-CN" altLang="zh-CN" sz="2800" b="1" dirty="0">
                <a:solidFill>
                  <a:schemeClr val="tx1"/>
                </a:solidFill>
              </a:rPr>
              <a:t>使用</a:t>
            </a:r>
            <a:r>
              <a:rPr lang="en-US" altLang="zh-CN" sz="2800" b="1" dirty="0">
                <a:solidFill>
                  <a:schemeClr val="tx1"/>
                </a:solidFill>
              </a:rPr>
              <a:t>__next__()</a:t>
            </a:r>
            <a:r>
              <a:rPr lang="zh-CN" altLang="zh-CN" sz="2800" b="1" dirty="0">
                <a:solidFill>
                  <a:schemeClr val="tx1"/>
                </a:solidFill>
              </a:rPr>
              <a:t>方法获取元素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0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</a:t>
            </a:r>
            <a:r>
              <a:rPr lang="en-US" altLang="zh-CN" sz="2800" b="1" dirty="0" err="1">
                <a:solidFill>
                  <a:schemeClr val="tx1"/>
                </a:solidFill>
              </a:rPr>
              <a:t>gen.__next</a:t>
            </a:r>
            <a:r>
              <a:rPr lang="en-US" altLang="zh-CN" sz="2800" b="1" dirty="0">
                <a:solidFill>
                  <a:schemeClr val="tx1"/>
                </a:solidFill>
              </a:rPr>
              <a:t>__()       # </a:t>
            </a:r>
            <a:r>
              <a:rPr lang="zh-CN" altLang="zh-CN" sz="2800" b="1" dirty="0">
                <a:solidFill>
                  <a:schemeClr val="tx1"/>
                </a:solidFill>
              </a:rPr>
              <a:t>按从前往后的顺序获取下一个元素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</a:t>
            </a:r>
            <a:r>
              <a:rPr lang="en-US" altLang="zh-CN" sz="2800" b="1" dirty="0" err="1">
                <a:solidFill>
                  <a:schemeClr val="tx1"/>
                </a:solidFill>
              </a:rPr>
              <a:t>gen.__next</a:t>
            </a:r>
            <a:r>
              <a:rPr lang="en-US" altLang="zh-CN" sz="2800" b="1" dirty="0">
                <a:solidFill>
                  <a:schemeClr val="tx1"/>
                </a:solidFill>
              </a:rPr>
              <a:t>__()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4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next(gen)           # </a:t>
            </a:r>
            <a:r>
              <a:rPr lang="zh-CN" altLang="zh-CN" sz="2800" b="1" dirty="0">
                <a:solidFill>
                  <a:schemeClr val="tx1"/>
                </a:solidFill>
              </a:rPr>
              <a:t>使用内置函数</a:t>
            </a:r>
            <a:r>
              <a:rPr lang="en-US" altLang="zh-CN" sz="2800" b="1" dirty="0">
                <a:solidFill>
                  <a:schemeClr val="tx1"/>
                </a:solidFill>
              </a:rPr>
              <a:t>next()</a:t>
            </a:r>
            <a:r>
              <a:rPr lang="zh-CN" altLang="zh-CN" sz="2800" b="1" dirty="0">
                <a:solidFill>
                  <a:schemeClr val="tx1"/>
                </a:solidFill>
              </a:rPr>
              <a:t>接着获取下一个元素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9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52242D-FFBC-44CD-A59B-688A340D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9148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1384" y="980728"/>
            <a:ext cx="9649072" cy="224676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举例</a:t>
            </a:r>
            <a:r>
              <a:rPr lang="en-US" altLang="zh-CN" sz="2800" b="1" dirty="0">
                <a:solidFill>
                  <a:schemeClr val="tx1"/>
                </a:solidFill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</a:rPr>
              <a:t>（循环遍历）：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gen = (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** 2 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range(10))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gen:            # </a:t>
            </a:r>
            <a:r>
              <a:rPr lang="zh-CN" altLang="zh-CN" sz="2800" b="1" dirty="0">
                <a:solidFill>
                  <a:schemeClr val="tx1"/>
                </a:solidFill>
              </a:rPr>
              <a:t>使用循环遍历</a:t>
            </a:r>
            <a:r>
              <a:rPr lang="en-US" altLang="zh-CN" sz="2800" b="1" dirty="0">
                <a:solidFill>
                  <a:schemeClr val="tx1"/>
                </a:solidFill>
              </a:rPr>
              <a:t>gen</a:t>
            </a:r>
            <a:r>
              <a:rPr lang="zh-CN" altLang="zh-CN" sz="2800" b="1" dirty="0">
                <a:solidFill>
                  <a:schemeClr val="tx1"/>
                </a:solidFill>
              </a:rPr>
              <a:t>中的元素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	print(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, end='  ')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0  1  4  9  16  25  36  49  64  81  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52242D-FFBC-44CD-A59B-688A340D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2920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6.3.4 </a:t>
            </a:r>
            <a:r>
              <a:rPr lang="zh-CN" altLang="en-US" dirty="0"/>
              <a:t>元组与列表的异同点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196752"/>
            <a:ext cx="10732775" cy="64807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b="1" dirty="0"/>
              <a:t>1. </a:t>
            </a:r>
            <a:r>
              <a:rPr lang="zh-CN" altLang="zh-CN" b="1" dirty="0"/>
              <a:t>相同点</a:t>
            </a:r>
            <a:r>
              <a:rPr lang="zh-CN" altLang="en-US" b="1" dirty="0"/>
              <a:t>：</a:t>
            </a:r>
            <a:r>
              <a:rPr lang="zh-CN" altLang="zh-CN" dirty="0"/>
              <a:t>有序序列，</a:t>
            </a:r>
            <a:r>
              <a:rPr lang="zh-CN" altLang="en-US" dirty="0"/>
              <a:t>双向</a:t>
            </a:r>
            <a:r>
              <a:rPr lang="zh-CN" altLang="zh-CN" dirty="0"/>
              <a:t>索引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51384" y="1988840"/>
            <a:ext cx="10945216" cy="3960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altLang="zh-CN" sz="3200" b="1" dirty="0"/>
              <a:t>2. </a:t>
            </a:r>
            <a:r>
              <a:rPr lang="zh-CN" altLang="zh-CN" sz="3200" b="1" dirty="0"/>
              <a:t>不同点</a:t>
            </a:r>
          </a:p>
          <a:p>
            <a:pPr marL="0" indent="0">
              <a:buNone/>
            </a:pPr>
            <a:r>
              <a:rPr lang="zh-CN" altLang="zh-CN" sz="3200" dirty="0"/>
              <a:t>（</a:t>
            </a:r>
            <a:r>
              <a:rPr lang="en-US" altLang="zh-CN" sz="3200" dirty="0"/>
              <a:t>1</a:t>
            </a:r>
            <a:r>
              <a:rPr lang="zh-CN" altLang="zh-CN" sz="3200" dirty="0"/>
              <a:t>）</a:t>
            </a:r>
            <a:r>
              <a:rPr lang="zh-CN" altLang="en-US" sz="3200" dirty="0"/>
              <a:t>定界符不同：</a:t>
            </a:r>
            <a:r>
              <a:rPr lang="zh-CN" altLang="zh-CN" sz="3200" dirty="0"/>
              <a:t>元组</a:t>
            </a:r>
            <a:r>
              <a:rPr lang="zh-CN" altLang="en-US" sz="3200" dirty="0"/>
              <a:t>（）</a:t>
            </a:r>
            <a:r>
              <a:rPr lang="zh-CN" altLang="zh-CN" sz="3200" dirty="0"/>
              <a:t>，而列表</a:t>
            </a:r>
            <a:r>
              <a:rPr lang="en-US" altLang="zh-CN" sz="3200" dirty="0"/>
              <a:t>[ ]</a:t>
            </a:r>
          </a:p>
          <a:p>
            <a:pPr marL="0" indent="0">
              <a:buNone/>
            </a:pPr>
            <a:r>
              <a:rPr lang="zh-CN" altLang="zh-CN" sz="3200" dirty="0"/>
              <a:t>（</a:t>
            </a:r>
            <a:r>
              <a:rPr lang="en-US" altLang="zh-CN" sz="3200" dirty="0"/>
              <a:t>2</a:t>
            </a:r>
            <a:r>
              <a:rPr lang="zh-CN" altLang="zh-CN" sz="3200" dirty="0"/>
              <a:t>）列表</a:t>
            </a:r>
            <a:r>
              <a:rPr lang="zh-CN" altLang="en-US" sz="3200" dirty="0"/>
              <a:t>是</a:t>
            </a:r>
            <a:r>
              <a:rPr lang="zh-CN" altLang="zh-CN" sz="3200" dirty="0"/>
              <a:t>可变序列，元组不可变。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zh-CN" sz="3200" dirty="0"/>
              <a:t>（</a:t>
            </a:r>
            <a:r>
              <a:rPr lang="en-US" altLang="zh-CN" sz="3200" dirty="0"/>
              <a:t>3</a:t>
            </a:r>
            <a:r>
              <a:rPr lang="zh-CN" altLang="zh-CN" sz="3200" dirty="0"/>
              <a:t>）元组</a:t>
            </a:r>
            <a:r>
              <a:rPr lang="zh-CN" altLang="en-US" sz="3200" dirty="0"/>
              <a:t>的</a:t>
            </a:r>
            <a:r>
              <a:rPr lang="zh-CN" altLang="zh-CN" sz="3200" dirty="0"/>
              <a:t>切片操作，只能访问元素，不能改变元素值。</a:t>
            </a:r>
          </a:p>
          <a:p>
            <a:pPr marL="0" indent="0">
              <a:buNone/>
            </a:pPr>
            <a:r>
              <a:rPr lang="zh-CN" altLang="zh-CN" sz="3200" dirty="0"/>
              <a:t>（</a:t>
            </a:r>
            <a:r>
              <a:rPr lang="en-US" altLang="zh-CN" sz="3200" dirty="0"/>
              <a:t>4</a:t>
            </a:r>
            <a:r>
              <a:rPr lang="zh-CN" altLang="zh-CN" sz="3200" dirty="0"/>
              <a:t>）</a:t>
            </a:r>
            <a:r>
              <a:rPr lang="en-US" altLang="zh-CN" sz="3200" dirty="0"/>
              <a:t>Python</a:t>
            </a:r>
            <a:r>
              <a:rPr lang="zh-CN" altLang="zh-CN" sz="3200" dirty="0"/>
              <a:t>对元组做了大量优化，访问速度比列表快。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D769D-D0A1-440E-825D-7C5D258B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8736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6.4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应用举例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495E33-07BD-4468-A1EC-0F715BFD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3352" y="188640"/>
            <a:ext cx="11593288" cy="18002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【</a:t>
            </a:r>
            <a:r>
              <a:rPr lang="zh-CN" altLang="en-US" sz="3200" dirty="0"/>
              <a:t>例</a:t>
            </a:r>
            <a:r>
              <a:rPr lang="en-US" altLang="zh-CN" sz="3200" dirty="0"/>
              <a:t>6-1】</a:t>
            </a:r>
            <a:r>
              <a:rPr lang="zh-CN" altLang="en-US" sz="3200" dirty="0"/>
              <a:t>编写程序，接收一个数字列表；计算得到一个新的列表，其中第</a:t>
            </a:r>
            <a:r>
              <a:rPr lang="en-US" altLang="zh-CN" sz="3200" dirty="0"/>
              <a:t>n</a:t>
            </a:r>
            <a:r>
              <a:rPr lang="zh-CN" altLang="en-US" sz="3200" dirty="0"/>
              <a:t>个元素是原先列表的前</a:t>
            </a:r>
            <a:r>
              <a:rPr lang="en-US" altLang="zh-CN" sz="3200" dirty="0"/>
              <a:t>N</a:t>
            </a:r>
            <a:r>
              <a:rPr lang="zh-CN" altLang="en-US" sz="3200" dirty="0"/>
              <a:t>个元素的积（第一个元素不变）。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6" y="2132112"/>
            <a:ext cx="9721080" cy="397031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a = input('Please input a list:')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a = eval(a)   		# a</a:t>
            </a:r>
            <a:r>
              <a:rPr lang="zh-CN" altLang="en-US" sz="2800" b="1" dirty="0">
                <a:solidFill>
                  <a:schemeClr val="tx1"/>
                </a:solidFill>
              </a:rPr>
              <a:t>是元组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b = [a[0]]			# </a:t>
            </a:r>
            <a:r>
              <a:rPr lang="zh-CN" altLang="en-US" sz="2800" b="1" dirty="0">
                <a:solidFill>
                  <a:schemeClr val="tx1"/>
                </a:solidFill>
              </a:rPr>
              <a:t>第一个元素不变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range(1, 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(a)):   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s = 1			# </a:t>
            </a:r>
            <a:r>
              <a:rPr lang="zh-CN" altLang="en-US" sz="2800" b="1" dirty="0">
                <a:solidFill>
                  <a:schemeClr val="tx1"/>
                </a:solidFill>
              </a:rPr>
              <a:t>每次内循环开始前，</a:t>
            </a:r>
            <a:r>
              <a:rPr lang="en-US" altLang="zh-CN" sz="2800" b="1" dirty="0">
                <a:solidFill>
                  <a:schemeClr val="tx1"/>
                </a:solidFill>
              </a:rPr>
              <a:t>s</a:t>
            </a:r>
            <a:r>
              <a:rPr lang="zh-CN" altLang="en-US" sz="2800" b="1" dirty="0">
                <a:solidFill>
                  <a:schemeClr val="tx1"/>
                </a:solidFill>
              </a:rPr>
              <a:t>初始化为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for j in range(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+ 1):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s *= a[j]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r>
              <a:rPr lang="en-US" altLang="zh-CN" sz="2800" b="1" dirty="0" err="1">
                <a:solidFill>
                  <a:schemeClr val="tx1"/>
                </a:solidFill>
              </a:rPr>
              <a:t>b.append</a:t>
            </a:r>
            <a:r>
              <a:rPr lang="en-US" altLang="zh-CN" sz="2800" b="1" dirty="0">
                <a:solidFill>
                  <a:schemeClr val="tx1"/>
                </a:solidFill>
              </a:rPr>
              <a:t>(s)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print(b)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5E0243D-EB1B-459E-9745-A2D5ADB0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663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81" y="260648"/>
            <a:ext cx="10852150" cy="936104"/>
          </a:xfrm>
        </p:spPr>
        <p:txBody>
          <a:bodyPr>
            <a:normAutofit/>
          </a:bodyPr>
          <a:lstStyle/>
          <a:p>
            <a:r>
              <a:rPr lang="zh-CN" altLang="zh-CN" sz="3200" dirty="0"/>
              <a:t>【例</a:t>
            </a:r>
            <a:r>
              <a:rPr lang="en-US" altLang="zh-CN" sz="3200" dirty="0"/>
              <a:t>6-2</a:t>
            </a:r>
            <a:r>
              <a:rPr lang="zh-CN" altLang="zh-CN" sz="3200" dirty="0"/>
              <a:t>】编写程序，模拟列表的</a:t>
            </a:r>
            <a:r>
              <a:rPr lang="en-US" altLang="zh-CN" sz="3200" dirty="0"/>
              <a:t>reverse()</a:t>
            </a:r>
            <a:r>
              <a:rPr lang="zh-CN" altLang="zh-CN" sz="3200" dirty="0"/>
              <a:t>方法。</a:t>
            </a:r>
            <a:endParaRPr lang="zh-CN" alt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839416" y="1484784"/>
            <a:ext cx="9721080" cy="440120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a = input('Please input a list:')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a = </a:t>
            </a:r>
            <a:r>
              <a:rPr lang="en-US" altLang="zh-CN" sz="2800" b="1" dirty="0" err="1">
                <a:solidFill>
                  <a:schemeClr val="tx1"/>
                </a:solidFill>
              </a:rPr>
              <a:t>eval</a:t>
            </a:r>
            <a:r>
              <a:rPr lang="en-US" altLang="zh-CN" sz="2800" b="1" dirty="0">
                <a:solidFill>
                  <a:schemeClr val="tx1"/>
                </a:solidFill>
              </a:rPr>
              <a:t>(a)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n = 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= 0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while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&lt;= n // 2:		# </a:t>
            </a:r>
            <a:r>
              <a:rPr lang="zh-CN" altLang="zh-CN" sz="2800" b="1" dirty="0">
                <a:solidFill>
                  <a:schemeClr val="tx1"/>
                </a:solidFill>
              </a:rPr>
              <a:t>将</a:t>
            </a:r>
            <a:r>
              <a:rPr lang="en-US" altLang="zh-CN" sz="2800" b="1" dirty="0">
                <a:solidFill>
                  <a:schemeClr val="tx1"/>
                </a:solidFill>
              </a:rPr>
              <a:t>a</a:t>
            </a:r>
            <a:r>
              <a:rPr lang="zh-CN" altLang="zh-CN" sz="2800" b="1" dirty="0">
                <a:solidFill>
                  <a:schemeClr val="tx1"/>
                </a:solidFill>
              </a:rPr>
              <a:t>中的元素依次首尾对调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t =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 = a[n - 1 -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a[n - 1 -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 = t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=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+ 1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print(a)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8EF17D4-E33D-41CD-BE21-3293350E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7027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9873" y="156373"/>
            <a:ext cx="10852150" cy="648072"/>
          </a:xfrm>
        </p:spPr>
        <p:txBody>
          <a:bodyPr/>
          <a:lstStyle/>
          <a:p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6-3】</a:t>
            </a:r>
            <a:r>
              <a:rPr lang="zh-CN" altLang="en-US" sz="2800" dirty="0"/>
              <a:t>编写程序，模拟列表的</a:t>
            </a:r>
            <a:r>
              <a:rPr lang="en-US" altLang="zh-CN" sz="2800" dirty="0"/>
              <a:t>insert()</a:t>
            </a:r>
            <a:r>
              <a:rPr lang="zh-CN" altLang="en-US" sz="2800" dirty="0"/>
              <a:t>方法。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376" y="836473"/>
            <a:ext cx="11161240" cy="569386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1"/>
                </a:solidFill>
              </a:rPr>
              <a:t>a = </a:t>
            </a:r>
            <a:r>
              <a:rPr lang="en-US" altLang="zh-CN" sz="2600" b="1" dirty="0" err="1">
                <a:solidFill>
                  <a:schemeClr val="tx1"/>
                </a:solidFill>
              </a:rPr>
              <a:t>eval</a:t>
            </a:r>
            <a:r>
              <a:rPr lang="en-US" altLang="zh-CN" sz="2600" b="1" dirty="0">
                <a:solidFill>
                  <a:schemeClr val="tx1"/>
                </a:solidFill>
              </a:rPr>
              <a:t>(input('</a:t>
            </a:r>
            <a:r>
              <a:rPr lang="zh-CN" altLang="zh-CN" sz="2600" b="1" dirty="0">
                <a:solidFill>
                  <a:schemeClr val="tx1"/>
                </a:solidFill>
              </a:rPr>
              <a:t>请输入一个列表</a:t>
            </a:r>
            <a:r>
              <a:rPr lang="en-US" altLang="zh-CN" sz="2600" b="1" dirty="0">
                <a:solidFill>
                  <a:schemeClr val="tx1"/>
                </a:solidFill>
              </a:rPr>
              <a:t>:'))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n = </a:t>
            </a:r>
            <a:r>
              <a:rPr lang="en-US" altLang="zh-CN" sz="2600" b="1" dirty="0" err="1">
                <a:solidFill>
                  <a:schemeClr val="tx1"/>
                </a:solidFill>
              </a:rPr>
              <a:t>len</a:t>
            </a:r>
            <a:r>
              <a:rPr lang="en-US" altLang="zh-CN" sz="2600" b="1" dirty="0">
                <a:solidFill>
                  <a:schemeClr val="tx1"/>
                </a:solidFill>
              </a:rPr>
              <a:t>(a)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index = </a:t>
            </a:r>
            <a:r>
              <a:rPr lang="en-US" altLang="zh-CN" sz="2600" b="1" dirty="0" err="1">
                <a:solidFill>
                  <a:schemeClr val="tx1"/>
                </a:solidFill>
              </a:rPr>
              <a:t>eval</a:t>
            </a:r>
            <a:r>
              <a:rPr lang="en-US" altLang="zh-CN" sz="2600" b="1" dirty="0">
                <a:solidFill>
                  <a:schemeClr val="tx1"/>
                </a:solidFill>
              </a:rPr>
              <a:t>(input('</a:t>
            </a:r>
            <a:r>
              <a:rPr lang="zh-CN" altLang="zh-CN" sz="2600" b="1" dirty="0">
                <a:solidFill>
                  <a:schemeClr val="tx1"/>
                </a:solidFill>
              </a:rPr>
              <a:t>请输入要插入的下标位置</a:t>
            </a:r>
            <a:r>
              <a:rPr lang="en-US" altLang="zh-CN" sz="2600" b="1" dirty="0">
                <a:solidFill>
                  <a:schemeClr val="tx1"/>
                </a:solidFill>
              </a:rPr>
              <a:t>:'))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value = </a:t>
            </a:r>
            <a:r>
              <a:rPr lang="en-US" altLang="zh-CN" sz="2600" b="1" dirty="0" err="1">
                <a:solidFill>
                  <a:schemeClr val="tx1"/>
                </a:solidFill>
              </a:rPr>
              <a:t>eval</a:t>
            </a:r>
            <a:r>
              <a:rPr lang="en-US" altLang="zh-CN" sz="2600" b="1" dirty="0">
                <a:solidFill>
                  <a:schemeClr val="tx1"/>
                </a:solidFill>
              </a:rPr>
              <a:t>(input('</a:t>
            </a:r>
            <a:r>
              <a:rPr lang="zh-CN" altLang="zh-CN" sz="2600" b="1" dirty="0">
                <a:solidFill>
                  <a:schemeClr val="tx1"/>
                </a:solidFill>
              </a:rPr>
              <a:t>请输入要插入的元素</a:t>
            </a:r>
            <a:r>
              <a:rPr lang="en-US" altLang="zh-CN" sz="2600" b="1" dirty="0">
                <a:solidFill>
                  <a:schemeClr val="tx1"/>
                </a:solidFill>
              </a:rPr>
              <a:t>:'))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if index &gt;= n: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    </a:t>
            </a:r>
            <a:r>
              <a:rPr lang="en-US" altLang="zh-CN" sz="2600" b="1" dirty="0" err="1">
                <a:solidFill>
                  <a:schemeClr val="tx1"/>
                </a:solidFill>
              </a:rPr>
              <a:t>a.append</a:t>
            </a:r>
            <a:r>
              <a:rPr lang="en-US" altLang="zh-CN" sz="2600" b="1" dirty="0">
                <a:solidFill>
                  <a:schemeClr val="tx1"/>
                </a:solidFill>
              </a:rPr>
              <a:t>(value)		# </a:t>
            </a:r>
            <a:r>
              <a:rPr lang="zh-CN" altLang="zh-CN" sz="2600" b="1" dirty="0">
                <a:solidFill>
                  <a:schemeClr val="tx1"/>
                </a:solidFill>
              </a:rPr>
              <a:t>插入列表尾部</a:t>
            </a:r>
          </a:p>
          <a:p>
            <a:r>
              <a:rPr lang="en-US" altLang="zh-CN" sz="2600" b="1" dirty="0">
                <a:solidFill>
                  <a:schemeClr val="tx1"/>
                </a:solidFill>
              </a:rPr>
              <a:t>else: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    </a:t>
            </a:r>
            <a:r>
              <a:rPr lang="en-US" altLang="zh-CN" sz="2600" b="1" dirty="0" err="1">
                <a:solidFill>
                  <a:schemeClr val="tx1"/>
                </a:solidFill>
              </a:rPr>
              <a:t>a.append</a:t>
            </a:r>
            <a:r>
              <a:rPr lang="en-US" altLang="zh-CN" sz="2600" b="1" dirty="0">
                <a:solidFill>
                  <a:schemeClr val="tx1"/>
                </a:solidFill>
              </a:rPr>
              <a:t>([])		# </a:t>
            </a:r>
            <a:r>
              <a:rPr lang="zh-CN" altLang="zh-CN" sz="2600" b="1" dirty="0">
                <a:solidFill>
                  <a:schemeClr val="tx1"/>
                </a:solidFill>
              </a:rPr>
              <a:t>先在列表尾部添加一个元素</a:t>
            </a:r>
          </a:p>
          <a:p>
            <a:r>
              <a:rPr lang="en-US" altLang="zh-CN" sz="2600" b="1" dirty="0">
                <a:solidFill>
                  <a:schemeClr val="tx1"/>
                </a:solidFill>
              </a:rPr>
              <a:t>    m = n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    while m &gt; index:		# </a:t>
            </a:r>
            <a:r>
              <a:rPr lang="zh-CN" altLang="zh-CN" sz="2600" b="1" dirty="0">
                <a:solidFill>
                  <a:schemeClr val="tx1"/>
                </a:solidFill>
              </a:rPr>
              <a:t>将下标</a:t>
            </a:r>
            <a:r>
              <a:rPr lang="en-US" altLang="zh-CN" sz="2600" b="1" dirty="0">
                <a:solidFill>
                  <a:schemeClr val="tx1"/>
                </a:solidFill>
              </a:rPr>
              <a:t>index</a:t>
            </a:r>
            <a:r>
              <a:rPr lang="zh-CN" altLang="zh-CN" sz="2600" b="1" dirty="0">
                <a:solidFill>
                  <a:schemeClr val="tx1"/>
                </a:solidFill>
              </a:rPr>
              <a:t>及之后的元素依次后移一位</a:t>
            </a:r>
          </a:p>
          <a:p>
            <a:r>
              <a:rPr lang="en-US" altLang="zh-CN" sz="2600" b="1" dirty="0">
                <a:solidFill>
                  <a:schemeClr val="tx1"/>
                </a:solidFill>
              </a:rPr>
              <a:t>        a[m] = a[m - 1]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        m -= 1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    a[index] = value		# </a:t>
            </a:r>
            <a:r>
              <a:rPr lang="zh-CN" altLang="zh-CN" sz="2600" b="1" dirty="0">
                <a:solidFill>
                  <a:schemeClr val="tx1"/>
                </a:solidFill>
              </a:rPr>
              <a:t>插入元素</a:t>
            </a:r>
            <a:r>
              <a:rPr lang="en-US" altLang="zh-CN" sz="2600" b="1" dirty="0">
                <a:solidFill>
                  <a:schemeClr val="tx1"/>
                </a:solidFill>
              </a:rPr>
              <a:t>value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print(a)</a:t>
            </a:r>
            <a:endParaRPr lang="zh-CN" altLang="zh-CN" sz="26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98483EB-923E-4142-B557-64085486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563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81" y="260648"/>
            <a:ext cx="10852150" cy="720080"/>
          </a:xfrm>
        </p:spPr>
        <p:txBody>
          <a:bodyPr/>
          <a:lstStyle/>
          <a:p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6-4】</a:t>
            </a:r>
            <a:r>
              <a:rPr lang="zh-CN" altLang="en-US" sz="2800" dirty="0"/>
              <a:t>编写程序，模拟列表的</a:t>
            </a:r>
            <a:r>
              <a:rPr lang="en-US" altLang="zh-CN" sz="2800" dirty="0"/>
              <a:t>sort()</a:t>
            </a:r>
            <a:r>
              <a:rPr lang="zh-CN" altLang="en-US" sz="2800" dirty="0"/>
              <a:t>方法。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排序就是使一串记录按照其中的某个或某些关键字的大小，递增或递减排列起来。</a:t>
            </a:r>
            <a:endParaRPr lang="en-US" altLang="zh-CN" dirty="0"/>
          </a:p>
          <a:p>
            <a:r>
              <a:rPr lang="zh-CN" altLang="zh-CN" dirty="0"/>
              <a:t>经典的排序算法，冒泡排序、选择排序、插入排序</a:t>
            </a:r>
            <a:r>
              <a:rPr lang="zh-CN" altLang="en-US" dirty="0"/>
              <a:t>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326A36-9300-4DD9-805B-582BC5B0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563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260648"/>
            <a:ext cx="10852150" cy="716915"/>
          </a:xfrm>
        </p:spPr>
        <p:txBody>
          <a:bodyPr/>
          <a:lstStyle/>
          <a:p>
            <a:r>
              <a:rPr lang="zh-CN" altLang="en-US" dirty="0"/>
              <a:t>冒泡排序</a:t>
            </a:r>
            <a:r>
              <a:rPr lang="en-US" altLang="zh-CN" sz="2800" dirty="0"/>
              <a:t>-</a:t>
            </a:r>
            <a:r>
              <a:rPr lang="zh-CN" altLang="en-US" sz="2800" dirty="0"/>
              <a:t>从小到大排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3769" y="1015454"/>
            <a:ext cx="9062591" cy="5581898"/>
          </a:xfrm>
        </p:spPr>
        <p:txBody>
          <a:bodyPr>
            <a:normAutofit fontScale="92500"/>
          </a:bodyPr>
          <a:lstStyle/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趟排序：</a:t>
            </a: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a[0]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比较，若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a[0]&gt;a[1]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则两者交换，否则不交换</a:t>
            </a:r>
            <a:endParaRPr kumimoji="1" lang="en-US" altLang="zh-CN" sz="2800" kern="0" spc="0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比较，若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a[1]&gt;a[2]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则两者交换，否则不交换</a:t>
            </a:r>
            <a:endParaRPr kumimoji="1" lang="en-US" altLang="zh-CN" sz="2800" kern="0" spc="0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依次类推，直到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a[8]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a[9]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比较后，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a[9] 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是最大数</a:t>
            </a:r>
            <a:endParaRPr kumimoji="1" lang="en-US" altLang="zh-CN" sz="2800" kern="0" spc="0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趟排序：</a:t>
            </a:r>
            <a:endParaRPr kumimoji="1" lang="en-US" altLang="zh-CN" sz="2800" kern="0" spc="0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a[0]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比较，若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a[0]&gt;a[1]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则两者交换，否则不交换</a:t>
            </a:r>
            <a:endParaRPr kumimoji="1" lang="en-US" altLang="zh-CN" sz="2800" kern="0" spc="0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比较，若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a[1]&gt;a[2]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则两者交换，否则不交换</a:t>
            </a:r>
            <a:endParaRPr kumimoji="1" lang="en-US" altLang="zh-CN" sz="2800" kern="0" spc="0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依次类推，直到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a[7]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a[8]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比较后，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a[8] 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是第二大数</a:t>
            </a:r>
            <a:endParaRPr kumimoji="1" lang="en-US" altLang="zh-CN" sz="2800" kern="0" spc="0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趟排序：</a:t>
            </a:r>
            <a:endParaRPr kumimoji="1" lang="en-US" altLang="zh-CN" sz="2800" kern="0" spc="0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a[0]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比较，若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a[0]&gt;a[1]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则两者交换。否则不交换</a:t>
            </a:r>
            <a:endParaRPr kumimoji="1" lang="en-US" altLang="zh-CN" sz="2800" kern="0" spc="0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855" lvl="0" indent="0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3A5047"/>
              </a:buClr>
              <a:buSzPct val="75000"/>
              <a:buNone/>
              <a:defRPr/>
            </a:pP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此时，</a:t>
            </a:r>
            <a:r>
              <a:rPr kumimoji="1" lang="en-US" altLang="zh-CN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a[0]</a:t>
            </a:r>
            <a:r>
              <a:rPr kumimoji="1" lang="zh-CN" altLang="en-US" sz="2800" kern="0" spc="0" noProof="0" dirty="0">
                <a:latin typeface="宋体" panose="02010600030101010101" pitchFamily="2" charset="-122"/>
                <a:ea typeface="宋体" panose="02010600030101010101" pitchFamily="2" charset="-122"/>
              </a:rPr>
              <a:t>是最小数。</a:t>
            </a:r>
            <a:endParaRPr lang="zh-CN" altLang="en-US" sz="3600" dirty="0"/>
          </a:p>
        </p:txBody>
      </p:sp>
      <p:grpSp>
        <p:nvGrpSpPr>
          <p:cNvPr id="4" name="组合 11"/>
          <p:cNvGrpSpPr>
            <a:grpSpLocks/>
          </p:cNvGrpSpPr>
          <p:nvPr/>
        </p:nvGrpSpPr>
        <p:grpSpPr bwMode="auto">
          <a:xfrm>
            <a:off x="5297486" y="1015455"/>
            <a:ext cx="5616575" cy="457200"/>
            <a:chOff x="2389188" y="768350"/>
            <a:chExt cx="5616575" cy="457200"/>
          </a:xfrm>
        </p:grpSpPr>
        <p:sp>
          <p:nvSpPr>
            <p:cNvPr id="5" name="AutoShape 31"/>
            <p:cNvSpPr>
              <a:spLocks noChangeArrowheads="1"/>
            </p:cNvSpPr>
            <p:nvPr/>
          </p:nvSpPr>
          <p:spPr bwMode="auto">
            <a:xfrm>
              <a:off x="2389188" y="912813"/>
              <a:ext cx="647700" cy="288925"/>
            </a:xfrm>
            <a:prstGeom prst="curvedUpArrow">
              <a:avLst>
                <a:gd name="adj1" fmla="val 44835"/>
                <a:gd name="adj2" fmla="val 89670"/>
                <a:gd name="adj3" fmla="val 33329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AutoShape 32"/>
            <p:cNvSpPr>
              <a:spLocks noChangeArrowheads="1"/>
            </p:cNvSpPr>
            <p:nvPr/>
          </p:nvSpPr>
          <p:spPr bwMode="auto">
            <a:xfrm>
              <a:off x="3109913" y="912813"/>
              <a:ext cx="647700" cy="288925"/>
            </a:xfrm>
            <a:prstGeom prst="curvedUpArrow">
              <a:avLst>
                <a:gd name="adj1" fmla="val 44835"/>
                <a:gd name="adj2" fmla="val 89670"/>
                <a:gd name="adj3" fmla="val 33329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AutoShape 33"/>
            <p:cNvSpPr>
              <a:spLocks noChangeArrowheads="1"/>
            </p:cNvSpPr>
            <p:nvPr/>
          </p:nvSpPr>
          <p:spPr bwMode="auto">
            <a:xfrm>
              <a:off x="3757613" y="912813"/>
              <a:ext cx="647700" cy="288925"/>
            </a:xfrm>
            <a:prstGeom prst="curvedUpArrow">
              <a:avLst>
                <a:gd name="adj1" fmla="val 44835"/>
                <a:gd name="adj2" fmla="val 89670"/>
                <a:gd name="adj3" fmla="val 33329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AutoShape 34"/>
            <p:cNvSpPr>
              <a:spLocks noChangeArrowheads="1"/>
            </p:cNvSpPr>
            <p:nvPr/>
          </p:nvSpPr>
          <p:spPr bwMode="auto">
            <a:xfrm>
              <a:off x="4405313" y="912813"/>
              <a:ext cx="647700" cy="288925"/>
            </a:xfrm>
            <a:prstGeom prst="curvedUpArrow">
              <a:avLst>
                <a:gd name="adj1" fmla="val 44835"/>
                <a:gd name="adj2" fmla="val 89670"/>
                <a:gd name="adj3" fmla="val 33329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AutoShape 35"/>
            <p:cNvSpPr>
              <a:spLocks noChangeArrowheads="1"/>
            </p:cNvSpPr>
            <p:nvPr/>
          </p:nvSpPr>
          <p:spPr bwMode="auto">
            <a:xfrm>
              <a:off x="5053013" y="912813"/>
              <a:ext cx="647700" cy="288925"/>
            </a:xfrm>
            <a:prstGeom prst="curvedUpArrow">
              <a:avLst>
                <a:gd name="adj1" fmla="val 44835"/>
                <a:gd name="adj2" fmla="val 89670"/>
                <a:gd name="adj3" fmla="val 33329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AutoShape 36"/>
            <p:cNvSpPr>
              <a:spLocks noChangeArrowheads="1"/>
            </p:cNvSpPr>
            <p:nvPr/>
          </p:nvSpPr>
          <p:spPr bwMode="auto">
            <a:xfrm>
              <a:off x="7358063" y="912813"/>
              <a:ext cx="647700" cy="288925"/>
            </a:xfrm>
            <a:prstGeom prst="curvedUpArrow">
              <a:avLst>
                <a:gd name="adj1" fmla="val 44835"/>
                <a:gd name="adj2" fmla="val 89670"/>
                <a:gd name="adj3" fmla="val 33329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Text Box 37"/>
            <p:cNvSpPr txBox="1">
              <a:spLocks noChangeArrowheads="1"/>
            </p:cNvSpPr>
            <p:nvPr/>
          </p:nvSpPr>
          <p:spPr bwMode="auto">
            <a:xfrm>
              <a:off x="6061075" y="768350"/>
              <a:ext cx="12239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……</a:t>
              </a:r>
            </a:p>
          </p:txBody>
        </p:sp>
      </p:grpSp>
      <p:graphicFrame>
        <p:nvGraphicFramePr>
          <p:cNvPr id="12" name="表格 11"/>
          <p:cNvGraphicFramePr/>
          <p:nvPr>
            <p:extLst>
              <p:ext uri="{D42A27DB-BD31-4B8C-83A1-F6EECF244321}">
                <p14:modId xmlns:p14="http://schemas.microsoft.com/office/powerpoint/2010/main" val="3502090302"/>
              </p:ext>
            </p:extLst>
          </p:nvPr>
        </p:nvGraphicFramePr>
        <p:xfrm>
          <a:off x="5114924" y="210593"/>
          <a:ext cx="6096000" cy="91503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400">
                          <a:solidFill>
                            <a:schemeClr val="tx1"/>
                          </a:solidFill>
                          <a:latin typeface="+mn-lt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2000">
                          <a:solidFill>
                            <a:schemeClr val="tx1"/>
                          </a:solidFill>
                          <a:latin typeface="+mn-lt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A5047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kumimoji="1" sz="1800">
                          <a:solidFill>
                            <a:schemeClr val="tx1"/>
                          </a:solidFill>
                          <a:latin typeface="+mn-lt"/>
                        </a:defRPr>
                      </a:lvl5pPr>
                    </a:lstStyle>
                    <a:p>
                      <a:pPr marL="0" lvl="0" indent="0" algn="ctr" eaLnBrk="1" hangingPunct="1">
                        <a:buClr>
                          <a:schemeClr val="tx2"/>
                        </a:buClr>
                        <a:buSzPct val="100000"/>
                        <a:buNone/>
                      </a:pPr>
                      <a:endPara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0D9C54B1-14FC-49D2-9F6E-DC7BDDDF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3207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260648"/>
            <a:ext cx="2304256" cy="716915"/>
          </a:xfrm>
        </p:spPr>
        <p:txBody>
          <a:bodyPr/>
          <a:lstStyle/>
          <a:p>
            <a:r>
              <a:rPr lang="zh-CN" altLang="en-US" dirty="0"/>
              <a:t>冒泡排序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338987"/>
              </p:ext>
            </p:extLst>
          </p:nvPr>
        </p:nvGraphicFramePr>
        <p:xfrm>
          <a:off x="2351583" y="758424"/>
          <a:ext cx="7632848" cy="51033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04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5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5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22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033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原始数据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椭圆 4"/>
          <p:cNvSpPr/>
          <p:nvPr/>
        </p:nvSpPr>
        <p:spPr>
          <a:xfrm>
            <a:off x="4583832" y="857848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5735960" y="833172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6888088" y="857848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7968208" y="845924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9048328" y="830432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17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873559"/>
              </p:ext>
            </p:extLst>
          </p:nvPr>
        </p:nvGraphicFramePr>
        <p:xfrm>
          <a:off x="2351585" y="1742268"/>
          <a:ext cx="7632848" cy="43204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25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69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9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第一趟：第一次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下弧形箭头 10"/>
          <p:cNvSpPr/>
          <p:nvPr/>
        </p:nvSpPr>
        <p:spPr>
          <a:xfrm>
            <a:off x="5087888" y="1267974"/>
            <a:ext cx="1152128" cy="39218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655840" y="1772816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663952" y="1789600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040488" y="1814276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073876" y="1802352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9120336" y="1786860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下弧形箭头 16"/>
          <p:cNvSpPr/>
          <p:nvPr/>
        </p:nvSpPr>
        <p:spPr>
          <a:xfrm>
            <a:off x="6319416" y="2246324"/>
            <a:ext cx="974204" cy="39218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7257"/>
              </p:ext>
            </p:extLst>
          </p:nvPr>
        </p:nvGraphicFramePr>
        <p:xfrm>
          <a:off x="2351582" y="2966404"/>
          <a:ext cx="7632850" cy="43204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25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第一趟：第二次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椭圆 18"/>
          <p:cNvSpPr/>
          <p:nvPr/>
        </p:nvSpPr>
        <p:spPr>
          <a:xfrm>
            <a:off x="4675436" y="3038412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816351" y="3013736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032104" y="2996952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082260" y="3026488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192344" y="3010996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下弧形箭头 23"/>
          <p:cNvSpPr/>
          <p:nvPr/>
        </p:nvSpPr>
        <p:spPr>
          <a:xfrm>
            <a:off x="7487568" y="3470460"/>
            <a:ext cx="974204" cy="39218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50253"/>
              </p:ext>
            </p:extLst>
          </p:nvPr>
        </p:nvGraphicFramePr>
        <p:xfrm>
          <a:off x="2351583" y="4015048"/>
          <a:ext cx="7632849" cy="43204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25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第一趟：第三次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椭圆 26"/>
          <p:cNvSpPr/>
          <p:nvPr/>
        </p:nvSpPr>
        <p:spPr>
          <a:xfrm>
            <a:off x="4667053" y="4087056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807968" y="4062380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7040489" y="4087056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073877" y="4075132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192344" y="4059640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下弧形箭头 31"/>
          <p:cNvSpPr/>
          <p:nvPr/>
        </p:nvSpPr>
        <p:spPr>
          <a:xfrm>
            <a:off x="8488412" y="4495770"/>
            <a:ext cx="974204" cy="39218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672525"/>
              </p:ext>
            </p:extLst>
          </p:nvPr>
        </p:nvGraphicFramePr>
        <p:xfrm>
          <a:off x="2351582" y="5084732"/>
          <a:ext cx="7704859" cy="43204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4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3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4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第一趟：第四次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椭圆 33"/>
          <p:cNvSpPr/>
          <p:nvPr/>
        </p:nvSpPr>
        <p:spPr>
          <a:xfrm>
            <a:off x="4655840" y="5085184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816352" y="5132064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7176120" y="5156740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8256240" y="5144816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9264352" y="5129324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8F41B6D-E6E2-42E1-89C7-A95A7AA5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tx1"/>
                </a:solidFill>
              </a:rPr>
              <a:t>70</a:t>
            </a:fld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65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260648"/>
            <a:ext cx="2304256" cy="716915"/>
          </a:xfrm>
        </p:spPr>
        <p:txBody>
          <a:bodyPr/>
          <a:lstStyle/>
          <a:p>
            <a:r>
              <a:rPr lang="zh-CN" altLang="en-US" dirty="0"/>
              <a:t>冒泡排序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86757"/>
              </p:ext>
            </p:extLst>
          </p:nvPr>
        </p:nvGraphicFramePr>
        <p:xfrm>
          <a:off x="2783632" y="758424"/>
          <a:ext cx="7042720" cy="51033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033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第二趟原始数据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椭圆 4"/>
          <p:cNvSpPr/>
          <p:nvPr/>
        </p:nvSpPr>
        <p:spPr>
          <a:xfrm>
            <a:off x="4727848" y="857848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5807968" y="833172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6816080" y="857848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7968208" y="845924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17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611090"/>
              </p:ext>
            </p:extLst>
          </p:nvPr>
        </p:nvGraphicFramePr>
        <p:xfrm>
          <a:off x="2817291" y="1742268"/>
          <a:ext cx="7056785" cy="43204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5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第二趟：第一次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下弧形箭头 10"/>
          <p:cNvSpPr/>
          <p:nvPr/>
        </p:nvSpPr>
        <p:spPr>
          <a:xfrm>
            <a:off x="5159896" y="1267974"/>
            <a:ext cx="974204" cy="39218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799856" y="1814276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807968" y="1789600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960096" y="1814276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073876" y="1802352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下弧形箭头 16"/>
          <p:cNvSpPr/>
          <p:nvPr/>
        </p:nvSpPr>
        <p:spPr>
          <a:xfrm>
            <a:off x="6319416" y="2246324"/>
            <a:ext cx="974204" cy="39218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936181"/>
              </p:ext>
            </p:extLst>
          </p:nvPr>
        </p:nvGraphicFramePr>
        <p:xfrm>
          <a:off x="2825675" y="2966404"/>
          <a:ext cx="7056785" cy="43204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2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第二趟：第二次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椭圆 18"/>
          <p:cNvSpPr/>
          <p:nvPr/>
        </p:nvSpPr>
        <p:spPr>
          <a:xfrm>
            <a:off x="4799856" y="3038412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879976" y="3013736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960096" y="2996952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082260" y="3026488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下弧形箭头 23"/>
          <p:cNvSpPr/>
          <p:nvPr/>
        </p:nvSpPr>
        <p:spPr>
          <a:xfrm>
            <a:off x="7487568" y="3470460"/>
            <a:ext cx="974204" cy="39218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649419"/>
              </p:ext>
            </p:extLst>
          </p:nvPr>
        </p:nvGraphicFramePr>
        <p:xfrm>
          <a:off x="2817292" y="4015048"/>
          <a:ext cx="7056785" cy="43204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3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第二趟：第三次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椭圆 26"/>
          <p:cNvSpPr/>
          <p:nvPr/>
        </p:nvSpPr>
        <p:spPr>
          <a:xfrm>
            <a:off x="4799856" y="4077072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879976" y="4062380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960096" y="4005064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073877" y="4075132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9048328" y="821820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9102576" y="1788288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9100989" y="3013736"/>
            <a:ext cx="72008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9100989" y="4040340"/>
            <a:ext cx="720080" cy="360040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EF1CF8-974D-482B-BEC1-52A63E1A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tx1"/>
                </a:solidFill>
              </a:rPr>
              <a:t>71</a:t>
            </a:fld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9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427038"/>
            <a:ext cx="10852150" cy="716915"/>
          </a:xfrm>
        </p:spPr>
        <p:txBody>
          <a:bodyPr/>
          <a:lstStyle/>
          <a:p>
            <a:r>
              <a:rPr lang="zh-CN" altLang="en-US" dirty="0"/>
              <a:t>冒泡排序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51784" y="1124745"/>
            <a:ext cx="1656184" cy="10801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流程图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63352" y="1412776"/>
            <a:ext cx="4130675" cy="56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ts val="4325"/>
              </a:lnSpc>
            </a:pPr>
            <a:r>
              <a:rPr lang="zh-CN" altLang="en-US" b="1" dirty="0">
                <a:latin typeface="宋体" charset="-122"/>
              </a:rPr>
              <a:t>伪代码</a:t>
            </a:r>
            <a:r>
              <a:rPr lang="en-US" altLang="zh-CN" b="1" dirty="0">
                <a:latin typeface="宋体" charset="-122"/>
              </a:rPr>
              <a:t>(C</a:t>
            </a:r>
            <a:r>
              <a:rPr lang="zh-CN" altLang="en-US" b="1" dirty="0">
                <a:latin typeface="宋体" charset="-122"/>
              </a:rPr>
              <a:t>语言</a:t>
            </a:r>
            <a:r>
              <a:rPr lang="en-US" altLang="zh-CN" b="1" dirty="0">
                <a:latin typeface="宋体" charset="-122"/>
              </a:rPr>
              <a:t>)</a:t>
            </a:r>
            <a:r>
              <a:rPr lang="zh-CN" altLang="en-US" b="1" dirty="0">
                <a:latin typeface="宋体" charset="-122"/>
              </a:rPr>
              <a:t>：</a:t>
            </a:r>
            <a:endParaRPr lang="en-US" altLang="zh-CN" b="1" dirty="0">
              <a:latin typeface="宋体" charset="-122"/>
            </a:endParaRPr>
          </a:p>
          <a:p>
            <a:pPr eaLnBrk="1" hangingPunct="1">
              <a:lnSpc>
                <a:spcPts val="4325"/>
              </a:lnSpc>
            </a:pPr>
            <a:r>
              <a:rPr lang="en-US" altLang="zh-CN" b="1" dirty="0">
                <a:latin typeface="宋体" charset="-122"/>
              </a:rPr>
              <a:t>for(i=0; i&lt;N-1; i++)</a:t>
            </a:r>
          </a:p>
          <a:p>
            <a:pPr eaLnBrk="1" hangingPunct="1">
              <a:lnSpc>
                <a:spcPts val="4325"/>
              </a:lnSpc>
            </a:pPr>
            <a:r>
              <a:rPr lang="en-US" altLang="zh-CN" b="1" dirty="0">
                <a:latin typeface="宋体" charset="-122"/>
              </a:rPr>
              <a:t>   for(j=0; j&lt;N-i-1; j++)</a:t>
            </a:r>
          </a:p>
          <a:p>
            <a:pPr eaLnBrk="1" hangingPunct="1">
              <a:lnSpc>
                <a:spcPts val="4325"/>
              </a:lnSpc>
            </a:pPr>
            <a:r>
              <a:rPr lang="en-US" altLang="zh-CN" b="1" dirty="0">
                <a:latin typeface="宋体" charset="-122"/>
              </a:rPr>
              <a:t>       if(a[j] &gt; a[j+1])</a:t>
            </a:r>
          </a:p>
          <a:p>
            <a:pPr eaLnBrk="1" hangingPunct="1">
              <a:lnSpc>
                <a:spcPts val="4325"/>
              </a:lnSpc>
            </a:pPr>
            <a:r>
              <a:rPr lang="en-US" altLang="zh-CN" b="1" dirty="0">
                <a:latin typeface="宋体" charset="-122"/>
              </a:rPr>
              <a:t>       {</a:t>
            </a:r>
          </a:p>
          <a:p>
            <a:pPr eaLnBrk="1" hangingPunct="1">
              <a:lnSpc>
                <a:spcPts val="4325"/>
              </a:lnSpc>
            </a:pPr>
            <a:r>
              <a:rPr lang="en-US" altLang="zh-CN" b="1" dirty="0">
                <a:latin typeface="宋体" charset="-122"/>
              </a:rPr>
              <a:t>          t=a[j];</a:t>
            </a:r>
          </a:p>
          <a:p>
            <a:pPr eaLnBrk="1" hangingPunct="1">
              <a:lnSpc>
                <a:spcPts val="4325"/>
              </a:lnSpc>
            </a:pPr>
            <a:r>
              <a:rPr lang="en-US" altLang="zh-CN" b="1" dirty="0">
                <a:latin typeface="宋体" charset="-122"/>
              </a:rPr>
              <a:t>          a[j]=a[j+1];</a:t>
            </a:r>
          </a:p>
          <a:p>
            <a:pPr eaLnBrk="1" hangingPunct="1">
              <a:lnSpc>
                <a:spcPts val="4325"/>
              </a:lnSpc>
            </a:pPr>
            <a:r>
              <a:rPr lang="en-US" altLang="zh-CN" b="1" dirty="0">
                <a:latin typeface="宋体" charset="-122"/>
              </a:rPr>
              <a:t>          a[j+1]=t;</a:t>
            </a:r>
          </a:p>
          <a:p>
            <a:pPr eaLnBrk="1" hangingPunct="1">
              <a:lnSpc>
                <a:spcPts val="4325"/>
              </a:lnSpc>
            </a:pPr>
            <a:r>
              <a:rPr lang="en-US" altLang="zh-CN" b="1" dirty="0">
                <a:latin typeface="宋体" charset="-122"/>
              </a:rPr>
              <a:t>       }</a:t>
            </a:r>
          </a:p>
          <a:p>
            <a:pPr eaLnBrk="1" hangingPunct="1">
              <a:lnSpc>
                <a:spcPts val="4325"/>
              </a:lnSpc>
            </a:pPr>
            <a:endParaRPr lang="en-US" altLang="zh-CN" b="1" dirty="0">
              <a:latin typeface="宋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3632" y="1988840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9" name="组合 78"/>
          <p:cNvGrpSpPr/>
          <p:nvPr/>
        </p:nvGrpSpPr>
        <p:grpSpPr>
          <a:xfrm>
            <a:off x="6054670" y="320786"/>
            <a:ext cx="3313113" cy="6144419"/>
            <a:chOff x="4572000" y="66675"/>
            <a:chExt cx="3313113" cy="6324600"/>
          </a:xfrm>
        </p:grpSpPr>
        <p:sp>
          <p:nvSpPr>
            <p:cNvPr id="80" name="圆角矩形 79"/>
            <p:cNvSpPr/>
            <p:nvPr/>
          </p:nvSpPr>
          <p:spPr>
            <a:xfrm>
              <a:off x="5724525" y="66675"/>
              <a:ext cx="863600" cy="36036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  <a:defRPr/>
              </a:pPr>
              <a:r>
                <a:rPr lang="zh-CN" altLang="en-US" sz="1800" dirty="0">
                  <a:solidFill>
                    <a:schemeClr val="tx1"/>
                  </a:solidFill>
                </a:rPr>
                <a:t>开始</a:t>
              </a:r>
            </a:p>
          </p:txBody>
        </p:sp>
        <p:cxnSp>
          <p:nvCxnSpPr>
            <p:cNvPr id="81" name="直接箭头连接符 80"/>
            <p:cNvCxnSpPr>
              <a:stCxn id="80" idx="2"/>
            </p:cNvCxnSpPr>
            <p:nvPr/>
          </p:nvCxnSpPr>
          <p:spPr>
            <a:xfrm>
              <a:off x="6156325" y="427038"/>
              <a:ext cx="0" cy="15716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菱形 81"/>
            <p:cNvSpPr/>
            <p:nvPr/>
          </p:nvSpPr>
          <p:spPr>
            <a:xfrm>
              <a:off x="5400675" y="1089025"/>
              <a:ext cx="1511300" cy="468313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  <a:defRPr/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i</a:t>
              </a:r>
              <a:r>
                <a:rPr lang="en-US" altLang="zh-CN" sz="1800" dirty="0">
                  <a:solidFill>
                    <a:schemeClr val="tx1"/>
                  </a:solidFill>
                </a:rPr>
                <a:t>&lt;N-1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5616575" y="584200"/>
              <a:ext cx="1079500" cy="2159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  <a:defRPr/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i</a:t>
              </a:r>
              <a:r>
                <a:rPr lang="en-US" altLang="zh-CN" sz="1800" dirty="0">
                  <a:solidFill>
                    <a:schemeClr val="tx1"/>
                  </a:solidFill>
                </a:rPr>
                <a:t>=0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84" name="直接箭头连接符 83"/>
            <p:cNvCxnSpPr/>
            <p:nvPr/>
          </p:nvCxnSpPr>
          <p:spPr>
            <a:xfrm>
              <a:off x="6156325" y="800100"/>
              <a:ext cx="0" cy="28892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TextBox 8"/>
            <p:cNvSpPr txBox="1">
              <a:spLocks noChangeArrowheads="1"/>
            </p:cNvSpPr>
            <p:nvPr/>
          </p:nvSpPr>
          <p:spPr bwMode="auto">
            <a:xfrm>
              <a:off x="6299200" y="1412875"/>
              <a:ext cx="351378" cy="380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800"/>
                <a:t>Y</a:t>
              </a:r>
              <a:endParaRPr lang="zh-CN" altLang="en-US" sz="1800"/>
            </a:p>
          </p:txBody>
        </p:sp>
        <p:sp>
          <p:nvSpPr>
            <p:cNvPr id="86" name="TextBox 12"/>
            <p:cNvSpPr txBox="1">
              <a:spLocks noChangeArrowheads="1"/>
            </p:cNvSpPr>
            <p:nvPr/>
          </p:nvSpPr>
          <p:spPr bwMode="auto">
            <a:xfrm>
              <a:off x="7019925" y="985838"/>
              <a:ext cx="351378" cy="380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800"/>
                <a:t>N</a:t>
              </a:r>
              <a:endParaRPr lang="zh-CN" altLang="en-US" sz="1800"/>
            </a:p>
          </p:txBody>
        </p:sp>
        <p:sp>
          <p:nvSpPr>
            <p:cNvPr id="87" name="矩形 86"/>
            <p:cNvSpPr/>
            <p:nvPr/>
          </p:nvSpPr>
          <p:spPr>
            <a:xfrm>
              <a:off x="5616575" y="1700213"/>
              <a:ext cx="1079500" cy="2159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  <a:defRPr/>
              </a:pPr>
              <a:r>
                <a:rPr lang="en-US" altLang="zh-CN" sz="1800" dirty="0">
                  <a:solidFill>
                    <a:schemeClr val="tx1"/>
                  </a:solidFill>
                </a:rPr>
                <a:t>j=0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88" name="菱形 87"/>
            <p:cNvSpPr/>
            <p:nvPr/>
          </p:nvSpPr>
          <p:spPr>
            <a:xfrm>
              <a:off x="5287963" y="2225675"/>
              <a:ext cx="1781175" cy="669925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  <a:defRPr/>
              </a:pPr>
              <a:r>
                <a:rPr lang="en-US" altLang="zh-CN" sz="1800" dirty="0">
                  <a:solidFill>
                    <a:schemeClr val="tx1"/>
                  </a:solidFill>
                </a:rPr>
                <a:t>j&lt;N-i-1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89" name="直接箭头连接符 88"/>
            <p:cNvCxnSpPr/>
            <p:nvPr/>
          </p:nvCxnSpPr>
          <p:spPr>
            <a:xfrm>
              <a:off x="6178550" y="1909763"/>
              <a:ext cx="0" cy="28892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/>
          </p:nvCxnSpPr>
          <p:spPr>
            <a:xfrm>
              <a:off x="6178550" y="2895600"/>
              <a:ext cx="0" cy="144463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TextBox 17"/>
            <p:cNvSpPr txBox="1">
              <a:spLocks noChangeArrowheads="1"/>
            </p:cNvSpPr>
            <p:nvPr/>
          </p:nvSpPr>
          <p:spPr bwMode="auto">
            <a:xfrm>
              <a:off x="6286500" y="2752725"/>
              <a:ext cx="351378" cy="380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800"/>
                <a:t>Y</a:t>
              </a:r>
              <a:endParaRPr lang="zh-CN" altLang="en-US" sz="1800"/>
            </a:p>
          </p:txBody>
        </p:sp>
        <p:sp>
          <p:nvSpPr>
            <p:cNvPr id="92" name="TextBox 18"/>
            <p:cNvSpPr txBox="1">
              <a:spLocks noChangeArrowheads="1"/>
            </p:cNvSpPr>
            <p:nvPr/>
          </p:nvSpPr>
          <p:spPr bwMode="auto">
            <a:xfrm>
              <a:off x="7069138" y="2190750"/>
              <a:ext cx="351378" cy="380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800"/>
                <a:t>N</a:t>
              </a:r>
              <a:endParaRPr lang="zh-CN" altLang="en-US" sz="1800"/>
            </a:p>
          </p:txBody>
        </p:sp>
        <p:sp>
          <p:nvSpPr>
            <p:cNvPr id="93" name="矩形 92"/>
            <p:cNvSpPr/>
            <p:nvPr/>
          </p:nvSpPr>
          <p:spPr>
            <a:xfrm>
              <a:off x="5468938" y="3043238"/>
              <a:ext cx="1403350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buFont typeface="Arial" pitchFamily="34" charset="0"/>
                <a:buNone/>
                <a:defRPr/>
              </a:pPr>
              <a:r>
                <a:rPr lang="en-US" altLang="zh-CN" sz="1800" dirty="0">
                  <a:solidFill>
                    <a:schemeClr val="tx1"/>
                  </a:solidFill>
                </a:rPr>
                <a:t>t=a[j]</a:t>
              </a:r>
            </a:p>
            <a:p>
              <a:pPr>
                <a:buFont typeface="Arial" pitchFamily="34" charset="0"/>
                <a:buNone/>
                <a:defRPr/>
              </a:pPr>
              <a:r>
                <a:rPr lang="en-US" altLang="zh-CN" sz="1800" dirty="0">
                  <a:solidFill>
                    <a:schemeClr val="tx1"/>
                  </a:solidFill>
                </a:rPr>
                <a:t>a[j]=a[j+1]</a:t>
              </a:r>
            </a:p>
            <a:p>
              <a:pPr>
                <a:buFont typeface="Arial" pitchFamily="34" charset="0"/>
                <a:buNone/>
                <a:defRPr/>
              </a:pPr>
              <a:r>
                <a:rPr lang="en-US" altLang="zh-CN" sz="1800" dirty="0">
                  <a:solidFill>
                    <a:schemeClr val="tx1"/>
                  </a:solidFill>
                </a:rPr>
                <a:t>a[j+1]=t</a:t>
              </a:r>
            </a:p>
          </p:txBody>
        </p:sp>
        <p:cxnSp>
          <p:nvCxnSpPr>
            <p:cNvPr id="94" name="直接连接符 93"/>
            <p:cNvCxnSpPr/>
            <p:nvPr/>
          </p:nvCxnSpPr>
          <p:spPr>
            <a:xfrm flipV="1">
              <a:off x="4883150" y="2054225"/>
              <a:ext cx="0" cy="2413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4897438" y="4467225"/>
              <a:ext cx="1281112" cy="0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/>
            <p:nvPr/>
          </p:nvCxnSpPr>
          <p:spPr>
            <a:xfrm>
              <a:off x="4883150" y="2054225"/>
              <a:ext cx="1295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42150" y="2566988"/>
              <a:ext cx="377825" cy="0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V="1">
              <a:off x="7407275" y="2566988"/>
              <a:ext cx="0" cy="20050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6911975" y="1333500"/>
              <a:ext cx="973138" cy="0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6167438" y="4581525"/>
              <a:ext cx="1223962" cy="0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V="1">
              <a:off x="4573588" y="917575"/>
              <a:ext cx="0" cy="41529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/>
            <p:nvPr/>
          </p:nvCxnSpPr>
          <p:spPr>
            <a:xfrm>
              <a:off x="4572000" y="917575"/>
              <a:ext cx="15843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矩形 102"/>
            <p:cNvSpPr/>
            <p:nvPr/>
          </p:nvSpPr>
          <p:spPr>
            <a:xfrm>
              <a:off x="5619750" y="4117975"/>
              <a:ext cx="1079500" cy="2159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  <a:defRPr/>
              </a:pPr>
              <a:r>
                <a:rPr lang="en-US" altLang="zh-CN" sz="1800" dirty="0">
                  <a:solidFill>
                    <a:schemeClr val="tx1"/>
                  </a:solidFill>
                </a:rPr>
                <a:t>j++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04" name="直接箭头连接符 103"/>
            <p:cNvCxnSpPr/>
            <p:nvPr/>
          </p:nvCxnSpPr>
          <p:spPr>
            <a:xfrm>
              <a:off x="6156325" y="3965575"/>
              <a:ext cx="0" cy="144463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>
              <a:stCxn id="103" idx="2"/>
            </p:cNvCxnSpPr>
            <p:nvPr/>
          </p:nvCxnSpPr>
          <p:spPr>
            <a:xfrm>
              <a:off x="6159500" y="4333875"/>
              <a:ext cx="0" cy="133350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矩形 105"/>
            <p:cNvSpPr/>
            <p:nvPr/>
          </p:nvSpPr>
          <p:spPr>
            <a:xfrm>
              <a:off x="5630863" y="4721225"/>
              <a:ext cx="1079500" cy="2159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  <a:defRPr/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i</a:t>
              </a:r>
              <a:r>
                <a:rPr lang="en-US" altLang="zh-CN" sz="1800" dirty="0">
                  <a:solidFill>
                    <a:schemeClr val="tx1"/>
                  </a:solidFill>
                </a:rPr>
                <a:t>++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07" name="直接箭头连接符 106"/>
            <p:cNvCxnSpPr/>
            <p:nvPr/>
          </p:nvCxnSpPr>
          <p:spPr>
            <a:xfrm>
              <a:off x="6156325" y="4572000"/>
              <a:ext cx="0" cy="142875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6178550" y="4937125"/>
              <a:ext cx="0" cy="133350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4598988" y="5070475"/>
              <a:ext cx="1603375" cy="0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V="1">
              <a:off x="7885113" y="1333500"/>
              <a:ext cx="0" cy="3895725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6172304" y="5229225"/>
              <a:ext cx="1677988" cy="0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接箭头连接符 111"/>
            <p:cNvCxnSpPr/>
            <p:nvPr/>
          </p:nvCxnSpPr>
          <p:spPr>
            <a:xfrm>
              <a:off x="6156325" y="1557338"/>
              <a:ext cx="0" cy="14287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接箭头连接符 112"/>
            <p:cNvCxnSpPr/>
            <p:nvPr/>
          </p:nvCxnSpPr>
          <p:spPr>
            <a:xfrm>
              <a:off x="6178550" y="5229225"/>
              <a:ext cx="0" cy="144463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平行四边形 113"/>
            <p:cNvSpPr/>
            <p:nvPr/>
          </p:nvSpPr>
          <p:spPr>
            <a:xfrm>
              <a:off x="5375275" y="5373688"/>
              <a:ext cx="1643063" cy="358775"/>
            </a:xfrm>
            <a:prstGeom prst="parallelogram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  <a:defRPr/>
              </a:pPr>
              <a:r>
                <a:rPr lang="zh-CN" altLang="en-US" sz="1800" dirty="0">
                  <a:solidFill>
                    <a:schemeClr val="tx1"/>
                  </a:solidFill>
                </a:rPr>
                <a:t>输出</a:t>
              </a:r>
              <a:r>
                <a:rPr lang="en-US" altLang="zh-CN" sz="1800" dirty="0">
                  <a:solidFill>
                    <a:schemeClr val="tx1"/>
                  </a:solidFill>
                </a:rPr>
                <a:t>a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15" name="直接箭头连接符 114"/>
            <p:cNvCxnSpPr/>
            <p:nvPr/>
          </p:nvCxnSpPr>
          <p:spPr>
            <a:xfrm>
              <a:off x="6202363" y="5732463"/>
              <a:ext cx="0" cy="28892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圆角矩形 115"/>
            <p:cNvSpPr/>
            <p:nvPr/>
          </p:nvSpPr>
          <p:spPr>
            <a:xfrm>
              <a:off x="5735638" y="6030913"/>
              <a:ext cx="863600" cy="3603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  <a:defRPr/>
              </a:pPr>
              <a:r>
                <a:rPr lang="zh-CN" altLang="en-US" sz="1800" dirty="0">
                  <a:solidFill>
                    <a:schemeClr val="tx1"/>
                  </a:solidFill>
                </a:rPr>
                <a:t>结束</a:t>
              </a:r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6B5D29-054D-4155-A86A-4CB2B203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tx1"/>
                </a:solidFill>
              </a:rPr>
              <a:t>72</a:t>
            </a:fld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6922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5400" y="230633"/>
            <a:ext cx="9871992" cy="526297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a = input('</a:t>
            </a:r>
            <a:r>
              <a:rPr lang="zh-CN" altLang="en-US" sz="2800" b="1" dirty="0">
                <a:solidFill>
                  <a:schemeClr val="tx1"/>
                </a:solidFill>
              </a:rPr>
              <a:t>请输入一个待排序的列表</a:t>
            </a:r>
            <a:r>
              <a:rPr lang="en-US" altLang="zh-CN" sz="2800" b="1" dirty="0">
                <a:solidFill>
                  <a:schemeClr val="tx1"/>
                </a:solidFill>
              </a:rPr>
              <a:t>:')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a = </a:t>
            </a:r>
            <a:r>
              <a:rPr lang="en-US" altLang="zh-CN" sz="2800" b="1" dirty="0" err="1">
                <a:solidFill>
                  <a:schemeClr val="tx1"/>
                </a:solidFill>
              </a:rPr>
              <a:t>eval</a:t>
            </a:r>
            <a:r>
              <a:rPr lang="en-US" altLang="zh-CN" sz="2800" b="1" dirty="0">
                <a:solidFill>
                  <a:schemeClr val="tx1"/>
                </a:solidFill>
              </a:rPr>
              <a:t>(a)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n = 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range(n - 1):   		# </a:t>
            </a:r>
            <a:r>
              <a:rPr lang="zh-CN" altLang="en-US" sz="2800" b="1" dirty="0">
                <a:solidFill>
                  <a:schemeClr val="tx1"/>
                </a:solidFill>
              </a:rPr>
              <a:t>共进行</a:t>
            </a:r>
            <a:r>
              <a:rPr lang="en-US" altLang="zh-CN" sz="2800" b="1" dirty="0">
                <a:solidFill>
                  <a:schemeClr val="tx1"/>
                </a:solidFill>
              </a:rPr>
              <a:t>n-1</a:t>
            </a:r>
            <a:r>
              <a:rPr lang="zh-CN" altLang="en-US" sz="2800" b="1" dirty="0">
                <a:solidFill>
                  <a:schemeClr val="tx1"/>
                </a:solidFill>
              </a:rPr>
              <a:t>趟排序</a:t>
            </a:r>
          </a:p>
          <a:p>
            <a:r>
              <a:rPr lang="zh-CN" altLang="en-US" sz="2800" b="1" dirty="0">
                <a:solidFill>
                  <a:schemeClr val="tx1"/>
                </a:solidFill>
              </a:rPr>
              <a:t>    </a:t>
            </a:r>
            <a:r>
              <a:rPr lang="en-US" altLang="zh-CN" sz="2800" b="1" dirty="0">
                <a:solidFill>
                  <a:schemeClr val="tx1"/>
                </a:solidFill>
              </a:rPr>
              <a:t>for j in range(n - 1 -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):                  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if a[j] &gt; a[j + 1]:   		#</a:t>
            </a:r>
            <a:r>
              <a:rPr lang="zh-CN" altLang="en-US" sz="2800" b="1" dirty="0">
                <a:solidFill>
                  <a:schemeClr val="tx1"/>
                </a:solidFill>
              </a:rPr>
              <a:t>前面元素值比后面大，交换</a:t>
            </a:r>
          </a:p>
          <a:p>
            <a:r>
              <a:rPr lang="zh-CN" altLang="en-US" sz="2800" b="1" dirty="0">
                <a:solidFill>
                  <a:schemeClr val="tx1"/>
                </a:solidFill>
              </a:rPr>
              <a:t>             </a:t>
            </a:r>
            <a:r>
              <a:rPr lang="en-US" altLang="zh-CN" sz="2800" b="1" dirty="0">
                <a:solidFill>
                  <a:schemeClr val="tx1"/>
                </a:solidFill>
              </a:rPr>
              <a:t>t = a[j]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     a[j] = a[j + 1]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     a[j + 1] = t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# print('</a:t>
            </a:r>
            <a:r>
              <a:rPr lang="zh-CN" altLang="en-US" sz="2800" b="1" dirty="0">
                <a:solidFill>
                  <a:schemeClr val="tx1"/>
                </a:solidFill>
              </a:rPr>
              <a:t>第</a:t>
            </a:r>
            <a:r>
              <a:rPr lang="en-US" altLang="zh-CN" sz="2800" b="1" dirty="0">
                <a:solidFill>
                  <a:schemeClr val="tx1"/>
                </a:solidFill>
              </a:rPr>
              <a:t>',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+ 1, '</a:t>
            </a:r>
            <a:r>
              <a:rPr lang="zh-CN" altLang="en-US" sz="2800" b="1" dirty="0">
                <a:solidFill>
                  <a:schemeClr val="tx1"/>
                </a:solidFill>
              </a:rPr>
              <a:t>趟排序结果：</a:t>
            </a:r>
            <a:r>
              <a:rPr lang="en-US" altLang="zh-CN" sz="2800" b="1" dirty="0">
                <a:solidFill>
                  <a:schemeClr val="tx1"/>
                </a:solidFill>
              </a:rPr>
              <a:t>', a)   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#</a:t>
            </a:r>
            <a:r>
              <a:rPr lang="zh-CN" altLang="en-US" sz="2800" b="1" dirty="0">
                <a:solidFill>
                  <a:schemeClr val="tx1"/>
                </a:solidFill>
              </a:rPr>
              <a:t>测试语句，观测每趟排序结果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print('</a:t>
            </a:r>
            <a:r>
              <a:rPr lang="zh-CN" altLang="en-US" sz="2800" b="1" dirty="0">
                <a:solidFill>
                  <a:schemeClr val="tx1"/>
                </a:solidFill>
              </a:rPr>
              <a:t>最终排序结果：</a:t>
            </a:r>
            <a:r>
              <a:rPr lang="en-US" altLang="zh-CN" sz="2800" b="1" dirty="0">
                <a:solidFill>
                  <a:schemeClr val="tx1"/>
                </a:solidFill>
              </a:rPr>
              <a:t>', a)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5AFEED-1A59-4B0D-ADD9-A43FA353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4666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81" y="260648"/>
            <a:ext cx="10852150" cy="64807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-【</a:t>
            </a:r>
            <a:r>
              <a:rPr lang="zh-CN" altLang="en-US" sz="3200" dirty="0"/>
              <a:t>例</a:t>
            </a:r>
            <a:r>
              <a:rPr lang="en-US" altLang="zh-CN" sz="3200" dirty="0"/>
              <a:t>6-5】</a:t>
            </a:r>
            <a:r>
              <a:rPr lang="zh-CN" altLang="en-US" sz="3200" dirty="0"/>
              <a:t>编写程序，求出给定列表中相差最小的两个数字。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2442" y="1047502"/>
            <a:ext cx="11284198" cy="526297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a = </a:t>
            </a:r>
            <a:r>
              <a:rPr lang="en-US" altLang="zh-CN" sz="2800" b="1" dirty="0" err="1">
                <a:solidFill>
                  <a:schemeClr val="tx1"/>
                </a:solidFill>
              </a:rPr>
              <a:t>eval</a:t>
            </a:r>
            <a:r>
              <a:rPr lang="en-US" altLang="zh-CN" sz="2800" b="1" dirty="0">
                <a:solidFill>
                  <a:schemeClr val="tx1"/>
                </a:solidFill>
              </a:rPr>
              <a:t>(input('</a:t>
            </a:r>
            <a:r>
              <a:rPr lang="zh-CN" altLang="zh-CN" sz="2800" b="1" dirty="0">
                <a:solidFill>
                  <a:schemeClr val="tx1"/>
                </a:solidFill>
              </a:rPr>
              <a:t>请输入一个列表</a:t>
            </a:r>
            <a:r>
              <a:rPr lang="en-US" altLang="zh-CN" sz="2800" b="1" dirty="0">
                <a:solidFill>
                  <a:schemeClr val="tx1"/>
                </a:solidFill>
              </a:rPr>
              <a:t>:'))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a.sort</a:t>
            </a:r>
            <a:r>
              <a:rPr lang="en-US" altLang="zh-CN" sz="2800" b="1" dirty="0">
                <a:solidFill>
                  <a:schemeClr val="tx1"/>
                </a:solidFill>
              </a:rPr>
              <a:t>(reverse=True)	# </a:t>
            </a:r>
            <a:r>
              <a:rPr lang="zh-CN" altLang="zh-CN" sz="2800" b="1" dirty="0">
                <a:solidFill>
                  <a:schemeClr val="tx1"/>
                </a:solidFill>
              </a:rPr>
              <a:t>从大到小排序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# print(a) 			# </a:t>
            </a:r>
            <a:r>
              <a:rPr lang="zh-CN" altLang="zh-CN" sz="2800" b="1" dirty="0">
                <a:solidFill>
                  <a:schemeClr val="tx1"/>
                </a:solidFill>
              </a:rPr>
              <a:t>输出降序排序结果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num1 = a[0] 	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num2 = a[1]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diff = num1 - num2		# </a:t>
            </a:r>
            <a:r>
              <a:rPr lang="zh-CN" altLang="zh-CN" sz="2800" b="1" dirty="0">
                <a:solidFill>
                  <a:schemeClr val="tx1"/>
                </a:solidFill>
              </a:rPr>
              <a:t>前两个数的差值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range(1, 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 - 1):	# </a:t>
            </a:r>
            <a:r>
              <a:rPr lang="zh-CN" altLang="zh-CN" sz="2800" b="1" dirty="0">
                <a:solidFill>
                  <a:schemeClr val="tx1"/>
                </a:solidFill>
              </a:rPr>
              <a:t>从第</a:t>
            </a: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r>
              <a:rPr lang="zh-CN" altLang="zh-CN" sz="2800" b="1" dirty="0">
                <a:solidFill>
                  <a:schemeClr val="tx1"/>
                </a:solidFill>
              </a:rPr>
              <a:t>个元素开始计算差值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if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 -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+ 1] &lt; diff: 	# </a:t>
            </a:r>
            <a:r>
              <a:rPr lang="zh-CN" altLang="zh-CN" sz="2800" b="1" dirty="0">
                <a:solidFill>
                  <a:schemeClr val="tx1"/>
                </a:solidFill>
              </a:rPr>
              <a:t>差值小于</a:t>
            </a:r>
            <a:r>
              <a:rPr lang="en-US" altLang="zh-CN" sz="2800" b="1" dirty="0">
                <a:solidFill>
                  <a:schemeClr val="tx1"/>
                </a:solidFill>
              </a:rPr>
              <a:t>diff</a:t>
            </a:r>
            <a:r>
              <a:rPr lang="zh-CN" altLang="zh-CN" sz="2800" b="1" dirty="0">
                <a:solidFill>
                  <a:schemeClr val="tx1"/>
                </a:solidFill>
              </a:rPr>
              <a:t>的值时</a:t>
            </a:r>
            <a:r>
              <a:rPr lang="en-US" altLang="zh-CN" sz="2800" b="1" dirty="0">
                <a:solidFill>
                  <a:schemeClr val="tx1"/>
                </a:solidFill>
              </a:rPr>
              <a:t>, </a:t>
            </a:r>
            <a:r>
              <a:rPr lang="zh-CN" altLang="zh-CN" sz="2800" b="1" dirty="0">
                <a:solidFill>
                  <a:schemeClr val="tx1"/>
                </a:solidFill>
              </a:rPr>
              <a:t>更新</a:t>
            </a:r>
            <a:r>
              <a:rPr lang="en-US" altLang="zh-CN" sz="2800" b="1" dirty="0">
                <a:solidFill>
                  <a:schemeClr val="tx1"/>
                </a:solidFill>
              </a:rPr>
              <a:t>num1</a:t>
            </a:r>
            <a:r>
              <a:rPr lang="zh-CN" altLang="zh-CN" sz="2800" b="1" dirty="0">
                <a:solidFill>
                  <a:schemeClr val="tx1"/>
                </a:solidFill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</a:rPr>
              <a:t>num2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diff =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 -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+ 1]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num1 =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num2 =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+ 1]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print('</a:t>
            </a:r>
            <a:r>
              <a:rPr lang="zh-CN" altLang="zh-CN" sz="2800" b="1" dirty="0">
                <a:solidFill>
                  <a:schemeClr val="tx1"/>
                </a:solidFill>
              </a:rPr>
              <a:t>差值最小的两个数为：</a:t>
            </a:r>
            <a:r>
              <a:rPr lang="en-US" altLang="zh-CN" sz="2800" b="1" dirty="0">
                <a:solidFill>
                  <a:schemeClr val="tx1"/>
                </a:solidFill>
              </a:rPr>
              <a:t>', (num1, num2))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78E172C-D122-4AD8-852F-491A0F71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563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81" y="260648"/>
            <a:ext cx="10852150" cy="72008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【</a:t>
            </a:r>
            <a:r>
              <a:rPr lang="zh-CN" altLang="en-US" sz="3200" dirty="0"/>
              <a:t>例</a:t>
            </a:r>
            <a:r>
              <a:rPr lang="en-US" altLang="zh-CN" sz="3200" dirty="0"/>
              <a:t>6-6】</a:t>
            </a:r>
            <a:r>
              <a:rPr lang="zh-CN" altLang="en-US" sz="3200" dirty="0"/>
              <a:t>编写程序，实现矩阵的转置功能。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1BBFE4-128F-4632-9E97-0AC187EC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08D391-BD30-493C-9BF2-EF97FE747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1196752"/>
            <a:ext cx="3600400" cy="326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563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81" y="260648"/>
            <a:ext cx="10852150" cy="72008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【</a:t>
            </a:r>
            <a:r>
              <a:rPr lang="zh-CN" altLang="en-US" sz="3200" dirty="0"/>
              <a:t>例</a:t>
            </a:r>
            <a:r>
              <a:rPr lang="en-US" altLang="zh-CN" sz="3200" dirty="0"/>
              <a:t>6-6】</a:t>
            </a:r>
            <a:r>
              <a:rPr lang="zh-CN" altLang="en-US" sz="3200" dirty="0"/>
              <a:t>编写程序，实现矩阵的转置功能。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6" y="1340768"/>
            <a:ext cx="9721080" cy="526297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a = </a:t>
            </a:r>
            <a:r>
              <a:rPr lang="en-US" altLang="zh-CN" sz="2800" b="1" dirty="0" err="1">
                <a:solidFill>
                  <a:schemeClr val="tx1"/>
                </a:solidFill>
              </a:rPr>
              <a:t>eval</a:t>
            </a:r>
            <a:r>
              <a:rPr lang="en-US" altLang="zh-CN" sz="2800" b="1" dirty="0">
                <a:solidFill>
                  <a:schemeClr val="tx1"/>
                </a:solidFill>
              </a:rPr>
              <a:t>(input('</a:t>
            </a:r>
            <a:r>
              <a:rPr lang="zh-CN" altLang="zh-CN" sz="2800" b="1" dirty="0">
                <a:solidFill>
                  <a:schemeClr val="tx1"/>
                </a:solidFill>
              </a:rPr>
              <a:t>请输入一个二维列表</a:t>
            </a:r>
            <a:r>
              <a:rPr lang="en-US" altLang="zh-CN" sz="2800" b="1" dirty="0">
                <a:solidFill>
                  <a:schemeClr val="tx1"/>
                </a:solidFill>
              </a:rPr>
              <a:t>:'))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print('</a:t>
            </a:r>
            <a:r>
              <a:rPr lang="zh-CN" altLang="zh-CN" sz="2800" b="1" dirty="0">
                <a:solidFill>
                  <a:schemeClr val="tx1"/>
                </a:solidFill>
              </a:rPr>
              <a:t>转置前：</a:t>
            </a:r>
            <a:r>
              <a:rPr lang="en-US" altLang="zh-CN" sz="2800" b="1" dirty="0">
                <a:solidFill>
                  <a:schemeClr val="tx1"/>
                </a:solidFill>
              </a:rPr>
              <a:t>')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(a)):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print(a[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(a)):      	# </a:t>
            </a:r>
            <a:r>
              <a:rPr lang="zh-CN" altLang="zh-CN" sz="2800" b="1" dirty="0">
                <a:solidFill>
                  <a:schemeClr val="tx1"/>
                </a:solidFill>
              </a:rPr>
              <a:t>对二维列表转置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for j in range(0,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):		# </a:t>
            </a:r>
            <a:r>
              <a:rPr lang="zh-CN" altLang="zh-CN" sz="2800" b="1" dirty="0">
                <a:solidFill>
                  <a:schemeClr val="tx1"/>
                </a:solidFill>
              </a:rPr>
              <a:t>只要将对角线以下部分交换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t =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][j];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][j] = a[j][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a[j][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 = t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print('</a:t>
            </a:r>
            <a:r>
              <a:rPr lang="zh-CN" altLang="zh-CN" sz="2800" b="1" dirty="0">
                <a:solidFill>
                  <a:schemeClr val="tx1"/>
                </a:solidFill>
              </a:rPr>
              <a:t>转置后：</a:t>
            </a:r>
            <a:r>
              <a:rPr lang="en-US" altLang="zh-CN" sz="2800" b="1" dirty="0">
                <a:solidFill>
                  <a:schemeClr val="tx1"/>
                </a:solidFill>
              </a:rPr>
              <a:t>')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(a)):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print(a[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])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1BBFE4-128F-4632-9E97-0AC187EC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9195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80" y="260648"/>
            <a:ext cx="11654767" cy="1152128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-【</a:t>
            </a:r>
            <a:r>
              <a:rPr lang="zh-CN" altLang="en-US" sz="3200" dirty="0"/>
              <a:t>例</a:t>
            </a:r>
            <a:r>
              <a:rPr lang="en-US" altLang="zh-CN" sz="3200" dirty="0"/>
              <a:t>6-7】</a:t>
            </a:r>
            <a:r>
              <a:rPr lang="zh-CN" altLang="en-US" sz="3200" dirty="0"/>
              <a:t>生成具有</a:t>
            </a:r>
            <a:r>
              <a:rPr lang="en-US" altLang="zh-CN" sz="3200" dirty="0"/>
              <a:t>20</a:t>
            </a:r>
            <a:r>
              <a:rPr lang="zh-CN" altLang="en-US" sz="3200" dirty="0"/>
              <a:t>个元素值互不相等的列表，并给定一个整数</a:t>
            </a:r>
            <a:r>
              <a:rPr lang="en-US" altLang="zh-CN" sz="3200" dirty="0"/>
              <a:t>n</a:t>
            </a:r>
            <a:r>
              <a:rPr lang="zh-CN" altLang="en-US" sz="3200" dirty="0"/>
              <a:t>，以</a:t>
            </a:r>
            <a:r>
              <a:rPr lang="en-US" altLang="zh-CN" sz="3200" dirty="0"/>
              <a:t>n</a:t>
            </a:r>
            <a:r>
              <a:rPr lang="zh-CN" altLang="en-US" sz="3200" dirty="0"/>
              <a:t>为界，然后将列表中的小于</a:t>
            </a:r>
            <a:r>
              <a:rPr lang="en-US" altLang="zh-CN" sz="3200" dirty="0"/>
              <a:t>n</a:t>
            </a:r>
            <a:r>
              <a:rPr lang="zh-CN" altLang="en-US" sz="3200" dirty="0"/>
              <a:t>的元素全部放到列表前面，大于</a:t>
            </a:r>
            <a:r>
              <a:rPr lang="en-US" altLang="zh-CN" sz="3200" dirty="0"/>
              <a:t>n</a:t>
            </a:r>
            <a:r>
              <a:rPr lang="zh-CN" altLang="en-US" sz="3200" dirty="0"/>
              <a:t>的元素放到列表后面。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3752" y="1124744"/>
            <a:ext cx="7992888" cy="8710077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import random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a = list(range(20))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random.shuffle</a:t>
            </a:r>
            <a:r>
              <a:rPr lang="en-US" altLang="zh-CN" sz="2800" b="1" dirty="0">
                <a:solidFill>
                  <a:schemeClr val="tx1"/>
                </a:solidFill>
              </a:rPr>
              <a:t>(a)	# </a:t>
            </a:r>
            <a:r>
              <a:rPr lang="zh-CN" altLang="zh-CN" sz="2800" b="1" dirty="0">
                <a:solidFill>
                  <a:schemeClr val="tx1"/>
                </a:solidFill>
              </a:rPr>
              <a:t>将列表</a:t>
            </a:r>
            <a:r>
              <a:rPr lang="en-US" altLang="zh-CN" sz="2800" b="1" dirty="0">
                <a:solidFill>
                  <a:schemeClr val="tx1"/>
                </a:solidFill>
              </a:rPr>
              <a:t>a</a:t>
            </a:r>
            <a:r>
              <a:rPr lang="zh-CN" altLang="zh-CN" sz="2800" b="1" dirty="0">
                <a:solidFill>
                  <a:schemeClr val="tx1"/>
                </a:solidFill>
              </a:rPr>
              <a:t>中元素随机打乱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print(a)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n = </a:t>
            </a:r>
            <a:r>
              <a:rPr lang="en-US" altLang="zh-CN" sz="2800" b="1" dirty="0" err="1">
                <a:solidFill>
                  <a:schemeClr val="tx1"/>
                </a:solidFill>
              </a:rPr>
              <a:t>eval</a:t>
            </a:r>
            <a:r>
              <a:rPr lang="en-US" altLang="zh-CN" sz="2800" b="1" dirty="0">
                <a:solidFill>
                  <a:schemeClr val="tx1"/>
                </a:solidFill>
              </a:rPr>
              <a:t>(input('</a:t>
            </a:r>
            <a:r>
              <a:rPr lang="zh-CN" altLang="zh-CN" sz="2800" b="1" dirty="0">
                <a:solidFill>
                  <a:schemeClr val="tx1"/>
                </a:solidFill>
              </a:rPr>
              <a:t>请输入一个整数</a:t>
            </a:r>
            <a:r>
              <a:rPr lang="en-US" altLang="zh-CN" sz="2800" b="1" dirty="0">
                <a:solidFill>
                  <a:schemeClr val="tx1"/>
                </a:solidFill>
              </a:rPr>
              <a:t>[0, 20)</a:t>
            </a:r>
            <a:r>
              <a:rPr lang="zh-CN" altLang="zh-CN" sz="2800" b="1" dirty="0">
                <a:solidFill>
                  <a:schemeClr val="tx1"/>
                </a:solidFill>
              </a:rPr>
              <a:t>：</a:t>
            </a:r>
            <a:r>
              <a:rPr lang="en-US" altLang="zh-CN" sz="2800" b="1" dirty="0">
                <a:solidFill>
                  <a:schemeClr val="tx1"/>
                </a:solidFill>
              </a:rPr>
              <a:t>'))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b = []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= 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 - 1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while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&gt;= 0: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if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 &lt; n:		# </a:t>
            </a:r>
            <a:r>
              <a:rPr lang="zh-CN" altLang="zh-CN" sz="2800" b="1" dirty="0">
                <a:solidFill>
                  <a:schemeClr val="tx1"/>
                </a:solidFill>
              </a:rPr>
              <a:t>将小于</a:t>
            </a:r>
            <a:r>
              <a:rPr lang="en-US" altLang="zh-CN" sz="2800" b="1" dirty="0">
                <a:solidFill>
                  <a:schemeClr val="tx1"/>
                </a:solidFill>
              </a:rPr>
              <a:t>n</a:t>
            </a:r>
            <a:r>
              <a:rPr lang="zh-CN" altLang="zh-CN" sz="2800" b="1" dirty="0">
                <a:solidFill>
                  <a:schemeClr val="tx1"/>
                </a:solidFill>
              </a:rPr>
              <a:t>的元素插入</a:t>
            </a:r>
            <a:r>
              <a:rPr lang="en-US" altLang="zh-CN" sz="2800" b="1" dirty="0">
                <a:solidFill>
                  <a:schemeClr val="tx1"/>
                </a:solidFill>
              </a:rPr>
              <a:t>b</a:t>
            </a:r>
            <a:r>
              <a:rPr lang="zh-CN" altLang="zh-CN" sz="2800" b="1" dirty="0">
                <a:solidFill>
                  <a:schemeClr val="tx1"/>
                </a:solidFill>
              </a:rPr>
              <a:t>的首部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</a:t>
            </a:r>
            <a:r>
              <a:rPr lang="en-US" altLang="zh-CN" sz="2800" b="1" dirty="0" err="1">
                <a:solidFill>
                  <a:schemeClr val="tx1"/>
                </a:solidFill>
              </a:rPr>
              <a:t>b.insert</a:t>
            </a:r>
            <a:r>
              <a:rPr lang="en-US" altLang="zh-CN" sz="2800" b="1" dirty="0">
                <a:solidFill>
                  <a:schemeClr val="tx1"/>
                </a:solidFill>
              </a:rPr>
              <a:t>(0,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-= 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b.append</a:t>
            </a:r>
            <a:r>
              <a:rPr lang="en-US" altLang="zh-CN" sz="2800" b="1" dirty="0">
                <a:solidFill>
                  <a:schemeClr val="tx1"/>
                </a:solidFill>
              </a:rPr>
              <a:t>(n)		# </a:t>
            </a:r>
            <a:r>
              <a:rPr lang="zh-CN" altLang="zh-CN" sz="2800" b="1" dirty="0">
                <a:solidFill>
                  <a:schemeClr val="tx1"/>
                </a:solidFill>
              </a:rPr>
              <a:t>将</a:t>
            </a:r>
            <a:r>
              <a:rPr lang="en-US" altLang="zh-CN" sz="2800" b="1" dirty="0">
                <a:solidFill>
                  <a:schemeClr val="tx1"/>
                </a:solidFill>
              </a:rPr>
              <a:t>n</a:t>
            </a:r>
            <a:r>
              <a:rPr lang="zh-CN" altLang="zh-CN" sz="2800" b="1" dirty="0">
                <a:solidFill>
                  <a:schemeClr val="tx1"/>
                </a:solidFill>
              </a:rPr>
              <a:t>插入</a:t>
            </a:r>
            <a:r>
              <a:rPr lang="en-US" altLang="zh-CN" sz="2800" b="1" dirty="0">
                <a:solidFill>
                  <a:schemeClr val="tx1"/>
                </a:solidFill>
              </a:rPr>
              <a:t>b</a:t>
            </a:r>
            <a:r>
              <a:rPr lang="zh-CN" altLang="zh-CN" sz="2800" b="1" dirty="0">
                <a:solidFill>
                  <a:schemeClr val="tx1"/>
                </a:solidFill>
              </a:rPr>
              <a:t>的尾首部</a:t>
            </a:r>
          </a:p>
          <a:p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= 0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while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&lt; 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if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 &gt; n:		# </a:t>
            </a:r>
            <a:r>
              <a:rPr lang="zh-CN" altLang="zh-CN" sz="2800" b="1" dirty="0">
                <a:solidFill>
                  <a:schemeClr val="tx1"/>
                </a:solidFill>
              </a:rPr>
              <a:t>将大于</a:t>
            </a:r>
            <a:r>
              <a:rPr lang="en-US" altLang="zh-CN" sz="2800" b="1" dirty="0">
                <a:solidFill>
                  <a:schemeClr val="tx1"/>
                </a:solidFill>
              </a:rPr>
              <a:t>n</a:t>
            </a:r>
            <a:r>
              <a:rPr lang="zh-CN" altLang="zh-CN" sz="2800" b="1" dirty="0">
                <a:solidFill>
                  <a:schemeClr val="tx1"/>
                </a:solidFill>
              </a:rPr>
              <a:t>的元素插入</a:t>
            </a:r>
            <a:r>
              <a:rPr lang="en-US" altLang="zh-CN" sz="2800" b="1" dirty="0">
                <a:solidFill>
                  <a:schemeClr val="tx1"/>
                </a:solidFill>
              </a:rPr>
              <a:t>b</a:t>
            </a:r>
            <a:r>
              <a:rPr lang="zh-CN" altLang="zh-CN" sz="2800" b="1" dirty="0">
                <a:solidFill>
                  <a:schemeClr val="tx1"/>
                </a:solidFill>
              </a:rPr>
              <a:t>的首部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</a:t>
            </a:r>
            <a:r>
              <a:rPr lang="en-US" altLang="zh-CN" sz="2800" b="1" dirty="0" err="1">
                <a:solidFill>
                  <a:schemeClr val="tx1"/>
                </a:solidFill>
              </a:rPr>
              <a:t>b.append</a:t>
            </a:r>
            <a:r>
              <a:rPr lang="en-US" altLang="zh-CN" sz="2800" b="1" dirty="0">
                <a:solidFill>
                  <a:schemeClr val="tx1"/>
                </a:solidFill>
              </a:rPr>
              <a:t>(a[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+= 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print(b)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5360" y="2204864"/>
            <a:ext cx="32624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</a:rPr>
              <a:t>思考：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zh-CN" sz="2400" dirty="0"/>
              <a:t>本例程序是借助列表</a:t>
            </a:r>
            <a:r>
              <a:rPr lang="en-US" altLang="zh-CN" sz="2400" dirty="0"/>
              <a:t>b</a:t>
            </a:r>
          </a:p>
          <a:p>
            <a:r>
              <a:rPr lang="zh-CN" altLang="zh-CN" sz="2400" dirty="0"/>
              <a:t>来完成的，如果只允许</a:t>
            </a:r>
            <a:endParaRPr lang="en-US" altLang="zh-CN" sz="2400" dirty="0"/>
          </a:p>
          <a:p>
            <a:r>
              <a:rPr lang="zh-CN" altLang="zh-CN" sz="2400" dirty="0"/>
              <a:t>在列表</a:t>
            </a:r>
            <a:r>
              <a:rPr lang="en-US" altLang="zh-CN" sz="2400" dirty="0"/>
              <a:t>a</a:t>
            </a:r>
            <a:r>
              <a:rPr lang="zh-CN" altLang="zh-CN" sz="2400" dirty="0"/>
              <a:t>上操作，该如</a:t>
            </a:r>
            <a:endParaRPr lang="en-US" altLang="zh-CN" sz="2400" dirty="0"/>
          </a:p>
          <a:p>
            <a:r>
              <a:rPr lang="zh-CN" altLang="zh-CN" sz="2400" dirty="0"/>
              <a:t>何实现？</a:t>
            </a:r>
            <a:endParaRPr lang="zh-CN" altLang="en-US" sz="24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6B1091-2768-4F32-9168-3D07ACDE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563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6" y="260648"/>
            <a:ext cx="11918119" cy="93610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【</a:t>
            </a:r>
            <a:r>
              <a:rPr lang="zh-CN" altLang="en-US" sz="3200" dirty="0"/>
              <a:t>例</a:t>
            </a:r>
            <a:r>
              <a:rPr lang="en-US" altLang="zh-CN" sz="3200" dirty="0"/>
              <a:t>6-8】</a:t>
            </a:r>
            <a:r>
              <a:rPr lang="zh-CN" altLang="en-US" sz="3200" dirty="0"/>
              <a:t>删除列表中所有重复的指定元素。例如，列表</a:t>
            </a:r>
            <a:r>
              <a:rPr lang="en-US" altLang="zh-CN" sz="3200" dirty="0"/>
              <a:t>a = [1, 2, 1, 1, 2]</a:t>
            </a:r>
            <a:r>
              <a:rPr lang="zh-CN" altLang="en-US" sz="3200" dirty="0"/>
              <a:t>，将重复出现的元素</a:t>
            </a:r>
            <a:r>
              <a:rPr lang="en-US" altLang="zh-CN" sz="3200" dirty="0"/>
              <a:t>1</a:t>
            </a:r>
            <a:r>
              <a:rPr lang="zh-CN" altLang="en-US" sz="3200" dirty="0"/>
              <a:t>删除后为</a:t>
            </a:r>
            <a:r>
              <a:rPr lang="en-US" altLang="zh-CN" sz="3200" dirty="0"/>
              <a:t>[2, 2]</a:t>
            </a:r>
            <a:r>
              <a:rPr lang="zh-CN" altLang="en-US" sz="3200" dirty="0"/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528" y="2204864"/>
            <a:ext cx="4704456" cy="224676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a = [1, 2, 1, 1, 1, 1]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a: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if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== 1: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</a:t>
            </a:r>
            <a:r>
              <a:rPr lang="en-US" altLang="zh-CN" sz="2800" b="1" dirty="0" err="1">
                <a:solidFill>
                  <a:schemeClr val="tx1"/>
                </a:solidFill>
              </a:rPr>
              <a:t>a.remove</a:t>
            </a:r>
            <a:r>
              <a:rPr lang="en-US" altLang="zh-CN" sz="2800" b="1" dirty="0">
                <a:solidFill>
                  <a:schemeClr val="tx1"/>
                </a:solidFill>
              </a:rPr>
              <a:t>(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print(a)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3813" y="1372126"/>
            <a:ext cx="10000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要删除所有重复出现的元素，自然会想到的方法是，循环遍历列表，</a:t>
            </a:r>
            <a:endParaRPr lang="en-US" altLang="zh-CN" sz="2400" dirty="0"/>
          </a:p>
          <a:p>
            <a:r>
              <a:rPr lang="zh-CN" altLang="zh-CN" sz="2400" dirty="0"/>
              <a:t>使用</a:t>
            </a:r>
            <a:r>
              <a:rPr lang="en-US" altLang="zh-CN" sz="2400" dirty="0"/>
              <a:t>remove()</a:t>
            </a:r>
            <a:r>
              <a:rPr lang="zh-CN" altLang="zh-CN" sz="2400" dirty="0"/>
              <a:t>将所要删除的元素逐个删除。</a:t>
            </a:r>
            <a:endParaRPr lang="zh-CN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11424" y="4509120"/>
            <a:ext cx="7632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代码运行的结果是：</a:t>
            </a:r>
            <a:r>
              <a:rPr lang="en-US" altLang="zh-CN" sz="2400" dirty="0"/>
              <a:t>[2, 1, 1]</a:t>
            </a:r>
          </a:p>
          <a:p>
            <a:endParaRPr lang="en-US" altLang="zh-CN" sz="2400" dirty="0"/>
          </a:p>
          <a:p>
            <a:r>
              <a:rPr lang="zh-CN" altLang="en-US" sz="2400" dirty="0"/>
              <a:t>不难发现，并没有删除全部的</a:t>
            </a:r>
            <a:r>
              <a:rPr lang="en-US" altLang="zh-CN" sz="2400" dirty="0"/>
              <a:t>1</a:t>
            </a:r>
            <a:r>
              <a:rPr lang="zh-CN" altLang="en-US" sz="2400" dirty="0"/>
              <a:t>，结果错误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7D5F9F-83FE-48CD-9843-DD9F824E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563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在上面这段代码中插入输出语句，来观察整个删除的过程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50123"/>
                  </p:ext>
                </p:extLst>
              </p:nvPr>
            </p:nvGraphicFramePr>
            <p:xfrm>
              <a:off x="695400" y="1268760"/>
              <a:ext cx="10081122" cy="331236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356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56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2845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70455"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代码：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zh-CN" sz="2000" b="1" i="0" kern="100">
                              <a:solidFill>
                                <a:schemeClr val="tx1"/>
                              </a:solidFill>
                              <a:effectLst/>
                            </a:rPr>
                            <a:t>代码运行结果：</a:t>
                          </a:r>
                          <a:endParaRPr lang="zh-CN" sz="2000" b="1" i="0" kern="1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zh-CN" sz="2000" b="1" i="0" kern="100">
                              <a:solidFill>
                                <a:schemeClr val="tx1"/>
                              </a:solidFill>
                              <a:effectLst/>
                            </a:rPr>
                            <a:t>代码执行过程：</a:t>
                          </a:r>
                          <a:endParaRPr lang="zh-CN" sz="2000" b="1" i="0" kern="1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41913"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#1. a = [1, 2, 1, 1, 1, 1]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#2. for 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i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 in a: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#3.    print(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i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)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#4.    if 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i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 == 1: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#5.        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a.remove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(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i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)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#6.        print(a)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[2, 1, 1, 1, 1]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[2, 1, 1, 1]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[2, 1, 1]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a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：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[1, 2, 1, 1, 1, 1]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↑</m:t>
                              </m:r>
                            </m:oMath>
                          </a14:m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（第一次循环，取第一个元素）</a:t>
                          </a:r>
                        </a:p>
                        <a:p>
                          <a:pPr marL="0" indent="266700" algn="just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a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：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[2, 1, 1, 1, 1]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（内存收缩后的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）</a:t>
                          </a:r>
                        </a:p>
                        <a:p>
                          <a:pPr marL="0" indent="266700" algn="just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↑</m:t>
                              </m:r>
                            </m:oMath>
                          </a14:m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（第二次循环，取第二个元素）</a:t>
                          </a:r>
                        </a:p>
                        <a:p>
                          <a:pPr marL="0" indent="266700" algn="just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a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：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[2, 1, 1, 1]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（内存收缩后的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）</a:t>
                          </a:r>
                        </a:p>
                        <a:p>
                          <a:pPr marL="0" indent="266700" algn="just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↑</m:t>
                              </m:r>
                            </m:oMath>
                          </a14:m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（第三次循环，取第三个元素）</a:t>
                          </a:r>
                        </a:p>
                        <a:p>
                          <a:pPr marL="0" indent="266700" algn="just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a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：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[2</a:t>
                          </a:r>
                          <a:r>
                            <a:rPr lang="en-US" sz="2000" b="1" i="0" kern="100">
                              <a:solidFill>
                                <a:schemeClr val="tx1"/>
                              </a:solidFill>
                              <a:effectLst/>
                            </a:rPr>
                            <a:t>, 1, 1]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（内存收缩后的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）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50123"/>
                  </p:ext>
                </p:extLst>
              </p:nvPr>
            </p:nvGraphicFramePr>
            <p:xfrm>
              <a:off x="695400" y="1268760"/>
              <a:ext cx="10081122" cy="331236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356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56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2845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70455"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zh-CN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代码：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zh-CN" sz="2000" b="1" i="0" kern="100">
                              <a:solidFill>
                                <a:schemeClr val="tx1"/>
                              </a:solidFill>
                              <a:effectLst/>
                            </a:rPr>
                            <a:t>代码运行结果：</a:t>
                          </a:r>
                          <a:endParaRPr lang="zh-CN" sz="2000" b="1" i="0" kern="1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zh-CN" sz="2000" b="1" i="0" kern="100">
                              <a:solidFill>
                                <a:schemeClr val="tx1"/>
                              </a:solidFill>
                              <a:effectLst/>
                            </a:rPr>
                            <a:t>代码执行过程：</a:t>
                          </a:r>
                          <a:endParaRPr lang="zh-CN" sz="2000" b="1" i="0" kern="1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41913"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#1. a = [1, 2, 1, 1, 1, 1]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#2. for 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i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 in a: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#3.    print(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i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)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#4.    if 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i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 == 1: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#5.        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a.remove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(</a:t>
                          </a:r>
                          <a:r>
                            <a:rPr lang="en-US" sz="2000" b="1" i="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i</a:t>
                          </a: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)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#6.        print(a)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[2, 1, 1, 1, 1]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[2, 1, 1, 1]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indent="266700" algn="just">
                            <a:spcAft>
                              <a:spcPts val="0"/>
                            </a:spcAft>
                          </a:pPr>
                          <a:r>
                            <a:rPr lang="en-US" sz="2000" b="1" i="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[2, 1, 1]</a:t>
                          </a:r>
                          <a:endParaRPr lang="zh-CN" sz="2000" b="1" i="0" kern="1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18050" t="-29032" r="-527" b="-4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/>
          <p:cNvSpPr txBox="1"/>
          <p:nvPr/>
        </p:nvSpPr>
        <p:spPr>
          <a:xfrm>
            <a:off x="695400" y="5013176"/>
            <a:ext cx="97626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错误原因：</a:t>
            </a:r>
            <a:r>
              <a:rPr lang="zh-CN" altLang="en-US" sz="2400" dirty="0"/>
              <a:t>当</a:t>
            </a:r>
            <a:r>
              <a:rPr lang="en-US" altLang="zh-CN" sz="2400" dirty="0"/>
              <a:t>remove()</a:t>
            </a:r>
            <a:r>
              <a:rPr lang="zh-CN" altLang="en-US" sz="2400" dirty="0"/>
              <a:t>方法删除一个元素时，</a:t>
            </a:r>
            <a:r>
              <a:rPr lang="en-US" altLang="zh-CN" sz="2400" dirty="0"/>
              <a:t>Python</a:t>
            </a:r>
            <a:r>
              <a:rPr lang="zh-CN" altLang="en-US" sz="2400" dirty="0"/>
              <a:t>会自动对列表内存</a:t>
            </a:r>
            <a:endParaRPr lang="en-US" altLang="zh-CN" sz="2400" dirty="0"/>
          </a:p>
          <a:p>
            <a:r>
              <a:rPr lang="zh-CN" altLang="en-US" sz="2400" dirty="0"/>
              <a:t>进行收缩并移动列表元素，来保证所有元素之间不会出现空隙，其元素</a:t>
            </a:r>
            <a:endParaRPr lang="en-US" altLang="zh-CN" sz="2400" dirty="0"/>
          </a:p>
          <a:p>
            <a:r>
              <a:rPr lang="zh-CN" altLang="en-US" sz="2400" dirty="0"/>
              <a:t>索引都被改变了。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3ADAE8D-30E2-4616-88B4-CFB956BC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4014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解决：</a:t>
            </a:r>
            <a:r>
              <a:rPr lang="zh-CN" altLang="zh-CN" dirty="0"/>
              <a:t>从后往前遍历</a:t>
            </a:r>
            <a:r>
              <a:rPr lang="en-US" altLang="zh-CN" dirty="0"/>
              <a:t>,</a:t>
            </a:r>
            <a:r>
              <a:rPr lang="zh-CN" altLang="zh-CN" dirty="0"/>
              <a:t>删除指定重复元素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7368" y="1628800"/>
            <a:ext cx="5400600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a = [1, 2, 1, 1, 1]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for 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 in range(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(a) - 1, -1, -1):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print(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if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 == 1: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del a[</a:t>
            </a:r>
            <a:r>
              <a:rPr lang="en-US" altLang="zh-CN" sz="2800" b="1" dirty="0" err="1">
                <a:solidFill>
                  <a:schemeClr val="tx1"/>
                </a:solidFill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</a:rPr>
              <a:t>]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print(a)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0" y="1628800"/>
            <a:ext cx="3888432" cy="37856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运行结果：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[1, 2, 1, 1]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[1, 2, 1]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[1, 2]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0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[2]</a:t>
            </a: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6CCF9B7-5D7D-4079-AF75-8EFE4A23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6607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81" y="260648"/>
            <a:ext cx="10852150" cy="936104"/>
          </a:xfrm>
        </p:spPr>
        <p:txBody>
          <a:bodyPr/>
          <a:lstStyle/>
          <a:p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6-9】</a:t>
            </a:r>
            <a:r>
              <a:rPr lang="zh-CN" altLang="en-US" sz="2800" dirty="0"/>
              <a:t>在有序序列中增加数据，使之仍保持有序（不使用列表的</a:t>
            </a:r>
            <a:r>
              <a:rPr lang="en-US" altLang="zh-CN" sz="2800" dirty="0"/>
              <a:t>insert()</a:t>
            </a:r>
            <a:r>
              <a:rPr lang="zh-CN" altLang="en-US" sz="2800" dirty="0"/>
              <a:t>方法）。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6" y="1484784"/>
            <a:ext cx="10852150" cy="452431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a = </a:t>
            </a:r>
            <a:r>
              <a:rPr lang="en-US" altLang="zh-CN" sz="2400" b="1" dirty="0" err="1">
                <a:solidFill>
                  <a:schemeClr val="tx1"/>
                </a:solidFill>
              </a:rPr>
              <a:t>eval</a:t>
            </a:r>
            <a:r>
              <a:rPr lang="en-US" altLang="zh-CN" sz="2400" b="1" dirty="0">
                <a:solidFill>
                  <a:schemeClr val="tx1"/>
                </a:solidFill>
              </a:rPr>
              <a:t>(input('</a:t>
            </a:r>
            <a:r>
              <a:rPr lang="zh-CN" altLang="zh-CN" sz="2400" b="1" dirty="0">
                <a:solidFill>
                  <a:schemeClr val="tx1"/>
                </a:solidFill>
              </a:rPr>
              <a:t>请输入有序（升序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zh-CN" sz="2400" b="1" dirty="0">
                <a:solidFill>
                  <a:schemeClr val="tx1"/>
                </a:solidFill>
              </a:rPr>
              <a:t>列表</a:t>
            </a:r>
            <a:r>
              <a:rPr lang="en-US" altLang="zh-CN" sz="2400" b="1" dirty="0">
                <a:solidFill>
                  <a:schemeClr val="tx1"/>
                </a:solidFill>
              </a:rPr>
              <a:t>:'))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# print('</a:t>
            </a:r>
            <a:r>
              <a:rPr lang="zh-CN" altLang="zh-CN" sz="2400" b="1" dirty="0">
                <a:solidFill>
                  <a:schemeClr val="tx1"/>
                </a:solidFill>
              </a:rPr>
              <a:t>有序列表为</a:t>
            </a:r>
            <a:r>
              <a:rPr lang="en-US" altLang="zh-CN" sz="2400" b="1" dirty="0">
                <a:solidFill>
                  <a:schemeClr val="tx1"/>
                </a:solidFill>
              </a:rPr>
              <a:t>:', a)		# </a:t>
            </a:r>
            <a:r>
              <a:rPr lang="zh-CN" altLang="zh-CN" sz="2400" b="1" dirty="0">
                <a:solidFill>
                  <a:schemeClr val="tx1"/>
                </a:solidFill>
              </a:rPr>
              <a:t>测试语句，可输出查看列表元素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n = 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(a)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v = </a:t>
            </a:r>
            <a:r>
              <a:rPr lang="en-US" altLang="zh-CN" sz="2400" b="1" dirty="0" err="1">
                <a:solidFill>
                  <a:schemeClr val="tx1"/>
                </a:solidFill>
              </a:rPr>
              <a:t>eval</a:t>
            </a:r>
            <a:r>
              <a:rPr lang="en-US" altLang="zh-CN" sz="2400" b="1" dirty="0">
                <a:solidFill>
                  <a:schemeClr val="tx1"/>
                </a:solidFill>
              </a:rPr>
              <a:t>(input('</a:t>
            </a:r>
            <a:r>
              <a:rPr lang="zh-CN" altLang="zh-CN" sz="2400" b="1" dirty="0">
                <a:solidFill>
                  <a:schemeClr val="tx1"/>
                </a:solidFill>
              </a:rPr>
              <a:t>请输入要插入的数</a:t>
            </a:r>
            <a:r>
              <a:rPr lang="en-US" altLang="zh-CN" sz="2400" b="1" dirty="0">
                <a:solidFill>
                  <a:schemeClr val="tx1"/>
                </a:solidFill>
              </a:rPr>
              <a:t>:'))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a.append</a:t>
            </a:r>
            <a:r>
              <a:rPr lang="en-US" altLang="zh-CN" sz="2400" b="1" dirty="0">
                <a:solidFill>
                  <a:schemeClr val="tx1"/>
                </a:solidFill>
              </a:rPr>
              <a:t>(v)		# </a:t>
            </a:r>
            <a:r>
              <a:rPr lang="zh-CN" altLang="zh-CN" sz="2400" b="1" dirty="0">
                <a:solidFill>
                  <a:schemeClr val="tx1"/>
                </a:solidFill>
              </a:rPr>
              <a:t>先将</a:t>
            </a:r>
            <a:r>
              <a:rPr lang="en-US" altLang="zh-CN" sz="2400" b="1" dirty="0">
                <a:solidFill>
                  <a:schemeClr val="tx1"/>
                </a:solidFill>
              </a:rPr>
              <a:t>v</a:t>
            </a:r>
            <a:r>
              <a:rPr lang="zh-CN" altLang="zh-CN" sz="2400" b="1" dirty="0">
                <a:solidFill>
                  <a:schemeClr val="tx1"/>
                </a:solidFill>
              </a:rPr>
              <a:t>加入到</a:t>
            </a:r>
            <a:r>
              <a:rPr lang="en-US" altLang="zh-CN" sz="2400" b="1" dirty="0">
                <a:solidFill>
                  <a:schemeClr val="tx1"/>
                </a:solidFill>
              </a:rPr>
              <a:t>a</a:t>
            </a:r>
            <a:r>
              <a:rPr lang="zh-CN" altLang="zh-CN" sz="2400" b="1" dirty="0">
                <a:solidFill>
                  <a:schemeClr val="tx1"/>
                </a:solidFill>
              </a:rPr>
              <a:t>的尾部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for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in range(n):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if v &lt; a[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]:		# </a:t>
            </a:r>
            <a:r>
              <a:rPr lang="zh-CN" altLang="zh-CN" sz="2400" b="1" dirty="0">
                <a:solidFill>
                  <a:schemeClr val="tx1"/>
                </a:solidFill>
              </a:rPr>
              <a:t>找到列表中第一个大于</a:t>
            </a:r>
            <a:r>
              <a:rPr lang="en-US" altLang="zh-CN" sz="2400" b="1" dirty="0">
                <a:solidFill>
                  <a:schemeClr val="tx1"/>
                </a:solidFill>
              </a:rPr>
              <a:t>v</a:t>
            </a:r>
            <a:r>
              <a:rPr lang="zh-CN" altLang="zh-CN" sz="2400" b="1" dirty="0">
                <a:solidFill>
                  <a:schemeClr val="tx1"/>
                </a:solidFill>
              </a:rPr>
              <a:t>的元素，下标为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for j in range(n,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, -1):    #</a:t>
            </a:r>
            <a:r>
              <a:rPr lang="zh-CN" altLang="zh-CN" sz="2400" b="1" dirty="0">
                <a:solidFill>
                  <a:schemeClr val="tx1"/>
                </a:solidFill>
              </a:rPr>
              <a:t>将下标从</a:t>
            </a:r>
            <a:r>
              <a:rPr lang="en-US" altLang="zh-CN" sz="2400" b="1" dirty="0">
                <a:solidFill>
                  <a:schemeClr val="tx1"/>
                </a:solidFill>
              </a:rPr>
              <a:t>n</a:t>
            </a:r>
            <a:r>
              <a:rPr lang="zh-CN" altLang="zh-CN" sz="2400" b="1" dirty="0">
                <a:solidFill>
                  <a:schemeClr val="tx1"/>
                </a:solidFill>
              </a:rPr>
              <a:t>开始，到下标为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zh-CN" altLang="zh-CN" sz="2400" b="1" dirty="0">
                <a:solidFill>
                  <a:schemeClr val="tx1"/>
                </a:solidFill>
              </a:rPr>
              <a:t>的元素依次后移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    a[j] = a[j - 1]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a[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] = v	  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将</a:t>
            </a:r>
            <a:r>
              <a:rPr lang="en-US" altLang="zh-CN" sz="2400" b="1" dirty="0">
                <a:solidFill>
                  <a:schemeClr val="tx1"/>
                </a:solidFill>
              </a:rPr>
              <a:t>v</a:t>
            </a:r>
            <a:r>
              <a:rPr lang="zh-CN" altLang="zh-CN" sz="2400" b="1" dirty="0">
                <a:solidFill>
                  <a:schemeClr val="tx1"/>
                </a:solidFill>
              </a:rPr>
              <a:t>放到位置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zh-CN" altLang="zh-CN" sz="2400" b="1" dirty="0">
                <a:solidFill>
                  <a:schemeClr val="tx1"/>
                </a:solidFill>
              </a:rPr>
              <a:t>处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break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print('</a:t>
            </a:r>
            <a:r>
              <a:rPr lang="zh-CN" altLang="zh-CN" sz="2400" b="1" dirty="0">
                <a:solidFill>
                  <a:schemeClr val="tx1"/>
                </a:solidFill>
              </a:rPr>
              <a:t>插入后的列表为</a:t>
            </a:r>
            <a:r>
              <a:rPr lang="en-US" altLang="zh-CN" sz="2400" b="1" dirty="0">
                <a:solidFill>
                  <a:schemeClr val="tx1"/>
                </a:solidFill>
              </a:rPr>
              <a:t>:', a)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915FD31-25C3-4D58-9F58-624F6375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563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3352" y="188640"/>
            <a:ext cx="11816208" cy="936104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6-10】</a:t>
            </a:r>
            <a:r>
              <a:rPr lang="zh-CN" altLang="en-US" sz="2800" dirty="0"/>
              <a:t>编写程序，找出矩阵中的马鞍点。“马鞍点”即矩阵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m×n</a:t>
            </a:r>
            <a:r>
              <a:rPr lang="zh-CN" altLang="en-US" sz="2800" dirty="0"/>
              <a:t>中的某个元素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ij</a:t>
            </a:r>
            <a:r>
              <a:rPr lang="zh-CN" altLang="en-US" sz="2800" dirty="0"/>
              <a:t>是第</a:t>
            </a:r>
            <a:r>
              <a:rPr lang="en-US" altLang="zh-CN" sz="2800" dirty="0" err="1"/>
              <a:t>i</a:t>
            </a:r>
            <a:r>
              <a:rPr lang="zh-CN" altLang="en-US" sz="2800" dirty="0"/>
              <a:t>行的最大值，同时又是第</a:t>
            </a:r>
            <a:r>
              <a:rPr lang="en-US" altLang="zh-CN" sz="2800" dirty="0"/>
              <a:t>j</a:t>
            </a:r>
            <a:r>
              <a:rPr lang="zh-CN" altLang="en-US" sz="2800" dirty="0"/>
              <a:t>列中的最小值。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1424" y="1170032"/>
            <a:ext cx="9577064" cy="492442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</a:rPr>
              <a:t>a = [[2, 3, 3], [4, 5, 6], [7, 5, 4]]	# 3*3</a:t>
            </a:r>
            <a:r>
              <a:rPr lang="zh-CN" altLang="zh-CN" sz="1600" b="1" dirty="0">
                <a:solidFill>
                  <a:schemeClr val="tx1"/>
                </a:solidFill>
              </a:rPr>
              <a:t>的矩阵</a:t>
            </a:r>
          </a:p>
          <a:p>
            <a:r>
              <a:rPr lang="en-US" altLang="zh-CN" sz="1600" b="1" dirty="0">
                <a:solidFill>
                  <a:schemeClr val="tx1"/>
                </a:solidFill>
              </a:rPr>
              <a:t>n = </a:t>
            </a:r>
            <a:r>
              <a:rPr lang="en-US" altLang="zh-CN" sz="1600" b="1" dirty="0" err="1">
                <a:solidFill>
                  <a:schemeClr val="tx1"/>
                </a:solidFill>
              </a:rPr>
              <a:t>len</a:t>
            </a:r>
            <a:r>
              <a:rPr lang="en-US" altLang="zh-CN" sz="1600" b="1" dirty="0">
                <a:solidFill>
                  <a:schemeClr val="tx1"/>
                </a:solidFill>
              </a:rPr>
              <a:t>(a)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for </a:t>
            </a:r>
            <a:r>
              <a:rPr lang="en-US" altLang="zh-CN" sz="1600" b="1" dirty="0" err="1">
                <a:solidFill>
                  <a:schemeClr val="tx1"/>
                </a:solidFill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</a:rPr>
              <a:t> in range(n):			# </a:t>
            </a:r>
            <a:r>
              <a:rPr lang="zh-CN" altLang="zh-CN" sz="1600" b="1" dirty="0">
                <a:solidFill>
                  <a:schemeClr val="tx1"/>
                </a:solidFill>
              </a:rPr>
              <a:t>输出矩阵</a:t>
            </a: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print(a[</a:t>
            </a:r>
            <a:r>
              <a:rPr lang="en-US" altLang="zh-CN" sz="1600" b="1" dirty="0" err="1">
                <a:solidFill>
                  <a:schemeClr val="tx1"/>
                </a:solidFill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</a:rPr>
              <a:t>])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 err="1">
                <a:solidFill>
                  <a:schemeClr val="tx1"/>
                </a:solidFill>
              </a:rPr>
              <a:t>num</a:t>
            </a:r>
            <a:r>
              <a:rPr lang="en-US" altLang="zh-CN" sz="1600" b="1" dirty="0">
                <a:solidFill>
                  <a:schemeClr val="tx1"/>
                </a:solidFill>
              </a:rPr>
              <a:t> = 0				# </a:t>
            </a:r>
            <a:r>
              <a:rPr lang="en-US" altLang="zh-CN" sz="1600" b="1" dirty="0" err="1">
                <a:solidFill>
                  <a:schemeClr val="tx1"/>
                </a:solidFill>
              </a:rPr>
              <a:t>num</a:t>
            </a:r>
            <a:r>
              <a:rPr lang="zh-CN" altLang="zh-CN" sz="1600" b="1" dirty="0">
                <a:solidFill>
                  <a:schemeClr val="tx1"/>
                </a:solidFill>
              </a:rPr>
              <a:t>用于统计马鞍点个数</a:t>
            </a:r>
          </a:p>
          <a:p>
            <a:r>
              <a:rPr lang="en-US" altLang="zh-CN" sz="1600" b="1" dirty="0">
                <a:solidFill>
                  <a:schemeClr val="tx1"/>
                </a:solidFill>
              </a:rPr>
              <a:t>for </a:t>
            </a:r>
            <a:r>
              <a:rPr lang="en-US" altLang="zh-CN" sz="1600" b="1" dirty="0" err="1">
                <a:solidFill>
                  <a:schemeClr val="tx1"/>
                </a:solidFill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</a:rPr>
              <a:t> in range(n):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</a:t>
            </a:r>
            <a:r>
              <a:rPr lang="en-US" altLang="zh-CN" sz="1600" b="1" dirty="0" err="1">
                <a:solidFill>
                  <a:schemeClr val="tx1"/>
                </a:solidFill>
              </a:rPr>
              <a:t>row_max</a:t>
            </a:r>
            <a:r>
              <a:rPr lang="en-US" altLang="zh-CN" sz="1600" b="1" dirty="0">
                <a:solidFill>
                  <a:schemeClr val="tx1"/>
                </a:solidFill>
              </a:rPr>
              <a:t> = max(a[</a:t>
            </a:r>
            <a:r>
              <a:rPr lang="en-US" altLang="zh-CN" sz="1600" b="1" dirty="0" err="1">
                <a:solidFill>
                  <a:schemeClr val="tx1"/>
                </a:solidFill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</a:rPr>
              <a:t>])           	# </a:t>
            </a:r>
            <a:r>
              <a:rPr lang="zh-CN" altLang="zh-CN" sz="1600" b="1" dirty="0">
                <a:solidFill>
                  <a:schemeClr val="tx1"/>
                </a:solidFill>
              </a:rPr>
              <a:t>求出第</a:t>
            </a:r>
            <a:r>
              <a:rPr lang="en-US" altLang="zh-CN" sz="1600" b="1" dirty="0" err="1">
                <a:solidFill>
                  <a:schemeClr val="tx1"/>
                </a:solidFill>
              </a:rPr>
              <a:t>i</a:t>
            </a:r>
            <a:r>
              <a:rPr lang="zh-CN" altLang="zh-CN" sz="1600" b="1" dirty="0">
                <a:solidFill>
                  <a:schemeClr val="tx1"/>
                </a:solidFill>
              </a:rPr>
              <a:t>行的最大值</a:t>
            </a: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for j in range(n):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if a[</a:t>
            </a:r>
            <a:r>
              <a:rPr lang="en-US" altLang="zh-CN" sz="1600" b="1" dirty="0" err="1">
                <a:solidFill>
                  <a:schemeClr val="tx1"/>
                </a:solidFill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</a:rPr>
              <a:t>][j] == </a:t>
            </a:r>
            <a:r>
              <a:rPr lang="en-US" altLang="zh-CN" sz="1600" b="1" dirty="0" err="1">
                <a:solidFill>
                  <a:schemeClr val="tx1"/>
                </a:solidFill>
              </a:rPr>
              <a:t>row_max</a:t>
            </a:r>
            <a:r>
              <a:rPr lang="en-US" altLang="zh-CN" sz="1600" b="1" dirty="0">
                <a:solidFill>
                  <a:schemeClr val="tx1"/>
                </a:solidFill>
              </a:rPr>
              <a:t>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    column = j            	 	# </a:t>
            </a:r>
            <a:r>
              <a:rPr lang="zh-CN" altLang="zh-CN" sz="1600" b="1" dirty="0">
                <a:solidFill>
                  <a:schemeClr val="tx1"/>
                </a:solidFill>
              </a:rPr>
              <a:t>找到最大值所在列号</a:t>
            </a: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    </a:t>
            </a:r>
            <a:r>
              <a:rPr lang="en-US" altLang="zh-CN" sz="1600" b="1" dirty="0" err="1">
                <a:solidFill>
                  <a:schemeClr val="tx1"/>
                </a:solidFill>
              </a:rPr>
              <a:t>col_min</a:t>
            </a:r>
            <a:r>
              <a:rPr lang="en-US" altLang="zh-CN" sz="1600" b="1" dirty="0">
                <a:solidFill>
                  <a:schemeClr val="tx1"/>
                </a:solidFill>
              </a:rPr>
              <a:t> = a[</a:t>
            </a:r>
            <a:r>
              <a:rPr lang="en-US" altLang="zh-CN" sz="1600" b="1" dirty="0" err="1">
                <a:solidFill>
                  <a:schemeClr val="tx1"/>
                </a:solidFill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</a:rPr>
              <a:t>][j]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    for k in range(n):  		# </a:t>
            </a:r>
            <a:r>
              <a:rPr lang="zh-CN" altLang="zh-CN" sz="1600" b="1" dirty="0">
                <a:solidFill>
                  <a:schemeClr val="tx1"/>
                </a:solidFill>
              </a:rPr>
              <a:t>求出该列的最小值</a:t>
            </a: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        if a[k][column] &lt; </a:t>
            </a:r>
            <a:r>
              <a:rPr lang="en-US" altLang="zh-CN" sz="1600" b="1" dirty="0" err="1">
                <a:solidFill>
                  <a:schemeClr val="tx1"/>
                </a:solidFill>
              </a:rPr>
              <a:t>col_min</a:t>
            </a:r>
            <a:r>
              <a:rPr lang="en-US" altLang="zh-CN" sz="1600" b="1" dirty="0">
                <a:solidFill>
                  <a:schemeClr val="tx1"/>
                </a:solidFill>
              </a:rPr>
              <a:t>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            </a:t>
            </a:r>
            <a:r>
              <a:rPr lang="en-US" altLang="zh-CN" sz="1600" b="1" dirty="0" err="1">
                <a:solidFill>
                  <a:schemeClr val="tx1"/>
                </a:solidFill>
              </a:rPr>
              <a:t>col_min</a:t>
            </a:r>
            <a:r>
              <a:rPr lang="en-US" altLang="zh-CN" sz="1600" b="1" dirty="0">
                <a:solidFill>
                  <a:schemeClr val="tx1"/>
                </a:solidFill>
              </a:rPr>
              <a:t> = a[k][column]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    if </a:t>
            </a:r>
            <a:r>
              <a:rPr lang="en-US" altLang="zh-CN" sz="1600" b="1" dirty="0" err="1">
                <a:solidFill>
                  <a:schemeClr val="tx1"/>
                </a:solidFill>
              </a:rPr>
              <a:t>col_min</a:t>
            </a:r>
            <a:r>
              <a:rPr lang="en-US" altLang="zh-CN" sz="1600" b="1" dirty="0">
                <a:solidFill>
                  <a:schemeClr val="tx1"/>
                </a:solidFill>
              </a:rPr>
              <a:t> == </a:t>
            </a:r>
            <a:r>
              <a:rPr lang="en-US" altLang="zh-CN" sz="1600" b="1" dirty="0" err="1">
                <a:solidFill>
                  <a:schemeClr val="tx1"/>
                </a:solidFill>
              </a:rPr>
              <a:t>row_max</a:t>
            </a:r>
            <a:r>
              <a:rPr lang="en-US" altLang="zh-CN" sz="1600" b="1" dirty="0">
                <a:solidFill>
                  <a:schemeClr val="tx1"/>
                </a:solidFill>
              </a:rPr>
              <a:t>:	# </a:t>
            </a:r>
            <a:r>
              <a:rPr lang="zh-CN" altLang="zh-CN" sz="1600" b="1" dirty="0">
                <a:solidFill>
                  <a:schemeClr val="tx1"/>
                </a:solidFill>
              </a:rPr>
              <a:t>行最大值和列最小值相等，则马鞍点出现</a:t>
            </a: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        </a:t>
            </a:r>
            <a:r>
              <a:rPr lang="en-US" altLang="zh-CN" sz="1600" b="1" dirty="0" err="1">
                <a:solidFill>
                  <a:schemeClr val="tx1"/>
                </a:solidFill>
              </a:rPr>
              <a:t>num</a:t>
            </a:r>
            <a:r>
              <a:rPr lang="en-US" altLang="zh-CN" sz="1600" b="1" dirty="0">
                <a:solidFill>
                  <a:schemeClr val="tx1"/>
                </a:solidFill>
              </a:rPr>
              <a:t> += 1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        print('</a:t>
            </a:r>
            <a:r>
              <a:rPr lang="zh-CN" altLang="zh-CN" sz="1600" b="1" dirty="0">
                <a:solidFill>
                  <a:schemeClr val="tx1"/>
                </a:solidFill>
              </a:rPr>
              <a:t>马鞍点：</a:t>
            </a:r>
            <a:r>
              <a:rPr lang="en-US" altLang="zh-CN" sz="1600" b="1" dirty="0">
                <a:solidFill>
                  <a:schemeClr val="tx1"/>
                </a:solidFill>
              </a:rPr>
              <a:t>', (</a:t>
            </a:r>
            <a:r>
              <a:rPr lang="en-US" altLang="zh-CN" sz="1600" b="1" dirty="0" err="1">
                <a:solidFill>
                  <a:schemeClr val="tx1"/>
                </a:solidFill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</a:rPr>
              <a:t>, j))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if </a:t>
            </a:r>
            <a:r>
              <a:rPr lang="en-US" altLang="zh-CN" sz="1600" b="1" dirty="0" err="1">
                <a:solidFill>
                  <a:schemeClr val="tx1"/>
                </a:solidFill>
              </a:rPr>
              <a:t>num</a:t>
            </a:r>
            <a:r>
              <a:rPr lang="en-US" altLang="zh-CN" sz="1600" b="1" dirty="0">
                <a:solidFill>
                  <a:schemeClr val="tx1"/>
                </a:solidFill>
              </a:rPr>
              <a:t> == 0: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print('</a:t>
            </a:r>
            <a:r>
              <a:rPr lang="zh-CN" altLang="zh-CN" sz="1600" b="1" dirty="0">
                <a:solidFill>
                  <a:schemeClr val="tx1"/>
                </a:solidFill>
              </a:rPr>
              <a:t>没有马鞍点！</a:t>
            </a:r>
            <a:r>
              <a:rPr lang="en-US" altLang="zh-CN" sz="1600" b="1" dirty="0">
                <a:solidFill>
                  <a:schemeClr val="tx1"/>
                </a:solidFill>
              </a:rPr>
              <a:t>')</a:t>
            </a:r>
            <a:endParaRPr lang="zh-CN" altLang="zh-CN" sz="16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289B73E-5491-43F7-823E-063AC833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563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6DAC4-9408-4956-8235-331AE133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]</a:t>
            </a:r>
            <a:r>
              <a:rPr lang="zh-CN" altLang="en-US" dirty="0"/>
              <a:t>返回一段话的单词数目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7067AC-327C-4A01-8E42-05C060A4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用户输入一段话，程序返回期中包含多少单词。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========</a:t>
            </a:r>
          </a:p>
          <a:p>
            <a:pPr marL="0" indent="0">
              <a:buNone/>
            </a:pPr>
            <a:r>
              <a:rPr lang="en-US" altLang="zh-CN" dirty="0"/>
              <a:t>please </a:t>
            </a:r>
            <a:r>
              <a:rPr lang="en-US" altLang="zh-CN" dirty="0" err="1"/>
              <a:t>input:this</a:t>
            </a:r>
            <a:r>
              <a:rPr lang="en-US" altLang="zh-CN" dirty="0"/>
              <a:t> is a test.</a:t>
            </a:r>
          </a:p>
          <a:p>
            <a:pPr marL="0" indent="0">
              <a:buNone/>
            </a:pPr>
            <a:r>
              <a:rPr lang="zh-CN" altLang="en-US" dirty="0"/>
              <a:t>共有</a:t>
            </a:r>
            <a:r>
              <a:rPr lang="en-US" altLang="zh-CN" dirty="0"/>
              <a:t>4</a:t>
            </a:r>
            <a:r>
              <a:rPr lang="zh-CN" altLang="en-US" dirty="0"/>
              <a:t>个单词。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92130A-865F-4A02-B913-5333793F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61290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BC41D-7F2C-45ED-953D-C5CFF212B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0460F7-D93C-4A35-B01E-FDEA4AC4D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sen</a:t>
            </a:r>
            <a:r>
              <a:rPr lang="en-US" altLang="zh-CN" dirty="0"/>
              <a:t> = input('please input:')</a:t>
            </a:r>
          </a:p>
          <a:p>
            <a:pPr marL="0" indent="0">
              <a:buNone/>
            </a:pPr>
            <a:r>
              <a:rPr lang="en-US" altLang="zh-CN" dirty="0"/>
              <a:t>words = </a:t>
            </a:r>
            <a:r>
              <a:rPr lang="en-US" altLang="zh-CN" dirty="0" err="1"/>
              <a:t>sen.split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共有</a:t>
            </a:r>
            <a:r>
              <a:rPr lang="en-US" altLang="zh-CN" dirty="0"/>
              <a:t>%d</a:t>
            </a:r>
            <a:r>
              <a:rPr lang="zh-CN" altLang="en-US" dirty="0"/>
              <a:t>个单词。</a:t>
            </a:r>
            <a:r>
              <a:rPr lang="en-US" altLang="zh-CN" dirty="0"/>
              <a:t>' % </a:t>
            </a:r>
            <a:r>
              <a:rPr lang="en-US" altLang="zh-CN" dirty="0" err="1"/>
              <a:t>len</a:t>
            </a:r>
            <a:r>
              <a:rPr lang="en-US" altLang="zh-CN" dirty="0"/>
              <a:t>(words))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2D3722-57F3-424D-AEFD-ECEE578C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66419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6.5</a:t>
            </a:r>
            <a:r>
              <a:rPr lang="zh-CN" altLang="en-US" dirty="0"/>
              <a:t>节习题 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6-7</a:t>
            </a:r>
            <a:r>
              <a:rPr lang="zh-CN" altLang="en-US" dirty="0"/>
              <a:t>，</a:t>
            </a:r>
            <a:r>
              <a:rPr lang="en-US" altLang="zh-CN" dirty="0"/>
              <a:t>9-12(P124)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用列表推导式生成包含</a:t>
            </a:r>
            <a:r>
              <a:rPr lang="en-US" altLang="zh-CN" sz="3200" dirty="0"/>
              <a:t>10</a:t>
            </a:r>
            <a:r>
              <a:rPr lang="zh-CN" altLang="en-US" sz="3200" dirty="0"/>
              <a:t>个数字</a:t>
            </a:r>
            <a:r>
              <a:rPr lang="en-US" altLang="zh-CN" sz="3200" dirty="0"/>
              <a:t>5</a:t>
            </a:r>
            <a:r>
              <a:rPr lang="zh-CN" altLang="en-US" sz="3200" dirty="0"/>
              <a:t>的列表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87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2CB6B92-69FC-46B4-A195-44CBF61BFE93}"/>
              </a:ext>
            </a:extLst>
          </p:cNvPr>
          <p:cNvSpPr txBox="1">
            <a:spLocks/>
          </p:cNvSpPr>
          <p:nvPr/>
        </p:nvSpPr>
        <p:spPr>
          <a:xfrm>
            <a:off x="93189" y="1268760"/>
            <a:ext cx="11386864" cy="4849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66000"/>
              <a:buFont typeface="Wingdings" panose="05000000000000000000" pitchFamily="2" charset="2"/>
              <a:buChar char="p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dirty="0"/>
              <a:t>说明：题目要求生成如下列表：</a:t>
            </a:r>
            <a:br>
              <a:rPr lang="en-US" altLang="zh-CN" dirty="0"/>
            </a:br>
            <a:r>
              <a:rPr lang="en-US" altLang="zh-CN" dirty="0"/>
              <a:t>[5, 5, 5, 5, 5, 5, 5, 5, 5, 5]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en-US" altLang="zh-CN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en-US" altLang="zh-CN" dirty="0"/>
              <a:t>&gt;&gt;&gt; L=[5 for </a:t>
            </a:r>
            <a:r>
              <a:rPr lang="en-US" altLang="zh-CN" dirty="0" err="1"/>
              <a:t>i</a:t>
            </a:r>
            <a:r>
              <a:rPr lang="en-US" altLang="zh-CN" dirty="0"/>
              <a:t> in range(10)]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en-US" altLang="zh-CN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altLang="zh-CN" dirty="0"/>
              <a:t>&gt;&gt;&gt; list1 = list((5 for </a:t>
            </a:r>
            <a:r>
              <a:rPr lang="en-US" altLang="zh-CN" dirty="0" err="1"/>
              <a:t>i</a:t>
            </a:r>
            <a:r>
              <a:rPr lang="en-US" altLang="zh-CN" dirty="0"/>
              <a:t> in range(10)))</a:t>
            </a:r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6.</a:t>
            </a:r>
            <a:r>
              <a:rPr lang="zh-CN" altLang="en-US" sz="3200" dirty="0"/>
              <a:t>输入一个列表</a:t>
            </a:r>
            <a:r>
              <a:rPr lang="en-US" altLang="zh-CN" sz="3200" dirty="0"/>
              <a:t>a,</a:t>
            </a:r>
            <a:r>
              <a:rPr lang="zh-CN" altLang="en-US" sz="3200" dirty="0"/>
              <a:t>输出元组</a:t>
            </a:r>
            <a:r>
              <a:rPr lang="en-US" altLang="zh-CN" sz="3200" dirty="0"/>
              <a:t>T,T</a:t>
            </a:r>
            <a:r>
              <a:rPr lang="zh-CN" altLang="en-US" sz="3200" dirty="0"/>
              <a:t>的第一个元素是</a:t>
            </a:r>
            <a:r>
              <a:rPr lang="en-US" altLang="zh-CN" sz="3200" dirty="0"/>
              <a:t>A</a:t>
            </a:r>
            <a:r>
              <a:rPr lang="zh-CN" altLang="en-US" sz="3200" dirty="0"/>
              <a:t>的最大值，其余元素是最大值的下标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88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49F3F09-AF6F-4DF4-A8A7-C8FA278C15BA}"/>
              </a:ext>
            </a:extLst>
          </p:cNvPr>
          <p:cNvSpPr txBox="1">
            <a:spLocks/>
          </p:cNvSpPr>
          <p:nvPr/>
        </p:nvSpPr>
        <p:spPr>
          <a:xfrm>
            <a:off x="93189" y="1268760"/>
            <a:ext cx="11386864" cy="484946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66000"/>
              <a:buFont typeface="Wingdings" panose="05000000000000000000" pitchFamily="2" charset="2"/>
              <a:buChar char="p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# 1.0</a:t>
            </a:r>
            <a:r>
              <a:rPr lang="zh-CN" altLang="en-US" sz="2800" dirty="0"/>
              <a:t>版</a:t>
            </a:r>
            <a:endParaRPr lang="en-US" altLang="zh-CN" sz="2800" dirty="0"/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L1 = eval(input())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big = max(L1)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 err="1"/>
              <a:t>xb</a:t>
            </a:r>
            <a:r>
              <a:rPr lang="en-US" altLang="zh-CN" sz="2800" dirty="0"/>
              <a:t>  = L1.index(big)  # </a:t>
            </a:r>
            <a:r>
              <a:rPr lang="zh-CN" altLang="en-US" sz="2800" dirty="0"/>
              <a:t>下标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t = (</a:t>
            </a:r>
            <a:r>
              <a:rPr lang="en-US" altLang="zh-CN" sz="2800" dirty="0" err="1"/>
              <a:t>big,xb</a:t>
            </a:r>
            <a:r>
              <a:rPr lang="en-US" altLang="zh-CN" sz="2800" dirty="0"/>
              <a:t>)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print(t)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====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[1,2,3,4,5]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(5, 4)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===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[1,2,3,4,1,4]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800" dirty="0"/>
              <a:t>(4, 3)</a:t>
            </a:r>
          </a:p>
        </p:txBody>
      </p:sp>
    </p:spTree>
    <p:extLst>
      <p:ext uri="{BB962C8B-B14F-4D97-AF65-F5344CB8AC3E}">
        <p14:creationId xmlns:p14="http://schemas.microsoft.com/office/powerpoint/2010/main" val="40326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934CEA-35BD-4CF2-872C-B88EF0E3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59DC36-312D-4FE7-9165-B43DC3147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800" dirty="0"/>
              <a:t># 2.0</a:t>
            </a:r>
            <a:r>
              <a:rPr lang="zh-CN" altLang="en-US" sz="2800" dirty="0"/>
              <a:t>版，最大值多次出现，如何找出？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# </a:t>
            </a:r>
            <a:r>
              <a:rPr lang="zh-CN" altLang="en-US" sz="2800" dirty="0"/>
              <a:t>用</a:t>
            </a:r>
            <a:r>
              <a:rPr lang="en-US" altLang="zh-CN" sz="2800" dirty="0"/>
              <a:t>enumerate()</a:t>
            </a:r>
          </a:p>
          <a:p>
            <a:pPr marL="0" indent="0">
              <a:buNone/>
            </a:pPr>
            <a:r>
              <a:rPr lang="en-US" altLang="zh-CN" sz="2800" dirty="0"/>
              <a:t>L1 = eval(input))</a:t>
            </a:r>
          </a:p>
          <a:p>
            <a:pPr marL="0" indent="0">
              <a:buNone/>
            </a:pPr>
            <a:r>
              <a:rPr lang="en-US" altLang="zh-CN" sz="2800" dirty="0"/>
              <a:t>big = max(L1)</a:t>
            </a:r>
          </a:p>
          <a:p>
            <a:pPr marL="0" indent="0">
              <a:buNone/>
            </a:pPr>
            <a:r>
              <a:rPr lang="en-US" altLang="zh-CN" sz="2800" dirty="0" err="1"/>
              <a:t>xb</a:t>
            </a:r>
            <a:r>
              <a:rPr lang="en-US" altLang="zh-CN" sz="2800" dirty="0"/>
              <a:t> = 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for (</a:t>
            </a:r>
            <a:r>
              <a:rPr lang="en-US" altLang="zh-CN" sz="2800" dirty="0" err="1"/>
              <a:t>i,x</a:t>
            </a:r>
            <a:r>
              <a:rPr lang="en-US" altLang="zh-CN" sz="2800" dirty="0"/>
              <a:t>) in enumerate(L1) if x==big] # </a:t>
            </a:r>
            <a:r>
              <a:rPr lang="zh-CN" altLang="en-US" sz="2800" dirty="0"/>
              <a:t>下标列表</a:t>
            </a:r>
          </a:p>
          <a:p>
            <a:pPr marL="0" indent="0">
              <a:buNone/>
            </a:pPr>
            <a:r>
              <a:rPr lang="en-US" altLang="zh-CN" sz="2800" dirty="0"/>
              <a:t>t = tuple([big]+</a:t>
            </a:r>
            <a:r>
              <a:rPr lang="en-US" altLang="zh-CN" sz="2800" dirty="0" err="1"/>
              <a:t>xb</a:t>
            </a:r>
            <a:r>
              <a:rPr lang="en-US" altLang="zh-CN" sz="2800" dirty="0"/>
              <a:t>)</a:t>
            </a:r>
          </a:p>
          <a:p>
            <a:pPr marL="0" indent="0">
              <a:buNone/>
            </a:pPr>
            <a:r>
              <a:rPr lang="en-US" altLang="zh-CN" sz="2800" dirty="0"/>
              <a:t>print(t)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===</a:t>
            </a:r>
          </a:p>
          <a:p>
            <a:pPr marL="0" indent="0">
              <a:buNone/>
            </a:pPr>
            <a:r>
              <a:rPr lang="en-US" altLang="zh-CN" sz="2800" dirty="0"/>
              <a:t>[1,2,3,4,4,1,4]</a:t>
            </a:r>
          </a:p>
          <a:p>
            <a:pPr marL="0" indent="0">
              <a:buNone/>
            </a:pPr>
            <a:r>
              <a:rPr lang="en-US" altLang="zh-CN" sz="2800" dirty="0"/>
              <a:t>(4, 3, 4, 6)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79CDA1-CC42-4E42-A012-7BBBE969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40444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28FF2EE-B028-41CB-A066-E2629997B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5" y="7154"/>
            <a:ext cx="6624737" cy="64308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90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65350B-BC12-4B84-920B-3F8AD61D7BE7}"/>
              </a:ext>
            </a:extLst>
          </p:cNvPr>
          <p:cNvSpPr txBox="1"/>
          <p:nvPr/>
        </p:nvSpPr>
        <p:spPr>
          <a:xfrm>
            <a:off x="623392" y="1412776"/>
            <a:ext cx="74982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[1]</a:t>
            </a:r>
          </a:p>
          <a:p>
            <a:r>
              <a:rPr lang="en-US" altLang="zh-CN" sz="2400" dirty="0"/>
              <a:t>[1,1]</a:t>
            </a:r>
          </a:p>
          <a:p>
            <a:r>
              <a:rPr lang="en-US" altLang="zh-CN" sz="2400" dirty="0"/>
              <a:t>[1,2,1]</a:t>
            </a:r>
          </a:p>
          <a:p>
            <a:r>
              <a:rPr lang="en-US" altLang="zh-CN" sz="2400" dirty="0"/>
              <a:t>[1,3,3,1]</a:t>
            </a:r>
          </a:p>
          <a:p>
            <a:r>
              <a:rPr lang="en-US" altLang="zh-CN" sz="2400" dirty="0"/>
              <a:t>[1,4,6,4,1]</a:t>
            </a:r>
          </a:p>
          <a:p>
            <a:r>
              <a:rPr lang="en-US" altLang="zh-CN" sz="2400" dirty="0"/>
              <a:t>[1,5,10,10,5,1]</a:t>
            </a:r>
          </a:p>
          <a:p>
            <a:r>
              <a:rPr lang="en-US" altLang="zh-CN" sz="2400" dirty="0"/>
              <a:t>… …</a:t>
            </a:r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748497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1465F-B6D1-4846-9A10-90611883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0BEE16-A7CF-4ADB-99FF-F3AC400AC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91</a:t>
            </a:fld>
            <a:endParaRPr lang="zh-CN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F3A0454-399F-46E4-B3BE-70DB8A3D78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0648" y="1453426"/>
            <a:ext cx="864366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=[1]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print(L1)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range(2,11):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L2 = [1]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for j in range(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(L1)-1):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L2 = L2 + [L1[j]+L1[j+1]]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L2 = L2 + [1]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print(L2)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L1=L2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9111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9.</a:t>
            </a:r>
            <a:r>
              <a:rPr lang="zh-CN" altLang="en-US" sz="3200" dirty="0"/>
              <a:t>输入</a:t>
            </a:r>
            <a:r>
              <a:rPr lang="en-US" altLang="zh-CN" sz="3200" dirty="0"/>
              <a:t>2</a:t>
            </a:r>
            <a:r>
              <a:rPr lang="zh-CN" altLang="en-US" sz="3200" dirty="0"/>
              <a:t>个正整数，输出一个元组，第一个元素是最大公约数，第二个是最小公倍数。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0072A7-A64E-4EDC-9D87-36CDF0BEC451}"/>
              </a:ext>
            </a:extLst>
          </p:cNvPr>
          <p:cNvSpPr txBox="1"/>
          <p:nvPr/>
        </p:nvSpPr>
        <p:spPr>
          <a:xfrm>
            <a:off x="119336" y="1412776"/>
            <a:ext cx="90103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==</a:t>
            </a:r>
            <a:r>
              <a:rPr lang="zh-CN" altLang="en-US" sz="2800" dirty="0"/>
              <a:t>==</a:t>
            </a:r>
          </a:p>
          <a:p>
            <a:r>
              <a:rPr lang="zh-CN" altLang="en-US" sz="2800" dirty="0"/>
              <a:t>请输入2个整数：10,12</a:t>
            </a:r>
          </a:p>
          <a:p>
            <a:r>
              <a:rPr lang="zh-CN" altLang="en-US" sz="2800" dirty="0"/>
              <a:t>(2, 60)</a:t>
            </a:r>
          </a:p>
          <a:p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】math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gcd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函数求最大公因数，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最小公倍数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=x*y/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gcd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/>
              <a:t>import math</a:t>
            </a:r>
          </a:p>
          <a:p>
            <a:r>
              <a:rPr lang="en-US" altLang="zh-CN" sz="2800" b="1" dirty="0" err="1"/>
              <a:t>x,y</a:t>
            </a:r>
            <a:r>
              <a:rPr lang="en-US" altLang="zh-CN" sz="2800" b="1" dirty="0"/>
              <a:t> = eval(input('</a:t>
            </a:r>
            <a:r>
              <a:rPr lang="zh-CN" altLang="en-US" sz="2800" b="1" dirty="0"/>
              <a:t>请输入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个整数：</a:t>
            </a:r>
            <a:r>
              <a:rPr lang="en-US" altLang="zh-CN" sz="2800" b="1" dirty="0"/>
              <a:t>'))</a:t>
            </a:r>
          </a:p>
          <a:p>
            <a:r>
              <a:rPr lang="en-US" altLang="zh-CN" sz="2800" b="1" dirty="0" err="1"/>
              <a:t>gcd</a:t>
            </a:r>
            <a:r>
              <a:rPr lang="en-US" altLang="zh-CN" sz="2800" b="1" dirty="0"/>
              <a:t>_ = </a:t>
            </a:r>
            <a:r>
              <a:rPr lang="en-US" altLang="zh-CN" sz="2800" b="1" dirty="0" err="1"/>
              <a:t>math.gcd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x,y</a:t>
            </a:r>
            <a:r>
              <a:rPr lang="en-US" altLang="zh-CN" sz="2800" b="1" dirty="0"/>
              <a:t>)</a:t>
            </a:r>
          </a:p>
          <a:p>
            <a:r>
              <a:rPr lang="en-US" altLang="zh-CN" sz="2800" b="1" dirty="0" err="1"/>
              <a:t>gbs</a:t>
            </a:r>
            <a:r>
              <a:rPr lang="en-US" altLang="zh-CN" sz="2800" b="1" dirty="0"/>
              <a:t> = int(x*y/</a:t>
            </a:r>
            <a:r>
              <a:rPr lang="en-US" altLang="zh-CN" sz="2800" b="1" dirty="0" err="1"/>
              <a:t>gcd</a:t>
            </a:r>
            <a:r>
              <a:rPr lang="en-US" altLang="zh-CN" sz="2800" b="1" dirty="0"/>
              <a:t>_)</a:t>
            </a:r>
          </a:p>
          <a:p>
            <a:r>
              <a:rPr lang="en-US" altLang="zh-CN" sz="2800" b="1" dirty="0"/>
              <a:t>t1 = (</a:t>
            </a:r>
            <a:r>
              <a:rPr lang="en-US" altLang="zh-CN" sz="2800" b="1" dirty="0" err="1"/>
              <a:t>gcd</a:t>
            </a:r>
            <a:r>
              <a:rPr lang="en-US" altLang="zh-CN" sz="2800" b="1" dirty="0"/>
              <a:t>_,</a:t>
            </a:r>
            <a:r>
              <a:rPr lang="en-US" altLang="zh-CN" sz="2800" b="1" dirty="0" err="1"/>
              <a:t>gbs</a:t>
            </a:r>
            <a:r>
              <a:rPr lang="en-US" altLang="zh-CN" sz="2800" b="1" dirty="0"/>
              <a:t>)</a:t>
            </a:r>
          </a:p>
          <a:p>
            <a:r>
              <a:rPr lang="en-US" altLang="zh-CN" sz="2800" b="1" dirty="0"/>
              <a:t>print(t1)</a:t>
            </a:r>
          </a:p>
        </p:txBody>
      </p:sp>
    </p:spTree>
    <p:extLst>
      <p:ext uri="{BB962C8B-B14F-4D97-AF65-F5344CB8AC3E}">
        <p14:creationId xmlns:p14="http://schemas.microsoft.com/office/powerpoint/2010/main" val="63120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</a:t>
            </a:r>
            <a:r>
              <a:rPr lang="zh-CN" altLang="en-US" dirty="0"/>
              <a:t>将矩阵顺时针旋转</a:t>
            </a:r>
            <a:r>
              <a:rPr lang="en-US" altLang="zh-CN" dirty="0"/>
              <a:t>90</a:t>
            </a:r>
            <a:r>
              <a:rPr lang="zh-CN" altLang="en-US" dirty="0"/>
              <a:t>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B73CC6-802B-4C07-9088-1D757610E8BC}"/>
              </a:ext>
            </a:extLst>
          </p:cNvPr>
          <p:cNvSpPr txBox="1"/>
          <p:nvPr/>
        </p:nvSpPr>
        <p:spPr>
          <a:xfrm>
            <a:off x="983432" y="1556792"/>
            <a:ext cx="81462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=====</a:t>
            </a:r>
          </a:p>
          <a:p>
            <a:r>
              <a:rPr lang="zh-CN" altLang="en-US" sz="2400" b="1" dirty="0"/>
              <a:t>请输入矩阵列表：[[1,2,3],[4,5,6],[7,8,9]]</a:t>
            </a:r>
          </a:p>
          <a:p>
            <a:r>
              <a:rPr lang="zh-CN" altLang="en-US" sz="2400" b="1" dirty="0"/>
              <a:t>旋转前：</a:t>
            </a:r>
          </a:p>
          <a:p>
            <a:r>
              <a:rPr lang="zh-CN" altLang="en-US" sz="2400" b="1" dirty="0"/>
              <a:t>[1, 2, 3]</a:t>
            </a:r>
          </a:p>
          <a:p>
            <a:r>
              <a:rPr lang="zh-CN" altLang="en-US" sz="2400" b="1" dirty="0"/>
              <a:t>[4, 5, 6]</a:t>
            </a:r>
          </a:p>
          <a:p>
            <a:r>
              <a:rPr lang="zh-CN" altLang="en-US" sz="2400" b="1" dirty="0"/>
              <a:t>[7, 8, 9]</a:t>
            </a:r>
          </a:p>
          <a:p>
            <a:endParaRPr lang="zh-CN" altLang="en-US" sz="2400" b="1" dirty="0"/>
          </a:p>
          <a:p>
            <a:r>
              <a:rPr lang="zh-CN" altLang="en-US" sz="2400" b="1" dirty="0"/>
              <a:t>旋转后：</a:t>
            </a:r>
          </a:p>
          <a:p>
            <a:r>
              <a:rPr lang="zh-CN" altLang="en-US" sz="2400" b="1" dirty="0"/>
              <a:t>[7, 4, 1]</a:t>
            </a:r>
          </a:p>
          <a:p>
            <a:r>
              <a:rPr lang="zh-CN" altLang="en-US" sz="2400" b="1" dirty="0"/>
              <a:t>[8, 5, 2]</a:t>
            </a:r>
          </a:p>
          <a:p>
            <a:r>
              <a:rPr lang="zh-CN" altLang="en-US" sz="2400" b="1" dirty="0"/>
              <a:t>[9, 6, 3]</a:t>
            </a:r>
          </a:p>
          <a:p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725734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EFAB40-D188-4A3B-852E-3F740EDB6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16631"/>
            <a:ext cx="11816208" cy="65107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matrix = eval(input('</a:t>
            </a:r>
            <a:r>
              <a:rPr lang="zh-CN" altLang="en-US" dirty="0"/>
              <a:t>请输入矩阵列表：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旋转前：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</a:t>
            </a:r>
            <a:r>
              <a:rPr lang="en-US" altLang="zh-CN" dirty="0" err="1"/>
              <a:t>len</a:t>
            </a:r>
            <a:r>
              <a:rPr lang="en-US" altLang="zh-CN" dirty="0"/>
              <a:t>(matrix)):</a:t>
            </a:r>
          </a:p>
          <a:p>
            <a:pPr marL="0" indent="0">
              <a:buNone/>
            </a:pPr>
            <a:r>
              <a:rPr lang="en-US" altLang="zh-CN" dirty="0"/>
              <a:t>    print(matrix[</a:t>
            </a:r>
            <a:r>
              <a:rPr lang="en-US" altLang="zh-CN" dirty="0" err="1"/>
              <a:t>i</a:t>
            </a:r>
            <a:r>
              <a:rPr lang="en-US" altLang="zh-CN" dirty="0"/>
              <a:t>])</a:t>
            </a:r>
          </a:p>
          <a:p>
            <a:pPr marL="0" indent="0">
              <a:buNone/>
            </a:pPr>
            <a:r>
              <a:rPr lang="en-US" altLang="zh-CN" dirty="0"/>
              <a:t>matrix = matrix[::-1]   #</a:t>
            </a:r>
            <a:r>
              <a:rPr lang="zh-CN" altLang="en-US" dirty="0"/>
              <a:t>先反转</a:t>
            </a:r>
          </a:p>
          <a:p>
            <a:pPr marL="0" indent="0">
              <a:buNone/>
            </a:pPr>
            <a:r>
              <a:rPr lang="en-US" altLang="zh-CN" dirty="0" err="1"/>
              <a:t>rows,cols</a:t>
            </a:r>
            <a:r>
              <a:rPr lang="en-US" altLang="zh-CN" dirty="0"/>
              <a:t> = </a:t>
            </a:r>
            <a:r>
              <a:rPr lang="en-US" altLang="zh-CN" dirty="0" err="1"/>
              <a:t>len</a:t>
            </a:r>
            <a:r>
              <a:rPr lang="en-US" altLang="zh-CN" dirty="0"/>
              <a:t>(matrix),</a:t>
            </a:r>
            <a:r>
              <a:rPr lang="en-US" altLang="zh-CN" dirty="0" err="1"/>
              <a:t>len</a:t>
            </a:r>
            <a:r>
              <a:rPr lang="en-US" altLang="zh-CN" dirty="0"/>
              <a:t>(matrix[0])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range(rows):   #</a:t>
            </a:r>
            <a:r>
              <a:rPr lang="zh-CN" altLang="en-US" dirty="0"/>
              <a:t>做转置，对角线不交换，把右上三角换到左下三角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for j in range(</a:t>
            </a:r>
            <a:r>
              <a:rPr lang="en-US" altLang="zh-CN" dirty="0" err="1"/>
              <a:t>i,cols</a:t>
            </a:r>
            <a:r>
              <a:rPr lang="en-US" altLang="zh-CN" dirty="0"/>
              <a:t>):   #</a:t>
            </a:r>
            <a:r>
              <a:rPr lang="zh-CN" altLang="en-US" dirty="0"/>
              <a:t>注意从</a:t>
            </a:r>
            <a:r>
              <a:rPr lang="en-US" altLang="zh-CN" dirty="0" err="1"/>
              <a:t>i</a:t>
            </a:r>
            <a:r>
              <a:rPr lang="zh-CN" altLang="en-US" dirty="0"/>
              <a:t>开始，不要换了又把左下三角换回去了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if </a:t>
            </a:r>
            <a:r>
              <a:rPr lang="en-US" altLang="zh-CN" dirty="0" err="1"/>
              <a:t>i</a:t>
            </a:r>
            <a:r>
              <a:rPr lang="en-US" altLang="zh-CN" dirty="0"/>
              <a:t>==j:</a:t>
            </a:r>
          </a:p>
          <a:p>
            <a:pPr marL="0" indent="0">
              <a:buNone/>
            </a:pPr>
            <a:r>
              <a:rPr lang="en-US" altLang="zh-CN" dirty="0"/>
              <a:t>            continue		# </a:t>
            </a:r>
            <a:r>
              <a:rPr lang="zh-CN" altLang="en-US" dirty="0"/>
              <a:t>对角线不换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else:</a:t>
            </a:r>
          </a:p>
          <a:p>
            <a:pPr marL="0" indent="0">
              <a:buNone/>
            </a:pPr>
            <a:r>
              <a:rPr lang="en-US" altLang="zh-CN" dirty="0"/>
              <a:t>            matrix[</a:t>
            </a:r>
            <a:r>
              <a:rPr lang="en-US" altLang="zh-CN" dirty="0" err="1"/>
              <a:t>i</a:t>
            </a:r>
            <a:r>
              <a:rPr lang="en-US" altLang="zh-CN" dirty="0"/>
              <a:t>][j],matrix[j][</a:t>
            </a:r>
            <a:r>
              <a:rPr lang="en-US" altLang="zh-CN" dirty="0" err="1"/>
              <a:t>i</a:t>
            </a:r>
            <a:r>
              <a:rPr lang="en-US" altLang="zh-CN" dirty="0"/>
              <a:t>]=matrix[j][</a:t>
            </a:r>
            <a:r>
              <a:rPr lang="en-US" altLang="zh-CN" dirty="0" err="1"/>
              <a:t>i</a:t>
            </a:r>
            <a:r>
              <a:rPr lang="en-US" altLang="zh-CN" dirty="0"/>
              <a:t>],matrix[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</a:p>
          <a:p>
            <a:pPr marL="0" indent="0">
              <a:buNone/>
            </a:pPr>
            <a:r>
              <a:rPr lang="en-US" altLang="zh-CN" dirty="0"/>
              <a:t>print('\n</a:t>
            </a:r>
            <a:r>
              <a:rPr lang="zh-CN" altLang="en-US" dirty="0"/>
              <a:t>旋转后：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</a:t>
            </a:r>
            <a:r>
              <a:rPr lang="en-US" altLang="zh-CN" dirty="0" err="1"/>
              <a:t>len</a:t>
            </a:r>
            <a:r>
              <a:rPr lang="en-US" altLang="zh-CN" dirty="0"/>
              <a:t>(matrix)):</a:t>
            </a:r>
          </a:p>
          <a:p>
            <a:pPr marL="0" indent="0">
              <a:buNone/>
            </a:pPr>
            <a:r>
              <a:rPr lang="en-US" altLang="zh-CN" dirty="0"/>
              <a:t>    print(matrix[</a:t>
            </a:r>
            <a:r>
              <a:rPr lang="en-US" altLang="zh-CN" dirty="0" err="1"/>
              <a:t>i</a:t>
            </a:r>
            <a:r>
              <a:rPr lang="en-US" altLang="zh-CN" dirty="0"/>
              <a:t>])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ABEE6-030E-449F-AE95-7CA9F52A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996924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5717219-BD5C-4C63-B2F9-62BAE047A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" y="117093"/>
            <a:ext cx="12073408" cy="99786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95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4DECB4-36E5-4B31-A93B-E8A03C928481}"/>
              </a:ext>
            </a:extLst>
          </p:cNvPr>
          <p:cNvSpPr txBox="1"/>
          <p:nvPr/>
        </p:nvSpPr>
        <p:spPr>
          <a:xfrm>
            <a:off x="407368" y="1484784"/>
            <a:ext cx="115932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=======</a:t>
            </a:r>
          </a:p>
          <a:p>
            <a:r>
              <a:rPr lang="zh-CN" altLang="en-US" sz="2800" b="1" dirty="0"/>
              <a:t>原列表为：</a:t>
            </a:r>
            <a:r>
              <a:rPr lang="en-US" altLang="zh-CN" sz="2800" b="1" dirty="0"/>
              <a:t>[19, 73, 10, 7, 78, 19, 63, 1, 100, 70, 53, 37, 42, 12, 57, 30, 89, 91, 89, 84]</a:t>
            </a:r>
          </a:p>
          <a:p>
            <a:r>
              <a:rPr lang="zh-CN" altLang="en-US" sz="2800" b="1" dirty="0"/>
              <a:t>排序后：  </a:t>
            </a:r>
            <a:r>
              <a:rPr lang="en-US" altLang="zh-CN" sz="2800" b="1" dirty="0"/>
              <a:t>[1, 7, 10, 19, 19, 63, 70, 73, 78, 100, 91, 89, 89, 84, 57, 53, 42, 37, 30, 12]</a:t>
            </a:r>
          </a:p>
          <a:p>
            <a:r>
              <a:rPr lang="en-US" altLang="zh-CN" sz="2800" b="1" dirty="0"/>
              <a:t>&gt;&gt;&gt; 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666489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16E85-8EB7-4352-A445-E1FF79114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1ADDB5-B603-4C44-8748-E5142B831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import random</a:t>
            </a:r>
          </a:p>
          <a:p>
            <a:pPr marL="0" indent="0">
              <a:buNone/>
            </a:pPr>
            <a:r>
              <a:rPr lang="en-US" altLang="zh-CN" dirty="0"/>
              <a:t>L1 = [</a:t>
            </a:r>
            <a:r>
              <a:rPr lang="en-US" altLang="zh-CN" dirty="0" err="1"/>
              <a:t>random.randint</a:t>
            </a:r>
            <a:r>
              <a:rPr lang="en-US" altLang="zh-CN" dirty="0"/>
              <a:t>(1,100) for </a:t>
            </a:r>
            <a:r>
              <a:rPr lang="en-US" altLang="zh-CN" dirty="0" err="1"/>
              <a:t>i</a:t>
            </a:r>
            <a:r>
              <a:rPr lang="en-US" altLang="zh-CN" dirty="0"/>
              <a:t> in range(20)]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原列表为：</a:t>
            </a:r>
            <a:r>
              <a:rPr lang="en-US" altLang="zh-CN" dirty="0"/>
              <a:t>{}'.format(L1))</a:t>
            </a:r>
          </a:p>
          <a:p>
            <a:pPr marL="0" indent="0">
              <a:buNone/>
            </a:pPr>
            <a:r>
              <a:rPr lang="en-US" altLang="zh-CN" dirty="0"/>
              <a:t>L2 = L1[0:10]</a:t>
            </a:r>
          </a:p>
          <a:p>
            <a:pPr marL="0" indent="0">
              <a:buNone/>
            </a:pPr>
            <a:r>
              <a:rPr lang="en-US" altLang="zh-CN" dirty="0"/>
              <a:t>L2 = sorted(L2)</a:t>
            </a:r>
          </a:p>
          <a:p>
            <a:pPr marL="0" indent="0">
              <a:buNone/>
            </a:pPr>
            <a:r>
              <a:rPr lang="en-US" altLang="zh-CN" dirty="0" err="1"/>
              <a:t>tempL</a:t>
            </a:r>
            <a:r>
              <a:rPr lang="en-US" altLang="zh-CN" dirty="0"/>
              <a:t> = L1[10:]</a:t>
            </a:r>
          </a:p>
          <a:p>
            <a:pPr marL="0" indent="0">
              <a:buNone/>
            </a:pPr>
            <a:r>
              <a:rPr lang="en-US" altLang="zh-CN" dirty="0" err="1"/>
              <a:t>tempL</a:t>
            </a:r>
            <a:r>
              <a:rPr lang="en-US" altLang="zh-CN" dirty="0"/>
              <a:t> = sorted(</a:t>
            </a:r>
            <a:r>
              <a:rPr lang="en-US" altLang="zh-CN" dirty="0" err="1"/>
              <a:t>tempL,reverse</a:t>
            </a:r>
            <a:r>
              <a:rPr lang="en-US" altLang="zh-CN" dirty="0"/>
              <a:t>=True)</a:t>
            </a:r>
          </a:p>
          <a:p>
            <a:pPr marL="0" indent="0">
              <a:buNone/>
            </a:pPr>
            <a:r>
              <a:rPr lang="en-US" altLang="zh-CN" dirty="0"/>
              <a:t>L2.extend(</a:t>
            </a:r>
            <a:r>
              <a:rPr lang="en-US" altLang="zh-CN" dirty="0" err="1"/>
              <a:t>tempL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排序后：  </a:t>
            </a:r>
            <a:r>
              <a:rPr lang="en-US" altLang="zh-CN" dirty="0"/>
              <a:t>{}'.format(L2))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D1F475-F88C-4607-B707-06574EE9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83869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97</a:t>
            </a:fld>
            <a:endParaRPr lang="zh-CN" altLang="en-US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1E6CA95B-4773-48A2-90CC-32AF5260C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6" y="0"/>
            <a:ext cx="11966608" cy="975316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9CCA997-FAB6-486E-BF68-BC37C84932A3}"/>
              </a:ext>
            </a:extLst>
          </p:cNvPr>
          <p:cNvSpPr txBox="1"/>
          <p:nvPr/>
        </p:nvSpPr>
        <p:spPr>
          <a:xfrm>
            <a:off x="407368" y="1484784"/>
            <a:ext cx="11521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==</a:t>
            </a:r>
          </a:p>
          <a:p>
            <a:r>
              <a:rPr lang="zh-CN" altLang="en-US" sz="2400" dirty="0"/>
              <a:t>产生的列表为：[27, 47, 75, 98, 63, 16, 54, 96, 17, 26, 77, 78, 58, 29, 5, 90, 83, 28, 97, 80]</a:t>
            </a:r>
          </a:p>
          <a:p>
            <a:r>
              <a:rPr lang="zh-CN" altLang="en-US" sz="2400" dirty="0"/>
              <a:t>排序后的列表：[27, 16, 75, 26, 63, 28, 54, 29, 17, 47, 77, 78, 58, 80, 5, 90, 83, 96, 97, 98]</a:t>
            </a:r>
          </a:p>
        </p:txBody>
      </p:sp>
    </p:spTree>
    <p:extLst>
      <p:ext uri="{BB962C8B-B14F-4D97-AF65-F5344CB8AC3E}">
        <p14:creationId xmlns:p14="http://schemas.microsoft.com/office/powerpoint/2010/main" val="42179896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A85849-DCDC-41A2-A840-3350EE12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16632"/>
            <a:ext cx="11216700" cy="6408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/>
              <a:t>import random</a:t>
            </a:r>
          </a:p>
          <a:p>
            <a:pPr marL="0" indent="0">
              <a:buNone/>
            </a:pPr>
            <a:r>
              <a:rPr lang="en-US" altLang="zh-CN" sz="2800" dirty="0"/>
              <a:t># </a:t>
            </a:r>
            <a:r>
              <a:rPr lang="zh-CN" altLang="en-US" sz="2800" dirty="0"/>
              <a:t>生成列表</a:t>
            </a:r>
            <a:r>
              <a:rPr lang="en-US" altLang="zh-CN" sz="2800" dirty="0"/>
              <a:t>L1</a:t>
            </a:r>
          </a:p>
          <a:p>
            <a:pPr marL="0" indent="0">
              <a:buNone/>
            </a:pPr>
            <a:r>
              <a:rPr lang="en-US" altLang="zh-CN" sz="2800" dirty="0"/>
              <a:t>L1 = []</a:t>
            </a:r>
          </a:p>
          <a:p>
            <a:pPr marL="0" indent="0">
              <a:buNone/>
            </a:pPr>
            <a:r>
              <a:rPr lang="en-US" altLang="zh-CN" sz="2800" dirty="0"/>
              <a:t>n = 0  #</a:t>
            </a:r>
            <a:r>
              <a:rPr lang="zh-CN" altLang="en-US" sz="2800" dirty="0"/>
              <a:t>产生多少个随机数了</a:t>
            </a:r>
          </a:p>
          <a:p>
            <a:pPr marL="0" indent="0">
              <a:buNone/>
            </a:pPr>
            <a:r>
              <a:rPr lang="en-US" altLang="zh-CN" sz="2800" dirty="0"/>
              <a:t>while n&lt;20:</a:t>
            </a:r>
          </a:p>
          <a:p>
            <a:pPr marL="0" indent="0">
              <a:buNone/>
            </a:pPr>
            <a:r>
              <a:rPr lang="en-US" altLang="zh-CN" sz="2800" dirty="0"/>
              <a:t>    temp = </a:t>
            </a:r>
            <a:r>
              <a:rPr lang="en-US" altLang="zh-CN" sz="2800" dirty="0" err="1"/>
              <a:t>random.randint</a:t>
            </a:r>
            <a:r>
              <a:rPr lang="en-US" altLang="zh-CN" sz="2800" dirty="0"/>
              <a:t>(0,100)</a:t>
            </a:r>
          </a:p>
          <a:p>
            <a:pPr marL="0" indent="0">
              <a:buNone/>
            </a:pPr>
            <a:r>
              <a:rPr lang="en-US" altLang="zh-CN" sz="2800" dirty="0"/>
              <a:t>    if temp not in L1:</a:t>
            </a:r>
          </a:p>
          <a:p>
            <a:pPr marL="0" indent="0">
              <a:buNone/>
            </a:pPr>
            <a:r>
              <a:rPr lang="en-US" altLang="zh-CN" sz="2800" dirty="0"/>
              <a:t>        L1.append(temp)</a:t>
            </a:r>
          </a:p>
          <a:p>
            <a:pPr marL="0" indent="0">
              <a:buNone/>
            </a:pPr>
            <a:r>
              <a:rPr lang="en-US" altLang="zh-CN" sz="2800" dirty="0"/>
              <a:t>        n+=1</a:t>
            </a:r>
          </a:p>
          <a:p>
            <a:pPr marL="0" indent="0">
              <a:buNone/>
            </a:pPr>
            <a:r>
              <a:rPr lang="en-US" altLang="zh-CN" sz="2800" dirty="0"/>
              <a:t>print('</a:t>
            </a:r>
            <a:r>
              <a:rPr lang="zh-CN" altLang="en-US" sz="2800" dirty="0"/>
              <a:t>产生的列表为：</a:t>
            </a:r>
            <a:r>
              <a:rPr lang="en-US" altLang="zh-CN" sz="2800" dirty="0"/>
              <a:t>{}'.format(L1))</a:t>
            </a:r>
          </a:p>
          <a:p>
            <a:pPr marL="0" indent="0">
              <a:buNone/>
            </a:pPr>
            <a:r>
              <a:rPr lang="en-US" altLang="zh-CN" sz="2800" dirty="0"/>
              <a:t># </a:t>
            </a:r>
            <a:r>
              <a:rPr lang="zh-CN" altLang="en-US" sz="2800" dirty="0"/>
              <a:t>排列列表</a:t>
            </a:r>
          </a:p>
          <a:p>
            <a:pPr marL="0" indent="0">
              <a:buNone/>
            </a:pPr>
            <a:r>
              <a:rPr lang="en-US" altLang="zh-CN" sz="2800" dirty="0"/>
              <a:t>L1[1::2]=sorted(L1[1::2])</a:t>
            </a:r>
          </a:p>
          <a:p>
            <a:pPr marL="0" indent="0">
              <a:buNone/>
            </a:pPr>
            <a:r>
              <a:rPr lang="en-US" altLang="zh-CN" sz="2800" dirty="0"/>
              <a:t>print('</a:t>
            </a:r>
            <a:r>
              <a:rPr lang="zh-CN" altLang="en-US" sz="2800" dirty="0"/>
              <a:t>排序后的列表：</a:t>
            </a:r>
            <a:r>
              <a:rPr lang="en-US" altLang="zh-CN" sz="2800" dirty="0"/>
              <a:t>{}'.format(L1))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7617BA-FA6C-4A80-8D74-ED31E133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441351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8799C0-F52C-4381-ABD7-70136A19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4078</TotalTime>
  <Words>8689</Words>
  <Application>Microsoft Office PowerPoint</Application>
  <PresentationFormat>宽屏</PresentationFormat>
  <Paragraphs>1116</Paragraphs>
  <Slides>99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99</vt:i4>
      </vt:variant>
    </vt:vector>
  </HeadingPairs>
  <TitlesOfParts>
    <vt:vector size="111" baseType="lpstr">
      <vt:lpstr>黑体</vt:lpstr>
      <vt:lpstr>华文新魏</vt:lpstr>
      <vt:lpstr>宋体</vt:lpstr>
      <vt:lpstr>微软雅黑</vt:lpstr>
      <vt:lpstr>Arial</vt:lpstr>
      <vt:lpstr>Calibri</vt:lpstr>
      <vt:lpstr>Cambria Math</vt:lpstr>
      <vt:lpstr>Century Gothic</vt:lpstr>
      <vt:lpstr>Times New Roman</vt:lpstr>
      <vt:lpstr>Viner Hand ITC</vt:lpstr>
      <vt:lpstr>Wingdings</vt:lpstr>
      <vt:lpstr>水汽尾迹</vt:lpstr>
      <vt:lpstr>PowerPoint 演示文稿</vt:lpstr>
      <vt:lpstr>目录</vt:lpstr>
      <vt:lpstr>6.1 序列</vt:lpstr>
      <vt:lpstr>什么是序列？</vt:lpstr>
      <vt:lpstr>序列分类</vt:lpstr>
      <vt:lpstr>6.2 列表</vt:lpstr>
      <vt:lpstr>什么是列表(list)？</vt:lpstr>
      <vt:lpstr>1．列表的创建</vt:lpstr>
      <vt:lpstr>PowerPoint 演示文稿</vt:lpstr>
      <vt:lpstr>2．列表元素的引用</vt:lpstr>
      <vt:lpstr>PowerPoint 演示文稿</vt:lpstr>
      <vt:lpstr>3．列表的删除 </vt:lpstr>
      <vt:lpstr>6.2.2 运算符对列表的操作</vt:lpstr>
      <vt:lpstr>PowerPoint 演示文稿</vt:lpstr>
      <vt:lpstr>PowerPoint 演示文稿</vt:lpstr>
      <vt:lpstr>6.2.3 内置函数</vt:lpstr>
      <vt:lpstr>6.2.3 内置函数</vt:lpstr>
      <vt:lpstr>PowerPoint 演示文稿</vt:lpstr>
      <vt:lpstr>PowerPoint 演示文稿</vt:lpstr>
      <vt:lpstr>6.2.4 列表的方法</vt:lpstr>
      <vt:lpstr>6.2.4 列表对象的常用方法</vt:lpstr>
      <vt:lpstr>PowerPoint 演示文稿</vt:lpstr>
      <vt:lpstr>Append 一个列表会如何？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sort()方法 vs sorted()函数</vt:lpstr>
      <vt:lpstr>shuffle 打乱次序</vt:lpstr>
      <vt:lpstr>PowerPoint 演示文稿</vt:lpstr>
      <vt:lpstr>PowerPoint 演示文稿</vt:lpstr>
      <vt:lpstr>列表的遍历 </vt:lpstr>
      <vt:lpstr>6.2.5 列表的切片</vt:lpstr>
      <vt:lpstr>6.2.5 列表的切片</vt:lpstr>
      <vt:lpstr>6.2.5 列表的切片</vt:lpstr>
      <vt:lpstr>PowerPoint 演示文稿</vt:lpstr>
      <vt:lpstr>PowerPoint 演示文稿</vt:lpstr>
      <vt:lpstr>PowerPoint 演示文稿</vt:lpstr>
      <vt:lpstr>列表与字符串的转换</vt:lpstr>
      <vt:lpstr>PowerPoint 演示文稿</vt:lpstr>
      <vt:lpstr>6.2.6 列表推导式</vt:lpstr>
      <vt:lpstr>6.2.6 列表推导式</vt:lpstr>
      <vt:lpstr>例-列表推导式</vt:lpstr>
      <vt:lpstr>6.3 元组</vt:lpstr>
      <vt:lpstr>PowerPoint 演示文稿</vt:lpstr>
      <vt:lpstr>6.3.1 元组的创建、元素引用与删除</vt:lpstr>
      <vt:lpstr>2．元组元素的引用</vt:lpstr>
      <vt:lpstr>3．元组的删除</vt:lpstr>
      <vt:lpstr>6.3.2 元组的常用操作</vt:lpstr>
      <vt:lpstr>6.3.2 元组的常用操作</vt:lpstr>
      <vt:lpstr>PowerPoint 演示文稿</vt:lpstr>
      <vt:lpstr>PowerPoint 演示文稿</vt:lpstr>
      <vt:lpstr> 6.3.3 生成器推导式</vt:lpstr>
      <vt:lpstr> 生成器对象的使用</vt:lpstr>
      <vt:lpstr>PowerPoint 演示文稿</vt:lpstr>
      <vt:lpstr>PowerPoint 演示文稿</vt:lpstr>
      <vt:lpstr>PowerPoint 演示文稿</vt:lpstr>
      <vt:lpstr>PowerPoint 演示文稿</vt:lpstr>
      <vt:lpstr> 6.3.4 元组与列表的异同点</vt:lpstr>
      <vt:lpstr>6.4 应用举例</vt:lpstr>
      <vt:lpstr>【例6-1】编写程序，接收一个数字列表；计算得到一个新的列表，其中第n个元素是原先列表的前N个元素的积（第一个元素不变）。</vt:lpstr>
      <vt:lpstr>【例6-2】编写程序，模拟列表的reverse()方法。</vt:lpstr>
      <vt:lpstr>【例6-3】编写程序，模拟列表的insert()方法。</vt:lpstr>
      <vt:lpstr>【例6-4】编写程序，模拟列表的sort()方法。</vt:lpstr>
      <vt:lpstr>冒泡排序-从小到大排</vt:lpstr>
      <vt:lpstr>冒泡排序</vt:lpstr>
      <vt:lpstr>冒泡排序</vt:lpstr>
      <vt:lpstr>冒泡排序</vt:lpstr>
      <vt:lpstr>PowerPoint 演示文稿</vt:lpstr>
      <vt:lpstr>-【例6-5】编写程序，求出给定列表中相差最小的两个数字。</vt:lpstr>
      <vt:lpstr>【例6-6】编写程序，实现矩阵的转置功能。</vt:lpstr>
      <vt:lpstr>【例6-6】编写程序，实现矩阵的转置功能。</vt:lpstr>
      <vt:lpstr>-【例6-7】生成具有20个元素值互不相等的列表，并给定一个整数n，以n为界，然后将列表中的小于n的元素全部放到列表前面，大于n的元素放到列表后面。</vt:lpstr>
      <vt:lpstr>【例6-8】删除列表中所有重复的指定元素。例如，列表a = [1, 2, 1, 1, 2]，将重复出现的元素1删除后为[2, 2]。</vt:lpstr>
      <vt:lpstr>在上面这段代码中插入输出语句，来观察整个删除的过程</vt:lpstr>
      <vt:lpstr>解决：从后往前遍历,删除指定重复元素</vt:lpstr>
      <vt:lpstr>【例6-9】在有序序列中增加数据，使之仍保持有序（不使用列表的insert()方法）。</vt:lpstr>
      <vt:lpstr>【例6-10】编写程序，找出矩阵中的马鞍点。“马鞍点”即矩阵am×n中的某个元素aij是第i行的最大值，同时又是第j列中的最小值。</vt:lpstr>
      <vt:lpstr>[例]返回一段话的单词数目</vt:lpstr>
      <vt:lpstr>PowerPoint 演示文稿</vt:lpstr>
      <vt:lpstr>本章习题  P</vt:lpstr>
      <vt:lpstr>课后作业</vt:lpstr>
      <vt:lpstr>2.用列表推导式生成包含10个数字5的列表</vt:lpstr>
      <vt:lpstr>6.输入一个列表a,输出元组T,T的第一个元素是A的最大值，其余元素是最大值的下标</vt:lpstr>
      <vt:lpstr>PowerPoint 演示文稿</vt:lpstr>
      <vt:lpstr>PowerPoint 演示文稿</vt:lpstr>
      <vt:lpstr>PowerPoint 演示文稿</vt:lpstr>
      <vt:lpstr>9.输入2个正整数，输出一个元组，第一个元素是最大公约数，第二个是最小公倍数。</vt:lpstr>
      <vt:lpstr>10.将矩阵顺时针旋转90度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熊福松</dc:creator>
  <cp:lastModifiedBy>Julia</cp:lastModifiedBy>
  <cp:revision>250</cp:revision>
  <dcterms:created xsi:type="dcterms:W3CDTF">2018-10-09T06:59:00Z</dcterms:created>
  <dcterms:modified xsi:type="dcterms:W3CDTF">2023-03-27T12:51:38Z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