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4.xml" ContentType="application/vnd.openxmlformats-officedocument.them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3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4.xml" ContentType="application/vnd.openxmlformats-officedocument.presentationml.notesSlide+xml"/>
  <Override PartName="/ppt/tags/tag11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13.xml" ContentType="application/vnd.openxmlformats-officedocument.presentationml.tags+xml"/>
  <Override PartName="/ppt/notesSlides/notesSlide7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8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723" r:id="rId3"/>
  </p:sldMasterIdLst>
  <p:notesMasterIdLst>
    <p:notesMasterId r:id="rId94"/>
  </p:notesMasterIdLst>
  <p:sldIdLst>
    <p:sldId id="582" r:id="rId4"/>
    <p:sldId id="485" r:id="rId5"/>
    <p:sldId id="483" r:id="rId6"/>
    <p:sldId id="486" r:id="rId7"/>
    <p:sldId id="487" r:id="rId8"/>
    <p:sldId id="565" r:id="rId9"/>
    <p:sldId id="566" r:id="rId10"/>
    <p:sldId id="488" r:id="rId11"/>
    <p:sldId id="496" r:id="rId12"/>
    <p:sldId id="497" r:id="rId13"/>
    <p:sldId id="498" r:id="rId14"/>
    <p:sldId id="499" r:id="rId15"/>
    <p:sldId id="500" r:id="rId16"/>
    <p:sldId id="583" r:id="rId17"/>
    <p:sldId id="584" r:id="rId18"/>
    <p:sldId id="585" r:id="rId19"/>
    <p:sldId id="489" r:id="rId20"/>
    <p:sldId id="501" r:id="rId21"/>
    <p:sldId id="502" r:id="rId22"/>
    <p:sldId id="503" r:id="rId23"/>
    <p:sldId id="504" r:id="rId24"/>
    <p:sldId id="505" r:id="rId25"/>
    <p:sldId id="506" r:id="rId26"/>
    <p:sldId id="507" r:id="rId27"/>
    <p:sldId id="508" r:id="rId28"/>
    <p:sldId id="509" r:id="rId29"/>
    <p:sldId id="510" r:id="rId30"/>
    <p:sldId id="511" r:id="rId31"/>
    <p:sldId id="512" r:id="rId32"/>
    <p:sldId id="490" r:id="rId33"/>
    <p:sldId id="513" r:id="rId34"/>
    <p:sldId id="514" r:id="rId35"/>
    <p:sldId id="515" r:id="rId36"/>
    <p:sldId id="516" r:id="rId37"/>
    <p:sldId id="517" r:id="rId38"/>
    <p:sldId id="518" r:id="rId39"/>
    <p:sldId id="519" r:id="rId40"/>
    <p:sldId id="520" r:id="rId41"/>
    <p:sldId id="521" r:id="rId42"/>
    <p:sldId id="522" r:id="rId43"/>
    <p:sldId id="491" r:id="rId44"/>
    <p:sldId id="523" r:id="rId45"/>
    <p:sldId id="586" r:id="rId46"/>
    <p:sldId id="524" r:id="rId47"/>
    <p:sldId id="525" r:id="rId48"/>
    <p:sldId id="526" r:id="rId49"/>
    <p:sldId id="527" r:id="rId50"/>
    <p:sldId id="528" r:id="rId51"/>
    <p:sldId id="529" r:id="rId52"/>
    <p:sldId id="530" r:id="rId53"/>
    <p:sldId id="531" r:id="rId54"/>
    <p:sldId id="492" r:id="rId55"/>
    <p:sldId id="532" r:id="rId56"/>
    <p:sldId id="569" r:id="rId57"/>
    <p:sldId id="570" r:id="rId58"/>
    <p:sldId id="562" r:id="rId59"/>
    <p:sldId id="563" r:id="rId60"/>
    <p:sldId id="564" r:id="rId61"/>
    <p:sldId id="541" r:id="rId62"/>
    <p:sldId id="571" r:id="rId63"/>
    <p:sldId id="572" r:id="rId64"/>
    <p:sldId id="573" r:id="rId65"/>
    <p:sldId id="493" r:id="rId66"/>
    <p:sldId id="533" r:id="rId67"/>
    <p:sldId id="547" r:id="rId68"/>
    <p:sldId id="548" r:id="rId69"/>
    <p:sldId id="549" r:id="rId70"/>
    <p:sldId id="550" r:id="rId71"/>
    <p:sldId id="551" r:id="rId72"/>
    <p:sldId id="546" r:id="rId73"/>
    <p:sldId id="534" r:id="rId74"/>
    <p:sldId id="552" r:id="rId75"/>
    <p:sldId id="553" r:id="rId76"/>
    <p:sldId id="554" r:id="rId77"/>
    <p:sldId id="555" r:id="rId78"/>
    <p:sldId id="556" r:id="rId79"/>
    <p:sldId id="557" r:id="rId80"/>
    <p:sldId id="558" r:id="rId81"/>
    <p:sldId id="577" r:id="rId82"/>
    <p:sldId id="578" r:id="rId83"/>
    <p:sldId id="579" r:id="rId84"/>
    <p:sldId id="587" r:id="rId85"/>
    <p:sldId id="595" r:id="rId86"/>
    <p:sldId id="594" r:id="rId87"/>
    <p:sldId id="588" r:id="rId88"/>
    <p:sldId id="596" r:id="rId89"/>
    <p:sldId id="597" r:id="rId90"/>
    <p:sldId id="589" r:id="rId91"/>
    <p:sldId id="590" r:id="rId92"/>
    <p:sldId id="495" r:id="rId93"/>
  </p:sldIdLst>
  <p:sldSz cx="12192000" cy="68580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0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2" autoAdjust="0"/>
    <p:restoredTop sz="94660"/>
  </p:normalViewPr>
  <p:slideViewPr>
    <p:cSldViewPr showGuides="1">
      <p:cViewPr varScale="1">
        <p:scale>
          <a:sx n="78" d="100"/>
          <a:sy n="78" d="100"/>
        </p:scale>
        <p:origin x="524" y="39"/>
      </p:cViewPr>
      <p:guideLst>
        <p:guide orient="horz" pos="2160"/>
        <p:guide pos="38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6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commentAuthors" Target="commentAuthors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0089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52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63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7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image" Target="../media/image7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9.png"/><Relationship Id="rId5" Type="http://schemas.openxmlformats.org/officeDocument/2006/relationships/tags" Target="../tags/tag1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11.png"/><Relationship Id="rId5" Type="http://schemas.openxmlformats.org/officeDocument/2006/relationships/tags" Target="../tags/tag26.xml"/><Relationship Id="rId10" Type="http://schemas.openxmlformats.org/officeDocument/2006/relationships/image" Target="../media/image10.png"/><Relationship Id="rId4" Type="http://schemas.openxmlformats.org/officeDocument/2006/relationships/tags" Target="../tags/tag25.xml"/><Relationship Id="rId9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image" Target="../media/image12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6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1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14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10" Type="http://schemas.openxmlformats.org/officeDocument/2006/relationships/image" Target="../media/image12.png"/><Relationship Id="rId4" Type="http://schemas.openxmlformats.org/officeDocument/2006/relationships/tags" Target="../tags/tag57.xml"/><Relationship Id="rId9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image" Target="../media/image12.png"/><Relationship Id="rId4" Type="http://schemas.openxmlformats.org/officeDocument/2006/relationships/tags" Target="../tags/tag65.xml"/><Relationship Id="rId9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10" Type="http://schemas.openxmlformats.org/officeDocument/2006/relationships/image" Target="../media/image15.png"/><Relationship Id="rId4" Type="http://schemas.openxmlformats.org/officeDocument/2006/relationships/tags" Target="../tags/tag73.xml"/><Relationship Id="rId9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6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8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8.png"/><Relationship Id="rId5" Type="http://schemas.openxmlformats.org/officeDocument/2006/relationships/tags" Target="../tags/tag92.xml"/><Relationship Id="rId10" Type="http://schemas.openxmlformats.org/officeDocument/2006/relationships/image" Target="../media/image17.png"/><Relationship Id="rId4" Type="http://schemas.openxmlformats.org/officeDocument/2006/relationships/tags" Target="../tags/tag91.xml"/><Relationship Id="rId9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36523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57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1677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6045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222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1061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402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80748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0346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39934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51308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23491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7949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5587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3218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86507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5407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336360" y="6368569"/>
            <a:ext cx="2743200" cy="365125"/>
          </a:xfrm>
        </p:spPr>
        <p:txBody>
          <a:bodyPr/>
          <a:lstStyle>
            <a:lvl1pPr>
              <a:defRPr sz="2800" b="1" u="none" strike="noStrike" kern="1200" cap="none" spc="0" normalizeH="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5400" b="1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20468330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8393343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95356"/>
            <a:ext cx="8624570" cy="885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336" y="1340768"/>
            <a:ext cx="11881320" cy="5250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94616" y="63746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fld id="{556F17D1-8D5E-4CFF-B688-992D981BB9B1}" type="slidenum">
              <a:rPr lang="zh-CN" altLang="en-US" smtClean="0">
                <a:solidFill>
                  <a:schemeClr val="tx1"/>
                </a:solidFill>
              </a:rPr>
              <a:pPr eaLnBrk="1" hangingPunct="1"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954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680" r:id="rId20"/>
    <p:sldLayoutId id="2147483684" r:id="rId21"/>
    <p:sldLayoutId id="2147483686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2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p"/>
        <a:defRPr lang="zh-CN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lang="zh-CN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lang="zh-CN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lang="zh-CN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lang="en-US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3.xml"/><Relationship Id="rId7" Type="http://schemas.openxmlformats.org/officeDocument/2006/relationships/slide" Target="slide4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96.xml"/><Relationship Id="rId6" Type="http://schemas.openxmlformats.org/officeDocument/2006/relationships/slide" Target="slide30.xml"/><Relationship Id="rId5" Type="http://schemas.openxmlformats.org/officeDocument/2006/relationships/slide" Target="slide17.xml"/><Relationship Id="rId4" Type="http://schemas.openxmlformats.org/officeDocument/2006/relationships/slide" Target="slide8.xml"/><Relationship Id="rId9" Type="http://schemas.openxmlformats.org/officeDocument/2006/relationships/slide" Target="slide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9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9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9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0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0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1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2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2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2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4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11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面向对象编程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>
            <a:noAutofit/>
          </a:bodyPr>
          <a:lstStyle/>
          <a:p>
            <a:r>
              <a:rPr lang="en-US" altLang="zh-CN" sz="3200" dirty="0">
                <a:solidFill>
                  <a:schemeClr val="tx1">
                    <a:lumMod val="95000"/>
                  </a:schemeClr>
                </a:solidFill>
              </a:rPr>
              <a:t>10.1 </a:t>
            </a:r>
            <a:r>
              <a:rPr lang="zh-CN" altLang="en-US" sz="3200" dirty="0">
                <a:solidFill>
                  <a:schemeClr val="tx1">
                    <a:lumMod val="9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面向对象程序设计基础</a:t>
            </a:r>
            <a:endParaRPr lang="zh-CN" altLang="en-US" sz="32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altLang="zh-CN" sz="3200" dirty="0">
                <a:solidFill>
                  <a:schemeClr val="tx1">
                    <a:lumMod val="95000"/>
                  </a:schemeClr>
                </a:solidFill>
              </a:rPr>
              <a:t>10.2 </a:t>
            </a:r>
            <a:r>
              <a:rPr lang="zh-CN" altLang="en-US" sz="3200" dirty="0">
                <a:solidFill>
                  <a:schemeClr val="tx1">
                    <a:lumMod val="95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类与对象</a:t>
            </a:r>
            <a:endParaRPr lang="zh-CN" altLang="en-US" sz="32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altLang="zh-CN" sz="3200" dirty="0">
                <a:solidFill>
                  <a:schemeClr val="tx1">
                    <a:lumMod val="95000"/>
                  </a:schemeClr>
                </a:solidFill>
              </a:rPr>
              <a:t>10.3 </a:t>
            </a:r>
            <a:r>
              <a:rPr lang="zh-CN" altLang="en-US" sz="3200" dirty="0">
                <a:solidFill>
                  <a:schemeClr val="tx1">
                    <a:lumMod val="95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属性</a:t>
            </a:r>
            <a:endParaRPr lang="zh-CN" altLang="en-US" sz="32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altLang="zh-CN" sz="3200" dirty="0">
                <a:solidFill>
                  <a:schemeClr val="tx1">
                    <a:lumMod val="95000"/>
                  </a:schemeClr>
                </a:solidFill>
              </a:rPr>
              <a:t>10.4 </a:t>
            </a:r>
            <a:r>
              <a:rPr lang="zh-CN" altLang="en-US" sz="3200" dirty="0">
                <a:solidFill>
                  <a:schemeClr val="tx1">
                    <a:lumMod val="95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方法</a:t>
            </a:r>
            <a:endParaRPr lang="zh-CN" altLang="en-US" sz="32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altLang="zh-CN" sz="3200" dirty="0">
                <a:solidFill>
                  <a:schemeClr val="tx1">
                    <a:lumMod val="95000"/>
                  </a:schemeClr>
                </a:solidFill>
              </a:rPr>
              <a:t>10.5 </a:t>
            </a:r>
            <a:r>
              <a:rPr lang="zh-CN" altLang="en-US" sz="3200" dirty="0">
                <a:solidFill>
                  <a:schemeClr val="tx1">
                    <a:lumMod val="9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继承和多态</a:t>
            </a:r>
            <a:endParaRPr lang="zh-CN" altLang="en-US" sz="32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altLang="zh-CN" sz="3200" dirty="0">
                <a:solidFill>
                  <a:schemeClr val="tx1">
                    <a:lumMod val="95000"/>
                  </a:schemeClr>
                </a:solidFill>
              </a:rPr>
              <a:t>10.6 </a:t>
            </a:r>
            <a:r>
              <a:rPr lang="zh-CN" altLang="en-US" sz="3200" dirty="0">
                <a:solidFill>
                  <a:schemeClr val="tx1">
                    <a:lumMod val="95000"/>
                  </a:schemeClr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重载</a:t>
            </a:r>
            <a:r>
              <a:rPr lang="en-US" altLang="zh-CN" sz="3200" dirty="0">
                <a:solidFill>
                  <a:schemeClr val="tx1">
                    <a:lumMod val="95000"/>
                  </a:schemeClr>
                </a:solidFill>
              </a:rPr>
              <a:t>*</a:t>
            </a:r>
          </a:p>
          <a:p>
            <a:r>
              <a:rPr lang="en-US" altLang="zh-CN" sz="3200" dirty="0">
                <a:solidFill>
                  <a:schemeClr val="tx1">
                    <a:lumMod val="95000"/>
                  </a:schemeClr>
                </a:solidFill>
              </a:rPr>
              <a:t>10.7 </a:t>
            </a:r>
            <a:r>
              <a:rPr lang="zh-CN" altLang="en-US" sz="3200" dirty="0">
                <a:solidFill>
                  <a:schemeClr val="tx1">
                    <a:lumMod val="95000"/>
                  </a:schemeClr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面向对象程序设计应用举例</a:t>
            </a:r>
            <a:endParaRPr lang="zh-CN" altLang="en-US" sz="3200" dirty="0">
              <a:solidFill>
                <a:schemeClr val="tx1">
                  <a:lumMod val="95000"/>
                </a:schemeClr>
              </a:solidFill>
            </a:endParaRPr>
          </a:p>
          <a:p>
            <a:endParaRPr lang="zh-CN" altLang="en-US" sz="32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64FCDD-0E31-4287-91FC-E74786A5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918845" y="2292350"/>
            <a:ext cx="10650220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10.1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面向对象程序设计基础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202DFF-E01A-4B79-9D97-5B3DEFC6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>
              <a:buNone/>
            </a:pPr>
            <a:r>
              <a:rPr lang="en-US" altLang="zh-CN" dirty="0"/>
              <a:t>11.1.1 </a:t>
            </a:r>
            <a:r>
              <a:rPr dirty="0" err="1"/>
              <a:t>面向过程</a:t>
            </a:r>
            <a:r>
              <a:rPr lang="en-US" dirty="0"/>
              <a:t> vs </a:t>
            </a:r>
            <a:r>
              <a:rPr dirty="0" err="1"/>
              <a:t>面向对象</a:t>
            </a:r>
            <a:endParaRPr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面向过程程序设计主张：</a:t>
            </a:r>
            <a:endParaRPr lang="en-US" altLang="zh-CN" dirty="0">
              <a:solidFill>
                <a:schemeClr val="tx1">
                  <a:lumMod val="9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使用三大结构</a:t>
            </a:r>
            <a:r>
              <a:rPr lang="en-US" altLang="zh-CN" dirty="0">
                <a:solidFill>
                  <a:schemeClr val="tx1">
                    <a:lumMod val="95000"/>
                  </a:schemeClr>
                </a:solidFill>
              </a:rPr>
              <a:t>——</a:t>
            </a:r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顺序、选择、循环或者组合；</a:t>
            </a:r>
            <a:endParaRPr lang="en-US" altLang="zh-CN" dirty="0">
              <a:solidFill>
                <a:schemeClr val="tx1">
                  <a:lumMod val="9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严格控制GOTO语句的使用</a:t>
            </a:r>
            <a:endParaRPr lang="en-US" altLang="zh-CN" dirty="0">
              <a:solidFill>
                <a:schemeClr val="tx1">
                  <a:lumMod val="9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采用“自顶而下，逐步求精”的设计方法</a:t>
            </a:r>
            <a:endParaRPr lang="en-US" altLang="zh-CN" dirty="0">
              <a:solidFill>
                <a:schemeClr val="tx1">
                  <a:lumMod val="9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采用“模块化”编程方法，将程序结构按功能划分为若干个基本模块，自顶向下、分而治之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E3D351-8CF1-4E03-95D7-E39F9840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eaLnBrk="1" hangingPunct="1">
              <a:buNone/>
            </a:pPr>
            <a:r>
              <a:rPr lang="en-US" altLang="zh-CN" dirty="0"/>
              <a:t>2. </a:t>
            </a:r>
            <a:r>
              <a:rPr dirty="0"/>
              <a:t>面向对象程序设计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>
            <a:normAutofit/>
          </a:bodyPr>
          <a:lstStyle/>
          <a:p>
            <a:pPr eaLnBrk="1" hangingPunct="1"/>
            <a:r>
              <a:rPr lang="en-US" altLang="zh-CN" dirty="0" err="1"/>
              <a:t>把现实世界看成是一个由对象构成的世界</a:t>
            </a:r>
            <a:r>
              <a:rPr lang="en-US" altLang="zh-CN" dirty="0"/>
              <a:t>，</a:t>
            </a:r>
          </a:p>
          <a:p>
            <a:pPr eaLnBrk="1" hangingPunct="1"/>
            <a:r>
              <a:rPr lang="en-US" altLang="zh-CN" dirty="0" err="1"/>
              <a:t>每个对象都能接受数据、处理数据并将数据传给其他对象，它们既独立，又能够互相调用</a:t>
            </a:r>
            <a:endParaRPr lang="en-US" altLang="zh-CN" dirty="0"/>
          </a:p>
          <a:p>
            <a:pPr eaLnBrk="1" hangingPunct="1"/>
            <a:r>
              <a:rPr lang="en-US" altLang="zh-CN" dirty="0" err="1"/>
              <a:t>对象是程序的基本元素，它将数据和操作紧密联结在一起，保护数据不会被外界的函数意外改变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A5D4F5-652A-4C18-ACEA-C703D394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面向对象程序设计的优点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124744"/>
            <a:ext cx="11665296" cy="5466209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sz="2800" dirty="0"/>
              <a:t>（1）“对象”减少了内外干扰。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数据抽象的概念可以在保持外部接口不变的情况下改变内部实现，从而减少甚至避免对外界的干扰；</a:t>
            </a:r>
          </a:p>
          <a:p>
            <a:pPr marL="0" indent="0">
              <a:buNone/>
            </a:pPr>
            <a:r>
              <a:rPr lang="zh-CN" altLang="en-US" sz="2800" dirty="0"/>
              <a:t>（2）“继承”提高编程效率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大幅减少冗余的代码，方便扩展现有代码，降低了软件维护的难度；</a:t>
            </a:r>
          </a:p>
          <a:p>
            <a:pPr marL="0" indent="0">
              <a:buNone/>
            </a:pPr>
            <a:r>
              <a:rPr lang="zh-CN" altLang="en-US" sz="2800" dirty="0"/>
              <a:t>（3）“对象”的聚合产生“模块”，便于控制软件复杂度；</a:t>
            </a:r>
          </a:p>
          <a:p>
            <a:pPr marL="0" indent="0">
              <a:buNone/>
            </a:pPr>
            <a:r>
              <a:rPr lang="zh-CN" altLang="en-US" sz="2800" dirty="0"/>
              <a:t>（4）“对象”帮助开发人员把握“静态”</a:t>
            </a:r>
            <a:r>
              <a:rPr lang="en-US" altLang="zh-CN" sz="2800" dirty="0"/>
              <a:t>(</a:t>
            </a:r>
            <a:r>
              <a:rPr lang="zh-CN" altLang="en-US" sz="2800" dirty="0"/>
              <a:t>属性</a:t>
            </a:r>
            <a:r>
              <a:rPr lang="en-US" altLang="zh-CN" sz="2800" dirty="0"/>
              <a:t>)</a:t>
            </a:r>
            <a:r>
              <a:rPr lang="zh-CN" altLang="en-US" sz="2800" dirty="0"/>
              <a:t>和“动态</a:t>
            </a:r>
            <a:r>
              <a:rPr lang="en-US" altLang="zh-CN" sz="2800" dirty="0"/>
              <a:t>”(</a:t>
            </a:r>
            <a:r>
              <a:rPr lang="zh-CN" altLang="en-US" sz="2800" dirty="0"/>
              <a:t>方法</a:t>
            </a:r>
            <a:r>
              <a:rPr lang="en-US" altLang="zh-CN" sz="2800" dirty="0"/>
              <a:t>)</a:t>
            </a:r>
            <a:r>
              <a:rPr lang="zh-CN" altLang="en-US" sz="2800" dirty="0"/>
              <a:t>数据，从而更好地实现系统；</a:t>
            </a:r>
          </a:p>
          <a:p>
            <a:pPr marL="0" indent="0">
              <a:buNone/>
            </a:pPr>
            <a:r>
              <a:rPr lang="zh-CN" altLang="en-US" sz="2800" dirty="0"/>
              <a:t>（5）“对象” 既保证了相对对立又方便扩充和升级。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DF04-8707-4010-B656-F22DC6BF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11.1.2 </a:t>
            </a:r>
            <a:r>
              <a:t>面向对象的基本概念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对象：要研究的任何事物</a:t>
            </a:r>
          </a:p>
          <a:p>
            <a:r>
              <a:rPr lang="zh-CN" altLang="en-US" dirty="0"/>
              <a:t>类：对象的模板，是具有相同类型的对象的抽象</a:t>
            </a:r>
          </a:p>
          <a:p>
            <a:r>
              <a:rPr lang="zh-CN" altLang="en-US" dirty="0"/>
              <a:t>消息：对象之间进行通信的一种规格说明</a:t>
            </a:r>
          </a:p>
          <a:p>
            <a:r>
              <a:rPr lang="zh-CN" altLang="en-US" dirty="0"/>
              <a:t>封装：一种信息隐蔽技术，把对象的设计者和对象的使用者分开，让使用者不必知晓行为实现的细节，只需用设计者提供的消息来访问该对象</a:t>
            </a:r>
          </a:p>
          <a:p>
            <a:r>
              <a:rPr lang="zh-CN" altLang="en-US" dirty="0"/>
              <a:t>继承：子类自动共享父类的数据和方法</a:t>
            </a:r>
          </a:p>
          <a:p>
            <a:r>
              <a:rPr lang="zh-CN" altLang="en-US" dirty="0"/>
              <a:t>多态：不同的对象接收同一消息将产生完全不同的行为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F556B5-9CEA-4B34-9C07-D58BCC72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类与对象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3B0E8F-DA5F-4C33-BA3E-B7C5703C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32439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11.2.1 </a:t>
            </a:r>
            <a:r>
              <a:t>类的定义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定义类：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class 类名(父类名):</a:t>
            </a:r>
          </a:p>
          <a:p>
            <a:pPr marL="457200" lvl="1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initializer		# </a:t>
            </a:r>
            <a:r>
              <a:rPr lang="zh-CN" altLang="en-US" dirty="0"/>
              <a:t>初始化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  method			# </a:t>
            </a:r>
            <a:r>
              <a:rPr lang="zh-CN" altLang="en-US" dirty="0"/>
              <a:t>方法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7408" y="4293096"/>
            <a:ext cx="66247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备注：</a:t>
            </a:r>
            <a:r>
              <a:rPr lang="en-US" altLang="zh-CN" sz="2800" dirty="0"/>
              <a:t>Python 3.x</a:t>
            </a:r>
            <a:r>
              <a:rPr lang="zh-CN" altLang="en-US" sz="2800" dirty="0"/>
              <a:t>中这</a:t>
            </a:r>
            <a:r>
              <a:rPr lang="en-US" altLang="zh-CN" sz="2800" dirty="0"/>
              <a:t>3</a:t>
            </a:r>
            <a:r>
              <a:rPr lang="zh-CN" altLang="en-US" sz="2800" dirty="0"/>
              <a:t>种写法都支持：</a:t>
            </a:r>
            <a:endParaRPr lang="en-US" altLang="zh-CN" sz="2800" dirty="0"/>
          </a:p>
          <a:p>
            <a:r>
              <a:rPr lang="zh-CN" altLang="en-US" sz="2800" dirty="0"/>
              <a:t>① class Person(object): pass</a:t>
            </a:r>
          </a:p>
          <a:p>
            <a:r>
              <a:rPr lang="zh-CN" altLang="en-US" sz="2800" dirty="0"/>
              <a:t>② class Person(): pass</a:t>
            </a:r>
          </a:p>
          <a:p>
            <a:r>
              <a:rPr lang="zh-CN" altLang="en-US" sz="2800" dirty="0"/>
              <a:t>③ class Person: pass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EEE6E2-C322-4B22-8C02-3A6FA6B0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定义一个</a:t>
            </a:r>
            <a:r>
              <a:rPr lang="en-US" altLang="zh-CN"/>
              <a:t>Person</a:t>
            </a:r>
            <a:r>
              <a:t>类的例子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78100" y="1706880"/>
            <a:ext cx="9494564" cy="286893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cap="none" dirty="0"/>
              <a:t>class person:</a:t>
            </a:r>
          </a:p>
          <a:p>
            <a:pPr marL="0" indent="0">
              <a:buNone/>
            </a:pPr>
            <a:r>
              <a:rPr lang="zh-CN" altLang="en-US" cap="none" dirty="0"/>
              <a:t>    name = ‘holly‘    # 属性</a:t>
            </a:r>
            <a:r>
              <a:rPr lang="en-US" altLang="zh-CN" cap="none" dirty="0"/>
              <a:t>(</a:t>
            </a:r>
            <a:r>
              <a:rPr lang="zh-CN" altLang="en-US" cap="none" dirty="0"/>
              <a:t>也叫变量，数据）</a:t>
            </a:r>
          </a:p>
          <a:p>
            <a:pPr marL="0" indent="0">
              <a:buNone/>
            </a:pPr>
            <a:r>
              <a:rPr lang="zh-CN" altLang="en-US" cap="none" dirty="0"/>
              <a:t>    def printname(self):# 方法（也叫函数）</a:t>
            </a:r>
          </a:p>
          <a:p>
            <a:pPr marL="0" indent="0">
              <a:buNone/>
            </a:pPr>
            <a:r>
              <a:rPr lang="zh-CN" altLang="en-US" cap="none" dirty="0"/>
              <a:t>        print(self.name)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A58692-2D0E-4BB8-9D19-3C1CCCB9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11.2.2 </a:t>
            </a:r>
            <a:r>
              <a:t>对象的创建和使用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创建对象，又叫类的实例化：</a:t>
            </a:r>
            <a:endParaRPr lang="en-US" altLang="zh-CN" dirty="0"/>
          </a:p>
          <a:p>
            <a:pPr marL="457200" lvl="2" indent="0">
              <a:buNone/>
            </a:pPr>
            <a:r>
              <a:rPr lang="zh-CN" altLang="zh-CN" dirty="0"/>
              <a:t>对象名 </a:t>
            </a:r>
            <a:r>
              <a:rPr lang="en-US" altLang="zh-CN" dirty="0"/>
              <a:t>= </a:t>
            </a:r>
            <a:r>
              <a:rPr lang="zh-CN" altLang="zh-CN" dirty="0"/>
              <a:t>类名</a:t>
            </a:r>
            <a:r>
              <a:rPr lang="en-US" altLang="zh-CN" dirty="0"/>
              <a:t>(</a:t>
            </a:r>
            <a:r>
              <a:rPr lang="zh-CN" altLang="zh-CN" dirty="0"/>
              <a:t>参数列表</a:t>
            </a:r>
            <a:r>
              <a:rPr lang="en-US" altLang="zh-CN" dirty="0"/>
              <a:t>)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访问实例对象的属性和方法</a:t>
            </a:r>
            <a:endParaRPr lang="en-US" altLang="zh-CN" dirty="0"/>
          </a:p>
          <a:p>
            <a:pPr lvl="1"/>
            <a:r>
              <a:rPr lang="zh-CN" altLang="zh-CN" dirty="0"/>
              <a:t>对象名</a:t>
            </a:r>
            <a:r>
              <a:rPr lang="en-US" altLang="zh-CN" dirty="0"/>
              <a:t>.</a:t>
            </a:r>
            <a:r>
              <a:rPr lang="zh-CN" altLang="zh-CN" dirty="0"/>
              <a:t>属性名</a:t>
            </a:r>
          </a:p>
          <a:p>
            <a:pPr lvl="1"/>
            <a:r>
              <a:rPr lang="zh-CN" altLang="zh-CN" dirty="0"/>
              <a:t>对象名</a:t>
            </a:r>
            <a:r>
              <a:rPr lang="en-US" altLang="zh-CN" dirty="0"/>
              <a:t>.</a:t>
            </a:r>
            <a:r>
              <a:rPr lang="zh-CN" altLang="zh-CN" dirty="0"/>
              <a:t>方法名</a:t>
            </a:r>
            <a:r>
              <a:rPr lang="en-US" altLang="zh-CN" dirty="0"/>
              <a:t>(</a:t>
            </a:r>
            <a:r>
              <a:rPr lang="zh-CN" altLang="zh-CN" dirty="0"/>
              <a:t>参数列表</a:t>
            </a:r>
            <a:r>
              <a:rPr lang="en-US" altLang="zh-CN" dirty="0"/>
              <a:t>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3299D6-5327-4AD3-8393-03230399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1478" y="106775"/>
            <a:ext cx="10852150" cy="1113562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例</a:t>
            </a:r>
            <a:r>
              <a:rPr lang="en-US" altLang="zh-CN" sz="3600" dirty="0"/>
              <a:t>11-1 </a:t>
            </a:r>
            <a:r>
              <a:rPr lang="zh-CN" altLang="zh-CN" sz="3600" dirty="0"/>
              <a:t>创建</a:t>
            </a:r>
            <a:r>
              <a:rPr lang="en-US" altLang="zh-CN" sz="3600" dirty="0"/>
              <a:t>Employee</a:t>
            </a:r>
            <a:r>
              <a:rPr lang="zh-CN" altLang="zh-CN" sz="3600" dirty="0"/>
              <a:t>类，并创建两个</a:t>
            </a:r>
            <a:r>
              <a:rPr lang="en-US" altLang="zh-CN" sz="3600" dirty="0"/>
              <a:t>Employee</a:t>
            </a:r>
            <a:r>
              <a:rPr lang="zh-CN" altLang="zh-CN" sz="3600" dirty="0"/>
              <a:t>对象，访问其属性和方法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24071"/>
            <a:ext cx="11186715" cy="5489305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class employee: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</a:t>
            </a:r>
            <a:r>
              <a:rPr lang="en-US" altLang="zh-CN" sz="2400" cap="none" dirty="0" err="1"/>
              <a:t>empcount</a:t>
            </a:r>
            <a:r>
              <a:rPr lang="en-US" altLang="zh-CN" sz="2400" cap="none" dirty="0"/>
              <a:t> = 0                               # </a:t>
            </a:r>
            <a:r>
              <a:rPr lang="zh-CN" altLang="zh-CN" sz="2400" cap="none" dirty="0"/>
              <a:t>员工数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def __</a:t>
            </a:r>
            <a:r>
              <a:rPr lang="en-US" altLang="zh-CN" sz="2400" cap="none" dirty="0" err="1"/>
              <a:t>init</a:t>
            </a:r>
            <a:r>
              <a:rPr lang="en-US" altLang="zh-CN" sz="2400" cap="none" dirty="0"/>
              <a:t>__(self, name, salary):     # </a:t>
            </a:r>
            <a:r>
              <a:rPr lang="zh-CN" altLang="zh-CN" sz="2400" cap="none" dirty="0"/>
              <a:t>构造方法</a:t>
            </a:r>
            <a:r>
              <a:rPr lang="zh-CN" altLang="en-US" sz="2400" cap="none" dirty="0"/>
              <a:t>，创建对象时调用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    self.name = name		      # </a:t>
            </a:r>
            <a:r>
              <a:rPr lang="zh-CN" altLang="en-US" sz="2400" cap="none" dirty="0"/>
              <a:t>成员变量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    </a:t>
            </a:r>
            <a:r>
              <a:rPr lang="en-US" altLang="zh-CN" sz="2400" cap="none" dirty="0" err="1"/>
              <a:t>self.salary</a:t>
            </a:r>
            <a:r>
              <a:rPr lang="en-US" altLang="zh-CN" sz="2400" cap="none" dirty="0"/>
              <a:t> = salary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    </a:t>
            </a:r>
            <a:r>
              <a:rPr lang="en-US" altLang="zh-CN" sz="2400" cap="none" dirty="0" err="1"/>
              <a:t>employee.empcount</a:t>
            </a:r>
            <a:r>
              <a:rPr lang="en-US" altLang="zh-CN" sz="2400" cap="none" dirty="0"/>
              <a:t> += 1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def </a:t>
            </a:r>
            <a:r>
              <a:rPr lang="en-US" altLang="zh-CN" sz="2400" cap="none" dirty="0" err="1"/>
              <a:t>displaycount</a:t>
            </a:r>
            <a:r>
              <a:rPr lang="en-US" altLang="zh-CN" sz="2400" cap="none" dirty="0"/>
              <a:t>(self):                   # </a:t>
            </a:r>
            <a:r>
              <a:rPr lang="zh-CN" altLang="zh-CN" sz="2400" cap="none" dirty="0"/>
              <a:t>显示员工数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    print("total employee %d" % </a:t>
            </a:r>
            <a:r>
              <a:rPr lang="en-US" altLang="zh-CN" sz="2400" cap="none" dirty="0" err="1"/>
              <a:t>employee.empcount</a:t>
            </a:r>
            <a:r>
              <a:rPr lang="en-US" altLang="zh-CN" sz="2400" cap="none" dirty="0"/>
              <a:t>)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def </a:t>
            </a:r>
            <a:r>
              <a:rPr lang="en-US" altLang="zh-CN" sz="2400" cap="none" dirty="0" err="1"/>
              <a:t>displayemployee</a:t>
            </a:r>
            <a:r>
              <a:rPr lang="en-US" altLang="zh-CN" sz="2400" cap="none" dirty="0"/>
              <a:t>(self):             # </a:t>
            </a:r>
            <a:r>
              <a:rPr lang="zh-CN" altLang="zh-CN" sz="2400" cap="none" dirty="0"/>
              <a:t>显示员工信息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cap="none" dirty="0"/>
              <a:t>        print(“name : ”, self.name,  “, salary: ”, </a:t>
            </a:r>
            <a:r>
              <a:rPr lang="en-US" altLang="zh-CN" sz="2400" cap="none" dirty="0" err="1"/>
              <a:t>self.salary</a:t>
            </a:r>
            <a:endParaRPr lang="en-US" altLang="zh-CN" sz="2400" cap="none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cap="none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cap="none" dirty="0"/>
              <a:t>说明：（</a:t>
            </a:r>
            <a:r>
              <a:rPr lang="en-US" altLang="zh-CN" sz="2400" cap="none" dirty="0"/>
              <a:t>1</a:t>
            </a:r>
            <a:r>
              <a:rPr lang="zh-CN" altLang="en-US" sz="2400" cap="none" dirty="0"/>
              <a:t>）</a:t>
            </a:r>
            <a:r>
              <a:rPr lang="en-US" altLang="zh-CN" sz="2400" cap="none" dirty="0"/>
              <a:t>self</a:t>
            </a:r>
            <a:r>
              <a:rPr lang="zh-CN" altLang="en-US" sz="2400" cap="none" dirty="0"/>
              <a:t>表示对象本身，访问类的变量时前面要加前缀</a:t>
            </a:r>
            <a:r>
              <a:rPr lang="en-US" altLang="zh-CN" sz="2400" cap="none" dirty="0"/>
              <a:t>self,</a:t>
            </a:r>
            <a:r>
              <a:rPr lang="zh-CN" altLang="en-US" sz="2400" cap="none" dirty="0"/>
              <a:t>定义方法时第一个参数必是</a:t>
            </a:r>
            <a:r>
              <a:rPr lang="en-US" altLang="zh-CN" sz="2400" cap="none" dirty="0"/>
              <a:t>self</a:t>
            </a:r>
            <a:r>
              <a:rPr lang="zh-CN" altLang="en-US" sz="2400" cap="none" dirty="0"/>
              <a:t>；（</a:t>
            </a:r>
            <a:r>
              <a:rPr lang="en-US" altLang="zh-CN" sz="2400" cap="none" dirty="0"/>
              <a:t>2</a:t>
            </a:r>
            <a:r>
              <a:rPr lang="zh-CN" altLang="en-US" sz="2400" cap="none" dirty="0"/>
              <a:t>）属性必须有一个初始化值，数值可以是</a:t>
            </a:r>
            <a:r>
              <a:rPr lang="en-US" altLang="zh-CN" sz="2400" cap="none" dirty="0"/>
              <a:t>0</a:t>
            </a:r>
            <a:r>
              <a:rPr lang="zh-CN" altLang="en-US" sz="2400" cap="none" dirty="0"/>
              <a:t>，字符串可以是空。</a:t>
            </a:r>
            <a:endParaRPr lang="zh-CN" altLang="en-US" sz="1400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3503712" y="616530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C1DD96-51B9-4C07-82D6-337F87285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616" y="6356428"/>
            <a:ext cx="2743200" cy="401638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6496" y="980728"/>
            <a:ext cx="11881320" cy="5250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cap="none" dirty="0"/>
              <a:t># 创建 employee 类的第一个对象</a:t>
            </a:r>
          </a:p>
          <a:p>
            <a:pPr marL="0" indent="0">
              <a:buNone/>
            </a:pPr>
            <a:r>
              <a:rPr lang="zh-CN" altLang="en-US" sz="2800" cap="none" dirty="0"/>
              <a:t>emp1 = employee("zara", 2000)</a:t>
            </a:r>
          </a:p>
          <a:p>
            <a:pPr marL="0" indent="0">
              <a:buNone/>
            </a:pPr>
            <a:r>
              <a:rPr lang="zh-CN" altLang="en-US" sz="2800" cap="none" dirty="0"/>
              <a:t># 创建 employee 类的第二个对象</a:t>
            </a:r>
          </a:p>
          <a:p>
            <a:pPr marL="0" indent="0">
              <a:buNone/>
            </a:pPr>
            <a:r>
              <a:rPr lang="zh-CN" altLang="en-US" sz="2800" cap="none" dirty="0"/>
              <a:t>emp2 = employee(“</a:t>
            </a:r>
            <a:r>
              <a:rPr lang="en-US" altLang="zh-CN" sz="2800" cap="none" dirty="0" err="1"/>
              <a:t>mary</a:t>
            </a:r>
            <a:r>
              <a:rPr lang="zh-CN" altLang="en-US" sz="2800" cap="none" dirty="0"/>
              <a:t>”, 5000)</a:t>
            </a:r>
          </a:p>
          <a:p>
            <a:pPr marL="0" indent="0">
              <a:buNone/>
            </a:pPr>
            <a:r>
              <a:rPr lang="zh-CN" altLang="en-US" sz="2800" cap="none" dirty="0"/>
              <a:t>emp1.displayemployee()</a:t>
            </a:r>
          </a:p>
          <a:p>
            <a:pPr marL="0" indent="0">
              <a:buNone/>
            </a:pPr>
            <a:r>
              <a:rPr lang="zh-CN" altLang="en-US" sz="2800" cap="none" dirty="0"/>
              <a:t>emp2.displayemployee()</a:t>
            </a:r>
          </a:p>
          <a:p>
            <a:pPr marL="0" indent="0">
              <a:buNone/>
            </a:pPr>
            <a:r>
              <a:rPr lang="zh-CN" altLang="en-US" sz="2800" cap="none" dirty="0"/>
              <a:t>print("total employee %d" % employee.empcount)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392144" y="2348880"/>
            <a:ext cx="4437772" cy="193899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====</a:t>
            </a:r>
          </a:p>
          <a:p>
            <a:r>
              <a:rPr lang="zh-CN" altLang="en-US" sz="2400" dirty="0"/>
              <a:t>name :  </a:t>
            </a:r>
            <a:r>
              <a:rPr lang="en-US" altLang="zh-CN" sz="2400" dirty="0"/>
              <a:t>z</a:t>
            </a:r>
            <a:r>
              <a:rPr lang="zh-CN" altLang="en-US" sz="2400" dirty="0"/>
              <a:t>ara , salary:  2000</a:t>
            </a:r>
          </a:p>
          <a:p>
            <a:r>
              <a:rPr lang="zh-CN" altLang="en-US" sz="2400" dirty="0"/>
              <a:t>name :  </a:t>
            </a:r>
            <a:r>
              <a:rPr lang="en-US" altLang="zh-CN" sz="2400" dirty="0" err="1"/>
              <a:t>mary</a:t>
            </a:r>
            <a:r>
              <a:rPr lang="zh-CN" altLang="en-US" sz="2400" dirty="0"/>
              <a:t> , salary:  5000</a:t>
            </a:r>
          </a:p>
          <a:p>
            <a:r>
              <a:rPr lang="zh-CN" altLang="en-US" sz="2400" dirty="0"/>
              <a:t>total employee 2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5E3D4C-A51A-4010-B95A-189EB12F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65F6D-0CB1-4020-9105-39159B23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4E452B-7133-4ED6-B8A1-8EC04EBB4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cap="none" dirty="0"/>
              <a:t>类的内置方法</a:t>
            </a:r>
            <a:r>
              <a:rPr lang="en-US" altLang="zh-CN" cap="none" dirty="0" err="1"/>
              <a:t>isinstance</a:t>
            </a:r>
            <a:r>
              <a:rPr lang="en-US" altLang="zh-CN" cap="none" dirty="0"/>
              <a:t>()</a:t>
            </a:r>
            <a:r>
              <a:rPr lang="zh-CN" altLang="en-US" cap="none" dirty="0"/>
              <a:t>，判断对象是否是类的一个实例</a:t>
            </a:r>
            <a:endParaRPr lang="en-US" altLang="zh-CN" cap="none" dirty="0"/>
          </a:p>
          <a:p>
            <a:endParaRPr lang="en-US" altLang="zh-CN" cap="none" dirty="0"/>
          </a:p>
          <a:p>
            <a:pPr marL="0" indent="0">
              <a:buNone/>
            </a:pPr>
            <a:r>
              <a:rPr lang="en-US" altLang="zh-CN" cap="none" dirty="0">
                <a:latin typeface="+mn-lt"/>
              </a:rPr>
              <a:t>&gt;&gt;&gt;</a:t>
            </a:r>
            <a:r>
              <a:rPr lang="en-US" altLang="zh-CN" cap="none" dirty="0" err="1">
                <a:latin typeface="Cambria" panose="02040503050406030204" pitchFamily="18" charset="0"/>
              </a:rPr>
              <a:t>isinstance</a:t>
            </a:r>
            <a:r>
              <a:rPr lang="en-US" altLang="zh-CN" cap="none" dirty="0">
                <a:latin typeface="Cambria" panose="02040503050406030204" pitchFamily="18" charset="0"/>
              </a:rPr>
              <a:t>(emp1, employee)</a:t>
            </a:r>
          </a:p>
          <a:p>
            <a:pPr marL="0" indent="0">
              <a:buNone/>
            </a:pPr>
            <a:r>
              <a:rPr lang="en-US" altLang="zh-CN" cap="none" dirty="0">
                <a:latin typeface="Cambria" panose="02040503050406030204" pitchFamily="18" charset="0"/>
              </a:rPr>
              <a:t>True</a:t>
            </a:r>
          </a:p>
          <a:p>
            <a:pPr marL="0" indent="0">
              <a:buNone/>
            </a:pPr>
            <a:r>
              <a:rPr lang="en-US" altLang="zh-CN" cap="none" dirty="0">
                <a:latin typeface="Cambria" panose="02040503050406030204" pitchFamily="18" charset="0"/>
              </a:rPr>
              <a:t>&gt;&gt;&gt;</a:t>
            </a:r>
            <a:r>
              <a:rPr lang="en-US" altLang="zh-CN" cap="none" dirty="0" err="1">
                <a:latin typeface="Cambria" panose="02040503050406030204" pitchFamily="18" charset="0"/>
              </a:rPr>
              <a:t>isinstance</a:t>
            </a:r>
            <a:r>
              <a:rPr lang="en-US" altLang="zh-CN" cap="none" dirty="0">
                <a:latin typeface="Cambria" panose="02040503050406030204" pitchFamily="18" charset="0"/>
              </a:rPr>
              <a:t>(emp1, str)</a:t>
            </a:r>
          </a:p>
          <a:p>
            <a:pPr marL="0" indent="0">
              <a:buNone/>
            </a:pPr>
            <a:r>
              <a:rPr lang="en-US" altLang="zh-CN" cap="none">
                <a:latin typeface="Cambria" panose="02040503050406030204" pitchFamily="18" charset="0"/>
              </a:rPr>
              <a:t>False</a:t>
            </a:r>
            <a:endParaRPr lang="zh-CN" altLang="en-US" cap="none" dirty="0">
              <a:latin typeface="Cambria" panose="020405030504060302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6226F5-4237-4DDB-B822-7132631C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97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B9061-CF8D-4B96-B1E9-80199B42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500E04-BF1A-4957-A60D-858094A40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修改属性值的方式：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）直接修改对象的属性值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）通过方法修改属性值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那种方式更好呢？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30C564-7E82-45A1-8694-983C7946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902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6B48C-8B22-498F-BFCC-5D3AFF77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50CD26-1372-413B-AAE3-0BE4162D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F8D7D038-645D-41CA-84CC-72A69A802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800" cap="none" dirty="0"/>
          </a:p>
          <a:p>
            <a:pPr marL="0" indent="0">
              <a:buNone/>
            </a:pPr>
            <a:endParaRPr lang="en-US" altLang="zh-CN" sz="2800" cap="none" dirty="0"/>
          </a:p>
          <a:p>
            <a:pPr marL="0" indent="0">
              <a:buNone/>
            </a:pPr>
            <a:endParaRPr lang="en-US" altLang="zh-CN" sz="2800" cap="none" dirty="0"/>
          </a:p>
          <a:p>
            <a:pPr marL="0" indent="0">
              <a:buNone/>
            </a:pPr>
            <a:endParaRPr lang="en-US" altLang="zh-CN" sz="2800" cap="none" dirty="0"/>
          </a:p>
          <a:p>
            <a:pPr marL="0" indent="0">
              <a:buNone/>
            </a:pPr>
            <a:endParaRPr lang="en-US" altLang="zh-CN" sz="2800" cap="none" dirty="0"/>
          </a:p>
          <a:p>
            <a:pPr marL="0" indent="0">
              <a:buNone/>
            </a:pPr>
            <a:endParaRPr lang="en-US" altLang="zh-CN" sz="2800" cap="none" dirty="0"/>
          </a:p>
          <a:p>
            <a:pPr marL="0" indent="0">
              <a:buNone/>
            </a:pPr>
            <a:endParaRPr lang="en-US" altLang="zh-CN" sz="2800" cap="none" dirty="0"/>
          </a:p>
          <a:p>
            <a:pPr marL="0" indent="0">
              <a:buNone/>
            </a:pPr>
            <a:endParaRPr lang="en-US" altLang="zh-CN" sz="2800" cap="none" dirty="0"/>
          </a:p>
          <a:p>
            <a:pPr marL="0" indent="0">
              <a:buNone/>
            </a:pPr>
            <a:r>
              <a:rPr lang="en-US" altLang="zh-CN" sz="2800" cap="none" dirty="0"/>
              <a:t>            </a:t>
            </a:r>
            <a:r>
              <a:rPr lang="en-US" altLang="zh-CN" sz="2800" cap="none" dirty="0" err="1"/>
              <a:t>self.gpa</a:t>
            </a:r>
            <a:r>
              <a:rPr lang="en-US" altLang="zh-CN" sz="2800" cap="none" dirty="0"/>
              <a:t> = </a:t>
            </a:r>
            <a:r>
              <a:rPr lang="en-US" altLang="zh-CN" sz="2800" cap="none" dirty="0" err="1"/>
              <a:t>gpa</a:t>
            </a:r>
            <a:endParaRPr lang="en-US" altLang="zh-CN" sz="2800" cap="none" dirty="0"/>
          </a:p>
          <a:p>
            <a:pPr marL="0" indent="0">
              <a:buNone/>
            </a:pPr>
            <a:endParaRPr lang="zh-CN" altLang="en-US" sz="2800" cap="none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5331A23-D585-4EF5-BA25-E2F640B64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80" y="1136399"/>
            <a:ext cx="6480720" cy="434604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3F72228-3133-421A-9223-6AFCB50337D3}"/>
              </a:ext>
            </a:extLst>
          </p:cNvPr>
          <p:cNvSpPr txBox="1"/>
          <p:nvPr/>
        </p:nvSpPr>
        <p:spPr>
          <a:xfrm>
            <a:off x="6456040" y="285307"/>
            <a:ext cx="5544616" cy="52937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600" b="1" dirty="0"/>
              <a:t>注意：</a:t>
            </a:r>
            <a:endParaRPr lang="en-US" altLang="zh-CN" sz="2600" b="1" dirty="0"/>
          </a:p>
          <a:p>
            <a:r>
              <a:rPr lang="en-US" altLang="zh-CN" sz="2600" b="1" dirty="0"/>
              <a:t>1</a:t>
            </a:r>
            <a:r>
              <a:rPr lang="zh-CN" altLang="en-US" sz="2600" b="1" dirty="0"/>
              <a:t>）初始化</a:t>
            </a:r>
            <a:r>
              <a:rPr lang="en-US" altLang="zh-CN" sz="2600" b="1" dirty="0" err="1"/>
              <a:t>init</a:t>
            </a:r>
            <a:r>
              <a:rPr lang="zh-CN" altLang="en-US" sz="2600" b="1" dirty="0"/>
              <a:t>中，属性</a:t>
            </a:r>
            <a:r>
              <a:rPr lang="en-US" altLang="zh-CN" sz="2600" b="1" dirty="0" err="1"/>
              <a:t>gpa</a:t>
            </a:r>
            <a:r>
              <a:rPr lang="zh-CN" altLang="en-US" sz="2600" b="1" dirty="0"/>
              <a:t>没有真正赋值，所以赋初值</a:t>
            </a:r>
            <a:r>
              <a:rPr lang="en-US" altLang="zh-CN" sz="2600" b="1" dirty="0"/>
              <a:t>0</a:t>
            </a:r>
          </a:p>
          <a:p>
            <a:r>
              <a:rPr lang="en-US" altLang="zh-CN" sz="2600" b="1" dirty="0"/>
              <a:t>2</a:t>
            </a:r>
            <a:r>
              <a:rPr lang="zh-CN" altLang="en-US" sz="2600" b="1" dirty="0"/>
              <a:t>）改变</a:t>
            </a:r>
            <a:r>
              <a:rPr lang="en-US" altLang="zh-CN" sz="2600" b="1" dirty="0" err="1"/>
              <a:t>gpa</a:t>
            </a:r>
            <a:r>
              <a:rPr lang="zh-CN" altLang="en-US" sz="2600" b="1" dirty="0"/>
              <a:t>的方式有</a:t>
            </a:r>
            <a:r>
              <a:rPr lang="en-US" altLang="zh-CN" sz="2600" b="1" dirty="0"/>
              <a:t>2</a:t>
            </a:r>
            <a:r>
              <a:rPr lang="zh-CN" altLang="en-US" sz="2600" b="1" dirty="0"/>
              <a:t>种：</a:t>
            </a:r>
            <a:endParaRPr lang="en-US" altLang="zh-CN" sz="2600" b="1" dirty="0"/>
          </a:p>
          <a:p>
            <a:r>
              <a:rPr lang="en-US" altLang="zh-CN" sz="2600" b="1" dirty="0"/>
              <a:t>Stu1= Student(‘Tom’,’200101’)</a:t>
            </a:r>
          </a:p>
          <a:p>
            <a:r>
              <a:rPr lang="en-US" altLang="zh-CN" sz="2600" b="1" dirty="0"/>
              <a:t>Stu1.gpa = 3.0</a:t>
            </a:r>
          </a:p>
          <a:p>
            <a:r>
              <a:rPr lang="zh-CN" altLang="en-US" sz="2600" b="1" dirty="0"/>
              <a:t>或者：</a:t>
            </a:r>
            <a:endParaRPr lang="en-US" altLang="zh-CN" sz="2600" b="1" dirty="0"/>
          </a:p>
          <a:p>
            <a:r>
              <a:rPr lang="en-US" altLang="zh-CN" sz="2600" b="1" dirty="0"/>
              <a:t>Stu1.setGpa(3.0)</a:t>
            </a:r>
          </a:p>
          <a:p>
            <a:endParaRPr lang="en-US" altLang="zh-CN" sz="2600" b="1" dirty="0"/>
          </a:p>
          <a:p>
            <a:r>
              <a:rPr lang="zh-CN" altLang="en-US" sz="2600" b="1" dirty="0"/>
              <a:t>哪种方法好？</a:t>
            </a:r>
            <a:endParaRPr lang="en-US" altLang="zh-CN" sz="2600" b="1" dirty="0"/>
          </a:p>
          <a:p>
            <a:r>
              <a:rPr lang="zh-CN" altLang="en-US" sz="2600" b="1" dirty="0"/>
              <a:t>第二种！</a:t>
            </a:r>
            <a:endParaRPr lang="en-US" altLang="zh-CN" sz="2600" b="1" dirty="0"/>
          </a:p>
          <a:p>
            <a:r>
              <a:rPr lang="zh-CN" altLang="en-US" sz="2600" b="1" dirty="0"/>
              <a:t>保证对象的封装，不受外界干扰</a:t>
            </a:r>
            <a:endParaRPr lang="en-US" altLang="zh-CN" sz="2600" b="1" dirty="0"/>
          </a:p>
          <a:p>
            <a:endParaRPr lang="zh-CN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047064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属性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F381F8-82D8-4B94-8164-16B0A41F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什么是属性？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属性是类中对象所具有的性质，即数据值，又称为</a:t>
            </a:r>
            <a:r>
              <a:rPr lang="zh-CN" altLang="en-US" u="sng" dirty="0"/>
              <a:t>数据成员</a:t>
            </a:r>
          </a:p>
          <a:p>
            <a:r>
              <a:rPr lang="zh-CN" altLang="en-US" dirty="0"/>
              <a:t>属性实际上就是定义在类中的变量</a:t>
            </a:r>
          </a:p>
          <a:p>
            <a:r>
              <a:rPr lang="zh-CN" altLang="en-US" dirty="0"/>
              <a:t>属性的分类</a:t>
            </a:r>
          </a:p>
          <a:p>
            <a:pPr lvl="1"/>
            <a:r>
              <a:rPr lang="zh-CN" altLang="en-US" dirty="0"/>
              <a:t>根据定义的位置分：实例属性、类属性</a:t>
            </a:r>
          </a:p>
          <a:p>
            <a:pPr lvl="1"/>
            <a:r>
              <a:rPr lang="zh-CN" altLang="en-US" dirty="0"/>
              <a:t>根据访问控制权限分：私有属性、公有属性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AFC986-ADD9-4579-A792-0926D50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11.3.1 </a:t>
            </a:r>
            <a:r>
              <a:t>实例属性和类属性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实例属性</a:t>
            </a:r>
          </a:p>
          <a:p>
            <a:pPr lvl="1"/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是某个具体实例特有的属性</a:t>
            </a:r>
          </a:p>
          <a:p>
            <a:pPr lvl="1"/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不影响类，也不影响其他实例</a:t>
            </a:r>
          </a:p>
          <a:p>
            <a:pPr lvl="1"/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一般定义在__init__()方法中</a:t>
            </a:r>
          </a:p>
          <a:p>
            <a:pPr marL="914400" lvl="2" indent="0">
              <a:buNone/>
            </a:pPr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self.实例变量名 = 初始值</a:t>
            </a:r>
            <a:endParaRPr lang="en-US" altLang="zh-CN" dirty="0">
              <a:solidFill>
                <a:schemeClr val="tx1">
                  <a:lumMod val="95000"/>
                </a:schemeClr>
              </a:solidFill>
            </a:endParaRPr>
          </a:p>
          <a:p>
            <a:pPr marL="914400" lvl="2" indent="0">
              <a:buNone/>
            </a:pPr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例如：</a:t>
            </a:r>
            <a:endParaRPr lang="en-US" altLang="zh-CN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3200" cap="none" dirty="0"/>
              <a:t>		name</a:t>
            </a:r>
            <a:r>
              <a:rPr lang="zh-CN" altLang="en-US" sz="3200" cap="none" dirty="0"/>
              <a:t>：张三</a:t>
            </a:r>
          </a:p>
          <a:p>
            <a:pPr marL="0" indent="0">
              <a:buNone/>
            </a:pPr>
            <a:r>
              <a:rPr lang="en-US" altLang="zh-CN" sz="3200" cap="none" dirty="0"/>
              <a:t>		sex</a:t>
            </a:r>
            <a:r>
              <a:rPr lang="zh-CN" altLang="en-US" sz="3200" cap="none" dirty="0"/>
              <a:t>：男</a:t>
            </a:r>
          </a:p>
          <a:p>
            <a:pPr marL="0" indent="0">
              <a:buNone/>
            </a:pPr>
            <a:r>
              <a:rPr lang="en-US" altLang="zh-CN" sz="3200" cap="none" dirty="0"/>
              <a:t>		height</a:t>
            </a:r>
            <a:r>
              <a:rPr lang="zh-CN" altLang="en-US" sz="3200" cap="none" dirty="0"/>
              <a:t>：</a:t>
            </a:r>
            <a:r>
              <a:rPr lang="en-US" altLang="zh-CN" sz="3200" cap="none" dirty="0"/>
              <a:t>178</a:t>
            </a:r>
          </a:p>
          <a:p>
            <a:pPr marL="914400" lvl="2" indent="0">
              <a:buNone/>
            </a:pPr>
            <a:endParaRPr lang="zh-CN" alt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7422F9-1561-45BE-8D27-3305F96F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67513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11-2 定义一个Student类，设置有实例属性ID、name、sex，分别创建两个对象st1和st2，并通过调用方法输出其姓名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2348880"/>
            <a:ext cx="6095574" cy="428433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cap="none" dirty="0"/>
              <a:t>class student:</a:t>
            </a:r>
          </a:p>
          <a:p>
            <a:pPr marL="0" indent="0">
              <a:buNone/>
            </a:pPr>
            <a:r>
              <a:rPr lang="zh-CN" altLang="en-US" sz="2400" cap="none" dirty="0"/>
              <a:t>    def __init__(self, id, name, sex): </a:t>
            </a:r>
          </a:p>
          <a:p>
            <a:pPr marL="0" indent="0">
              <a:buNone/>
            </a:pPr>
            <a:r>
              <a:rPr lang="zh-CN" altLang="en-US" sz="2400" cap="none" dirty="0"/>
              <a:t>        self.id = id </a:t>
            </a:r>
          </a:p>
          <a:p>
            <a:pPr marL="0" indent="0">
              <a:buNone/>
            </a:pPr>
            <a:r>
              <a:rPr lang="zh-CN" altLang="en-US" sz="2400" cap="none" dirty="0"/>
              <a:t>        self.name = name</a:t>
            </a:r>
          </a:p>
          <a:p>
            <a:pPr marL="0" indent="0">
              <a:buNone/>
            </a:pPr>
            <a:r>
              <a:rPr lang="zh-CN" altLang="en-US" sz="2400" cap="none" dirty="0"/>
              <a:t>        self.sex = sex</a:t>
            </a:r>
            <a:endParaRPr lang="en-US" altLang="zh-CN" sz="2400" cap="none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cap="none" dirty="0">
                <a:latin typeface="+mn-ea"/>
                <a:ea typeface="+mn-ea"/>
                <a:cs typeface="+mn-ea"/>
              </a:rPr>
              <a:t> </a:t>
            </a:r>
            <a:endParaRPr lang="zh-CN" altLang="en-US" sz="2400" cap="none" dirty="0"/>
          </a:p>
        </p:txBody>
      </p:sp>
      <p:sp>
        <p:nvSpPr>
          <p:cNvPr id="11" name="文本框 10"/>
          <p:cNvSpPr txBox="1"/>
          <p:nvPr/>
        </p:nvSpPr>
        <p:spPr>
          <a:xfrm>
            <a:off x="1931035" y="6111240"/>
            <a:ext cx="2940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接下一页（续）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8AA8A43-9C2B-40C5-B4F4-846C6B74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A6E40F-8E4B-4207-B1B0-2B087AE2ACC8}"/>
              </a:ext>
            </a:extLst>
          </p:cNvPr>
          <p:cNvSpPr txBox="1"/>
          <p:nvPr/>
        </p:nvSpPr>
        <p:spPr>
          <a:xfrm>
            <a:off x="6312024" y="2514817"/>
            <a:ext cx="5223740" cy="339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latin typeface="+mn-ea"/>
                <a:ea typeface="+mn-ea"/>
                <a:cs typeface="+mn-ea"/>
              </a:rPr>
              <a:t>def </a:t>
            </a:r>
            <a:r>
              <a:rPr lang="en-US" altLang="zh-CN" sz="2400" b="1" dirty="0" err="1">
                <a:latin typeface="+mn-ea"/>
                <a:ea typeface="+mn-ea"/>
                <a:cs typeface="+mn-ea"/>
              </a:rPr>
              <a:t>sayhello</a:t>
            </a:r>
            <a:r>
              <a:rPr lang="en-US" altLang="zh-CN" sz="2400" b="1" dirty="0">
                <a:latin typeface="+mn-ea"/>
                <a:ea typeface="+mn-ea"/>
                <a:cs typeface="+mn-ea"/>
              </a:rPr>
              <a:t>(self):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latin typeface="+mn-ea"/>
                <a:ea typeface="+mn-ea"/>
                <a:cs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  <a:cs typeface="+mn-ea"/>
              </a:rPr>
              <a:t>fmt</a:t>
            </a:r>
            <a:r>
              <a:rPr lang="en-US" altLang="zh-CN" sz="2400" b="1" dirty="0">
                <a:latin typeface="+mn-ea"/>
                <a:ea typeface="+mn-ea"/>
                <a:cs typeface="+mn-ea"/>
              </a:rPr>
              <a:t> = "Hello, "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latin typeface="+mn-ea"/>
                <a:ea typeface="+mn-ea"/>
                <a:cs typeface="+mn-ea"/>
              </a:rPr>
              <a:t>      if </a:t>
            </a:r>
            <a:r>
              <a:rPr lang="en-US" altLang="zh-CN" sz="2400" b="1" dirty="0" err="1">
                <a:latin typeface="+mn-ea"/>
                <a:ea typeface="+mn-ea"/>
                <a:cs typeface="+mn-ea"/>
              </a:rPr>
              <a:t>self.sex</a:t>
            </a:r>
            <a:r>
              <a:rPr lang="en-US" altLang="zh-CN" sz="2400" b="1" dirty="0">
                <a:latin typeface="+mn-ea"/>
                <a:ea typeface="+mn-ea"/>
                <a:cs typeface="+mn-ea"/>
              </a:rPr>
              <a:t> == "female":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latin typeface="+mn-ea"/>
                <a:ea typeface="+mn-ea"/>
                <a:cs typeface="+mn-ea"/>
              </a:rPr>
              <a:t>         </a:t>
            </a:r>
            <a:r>
              <a:rPr lang="en-US" altLang="zh-CN" sz="2400" b="1" dirty="0" err="1">
                <a:latin typeface="+mn-ea"/>
                <a:ea typeface="+mn-ea"/>
                <a:cs typeface="+mn-ea"/>
              </a:rPr>
              <a:t>fmt</a:t>
            </a:r>
            <a:r>
              <a:rPr lang="en-US" altLang="zh-CN" sz="2400" b="1" dirty="0">
                <a:latin typeface="+mn-ea"/>
                <a:ea typeface="+mn-ea"/>
                <a:cs typeface="+mn-ea"/>
              </a:rPr>
              <a:t> = </a:t>
            </a:r>
            <a:r>
              <a:rPr lang="en-US" altLang="zh-CN" sz="2400" b="1" dirty="0" err="1">
                <a:latin typeface="+mn-ea"/>
                <a:ea typeface="+mn-ea"/>
                <a:cs typeface="+mn-ea"/>
              </a:rPr>
              <a:t>fmt</a:t>
            </a:r>
            <a:r>
              <a:rPr lang="en-US" altLang="zh-CN" sz="2400" b="1" dirty="0">
                <a:latin typeface="+mn-ea"/>
                <a:ea typeface="+mn-ea"/>
                <a:cs typeface="+mn-ea"/>
              </a:rPr>
              <a:t> + "Ms. {}!"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latin typeface="+mn-ea"/>
                <a:ea typeface="+mn-ea"/>
                <a:cs typeface="+mn-ea"/>
              </a:rPr>
              <a:t>      else: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latin typeface="+mn-ea"/>
                <a:ea typeface="+mn-ea"/>
                <a:cs typeface="+mn-ea"/>
              </a:rPr>
              <a:t>         </a:t>
            </a:r>
            <a:r>
              <a:rPr lang="en-US" altLang="zh-CN" sz="2400" b="1" dirty="0" err="1">
                <a:latin typeface="+mn-ea"/>
                <a:ea typeface="+mn-ea"/>
                <a:cs typeface="+mn-ea"/>
              </a:rPr>
              <a:t>fmt</a:t>
            </a:r>
            <a:r>
              <a:rPr lang="en-US" altLang="zh-CN" sz="2400" b="1" dirty="0">
                <a:latin typeface="+mn-ea"/>
                <a:ea typeface="+mn-ea"/>
                <a:cs typeface="+mn-ea"/>
              </a:rPr>
              <a:t> = </a:t>
            </a:r>
            <a:r>
              <a:rPr lang="en-US" altLang="zh-CN" sz="2400" b="1" dirty="0" err="1">
                <a:latin typeface="+mn-ea"/>
                <a:ea typeface="+mn-ea"/>
                <a:cs typeface="+mn-ea"/>
              </a:rPr>
              <a:t>fmt</a:t>
            </a:r>
            <a:r>
              <a:rPr lang="en-US" altLang="zh-CN" sz="2400" b="1" dirty="0">
                <a:latin typeface="+mn-ea"/>
                <a:ea typeface="+mn-ea"/>
                <a:cs typeface="+mn-ea"/>
              </a:rPr>
              <a:t> + "Mr. {}!"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latin typeface="+mn-ea"/>
                <a:ea typeface="+mn-ea"/>
                <a:cs typeface="+mn-ea"/>
              </a:rPr>
              <a:t>      </a:t>
            </a:r>
            <a:r>
              <a:rPr lang="en-US" altLang="zh-CN" sz="2200" b="1" dirty="0">
                <a:latin typeface="+mn-ea"/>
                <a:ea typeface="+mn-ea"/>
                <a:cs typeface="+mn-ea"/>
              </a:rPr>
              <a:t>print(</a:t>
            </a:r>
            <a:r>
              <a:rPr lang="en-US" altLang="zh-CN" sz="2200" b="1" dirty="0" err="1">
                <a:latin typeface="+mn-ea"/>
                <a:ea typeface="+mn-ea"/>
                <a:cs typeface="+mn-ea"/>
              </a:rPr>
              <a:t>fmt.format</a:t>
            </a:r>
            <a:r>
              <a:rPr lang="en-US" altLang="zh-CN" sz="2200" b="1" dirty="0">
                <a:latin typeface="+mn-ea"/>
                <a:ea typeface="+mn-ea"/>
                <a:cs typeface="+mn-ea"/>
              </a:rPr>
              <a:t>(self.name))</a:t>
            </a:r>
            <a:endParaRPr lang="zh-CN" altLang="en-US" sz="22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接上页（续）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36955"/>
            <a:ext cx="10852150" cy="353187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cap="none" dirty="0"/>
              <a:t>st1 = student("1111","holly","female")      # 创建第一个对象</a:t>
            </a:r>
          </a:p>
          <a:p>
            <a:pPr marL="0" indent="0">
              <a:buNone/>
            </a:pPr>
            <a:r>
              <a:rPr lang="zh-CN" altLang="en-US" sz="2400" cap="none" dirty="0"/>
              <a:t>st1.sayhello()</a:t>
            </a:r>
          </a:p>
          <a:p>
            <a:pPr marL="0" indent="0">
              <a:buNone/>
            </a:pPr>
            <a:r>
              <a:rPr lang="zh-CN" altLang="en-US" sz="2400" cap="none" dirty="0"/>
              <a:t>st2 = student("2222","john","male")       # 创建第二个对象</a:t>
            </a:r>
          </a:p>
          <a:p>
            <a:pPr marL="0" indent="0">
              <a:buNone/>
            </a:pPr>
            <a:r>
              <a:rPr lang="zh-CN" altLang="en-US" sz="2400" cap="none" dirty="0"/>
              <a:t>st2.sayhello()</a:t>
            </a:r>
          </a:p>
          <a:p>
            <a:pPr marL="0" indent="0">
              <a:buNone/>
            </a:pPr>
            <a:r>
              <a:rPr lang="zh-CN" altLang="en-US" sz="2400" cap="none" dirty="0"/>
              <a:t>print(st1.name, "的学号是", st1.id)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9449" y="3429000"/>
            <a:ext cx="39871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en-US" altLang="zh-CN" sz="2800" dirty="0"/>
              <a:t>H</a:t>
            </a:r>
            <a:r>
              <a:rPr lang="zh-CN" altLang="en-US" sz="2800" dirty="0"/>
              <a:t>ello, ms. holly!</a:t>
            </a:r>
          </a:p>
          <a:p>
            <a:r>
              <a:rPr lang="en-US" altLang="zh-CN" sz="2800" dirty="0"/>
              <a:t>H</a:t>
            </a:r>
            <a:r>
              <a:rPr lang="zh-CN" altLang="en-US" sz="2800" dirty="0"/>
              <a:t>ello, mr. john!</a:t>
            </a:r>
          </a:p>
          <a:p>
            <a:r>
              <a:rPr lang="zh-CN" altLang="en-US" sz="2800" dirty="0"/>
              <a:t>holly 的学号是 1111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3C8B6D-6097-42A2-B7E6-F6EBD771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B2AF18-E0DD-4C7C-AF83-D8FC4505F55F}"/>
              </a:ext>
            </a:extLst>
          </p:cNvPr>
          <p:cNvSpPr txBox="1"/>
          <p:nvPr/>
        </p:nvSpPr>
        <p:spPr>
          <a:xfrm>
            <a:off x="479376" y="5420578"/>
            <a:ext cx="10081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说明： 类外引用实例属性用     对象名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属性名</a:t>
            </a:r>
          </a:p>
          <a:p>
            <a:r>
              <a:rPr lang="zh-CN" altLang="en-US" sz="2800" b="1" dirty="0"/>
              <a:t>           类内引用实例属性用      </a:t>
            </a:r>
            <a:r>
              <a:rPr lang="en-US" altLang="zh-CN" sz="2800" b="1" dirty="0"/>
              <a:t>self.</a:t>
            </a:r>
            <a:r>
              <a:rPr lang="zh-CN" altLang="en-US" sz="2800" b="1" dirty="0"/>
              <a:t>属性名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2. </a:t>
            </a:r>
            <a:r>
              <a:t>类属性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类属性是实例对象共有的属性</a:t>
            </a:r>
          </a:p>
          <a:p>
            <a:r>
              <a:rPr lang="zh-CN" altLang="en-US" dirty="0"/>
              <a:t>类似于全局变量，在内存中只存在一个副本</a:t>
            </a:r>
          </a:p>
          <a:p>
            <a:r>
              <a:rPr lang="zh-CN" altLang="en-US" dirty="0"/>
              <a:t>类属性定义在类中方法外</a:t>
            </a:r>
          </a:p>
          <a:p>
            <a:r>
              <a:rPr lang="zh-CN" altLang="en-US" dirty="0"/>
              <a:t>引用方式：</a:t>
            </a:r>
          </a:p>
          <a:p>
            <a:pPr lvl="1"/>
            <a:r>
              <a:rPr lang="zh-CN" altLang="en-US" dirty="0"/>
              <a:t>类名</a:t>
            </a:r>
            <a:r>
              <a:rPr lang="en-US" altLang="zh-CN" dirty="0"/>
              <a:t>.</a:t>
            </a:r>
            <a:r>
              <a:rPr dirty="0"/>
              <a:t>属性名</a:t>
            </a:r>
          </a:p>
          <a:p>
            <a:pPr lvl="1"/>
            <a:r>
              <a:rPr dirty="0"/>
              <a:t>对象名</a:t>
            </a:r>
            <a:r>
              <a:rPr lang="en-US" altLang="zh-CN" dirty="0"/>
              <a:t>.</a:t>
            </a:r>
            <a:r>
              <a:rPr dirty="0"/>
              <a:t>属性名</a:t>
            </a:r>
            <a:r>
              <a:rPr lang="zh-CN" altLang="en-US" dirty="0"/>
              <a:t>（不推荐）</a:t>
            </a:r>
            <a:endParaRPr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7F717E-C958-4A6A-B083-71339C48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64401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11-3 定义一个Team类，设置有类属性company、boss，以及实例属性ID和leader。创建两个对象t1和t2，分别输出其信息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087880"/>
            <a:ext cx="10852150" cy="4253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cap="none" dirty="0"/>
              <a:t>class team:</a:t>
            </a:r>
          </a:p>
          <a:p>
            <a:pPr marL="0" indent="0">
              <a:buNone/>
            </a:pPr>
            <a:r>
              <a:rPr lang="zh-CN" altLang="en-US" sz="2800" cap="none" dirty="0"/>
              <a:t>    company = “abc”    </a:t>
            </a:r>
            <a:r>
              <a:rPr lang="en-US" altLang="zh-CN" sz="2800" cap="none" dirty="0"/>
              <a:t># </a:t>
            </a:r>
            <a:r>
              <a:rPr lang="zh-CN" altLang="en-US" sz="2800" cap="none" dirty="0"/>
              <a:t>类属性</a:t>
            </a:r>
          </a:p>
          <a:p>
            <a:pPr marL="0" indent="0">
              <a:buNone/>
            </a:pPr>
            <a:r>
              <a:rPr lang="zh-CN" altLang="en-US" sz="2800" cap="none" dirty="0"/>
              <a:t>    boss = "jenny“</a:t>
            </a:r>
            <a:r>
              <a:rPr lang="en-US" altLang="zh-CN" sz="2800" cap="none" dirty="0"/>
              <a:t>		# </a:t>
            </a:r>
            <a:r>
              <a:rPr lang="zh-CN" altLang="en-US" sz="2800" cap="none" dirty="0"/>
              <a:t>类属性</a:t>
            </a:r>
          </a:p>
          <a:p>
            <a:pPr marL="0" indent="0">
              <a:buNone/>
            </a:pPr>
            <a:r>
              <a:rPr lang="zh-CN" altLang="en-US" sz="2800" cap="none" dirty="0"/>
              <a:t>    def __init__(self, id, leader):</a:t>
            </a:r>
          </a:p>
          <a:p>
            <a:pPr marL="0" indent="0">
              <a:buNone/>
            </a:pPr>
            <a:r>
              <a:rPr lang="zh-CN" altLang="en-US" sz="2800" cap="none" dirty="0"/>
              <a:t>        self.id = id</a:t>
            </a:r>
            <a:r>
              <a:rPr lang="en-US" altLang="zh-CN" sz="2800" cap="none" dirty="0"/>
              <a:t>			# </a:t>
            </a:r>
            <a:r>
              <a:rPr lang="zh-CN" altLang="en-US" sz="2800" cap="none" dirty="0"/>
              <a:t>实体属性</a:t>
            </a:r>
          </a:p>
          <a:p>
            <a:pPr marL="0" indent="0">
              <a:buNone/>
            </a:pPr>
            <a:r>
              <a:rPr lang="zh-CN" altLang="en-US" sz="2800" cap="none" dirty="0"/>
              <a:t>        self.leader = leader</a:t>
            </a:r>
            <a:r>
              <a:rPr lang="en-US" altLang="zh-CN" sz="2800" cap="none" dirty="0"/>
              <a:t>	# </a:t>
            </a:r>
            <a:r>
              <a:rPr lang="zh-CN" altLang="en-US" sz="2800" cap="none" dirty="0"/>
              <a:t>实体属性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64170" y="5972810"/>
            <a:ext cx="2389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6E0D42-05CA-4F3B-A1CC-D76F1307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cap="none" dirty="0"/>
              <a:t>t1 = team("1", "holly")          # 创建第一个对象</a:t>
            </a:r>
          </a:p>
          <a:p>
            <a:pPr marL="0" indent="0">
              <a:buNone/>
            </a:pPr>
            <a:r>
              <a:rPr lang="zh-CN" altLang="en-US" cap="none" dirty="0"/>
              <a:t>t2 = team("2", "john")          # 创建第二个对象</a:t>
            </a:r>
          </a:p>
          <a:p>
            <a:pPr marL="0" indent="0">
              <a:buNone/>
            </a:pPr>
            <a:r>
              <a:rPr lang="zh-CN" altLang="en-US" cap="none" dirty="0"/>
              <a:t>print("公司:{}\n老板:{}".format(team.company, team.boss))</a:t>
            </a:r>
          </a:p>
          <a:p>
            <a:pPr marL="0" indent="0">
              <a:buNone/>
            </a:pPr>
            <a:r>
              <a:rPr lang="zh-CN" altLang="en-US" cap="none" dirty="0"/>
              <a:t>print("{}组的组长是{}".format(t1.id, t1.leader))</a:t>
            </a:r>
          </a:p>
          <a:p>
            <a:pPr marL="0" indent="0">
              <a:buNone/>
            </a:pPr>
            <a:r>
              <a:rPr lang="zh-CN" altLang="en-US" cap="none" dirty="0"/>
              <a:t>print("{}组的组长是{}".format(t2.id, t2.leader))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51580" y="4622800"/>
            <a:ext cx="437515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zh-CN" altLang="en-US" sz="2800" dirty="0"/>
              <a:t>公司:ABC</a:t>
            </a:r>
          </a:p>
          <a:p>
            <a:r>
              <a:rPr lang="zh-CN" altLang="en-US" sz="2800" dirty="0"/>
              <a:t>老板:Jenny</a:t>
            </a:r>
          </a:p>
          <a:p>
            <a:r>
              <a:rPr lang="zh-CN" altLang="en-US" sz="2800" dirty="0"/>
              <a:t>1组的组长是Holly</a:t>
            </a:r>
          </a:p>
          <a:p>
            <a:r>
              <a:rPr lang="zh-CN" altLang="en-US" sz="2800" dirty="0"/>
              <a:t>2组的组长是John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19C241-444C-4D87-B2F1-AA5314ED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11.3.2 </a:t>
            </a:r>
            <a:r>
              <a:t>私有属性和公有属性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dirty="0"/>
              <a:t>中用名字来区分公有还是私有</a:t>
            </a:r>
          </a:p>
          <a:p>
            <a:pPr lvl="1"/>
            <a:r>
              <a:rPr dirty="0"/>
              <a:t>双下划线开头（不以双下划线结尾）：私有</a:t>
            </a:r>
          </a:p>
          <a:p>
            <a:pPr lvl="1"/>
            <a:r>
              <a:rPr dirty="0"/>
              <a:t>单下划线开头：只允许本身和子类访问</a:t>
            </a:r>
          </a:p>
          <a:p>
            <a:pPr lvl="1"/>
            <a:r>
              <a:rPr dirty="0"/>
              <a:t>双下划线开头、双下划线结尾：专用标识符，有特定含义</a:t>
            </a:r>
          </a:p>
          <a:p>
            <a:pPr lvl="1"/>
            <a:r>
              <a:rPr dirty="0"/>
              <a:t>其他：全是公有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zh-CN" altLang="en-US" sz="3200" dirty="0"/>
              <a:t>方法名的取名规则也有同样效果</a:t>
            </a:r>
          </a:p>
          <a:p>
            <a:pPr marL="457200" lvl="1" indent="0">
              <a:buNone/>
            </a:pPr>
            <a:endParaRPr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21932C-FE41-492A-BB9C-D5AE9CBD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例如：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class parent:          # 基类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    def __init__(self, value):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        self.__value = value     </a:t>
            </a:r>
            <a:r>
              <a:rPr lang="en-US" altLang="zh-CN" sz="2400" cap="none" dirty="0"/>
              <a:t>#</a:t>
            </a:r>
            <a:r>
              <a:rPr lang="zh-CN" altLang="en-US" sz="2400" cap="none" dirty="0"/>
              <a:t>私有属性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class child(parent):      # 继承自parent的子类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    def get_value(self):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        return self.__value   </a:t>
            </a:r>
            <a:r>
              <a:rPr lang="en-US" altLang="zh-CN" sz="2400" cap="none" dirty="0"/>
              <a:t># </a:t>
            </a:r>
            <a:r>
              <a:rPr lang="zh-CN" altLang="en-US" sz="2400" cap="none" dirty="0"/>
              <a:t>出错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child = child(4)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cap="none" dirty="0"/>
              <a:t>print(child.get_value())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5BE7C5E-4DBF-4757-A815-36653C1E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11.3.3 特殊属性与方法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792" y="955275"/>
            <a:ext cx="11881320" cy="5250185"/>
          </a:xfrm>
        </p:spPr>
        <p:txBody>
          <a:bodyPr/>
          <a:lstStyle/>
          <a:p>
            <a:r>
              <a:rPr lang="zh-CN" altLang="en-US"/>
              <a:t>双下划线开头和结尾的属性和方法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326397"/>
              </p:ext>
            </p:extLst>
          </p:nvPr>
        </p:nvGraphicFramePr>
        <p:xfrm>
          <a:off x="335360" y="1710690"/>
          <a:ext cx="11522074" cy="4794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71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 dirty="0" err="1"/>
                        <a:t>特殊属性或方法名</a:t>
                      </a:r>
                      <a:endParaRPr lang="en-US" altLang="en-US" sz="2400" b="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/>
                        <a:t>含义与作用</a:t>
                      </a:r>
                      <a:endParaRPr lang="en-US" altLang="en-US" sz="24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 dirty="0"/>
                        <a:t>object.__</a:t>
                      </a:r>
                      <a:r>
                        <a:rPr lang="en-US" sz="2400" b="0" dirty="0" err="1"/>
                        <a:t>dict</a:t>
                      </a:r>
                      <a:r>
                        <a:rPr lang="en-US" sz="2400" b="0" dirty="0"/>
                        <a:t>__</a:t>
                      </a:r>
                      <a:endParaRPr lang="en-US" altLang="en-US" sz="24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字典，除了一些特殊的属性，实例、类型等对象的所有属性，都放置在其__dict__字典中。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 dirty="0" err="1"/>
                        <a:t>instance.__class</a:t>
                      </a:r>
                      <a:r>
                        <a:rPr lang="en-US" sz="2400" b="0" dirty="0"/>
                        <a:t>__</a:t>
                      </a:r>
                      <a:endParaRPr lang="en-US" altLang="en-US" sz="24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类实例所属的类，可理解为当前实例的模板。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class.__bases__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类对象的基类构成的元组，只包含直接基类，并不是继承链上的所有基类。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29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definition.__name__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对象的名称，比如type、class对象的名称就是系统内置的或自定义的名称字符串，类型的实例通常没有属性__name__。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definition.__qualname__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类的限定名称。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29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class.__mro__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 dirty="0" err="1"/>
                        <a:t>该属性用于存储MRO元组，以便在方法解析期间提供基类排序。该属性是动态的，每当继承层次更新时，该属性都可能发生改变</a:t>
                      </a:r>
                      <a:r>
                        <a:rPr lang="en-US" sz="2400" b="0" dirty="0"/>
                        <a:t>。</a:t>
                      </a:r>
                      <a:endParaRPr lang="en-US" altLang="en-US" sz="24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A014EB-B3C5-4779-AA60-1ED07E34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特殊属性和方法（续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36106714"/>
              </p:ext>
            </p:extLst>
          </p:nvPr>
        </p:nvGraphicFramePr>
        <p:xfrm>
          <a:off x="685800" y="1228638"/>
          <a:ext cx="10820400" cy="5145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9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1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/>
                        <a:t>特殊属性或方法名</a:t>
                      </a:r>
                      <a:endParaRPr lang="en-US" altLang="en-US" sz="24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/>
                        <a:t>含义与作用</a:t>
                      </a:r>
                      <a:endParaRPr lang="en-US" altLang="en-US" sz="24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9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 dirty="0" err="1"/>
                        <a:t>class.mro</a:t>
                      </a:r>
                      <a:r>
                        <a:rPr lang="en-US" sz="2400" b="0" dirty="0"/>
                        <a:t>()</a:t>
                      </a:r>
                      <a:endParaRPr lang="en-US" altLang="en-US" sz="24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通过元类（metaclass）可以覆盖此方法，以自定义类实例的方法解析顺序。该方法会在程序初始化时调用，其结果存储在__mro__中。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class.__subclasses__()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返回子类列表。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06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__init__()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__init__()是一个实例方法，用来在实例创建完成后进行必要的初始化，该方法必须返回None。Python不会自动调用父类的__init__()方法，需要额外的调用super(C, self).__init__()来完成。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06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__new__(cls[, args...])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 dirty="0"/>
                        <a:t>__new__()</a:t>
                      </a:r>
                      <a:r>
                        <a:rPr lang="en-US" sz="2400" b="0" dirty="0" err="1"/>
                        <a:t>是一个静态方法，用于根据类型创建实例。Python在调用</a:t>
                      </a:r>
                      <a:r>
                        <a:rPr lang="en-US" sz="2400" b="0" dirty="0"/>
                        <a:t>__new__()</a:t>
                      </a:r>
                      <a:r>
                        <a:rPr lang="en-US" sz="2400" b="0" dirty="0" err="1"/>
                        <a:t>方法获得实例后，会调用这个实例的</a:t>
                      </a:r>
                      <a:r>
                        <a:rPr lang="en-US" sz="2400" b="0" dirty="0"/>
                        <a:t>__</a:t>
                      </a:r>
                      <a:r>
                        <a:rPr lang="en-US" sz="2400" b="0" dirty="0" err="1"/>
                        <a:t>init</a:t>
                      </a:r>
                      <a:r>
                        <a:rPr lang="en-US" sz="2400" b="0" dirty="0"/>
                        <a:t>__()</a:t>
                      </a:r>
                      <a:r>
                        <a:rPr lang="en-US" sz="2400" b="0" dirty="0" err="1"/>
                        <a:t>方法，然后将最初传给</a:t>
                      </a:r>
                      <a:r>
                        <a:rPr lang="en-US" sz="2400" b="0" dirty="0"/>
                        <a:t>__new__()</a:t>
                      </a:r>
                      <a:r>
                        <a:rPr lang="en-US" sz="2400" b="0" dirty="0" err="1"/>
                        <a:t>方法的参数都传给</a:t>
                      </a:r>
                      <a:r>
                        <a:rPr lang="en-US" sz="2400" b="0" dirty="0"/>
                        <a:t>__</a:t>
                      </a:r>
                      <a:r>
                        <a:rPr lang="en-US" sz="2400" b="0" dirty="0" err="1"/>
                        <a:t>init</a:t>
                      </a:r>
                      <a:r>
                        <a:rPr lang="en-US" sz="2400" b="0" dirty="0"/>
                        <a:t>__()</a:t>
                      </a:r>
                      <a:r>
                        <a:rPr lang="en-US" sz="2400" b="0" dirty="0" err="1"/>
                        <a:t>方法</a:t>
                      </a:r>
                      <a:r>
                        <a:rPr lang="en-US" sz="2400" b="0" dirty="0"/>
                        <a:t>。</a:t>
                      </a:r>
                      <a:endParaRPr lang="en-US" altLang="en-US" sz="24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646D3EA-7681-44AD-AE06-BA8E5935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特殊属性和方法（续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7107897"/>
              </p:ext>
            </p:extLst>
          </p:nvPr>
        </p:nvGraphicFramePr>
        <p:xfrm>
          <a:off x="685800" y="1340768"/>
          <a:ext cx="10820400" cy="51377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9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1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/>
                        <a:t>特殊属性或方法名</a:t>
                      </a:r>
                      <a:endParaRPr lang="en-US" altLang="en-US" sz="24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/>
                        <a:t>含义与作用</a:t>
                      </a:r>
                      <a:endParaRPr lang="en-US" altLang="en-US" sz="24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9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 dirty="0"/>
                        <a:t>__del__(self)</a:t>
                      </a:r>
                      <a:endParaRPr lang="en-US" altLang="en-US" sz="24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在GC（garbage collector）之前，Python会调用这个对象的__del__()方法完成一些终止化工作。如果没有__del__()方法，那么Python不做特殊的处理。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9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__repr__(self)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__repr__()方法返回的字符串主要是面向解释器的，如果没有定义__repr__()，那么Python使用一种默认的表现形式。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06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__str__(self)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与__repr__()返回的详尽的、准确的、无歧义的对象描述字符串不同，__str__()方法只是返回一个对象的简洁的字符串表达形式；当__str__()缺失时，Python会调用__repr__()方法。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/>
                        <a:t>__unicode__(self)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 dirty="0" err="1"/>
                        <a:t>优先级高于</a:t>
                      </a:r>
                      <a:r>
                        <a:rPr lang="en-US" sz="2400" b="0" dirty="0"/>
                        <a:t>__str__()</a:t>
                      </a:r>
                      <a:r>
                        <a:rPr lang="en-US" sz="2400" b="0" dirty="0" err="1"/>
                        <a:t>方法；同时定义这两个方法的实例，调用结果则相同</a:t>
                      </a:r>
                      <a:r>
                        <a:rPr lang="en-US" sz="2400" b="0" dirty="0"/>
                        <a:t>。</a:t>
                      </a:r>
                      <a:endParaRPr lang="en-US" altLang="en-US" sz="24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379" marR="6837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32FB133-999E-453F-ACFD-C9FDA4F9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10.4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方法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BEC328-647C-45FF-AF2C-62A31B4C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什么是方法？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方法是定义在类中的函数</a:t>
            </a:r>
            <a:endParaRPr lang="en-US" altLang="zh-CN" dirty="0"/>
          </a:p>
          <a:p>
            <a:r>
              <a:rPr lang="zh-CN" altLang="en-US" dirty="0"/>
              <a:t>分为</a:t>
            </a:r>
            <a:r>
              <a:rPr lang="en-US" altLang="zh-CN" dirty="0"/>
              <a:t>3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zh-CN" altLang="en-US" dirty="0"/>
              <a:t>实例方法</a:t>
            </a:r>
            <a:endParaRPr lang="en-US" altLang="zh-CN" dirty="0"/>
          </a:p>
          <a:p>
            <a:pPr lvl="1"/>
            <a:r>
              <a:rPr lang="zh-CN" altLang="en-US" dirty="0"/>
              <a:t>类方法</a:t>
            </a:r>
            <a:endParaRPr lang="en-US" altLang="zh-CN" dirty="0"/>
          </a:p>
          <a:p>
            <a:pPr lvl="1"/>
            <a:r>
              <a:rPr lang="zh-CN" altLang="en-US" dirty="0"/>
              <a:t>静态方法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62B7D8-76B3-439B-AA67-DA051EDD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11.4.1 </a:t>
            </a:r>
            <a:r>
              <a:rPr lang="zh-CN" altLang="en-US" dirty="0"/>
              <a:t>实例方法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cap="none" dirty="0"/>
              <a:t>定义形式：</a:t>
            </a:r>
            <a:endParaRPr lang="en-US" altLang="zh-CN" cap="none" dirty="0"/>
          </a:p>
          <a:p>
            <a:pPr marL="457200" lvl="1" indent="0">
              <a:buNone/>
            </a:pPr>
            <a:r>
              <a:rPr lang="en-US" altLang="zh-CN" cap="none" dirty="0"/>
              <a:t>def </a:t>
            </a:r>
            <a:r>
              <a:rPr lang="zh-CN" altLang="zh-CN" cap="none" dirty="0"/>
              <a:t>实例方法名</a:t>
            </a:r>
            <a:r>
              <a:rPr lang="en-US" altLang="zh-CN" cap="none" dirty="0"/>
              <a:t>(self, [</a:t>
            </a:r>
            <a:r>
              <a:rPr lang="zh-CN" altLang="zh-CN" cap="none" dirty="0"/>
              <a:t>形参列表</a:t>
            </a:r>
            <a:r>
              <a:rPr lang="en-US" altLang="zh-CN" cap="none" dirty="0"/>
              <a:t>]):</a:t>
            </a:r>
            <a:endParaRPr lang="zh-CN" altLang="zh-CN" cap="none" dirty="0"/>
          </a:p>
          <a:p>
            <a:pPr marL="457200" lvl="1" indent="0">
              <a:buNone/>
            </a:pPr>
            <a:r>
              <a:rPr lang="en-US" altLang="zh-CN" cap="none" dirty="0"/>
              <a:t>    </a:t>
            </a:r>
            <a:r>
              <a:rPr lang="zh-CN" altLang="zh-CN" cap="none" dirty="0"/>
              <a:t>函数体</a:t>
            </a:r>
          </a:p>
          <a:p>
            <a:pPr marL="228600" lvl="1"/>
            <a:endParaRPr lang="en-US" altLang="zh-CN" cap="none" dirty="0"/>
          </a:p>
          <a:p>
            <a:pPr marL="685800" lvl="2"/>
            <a:r>
              <a:rPr lang="zh-CN" altLang="en-US" cap="none" dirty="0"/>
              <a:t>注意，第</a:t>
            </a:r>
            <a:r>
              <a:rPr lang="en-US" altLang="zh-CN" cap="none" dirty="0"/>
              <a:t>1</a:t>
            </a:r>
            <a:r>
              <a:rPr lang="zh-CN" altLang="en-US" cap="none" dirty="0"/>
              <a:t>个参数一般是</a:t>
            </a:r>
            <a:r>
              <a:rPr lang="en-US" altLang="zh-CN" cap="none" dirty="0"/>
              <a:t>self</a:t>
            </a:r>
          </a:p>
          <a:p>
            <a:pPr marL="685800" lvl="2"/>
            <a:endParaRPr lang="zh-CN" altLang="en-US" cap="none" dirty="0"/>
          </a:p>
          <a:p>
            <a:pPr marL="228600" lvl="1"/>
            <a:r>
              <a:rPr lang="zh-CN" altLang="en-US" cap="none" dirty="0"/>
              <a:t>调用形式：</a:t>
            </a:r>
            <a:endParaRPr lang="en-US" altLang="zh-CN" cap="none" dirty="0"/>
          </a:p>
          <a:p>
            <a:pPr marL="457200" lvl="1" indent="0">
              <a:buNone/>
            </a:pPr>
            <a:r>
              <a:rPr lang="zh-CN" altLang="zh-CN" cap="none" dirty="0"/>
              <a:t>对象名</a:t>
            </a:r>
            <a:r>
              <a:rPr lang="en-US" altLang="zh-CN" cap="none" dirty="0"/>
              <a:t>.</a:t>
            </a:r>
            <a:r>
              <a:rPr lang="zh-CN" altLang="zh-CN" cap="none" dirty="0"/>
              <a:t>方法名</a:t>
            </a:r>
            <a:endParaRPr lang="zh-CN" altLang="en-US" cap="none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C901AE-E5CD-4E75-917C-F7CCB700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609502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11-4 </a:t>
            </a:r>
            <a:r>
              <a:rPr lang="zh-CN" altLang="zh-CN" sz="3200" dirty="0"/>
              <a:t>实例方法的例子</a:t>
            </a:r>
            <a:endParaRPr lang="zh-CN" altLang="en-US" sz="32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669930" y="1196752"/>
            <a:ext cx="5642094" cy="5144663"/>
          </a:xfrm>
          <a:noFill/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class person(object):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def __</a:t>
            </a:r>
            <a:r>
              <a:rPr lang="en-US" altLang="zh-CN" sz="2400" cap="none" dirty="0" err="1"/>
              <a:t>init</a:t>
            </a:r>
            <a:r>
              <a:rPr lang="en-US" altLang="zh-CN" sz="2400" cap="none" dirty="0"/>
              <a:t>__(self, name, score):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    </a:t>
            </a:r>
            <a:r>
              <a:rPr lang="en-US" altLang="zh-CN" sz="2400" cap="none" dirty="0" err="1"/>
              <a:t>self.__name</a:t>
            </a:r>
            <a:r>
              <a:rPr lang="en-US" altLang="zh-CN" sz="2400" cap="none" dirty="0"/>
              <a:t> = name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    </a:t>
            </a:r>
            <a:r>
              <a:rPr lang="en-US" altLang="zh-CN" sz="2400" cap="none" dirty="0" err="1"/>
              <a:t>self.__score</a:t>
            </a:r>
            <a:r>
              <a:rPr lang="en-US" altLang="zh-CN" sz="2400" cap="none" dirty="0"/>
              <a:t> = score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def </a:t>
            </a:r>
            <a:r>
              <a:rPr lang="en-US" altLang="zh-CN" sz="2400" cap="none" dirty="0" err="1"/>
              <a:t>get_grade</a:t>
            </a:r>
            <a:r>
              <a:rPr lang="en-US" altLang="zh-CN" sz="2400" cap="none" dirty="0"/>
              <a:t>(self):         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    if </a:t>
            </a:r>
            <a:r>
              <a:rPr lang="en-US" altLang="zh-CN" sz="2400" cap="none" dirty="0" err="1"/>
              <a:t>self.__score</a:t>
            </a:r>
            <a:r>
              <a:rPr lang="en-US" altLang="zh-CN" sz="2400" cap="none" dirty="0"/>
              <a:t> &gt;= 80: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        return 'a'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    if </a:t>
            </a:r>
            <a:r>
              <a:rPr lang="en-US" altLang="zh-CN" sz="2400" cap="none" dirty="0" err="1"/>
              <a:t>self.__score</a:t>
            </a:r>
            <a:r>
              <a:rPr lang="en-US" altLang="zh-CN" sz="2400" cap="none" dirty="0"/>
              <a:t> &gt;= 60: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        return 'b'</a:t>
            </a:r>
            <a:endParaRPr lang="zh-CN" altLang="zh-CN" sz="2400" cap="none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400" cap="none" dirty="0"/>
              <a:t>        return 'c'</a:t>
            </a:r>
            <a:endParaRPr lang="zh-CN" altLang="zh-CN" sz="2400" cap="none" dirty="0"/>
          </a:p>
          <a:p>
            <a:pPr marL="0" indent="0">
              <a:lnSpc>
                <a:spcPct val="100000"/>
              </a:lnSpc>
              <a:buNone/>
            </a:pPr>
            <a:endParaRPr lang="zh-CN" altLang="en-US" sz="2400" cap="none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6816080" y="1196752"/>
            <a:ext cx="4608512" cy="5172883"/>
          </a:xfrm>
          <a:noFill/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sz="2400" cap="none" dirty="0"/>
              <a:t>p1 = person('bob', 90)</a:t>
            </a:r>
            <a:endParaRPr lang="zh-CN" altLang="zh-CN" sz="2400" cap="none" dirty="0"/>
          </a:p>
          <a:p>
            <a:pPr marL="0" lvl="0" indent="0">
              <a:buNone/>
            </a:pPr>
            <a:r>
              <a:rPr lang="en-US" altLang="zh-CN" sz="2400" cap="none" dirty="0"/>
              <a:t>p2 = person('</a:t>
            </a:r>
            <a:r>
              <a:rPr lang="en-US" altLang="zh-CN" sz="2400" cap="none" dirty="0" err="1"/>
              <a:t>alice</a:t>
            </a:r>
            <a:r>
              <a:rPr lang="en-US" altLang="zh-CN" sz="2400" cap="none" dirty="0"/>
              <a:t>', 65) </a:t>
            </a:r>
            <a:endParaRPr lang="zh-CN" altLang="zh-CN" sz="2400" cap="none" dirty="0"/>
          </a:p>
          <a:p>
            <a:pPr marL="0" lvl="0" indent="0">
              <a:buNone/>
            </a:pPr>
            <a:r>
              <a:rPr lang="en-US" altLang="zh-CN" sz="2400" cap="none" dirty="0"/>
              <a:t>p3 = person('</a:t>
            </a:r>
            <a:r>
              <a:rPr lang="en-US" altLang="zh-CN" sz="2400" cap="none" dirty="0" err="1"/>
              <a:t>tim</a:t>
            </a:r>
            <a:r>
              <a:rPr lang="en-US" altLang="zh-CN" sz="2400" cap="none" dirty="0"/>
              <a:t>', 48) </a:t>
            </a:r>
            <a:endParaRPr lang="zh-CN" altLang="zh-CN" sz="2400" cap="none" dirty="0"/>
          </a:p>
          <a:p>
            <a:pPr marL="0" lvl="0" indent="0">
              <a:buNone/>
            </a:pPr>
            <a:r>
              <a:rPr lang="en-US" altLang="zh-CN" sz="2400" cap="none" dirty="0"/>
              <a:t>print(p1.get_grade()) </a:t>
            </a:r>
            <a:endParaRPr lang="zh-CN" altLang="zh-CN" sz="2400" cap="none" dirty="0"/>
          </a:p>
          <a:p>
            <a:pPr marL="0" lvl="0" indent="0">
              <a:buNone/>
            </a:pPr>
            <a:r>
              <a:rPr lang="en-US" altLang="zh-CN" sz="2400" cap="none" dirty="0"/>
              <a:t>print(p2.get_grade()) </a:t>
            </a:r>
            <a:endParaRPr lang="zh-CN" altLang="zh-CN" sz="2400" cap="none" dirty="0"/>
          </a:p>
          <a:p>
            <a:pPr marL="0" lvl="0" indent="0">
              <a:buNone/>
            </a:pPr>
            <a:r>
              <a:rPr lang="en-US" altLang="zh-CN" sz="2400" cap="none" dirty="0"/>
              <a:t>print(p3.get_grade()) </a:t>
            </a:r>
            <a:endParaRPr lang="zh-CN" altLang="en-US" sz="2400" cap="none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7A08910-3B3D-4473-AAB9-35482255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实例方法的注意事项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不要求第</a:t>
            </a:r>
            <a:r>
              <a:rPr lang="en-US" altLang="zh-CN" dirty="0"/>
              <a:t>1</a:t>
            </a:r>
            <a:r>
              <a:rPr lang="zh-CN" altLang="en-US" dirty="0"/>
              <a:t>个参数必须是</a:t>
            </a:r>
            <a:r>
              <a:rPr lang="en-US" altLang="zh-CN" dirty="0"/>
              <a:t>self</a:t>
            </a:r>
            <a:r>
              <a:rPr lang="zh-CN" altLang="en-US" dirty="0"/>
              <a:t>（但是建议是</a:t>
            </a:r>
            <a:r>
              <a:rPr lang="en-US" altLang="zh-CN" dirty="0"/>
              <a:t>self</a:t>
            </a:r>
            <a:r>
              <a:rPr lang="zh-CN" altLang="en-US" dirty="0"/>
              <a:t>，免得引起误会）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不属于类方法和静态方法，就一定属于实例方法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实例方法是使用最多的一种方法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0382AE-EF61-496E-9690-A9BC7007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11.4.2 </a:t>
            </a:r>
            <a:r>
              <a:rPr lang="zh-CN" altLang="en-US" dirty="0"/>
              <a:t>类方法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cap="none" dirty="0"/>
              <a:t>用于</a:t>
            </a:r>
            <a:r>
              <a:rPr lang="zh-CN" altLang="en-US" cap="none" dirty="0"/>
              <a:t>只</a:t>
            </a:r>
            <a:r>
              <a:rPr lang="zh-CN" altLang="zh-CN" cap="none" dirty="0"/>
              <a:t>跟类有关的操作，不跟具体的实例有关</a:t>
            </a:r>
            <a:endParaRPr lang="en-US" altLang="zh-CN" cap="none" dirty="0"/>
          </a:p>
          <a:p>
            <a:r>
              <a:rPr lang="zh-CN" altLang="en-US" cap="none" dirty="0"/>
              <a:t>定义格式：</a:t>
            </a:r>
            <a:endParaRPr lang="en-US" altLang="zh-CN" cap="none" dirty="0"/>
          </a:p>
          <a:p>
            <a:pPr marL="457200" lvl="1" indent="0">
              <a:buNone/>
            </a:pPr>
            <a:r>
              <a:rPr lang="en-US" altLang="zh-CN" cap="none" dirty="0"/>
              <a:t>@classmethod</a:t>
            </a:r>
            <a:endParaRPr lang="zh-CN" altLang="zh-CN" cap="none" dirty="0"/>
          </a:p>
          <a:p>
            <a:pPr marL="457200" lvl="1" indent="0">
              <a:buNone/>
            </a:pPr>
            <a:r>
              <a:rPr lang="en-US" altLang="zh-CN" cap="none" dirty="0"/>
              <a:t>def </a:t>
            </a:r>
            <a:r>
              <a:rPr lang="zh-CN" altLang="zh-CN" cap="none" dirty="0"/>
              <a:t>类方法名</a:t>
            </a:r>
            <a:r>
              <a:rPr lang="en-US" altLang="zh-CN" cap="none" dirty="0"/>
              <a:t>(</a:t>
            </a:r>
            <a:r>
              <a:rPr lang="en-US" altLang="zh-CN" cap="none" dirty="0" err="1"/>
              <a:t>cls</a:t>
            </a:r>
            <a:r>
              <a:rPr lang="en-US" altLang="zh-CN" cap="none" dirty="0"/>
              <a:t>, [</a:t>
            </a:r>
            <a:r>
              <a:rPr lang="zh-CN" altLang="zh-CN" cap="none" dirty="0"/>
              <a:t>形参列表</a:t>
            </a:r>
            <a:r>
              <a:rPr lang="en-US" altLang="zh-CN" cap="none" dirty="0"/>
              <a:t>]):</a:t>
            </a:r>
            <a:endParaRPr lang="zh-CN" altLang="zh-CN" cap="none" dirty="0"/>
          </a:p>
          <a:p>
            <a:pPr marL="457200" lvl="1" indent="0">
              <a:buNone/>
            </a:pPr>
            <a:r>
              <a:rPr lang="en-US" altLang="zh-CN" cap="none" dirty="0"/>
              <a:t>    </a:t>
            </a:r>
            <a:r>
              <a:rPr lang="zh-CN" altLang="zh-CN" cap="none" dirty="0"/>
              <a:t>函数体</a:t>
            </a:r>
          </a:p>
          <a:p>
            <a:r>
              <a:rPr lang="zh-CN" altLang="en-US" cap="none" dirty="0"/>
              <a:t>说明：</a:t>
            </a:r>
            <a:endParaRPr lang="en-US" altLang="zh-CN" cap="none" dirty="0"/>
          </a:p>
          <a:p>
            <a:pPr lvl="1"/>
            <a:r>
              <a:rPr lang="en-US" altLang="zh-CN" cap="none" dirty="0"/>
              <a:t>@classmethod</a:t>
            </a:r>
            <a:r>
              <a:rPr lang="zh-CN" altLang="en-US" cap="none" dirty="0"/>
              <a:t>是类方法的标志</a:t>
            </a:r>
            <a:endParaRPr lang="en-US" altLang="zh-CN" cap="none" dirty="0"/>
          </a:p>
          <a:p>
            <a:pPr lvl="1"/>
            <a:r>
              <a:rPr lang="zh-CN" altLang="en-US" cap="none" dirty="0"/>
              <a:t>类方法名后面的第</a:t>
            </a:r>
            <a:r>
              <a:rPr lang="en-US" altLang="zh-CN" cap="none" dirty="0"/>
              <a:t>1</a:t>
            </a:r>
            <a:r>
              <a:rPr lang="zh-CN" altLang="en-US" cap="none" dirty="0"/>
              <a:t>个参数一般是</a:t>
            </a:r>
            <a:r>
              <a:rPr lang="en-US" altLang="zh-CN" cap="none" dirty="0" err="1"/>
              <a:t>cls</a:t>
            </a:r>
            <a:endParaRPr lang="en-US" altLang="zh-CN" cap="none" dirty="0"/>
          </a:p>
          <a:p>
            <a:pPr lvl="1"/>
            <a:r>
              <a:rPr lang="zh-CN" altLang="zh-CN" cap="none" dirty="0"/>
              <a:t>类方法只能修改类属性，不能修改实例属性</a:t>
            </a:r>
            <a:endParaRPr lang="en-US" altLang="zh-CN" cap="none" dirty="0"/>
          </a:p>
          <a:p>
            <a:endParaRPr lang="zh-CN" altLang="en-US" sz="3200" cap="none" dirty="0"/>
          </a:p>
          <a:p>
            <a:endParaRPr lang="zh-CN" altLang="en-US" cap="none" dirty="0"/>
          </a:p>
        </p:txBody>
      </p:sp>
      <p:sp>
        <p:nvSpPr>
          <p:cNvPr id="9" name="TextBox 8"/>
          <p:cNvSpPr txBox="1"/>
          <p:nvPr/>
        </p:nvSpPr>
        <p:spPr>
          <a:xfrm>
            <a:off x="119336" y="6022205"/>
            <a:ext cx="51125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调用：</a:t>
            </a:r>
            <a:r>
              <a:rPr lang="en-US" altLang="zh-CN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 </a:t>
            </a:r>
            <a:r>
              <a:rPr lang="zh-CN" altLang="zh-CN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类名</a:t>
            </a:r>
            <a:r>
              <a:rPr lang="en-US" altLang="zh-CN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.</a:t>
            </a:r>
            <a:r>
              <a:rPr lang="zh-CN" altLang="zh-CN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类方法名</a:t>
            </a:r>
            <a:endParaRPr lang="en-US" altLang="zh-CN" sz="3000" b="1" cap="all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r>
              <a:rPr lang="en-US" altLang="zh-CN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       </a:t>
            </a:r>
            <a:r>
              <a:rPr lang="zh-CN" altLang="zh-CN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对象名</a:t>
            </a:r>
            <a:r>
              <a:rPr lang="en-US" altLang="zh-CN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.</a:t>
            </a:r>
            <a:r>
              <a:rPr lang="zh-CN" altLang="zh-CN" sz="3000" b="1" cap="all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类方法名</a:t>
            </a:r>
            <a:endParaRPr lang="zh-CN" altLang="en-US" sz="3000" b="1" cap="all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D96B066-7046-4F9A-BD4A-DC5AF355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6760869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11-5 </a:t>
            </a:r>
            <a:r>
              <a:rPr lang="zh-CN" altLang="zh-CN" dirty="0"/>
              <a:t>类方法的例子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cap="none" dirty="0"/>
              <a:t>class goods: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    __discount = 1        # </a:t>
            </a:r>
            <a:r>
              <a:rPr lang="zh-CN" altLang="zh-CN" cap="none" dirty="0"/>
              <a:t>私有的类属性</a:t>
            </a:r>
          </a:p>
          <a:p>
            <a:pPr marL="0" lvl="0" indent="0">
              <a:buNone/>
            </a:pPr>
            <a:r>
              <a:rPr lang="en-US" altLang="zh-CN" cap="none" dirty="0"/>
              <a:t> 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    def __</a:t>
            </a:r>
            <a:r>
              <a:rPr lang="en-US" altLang="zh-CN" cap="none" dirty="0" err="1"/>
              <a:t>init</a:t>
            </a:r>
            <a:r>
              <a:rPr lang="en-US" altLang="zh-CN" cap="none" dirty="0"/>
              <a:t>__(self, name, price):      # </a:t>
            </a:r>
            <a:r>
              <a:rPr lang="zh-CN" altLang="zh-CN" cap="none" dirty="0"/>
              <a:t>构造方法</a:t>
            </a:r>
          </a:p>
          <a:p>
            <a:pPr marL="0" lvl="0" indent="0">
              <a:buNone/>
            </a:pPr>
            <a:r>
              <a:rPr lang="en-US" altLang="zh-CN" cap="none" dirty="0"/>
              <a:t>        self.name = name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        </a:t>
            </a:r>
            <a:r>
              <a:rPr lang="en-US" altLang="zh-CN" cap="none" dirty="0" err="1"/>
              <a:t>self.price</a:t>
            </a:r>
            <a:r>
              <a:rPr lang="en-US" altLang="zh-CN" cap="none" dirty="0"/>
              <a:t> = price</a:t>
            </a:r>
            <a:endParaRPr lang="zh-CN" altLang="zh-CN" cap="none" dirty="0"/>
          </a:p>
          <a:p>
            <a:pPr marL="0" indent="0">
              <a:buNone/>
            </a:pPr>
            <a:endParaRPr lang="zh-CN" altLang="en-US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2423592" y="544522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5D3441-F768-46DE-8304-2F352CD1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接上一页（续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cap="none" dirty="0"/>
              <a:t>    @classmethod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    def </a:t>
            </a:r>
            <a:r>
              <a:rPr lang="en-US" altLang="zh-CN" cap="none" dirty="0" err="1"/>
              <a:t>change_discount</a:t>
            </a:r>
            <a:r>
              <a:rPr lang="en-US" altLang="zh-CN" cap="none" dirty="0"/>
              <a:t>(</a:t>
            </a:r>
            <a:r>
              <a:rPr lang="en-US" altLang="zh-CN" cap="none" dirty="0" err="1"/>
              <a:t>cls</a:t>
            </a:r>
            <a:r>
              <a:rPr lang="en-US" altLang="zh-CN" cap="none" dirty="0"/>
              <a:t>, </a:t>
            </a:r>
            <a:r>
              <a:rPr lang="en-US" altLang="zh-CN" cap="none" dirty="0" err="1"/>
              <a:t>new_discount</a:t>
            </a:r>
            <a:r>
              <a:rPr lang="en-US" altLang="zh-CN" cap="none" dirty="0"/>
              <a:t>):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        </a:t>
            </a:r>
            <a:r>
              <a:rPr lang="en-US" altLang="zh-CN" cap="none" dirty="0" err="1"/>
              <a:t>cls</a:t>
            </a:r>
            <a:r>
              <a:rPr lang="en-US" altLang="zh-CN" cap="none" dirty="0"/>
              <a:t>.__discount = </a:t>
            </a:r>
            <a:r>
              <a:rPr lang="en-US" altLang="zh-CN" cap="none" dirty="0" err="1"/>
              <a:t>new_discount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 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    @property      # property</a:t>
            </a:r>
            <a:r>
              <a:rPr lang="zh-CN" altLang="zh-CN" cap="none" dirty="0"/>
              <a:t>装饰器可以把方法当成属性使用</a:t>
            </a:r>
          </a:p>
          <a:p>
            <a:pPr marL="0" lvl="0" indent="0">
              <a:buNone/>
            </a:pPr>
            <a:r>
              <a:rPr lang="en-US" altLang="zh-CN" cap="none" dirty="0"/>
              <a:t>    def </a:t>
            </a:r>
            <a:r>
              <a:rPr lang="en-US" altLang="zh-CN" cap="none" dirty="0" err="1"/>
              <a:t>finally_price</a:t>
            </a:r>
            <a:r>
              <a:rPr lang="en-US" altLang="zh-CN" cap="none" dirty="0"/>
              <a:t>(self):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          return </a:t>
            </a:r>
            <a:r>
              <a:rPr lang="en-US" altLang="zh-CN" cap="none" dirty="0" err="1"/>
              <a:t>self.price</a:t>
            </a:r>
            <a:r>
              <a:rPr lang="en-US" altLang="zh-CN" cap="none" dirty="0"/>
              <a:t> * </a:t>
            </a:r>
            <a:r>
              <a:rPr lang="en-US" altLang="zh-CN" cap="none" dirty="0" err="1"/>
              <a:t>self.__discount</a:t>
            </a:r>
            <a:endParaRPr lang="zh-CN" altLang="en-US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2999656" y="5903694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下一页（续）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911424" y="1124744"/>
            <a:ext cx="7920880" cy="20882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线形标注 1 5"/>
          <p:cNvSpPr/>
          <p:nvPr/>
        </p:nvSpPr>
        <p:spPr>
          <a:xfrm>
            <a:off x="9480376" y="836712"/>
            <a:ext cx="1656184" cy="720080"/>
          </a:xfrm>
          <a:prstGeom prst="borderCallout1">
            <a:avLst>
              <a:gd name="adj1" fmla="val 43170"/>
              <a:gd name="adj2" fmla="val -901"/>
              <a:gd name="adj3" fmla="val 112500"/>
              <a:gd name="adj4" fmla="val -38333"/>
            </a:avLst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类方法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943AD4-0655-4DA8-9D9D-93DB79C4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接上一页（续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altLang="zh-CN" cap="none" dirty="0"/>
              <a:t>banana = goods('</a:t>
            </a:r>
            <a:r>
              <a:rPr lang="zh-CN" altLang="zh-CN" cap="none" dirty="0"/>
              <a:t>香蕉</a:t>
            </a:r>
            <a:r>
              <a:rPr lang="en-US" altLang="zh-CN" cap="none" dirty="0"/>
              <a:t>', 10)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apple = goods('</a:t>
            </a:r>
            <a:r>
              <a:rPr lang="zh-CN" altLang="zh-CN" cap="none" dirty="0"/>
              <a:t>苹果</a:t>
            </a:r>
            <a:r>
              <a:rPr lang="en-US" altLang="zh-CN" cap="none" dirty="0"/>
              <a:t>', 16)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 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 err="1"/>
              <a:t>goods.change_discount</a:t>
            </a:r>
            <a:r>
              <a:rPr lang="en-US" altLang="zh-CN" cap="none" dirty="0"/>
              <a:t>(0.8)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print(</a:t>
            </a:r>
            <a:r>
              <a:rPr lang="en-US" altLang="zh-CN" cap="none" dirty="0" err="1"/>
              <a:t>banana.finally_price</a:t>
            </a:r>
            <a:r>
              <a:rPr lang="en-US" altLang="zh-CN" cap="none" dirty="0"/>
              <a:t>)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print(</a:t>
            </a:r>
            <a:r>
              <a:rPr lang="en-US" altLang="zh-CN" cap="none" dirty="0" err="1"/>
              <a:t>apple.finally_price</a:t>
            </a:r>
            <a:r>
              <a:rPr lang="en-US" altLang="zh-CN" cap="none" dirty="0"/>
              <a:t>)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 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 err="1"/>
              <a:t>goods.change_discount</a:t>
            </a:r>
            <a:r>
              <a:rPr lang="en-US" altLang="zh-CN" cap="none" dirty="0"/>
              <a:t>(0.5)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print(</a:t>
            </a:r>
            <a:r>
              <a:rPr lang="en-US" altLang="zh-CN" cap="none" dirty="0" err="1"/>
              <a:t>banana.finally_price</a:t>
            </a:r>
            <a:r>
              <a:rPr lang="en-US" altLang="zh-CN" cap="none" dirty="0"/>
              <a:t>)</a:t>
            </a:r>
            <a:endParaRPr lang="zh-CN" altLang="zh-CN" cap="none" dirty="0"/>
          </a:p>
          <a:p>
            <a:pPr marL="0" lvl="0" indent="0">
              <a:buNone/>
            </a:pPr>
            <a:r>
              <a:rPr lang="en-US" altLang="zh-CN" cap="none" dirty="0"/>
              <a:t>print(</a:t>
            </a:r>
            <a:r>
              <a:rPr lang="en-US" altLang="zh-CN" cap="none" dirty="0" err="1"/>
              <a:t>apple.finally_price</a:t>
            </a:r>
            <a:r>
              <a:rPr lang="en-US" altLang="zh-CN" cap="none" dirty="0"/>
              <a:t>)</a:t>
            </a:r>
            <a:endParaRPr lang="zh-CN" altLang="zh-CN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7968208" y="2924944"/>
            <a:ext cx="2952328" cy="2246769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en-US" altLang="zh-CN" sz="2800" dirty="0"/>
              <a:t>8.0</a:t>
            </a:r>
            <a:endParaRPr lang="zh-CN" altLang="zh-CN" sz="2800" dirty="0"/>
          </a:p>
          <a:p>
            <a:r>
              <a:rPr lang="en-US" altLang="zh-CN" sz="2800" dirty="0"/>
              <a:t>12.8</a:t>
            </a:r>
            <a:endParaRPr lang="zh-CN" altLang="zh-CN" sz="2800" dirty="0"/>
          </a:p>
          <a:p>
            <a:r>
              <a:rPr lang="en-US" altLang="zh-CN" sz="2800" dirty="0"/>
              <a:t>5.0</a:t>
            </a:r>
            <a:endParaRPr lang="zh-CN" altLang="zh-CN" sz="2800" dirty="0"/>
          </a:p>
          <a:p>
            <a:r>
              <a:rPr lang="en-US" altLang="zh-CN" sz="2800" dirty="0"/>
              <a:t>8.0</a:t>
            </a:r>
            <a:endParaRPr lang="zh-CN" altLang="zh-CN" sz="28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665C0C-B834-4315-9973-9ECFE158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11.4.3 </a:t>
            </a:r>
            <a:r>
              <a:rPr lang="zh-CN" altLang="en-US" dirty="0"/>
              <a:t>静态方法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cap="none" dirty="0"/>
              <a:t>一般用于和类、对象都无关的代码</a:t>
            </a:r>
          </a:p>
          <a:p>
            <a:pPr marL="0" indent="0">
              <a:buNone/>
            </a:pPr>
            <a:r>
              <a:rPr lang="zh-CN" altLang="en-US" cap="none" dirty="0"/>
              <a:t>	（</a:t>
            </a:r>
            <a:r>
              <a:rPr lang="zh-CN" altLang="en-US" cap="none" dirty="0">
                <a:sym typeface="+mn-ea"/>
              </a:rPr>
              <a:t>跟普通函数的作用一样，只是位置出现在类中</a:t>
            </a:r>
            <a:r>
              <a:rPr lang="zh-CN" altLang="en-US" cap="none" dirty="0"/>
              <a:t>）</a:t>
            </a:r>
          </a:p>
          <a:p>
            <a:r>
              <a:rPr lang="zh-CN" altLang="en-US" cap="none" dirty="0"/>
              <a:t>定义形式：</a:t>
            </a:r>
          </a:p>
          <a:p>
            <a:pPr marL="457200" lvl="1" indent="0">
              <a:buNone/>
            </a:pPr>
            <a:r>
              <a:rPr lang="en-US" altLang="zh-CN" cap="none" dirty="0"/>
              <a:t>@staticmethod    # </a:t>
            </a:r>
            <a:r>
              <a:rPr lang="zh-CN" altLang="en-US" cap="none" dirty="0"/>
              <a:t>本行是</a:t>
            </a:r>
            <a:r>
              <a:rPr lang="zh-CN" altLang="en-US" sz="3200" cap="none" dirty="0"/>
              <a:t>静态方法的</a:t>
            </a:r>
            <a:r>
              <a:rPr lang="zh-CN" altLang="en-US" sz="3200" cap="none" dirty="0">
                <a:solidFill>
                  <a:schemeClr val="tx1"/>
                </a:solidFill>
              </a:rPr>
              <a:t>标志</a:t>
            </a:r>
            <a:endParaRPr lang="zh-CN" altLang="en-US" cap="none" dirty="0"/>
          </a:p>
          <a:p>
            <a:pPr marL="457200" lvl="1" indent="0">
              <a:buNone/>
            </a:pPr>
            <a:r>
              <a:rPr lang="en-US" altLang="zh-CN" cap="none" dirty="0"/>
              <a:t>def </a:t>
            </a:r>
            <a:r>
              <a:rPr lang="zh-CN" altLang="en-US" cap="none" dirty="0"/>
              <a:t>静态方法名</a:t>
            </a:r>
            <a:r>
              <a:rPr lang="en-US" altLang="zh-CN" cap="none" dirty="0"/>
              <a:t>([</a:t>
            </a:r>
            <a:r>
              <a:rPr lang="zh-CN" altLang="en-US" cap="none" dirty="0"/>
              <a:t>形参列表</a:t>
            </a:r>
            <a:r>
              <a:rPr lang="en-US" altLang="zh-CN" cap="none" dirty="0"/>
              <a:t>])</a:t>
            </a:r>
          </a:p>
          <a:p>
            <a:pPr marL="457200" lvl="1" indent="0">
              <a:buNone/>
            </a:pPr>
            <a:r>
              <a:rPr lang="en-US" altLang="zh-CN" cap="none" dirty="0"/>
              <a:t>    </a:t>
            </a:r>
            <a:r>
              <a:rPr lang="zh-CN" altLang="en-US" cap="none" dirty="0"/>
              <a:t>函数体</a:t>
            </a:r>
          </a:p>
          <a:p>
            <a:pPr marL="457200" lvl="1" indent="0">
              <a:buNone/>
            </a:pPr>
            <a:endParaRPr lang="zh-CN" altLang="en-US" cap="none" dirty="0"/>
          </a:p>
          <a:p>
            <a:pPr marL="457200" lvl="1" indent="0">
              <a:buNone/>
            </a:pPr>
            <a:r>
              <a:rPr lang="zh-CN" altLang="en-US" cap="none" dirty="0"/>
              <a:t>说明：静态方法</a:t>
            </a:r>
            <a:r>
              <a:rPr lang="zh-CN" altLang="en-US" sz="3200" cap="none" dirty="0"/>
              <a:t>对参数没有任何要求</a:t>
            </a:r>
          </a:p>
          <a:p>
            <a:pPr marL="457200" lvl="1" indent="0">
              <a:buNone/>
            </a:pPr>
            <a:endParaRPr lang="zh-CN" altLang="en-US" cap="none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CEB381B-9AFE-4927-B9C3-95A77F01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例</a:t>
            </a:r>
            <a:r>
              <a:rPr lang="en-US" altLang="zh-CN"/>
              <a:t>11-6 静态方法的例子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cap="none" dirty="0"/>
              <a:t>class game:</a:t>
            </a:r>
          </a:p>
          <a:p>
            <a:pPr marL="0" indent="0">
              <a:buNone/>
            </a:pPr>
            <a:r>
              <a:rPr lang="zh-CN" altLang="en-US" cap="none" dirty="0"/>
              <a:t>    @staticmethod</a:t>
            </a:r>
          </a:p>
          <a:p>
            <a:pPr marL="0" indent="0">
              <a:buNone/>
            </a:pPr>
            <a:r>
              <a:rPr lang="zh-CN" altLang="en-US" cap="none" dirty="0"/>
              <a:t>    def menu(): </a:t>
            </a:r>
          </a:p>
          <a:p>
            <a:pPr marL="0" indent="0">
              <a:buNone/>
            </a:pPr>
            <a:r>
              <a:rPr lang="zh-CN" altLang="en-US" cap="none" dirty="0"/>
              <a:t>        print('------')</a:t>
            </a:r>
          </a:p>
          <a:p>
            <a:pPr marL="0" indent="0">
              <a:buNone/>
            </a:pPr>
            <a:r>
              <a:rPr lang="zh-CN" altLang="en-US" cap="none" dirty="0"/>
              <a:t>        print('开始[1]')</a:t>
            </a:r>
          </a:p>
          <a:p>
            <a:pPr marL="0" indent="0">
              <a:buNone/>
            </a:pPr>
            <a:r>
              <a:rPr lang="zh-CN" altLang="en-US" cap="none" dirty="0"/>
              <a:t>        print('暂停[2]')</a:t>
            </a:r>
          </a:p>
          <a:p>
            <a:pPr marL="0" indent="0">
              <a:buNone/>
            </a:pPr>
            <a:r>
              <a:rPr lang="zh-CN" altLang="en-US" cap="none" dirty="0"/>
              <a:t>        print('退出[3]')</a:t>
            </a:r>
          </a:p>
          <a:p>
            <a:pPr marL="0" indent="0">
              <a:buNone/>
            </a:pPr>
            <a:r>
              <a:rPr lang="zh-CN" altLang="en-US" cap="none" dirty="0"/>
              <a:t>game.menu()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23260" y="1902766"/>
            <a:ext cx="4464627" cy="34704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5447665" y="1412240"/>
            <a:ext cx="3667760" cy="1579245"/>
          </a:xfrm>
          <a:prstGeom prst="borderCallout1">
            <a:avLst>
              <a:gd name="adj1" fmla="val 33775"/>
              <a:gd name="adj2" fmla="val -121"/>
              <a:gd name="adj3" fmla="val 99477"/>
              <a:gd name="adj4" fmla="val -2666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静态方法，与类和对象都无关</a:t>
            </a:r>
          </a:p>
          <a:p>
            <a:pPr algn="ctr"/>
            <a:r>
              <a:rPr lang="zh-CN" altLang="en-US" sz="2800" b="1" dirty="0"/>
              <a:t>只是为了显示菜单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1118" y="5300945"/>
            <a:ext cx="2807970" cy="6483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线形标注 1 6"/>
          <p:cNvSpPr/>
          <p:nvPr/>
        </p:nvSpPr>
        <p:spPr>
          <a:xfrm>
            <a:off x="5376227" y="4871064"/>
            <a:ext cx="4464627" cy="1748790"/>
          </a:xfrm>
          <a:prstGeom prst="borderCallout1">
            <a:avLst>
              <a:gd name="adj1" fmla="val 64887"/>
              <a:gd name="adj2" fmla="val 399"/>
              <a:gd name="adj3" fmla="val 47560"/>
              <a:gd name="adj4" fmla="val -634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调用静态方法：</a:t>
            </a:r>
          </a:p>
          <a:p>
            <a:pPr algn="ctr"/>
            <a:r>
              <a:rPr lang="zh-CN" altLang="en-US" sz="2800" b="1" dirty="0"/>
              <a:t>可以用</a:t>
            </a:r>
            <a:r>
              <a:rPr lang="en-US" altLang="zh-CN" sz="2800" b="1" dirty="0"/>
              <a:t>“</a:t>
            </a:r>
            <a:r>
              <a:rPr lang="zh-CN" altLang="en-US" sz="2800" b="1" dirty="0"/>
              <a:t>类名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方法名</a:t>
            </a:r>
            <a:r>
              <a:rPr lang="en-US" altLang="zh-CN" sz="2800" b="1" dirty="0"/>
              <a:t>”</a:t>
            </a:r>
            <a:endParaRPr lang="zh-CN" altLang="en-US" sz="2800" b="1" dirty="0"/>
          </a:p>
          <a:p>
            <a:pPr algn="ctr"/>
            <a:r>
              <a:rPr lang="zh-CN" altLang="en-US" sz="2800" b="1" dirty="0"/>
              <a:t>也可以用</a:t>
            </a:r>
            <a:r>
              <a:rPr lang="en-US" altLang="zh-CN" sz="2800" b="1" dirty="0"/>
              <a:t>“</a:t>
            </a:r>
            <a:r>
              <a:rPr lang="zh-CN" altLang="en-US" sz="2800" b="1" dirty="0"/>
              <a:t>对象名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方法名</a:t>
            </a:r>
            <a:r>
              <a:rPr lang="en-US" altLang="zh-CN" sz="2800" b="1" dirty="0"/>
              <a:t>”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605BE68-8B66-49ED-9202-BA57F697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10.5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继承和多态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CA1957-4DE2-464D-89CB-162097BE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11.5.1 </a:t>
            </a:r>
            <a:r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一个继承的例子：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学生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	</a:t>
            </a:r>
            <a:r>
              <a:rPr lang="zh-CN" altLang="en-US" dirty="0">
                <a:sym typeface="Wingdings" panose="05000000000000000000" pitchFamily="2" charset="2"/>
              </a:rPr>
              <a:t>本科生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	</a:t>
            </a:r>
            <a:r>
              <a:rPr lang="zh-CN" altLang="en-US" dirty="0">
                <a:sym typeface="Wingdings" panose="05000000000000000000" pitchFamily="2" charset="2"/>
              </a:rPr>
              <a:t>研究生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	</a:t>
            </a:r>
            <a:r>
              <a:rPr lang="zh-CN" altLang="en-US" dirty="0">
                <a:sym typeface="Wingdings" panose="05000000000000000000" pitchFamily="2" charset="2"/>
              </a:rPr>
              <a:t>博士生</a:t>
            </a:r>
            <a:endParaRPr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6C7A32-8B58-42BD-B719-37A28D94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11.5.1 </a:t>
            </a:r>
            <a:r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子类可以直接使用父类的所有公有属性和方法</a:t>
            </a:r>
          </a:p>
          <a:p>
            <a:r>
              <a:rPr dirty="0"/>
              <a:t>类之间关系：</a:t>
            </a:r>
          </a:p>
          <a:p>
            <a:pPr lvl="1"/>
            <a:r>
              <a:rPr dirty="0"/>
              <a:t>被继承者：称为父类、基类、超类</a:t>
            </a:r>
          </a:p>
          <a:p>
            <a:pPr lvl="1"/>
            <a:r>
              <a:rPr dirty="0"/>
              <a:t>继承者：称为子类、派生类</a:t>
            </a:r>
          </a:p>
          <a:p>
            <a:r>
              <a:rPr dirty="0"/>
              <a:t>定义子类的形式：</a:t>
            </a:r>
          </a:p>
          <a:p>
            <a:pPr marL="457200" lvl="1" indent="0">
              <a:buNone/>
            </a:pPr>
            <a:r>
              <a:rPr dirty="0"/>
              <a:t>class 子类名(父类1 [, 父类2, ...])</a:t>
            </a:r>
          </a:p>
          <a:p>
            <a:pPr marL="457200" lvl="1" indent="0">
              <a:buNone/>
            </a:pPr>
            <a:r>
              <a:rPr dirty="0"/>
              <a:t>    类体</a:t>
            </a:r>
            <a:endParaRPr lang="en-US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注意：父类可以有一个，也可以有多个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3200" dirty="0"/>
              <a:t>      </a:t>
            </a:r>
            <a:r>
              <a:rPr lang="zh-CN" altLang="en-US" sz="3200" dirty="0"/>
              <a:t>多个父类：多重继承</a:t>
            </a:r>
          </a:p>
          <a:p>
            <a:pPr marL="457200" lvl="1" indent="0">
              <a:buNone/>
            </a:pPr>
            <a:endParaRPr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6C7A32-8B58-42BD-B719-37A28D94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1356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11-7 创建父类Person，派生出子类Man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cap="none" dirty="0"/>
              <a:t>class person:        # 父类，又叫基类</a:t>
            </a:r>
          </a:p>
          <a:p>
            <a:pPr marL="0" indent="0">
              <a:buNone/>
            </a:pPr>
            <a:r>
              <a:rPr lang="zh-CN" altLang="en-US" cap="none" dirty="0"/>
              <a:t>    def __init__(self, name, age):    # 构造方法</a:t>
            </a:r>
          </a:p>
          <a:p>
            <a:pPr marL="0" indent="0">
              <a:buNone/>
            </a:pPr>
            <a:r>
              <a:rPr lang="zh-CN" altLang="en-US" cap="none" dirty="0"/>
              <a:t>        self.name = name</a:t>
            </a:r>
          </a:p>
          <a:p>
            <a:pPr marL="0" indent="0">
              <a:buNone/>
            </a:pPr>
            <a:r>
              <a:rPr lang="zh-CN" altLang="en-US" cap="none" dirty="0"/>
              <a:t>        self.age = age</a:t>
            </a:r>
          </a:p>
          <a:p>
            <a:pPr marL="0" indent="0">
              <a:buNone/>
            </a:pPr>
            <a:r>
              <a:rPr lang="zh-CN" altLang="en-US" cap="none" dirty="0"/>
              <a:t>    def print_age(self):          # 父类的实例方法</a:t>
            </a:r>
          </a:p>
          <a:p>
            <a:pPr marL="0" indent="0">
              <a:buNone/>
            </a:pPr>
            <a:r>
              <a:rPr lang="zh-CN" altLang="en-US" cap="none" dirty="0"/>
              <a:t>        print("%s's age is %s" % (self.name, self.age))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78225" y="5620385"/>
            <a:ext cx="2532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C2CC01-C578-40B9-9A1A-9374DED4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cap="none" dirty="0"/>
              <a:t>class man(person):      # 子类，也叫派生类</a:t>
            </a:r>
          </a:p>
          <a:p>
            <a:pPr marL="0" indent="0">
              <a:buNone/>
            </a:pPr>
            <a:r>
              <a:rPr lang="zh-CN" altLang="en-US" sz="2800" cap="none" dirty="0"/>
              <a:t>    work = "teacher"</a:t>
            </a:r>
          </a:p>
          <a:p>
            <a:pPr marL="0" indent="0">
              <a:buNone/>
            </a:pPr>
            <a:r>
              <a:rPr lang="zh-CN" altLang="en-US" sz="2800" cap="none" dirty="0"/>
              <a:t>    def print_age(self): # 父类、子类同名的实例方法</a:t>
            </a:r>
          </a:p>
          <a:p>
            <a:pPr marL="0" indent="0">
              <a:buNone/>
            </a:pPr>
            <a:r>
              <a:rPr lang="zh-CN" altLang="en-US" sz="2800" cap="none" dirty="0"/>
              <a:t>        print("mr. %s's age is %s" %(self.name, self.age))</a:t>
            </a:r>
            <a:endParaRPr lang="en-US" altLang="zh-CN" sz="2800" cap="none" dirty="0"/>
          </a:p>
          <a:p>
            <a:pPr marL="0" indent="0">
              <a:buNone/>
            </a:pPr>
            <a:r>
              <a:rPr lang="en-US" altLang="zh-CN" sz="2800" cap="none" dirty="0"/>
              <a:t>			     # name</a:t>
            </a:r>
            <a:r>
              <a:rPr lang="zh-CN" altLang="en-US" sz="2800" cap="none" dirty="0"/>
              <a:t>和</a:t>
            </a:r>
            <a:r>
              <a:rPr lang="en-US" altLang="zh-CN" sz="2800" cap="none" dirty="0"/>
              <a:t>age</a:t>
            </a:r>
            <a:r>
              <a:rPr lang="zh-CN" altLang="en-US" sz="2800" cap="none" dirty="0"/>
              <a:t>是</a:t>
            </a:r>
            <a:r>
              <a:rPr lang="en-US" altLang="zh-CN" sz="2800" cap="none" dirty="0"/>
              <a:t>man</a:t>
            </a:r>
            <a:r>
              <a:rPr lang="zh-CN" altLang="en-US" sz="2800" cap="none" dirty="0"/>
              <a:t>中没有的属性，来自父类</a:t>
            </a:r>
          </a:p>
          <a:p>
            <a:pPr marL="0" indent="0">
              <a:buNone/>
            </a:pPr>
            <a:r>
              <a:rPr lang="zh-CN" altLang="en-US" sz="2800" cap="none" dirty="0"/>
              <a:t>    def print_work(self): # 子类扩展出来的实例方法</a:t>
            </a:r>
          </a:p>
          <a:p>
            <a:pPr marL="0" indent="0">
              <a:buNone/>
            </a:pPr>
            <a:r>
              <a:rPr lang="zh-CN" altLang="en-US" sz="2800" cap="none" dirty="0"/>
              <a:t>        print("mr. %s's work is %s" %(self.name, self.work))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35350" y="5620385"/>
            <a:ext cx="2804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48244A-490B-4788-A530-E65B4FCA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接下一页（续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cap="none" dirty="0"/>
              <a:t>bob = man('bob', 33)</a:t>
            </a:r>
          </a:p>
          <a:p>
            <a:pPr marL="0" indent="0">
              <a:buNone/>
            </a:pPr>
            <a:r>
              <a:rPr lang="zh-CN" altLang="en-US" cap="none" dirty="0"/>
              <a:t>bob.print_age()</a:t>
            </a:r>
          </a:p>
          <a:p>
            <a:pPr marL="0" indent="0">
              <a:buNone/>
            </a:pPr>
            <a:r>
              <a:rPr lang="zh-CN" altLang="en-US" cap="none" dirty="0"/>
              <a:t>bob.print_work()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77235" y="4052570"/>
            <a:ext cx="5442585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zh-CN" altLang="en-US" sz="2800" dirty="0"/>
              <a:t>mr. bob's age is 33</a:t>
            </a:r>
          </a:p>
          <a:p>
            <a:r>
              <a:rPr lang="zh-CN" altLang="en-US" sz="2800" dirty="0"/>
              <a:t>mr. bob's work is teacher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7C27E4-1C02-48F7-94E9-06BFD70D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11.5.2 </a:t>
            </a:r>
            <a:r>
              <a:t>多态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多态的一种体现：不同的类中，具有同名的方法</a:t>
            </a:r>
          </a:p>
          <a:p>
            <a:endParaRPr lang="zh-CN" altLang="en-US"/>
          </a:p>
          <a:p>
            <a:r>
              <a:rPr lang="zh-CN" altLang="en-US"/>
              <a:t>另外方面的多态体现：Python本身就是一种多态语言，在很多地方都体现了多态性</a:t>
            </a:r>
          </a:p>
          <a:p>
            <a:pPr lvl="1"/>
            <a:r>
              <a:rPr lang="zh-CN" altLang="en-US"/>
              <a:t>变量无需指明类型，运行时自动确定变量的类型</a:t>
            </a:r>
          </a:p>
          <a:p>
            <a:pPr lvl="1"/>
            <a:r>
              <a:rPr lang="zh-CN" altLang="en-US"/>
              <a:t>len()函数在运行时通过参数类型确定具体的计算过程</a:t>
            </a:r>
          </a:p>
          <a:p>
            <a:pPr lvl="1"/>
            <a:r>
              <a:rPr lang="en-US" altLang="zh-CN"/>
              <a:t>......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7AEEE2-1AC4-45EA-B270-1EA92068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200150"/>
          </a:xfrm>
        </p:spPr>
        <p:txBody>
          <a:bodyPr>
            <a:normAutofit fontScale="90000"/>
          </a:bodyPr>
          <a:lstStyle/>
          <a:p>
            <a:r>
              <a:t>例</a:t>
            </a:r>
            <a:r>
              <a:rPr lang="en-US" altLang="zh-CN"/>
              <a:t>11-8 定义三个类Circle、Square和Rectangle，它们都有求面积的Area()方法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642745"/>
            <a:ext cx="10852150" cy="46983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cap="none" dirty="0"/>
              <a:t>import math</a:t>
            </a:r>
          </a:p>
          <a:p>
            <a:pPr marL="0" indent="0">
              <a:buNone/>
            </a:pPr>
            <a:r>
              <a:rPr lang="zh-CN" altLang="en-US" cap="none" dirty="0"/>
              <a:t>class circle:</a:t>
            </a:r>
          </a:p>
          <a:p>
            <a:pPr marL="0" indent="0">
              <a:buNone/>
            </a:pPr>
            <a:r>
              <a:rPr lang="zh-CN" altLang="en-US" cap="none" dirty="0"/>
              <a:t>    def __init__(self, r):</a:t>
            </a:r>
          </a:p>
          <a:p>
            <a:pPr marL="0" indent="0">
              <a:buNone/>
            </a:pPr>
            <a:r>
              <a:rPr lang="zh-CN" altLang="en-US" cap="none" dirty="0"/>
              <a:t>        self.r = r</a:t>
            </a:r>
          </a:p>
          <a:p>
            <a:pPr marL="0" indent="0">
              <a:buNone/>
            </a:pPr>
            <a:r>
              <a:rPr lang="zh-CN" altLang="en-US" cap="none" dirty="0"/>
              <a:t>    def area(self):       # 求圆面积</a:t>
            </a:r>
          </a:p>
          <a:p>
            <a:pPr marL="0" indent="0">
              <a:buNone/>
            </a:pPr>
            <a:r>
              <a:rPr lang="zh-CN" altLang="en-US" cap="none" dirty="0"/>
              <a:t>        area = math.pi * self.r ** 2</a:t>
            </a:r>
          </a:p>
          <a:p>
            <a:pPr marL="0" indent="0">
              <a:buNone/>
            </a:pPr>
            <a:r>
              <a:rPr lang="zh-CN" altLang="en-US" cap="none" dirty="0"/>
              <a:t>        return area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11240" y="5819140"/>
            <a:ext cx="3006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7822C9-63B5-4CC1-8618-ABA908E0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cap="none" dirty="0"/>
              <a:t>class square:</a:t>
            </a:r>
          </a:p>
          <a:p>
            <a:pPr marL="0" indent="0">
              <a:buNone/>
            </a:pPr>
            <a:r>
              <a:rPr lang="zh-CN" altLang="en-US" cap="none" dirty="0"/>
              <a:t>    def __init__(self, size):</a:t>
            </a:r>
          </a:p>
          <a:p>
            <a:pPr marL="0" indent="0">
              <a:buNone/>
            </a:pPr>
            <a:r>
              <a:rPr lang="zh-CN" altLang="en-US" cap="none" dirty="0"/>
              <a:t>        self.size = size</a:t>
            </a:r>
          </a:p>
          <a:p>
            <a:pPr marL="0" indent="0">
              <a:buNone/>
            </a:pPr>
            <a:r>
              <a:rPr lang="zh-CN" altLang="en-US" cap="none" dirty="0"/>
              <a:t>    def area(self):       # 求正方形面积</a:t>
            </a:r>
          </a:p>
          <a:p>
            <a:pPr marL="0" indent="0">
              <a:buNone/>
            </a:pPr>
            <a:r>
              <a:rPr lang="zh-CN" altLang="en-US" cap="none" dirty="0"/>
              <a:t>        area = self.size * self.size</a:t>
            </a:r>
          </a:p>
          <a:p>
            <a:pPr marL="0" indent="0">
              <a:buNone/>
            </a:pPr>
            <a:r>
              <a:rPr lang="zh-CN" altLang="en-US" cap="none" dirty="0"/>
              <a:t>        return area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80560" y="5494020"/>
            <a:ext cx="2983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DF3EBF-CAEA-46A9-B3A2-BC638A37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cap="none" dirty="0"/>
              <a:t>class rectangle:</a:t>
            </a:r>
          </a:p>
          <a:p>
            <a:pPr marL="0" indent="0">
              <a:buNone/>
            </a:pPr>
            <a:r>
              <a:rPr lang="zh-CN" altLang="en-US" cap="none" dirty="0"/>
              <a:t>    def __init__(self, a, b):</a:t>
            </a:r>
          </a:p>
          <a:p>
            <a:pPr marL="0" indent="0">
              <a:buNone/>
            </a:pPr>
            <a:r>
              <a:rPr lang="zh-CN" altLang="en-US" cap="none" dirty="0"/>
              <a:t>        self.a = a</a:t>
            </a:r>
          </a:p>
          <a:p>
            <a:pPr marL="0" indent="0">
              <a:buNone/>
            </a:pPr>
            <a:r>
              <a:rPr lang="zh-CN" altLang="en-US" cap="none" dirty="0"/>
              <a:t>        self.b = b</a:t>
            </a:r>
          </a:p>
          <a:p>
            <a:pPr marL="0" indent="0">
              <a:buNone/>
            </a:pPr>
            <a:r>
              <a:rPr lang="zh-CN" altLang="en-US" cap="none" dirty="0"/>
              <a:t>    def area(self):       # 求矩形面积</a:t>
            </a:r>
          </a:p>
          <a:p>
            <a:pPr marL="0" indent="0">
              <a:buNone/>
            </a:pPr>
            <a:r>
              <a:rPr lang="zh-CN" altLang="en-US" cap="none" dirty="0"/>
              <a:t>        area = self.a * self.b</a:t>
            </a:r>
          </a:p>
          <a:p>
            <a:pPr marL="0" indent="0">
              <a:buNone/>
            </a:pPr>
            <a:r>
              <a:rPr lang="zh-CN" altLang="en-US" cap="none" dirty="0"/>
              <a:t>        return area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66030" y="5633085"/>
            <a:ext cx="29737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991C59-2B82-43D5-A96C-AB3BCB3B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</a:t>
            </a:r>
            <a:r>
              <a:rPr lang="en-US" altLang="zh-CN"/>
              <a:t>3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cap="none" dirty="0"/>
              <a:t>a = circle(5)</a:t>
            </a:r>
          </a:p>
          <a:p>
            <a:pPr marL="0" indent="0">
              <a:buNone/>
            </a:pPr>
            <a:r>
              <a:rPr lang="zh-CN" altLang="en-US" cap="none" dirty="0"/>
              <a:t>print(a.area())</a:t>
            </a:r>
          </a:p>
          <a:p>
            <a:pPr marL="0" indent="0">
              <a:buNone/>
            </a:pPr>
            <a:r>
              <a:rPr lang="zh-CN" altLang="en-US" cap="none" dirty="0"/>
              <a:t>b = square(5)</a:t>
            </a:r>
          </a:p>
          <a:p>
            <a:pPr marL="0" indent="0">
              <a:buNone/>
            </a:pPr>
            <a:r>
              <a:rPr lang="zh-CN" altLang="en-US" cap="none" dirty="0"/>
              <a:t>print(b.area())</a:t>
            </a:r>
          </a:p>
          <a:p>
            <a:pPr marL="0" indent="0">
              <a:buNone/>
            </a:pPr>
            <a:r>
              <a:rPr lang="zh-CN" altLang="en-US" cap="none" dirty="0"/>
              <a:t>c = rectangle(2, 3)</a:t>
            </a:r>
          </a:p>
          <a:p>
            <a:pPr marL="0" indent="0">
              <a:buNone/>
            </a:pPr>
            <a:r>
              <a:rPr lang="zh-CN" altLang="en-US" cap="none" dirty="0"/>
              <a:t>print(c.area())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28460" y="2545715"/>
            <a:ext cx="38608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zh-CN" altLang="en-US" sz="2800" dirty="0"/>
              <a:t>78.53981633974483</a:t>
            </a:r>
          </a:p>
          <a:p>
            <a:r>
              <a:rPr lang="zh-CN" altLang="en-US" sz="2800" dirty="0"/>
              <a:t>25</a:t>
            </a:r>
          </a:p>
          <a:p>
            <a:r>
              <a:rPr lang="zh-CN" altLang="en-US" sz="2800" dirty="0"/>
              <a:t>6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5D1A60-8305-4ECA-93B2-4572A05F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10.6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重载</a:t>
            </a:r>
            <a:r>
              <a:rPr lang="en-US" altLang="zh-CN" kern="1200" dirty="0">
                <a:latin typeface="+mj-lt"/>
                <a:ea typeface="+mj-ea"/>
                <a:cs typeface="+mj-cs"/>
              </a:rPr>
              <a:t>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E0A621-9588-4454-8112-2074BD98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什么是重载？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其他OOP语言，例如C++、Java等，一般都包括了方法重载和运算符重载</a:t>
            </a:r>
          </a:p>
          <a:p>
            <a:pPr lvl="1"/>
            <a:r>
              <a:rPr lang="zh-CN" altLang="en-US"/>
              <a:t>方法重载：函数名相同，但是参数的类型或数量不同</a:t>
            </a:r>
          </a:p>
          <a:p>
            <a:pPr lvl="1"/>
            <a:r>
              <a:rPr lang="zh-CN" altLang="en-US"/>
              <a:t>运算符重载：</a:t>
            </a:r>
            <a:r>
              <a:rPr>
                <a:sym typeface="+mn-ea"/>
              </a:rPr>
              <a:t>同一个运算符在不同场景下有不同的处理方式</a:t>
            </a:r>
            <a:endParaRPr lang="zh-CN" altLang="en-US">
              <a:sym typeface="+mn-ea"/>
            </a:endParaRPr>
          </a:p>
          <a:p>
            <a:pPr lvl="2"/>
            <a:r>
              <a:rPr lang="zh-CN" altLang="en-US"/>
              <a:t>例如“+”，可以做加法，可以做字符串或列表连接</a:t>
            </a:r>
          </a:p>
          <a:p>
            <a:r>
              <a:rPr lang="zh-CN" altLang="en-US"/>
              <a:t>Python不支持方法重载，只有运算符重载</a:t>
            </a:r>
          </a:p>
          <a:p>
            <a:pPr lvl="1"/>
            <a:r>
              <a:rPr lang="en-US" altLang="zh-CN"/>
              <a:t>Python</a:t>
            </a:r>
            <a:r>
              <a:t>无需方法重载，本身就支持不定长参数和自动数据类型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41BC84-C766-4583-B0D0-8895FB32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Python</a:t>
            </a:r>
            <a:r>
              <a:t>在运算符重载方面的限制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不能重载内置类型的运算符</a:t>
            </a:r>
          </a:p>
          <a:p>
            <a:r>
              <a:rPr lang="zh-CN" altLang="en-US"/>
              <a:t>不能新建运算符，只能重载现有运算符</a:t>
            </a:r>
          </a:p>
          <a:p>
            <a:r>
              <a:rPr lang="zh-CN" altLang="en-US"/>
              <a:t>某些运算符不能重载，如is、and、or和not</a:t>
            </a:r>
          </a:p>
          <a:p>
            <a:endParaRPr lang="zh-CN" altLang="en-US"/>
          </a:p>
          <a:p>
            <a:pPr marL="0" indent="0">
              <a:buNone/>
            </a:pPr>
            <a:r>
              <a:rPr lang="en-US" altLang="zh-CN"/>
              <a:t>	</a:t>
            </a:r>
            <a:r>
              <a:rPr lang="zh-CN" altLang="en-US"/>
              <a:t>Python的运算符实际上是通过</a:t>
            </a:r>
            <a:r>
              <a:rPr lang="zh-CN" altLang="en-US">
                <a:solidFill>
                  <a:srgbClr val="FF0000"/>
                </a:solidFill>
              </a:rPr>
              <a:t>调用对象的特殊方法</a:t>
            </a:r>
            <a:r>
              <a:rPr lang="zh-CN" altLang="en-US"/>
              <a:t>实现的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8198C3-C183-4EF5-BB7D-E08544C3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常见运算符与对应的特殊方法（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411605" y="1560830"/>
          <a:ext cx="8957945" cy="3006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4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类型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运算符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特殊方法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含义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7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一元运算符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__neg__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负号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3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__pos__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正号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~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__invert__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对整数按位取反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43AEA5E-7B26-442F-B981-F57AA27E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ym typeface="+mn-ea"/>
              </a:rPr>
              <a:t>常见运算符与对应的特殊方法（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）</a:t>
            </a:r>
            <a:br>
              <a:rPr lang="zh-CN" altLang="en-US"/>
            </a:b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382395" y="1263650"/>
          <a:ext cx="9568180" cy="410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0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8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3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类型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运算符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特殊方法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含义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080">
                <a:tc rowSpan="7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中缀运算符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__add__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加法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__sub__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减法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*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__mul__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乘法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__truediv__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除法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//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__floordiv__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整除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%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__mod__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取模（求余）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**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__pow__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幂运算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71FD5B1-19B1-4711-8984-1F960E14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ym typeface="+mn-ea"/>
              </a:rPr>
              <a:t>常见运算符与对应的特殊方法（</a:t>
            </a:r>
            <a:r>
              <a:rPr lang="en-US" altLang="zh-CN">
                <a:sym typeface="+mn-ea"/>
              </a:rPr>
              <a:t>3</a:t>
            </a:r>
            <a:r>
              <a:rPr>
                <a:sym typeface="+mn-ea"/>
              </a:rPr>
              <a:t>）</a:t>
            </a:r>
            <a:br>
              <a:rPr lang="zh-CN" altLang="en-US"/>
            </a:b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213485" y="1377315"/>
          <a:ext cx="9793605" cy="39071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2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1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类型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运算符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特殊方法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含义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 rowSpan="7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复合赋值算术运算符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__iadd__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加法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__isub__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减法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*=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__imul__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乘法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1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__itruediv__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除法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//=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__ifloordiv__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整除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0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%=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__imod__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取模（求余）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**=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__ipow__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幂运算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6449DD5-BEF9-4CAE-AD1A-14075506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ym typeface="+mn-ea"/>
              </a:rPr>
              <a:t>常见运算符与对应的特殊方法（</a:t>
            </a:r>
            <a:r>
              <a:rPr lang="en-US" altLang="zh-CN">
                <a:sym typeface="+mn-ea"/>
              </a:rPr>
              <a:t>4</a:t>
            </a:r>
            <a:r>
              <a:rPr>
                <a:sym typeface="+mn-ea"/>
              </a:rPr>
              <a:t>）</a:t>
            </a:r>
            <a:br>
              <a:rPr lang="zh-CN" altLang="en-US"/>
            </a:b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551305" y="1433830"/>
          <a:ext cx="9356725" cy="409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8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4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类型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运算符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特殊方法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含义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比较运算符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__lt__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小于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__le__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小于等于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__gt__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大于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__ge__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大于等于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__eq__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等于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!=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__ne__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不等于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479E138-3919-45D6-8DD1-3A1A0BA8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ym typeface="+mn-ea"/>
              </a:rPr>
              <a:t>常见运算符与对应的特殊方法（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）</a:t>
            </a:r>
            <a:br>
              <a:rPr lang="zh-CN" altLang="en-US"/>
            </a:b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537335" y="1490980"/>
          <a:ext cx="9285605" cy="3280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9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类型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运算符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特殊方法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含义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735">
                <a:tc row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位运算符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&amp;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__and__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位与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|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__or__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位或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7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^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__xor__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位异或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7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&lt;&lt;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__lshift__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左移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7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&gt;&gt;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__rshift__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右移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E9C9F2-7D27-4398-B939-9F9DA334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ym typeface="+mn-ea"/>
              </a:rPr>
              <a:t>常见运算符与对应的特殊方法（</a:t>
            </a:r>
            <a:r>
              <a:rPr lang="en-US" altLang="zh-CN">
                <a:sym typeface="+mn-ea"/>
              </a:rPr>
              <a:t>6</a:t>
            </a:r>
            <a:r>
              <a:rPr>
                <a:sym typeface="+mn-ea"/>
              </a:rPr>
              <a:t>）</a:t>
            </a:r>
            <a:br>
              <a:rPr lang="zh-CN" altLang="en-US"/>
            </a:b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423035" y="1718310"/>
          <a:ext cx="9144635" cy="3421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0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类型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运算符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特殊方法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含义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230">
                <a:tc row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复合赋值位运算符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&amp;=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__iand__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位与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2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|=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__ior__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位或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2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^=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__ixor__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位异或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2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&lt;&lt;=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__ilshift__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左移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2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&gt;&gt;=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__irshift__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右移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736DBB-4F83-4469-9A1A-C29A3FEE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06235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11-9 设计一个新的数值类型，有自己的表示形式，并重载运算符+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630045"/>
            <a:ext cx="10852150" cy="47110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cap="none" dirty="0"/>
              <a:t>class mynumber:</a:t>
            </a:r>
          </a:p>
          <a:p>
            <a:pPr marL="0" indent="0">
              <a:buNone/>
            </a:pPr>
            <a:r>
              <a:rPr lang="zh-CN" altLang="en-US" cap="none" dirty="0"/>
              <a:t>     def __init__(self, value):</a:t>
            </a:r>
          </a:p>
          <a:p>
            <a:pPr marL="0" indent="0">
              <a:buNone/>
            </a:pPr>
            <a:r>
              <a:rPr lang="zh-CN" altLang="en-US" cap="none" dirty="0"/>
              <a:t>         self.data = value  # 用data保存数据</a:t>
            </a:r>
          </a:p>
          <a:p>
            <a:pPr marL="0" indent="0">
              <a:buNone/>
            </a:pPr>
            <a:r>
              <a:rPr lang="zh-CN" altLang="en-US" cap="none" dirty="0"/>
              <a:t>     def __repr__(self):    # 对应于内置函数str(),用于显示数据</a:t>
            </a:r>
          </a:p>
          <a:p>
            <a:pPr marL="0" indent="0">
              <a:buNone/>
            </a:pPr>
            <a:r>
              <a:rPr lang="zh-CN" altLang="en-US" cap="none" dirty="0"/>
              <a:t>         return "mynumber(%d)" % self.data</a:t>
            </a:r>
          </a:p>
          <a:p>
            <a:pPr marL="0" indent="0">
              <a:buNone/>
            </a:pPr>
            <a:r>
              <a:rPr lang="zh-CN" altLang="en-US" cap="none" dirty="0"/>
              <a:t>     def __add__(self, other):</a:t>
            </a:r>
          </a:p>
          <a:p>
            <a:pPr marL="0" indent="0">
              <a:buNone/>
            </a:pPr>
            <a:r>
              <a:rPr lang="zh-CN" altLang="en-US" cap="none" dirty="0"/>
              <a:t>         v = self.data + other.data</a:t>
            </a:r>
          </a:p>
          <a:p>
            <a:pPr marL="0" indent="0">
              <a:buNone/>
            </a:pPr>
            <a:r>
              <a:rPr lang="zh-CN" altLang="en-US" cap="none" dirty="0"/>
              <a:t>         r = mynumber(v)</a:t>
            </a:r>
          </a:p>
          <a:p>
            <a:pPr marL="0" indent="0">
              <a:buNone/>
            </a:pPr>
            <a:r>
              <a:rPr lang="zh-CN" altLang="en-US" cap="none" dirty="0"/>
              <a:t>         return r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95720" y="5375910"/>
            <a:ext cx="3444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5820AB-C618-41D4-945C-FE1087FD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cap="none" dirty="0"/>
              <a:t>n1 = mynumber(100)</a:t>
            </a:r>
          </a:p>
          <a:p>
            <a:pPr marL="0" indent="0">
              <a:buNone/>
            </a:pPr>
            <a:r>
              <a:rPr lang="zh-CN" altLang="en-US" cap="none" dirty="0"/>
              <a:t>n2 = mynumber(200)</a:t>
            </a:r>
          </a:p>
          <a:p>
            <a:pPr marL="0" indent="0">
              <a:buNone/>
            </a:pPr>
            <a:r>
              <a:rPr lang="zh-CN" altLang="en-US" cap="none" dirty="0"/>
              <a:t>n3 = n1 + n2  # 运算符重载的计算结果</a:t>
            </a:r>
          </a:p>
          <a:p>
            <a:pPr marL="0" indent="0">
              <a:buNone/>
            </a:pPr>
            <a:r>
              <a:rPr lang="zh-CN" altLang="en-US" cap="none" dirty="0"/>
              <a:t>print(n3.data)</a:t>
            </a:r>
          </a:p>
          <a:p>
            <a:pPr marL="0" indent="0">
              <a:buNone/>
            </a:pPr>
            <a:r>
              <a:rPr lang="zh-CN" altLang="en-US" cap="none" dirty="0"/>
              <a:t>print(n1, '+', n2, '=', n3)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82445" y="4712970"/>
            <a:ext cx="9011920" cy="95313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/>
              <a:t>300</a:t>
            </a:r>
          </a:p>
          <a:p>
            <a:r>
              <a:rPr lang="zh-CN" altLang="en-US" sz="2800"/>
              <a:t>Mynumber(100) + Mynumber(200) = Mynumber(300)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67BAF4-BE7B-4BAA-8A1E-18EA9D66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83995" y="2292350"/>
            <a:ext cx="9394825" cy="2392680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10.7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面向对象程序设计</a:t>
            </a:r>
            <a:br>
              <a:rPr lang="zh-CN" altLang="en-US" kern="1200" dirty="0">
                <a:latin typeface="+mj-lt"/>
                <a:ea typeface="+mj-ea"/>
                <a:cs typeface="+mj-cs"/>
              </a:rPr>
            </a:br>
            <a:r>
              <a:rPr lang="zh-CN" altLang="en-US" kern="1200" dirty="0">
                <a:latin typeface="+mj-lt"/>
                <a:ea typeface="+mj-ea"/>
                <a:cs typeface="+mj-cs"/>
              </a:rPr>
              <a:t>应用举例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DB9F38-FAD8-49E2-9A04-00C3A46B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62750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11-10 </a:t>
            </a:r>
            <a:r>
              <a:rPr lang="en-US" altLang="zh-CN" sz="3200" dirty="0" err="1"/>
              <a:t>定义一个Dog类，类属性有名字（name</a:t>
            </a:r>
            <a:r>
              <a:rPr lang="en-US" altLang="zh-CN" sz="3200" dirty="0"/>
              <a:t>）、</a:t>
            </a:r>
            <a:r>
              <a:rPr lang="en-US" altLang="zh-CN" sz="3200" dirty="0" err="1"/>
              <a:t>毛色（color</a:t>
            </a:r>
            <a:r>
              <a:rPr lang="en-US" altLang="zh-CN" sz="3200" dirty="0"/>
              <a:t>）、</a:t>
            </a:r>
            <a:r>
              <a:rPr lang="en-US" altLang="zh-CN" sz="3200" dirty="0" err="1"/>
              <a:t>体重（weight</a:t>
            </a:r>
            <a:r>
              <a:rPr lang="en-US" altLang="zh-CN" sz="3200" dirty="0"/>
              <a:t>），</a:t>
            </a:r>
            <a:r>
              <a:rPr lang="en-US" altLang="zh-CN" sz="3200" dirty="0" err="1"/>
              <a:t>方法为叫（bark</a:t>
            </a:r>
            <a:r>
              <a:rPr lang="en-US" altLang="zh-CN" sz="3200" dirty="0"/>
              <a:t>），</a:t>
            </a:r>
            <a:r>
              <a:rPr lang="en-US" altLang="zh-CN" sz="3200" dirty="0" err="1"/>
              <a:t>调用该方法时输出“wang！Wang</a:t>
            </a:r>
            <a:r>
              <a:rPr lang="en-US" altLang="zh-CN" sz="3200" dirty="0"/>
              <a:t>！”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2876" y="2286872"/>
            <a:ext cx="10852150" cy="427037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800" cap="none" dirty="0"/>
              <a:t>class dog:        # 定义类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cap="none" dirty="0"/>
              <a:t>    def __init__(self, name, color, weight):     # 构造方法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cap="none" dirty="0"/>
              <a:t>        self.name = name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cap="none" dirty="0"/>
              <a:t>        self.color = color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cap="none" dirty="0"/>
              <a:t>        self.weight = weight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cap="none" dirty="0"/>
              <a:t>    def bark():                 # 实例方法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cap="none" dirty="0"/>
              <a:t>        print("wang! wang!")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cap="none" dirty="0"/>
              <a:t>dog.bark()                  # 通过类名调用方法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4D6791-5D4C-479D-8AB3-1A27B2E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16903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例</a:t>
            </a:r>
            <a:r>
              <a:rPr lang="en-US" altLang="zh-CN" sz="4000" dirty="0"/>
              <a:t>11-11 </a:t>
            </a:r>
            <a:r>
              <a:rPr lang="en-US" altLang="zh-CN" sz="4000" dirty="0" err="1"/>
              <a:t>设计一个Rectangle类，属性为左上角和右下角的坐标，编写方法，实现根据坐标计算矩形的面积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4040" y="2129155"/>
            <a:ext cx="10852150" cy="4728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cap="none" dirty="0"/>
              <a:t>class rectangle:</a:t>
            </a:r>
          </a:p>
          <a:p>
            <a:pPr marL="0" indent="0">
              <a:buNone/>
            </a:pPr>
            <a:r>
              <a:rPr lang="zh-CN" altLang="en-US" sz="2800" cap="none" dirty="0"/>
              <a:t>    def __init__(self, left, top, right, bottom): #初始化</a:t>
            </a:r>
          </a:p>
          <a:p>
            <a:pPr marL="0" indent="0">
              <a:buNone/>
            </a:pPr>
            <a:r>
              <a:rPr lang="zh-CN" altLang="en-US" sz="2800" cap="none" dirty="0"/>
              <a:t>        self.left = left                    </a:t>
            </a:r>
            <a:r>
              <a:rPr lang="en-US" altLang="zh-CN" sz="2800" cap="none" dirty="0"/>
              <a:t>o</a:t>
            </a:r>
            <a:endParaRPr lang="zh-CN" altLang="en-US" sz="2800" cap="none" dirty="0"/>
          </a:p>
          <a:p>
            <a:pPr marL="0" indent="0">
              <a:buNone/>
            </a:pPr>
            <a:r>
              <a:rPr lang="zh-CN" altLang="en-US" sz="2800" cap="none" dirty="0"/>
              <a:t>        self.top = top</a:t>
            </a:r>
          </a:p>
          <a:p>
            <a:pPr marL="0" indent="0">
              <a:buNone/>
            </a:pPr>
            <a:r>
              <a:rPr lang="zh-CN" altLang="en-US" sz="2800" cap="none" dirty="0"/>
              <a:t>        self.right = right</a:t>
            </a:r>
          </a:p>
          <a:p>
            <a:pPr marL="0" indent="0">
              <a:buNone/>
            </a:pPr>
            <a:r>
              <a:rPr lang="zh-CN" altLang="en-US" sz="2800" cap="none" dirty="0"/>
              <a:t>        self.bottom = bottom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07568" y="6113700"/>
            <a:ext cx="2525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3C7E00-0BAE-4040-9CD6-E676DB0A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A667AD-8637-4F5B-8F71-119EF7670EFD}"/>
              </a:ext>
            </a:extLst>
          </p:cNvPr>
          <p:cNvSpPr/>
          <p:nvPr/>
        </p:nvSpPr>
        <p:spPr>
          <a:xfrm>
            <a:off x="9406709" y="4355178"/>
            <a:ext cx="1393013" cy="1049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98F018D-C462-4299-9191-F76755BC0AD0}"/>
              </a:ext>
            </a:extLst>
          </p:cNvPr>
          <p:cNvCxnSpPr/>
          <p:nvPr/>
        </p:nvCxnSpPr>
        <p:spPr>
          <a:xfrm>
            <a:off x="8760296" y="3429000"/>
            <a:ext cx="3175248" cy="0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85BA097-FC32-4352-9243-92ED8919BB2A}"/>
              </a:ext>
            </a:extLst>
          </p:cNvPr>
          <p:cNvCxnSpPr>
            <a:cxnSpLocks/>
          </p:cNvCxnSpPr>
          <p:nvPr/>
        </p:nvCxnSpPr>
        <p:spPr>
          <a:xfrm>
            <a:off x="8760296" y="3429000"/>
            <a:ext cx="0" cy="29456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cap="none" dirty="0"/>
              <a:t>    def get_area(self):             # 实例方法求面积</a:t>
            </a:r>
          </a:p>
          <a:p>
            <a:pPr marL="0" indent="0">
              <a:buNone/>
            </a:pPr>
            <a:r>
              <a:rPr lang="zh-CN" altLang="en-US" cap="none" dirty="0"/>
              <a:t>        a = self.right - self.left</a:t>
            </a:r>
          </a:p>
          <a:p>
            <a:pPr marL="0" indent="0">
              <a:buNone/>
            </a:pPr>
            <a:r>
              <a:rPr lang="zh-CN" altLang="en-US" cap="none" dirty="0"/>
              <a:t>        b = self.bottom - self.top</a:t>
            </a:r>
          </a:p>
          <a:p>
            <a:pPr marL="0" indent="0">
              <a:buNone/>
            </a:pPr>
            <a:r>
              <a:rPr lang="zh-CN" altLang="en-US" cap="none" dirty="0"/>
              <a:t>        return abs(a * b)</a:t>
            </a:r>
          </a:p>
          <a:p>
            <a:pPr marL="0" indent="0">
              <a:buNone/>
            </a:pPr>
            <a:r>
              <a:rPr lang="zh-CN" altLang="en-US" cap="none" dirty="0"/>
              <a:t>rec = rectangle(0, 1, 5, 8)</a:t>
            </a:r>
          </a:p>
          <a:p>
            <a:pPr marL="0" indent="0">
              <a:buNone/>
            </a:pPr>
            <a:r>
              <a:rPr lang="zh-CN" altLang="en-US" cap="none" dirty="0"/>
              <a:t>print("area=", rec.get_area())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79576" y="5733256"/>
            <a:ext cx="2806065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zh-CN" altLang="en-US" sz="2800" dirty="0"/>
              <a:t>Area= 35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1A9721-9F75-471F-AB27-BC4779D8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3575685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例</a:t>
            </a:r>
            <a:r>
              <a:rPr lang="en-US" altLang="zh-CN" sz="3600" dirty="0"/>
              <a:t>11-12 首先设计一个颜色类作为基类，包括红、绿、蓝三原色成员变量，并添加构造方法、显示三原色值的方法以及修改红色值的方法；接着设计一个颜色类的派生类叫彩虹类，它在颜色类的基础上再增加四种颜色，即橙、黄、青、紫，也添加构造方法，显示</a:t>
            </a:r>
            <a:r>
              <a:rPr lang="zh-CN" altLang="en-US" sz="3600" dirty="0"/>
              <a:t>颜色</a:t>
            </a:r>
            <a:r>
              <a:rPr lang="en-US" altLang="zh-CN" sz="3600" dirty="0" err="1"/>
              <a:t>和修改紫色值的方法，最后在主模块中定义这两个类的对象，测试所设计的方法并显示最后结果</a:t>
            </a:r>
            <a:endParaRPr lang="en-US" altLang="zh-CN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530" y="4411375"/>
            <a:ext cx="10852150" cy="2131060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zh-CN" altLang="en-US" sz="2800" cap="none" dirty="0"/>
              <a:t>class color:      # 定义颜色基类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800" cap="none" dirty="0"/>
              <a:t>    def __init__(self, red, green, blue):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800" cap="none" dirty="0"/>
              <a:t>        self.red = red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800" cap="none" dirty="0"/>
              <a:t>        self.green = green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800" cap="none" dirty="0"/>
              <a:t>        self.blue = blue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10605" y="5640070"/>
            <a:ext cx="2581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A0D20A-FE01-4875-9FDF-2285AE9C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cap="none" dirty="0"/>
              <a:t>    def show_color(self):       # 显示颜色</a:t>
            </a:r>
          </a:p>
          <a:p>
            <a:pPr marL="0" indent="0">
              <a:buNone/>
            </a:pPr>
            <a:r>
              <a:rPr lang="zh-CN" altLang="en-US" cap="none" dirty="0"/>
              <a:t>        color_str = "(" + str(self.red) + "," + str(self.green) + "," + str(self.blue) + ")"</a:t>
            </a:r>
          </a:p>
          <a:p>
            <a:pPr marL="0" indent="0">
              <a:buNone/>
            </a:pPr>
            <a:r>
              <a:rPr lang="zh-CN" altLang="en-US" cap="none" dirty="0"/>
              <a:t>        print(color_str)</a:t>
            </a:r>
          </a:p>
          <a:p>
            <a:pPr marL="0" indent="0">
              <a:buNone/>
            </a:pPr>
            <a:endParaRPr lang="zh-CN" altLang="en-US" cap="none" dirty="0"/>
          </a:p>
          <a:p>
            <a:pPr marL="0" indent="0">
              <a:buNone/>
            </a:pPr>
            <a:r>
              <a:rPr lang="zh-CN" altLang="en-US" cap="none" dirty="0"/>
              <a:t>    def modi_red(self, red):      # 修改红色</a:t>
            </a:r>
          </a:p>
          <a:p>
            <a:pPr marL="0" indent="0">
              <a:buNone/>
            </a:pPr>
            <a:r>
              <a:rPr lang="zh-CN" altLang="en-US" cap="none" dirty="0"/>
              <a:t>        self.red = red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56530" y="5652135"/>
            <a:ext cx="3281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45D42A-4676-4390-B22E-54AAE042F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zh-CN" altLang="en-US" cap="none" dirty="0"/>
              <a:t>class rainbow(color):          # 定义子类</a:t>
            </a:r>
          </a:p>
          <a:p>
            <a:pPr marL="0" indent="0">
              <a:buNone/>
            </a:pPr>
            <a:r>
              <a:rPr lang="zh-CN" altLang="en-US" cap="none" dirty="0"/>
              <a:t>    def __init__(self, red, green, blue, orange, yellow, cyan, purple):</a:t>
            </a:r>
          </a:p>
          <a:p>
            <a:pPr marL="0" indent="0">
              <a:buNone/>
            </a:pPr>
            <a:r>
              <a:rPr lang="zh-CN" altLang="en-US" cap="none" dirty="0"/>
              <a:t>        self.red = red</a:t>
            </a:r>
          </a:p>
          <a:p>
            <a:pPr marL="0" indent="0">
              <a:buNone/>
            </a:pPr>
            <a:r>
              <a:rPr lang="zh-CN" altLang="en-US" cap="none" dirty="0"/>
              <a:t>        self.green = green</a:t>
            </a:r>
          </a:p>
          <a:p>
            <a:pPr marL="0" indent="0">
              <a:buNone/>
            </a:pPr>
            <a:r>
              <a:rPr lang="zh-CN" altLang="en-US" cap="none" dirty="0"/>
              <a:t>        self.blue = blue</a:t>
            </a:r>
          </a:p>
          <a:p>
            <a:pPr marL="0" indent="0">
              <a:buNone/>
            </a:pPr>
            <a:r>
              <a:rPr lang="zh-CN" altLang="en-US" cap="none" dirty="0"/>
              <a:t>        self.orange = orange</a:t>
            </a:r>
          </a:p>
          <a:p>
            <a:pPr marL="0" indent="0">
              <a:buNone/>
            </a:pPr>
            <a:r>
              <a:rPr lang="zh-CN" altLang="en-US" cap="none" dirty="0"/>
              <a:t>        self.yellow = yellow</a:t>
            </a:r>
          </a:p>
          <a:p>
            <a:pPr marL="0" indent="0">
              <a:buNone/>
            </a:pPr>
            <a:r>
              <a:rPr lang="zh-CN" altLang="en-US" cap="none" dirty="0"/>
              <a:t>        self.cyan = cyan</a:t>
            </a:r>
          </a:p>
          <a:p>
            <a:pPr marL="0" indent="0">
              <a:buNone/>
            </a:pPr>
            <a:r>
              <a:rPr lang="zh-CN" altLang="en-US" cap="none" dirty="0"/>
              <a:t>        self.purple = purple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5365" y="5648960"/>
            <a:ext cx="2376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879276-059E-4990-8289-59AC8357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</a:t>
            </a:r>
            <a:r>
              <a:rPr lang="en-US" altLang="zh-CN"/>
              <a:t>3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0695" y="1036955"/>
            <a:ext cx="11293475" cy="530415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cap="none" dirty="0"/>
              <a:t>    def show_color(self):      # 显示颜色</a:t>
            </a:r>
          </a:p>
          <a:p>
            <a:pPr marL="0" indent="0">
              <a:buNone/>
            </a:pPr>
            <a:r>
              <a:rPr lang="zh-CN" altLang="en-US" sz="2400" cap="none" dirty="0"/>
              <a:t>        color_str = "(" + str(self.red) + "," + str(self.green) + "," </a:t>
            </a:r>
            <a:endParaRPr lang="en-US" altLang="zh-CN" sz="2400" cap="none" dirty="0"/>
          </a:p>
          <a:p>
            <a:pPr marL="0" indent="0">
              <a:buNone/>
            </a:pPr>
            <a:r>
              <a:rPr lang="en-US" altLang="zh-CN" sz="2400" cap="none" dirty="0"/>
              <a:t>                    </a:t>
            </a:r>
            <a:r>
              <a:rPr lang="zh-CN" altLang="en-US" sz="2400" cap="none" dirty="0"/>
              <a:t>+ str(self.blue) + ",“</a:t>
            </a:r>
            <a:endParaRPr lang="en-US" altLang="zh-CN" sz="2400" cap="none" dirty="0"/>
          </a:p>
          <a:p>
            <a:pPr marL="0" indent="0">
              <a:buNone/>
            </a:pPr>
            <a:r>
              <a:rPr lang="zh-CN" altLang="en-US" sz="2400" cap="none" dirty="0"/>
              <a:t>        color_str = color_str + str(self.orange) + ","  </a:t>
            </a:r>
            <a:endParaRPr lang="en-US" altLang="zh-CN" sz="2400" cap="none" dirty="0"/>
          </a:p>
          <a:p>
            <a:pPr marL="0" indent="0">
              <a:buNone/>
            </a:pPr>
            <a:r>
              <a:rPr lang="en-US" altLang="zh-CN" sz="2400" cap="none" dirty="0"/>
              <a:t>			  + </a:t>
            </a:r>
            <a:r>
              <a:rPr lang="zh-CN" altLang="en-US" sz="2400" cap="none" dirty="0"/>
              <a:t>str(self.yellow) + ","</a:t>
            </a:r>
          </a:p>
          <a:p>
            <a:pPr marL="0" indent="0">
              <a:buNone/>
            </a:pPr>
            <a:r>
              <a:rPr lang="zh-CN" altLang="en-US" sz="2400" cap="none" dirty="0"/>
              <a:t>        color_str = color_str + str(self.cyan) </a:t>
            </a:r>
            <a:endParaRPr lang="en-US" altLang="zh-CN" sz="2400" cap="none" dirty="0"/>
          </a:p>
          <a:p>
            <a:pPr marL="0" indent="0">
              <a:buNone/>
            </a:pPr>
            <a:r>
              <a:rPr lang="en-US" altLang="zh-CN" sz="2400" cap="none" dirty="0"/>
              <a:t>			  </a:t>
            </a:r>
            <a:r>
              <a:rPr lang="zh-CN" altLang="en-US" sz="2400" cap="none" dirty="0"/>
              <a:t>+ "," + str(self.purple) + ")"</a:t>
            </a:r>
          </a:p>
          <a:p>
            <a:pPr marL="0" indent="0">
              <a:buNone/>
            </a:pPr>
            <a:r>
              <a:rPr lang="zh-CN" altLang="en-US" sz="2400" cap="none" dirty="0"/>
              <a:t>        print(color_str)</a:t>
            </a:r>
          </a:p>
          <a:p>
            <a:pPr marL="0" indent="0">
              <a:buNone/>
            </a:pPr>
            <a:endParaRPr lang="zh-CN" altLang="en-US" sz="2400" cap="none" dirty="0"/>
          </a:p>
          <a:p>
            <a:pPr marL="0" indent="0">
              <a:buNone/>
            </a:pPr>
            <a:r>
              <a:rPr lang="zh-CN" altLang="en-US" sz="2400" cap="none" dirty="0"/>
              <a:t>    def modi_purple(self, purple):       # 修改紫色</a:t>
            </a:r>
          </a:p>
          <a:p>
            <a:pPr marL="0" indent="0">
              <a:buNone/>
            </a:pPr>
            <a:r>
              <a:rPr lang="zh-CN" altLang="en-US" sz="2400" cap="none" dirty="0"/>
              <a:t>        self.purple = purple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80480" y="5949950"/>
            <a:ext cx="23183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55FED2-9318-4D92-88F2-C328919A7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接上一页（续</a:t>
            </a:r>
            <a:r>
              <a:rPr lang="en-US" altLang="zh-CN"/>
              <a:t>4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36955"/>
            <a:ext cx="10852150" cy="5525135"/>
          </a:xfrm>
        </p:spPr>
        <p:txBody>
          <a:bodyPr>
            <a:normAutofit/>
          </a:bodyPr>
          <a:lstStyle/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if __name__ == '__main__':        # 控制只能在主程序中执行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c1 = color(150, 230, 100)      # 创建一个color类对象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print("before:c1=", end="")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c1.show_color()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c1.modi_red(200)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print("after:c1=", end="")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c1.show_color()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c2 = rainbow(100, 200, 50, 30, 60, 80, 150)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print("before:c2=", end="")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c2.show_color()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c2.modi_red(200)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c2.modi_purple(0)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print("after:c2=", end="")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zh-CN" altLang="en-US" sz="2800" cap="none" dirty="0"/>
              <a:t>    c2.show_color()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56040" y="4440539"/>
            <a:ext cx="6184900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====</a:t>
            </a:r>
          </a:p>
          <a:p>
            <a:r>
              <a:rPr lang="zh-CN" altLang="en-US" sz="2600" dirty="0"/>
              <a:t>before:c1=(150,230,100)</a:t>
            </a:r>
          </a:p>
          <a:p>
            <a:r>
              <a:rPr lang="zh-CN" altLang="en-US" sz="2600" dirty="0"/>
              <a:t>after:c1=(200,230,100)</a:t>
            </a:r>
          </a:p>
          <a:p>
            <a:r>
              <a:rPr lang="zh-CN" altLang="en-US" sz="2600" dirty="0"/>
              <a:t>before:c2=(100,200,50,30,60,80,150)</a:t>
            </a:r>
          </a:p>
          <a:p>
            <a:r>
              <a:rPr lang="zh-CN" altLang="en-US" sz="2600" dirty="0"/>
              <a:t>after:c2=(200,200,50,30,60,80,0)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CF0405-B920-4557-A5DA-54871B3D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02552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11-13 为学校人事部门设计一个简单的人事管理程序，满足如下要求：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17675"/>
            <a:ext cx="10852150" cy="4623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（1）学校人员分为三类：教师、学生、职员；</a:t>
            </a:r>
          </a:p>
          <a:p>
            <a:pPr marL="0" indent="0">
              <a:buNone/>
            </a:pPr>
            <a:r>
              <a:rPr lang="zh-CN" altLang="en-US" dirty="0"/>
              <a:t>（2）三类人员的共同属性是姓名、性别、年龄、部门；</a:t>
            </a:r>
          </a:p>
          <a:p>
            <a:pPr marL="0" indent="0">
              <a:buNone/>
            </a:pPr>
            <a:r>
              <a:rPr lang="zh-CN" altLang="en-US" dirty="0"/>
              <a:t>（3）教师的特别属性是职称、主讲课程；</a:t>
            </a:r>
          </a:p>
          <a:p>
            <a:pPr marL="0" indent="0">
              <a:buNone/>
            </a:pPr>
            <a:r>
              <a:rPr lang="zh-CN" altLang="en-US" dirty="0"/>
              <a:t>（4）学生的特别属性是专业、入学日期；</a:t>
            </a:r>
          </a:p>
          <a:p>
            <a:pPr marL="0" indent="0">
              <a:buNone/>
            </a:pPr>
            <a:r>
              <a:rPr lang="zh-CN" altLang="en-US" dirty="0"/>
              <a:t>（5）职员的特别属性是工资。</a:t>
            </a:r>
          </a:p>
          <a:p>
            <a:pPr marL="0" indent="0">
              <a:buNone/>
            </a:pPr>
            <a:r>
              <a:rPr lang="zh-CN" altLang="en-US" dirty="0"/>
              <a:t>程序可以统计学校总人数和各类人员的人数，并随着新人进入注册和离校注销而动态变化。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1492D5-C8E9-480B-9044-6F64B648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cap="none" dirty="0"/>
              <a:t>class member:       # 定义基类</a:t>
            </a:r>
          </a:p>
          <a:p>
            <a:pPr marL="0" indent="0">
              <a:buNone/>
            </a:pPr>
            <a:r>
              <a:rPr lang="zh-CN" altLang="en-US" sz="2800" cap="none" dirty="0"/>
              <a:t>    count = 0       # 人数，类属性</a:t>
            </a:r>
          </a:p>
          <a:p>
            <a:pPr marL="0" indent="0">
              <a:buNone/>
            </a:pPr>
            <a:r>
              <a:rPr lang="zh-CN" altLang="en-US" sz="2800" cap="none" dirty="0"/>
              <a:t>    def __init__(self, name, sex, age, department): </a:t>
            </a:r>
          </a:p>
          <a:p>
            <a:pPr marL="0" indent="0">
              <a:buNone/>
            </a:pPr>
            <a:r>
              <a:rPr lang="zh-CN" altLang="en-US" sz="2800" cap="none" dirty="0"/>
              <a:t>        self.name = name</a:t>
            </a:r>
          </a:p>
          <a:p>
            <a:pPr marL="0" indent="0">
              <a:buNone/>
            </a:pPr>
            <a:r>
              <a:rPr lang="zh-CN" altLang="en-US" sz="2800" cap="none" dirty="0"/>
              <a:t>        self.sex = sex</a:t>
            </a:r>
          </a:p>
          <a:p>
            <a:pPr marL="0" indent="0">
              <a:buNone/>
            </a:pPr>
            <a:r>
              <a:rPr lang="zh-CN" altLang="en-US" sz="2800" cap="none" dirty="0"/>
              <a:t>        self.age = age</a:t>
            </a:r>
          </a:p>
          <a:p>
            <a:pPr marL="0" indent="0">
              <a:buNone/>
            </a:pPr>
            <a:r>
              <a:rPr lang="zh-CN" altLang="en-US" sz="2800" cap="none" dirty="0"/>
              <a:t>        self.department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15635" y="5617210"/>
            <a:ext cx="3260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F87681-6314-4ADA-A21C-B2E6BEC1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325" y="1026160"/>
            <a:ext cx="12070715" cy="5746115"/>
          </a:xfrm>
        </p:spPr>
        <p:txBody>
          <a:bodyPr>
            <a:normAutofit fontScale="900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class teacher(member):       # 定义教师子类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count=0        # 人数，类属性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def __init__(self, name, sex, age, department, title, course):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self.name = name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self.sex = sex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self.age = age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self.department = department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self.title = title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self.course = course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teacher.count += 1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member.count += 1</a:t>
            </a:r>
          </a:p>
          <a:p>
            <a:pPr marL="0" indent="0">
              <a:lnSpc>
                <a:spcPct val="80000"/>
              </a:lnSpc>
              <a:buNone/>
            </a:pPr>
            <a:endParaRPr lang="zh-CN" altLang="en-US" sz="3000" cap="none" dirty="0"/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def __del__(self):       # 析构方法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teacher.count -= 1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000" cap="none" dirty="0"/>
              <a:t>        member.count -= 1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282815" y="5842000"/>
            <a:ext cx="2341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DFE8B-6751-4D4B-BCC0-3332A33F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class student(member):     # 定义学生子类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count = 0      # 人数，类属性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def __init__(self, name, sex, age, department, major, time_enrollment):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self.name = name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self.sex = sex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self.age = age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self.department = department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self.major = major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self.time_enrollment = time_enrollment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student.count +=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member.count +=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def __del__(self):      # 析构方法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student.count -=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cap="none" dirty="0"/>
              <a:t>        member.count -= 1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62750" y="5579745"/>
            <a:ext cx="2357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8D10BF-65FB-4E16-988A-14CA0A50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class staff(member):      # 定义职员子类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count = 0         # 人数，类属性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def __init__(self, name, sex, age, department, salary):    # 构造方法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self.name = name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self.sex = sex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self.age = age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self.department = department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self.salary = salary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staff.count +=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member.count +=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def __del__(self):      # 析构方法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staff.count -=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    member.count -= 1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298690" y="5424805"/>
            <a:ext cx="24714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ABE85F-DA92-4983-BD1D-90892A0D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015" y="1036955"/>
            <a:ext cx="11005820" cy="5304155"/>
          </a:xfrm>
        </p:spPr>
        <p:txBody>
          <a:bodyPr>
            <a:normAutofit fontScale="7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t1 = teacher("holly", "female", 30, "computer", "professor", "network")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t2 = teacher("john", "male", 40, "computer", "lecture", "os")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t3 = teacher("jenny", "female", 50, "maths", "professor", "matrix")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stu1 = student("ada", "female",20, "computer", "network engineering", "sept 1,2018")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stu2 = student("jorge", "male", 21, "computer", "network engineering", "sept 1,2017")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stf1 = staff("rose", "famale", 35, "maths", 3500)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print("before:")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print("教师有:", teacher.count)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print("学生有:", student.count)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cap="none" dirty="0"/>
              <a:t>print("职员有:", staff.count)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93585" y="5735320"/>
            <a:ext cx="2822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8F7D11-9EB5-4330-9A8C-644D8332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cap="none" dirty="0"/>
              <a:t>del t1</a:t>
            </a:r>
          </a:p>
          <a:p>
            <a:pPr marL="0" indent="0">
              <a:buNone/>
            </a:pPr>
            <a:r>
              <a:rPr lang="zh-CN" altLang="en-US" sz="2800" cap="none" dirty="0"/>
              <a:t>del stu1</a:t>
            </a:r>
          </a:p>
          <a:p>
            <a:pPr marL="0" indent="0">
              <a:buNone/>
            </a:pPr>
            <a:r>
              <a:rPr lang="zh-CN" altLang="en-US" sz="2800" cap="none" dirty="0"/>
              <a:t>del stf1</a:t>
            </a:r>
          </a:p>
          <a:p>
            <a:pPr marL="0" indent="0">
              <a:buNone/>
            </a:pPr>
            <a:r>
              <a:rPr lang="zh-CN" altLang="en-US" sz="2800" cap="none" dirty="0"/>
              <a:t>print("after:")</a:t>
            </a:r>
          </a:p>
          <a:p>
            <a:pPr marL="0" indent="0">
              <a:buNone/>
            </a:pPr>
            <a:r>
              <a:rPr lang="zh-CN" altLang="en-US" sz="2800" cap="none" dirty="0"/>
              <a:t>print("教师有:", teacher.count)</a:t>
            </a:r>
          </a:p>
          <a:p>
            <a:pPr marL="0" indent="0">
              <a:buNone/>
            </a:pPr>
            <a:r>
              <a:rPr lang="zh-CN" altLang="en-US" sz="2800" cap="none" dirty="0"/>
              <a:t>print("学生有:", student.count)</a:t>
            </a:r>
          </a:p>
          <a:p>
            <a:pPr marL="0" indent="0">
              <a:buNone/>
            </a:pPr>
            <a:r>
              <a:rPr lang="zh-CN" altLang="en-US" sz="2800" cap="none" dirty="0"/>
              <a:t>print("职员有:", staff.count)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51750" y="1659890"/>
            <a:ext cx="3467735" cy="3538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/>
              <a:t>Before:</a:t>
            </a:r>
          </a:p>
          <a:p>
            <a:r>
              <a:rPr lang="zh-CN" altLang="en-US" sz="2800"/>
              <a:t>教师有: 3</a:t>
            </a:r>
          </a:p>
          <a:p>
            <a:r>
              <a:rPr lang="zh-CN" altLang="en-US" sz="2800"/>
              <a:t>学生有: 2</a:t>
            </a:r>
          </a:p>
          <a:p>
            <a:r>
              <a:rPr lang="zh-CN" altLang="en-US" sz="2800"/>
              <a:t>职员有: 1</a:t>
            </a:r>
          </a:p>
          <a:p>
            <a:r>
              <a:rPr lang="zh-CN" altLang="en-US" sz="2800"/>
              <a:t>After:</a:t>
            </a:r>
          </a:p>
          <a:p>
            <a:r>
              <a:rPr lang="zh-CN" altLang="en-US" sz="2800"/>
              <a:t>教师有: 2</a:t>
            </a:r>
          </a:p>
          <a:p>
            <a:r>
              <a:rPr lang="zh-CN" altLang="en-US" sz="2800"/>
              <a:t>学生有: 1</a:t>
            </a:r>
          </a:p>
          <a:p>
            <a:r>
              <a:rPr lang="zh-CN" altLang="en-US" sz="2800"/>
              <a:t>职员有: 0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AF52CB-CF04-4851-9479-D4085E64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P237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P237 </a:t>
            </a:r>
            <a:r>
              <a:rPr lang="zh-CN" altLang="en-US" dirty="0"/>
              <a:t>第</a:t>
            </a:r>
            <a:r>
              <a:rPr lang="en-US" altLang="zh-CN" dirty="0"/>
              <a:t>11.8</a:t>
            </a:r>
            <a:r>
              <a:rPr lang="zh-CN" altLang="en-US" dirty="0"/>
              <a:t>节第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10-12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5.Self</a:t>
            </a:r>
            <a:r>
              <a:rPr lang="zh-CN" altLang="en-US" dirty="0"/>
              <a:t>对于对象有什么意义？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在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python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的类中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self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代表实例本身，具体来说，是该实例的内存地址。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在调用实例的方法时，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Python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解释器会把参数传给类的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self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356"/>
            <a:ext cx="11712624" cy="885372"/>
          </a:xfrm>
        </p:spPr>
        <p:txBody>
          <a:bodyPr>
            <a:normAutofit fontScale="90000"/>
          </a:bodyPr>
          <a:lstStyle/>
          <a:p>
            <a:r>
              <a:rPr lang="en-US" altLang="zh-CN" sz="3200" cap="none" dirty="0"/>
              <a:t>10.</a:t>
            </a:r>
            <a:r>
              <a:rPr lang="zh-CN" altLang="en-US" sz="3200" cap="none" dirty="0"/>
              <a:t>设计一个</a:t>
            </a:r>
            <a:r>
              <a:rPr lang="en-US" altLang="zh-CN" sz="3200" cap="none" dirty="0"/>
              <a:t>Date</a:t>
            </a:r>
            <a:r>
              <a:rPr lang="zh-CN" altLang="en-US" sz="3200" cap="none" dirty="0"/>
              <a:t>类，属性包括</a:t>
            </a:r>
            <a:r>
              <a:rPr lang="en-US" altLang="zh-CN" sz="3200" cap="none" dirty="0" err="1"/>
              <a:t>Year,month</a:t>
            </a:r>
            <a:r>
              <a:rPr lang="zh-CN" altLang="en-US" sz="3200" cap="none" dirty="0"/>
              <a:t>和</a:t>
            </a:r>
            <a:r>
              <a:rPr lang="en-US" altLang="zh-CN" sz="3200" cap="none" dirty="0"/>
              <a:t>day</a:t>
            </a:r>
            <a:r>
              <a:rPr lang="zh-CN" altLang="en-US" sz="3200" cap="none" dirty="0"/>
              <a:t>，包含如下方法：取年份，提取月份，提取日，输出日期。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0" i="0" cap="none" dirty="0">
                <a:solidFill>
                  <a:srgbClr val="FFFFFF"/>
                </a:solidFill>
                <a:effectLst/>
                <a:latin typeface="PingFang SC"/>
              </a:rPr>
              <a:t> </a:t>
            </a:r>
            <a:endParaRPr lang="zh-CN" altLang="en-US" cap="non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5D71B-BF2F-4000-AF24-C9F00D9E186D}"/>
              </a:ext>
            </a:extLst>
          </p:cNvPr>
          <p:cNvSpPr txBox="1"/>
          <p:nvPr/>
        </p:nvSpPr>
        <p:spPr>
          <a:xfrm>
            <a:off x="222891" y="1484784"/>
            <a:ext cx="119990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====</a:t>
            </a:r>
          </a:p>
          <a:p>
            <a:r>
              <a:rPr lang="zh-CN" altLang="en-US" sz="2800" b="1" dirty="0"/>
              <a:t>请输入年</a:t>
            </a:r>
            <a:r>
              <a:rPr lang="en-US" altLang="zh-CN" sz="2800" b="1" dirty="0"/>
              <a:t>: 2021</a:t>
            </a:r>
          </a:p>
          <a:p>
            <a:r>
              <a:rPr lang="zh-CN" altLang="en-US" sz="2800" b="1" dirty="0"/>
              <a:t>请输入月</a:t>
            </a:r>
            <a:r>
              <a:rPr lang="en-US" altLang="zh-CN" sz="2800" b="1" dirty="0"/>
              <a:t>: 6</a:t>
            </a:r>
          </a:p>
          <a:p>
            <a:r>
              <a:rPr lang="zh-CN" altLang="en-US" sz="2800" b="1" dirty="0"/>
              <a:t>请输入日</a:t>
            </a:r>
            <a:r>
              <a:rPr lang="en-US" altLang="zh-CN" sz="2800" b="1" dirty="0"/>
              <a:t>: 9</a:t>
            </a:r>
          </a:p>
          <a:p>
            <a:r>
              <a:rPr lang="zh-CN" altLang="en-US" sz="2800" b="1" dirty="0"/>
              <a:t>设置成功！您输入的是 </a:t>
            </a:r>
            <a:r>
              <a:rPr lang="en-US" altLang="zh-CN" sz="2800" b="1" dirty="0"/>
              <a:t>2021 </a:t>
            </a:r>
            <a:r>
              <a:rPr lang="zh-CN" altLang="en-US" sz="2800" b="1" dirty="0"/>
              <a:t>年 </a:t>
            </a:r>
            <a:r>
              <a:rPr lang="en-US" altLang="zh-CN" sz="2800" b="1" dirty="0"/>
              <a:t>6 </a:t>
            </a:r>
            <a:r>
              <a:rPr lang="zh-CN" altLang="en-US" sz="2800" b="1" dirty="0"/>
              <a:t>月 </a:t>
            </a:r>
            <a:r>
              <a:rPr lang="en-US" altLang="zh-CN" sz="2800" b="1" dirty="0"/>
              <a:t>9 </a:t>
            </a:r>
            <a:r>
              <a:rPr lang="zh-CN" altLang="en-US" sz="2800" b="1" dirty="0"/>
              <a:t>日</a:t>
            </a:r>
          </a:p>
          <a:p>
            <a:r>
              <a:rPr lang="en-US" altLang="zh-CN" sz="2800" b="1" dirty="0"/>
              <a:t>Year is: 2021</a:t>
            </a:r>
          </a:p>
          <a:p>
            <a:r>
              <a:rPr lang="en-US" altLang="zh-CN" sz="2800" b="1" dirty="0"/>
              <a:t>The date is: 2021 - 6 - 9</a:t>
            </a:r>
          </a:p>
          <a:p>
            <a:endParaRPr lang="en-US" altLang="zh-CN" sz="2800" b="1" dirty="0"/>
          </a:p>
          <a:p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31812850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0" i="0" cap="none" dirty="0">
                <a:solidFill>
                  <a:srgbClr val="FFFFFF"/>
                </a:solidFill>
                <a:effectLst/>
                <a:latin typeface="PingFang SC"/>
              </a:rPr>
              <a:t> </a:t>
            </a:r>
            <a:endParaRPr lang="zh-CN" altLang="en-US" cap="non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83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5D71B-BF2F-4000-AF24-C9F00D9E186D}"/>
              </a:ext>
            </a:extLst>
          </p:cNvPr>
          <p:cNvSpPr txBox="1"/>
          <p:nvPr/>
        </p:nvSpPr>
        <p:spPr>
          <a:xfrm>
            <a:off x="192912" y="863381"/>
            <a:ext cx="1199908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class Date:</a:t>
            </a:r>
          </a:p>
          <a:p>
            <a:r>
              <a:rPr lang="zh-CN" altLang="en-US" sz="2800" b="1" dirty="0"/>
              <a:t>    def __init__(self):</a:t>
            </a:r>
          </a:p>
          <a:p>
            <a:r>
              <a:rPr lang="zh-CN" altLang="en-US" sz="2800" b="1" dirty="0"/>
              <a:t>        self.year = 0</a:t>
            </a:r>
          </a:p>
          <a:p>
            <a:r>
              <a:rPr lang="zh-CN" altLang="en-US" sz="2800" b="1" dirty="0"/>
              <a:t>        self.month = 0</a:t>
            </a:r>
          </a:p>
          <a:p>
            <a:r>
              <a:rPr lang="zh-CN" altLang="en-US" sz="2800" b="1" dirty="0"/>
              <a:t>        self.day = 0</a:t>
            </a:r>
          </a:p>
          <a:p>
            <a:r>
              <a:rPr lang="zh-CN" altLang="en-US" sz="2800" b="1" dirty="0"/>
              <a:t>    def SetDate(self):</a:t>
            </a:r>
          </a:p>
          <a:p>
            <a:r>
              <a:rPr lang="zh-CN" altLang="en-US" sz="2800" b="1" dirty="0"/>
              <a:t>        year = input('请输入年:')</a:t>
            </a:r>
          </a:p>
          <a:p>
            <a:r>
              <a:rPr lang="zh-CN" altLang="en-US" sz="2800" b="1" dirty="0"/>
              <a:t>        month = input('请输入月:')</a:t>
            </a:r>
          </a:p>
          <a:p>
            <a:r>
              <a:rPr lang="zh-CN" altLang="en-US" sz="2800" b="1" dirty="0"/>
              <a:t>        day = input('请输入日:')</a:t>
            </a:r>
          </a:p>
          <a:p>
            <a:r>
              <a:rPr lang="zh-CN" altLang="en-US" sz="2800" b="1" dirty="0"/>
              <a:t>        self.year = year</a:t>
            </a:r>
          </a:p>
          <a:p>
            <a:r>
              <a:rPr lang="zh-CN" altLang="en-US" sz="2800" b="1" dirty="0"/>
              <a:t>        self.month = month</a:t>
            </a:r>
          </a:p>
          <a:p>
            <a:r>
              <a:rPr lang="zh-CN" altLang="en-US" sz="2800" b="1" dirty="0"/>
              <a:t>        self.day = day</a:t>
            </a:r>
          </a:p>
          <a:p>
            <a:r>
              <a:rPr lang="zh-CN" altLang="en-US" sz="2800" b="1" dirty="0"/>
              <a:t>        print(‘设置成功！日期是',self.year,'年',self.month,'月',self.day,'日')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E187BD57-97FD-4E4B-A341-A2191BE9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9252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0" i="0" cap="none" dirty="0">
                <a:solidFill>
                  <a:srgbClr val="FFFFFF"/>
                </a:solidFill>
                <a:effectLst/>
                <a:latin typeface="PingFang SC"/>
              </a:rPr>
              <a:t> </a:t>
            </a:r>
            <a:endParaRPr lang="zh-CN" altLang="en-US" cap="non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5D71B-BF2F-4000-AF24-C9F00D9E186D}"/>
              </a:ext>
            </a:extLst>
          </p:cNvPr>
          <p:cNvSpPr txBox="1"/>
          <p:nvPr/>
        </p:nvSpPr>
        <p:spPr>
          <a:xfrm>
            <a:off x="192912" y="1124744"/>
            <a:ext cx="115197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    def showYear(self):</a:t>
            </a:r>
          </a:p>
          <a:p>
            <a:r>
              <a:rPr lang="zh-CN" altLang="en-US" sz="2400" b="1" dirty="0"/>
              <a:t>        print('Year is:',self.year)</a:t>
            </a:r>
          </a:p>
          <a:p>
            <a:r>
              <a:rPr lang="zh-CN" altLang="en-US" sz="2400" b="1" dirty="0"/>
              <a:t>    def printDate(self):</a:t>
            </a:r>
          </a:p>
          <a:p>
            <a:r>
              <a:rPr lang="zh-CN" altLang="en-US" sz="2400" b="1" dirty="0"/>
              <a:t>        print('The date is:',self.year,'-',self.month,'-',self.day)</a:t>
            </a:r>
            <a:endParaRPr lang="en-US" altLang="zh-CN" sz="2400" b="1" dirty="0"/>
          </a:p>
          <a:p>
            <a:r>
              <a:rPr lang="en-US" altLang="zh-CN" sz="2400" b="1" dirty="0"/>
              <a:t> </a:t>
            </a:r>
          </a:p>
          <a:p>
            <a:r>
              <a:rPr lang="en-US" altLang="zh-CN" sz="2400" b="1" dirty="0"/>
              <a:t>D1 = Date()</a:t>
            </a:r>
          </a:p>
          <a:p>
            <a:r>
              <a:rPr lang="en-US" altLang="zh-CN" sz="2400" b="1" dirty="0"/>
              <a:t>D1.SetDate()</a:t>
            </a:r>
          </a:p>
          <a:p>
            <a:r>
              <a:rPr lang="en-US" altLang="zh-CN" sz="2400" b="1" dirty="0"/>
              <a:t>D1.showYear()</a:t>
            </a:r>
          </a:p>
          <a:p>
            <a:r>
              <a:rPr lang="en-US" altLang="zh-CN" sz="2400" b="1" dirty="0"/>
              <a:t>D1.printDate()</a:t>
            </a:r>
          </a:p>
          <a:p>
            <a:endParaRPr lang="zh-CN" altLang="en-US" sz="2400" b="1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97534D37-E330-4C8B-8799-39CFD7B4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99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356"/>
            <a:ext cx="11712624" cy="885372"/>
          </a:xfrm>
        </p:spPr>
        <p:txBody>
          <a:bodyPr>
            <a:normAutofit fontScale="90000"/>
          </a:bodyPr>
          <a:lstStyle/>
          <a:p>
            <a:r>
              <a:rPr lang="en-US" altLang="zh-CN" sz="3200" cap="none" dirty="0"/>
              <a:t>11.</a:t>
            </a:r>
            <a:r>
              <a:rPr lang="zh-CN" altLang="en-US" sz="3200" cap="none" dirty="0"/>
              <a:t>定义一个圆类，具有圆心位置，半径，颜色属性，拥有方法能够设置属性值，获取属性值，计算周长和面积。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cap="none" dirty="0"/>
              <a:t>import math</a:t>
            </a:r>
          </a:p>
          <a:p>
            <a:pPr marL="0" indent="0">
              <a:buNone/>
            </a:pPr>
            <a:r>
              <a:rPr lang="en-US" altLang="zh-CN" cap="none" dirty="0"/>
              <a:t>class circle:</a:t>
            </a:r>
          </a:p>
          <a:p>
            <a:pPr marL="0" indent="0">
              <a:buNone/>
            </a:pPr>
            <a:r>
              <a:rPr lang="en-US" altLang="zh-CN" cap="none" dirty="0"/>
              <a:t>    def __</a:t>
            </a:r>
            <a:r>
              <a:rPr lang="en-US" altLang="zh-CN" cap="none" dirty="0" err="1"/>
              <a:t>init</a:t>
            </a:r>
            <a:r>
              <a:rPr lang="en-US" altLang="zh-CN" cap="none" dirty="0"/>
              <a:t>__(</a:t>
            </a:r>
            <a:r>
              <a:rPr lang="en-US" altLang="zh-CN" cap="none" dirty="0" err="1"/>
              <a:t>self,x,y,r,color</a:t>
            </a:r>
            <a:r>
              <a:rPr lang="en-US" altLang="zh-CN" cap="none" dirty="0"/>
              <a:t>):</a:t>
            </a:r>
          </a:p>
          <a:p>
            <a:pPr marL="0" indent="0">
              <a:buNone/>
            </a:pPr>
            <a:r>
              <a:rPr lang="en-US" altLang="zh-CN" cap="none" dirty="0"/>
              <a:t>        </a:t>
            </a:r>
            <a:r>
              <a:rPr lang="en-US" altLang="zh-CN" cap="none" dirty="0" err="1"/>
              <a:t>self.x</a:t>
            </a:r>
            <a:r>
              <a:rPr lang="en-US" altLang="zh-CN" cap="none" dirty="0"/>
              <a:t> = x</a:t>
            </a:r>
          </a:p>
          <a:p>
            <a:pPr marL="0" indent="0">
              <a:buNone/>
            </a:pPr>
            <a:r>
              <a:rPr lang="en-US" altLang="zh-CN" cap="none" dirty="0"/>
              <a:t>        </a:t>
            </a:r>
            <a:r>
              <a:rPr lang="en-US" altLang="zh-CN" cap="none" dirty="0" err="1"/>
              <a:t>self.y</a:t>
            </a:r>
            <a:r>
              <a:rPr lang="en-US" altLang="zh-CN" cap="none" dirty="0"/>
              <a:t> = y</a:t>
            </a:r>
          </a:p>
          <a:p>
            <a:pPr marL="0" indent="0">
              <a:buNone/>
            </a:pPr>
            <a:r>
              <a:rPr lang="en-US" altLang="zh-CN" cap="none" dirty="0"/>
              <a:t>        </a:t>
            </a:r>
            <a:r>
              <a:rPr lang="en-US" altLang="zh-CN" cap="none" dirty="0" err="1"/>
              <a:t>self.r</a:t>
            </a:r>
            <a:r>
              <a:rPr lang="en-US" altLang="zh-CN" cap="none" dirty="0"/>
              <a:t> = r</a:t>
            </a:r>
          </a:p>
          <a:p>
            <a:pPr marL="0" indent="0">
              <a:buNone/>
            </a:pPr>
            <a:r>
              <a:rPr lang="en-US" altLang="zh-CN" cap="none" dirty="0"/>
              <a:t>        </a:t>
            </a:r>
            <a:r>
              <a:rPr lang="en-US" altLang="zh-CN" cap="none" dirty="0" err="1"/>
              <a:t>self.color</a:t>
            </a:r>
            <a:r>
              <a:rPr lang="en-US" altLang="zh-CN" cap="none" dirty="0"/>
              <a:t> = color</a:t>
            </a:r>
          </a:p>
          <a:p>
            <a:pPr marL="0" indent="0">
              <a:buNone/>
            </a:pPr>
            <a:endParaRPr lang="en-US" altLang="zh-CN" cap="none" dirty="0"/>
          </a:p>
          <a:p>
            <a:pPr marL="0" indent="0">
              <a:buNone/>
            </a:pPr>
            <a:r>
              <a:rPr lang="en-US" altLang="zh-CN" cap="none" dirty="0"/>
              <a:t>    def </a:t>
            </a:r>
            <a:r>
              <a:rPr lang="en-US" altLang="zh-CN" cap="none" dirty="0" err="1"/>
              <a:t>setxy</a:t>
            </a:r>
            <a:r>
              <a:rPr lang="en-US" altLang="zh-CN" cap="none" dirty="0"/>
              <a:t>(</a:t>
            </a:r>
            <a:r>
              <a:rPr lang="en-US" altLang="zh-CN" cap="none" dirty="0" err="1"/>
              <a:t>self,x,y</a:t>
            </a:r>
            <a:r>
              <a:rPr lang="en-US" altLang="zh-CN" cap="none" dirty="0"/>
              <a:t>):</a:t>
            </a:r>
          </a:p>
          <a:p>
            <a:pPr marL="0" indent="0">
              <a:buNone/>
            </a:pPr>
            <a:r>
              <a:rPr lang="en-US" altLang="zh-CN" cap="none" dirty="0"/>
              <a:t>        </a:t>
            </a:r>
            <a:r>
              <a:rPr lang="en-US" altLang="zh-CN" cap="none" dirty="0" err="1"/>
              <a:t>self.x</a:t>
            </a:r>
            <a:r>
              <a:rPr lang="en-US" altLang="zh-CN" cap="none" dirty="0"/>
              <a:t> = x</a:t>
            </a:r>
          </a:p>
          <a:p>
            <a:pPr marL="0" indent="0">
              <a:buNone/>
            </a:pPr>
            <a:r>
              <a:rPr lang="en-US" altLang="zh-CN" cap="none" dirty="0"/>
              <a:t>        </a:t>
            </a:r>
            <a:r>
              <a:rPr lang="en-US" altLang="zh-CN" cap="none" dirty="0" err="1"/>
              <a:t>self.y</a:t>
            </a:r>
            <a:r>
              <a:rPr lang="en-US" altLang="zh-CN" cap="none" dirty="0"/>
              <a:t> = y</a:t>
            </a:r>
          </a:p>
          <a:p>
            <a:pPr marL="0" indent="0">
              <a:buNone/>
            </a:pPr>
            <a:endParaRPr lang="en-US" altLang="zh-CN" cap="none" dirty="0"/>
          </a:p>
          <a:p>
            <a:pPr marL="0" indent="0">
              <a:buNone/>
            </a:pPr>
            <a:r>
              <a:rPr lang="en-US" altLang="zh-CN" cap="none" dirty="0"/>
              <a:t>    def </a:t>
            </a:r>
            <a:r>
              <a:rPr lang="en-US" altLang="zh-CN" cap="none" dirty="0" err="1"/>
              <a:t>showxy</a:t>
            </a:r>
            <a:r>
              <a:rPr lang="en-US" altLang="zh-CN" cap="none" dirty="0"/>
              <a:t>(self):</a:t>
            </a:r>
          </a:p>
          <a:p>
            <a:pPr marL="0" indent="0">
              <a:buNone/>
            </a:pPr>
            <a:r>
              <a:rPr lang="en-US" altLang="zh-CN" cap="none" dirty="0"/>
              <a:t>        print('x=',</a:t>
            </a:r>
            <a:r>
              <a:rPr lang="en-US" altLang="zh-CN" cap="none" dirty="0" err="1"/>
              <a:t>self.x,',y</a:t>
            </a:r>
            <a:r>
              <a:rPr lang="en-US" altLang="zh-CN" cap="none" dirty="0"/>
              <a:t>=',</a:t>
            </a:r>
            <a:r>
              <a:rPr lang="en-US" altLang="zh-CN" cap="none" dirty="0" err="1"/>
              <a:t>self.y</a:t>
            </a:r>
            <a:r>
              <a:rPr lang="en-US" altLang="zh-CN" cap="none" dirty="0"/>
              <a:t>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9412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356"/>
            <a:ext cx="11712624" cy="885372"/>
          </a:xfrm>
        </p:spPr>
        <p:txBody>
          <a:bodyPr>
            <a:normAutofit/>
          </a:bodyPr>
          <a:lstStyle/>
          <a:p>
            <a:r>
              <a:rPr lang="en-US" altLang="zh-CN" sz="3200" cap="none" dirty="0"/>
              <a:t>11.</a:t>
            </a:r>
            <a:endParaRPr lang="zh-CN" altLang="en-US" sz="3200" cap="none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809312" cy="56102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cap="none" dirty="0"/>
              <a:t> def C(self):</a:t>
            </a:r>
          </a:p>
          <a:p>
            <a:pPr marL="0" indent="0">
              <a:buNone/>
            </a:pPr>
            <a:r>
              <a:rPr lang="en-US" altLang="zh-CN" cap="none" dirty="0"/>
              <a:t>        C = 2 * </a:t>
            </a:r>
            <a:r>
              <a:rPr lang="en-US" altLang="zh-CN" cap="none" dirty="0" err="1"/>
              <a:t>math.pi</a:t>
            </a:r>
            <a:r>
              <a:rPr lang="en-US" altLang="zh-CN" cap="none" dirty="0"/>
              <a:t> * </a:t>
            </a:r>
            <a:r>
              <a:rPr lang="en-US" altLang="zh-CN" cap="none" dirty="0" err="1"/>
              <a:t>self.r</a:t>
            </a:r>
            <a:endParaRPr lang="en-US" altLang="zh-CN" cap="none" dirty="0"/>
          </a:p>
          <a:p>
            <a:pPr marL="0" indent="0">
              <a:buNone/>
            </a:pPr>
            <a:r>
              <a:rPr lang="en-US" altLang="zh-CN" cap="none" dirty="0"/>
              <a:t>        print('C=‘,C)</a:t>
            </a:r>
          </a:p>
          <a:p>
            <a:pPr marL="0" indent="0">
              <a:buNone/>
            </a:pPr>
            <a:endParaRPr lang="en-US" altLang="zh-CN" cap="none" dirty="0"/>
          </a:p>
          <a:p>
            <a:pPr marL="0" indent="0">
              <a:buNone/>
            </a:pPr>
            <a:r>
              <a:rPr lang="en-US" altLang="zh-CN" cap="none" dirty="0"/>
              <a:t>c1 = circle(1,2,3,'red')</a:t>
            </a:r>
          </a:p>
          <a:p>
            <a:pPr marL="0" indent="0">
              <a:buNone/>
            </a:pPr>
            <a:r>
              <a:rPr lang="en-US" altLang="zh-CN" cap="none" dirty="0"/>
              <a:t>c1.setxy(10,20)</a:t>
            </a:r>
          </a:p>
          <a:p>
            <a:pPr marL="0" indent="0">
              <a:buNone/>
            </a:pPr>
            <a:r>
              <a:rPr lang="en-US" altLang="zh-CN" cap="none" dirty="0"/>
              <a:t>c1.showxy()</a:t>
            </a:r>
          </a:p>
          <a:p>
            <a:pPr marL="0" indent="0">
              <a:buNone/>
            </a:pPr>
            <a:r>
              <a:rPr lang="en-US" altLang="zh-CN" cap="none" dirty="0"/>
              <a:t>c1.C()</a:t>
            </a:r>
          </a:p>
          <a:p>
            <a:pPr marL="0" indent="0">
              <a:buNone/>
            </a:pPr>
            <a:endParaRPr lang="zh-CN" altLang="en-US" cap="non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70265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356"/>
            <a:ext cx="11712624" cy="885372"/>
          </a:xfrm>
        </p:spPr>
        <p:txBody>
          <a:bodyPr>
            <a:normAutofit/>
          </a:bodyPr>
          <a:lstStyle/>
          <a:p>
            <a:r>
              <a:rPr lang="en-US" altLang="zh-CN" sz="3200" cap="none" dirty="0"/>
              <a:t>11.</a:t>
            </a:r>
            <a:endParaRPr lang="zh-CN" altLang="en-US" sz="3200" cap="none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809312" cy="5610225"/>
          </a:xfrm>
        </p:spPr>
        <p:txBody>
          <a:bodyPr/>
          <a:lstStyle/>
          <a:p>
            <a:pPr marL="0" indent="0">
              <a:buNone/>
            </a:pPr>
            <a:r>
              <a:rPr lang="es-ES" altLang="zh-CN" b="0" i="0" cap="none" dirty="0">
                <a:solidFill>
                  <a:srgbClr val="FFFFFF"/>
                </a:solidFill>
                <a:effectLst/>
                <a:latin typeface="PingFang SC"/>
              </a:rPr>
              <a:t>====</a:t>
            </a:r>
          </a:p>
          <a:p>
            <a:pPr marL="0" indent="0">
              <a:buNone/>
            </a:pPr>
            <a:r>
              <a:rPr lang="es-ES" altLang="zh-CN" b="0" i="0" cap="none" dirty="0">
                <a:solidFill>
                  <a:srgbClr val="FFFFFF"/>
                </a:solidFill>
                <a:effectLst/>
                <a:latin typeface="PingFang SC"/>
              </a:rPr>
              <a:t>x= 10 ,y= 20</a:t>
            </a:r>
          </a:p>
          <a:p>
            <a:pPr marL="0" indent="0">
              <a:buNone/>
            </a:pPr>
            <a:r>
              <a:rPr lang="es-ES" altLang="zh-CN" b="0" i="0" cap="none" dirty="0">
                <a:solidFill>
                  <a:srgbClr val="FFFFFF"/>
                </a:solidFill>
                <a:effectLst/>
                <a:latin typeface="PingFang SC"/>
              </a:rPr>
              <a:t>C= 18.84955592153876</a:t>
            </a:r>
          </a:p>
          <a:p>
            <a:pPr marL="0" indent="0">
              <a:buNone/>
            </a:pPr>
            <a:endParaRPr lang="zh-CN" altLang="en-US" cap="non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150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356"/>
            <a:ext cx="11712624" cy="1245412"/>
          </a:xfrm>
        </p:spPr>
        <p:txBody>
          <a:bodyPr>
            <a:normAutofit fontScale="90000"/>
          </a:bodyPr>
          <a:lstStyle/>
          <a:p>
            <a:r>
              <a:rPr lang="en-US" altLang="zh-CN" sz="3200" cap="none" dirty="0"/>
              <a:t>12.</a:t>
            </a:r>
            <a:r>
              <a:rPr lang="zh-CN" altLang="en-US" sz="3200" cap="none" dirty="0"/>
              <a:t>设计一个课程类，包括课程编号，课程名称，教师，地点等成员，其中地点是私有的，构造方法：显示课程信息，在主模块中定义类的对象并测试结果。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0" i="0" cap="none" dirty="0">
                <a:solidFill>
                  <a:srgbClr val="FFFFFF"/>
                </a:solidFill>
                <a:effectLst/>
                <a:latin typeface="PingFang SC"/>
              </a:rPr>
              <a:t> </a:t>
            </a:r>
            <a:endParaRPr lang="zh-CN" altLang="en-US" cap="non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430E37-3DDB-477D-BA17-B5B08DC346F8}"/>
              </a:ext>
            </a:extLst>
          </p:cNvPr>
          <p:cNvSpPr txBox="1"/>
          <p:nvPr/>
        </p:nvSpPr>
        <p:spPr>
          <a:xfrm>
            <a:off x="360752" y="1340768"/>
            <a:ext cx="767802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class course:</a:t>
            </a:r>
          </a:p>
          <a:p>
            <a:r>
              <a:rPr lang="zh-CN" altLang="en-US" sz="2400" b="1" dirty="0"/>
              <a:t>    def __init__(self,ID,name,teacher,room):</a:t>
            </a:r>
          </a:p>
          <a:p>
            <a:r>
              <a:rPr lang="zh-CN" altLang="en-US" sz="2400" b="1" dirty="0"/>
              <a:t>        self.ID = ID</a:t>
            </a:r>
          </a:p>
          <a:p>
            <a:r>
              <a:rPr lang="zh-CN" altLang="en-US" sz="2400" b="1" dirty="0"/>
              <a:t>        self.name = name</a:t>
            </a:r>
          </a:p>
          <a:p>
            <a:r>
              <a:rPr lang="zh-CN" altLang="en-US" sz="2400" b="1" dirty="0"/>
              <a:t>        self.teacher = teacher</a:t>
            </a:r>
          </a:p>
          <a:p>
            <a:r>
              <a:rPr lang="zh-CN" altLang="en-US" sz="2400" b="1" dirty="0"/>
              <a:t>        self.__room = room</a:t>
            </a:r>
          </a:p>
          <a:p>
            <a:endParaRPr lang="zh-CN" altLang="en-US" sz="2400" b="1" dirty="0"/>
          </a:p>
          <a:p>
            <a:r>
              <a:rPr lang="zh-CN" altLang="en-US" sz="2400" b="1" dirty="0"/>
              <a:t>    def showCourse(self):</a:t>
            </a:r>
          </a:p>
          <a:p>
            <a:r>
              <a:rPr lang="zh-CN" altLang="en-US" sz="2400" b="1" dirty="0"/>
              <a:t>        print('课程信息')</a:t>
            </a:r>
          </a:p>
          <a:p>
            <a:r>
              <a:rPr lang="zh-CN" altLang="en-US" sz="2400" b="1" dirty="0"/>
              <a:t>        print('ID:',self.ID)</a:t>
            </a:r>
          </a:p>
          <a:p>
            <a:r>
              <a:rPr lang="zh-CN" altLang="en-US" sz="2400" b="1" dirty="0"/>
              <a:t>        print('名称:',self.name)</a:t>
            </a:r>
          </a:p>
          <a:p>
            <a:r>
              <a:rPr lang="zh-CN" altLang="en-US" sz="2400" b="1" dirty="0"/>
              <a:t>        print('教师:',self.teacher)</a:t>
            </a:r>
          </a:p>
          <a:p>
            <a:r>
              <a:rPr lang="zh-CN" altLang="en-US" sz="2400" b="1" dirty="0"/>
              <a:t>        print('地点:',self.__room)</a:t>
            </a:r>
          </a:p>
        </p:txBody>
      </p:sp>
    </p:spTree>
    <p:extLst>
      <p:ext uri="{BB962C8B-B14F-4D97-AF65-F5344CB8AC3E}">
        <p14:creationId xmlns:p14="http://schemas.microsoft.com/office/powerpoint/2010/main" val="28551122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356"/>
            <a:ext cx="11712624" cy="885372"/>
          </a:xfrm>
        </p:spPr>
        <p:txBody>
          <a:bodyPr>
            <a:normAutofit/>
          </a:bodyPr>
          <a:lstStyle/>
          <a:p>
            <a:r>
              <a:rPr lang="en-US" altLang="zh-CN" sz="3200" cap="none" dirty="0"/>
              <a:t>12.</a:t>
            </a:r>
            <a:endParaRPr lang="zh-CN" altLang="en-US" sz="3200" cap="none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0" i="0" cap="none" dirty="0">
                <a:solidFill>
                  <a:srgbClr val="FFFFFF"/>
                </a:solidFill>
                <a:effectLst/>
                <a:latin typeface="PingFang SC"/>
              </a:rPr>
              <a:t> </a:t>
            </a:r>
            <a:endParaRPr lang="zh-CN" altLang="en-US" cap="none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6D4897-452B-4559-B247-237BE0D21DC5}"/>
              </a:ext>
            </a:extLst>
          </p:cNvPr>
          <p:cNvSpPr txBox="1"/>
          <p:nvPr/>
        </p:nvSpPr>
        <p:spPr>
          <a:xfrm>
            <a:off x="209578" y="1336336"/>
            <a:ext cx="1150304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c1 = course('A001','Python程序设计','Jenny','1111')</a:t>
            </a:r>
          </a:p>
          <a:p>
            <a:r>
              <a:rPr lang="zh-CN" altLang="en-US" sz="2400" b="1" dirty="0"/>
              <a:t>c1.showCourse()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====</a:t>
            </a:r>
          </a:p>
          <a:p>
            <a:r>
              <a:rPr lang="zh-CN" altLang="en-US" sz="2400" b="1" dirty="0"/>
              <a:t>课程信息</a:t>
            </a:r>
          </a:p>
          <a:p>
            <a:r>
              <a:rPr lang="en-US" altLang="zh-CN" sz="2400" b="1" dirty="0"/>
              <a:t>ID: A001</a:t>
            </a:r>
          </a:p>
          <a:p>
            <a:r>
              <a:rPr lang="zh-CN" altLang="en-US" sz="2400" b="1" dirty="0"/>
              <a:t>名称</a:t>
            </a:r>
            <a:r>
              <a:rPr lang="en-US" altLang="zh-CN" sz="2400" b="1" dirty="0"/>
              <a:t>: Python</a:t>
            </a:r>
            <a:r>
              <a:rPr lang="zh-CN" altLang="en-US" sz="2400" b="1" dirty="0"/>
              <a:t>程序设计</a:t>
            </a:r>
          </a:p>
          <a:p>
            <a:r>
              <a:rPr lang="zh-CN" altLang="en-US" sz="2400" b="1" dirty="0"/>
              <a:t>教师</a:t>
            </a:r>
            <a:r>
              <a:rPr lang="en-US" altLang="zh-CN" sz="2400" b="1" dirty="0"/>
              <a:t>: Jenny</a:t>
            </a:r>
          </a:p>
          <a:p>
            <a:r>
              <a:rPr lang="zh-CN" altLang="en-US" sz="2400" b="1" dirty="0"/>
              <a:t>地点</a:t>
            </a:r>
            <a:r>
              <a:rPr lang="en-US" altLang="zh-CN" sz="2400" b="1" dirty="0"/>
              <a:t>: 1111</a:t>
            </a:r>
          </a:p>
          <a:p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938991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B29B47-EC84-43FD-A4C0-D6293449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68a9074-949f-4b0d-a10f-3aa3c5e52748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68a9074-949f-4b0d-a10f-3aa3c5e52748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68a9074-949f-4b0d-a10f-3aa3c5e52748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b70f71d-30e0-40cd-a631-ce620f8f9f53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155bef9-03bd-423b-baef-e34a03ede219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e696d1b-1a16-408e-97e2-199775c0e08f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c877bd7-fcec-4e50-afec-337845747d26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71a5fed-29ec-43c2-aeb3-eb597a0ba5e6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5955d7f-c076-4dea-9ec9-4be3c032c489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6059</Words>
  <Application>Microsoft Office PowerPoint</Application>
  <PresentationFormat>宽屏</PresentationFormat>
  <Paragraphs>975</Paragraphs>
  <Slides>90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90</vt:i4>
      </vt:variant>
    </vt:vector>
  </HeadingPairs>
  <TitlesOfParts>
    <vt:vector size="105" baseType="lpstr">
      <vt:lpstr>PingFang SC</vt:lpstr>
      <vt:lpstr>黑体</vt:lpstr>
      <vt:lpstr>华文新魏</vt:lpstr>
      <vt:lpstr>宋体</vt:lpstr>
      <vt:lpstr>微软雅黑</vt:lpstr>
      <vt:lpstr>Arial</vt:lpstr>
      <vt:lpstr>Calibri</vt:lpstr>
      <vt:lpstr>Calibri Light</vt:lpstr>
      <vt:lpstr>Cambria</vt:lpstr>
      <vt:lpstr>Century Gothic</vt:lpstr>
      <vt:lpstr>Viner Hand ITC</vt:lpstr>
      <vt:lpstr>Wingdings</vt:lpstr>
      <vt:lpstr>当图网</vt:lpstr>
      <vt:lpstr>当图网1</vt:lpstr>
      <vt:lpstr>水汽尾迹</vt:lpstr>
      <vt:lpstr>PowerPoint 演示文稿</vt:lpstr>
      <vt:lpstr>目录</vt:lpstr>
      <vt:lpstr>10.1 面向对象程序设计基础</vt:lpstr>
      <vt:lpstr>11.1.1 面向过程 vs 面向对象</vt:lpstr>
      <vt:lpstr>2. 面向对象程序设计</vt:lpstr>
      <vt:lpstr>面向对象程序设计的优点</vt:lpstr>
      <vt:lpstr>11.1.2 面向对象的基本概念</vt:lpstr>
      <vt:lpstr>10.2 类与对象</vt:lpstr>
      <vt:lpstr>11.2.1 类的定义</vt:lpstr>
      <vt:lpstr>定义一个Person类的例子</vt:lpstr>
      <vt:lpstr>11.2.2 对象的创建和使用</vt:lpstr>
      <vt:lpstr>例11-1 创建Employee类，并创建两个Employee对象，访问其属性和方法</vt:lpstr>
      <vt:lpstr>接上一页（续）</vt:lpstr>
      <vt:lpstr>PowerPoint 演示文稿</vt:lpstr>
      <vt:lpstr>PowerPoint 演示文稿</vt:lpstr>
      <vt:lpstr>[例]</vt:lpstr>
      <vt:lpstr>10.3 属性</vt:lpstr>
      <vt:lpstr>什么是属性？</vt:lpstr>
      <vt:lpstr>11.3.1 实例属性和类属性</vt:lpstr>
      <vt:lpstr>例11-2 定义一个Student类，设置有实例属性ID、name、sex，分别创建两个对象st1和st2，并通过调用方法输出其姓名</vt:lpstr>
      <vt:lpstr>接上页（续）</vt:lpstr>
      <vt:lpstr>2. 类属性</vt:lpstr>
      <vt:lpstr>例11-3 定义一个Team类，设置有类属性company、boss，以及实例属性ID和leader。创建两个对象t1和t2，分别输出其信息</vt:lpstr>
      <vt:lpstr>接上一页（续）</vt:lpstr>
      <vt:lpstr>11.3.2 私有属性和公有属性</vt:lpstr>
      <vt:lpstr>例如：</vt:lpstr>
      <vt:lpstr>11.3.3 特殊属性与方法</vt:lpstr>
      <vt:lpstr>特殊属性和方法（续1）</vt:lpstr>
      <vt:lpstr>特殊属性和方法（续2）</vt:lpstr>
      <vt:lpstr>10.4 方法</vt:lpstr>
      <vt:lpstr>什么是方法？</vt:lpstr>
      <vt:lpstr>11.4.1 实例方法</vt:lpstr>
      <vt:lpstr>例11-4 实例方法的例子</vt:lpstr>
      <vt:lpstr>实例方法的注意事项</vt:lpstr>
      <vt:lpstr>11.4.2 类方法</vt:lpstr>
      <vt:lpstr>例11-5 类方法的例子</vt:lpstr>
      <vt:lpstr>接上一页（续1）</vt:lpstr>
      <vt:lpstr>接上一页（续2）</vt:lpstr>
      <vt:lpstr>11.4.3 静态方法</vt:lpstr>
      <vt:lpstr>例11-6 静态方法的例子</vt:lpstr>
      <vt:lpstr>10.5 继承和多态</vt:lpstr>
      <vt:lpstr>11.5.1 继承</vt:lpstr>
      <vt:lpstr>11.5.1 继承</vt:lpstr>
      <vt:lpstr>例11-7 创建父类Person，派生出子类Man</vt:lpstr>
      <vt:lpstr>接上一页（续1）</vt:lpstr>
      <vt:lpstr>接下一页（续2）</vt:lpstr>
      <vt:lpstr>11.5.2 多态</vt:lpstr>
      <vt:lpstr>例11-8 定义三个类Circle、Square和Rectangle，它们都有求面积的Area()方法</vt:lpstr>
      <vt:lpstr>接上一页（续1）</vt:lpstr>
      <vt:lpstr>接上一页（续2）</vt:lpstr>
      <vt:lpstr>接上一页（续3）</vt:lpstr>
      <vt:lpstr>10.6 重载*</vt:lpstr>
      <vt:lpstr>什么是重载？</vt:lpstr>
      <vt:lpstr>Python在运算符重载方面的限制</vt:lpstr>
      <vt:lpstr>常见运算符与对应的特殊方法（1）</vt:lpstr>
      <vt:lpstr>常见运算符与对应的特殊方法（2） </vt:lpstr>
      <vt:lpstr>常见运算符与对应的特殊方法（3） </vt:lpstr>
      <vt:lpstr>常见运算符与对应的特殊方法（4） </vt:lpstr>
      <vt:lpstr>常见运算符与对应的特殊方法（5） </vt:lpstr>
      <vt:lpstr>常见运算符与对应的特殊方法（6） </vt:lpstr>
      <vt:lpstr>例11-9 设计一个新的数值类型，有自己的表示形式，并重载运算符+ </vt:lpstr>
      <vt:lpstr>接上一页（续）</vt:lpstr>
      <vt:lpstr>10.7 面向对象程序设计 应用举例</vt:lpstr>
      <vt:lpstr>例11-10 定义一个Dog类，类属性有名字（name）、毛色（color）、体重（weight），方法为叫（bark），调用该方法时输出“wang！Wang！”</vt:lpstr>
      <vt:lpstr>例11-11 设计一个Rectangle类，属性为左上角和右下角的坐标，编写方法，实现根据坐标计算矩形的面积</vt:lpstr>
      <vt:lpstr>接上一页（续）</vt:lpstr>
      <vt:lpstr>例11-12 首先设计一个颜色类作为基类，包括红、绿、蓝三原色成员变量，并添加构造方法、显示三原色值的方法以及修改红色值的方法；接着设计一个颜色类的派生类叫彩虹类，它在颜色类的基础上再增加四种颜色，即橙、黄、青、紫，也添加构造方法，显示颜色和修改紫色值的方法，最后在主模块中定义这两个类的对象，测试所设计的方法并显示最后结果</vt:lpstr>
      <vt:lpstr>接上一页（续1）</vt:lpstr>
      <vt:lpstr>接上一页（续2）</vt:lpstr>
      <vt:lpstr>接上一页（续3）</vt:lpstr>
      <vt:lpstr>接上一页（续4）</vt:lpstr>
      <vt:lpstr>例11-13 为学校人事部门设计一个简单的人事管理程序，满足如下要求：</vt:lpstr>
      <vt:lpstr> </vt:lpstr>
      <vt:lpstr>续</vt:lpstr>
      <vt:lpstr>续</vt:lpstr>
      <vt:lpstr>续</vt:lpstr>
      <vt:lpstr>续</vt:lpstr>
      <vt:lpstr>续</vt:lpstr>
      <vt:lpstr>本章习题  P237</vt:lpstr>
      <vt:lpstr>课后作业</vt:lpstr>
      <vt:lpstr>5.Self对于对象有什么意义？</vt:lpstr>
      <vt:lpstr>10.设计一个Date类，属性包括Year,month和day，包含如下方法：取年份，提取月份，提取日，输出日期。</vt:lpstr>
      <vt:lpstr>PowerPoint 演示文稿</vt:lpstr>
      <vt:lpstr>PowerPoint 演示文稿</vt:lpstr>
      <vt:lpstr>11.定义一个圆类，具有圆心位置，半径，颜色属性，拥有方法能够设置属性值，获取属性值，计算周长和面积。</vt:lpstr>
      <vt:lpstr>11.</vt:lpstr>
      <vt:lpstr>11.</vt:lpstr>
      <vt:lpstr>12.设计一个课程类，包括课程编号，课程名称，教师，地点等成员，其中地点是私有的，构造方法：显示课程信息，在主模块中定义类的对象并测试结果。</vt:lpstr>
      <vt:lpstr>12.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Julia</cp:lastModifiedBy>
  <cp:revision>128</cp:revision>
  <dcterms:created xsi:type="dcterms:W3CDTF">2018-10-09T06:59:00Z</dcterms:created>
  <dcterms:modified xsi:type="dcterms:W3CDTF">2023-05-22T13:12:07Z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