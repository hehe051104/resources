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notesSlides/notesSlide2.xml" ContentType="application/vnd.openxmlformats-officedocument.presentationml.notesSlide+xml"/>
  <Override PartName="/ppt/tags/tag100.xml" ContentType="application/vnd.openxmlformats-officedocument.presentationml.tags+xml"/>
  <Override PartName="/ppt/notesSlides/notesSlide3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77"/>
  </p:notesMasterIdLst>
  <p:sldIdLst>
    <p:sldId id="582" r:id="rId6"/>
    <p:sldId id="485" r:id="rId7"/>
    <p:sldId id="483" r:id="rId8"/>
    <p:sldId id="498" r:id="rId9"/>
    <p:sldId id="500" r:id="rId10"/>
    <p:sldId id="583" r:id="rId11"/>
    <p:sldId id="501" r:id="rId12"/>
    <p:sldId id="502" r:id="rId13"/>
    <p:sldId id="584" r:id="rId14"/>
    <p:sldId id="503" r:id="rId15"/>
    <p:sldId id="504" r:id="rId16"/>
    <p:sldId id="505" r:id="rId17"/>
    <p:sldId id="506" r:id="rId18"/>
    <p:sldId id="585" r:id="rId19"/>
    <p:sldId id="508" r:id="rId20"/>
    <p:sldId id="507" r:id="rId21"/>
    <p:sldId id="509" r:id="rId22"/>
    <p:sldId id="586" r:id="rId23"/>
    <p:sldId id="601" r:id="rId24"/>
    <p:sldId id="510" r:id="rId25"/>
    <p:sldId id="602" r:id="rId26"/>
    <p:sldId id="511" r:id="rId27"/>
    <p:sldId id="512" r:id="rId28"/>
    <p:sldId id="513" r:id="rId29"/>
    <p:sldId id="514" r:id="rId30"/>
    <p:sldId id="515" r:id="rId31"/>
    <p:sldId id="488" r:id="rId32"/>
    <p:sldId id="499" r:id="rId33"/>
    <p:sldId id="516" r:id="rId34"/>
    <p:sldId id="517" r:id="rId35"/>
    <p:sldId id="518" r:id="rId36"/>
    <p:sldId id="519" r:id="rId37"/>
    <p:sldId id="520" r:id="rId38"/>
    <p:sldId id="521" r:id="rId39"/>
    <p:sldId id="522" r:id="rId40"/>
    <p:sldId id="523" r:id="rId41"/>
    <p:sldId id="524" r:id="rId42"/>
    <p:sldId id="525" r:id="rId43"/>
    <p:sldId id="587" r:id="rId44"/>
    <p:sldId id="526" r:id="rId45"/>
    <p:sldId id="589" r:id="rId46"/>
    <p:sldId id="588" r:id="rId47"/>
    <p:sldId id="528" r:id="rId48"/>
    <p:sldId id="529" r:id="rId49"/>
    <p:sldId id="590" r:id="rId50"/>
    <p:sldId id="530" r:id="rId51"/>
    <p:sldId id="531" r:id="rId52"/>
    <p:sldId id="527" r:id="rId53"/>
    <p:sldId id="490" r:id="rId54"/>
    <p:sldId id="532" r:id="rId55"/>
    <p:sldId id="603" r:id="rId56"/>
    <p:sldId id="533" r:id="rId57"/>
    <p:sldId id="534" r:id="rId58"/>
    <p:sldId id="535" r:id="rId59"/>
    <p:sldId id="604" r:id="rId60"/>
    <p:sldId id="536" r:id="rId61"/>
    <p:sldId id="537" r:id="rId62"/>
    <p:sldId id="577" r:id="rId63"/>
    <p:sldId id="573" r:id="rId64"/>
    <p:sldId id="578" r:id="rId65"/>
    <p:sldId id="597" r:id="rId66"/>
    <p:sldId id="591" r:id="rId67"/>
    <p:sldId id="592" r:id="rId68"/>
    <p:sldId id="598" r:id="rId69"/>
    <p:sldId id="593" r:id="rId70"/>
    <p:sldId id="599" r:id="rId71"/>
    <p:sldId id="594" r:id="rId72"/>
    <p:sldId id="595" r:id="rId73"/>
    <p:sldId id="600" r:id="rId74"/>
    <p:sldId id="596" r:id="rId75"/>
    <p:sldId id="497" r:id="rId76"/>
  </p:sldIdLst>
  <p:sldSz cx="12192000" cy="6858000"/>
  <p:notesSz cx="6858000" cy="9144000"/>
  <p:custDataLst>
    <p:tags r:id="rId7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=""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60"/>
  </p:normalViewPr>
  <p:slideViewPr>
    <p:cSldViewPr showGuides="1">
      <p:cViewPr varScale="1">
        <p:scale>
          <a:sx n="78" d="100"/>
          <a:sy n="78" d="100"/>
        </p:scale>
        <p:origin x="726" y="13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gs" Target="tags/tag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14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49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7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9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1.png"/><Relationship Id="rId5" Type="http://schemas.openxmlformats.org/officeDocument/2006/relationships/tags" Target="../tags/tag27.xml"/><Relationship Id="rId10" Type="http://schemas.openxmlformats.org/officeDocument/2006/relationships/image" Target="../media/image10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2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5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8.png"/><Relationship Id="rId5" Type="http://schemas.openxmlformats.org/officeDocument/2006/relationships/tags" Target="../tags/tag93.xml"/><Relationship Id="rId10" Type="http://schemas.openxmlformats.org/officeDocument/2006/relationships/image" Target="../media/image17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904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1071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720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6260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04370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2242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330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46236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8273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067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4093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26749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73531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1817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7875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49068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5270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8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0278209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6218549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336" y="117793"/>
            <a:ext cx="8620150" cy="803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336" y="1268760"/>
            <a:ext cx="11809312" cy="5394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6979" y="63558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0437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7.xml"/><Relationship Id="rId5" Type="http://schemas.openxmlformats.org/officeDocument/2006/relationships/slide" Target="slide49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0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5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5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5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7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字典与集合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7.1 </a:t>
            </a:r>
            <a:r>
              <a:rPr sz="3200" dirty="0">
                <a:hlinkClick r:id="rId3" action="ppaction://hlinksldjump"/>
              </a:rPr>
              <a:t>字典</a:t>
            </a:r>
            <a:endParaRPr lang="zh-CN" altLang="en-US" sz="3200" dirty="0"/>
          </a:p>
          <a:p>
            <a:r>
              <a:rPr lang="en-US" altLang="zh-CN" sz="3200" dirty="0"/>
              <a:t>7.2 </a:t>
            </a:r>
            <a:r>
              <a:rPr sz="3200" dirty="0">
                <a:hlinkClick r:id="rId4" action="ppaction://hlinksldjump"/>
              </a:rPr>
              <a:t>集合</a:t>
            </a:r>
            <a:endParaRPr lang="zh-CN" altLang="en-US" sz="3200" dirty="0"/>
          </a:p>
          <a:p>
            <a:r>
              <a:rPr lang="en-US" altLang="zh-CN" sz="3200" dirty="0"/>
              <a:t>7.3 </a:t>
            </a:r>
            <a:r>
              <a:rPr sz="3200" dirty="0">
                <a:hlinkClick r:id="rId5" action="ppaction://hlinksldjump"/>
              </a:rPr>
              <a:t>应用举例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7AF0C5-B6B7-4F35-8853-910D8E99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7.1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字典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BB1BD7-14C1-4296-8ABD-4541C72E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7.1.1 </a:t>
            </a:r>
            <a:r>
              <a:rPr lang="zh-CN" altLang="en-US" dirty="0"/>
              <a:t>字典概述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&gt;&gt;&gt;d1={1:’Monday’, 2:’Tuesday’, 3:’Wednesday’}</a:t>
            </a:r>
          </a:p>
          <a:p>
            <a:r>
              <a:rPr lang="zh-CN" altLang="en-US" dirty="0"/>
              <a:t>字典</a:t>
            </a:r>
            <a:r>
              <a:rPr lang="en-US" altLang="zh-CN" dirty="0"/>
              <a:t>(</a:t>
            </a:r>
            <a:r>
              <a:rPr lang="en-US" altLang="zh-CN" dirty="0" err="1"/>
              <a:t>dict</a:t>
            </a:r>
            <a:r>
              <a:rPr lang="en-US" altLang="zh-CN" dirty="0"/>
              <a:t>)</a:t>
            </a:r>
            <a:r>
              <a:rPr lang="zh-CN" altLang="en-US" dirty="0"/>
              <a:t>，是包含若干对“键</a:t>
            </a:r>
            <a:r>
              <a:rPr lang="en-US" altLang="zh-CN" dirty="0"/>
              <a:t>: </a:t>
            </a:r>
            <a:r>
              <a:rPr lang="zh-CN" altLang="en-US" dirty="0"/>
              <a:t>值（</a:t>
            </a:r>
            <a:r>
              <a:rPr lang="en-US" altLang="zh-CN" dirty="0"/>
              <a:t>key: value</a:t>
            </a:r>
            <a:r>
              <a:rPr lang="zh-CN" altLang="en-US" dirty="0"/>
              <a:t>）”元素的无序且可变的序列。</a:t>
            </a:r>
            <a:endParaRPr lang="en-US" altLang="zh-CN" dirty="0"/>
          </a:p>
          <a:p>
            <a:r>
              <a:rPr lang="zh-CN" altLang="zh-CN" dirty="0"/>
              <a:t>“键值对”</a:t>
            </a:r>
            <a:r>
              <a:rPr lang="zh-CN" altLang="en-US" dirty="0"/>
              <a:t>内部</a:t>
            </a:r>
            <a:r>
              <a:rPr lang="zh-CN" altLang="zh-CN" dirty="0"/>
              <a:t>用</a:t>
            </a:r>
            <a:r>
              <a:rPr lang="en-US" altLang="zh-CN" dirty="0"/>
              <a:t>:</a:t>
            </a:r>
            <a:r>
              <a:rPr lang="zh-CN" altLang="zh-CN" dirty="0"/>
              <a:t>分隔，</a:t>
            </a:r>
            <a:endParaRPr lang="en-US" altLang="zh-CN" dirty="0"/>
          </a:p>
          <a:p>
            <a:r>
              <a:rPr lang="zh-CN" altLang="zh-CN" dirty="0"/>
              <a:t>每个键值对之间用</a:t>
            </a:r>
            <a:r>
              <a:rPr lang="en-US" altLang="zh-CN" dirty="0"/>
              <a:t>,</a:t>
            </a:r>
            <a:r>
              <a:rPr lang="zh-CN" altLang="zh-CN" dirty="0"/>
              <a:t>分隔，</a:t>
            </a:r>
            <a:endParaRPr lang="en-US" altLang="zh-CN" dirty="0"/>
          </a:p>
          <a:p>
            <a:r>
              <a:rPr lang="zh-CN" altLang="en-US" dirty="0"/>
              <a:t>花括号</a:t>
            </a:r>
            <a:r>
              <a:rPr lang="en-US" altLang="zh-CN" dirty="0"/>
              <a:t>{}</a:t>
            </a:r>
            <a:r>
              <a:rPr lang="zh-CN" altLang="zh-CN" dirty="0"/>
              <a:t>中</a:t>
            </a:r>
            <a:endParaRPr lang="en-US" altLang="zh-CN" dirty="0"/>
          </a:p>
          <a:p>
            <a:r>
              <a:rPr lang="zh-CN" altLang="zh-CN" dirty="0"/>
              <a:t>“键”</a:t>
            </a:r>
            <a:r>
              <a:rPr lang="en-US" altLang="zh-CN" dirty="0"/>
              <a:t>——</a:t>
            </a:r>
            <a:r>
              <a:rPr lang="zh-CN" altLang="en-US" dirty="0"/>
              <a:t>不能重复；</a:t>
            </a:r>
            <a:r>
              <a:rPr lang="zh-CN" altLang="zh-CN" dirty="0"/>
              <a:t>可以是任意不可变数据</a:t>
            </a:r>
            <a:endParaRPr lang="en-US" altLang="zh-CN" dirty="0"/>
          </a:p>
          <a:p>
            <a:r>
              <a:rPr lang="zh-CN" altLang="zh-CN" dirty="0"/>
              <a:t>“值”</a:t>
            </a:r>
            <a:r>
              <a:rPr lang="en-US" altLang="zh-CN" dirty="0"/>
              <a:t>——</a:t>
            </a:r>
            <a:r>
              <a:rPr lang="zh-CN" altLang="zh-CN" dirty="0"/>
              <a:t>可以重复。</a:t>
            </a:r>
            <a:endParaRPr lang="en-US" altLang="zh-CN" dirty="0"/>
          </a:p>
          <a:p>
            <a:r>
              <a:rPr lang="zh-CN" altLang="zh-CN" dirty="0"/>
              <a:t>对字典的所有操作默认都是通过“键”来完成的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4C968B-0A89-4013-A4B5-8B878FE3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20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7.1.2 </a:t>
            </a:r>
            <a:r>
              <a:rPr lang="zh-CN" altLang="en-US" dirty="0"/>
              <a:t>字典的创建、元素引用及删除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8090371" cy="1980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．字典的创建</a:t>
            </a:r>
            <a:endParaRPr lang="en-US" altLang="zh-CN" sz="2800" b="1" dirty="0"/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911424" y="2086813"/>
            <a:ext cx="10081120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{}                           	# </a:t>
            </a:r>
            <a:r>
              <a:rPr lang="zh-CN" altLang="zh-CN" sz="2400" b="1" dirty="0">
                <a:solidFill>
                  <a:schemeClr val="tx1"/>
                </a:solidFill>
              </a:rPr>
              <a:t>创建空字典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{'a': 1, 'b': 2, 'c': 3} 	# </a:t>
            </a:r>
            <a:r>
              <a:rPr lang="zh-CN" altLang="zh-CN" sz="2400" b="1" dirty="0">
                <a:solidFill>
                  <a:schemeClr val="tx1"/>
                </a:solidFill>
              </a:rPr>
              <a:t>用“</a:t>
            </a:r>
            <a:r>
              <a:rPr lang="en-US" altLang="zh-CN" sz="2400" b="1" dirty="0">
                <a:solidFill>
                  <a:schemeClr val="tx1"/>
                </a:solidFill>
              </a:rPr>
              <a:t>=</a:t>
            </a:r>
            <a:r>
              <a:rPr lang="zh-CN" altLang="zh-CN" sz="2400" b="1" dirty="0">
                <a:solidFill>
                  <a:schemeClr val="tx1"/>
                </a:solidFill>
              </a:rPr>
              <a:t>”将一个字典赋值给一个变量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dict3 =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()                     	# </a:t>
            </a:r>
            <a:r>
              <a:rPr lang="zh-CN" altLang="en-US" sz="2400" b="1" dirty="0">
                <a:solidFill>
                  <a:schemeClr val="tx1"/>
                </a:solidFill>
              </a:rPr>
              <a:t>使用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()</a:t>
            </a:r>
            <a:r>
              <a:rPr lang="zh-CN" altLang="en-US" sz="2400" b="1" dirty="0">
                <a:solidFill>
                  <a:schemeClr val="tx1"/>
                </a:solidFill>
              </a:rPr>
              <a:t>函数</a:t>
            </a:r>
            <a:r>
              <a:rPr lang="zh-CN" altLang="zh-CN" sz="2400" b="1" dirty="0">
                <a:solidFill>
                  <a:schemeClr val="tx1"/>
                </a:solidFill>
              </a:rPr>
              <a:t>创建空字典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dict4 =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(name='Tom', age=20)     #</a:t>
            </a:r>
            <a:r>
              <a:rPr lang="zh-CN" altLang="zh-CN" sz="2400" b="1" dirty="0">
                <a:solidFill>
                  <a:schemeClr val="tx1"/>
                </a:solidFill>
              </a:rPr>
              <a:t>以参数的形式创建字典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dict4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{'name': 'Tom', 'age': 20}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FD9B81-7321-410E-8A84-3CCA4D4E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29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3D77E-0808-4D47-ABAE-B0568E93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CB65FA-BDFC-4087-A0E8-10F3BBF05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268760"/>
            <a:ext cx="11377264" cy="539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# zip()</a:t>
            </a:r>
            <a:r>
              <a:rPr lang="zh-CN" altLang="en-US" sz="2800" b="1" dirty="0">
                <a:solidFill>
                  <a:schemeClr val="tx1"/>
                </a:solidFill>
              </a:rPr>
              <a:t>创建</a:t>
            </a:r>
            <a:r>
              <a:rPr lang="en-US" altLang="zh-CN" sz="2800" b="1" dirty="0" err="1">
                <a:solidFill>
                  <a:schemeClr val="tx1"/>
                </a:solidFill>
              </a:rPr>
              <a:t>dict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&gt;&gt;&gt; keys = ['a', 'b', 'c', 'd']          # </a:t>
            </a:r>
            <a:r>
              <a:rPr lang="zh-CN" altLang="zh-CN" sz="2800" b="1" dirty="0">
                <a:solidFill>
                  <a:schemeClr val="tx1"/>
                </a:solidFill>
              </a:rPr>
              <a:t>存储“键”的列表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&gt;&gt;&gt; values = [1, 2, 3, 4]                # </a:t>
            </a:r>
            <a:r>
              <a:rPr lang="zh-CN" altLang="zh-CN" sz="2800" b="1" dirty="0">
                <a:solidFill>
                  <a:schemeClr val="tx1"/>
                </a:solidFill>
              </a:rPr>
              <a:t>存储“值”的列表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&gt;&gt;&gt; dict5 = </a:t>
            </a:r>
            <a:r>
              <a:rPr lang="en-US" altLang="zh-CN" sz="2800" b="1" dirty="0" err="1">
                <a:solidFill>
                  <a:schemeClr val="tx1"/>
                </a:solidFill>
              </a:rPr>
              <a:t>dict</a:t>
            </a:r>
            <a:r>
              <a:rPr lang="en-US" altLang="zh-CN" sz="2800" b="1" dirty="0">
                <a:solidFill>
                  <a:schemeClr val="tx1"/>
                </a:solidFill>
              </a:rPr>
              <a:t>(zip(keys, values))   # </a:t>
            </a:r>
            <a:r>
              <a:rPr lang="zh-CN" altLang="zh-CN" sz="2800" b="1" dirty="0">
                <a:solidFill>
                  <a:schemeClr val="tx1"/>
                </a:solidFill>
              </a:rPr>
              <a:t>调用</a:t>
            </a:r>
            <a:r>
              <a:rPr lang="en-US" altLang="zh-CN" sz="2800" b="1" dirty="0">
                <a:solidFill>
                  <a:schemeClr val="tx1"/>
                </a:solidFill>
              </a:rPr>
              <a:t>zip</a:t>
            </a:r>
            <a:r>
              <a:rPr lang="zh-CN" altLang="zh-CN" sz="2800" b="1" dirty="0">
                <a:solidFill>
                  <a:schemeClr val="tx1"/>
                </a:solidFill>
              </a:rPr>
              <a:t>函数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&gt;&gt;&gt; dict5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{'a': 1, 'b': 2, 'c': 3, 'd': 4}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13C62F-C931-48C5-A420-849017F2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1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．字典元素的引用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格式：</a:t>
            </a:r>
            <a:r>
              <a:rPr lang="zh-CN" altLang="zh-CN" dirty="0"/>
              <a:t>字典名</a:t>
            </a:r>
            <a:r>
              <a:rPr lang="en-US" altLang="zh-CN" dirty="0"/>
              <a:t>[</a:t>
            </a:r>
            <a:r>
              <a:rPr lang="zh-CN" altLang="zh-CN" dirty="0"/>
              <a:t>键</a:t>
            </a:r>
            <a:r>
              <a:rPr lang="en-US" altLang="zh-CN" dirty="0"/>
              <a:t>]</a:t>
            </a:r>
            <a:endParaRPr lang="zh-CN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(1) </a:t>
            </a:r>
            <a:r>
              <a:rPr lang="zh-CN" altLang="zh-CN" dirty="0"/>
              <a:t>字典属于无序序列，不能用下标</a:t>
            </a:r>
            <a:r>
              <a:rPr lang="zh-CN" altLang="en-US" dirty="0"/>
              <a:t>引用</a:t>
            </a:r>
            <a:r>
              <a:rPr lang="zh-CN" altLang="zh-CN" dirty="0"/>
              <a:t>元素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(2) </a:t>
            </a:r>
            <a:r>
              <a:rPr lang="zh-CN" altLang="zh-CN" dirty="0"/>
              <a:t>字典中的每个元素存在一种映射关系，可以使用“键”作为下标来访问对应的“值”，如果该“键”不在字典中，则访问会抛出异常。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90C9D-FC94-449B-B010-98C072A2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82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9416" y="116632"/>
            <a:ext cx="10297144" cy="674030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{'name': 'Tom', 'age': 20}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dict1['age']           	# </a:t>
            </a:r>
            <a:r>
              <a:rPr lang="zh-CN" altLang="zh-CN" sz="2400" b="1" dirty="0">
                <a:solidFill>
                  <a:schemeClr val="tx1"/>
                </a:solidFill>
              </a:rPr>
              <a:t>通过“键”来引用其对应的“值”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20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dict1['age'] = 21        	# </a:t>
            </a:r>
            <a:r>
              <a:rPr lang="zh-CN" altLang="zh-CN" sz="2400" b="1" dirty="0">
                <a:solidFill>
                  <a:schemeClr val="tx1"/>
                </a:solidFill>
              </a:rPr>
              <a:t>直接修改字典元素的值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{'name': 'Tom', 'age': 21}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增加键值对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dict1['sex'] = 'male'     	# 'sex'</a:t>
            </a:r>
            <a:r>
              <a:rPr lang="zh-CN" altLang="zh-CN" sz="2400" b="1" dirty="0">
                <a:solidFill>
                  <a:schemeClr val="tx1"/>
                </a:solidFill>
              </a:rPr>
              <a:t>键不存在，此时直接添加元素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{'age': 20, 'name': 'Tom', 'sex': 'male’}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</a:t>
            </a:r>
            <a:r>
              <a:rPr lang="zh-CN" altLang="en-US" sz="2400" b="1" dirty="0">
                <a:solidFill>
                  <a:schemeClr val="tx1"/>
                </a:solidFill>
              </a:rPr>
              <a:t>引用不存在的</a:t>
            </a:r>
            <a:r>
              <a:rPr lang="en-US" altLang="zh-CN" sz="2400" b="1" dirty="0">
                <a:solidFill>
                  <a:schemeClr val="tx1"/>
                </a:solidFill>
              </a:rPr>
              <a:t>key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dict1['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']         	# </a:t>
            </a:r>
            <a:r>
              <a:rPr lang="zh-CN" altLang="zh-CN" sz="2400" b="1" dirty="0">
                <a:solidFill>
                  <a:schemeClr val="tx1"/>
                </a:solidFill>
              </a:rPr>
              <a:t>没有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zh-CN" altLang="zh-CN" sz="2400" b="1" dirty="0">
                <a:solidFill>
                  <a:schemeClr val="tx1"/>
                </a:solidFill>
              </a:rPr>
              <a:t>键，抛出异常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Traceback (most recent call last):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  File "&lt;pyshell#17&gt;", line 1, in &lt;module&gt;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dict1[‘</a:t>
            </a:r>
            <a:r>
              <a:rPr lang="en-US" altLang="zh-CN" sz="2000" b="1" dirty="0" err="1">
                <a:solidFill>
                  <a:schemeClr val="tx1"/>
                </a:solidFill>
              </a:rPr>
              <a:t>addr</a:t>
            </a:r>
            <a:r>
              <a:rPr lang="en-US" altLang="zh-CN" sz="2000" b="1" dirty="0">
                <a:solidFill>
                  <a:schemeClr val="tx1"/>
                </a:solidFill>
              </a:rPr>
              <a:t>’]</a:t>
            </a:r>
          </a:p>
          <a:p>
            <a:r>
              <a:rPr lang="en-US" altLang="zh-CN" sz="2000" b="1" dirty="0" err="1">
                <a:solidFill>
                  <a:schemeClr val="tx1"/>
                </a:solidFill>
              </a:rPr>
              <a:t>KeyError</a:t>
            </a:r>
            <a:r>
              <a:rPr lang="en-US" altLang="zh-CN" sz="2000" b="1" dirty="0">
                <a:solidFill>
                  <a:schemeClr val="tx1"/>
                </a:solidFill>
              </a:rPr>
              <a:t>: ‘</a:t>
            </a:r>
            <a:r>
              <a:rPr lang="en-US" altLang="zh-CN" sz="2000" b="1" dirty="0" err="1">
                <a:solidFill>
                  <a:schemeClr val="tx1"/>
                </a:solidFill>
              </a:rPr>
              <a:t>addr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3B0DAF-CA0A-4001-84DA-C514632B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5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9416" y="332656"/>
            <a:ext cx="11089232" cy="443198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get()</a:t>
            </a:r>
            <a:r>
              <a:rPr lang="zh-CN" altLang="en-US" sz="2400" b="1" dirty="0">
                <a:solidFill>
                  <a:schemeClr val="tx1"/>
                </a:solidFill>
              </a:rPr>
              <a:t>方法获得指定</a:t>
            </a:r>
            <a:r>
              <a:rPr lang="en-US" altLang="zh-CN" sz="2400" b="1" dirty="0">
                <a:solidFill>
                  <a:schemeClr val="tx1"/>
                </a:solidFill>
              </a:rPr>
              <a:t>key</a:t>
            </a:r>
            <a:r>
              <a:rPr lang="zh-CN" altLang="en-US" sz="2400" b="1" dirty="0">
                <a:solidFill>
                  <a:schemeClr val="tx1"/>
                </a:solidFill>
              </a:rPr>
              <a:t>的值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dict1.get(‘age’)    	#</a:t>
            </a:r>
            <a:r>
              <a:rPr lang="zh-CN" altLang="en-US" sz="2400" b="1" dirty="0">
                <a:solidFill>
                  <a:schemeClr val="tx1"/>
                </a:solidFill>
              </a:rPr>
              <a:t>使用</a:t>
            </a:r>
            <a:r>
              <a:rPr lang="en-US" altLang="zh-CN" sz="2400" b="1" dirty="0">
                <a:solidFill>
                  <a:schemeClr val="tx1"/>
                </a:solidFill>
              </a:rPr>
              <a:t>get()</a:t>
            </a:r>
            <a:r>
              <a:rPr lang="zh-CN" altLang="zh-CN" sz="2400" b="1" dirty="0">
                <a:solidFill>
                  <a:schemeClr val="tx1"/>
                </a:solidFill>
              </a:rPr>
              <a:t>方法获得指定“键”对应的“值”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20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&gt;&gt;&gt;dict1.</a:t>
            </a:r>
            <a:r>
              <a:rPr lang="zh-CN" altLang="en-US" sz="2400" b="1" dirty="0">
                <a:solidFill>
                  <a:schemeClr val="tx1"/>
                </a:solidFill>
              </a:rPr>
              <a:t>个体（</a:t>
            </a:r>
            <a:r>
              <a:rPr lang="en-US" altLang="zh-CN" sz="2400" b="1" dirty="0">
                <a:solidFill>
                  <a:schemeClr val="tx1"/>
                </a:solidFill>
              </a:rPr>
              <a:t>’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’)  #</a:t>
            </a:r>
            <a:r>
              <a:rPr lang="zh-CN" altLang="en-US" sz="2400" b="1" dirty="0">
                <a:solidFill>
                  <a:schemeClr val="tx1"/>
                </a:solidFill>
              </a:rPr>
              <a:t>不存在的</a:t>
            </a:r>
            <a:r>
              <a:rPr lang="en-US" altLang="zh-CN" sz="2400" b="1" dirty="0">
                <a:solidFill>
                  <a:schemeClr val="tx1"/>
                </a:solidFill>
              </a:rPr>
              <a:t>key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None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如果见不存在，返回指定值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dict1.get(‘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’, ‘No Key’)  # </a:t>
            </a:r>
            <a:r>
              <a:rPr lang="zh-CN" altLang="en-US" sz="2400" b="1" dirty="0">
                <a:solidFill>
                  <a:schemeClr val="tx1"/>
                </a:solidFill>
              </a:rPr>
              <a:t>如果</a:t>
            </a:r>
            <a:r>
              <a:rPr lang="en-US" altLang="zh-CN" sz="2400" b="1" dirty="0" err="1">
                <a:solidFill>
                  <a:schemeClr val="tx1"/>
                </a:solidFill>
              </a:rPr>
              <a:t>key’addr</a:t>
            </a:r>
            <a:r>
              <a:rPr lang="en-US" altLang="zh-CN" sz="2400" b="1" dirty="0">
                <a:solidFill>
                  <a:schemeClr val="tx1"/>
                </a:solidFill>
              </a:rPr>
              <a:t>’</a:t>
            </a:r>
            <a:r>
              <a:rPr lang="zh-CN" altLang="en-US" sz="2400" b="1" dirty="0">
                <a:solidFill>
                  <a:schemeClr val="tx1"/>
                </a:solidFill>
              </a:rPr>
              <a:t>不存在</a:t>
            </a:r>
            <a:r>
              <a:rPr lang="en-US" altLang="zh-CN" sz="2400" b="1" dirty="0">
                <a:solidFill>
                  <a:schemeClr val="tx1"/>
                </a:solidFill>
              </a:rPr>
              <a:t>,</a:t>
            </a:r>
            <a:r>
              <a:rPr lang="zh-CN" altLang="en-US" sz="2400" b="1" dirty="0">
                <a:solidFill>
                  <a:schemeClr val="tx1"/>
                </a:solidFill>
              </a:rPr>
              <a:t>返回</a:t>
            </a:r>
            <a:r>
              <a:rPr lang="en-US" altLang="zh-CN" sz="2400" b="1" dirty="0">
                <a:solidFill>
                  <a:schemeClr val="tx1"/>
                </a:solidFill>
              </a:rPr>
              <a:t>’No</a:t>
            </a:r>
            <a:r>
              <a:rPr lang="zh-CN" altLang="en-US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Key’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'No Key'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  <a:p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3B0DAF-CA0A-4001-84DA-C514632B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40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．字典的删除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5714107" cy="900703"/>
          </a:xfrm>
        </p:spPr>
        <p:txBody>
          <a:bodyPr/>
          <a:lstStyle/>
          <a:p>
            <a:r>
              <a:rPr lang="zh-CN" altLang="en-US" dirty="0"/>
              <a:t>格式： </a:t>
            </a:r>
            <a:r>
              <a:rPr lang="en-US" altLang="zh-CN" dirty="0"/>
              <a:t>del </a:t>
            </a:r>
            <a:r>
              <a:rPr lang="zh-CN" altLang="en-US" dirty="0"/>
              <a:t>字典名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1504" y="2204864"/>
            <a:ext cx="8496944" cy="295465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del dict1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&gt;&gt;&gt; dict1                     # dict1</a:t>
            </a:r>
            <a:r>
              <a:rPr lang="zh-CN" altLang="zh-CN" sz="2400" dirty="0">
                <a:solidFill>
                  <a:schemeClr val="tx1"/>
                </a:solidFill>
              </a:rPr>
              <a:t>已被删除，访问时会抛出异常</a:t>
            </a:r>
          </a:p>
          <a:p>
            <a:r>
              <a:rPr lang="en-US" altLang="zh-CN" sz="2400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dirty="0">
                <a:solidFill>
                  <a:schemeClr val="tx1"/>
                </a:solidFill>
              </a:rPr>
              <a:t> (most recent call last):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  File "&lt;pyshell#69&gt;", line 1, in &lt;module&gt;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    dict1</a:t>
            </a:r>
            <a:endParaRPr lang="zh-CN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 err="1">
                <a:solidFill>
                  <a:schemeClr val="tx1"/>
                </a:solidFill>
              </a:rPr>
              <a:t>NameError</a:t>
            </a:r>
            <a:r>
              <a:rPr lang="en-US" altLang="zh-CN" sz="2400" dirty="0">
                <a:solidFill>
                  <a:schemeClr val="tx1"/>
                </a:solidFill>
              </a:rPr>
              <a:t>: name 'dict1' is not defined</a:t>
            </a:r>
            <a:endParaRPr lang="zh-CN" altLang="zh-CN" sz="2400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89ECA4-A8A2-4DEB-881C-F5194BE7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85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7.1.3 </a:t>
            </a:r>
            <a:r>
              <a:rPr lang="zh-CN" altLang="en-US" dirty="0"/>
              <a:t>运算符对字典的操作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8594427" cy="1764799"/>
          </a:xfrm>
        </p:spPr>
        <p:txBody>
          <a:bodyPr/>
          <a:lstStyle/>
          <a:p>
            <a:r>
              <a:rPr lang="zh-CN" altLang="en-US" dirty="0"/>
              <a:t>运算符</a:t>
            </a:r>
            <a:endParaRPr lang="en-US" altLang="zh-CN" dirty="0"/>
          </a:p>
          <a:p>
            <a:pPr lvl="1"/>
            <a:r>
              <a:rPr lang="zh-CN" altLang="en-US" dirty="0"/>
              <a:t>字典只有成员运算符</a:t>
            </a:r>
            <a:r>
              <a:rPr lang="en-US" altLang="zh-CN" dirty="0"/>
              <a:t>in</a:t>
            </a:r>
            <a:r>
              <a:rPr lang="zh-CN" altLang="en-US" dirty="0"/>
              <a:t>可用，且通过“键”来判断。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2404" y="2924944"/>
            <a:ext cx="10028212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'a' in dict1         # </a:t>
            </a:r>
            <a:r>
              <a:rPr lang="zh-CN" altLang="zh-CN" sz="2400" b="1" dirty="0">
                <a:solidFill>
                  <a:schemeClr val="tx1"/>
                </a:solidFill>
              </a:rPr>
              <a:t>判断字典中是否有键</a:t>
            </a:r>
            <a:r>
              <a:rPr lang="en-US" altLang="zh-CN" sz="2400" b="1" dirty="0">
                <a:solidFill>
                  <a:schemeClr val="tx1"/>
                </a:solidFill>
              </a:rPr>
              <a:t>'a'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'd' not in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1 in dict1       # </a:t>
            </a:r>
            <a:r>
              <a:rPr lang="zh-CN" altLang="zh-CN" sz="2400" b="1" dirty="0">
                <a:solidFill>
                  <a:schemeClr val="tx1"/>
                </a:solidFill>
              </a:rPr>
              <a:t>判断字典是否有键“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</a:rPr>
              <a:t>”，而不是值“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</a:rPr>
              <a:t>”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4BB16B-3EB6-4550-8D07-A35AE344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480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7.1.4 </a:t>
            </a:r>
            <a:r>
              <a:rPr lang="zh-CN" altLang="en-US" dirty="0"/>
              <a:t>内置函数对字典的操作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052736"/>
            <a:ext cx="10394627" cy="1188735"/>
          </a:xfrm>
        </p:spPr>
        <p:txBody>
          <a:bodyPr>
            <a:normAutofit/>
          </a:bodyPr>
          <a:lstStyle/>
          <a:p>
            <a:r>
              <a:rPr lang="zh-CN" altLang="en-US" sz="2600" dirty="0"/>
              <a:t>在</a:t>
            </a:r>
            <a:r>
              <a:rPr lang="en-US" altLang="zh-CN" sz="2600" dirty="0"/>
              <a:t>6.2.3</a:t>
            </a:r>
            <a:r>
              <a:rPr lang="zh-CN" altLang="en-US" sz="2600" dirty="0"/>
              <a:t>节介绍了的用于序列的内置函数中，除了</a:t>
            </a:r>
            <a:r>
              <a:rPr lang="en-US" altLang="zh-CN" sz="2600" dirty="0"/>
              <a:t>reversed()</a:t>
            </a:r>
            <a:r>
              <a:rPr lang="zh-CN" altLang="en-US" sz="2600" dirty="0"/>
              <a:t>，其余函数都可以应用于字典。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400" y="2196147"/>
            <a:ext cx="9865096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(dict1)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字典元素个数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max(dict1)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字典元素（默认都是对“键”的操作）最大值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'c'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min(dict1)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字典元素（默认都是对“键”的操作）最小值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'a'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sum(dict1)          # </a:t>
            </a:r>
            <a:r>
              <a:rPr lang="zh-CN" altLang="zh-CN" sz="2400" b="1" dirty="0">
                <a:solidFill>
                  <a:schemeClr val="tx1"/>
                </a:solidFill>
              </a:rPr>
              <a:t>由于“键”是非数值型，求和会出错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"&lt;pyshell#111&gt;", line 1, in &lt;module&gt;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sum(dict1)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TypeError</a:t>
            </a:r>
            <a:r>
              <a:rPr lang="en-US" altLang="zh-CN" sz="2400" b="1" dirty="0">
                <a:solidFill>
                  <a:schemeClr val="tx1"/>
                </a:solidFill>
              </a:rPr>
              <a:t>: unsupported operand type(s) for +: '</a:t>
            </a:r>
            <a:r>
              <a:rPr lang="en-US" altLang="zh-CN" sz="2400" b="1" dirty="0" err="1">
                <a:solidFill>
                  <a:schemeClr val="tx1"/>
                </a:solidFill>
              </a:rPr>
              <a:t>int</a:t>
            </a:r>
            <a:r>
              <a:rPr lang="en-US" altLang="zh-CN" sz="2400" b="1" dirty="0">
                <a:solidFill>
                  <a:schemeClr val="tx1"/>
                </a:solidFill>
              </a:rPr>
              <a:t>' and '</a:t>
            </a:r>
            <a:r>
              <a:rPr lang="en-US" altLang="zh-CN" sz="2400" b="1" dirty="0" err="1">
                <a:solidFill>
                  <a:schemeClr val="tx1"/>
                </a:solidFill>
              </a:rPr>
              <a:t>str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9DB761-3968-4F5D-94FA-9BFBEDD9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734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9376" y="404664"/>
            <a:ext cx="11377264" cy="674030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values()</a:t>
            </a:r>
            <a:r>
              <a:rPr lang="zh-CN" altLang="zh-CN" sz="2400" b="1" dirty="0">
                <a:solidFill>
                  <a:schemeClr val="tx1"/>
                </a:solidFill>
              </a:rPr>
              <a:t>方法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r>
              <a:rPr lang="zh-CN" altLang="zh-CN" sz="2400" b="1" dirty="0">
                <a:solidFill>
                  <a:schemeClr val="tx1"/>
                </a:solidFill>
              </a:rPr>
              <a:t>获取字典元素</a:t>
            </a:r>
            <a:r>
              <a:rPr lang="en-US" altLang="zh-CN" sz="2400" b="1" dirty="0">
                <a:solidFill>
                  <a:schemeClr val="tx1"/>
                </a:solidFill>
              </a:rPr>
              <a:t>”</a:t>
            </a:r>
            <a:r>
              <a:rPr lang="zh-CN" altLang="zh-CN" sz="2400" b="1" dirty="0">
                <a:solidFill>
                  <a:schemeClr val="tx1"/>
                </a:solidFill>
              </a:rPr>
              <a:t>值</a:t>
            </a:r>
            <a:r>
              <a:rPr lang="en-US" altLang="zh-CN" sz="2400" b="1" dirty="0">
                <a:solidFill>
                  <a:schemeClr val="tx1"/>
                </a:solidFill>
              </a:rPr>
              <a:t>” </a:t>
            </a:r>
            <a:r>
              <a:rPr lang="zh-CN" altLang="zh-CN" sz="2400" b="1" dirty="0">
                <a:solidFill>
                  <a:schemeClr val="tx1"/>
                </a:solidFill>
              </a:rPr>
              <a:t>的迭代器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d1.values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&lt;built-in method values of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 object at 0x000001DA8D891440&gt;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sum(dict1.values()) 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6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sorted(dict1)      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对“键”排序，返回列表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['a', 'b', 'c']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sorted(dict1.values())      # </a:t>
            </a:r>
            <a:r>
              <a:rPr lang="zh-CN" altLang="zh-CN" sz="2400" b="1" dirty="0">
                <a:solidFill>
                  <a:schemeClr val="tx1"/>
                </a:solidFill>
              </a:rPr>
              <a:t>对“值”排序，返回的是排序后的列表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[1, 2, 3]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zip()</a:t>
            </a:r>
            <a:r>
              <a:rPr lang="zh-CN" altLang="en-US" sz="2400" b="1" dirty="0">
                <a:solidFill>
                  <a:schemeClr val="tx1"/>
                </a:solidFill>
              </a:rPr>
              <a:t>两个字典：将它们的</a:t>
            </a:r>
            <a:r>
              <a:rPr lang="en-US" altLang="zh-CN" sz="2400" b="1" dirty="0">
                <a:solidFill>
                  <a:schemeClr val="tx1"/>
                </a:solidFill>
              </a:rPr>
              <a:t>key</a:t>
            </a:r>
            <a:r>
              <a:rPr lang="zh-CN" altLang="en-US" sz="2400" b="1" dirty="0">
                <a:solidFill>
                  <a:schemeClr val="tx1"/>
                </a:solidFill>
              </a:rPr>
              <a:t>生成新字典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{'d': 4, 'e': 5, 'f': 6}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zip(dict1, dict2)              # zip()</a:t>
            </a:r>
            <a:r>
              <a:rPr lang="zh-CN" altLang="zh-CN" sz="2400" b="1" dirty="0">
                <a:solidFill>
                  <a:schemeClr val="tx1"/>
                </a:solidFill>
              </a:rPr>
              <a:t>返回的是</a:t>
            </a:r>
            <a:r>
              <a:rPr lang="en-US" altLang="zh-CN" sz="2400" b="1" dirty="0">
                <a:solidFill>
                  <a:schemeClr val="tx1"/>
                </a:solidFill>
              </a:rPr>
              <a:t>zip</a:t>
            </a:r>
            <a:r>
              <a:rPr lang="zh-CN" altLang="zh-CN" sz="2400" b="1" dirty="0">
                <a:solidFill>
                  <a:schemeClr val="tx1"/>
                </a:solidFill>
              </a:rPr>
              <a:t>对象，不能直接输出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&lt;zip object at 0x0000000003351C48&gt;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(zip(dict1, dict2))      # </a:t>
            </a:r>
            <a:r>
              <a:rPr lang="zh-CN" altLang="zh-CN" sz="2400" b="1" dirty="0">
                <a:solidFill>
                  <a:schemeClr val="tx1"/>
                </a:solidFill>
              </a:rPr>
              <a:t>使用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()</a:t>
            </a:r>
            <a:r>
              <a:rPr lang="zh-CN" altLang="zh-CN" sz="2400" b="1" dirty="0">
                <a:solidFill>
                  <a:schemeClr val="tx1"/>
                </a:solidFill>
              </a:rPr>
              <a:t>方法将</a:t>
            </a:r>
            <a:r>
              <a:rPr lang="en-US" altLang="zh-CN" sz="2400" b="1" dirty="0">
                <a:solidFill>
                  <a:schemeClr val="tx1"/>
                </a:solidFill>
              </a:rPr>
              <a:t>zip</a:t>
            </a:r>
            <a:r>
              <a:rPr lang="zh-CN" altLang="zh-CN" sz="2400" b="1" dirty="0">
                <a:solidFill>
                  <a:schemeClr val="tx1"/>
                </a:solidFill>
              </a:rPr>
              <a:t>对象转换为字典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'e', 'b': 'f', 'c': 'd'}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221098-45BB-4A90-9CCE-6F5704E2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02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A7E19-7A56-41B0-8C96-664C4905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67BE9B-18F6-4A68-AAF4-BBA432A5C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21" y="620688"/>
            <a:ext cx="11886827" cy="60422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enumerate():</a:t>
            </a:r>
            <a:r>
              <a:rPr lang="zh-CN" altLang="en-US" sz="2400" b="1" dirty="0">
                <a:solidFill>
                  <a:schemeClr val="tx1"/>
                </a:solidFill>
              </a:rPr>
              <a:t>将下标与</a:t>
            </a:r>
            <a:r>
              <a:rPr lang="en-US" altLang="zh-CN" sz="2400" b="1" dirty="0">
                <a:solidFill>
                  <a:schemeClr val="tx1"/>
                </a:solidFill>
              </a:rPr>
              <a:t>key enumerate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enumerate(dict1)     # enumerate()</a:t>
            </a:r>
            <a:r>
              <a:rPr lang="zh-CN" altLang="zh-CN" sz="2400" b="1" dirty="0">
                <a:solidFill>
                  <a:schemeClr val="tx1"/>
                </a:solidFill>
              </a:rPr>
              <a:t>返回</a:t>
            </a:r>
            <a:r>
              <a:rPr lang="en-US" altLang="zh-CN" sz="2400" b="1" dirty="0">
                <a:solidFill>
                  <a:schemeClr val="tx1"/>
                </a:solidFill>
              </a:rPr>
              <a:t>enumerate</a:t>
            </a:r>
            <a:r>
              <a:rPr lang="zh-CN" altLang="zh-CN" sz="2400" b="1" dirty="0">
                <a:solidFill>
                  <a:schemeClr val="tx1"/>
                </a:solidFill>
              </a:rPr>
              <a:t>对象，不能直接输出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&lt;enumerate object at 0x000000000335ECF0&gt;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(enumerate(dict1))    # </a:t>
            </a:r>
            <a:r>
              <a:rPr lang="zh-CN" altLang="zh-CN" sz="2400" b="1" dirty="0">
                <a:solidFill>
                  <a:schemeClr val="tx1"/>
                </a:solidFill>
              </a:rPr>
              <a:t>使用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()</a:t>
            </a:r>
            <a:r>
              <a:rPr lang="zh-CN" altLang="zh-CN" sz="2400" b="1" dirty="0">
                <a:solidFill>
                  <a:schemeClr val="tx1"/>
                </a:solidFill>
              </a:rPr>
              <a:t>方法将</a:t>
            </a:r>
            <a:r>
              <a:rPr lang="en-US" altLang="zh-CN" sz="2400" b="1" dirty="0">
                <a:solidFill>
                  <a:schemeClr val="tx1"/>
                </a:solidFill>
              </a:rPr>
              <a:t>enumerate</a:t>
            </a:r>
            <a:r>
              <a:rPr lang="zh-CN" altLang="zh-CN" sz="2400" b="1" dirty="0">
                <a:solidFill>
                  <a:schemeClr val="tx1"/>
                </a:solidFill>
              </a:rPr>
              <a:t>对象转换为字典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{0: 'a', 1: 'b', 2: 'c’}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all()</a:t>
            </a:r>
            <a:r>
              <a:rPr lang="zh-CN" altLang="en-US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any()</a:t>
            </a:r>
          </a:p>
          <a:p>
            <a:pPr marL="0" indent="0">
              <a:buNone/>
            </a:pPr>
            <a:r>
              <a:rPr lang="en-US" altLang="zh-CN" sz="2400" dirty="0"/>
              <a:t>&gt;&gt;&gt; dict2 = {0:'a',1:'b'}</a:t>
            </a:r>
          </a:p>
          <a:p>
            <a:pPr marL="0" indent="0">
              <a:buNone/>
            </a:pPr>
            <a:r>
              <a:rPr lang="en-US" altLang="zh-CN" sz="2400" dirty="0"/>
              <a:t>&gt;&gt;&gt; all(dict2)	# </a:t>
            </a:r>
            <a:r>
              <a:rPr lang="zh-CN" altLang="en-US" sz="2400" dirty="0"/>
              <a:t>默认针对</a:t>
            </a:r>
            <a:r>
              <a:rPr lang="en-US" altLang="zh-CN" sz="2400" dirty="0"/>
              <a:t>key</a:t>
            </a:r>
          </a:p>
          <a:p>
            <a:pPr marL="0" indent="0">
              <a:buNone/>
            </a:pPr>
            <a:r>
              <a:rPr lang="en-US" altLang="zh-CN" sz="2400" dirty="0"/>
              <a:t>False</a:t>
            </a:r>
          </a:p>
          <a:p>
            <a:pPr marL="0" indent="0">
              <a:buNone/>
            </a:pPr>
            <a:r>
              <a:rPr lang="en-US" altLang="zh-CN" sz="2400" dirty="0"/>
              <a:t>&gt;&gt;&gt; any(dict2)</a:t>
            </a:r>
          </a:p>
          <a:p>
            <a:pPr marL="0" indent="0">
              <a:buNone/>
            </a:pPr>
            <a:r>
              <a:rPr lang="en-US" altLang="zh-CN" sz="2400" dirty="0"/>
              <a:t>True</a:t>
            </a:r>
          </a:p>
          <a:p>
            <a:pPr marL="0" indent="0">
              <a:buNone/>
            </a:pPr>
            <a:r>
              <a:rPr lang="en-US" altLang="zh-CN" sz="2400" dirty="0"/>
              <a:t>&gt;&gt;&gt; all(dict2.values())</a:t>
            </a:r>
          </a:p>
          <a:p>
            <a:pPr marL="0" indent="0">
              <a:buNone/>
            </a:pPr>
            <a:r>
              <a:rPr lang="en-US" altLang="zh-CN" sz="2400" dirty="0"/>
              <a:t>True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D3357F-113A-4E91-8B8F-7933C784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732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27732"/>
            <a:ext cx="10852150" cy="716915"/>
          </a:xfrm>
        </p:spPr>
        <p:txBody>
          <a:bodyPr/>
          <a:lstStyle/>
          <a:p>
            <a:r>
              <a:rPr lang="en-US" altLang="zh-CN" sz="2800" dirty="0"/>
              <a:t>7.1.5 </a:t>
            </a:r>
            <a:r>
              <a:rPr lang="zh-CN" altLang="en-US" sz="2800" dirty="0"/>
              <a:t>字典对象的常用方法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754459"/>
              </p:ext>
            </p:extLst>
          </p:nvPr>
        </p:nvGraphicFramePr>
        <p:xfrm>
          <a:off x="191344" y="620688"/>
          <a:ext cx="11737304" cy="6127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5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94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功能说明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dict.fromkeys(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seq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[, value])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创建一个新字典，以序列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seq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中元素做字典的键，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为字典所有键对应的初始值。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dict.get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(key, default=None)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返回指定键的值，如果值不在字典中则返回默认值。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81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key in 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判断键是否存在于字典中，如果键在字典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里返回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，否则返回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not in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操作符刚好相反</a:t>
                      </a: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dict.items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以列表形式（并非直接的列表，若要返回列表值还需调用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list()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函数）返回可遍历的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键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值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元组数组。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dict.keys()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返回一个可迭代对象，可以使用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list()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来转换为列表，列表内容为字典中的所有键。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dict.values()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返回一个可迭代对象，可以使用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list()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来转换为列表，列表内容为字典中的所有值。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dict.setdefault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(key, default=None)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get()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方法类似，如果键不在字典中，将添加键并设置值为默认值。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94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dict.update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(dict2)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把字典参数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dict2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key/value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（键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值）对更新到字典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里。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dict.pop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(key[, default])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删除字典给定键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key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所对应的值，返回值为被删除的值。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key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值若不存在则返回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default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值。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dict.popitem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随机返回并删除字典中的一对键和值（一般删除末尾对）。如果字典为空，调用此方法会抛出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KeyError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异常。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94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dict.clear()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清空字典所有元素，但字典对象仍保留。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764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dict.copy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复制并返回一个新字典。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75D6C4-D56D-4673-BE33-69B5A124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360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cap="none" dirty="0"/>
              <a:t>1</a:t>
            </a:r>
            <a:r>
              <a:rPr lang="zh-CN" altLang="en-US" sz="3600" cap="none" dirty="0"/>
              <a:t>．</a:t>
            </a:r>
            <a:r>
              <a:rPr lang="en-US" altLang="zh-CN" sz="3600" cap="none" dirty="0"/>
              <a:t>items()</a:t>
            </a:r>
            <a:r>
              <a:rPr lang="zh-CN" altLang="en-US" sz="3600" cap="none" dirty="0"/>
              <a:t>、</a:t>
            </a:r>
            <a:r>
              <a:rPr lang="en-US" altLang="zh-CN" sz="3600" cap="none" dirty="0"/>
              <a:t>keys()</a:t>
            </a:r>
            <a:r>
              <a:rPr lang="zh-CN" altLang="en-US" sz="3600" cap="none" dirty="0"/>
              <a:t>、</a:t>
            </a:r>
            <a:r>
              <a:rPr lang="en-US" altLang="zh-CN" sz="3600" cap="none" dirty="0"/>
              <a:t>values()</a:t>
            </a:r>
            <a:endParaRPr lang="zh-CN" altLang="en-US" sz="36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551384" y="921206"/>
            <a:ext cx="10369152" cy="575542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300" b="1" dirty="0">
                <a:solidFill>
                  <a:schemeClr val="tx1"/>
                </a:solidFill>
              </a:rPr>
              <a:t>功能：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以列表形式返回</a:t>
            </a:r>
            <a:r>
              <a:rPr lang="en-US" altLang="zh-CN" sz="2300" b="1" kern="100" dirty="0">
                <a:solidFill>
                  <a:schemeClr val="tx1"/>
                </a:solidFill>
                <a:effectLst/>
              </a:rPr>
              <a:t>items/key/values</a:t>
            </a:r>
            <a:r>
              <a:rPr lang="zh-CN" altLang="en-US" sz="2300" b="1" kern="100" dirty="0">
                <a:solidFill>
                  <a:schemeClr val="tx1"/>
                </a:solidFill>
                <a:effectLst/>
              </a:rPr>
              <a:t>的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可</a:t>
            </a:r>
            <a:r>
              <a:rPr lang="zh-CN" altLang="en-US" sz="2300" b="1" kern="100" dirty="0">
                <a:solidFill>
                  <a:schemeClr val="tx1"/>
                </a:solidFill>
                <a:effectLst/>
              </a:rPr>
              <a:t>迭代对象</a:t>
            </a:r>
            <a:endParaRPr lang="en-US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dict1.items()                  # </a:t>
            </a:r>
            <a:r>
              <a:rPr lang="zh-CN" altLang="zh-CN" sz="2300" b="1" dirty="0">
                <a:solidFill>
                  <a:schemeClr val="tx1"/>
                </a:solidFill>
              </a:rPr>
              <a:t>获取字典元素（键值对）</a:t>
            </a:r>
          </a:p>
          <a:p>
            <a:r>
              <a:rPr lang="en-US" altLang="zh-CN" sz="2300" b="1" dirty="0" err="1">
                <a:solidFill>
                  <a:schemeClr val="tx1"/>
                </a:solidFill>
              </a:rPr>
              <a:t>dict_items</a:t>
            </a:r>
            <a:r>
              <a:rPr lang="en-US" altLang="zh-CN" sz="2300" b="1" dirty="0">
                <a:solidFill>
                  <a:schemeClr val="tx1"/>
                </a:solidFill>
              </a:rPr>
              <a:t>([('a', 1), ('b', 2), ('c', 3)])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list(dict1.items())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[('a', 1), ('b', 2), ('c', 3)]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dict1.keys()                  # </a:t>
            </a:r>
            <a:r>
              <a:rPr lang="zh-CN" altLang="zh-CN" sz="2300" b="1" dirty="0">
                <a:solidFill>
                  <a:schemeClr val="tx1"/>
                </a:solidFill>
              </a:rPr>
              <a:t>获取字典的键</a:t>
            </a:r>
            <a:r>
              <a:rPr lang="en-US" altLang="zh-CN" sz="2300" b="1" dirty="0">
                <a:solidFill>
                  <a:schemeClr val="tx1"/>
                </a:solidFill>
              </a:rPr>
              <a:t>key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 err="1">
                <a:solidFill>
                  <a:schemeClr val="tx1"/>
                </a:solidFill>
              </a:rPr>
              <a:t>dict_keys</a:t>
            </a:r>
            <a:r>
              <a:rPr lang="en-US" altLang="zh-CN" sz="2300" b="1" dirty="0">
                <a:solidFill>
                  <a:schemeClr val="tx1"/>
                </a:solidFill>
              </a:rPr>
              <a:t>(['a', 'b', 'c'])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list(dict1.keys())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['a', 'b', 'c']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dict1.values()                # </a:t>
            </a:r>
            <a:r>
              <a:rPr lang="zh-CN" altLang="zh-CN" sz="2300" b="1" dirty="0">
                <a:solidFill>
                  <a:schemeClr val="tx1"/>
                </a:solidFill>
              </a:rPr>
              <a:t>获取字典的值</a:t>
            </a:r>
            <a:r>
              <a:rPr lang="en-US" altLang="zh-CN" sz="2300" b="1" dirty="0">
                <a:solidFill>
                  <a:schemeClr val="tx1"/>
                </a:solidFill>
              </a:rPr>
              <a:t>value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 err="1">
                <a:solidFill>
                  <a:schemeClr val="tx1"/>
                </a:solidFill>
              </a:rPr>
              <a:t>dict_values</a:t>
            </a:r>
            <a:r>
              <a:rPr lang="en-US" altLang="zh-CN" sz="2300" b="1" dirty="0">
                <a:solidFill>
                  <a:schemeClr val="tx1"/>
                </a:solidFill>
              </a:rPr>
              <a:t>([1, 2, 3])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&gt;&gt;&gt; list(dict1.values())</a:t>
            </a:r>
            <a:endParaRPr lang="zh-CN" altLang="zh-CN" sz="2300" b="1" dirty="0">
              <a:solidFill>
                <a:schemeClr val="tx1"/>
              </a:solidFill>
            </a:endParaRPr>
          </a:p>
          <a:p>
            <a:r>
              <a:rPr lang="en-US" altLang="zh-CN" sz="2300" b="1" dirty="0">
                <a:solidFill>
                  <a:schemeClr val="tx1"/>
                </a:solidFill>
              </a:rPr>
              <a:t>[1, 2, 3]</a:t>
            </a:r>
          </a:p>
          <a:p>
            <a:r>
              <a:rPr lang="zh-CN" altLang="en-US" sz="2300" b="1" dirty="0">
                <a:solidFill>
                  <a:schemeClr val="tx1"/>
                </a:solidFill>
              </a:rPr>
              <a:t>说明：这</a:t>
            </a:r>
            <a:r>
              <a:rPr lang="en-US" altLang="zh-CN" sz="2300" b="1" dirty="0">
                <a:solidFill>
                  <a:schemeClr val="tx1"/>
                </a:solidFill>
              </a:rPr>
              <a:t>3</a:t>
            </a:r>
            <a:r>
              <a:rPr lang="zh-CN" altLang="en-US" sz="2300" b="1" dirty="0">
                <a:solidFill>
                  <a:schemeClr val="tx1"/>
                </a:solidFill>
              </a:rPr>
              <a:t>个方法会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以列表形式返回可</a:t>
            </a:r>
            <a:r>
              <a:rPr lang="zh-CN" altLang="en-US" sz="2300" b="1" kern="100" dirty="0">
                <a:solidFill>
                  <a:schemeClr val="tx1"/>
                </a:solidFill>
                <a:effectLst/>
              </a:rPr>
              <a:t>迭代对象，但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并非列表</a:t>
            </a:r>
            <a:r>
              <a:rPr lang="zh-CN" altLang="en-US" sz="2300" b="1" kern="100" dirty="0">
                <a:solidFill>
                  <a:schemeClr val="tx1"/>
                </a:solidFill>
                <a:effectLst/>
              </a:rPr>
              <a:t>；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若要返回列表</a:t>
            </a:r>
            <a:r>
              <a:rPr lang="zh-CN" altLang="en-US" sz="2300" b="1" kern="100" dirty="0">
                <a:solidFill>
                  <a:schemeClr val="tx1"/>
                </a:solidFill>
                <a:effectLst/>
              </a:rPr>
              <a:t>，请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调用</a:t>
            </a:r>
            <a:r>
              <a:rPr lang="en-US" altLang="zh-CN" sz="2300" b="1" kern="100" dirty="0">
                <a:solidFill>
                  <a:schemeClr val="tx1"/>
                </a:solidFill>
                <a:effectLst/>
              </a:rPr>
              <a:t>list()</a:t>
            </a:r>
            <a:r>
              <a:rPr lang="zh-CN" altLang="zh-CN" sz="2300" b="1" kern="100" dirty="0">
                <a:solidFill>
                  <a:schemeClr val="tx1"/>
                </a:solidFill>
                <a:effectLst/>
              </a:rPr>
              <a:t>函数 。</a:t>
            </a:r>
            <a:endParaRPr lang="zh-CN" altLang="zh-CN" sz="2300" b="1" kern="100" dirty="0">
              <a:solidFill>
                <a:schemeClr val="tx1"/>
              </a:solidFill>
              <a:effectLst/>
              <a:latin typeface="Calibri"/>
              <a:ea typeface="宋体"/>
              <a:cs typeface="Times New Roman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039047-F441-47A0-B1D4-5B0C912C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8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132" y="216499"/>
            <a:ext cx="10852150" cy="648072"/>
          </a:xfrm>
        </p:spPr>
        <p:txBody>
          <a:bodyPr/>
          <a:lstStyle/>
          <a:p>
            <a:r>
              <a:rPr lang="en-US" altLang="zh-CN" sz="3600" dirty="0"/>
              <a:t>2</a:t>
            </a:r>
            <a:r>
              <a:rPr lang="zh-CN" altLang="en-US" sz="3600" dirty="0"/>
              <a:t>．</a:t>
            </a:r>
            <a:r>
              <a:rPr lang="en-US" altLang="zh-CN" sz="3600" dirty="0"/>
              <a:t>pop()</a:t>
            </a:r>
            <a:r>
              <a:rPr lang="zh-CN" altLang="en-US" sz="3600" dirty="0"/>
              <a:t>、</a:t>
            </a:r>
            <a:r>
              <a:rPr lang="en-US" altLang="zh-CN" sz="3600" dirty="0" err="1"/>
              <a:t>popitem</a:t>
            </a:r>
            <a:r>
              <a:rPr lang="en-US" altLang="zh-CN" sz="3600" dirty="0"/>
              <a:t>()</a:t>
            </a:r>
            <a:r>
              <a:rPr lang="zh-CN" altLang="en-US" sz="3600" dirty="0"/>
              <a:t>、</a:t>
            </a:r>
            <a:r>
              <a:rPr lang="en-US" altLang="zh-CN" sz="3600" dirty="0"/>
              <a:t>clear()</a:t>
            </a: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79376" y="864571"/>
            <a:ext cx="10676906" cy="618630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kern="100" dirty="0" err="1">
                <a:solidFill>
                  <a:schemeClr val="tx1"/>
                </a:solidFill>
                <a:effectLst/>
              </a:rPr>
              <a:t>dict.pop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</a:rPr>
              <a:t>(key, default)</a:t>
            </a:r>
            <a:r>
              <a:rPr lang="zh-CN" altLang="en-US" sz="2200" b="1" kern="100" dirty="0">
                <a:solidFill>
                  <a:schemeClr val="tx1"/>
                </a:solidFill>
                <a:effectLst/>
              </a:rPr>
              <a:t>：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删除给定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</a:rPr>
              <a:t>key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的</a:t>
            </a:r>
            <a:r>
              <a:rPr lang="zh-CN" altLang="en-US" sz="2200" b="1" kern="100" dirty="0">
                <a:solidFill>
                  <a:schemeClr val="tx1"/>
                </a:solidFill>
                <a:effectLst/>
              </a:rPr>
              <a:t>项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，返回被删除的值。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</a:rPr>
              <a:t>key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若不存</a:t>
            </a:r>
            <a:r>
              <a:rPr lang="zh-CN" altLang="en-US" sz="2200" b="1" kern="100" dirty="0">
                <a:solidFill>
                  <a:schemeClr val="tx1"/>
                </a:solidFill>
                <a:effectLst/>
              </a:rPr>
              <a:t>时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返回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</a:rPr>
              <a:t>default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。</a:t>
            </a:r>
            <a:endParaRPr lang="zh-CN" altLang="zh-CN" sz="2200" b="1" kern="100" dirty="0">
              <a:solidFill>
                <a:schemeClr val="tx1"/>
              </a:solidFill>
              <a:effectLst/>
              <a:latin typeface="Calibri"/>
              <a:ea typeface="宋体"/>
              <a:cs typeface="Times New Roman"/>
            </a:endParaRPr>
          </a:p>
          <a:p>
            <a:r>
              <a:rPr lang="en-US" altLang="zh-CN" sz="2200" b="1" kern="100" dirty="0" err="1">
                <a:solidFill>
                  <a:schemeClr val="tx1"/>
                </a:solidFill>
              </a:rPr>
              <a:t>d</a:t>
            </a:r>
            <a:r>
              <a:rPr lang="en-US" altLang="zh-CN" sz="2200" b="1" kern="100" dirty="0" err="1">
                <a:solidFill>
                  <a:schemeClr val="tx1"/>
                </a:solidFill>
                <a:effectLst/>
              </a:rPr>
              <a:t>ict.popitem</a:t>
            </a:r>
            <a:r>
              <a:rPr lang="en-US" altLang="zh-CN" sz="2200" b="1" kern="100" dirty="0">
                <a:solidFill>
                  <a:schemeClr val="tx1"/>
                </a:solidFill>
                <a:effectLst/>
              </a:rPr>
              <a:t>(): 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随机删除</a:t>
            </a:r>
            <a:r>
              <a:rPr lang="zh-CN" altLang="en-US" sz="2200" b="1" kern="100" dirty="0">
                <a:solidFill>
                  <a:schemeClr val="tx1"/>
                </a:solidFill>
              </a:rPr>
              <a:t>并返回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一</a:t>
            </a:r>
            <a:r>
              <a:rPr lang="zh-CN" altLang="en-US" sz="2200" b="1" kern="100" dirty="0">
                <a:solidFill>
                  <a:schemeClr val="tx1"/>
                </a:solidFill>
                <a:effectLst/>
              </a:rPr>
              <a:t>个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键值</a:t>
            </a:r>
            <a:r>
              <a:rPr lang="zh-CN" altLang="en-US" sz="2200" b="1" kern="100" dirty="0">
                <a:solidFill>
                  <a:schemeClr val="tx1"/>
                </a:solidFill>
                <a:effectLst/>
              </a:rPr>
              <a:t>对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（一般删除末尾对</a:t>
            </a:r>
            <a:r>
              <a:rPr lang="en-US" altLang="zh-CN" sz="2200" b="1" kern="100" dirty="0">
                <a:solidFill>
                  <a:schemeClr val="tx1"/>
                </a:solidFill>
              </a:rPr>
              <a:t>).</a:t>
            </a:r>
            <a:r>
              <a:rPr lang="zh-CN" altLang="en-US" sz="2200" b="1" kern="100" dirty="0">
                <a:solidFill>
                  <a:schemeClr val="tx1"/>
                </a:solidFill>
              </a:rPr>
              <a:t> 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如果字典为空</a:t>
            </a:r>
            <a:r>
              <a:rPr lang="zh-CN" altLang="en-US" sz="2200" b="1" kern="100" dirty="0">
                <a:solidFill>
                  <a:schemeClr val="tx1"/>
                </a:solidFill>
              </a:rPr>
              <a:t>则</a:t>
            </a:r>
            <a:r>
              <a:rPr lang="en-US" altLang="zh-CN" sz="2200" b="1" kern="100" dirty="0" err="1">
                <a:solidFill>
                  <a:schemeClr val="tx1"/>
                </a:solidFill>
                <a:effectLst/>
              </a:rPr>
              <a:t>KeyError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。</a:t>
            </a:r>
            <a:endParaRPr lang="zh-CN" altLang="zh-CN" sz="2200" b="1" kern="100" dirty="0">
              <a:solidFill>
                <a:schemeClr val="tx1"/>
              </a:solidFill>
              <a:effectLst/>
              <a:latin typeface="Calibri"/>
              <a:ea typeface="宋体"/>
              <a:cs typeface="Times New Roman"/>
            </a:endParaRPr>
          </a:p>
          <a:p>
            <a:r>
              <a:rPr lang="en-US" altLang="zh-CN" sz="2200" b="1" dirty="0" err="1">
                <a:solidFill>
                  <a:schemeClr val="tx1"/>
                </a:solidFill>
              </a:rPr>
              <a:t>dict.clear</a:t>
            </a:r>
            <a:r>
              <a:rPr lang="en-US" altLang="zh-CN" sz="2200" b="1" dirty="0">
                <a:solidFill>
                  <a:schemeClr val="tx1"/>
                </a:solidFill>
              </a:rPr>
              <a:t>():</a:t>
            </a:r>
            <a:r>
              <a:rPr lang="zh-CN" altLang="zh-CN" sz="2200" b="1" kern="100" dirty="0">
                <a:solidFill>
                  <a:schemeClr val="tx1"/>
                </a:solidFill>
                <a:effectLst/>
              </a:rPr>
              <a:t>清空字典所有元素，但字典保留。</a:t>
            </a:r>
            <a:endParaRPr lang="en-US" altLang="zh-CN" sz="2200" b="1" kern="100" dirty="0">
              <a:solidFill>
                <a:schemeClr val="tx1"/>
              </a:solidFill>
              <a:effectLst/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dict1 = {'a': 1, 'b': 2, 'c': 3, 'd': 4}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</a:t>
            </a:r>
            <a:r>
              <a:rPr lang="en-US" altLang="zh-CN" sz="2200" b="1" dirty="0" err="1">
                <a:solidFill>
                  <a:schemeClr val="tx1"/>
                </a:solidFill>
              </a:rPr>
              <a:t>val</a:t>
            </a:r>
            <a:r>
              <a:rPr lang="en-US" altLang="zh-CN" sz="2200" b="1" dirty="0">
                <a:solidFill>
                  <a:schemeClr val="tx1"/>
                </a:solidFill>
              </a:rPr>
              <a:t> = dict1.pop('d')              # </a:t>
            </a:r>
            <a:r>
              <a:rPr lang="zh-CN" altLang="zh-CN" sz="2200" b="1" dirty="0">
                <a:solidFill>
                  <a:schemeClr val="tx1"/>
                </a:solidFill>
              </a:rPr>
              <a:t>删除</a:t>
            </a:r>
            <a:r>
              <a:rPr lang="en-US" altLang="zh-CN" sz="2200" b="1" dirty="0">
                <a:solidFill>
                  <a:schemeClr val="tx1"/>
                </a:solidFill>
              </a:rPr>
              <a:t>key</a:t>
            </a:r>
            <a:r>
              <a:rPr lang="zh-CN" altLang="zh-CN" sz="2200" b="1" dirty="0">
                <a:solidFill>
                  <a:schemeClr val="tx1"/>
                </a:solidFill>
              </a:rPr>
              <a:t>为</a:t>
            </a:r>
            <a:r>
              <a:rPr lang="en-US" altLang="zh-CN" sz="2200" b="1" dirty="0">
                <a:solidFill>
                  <a:schemeClr val="tx1"/>
                </a:solidFill>
              </a:rPr>
              <a:t>'d'</a:t>
            </a:r>
            <a:r>
              <a:rPr lang="zh-CN" altLang="zh-CN" sz="2200" b="1" dirty="0">
                <a:solidFill>
                  <a:schemeClr val="tx1"/>
                </a:solidFill>
              </a:rPr>
              <a:t>的元素，并返回其</a:t>
            </a:r>
            <a:r>
              <a:rPr lang="en-US" altLang="zh-CN" sz="2200" b="1" dirty="0">
                <a:solidFill>
                  <a:schemeClr val="tx1"/>
                </a:solidFill>
              </a:rPr>
              <a:t>value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</a:t>
            </a:r>
            <a:r>
              <a:rPr lang="en-US" altLang="zh-CN" sz="2200" b="1" dirty="0" err="1">
                <a:solidFill>
                  <a:schemeClr val="tx1"/>
                </a:solidFill>
              </a:rPr>
              <a:t>val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4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dict1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 {'a': 1, 'b': 2, 'c': 3}</a:t>
            </a: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</a:t>
            </a:r>
            <a:r>
              <a:rPr lang="en-US" altLang="zh-CN" sz="2200" b="1" dirty="0" err="1">
                <a:solidFill>
                  <a:schemeClr val="tx1"/>
                </a:solidFill>
              </a:rPr>
              <a:t>val</a:t>
            </a:r>
            <a:r>
              <a:rPr lang="en-US" altLang="zh-CN" sz="2200" b="1" dirty="0">
                <a:solidFill>
                  <a:schemeClr val="tx1"/>
                </a:solidFill>
              </a:rPr>
              <a:t> = dict1.pop('d')              # key</a:t>
            </a:r>
            <a:r>
              <a:rPr lang="zh-CN" altLang="zh-CN" sz="2200" b="1" dirty="0">
                <a:solidFill>
                  <a:schemeClr val="tx1"/>
                </a:solidFill>
              </a:rPr>
              <a:t>为</a:t>
            </a:r>
            <a:r>
              <a:rPr lang="en-US" altLang="zh-CN" sz="2200" b="1" dirty="0">
                <a:solidFill>
                  <a:schemeClr val="tx1"/>
                </a:solidFill>
              </a:rPr>
              <a:t>'d'</a:t>
            </a:r>
            <a:r>
              <a:rPr lang="zh-CN" altLang="zh-CN" sz="2200" b="1" dirty="0">
                <a:solidFill>
                  <a:schemeClr val="tx1"/>
                </a:solidFill>
              </a:rPr>
              <a:t>的元素不存在，抛出异常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Traceback (most recent call last):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	File "&lt;pyshell#159&gt;", line 1, in &lt;module&gt;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	</a:t>
            </a:r>
            <a:r>
              <a:rPr lang="en-US" altLang="zh-CN" sz="2200" b="1" dirty="0" err="1">
                <a:solidFill>
                  <a:schemeClr val="tx1"/>
                </a:solidFill>
              </a:rPr>
              <a:t>val</a:t>
            </a:r>
            <a:r>
              <a:rPr lang="en-US" altLang="zh-CN" sz="2200" b="1" dirty="0">
                <a:solidFill>
                  <a:schemeClr val="tx1"/>
                </a:solidFill>
              </a:rPr>
              <a:t> = dict1.pop('d')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 err="1">
                <a:solidFill>
                  <a:schemeClr val="tx1"/>
                </a:solidFill>
              </a:rPr>
              <a:t>KeyError</a:t>
            </a:r>
            <a:r>
              <a:rPr lang="en-US" altLang="zh-CN" sz="2200" b="1" dirty="0">
                <a:solidFill>
                  <a:schemeClr val="tx1"/>
                </a:solidFill>
              </a:rPr>
              <a:t>: 'd'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38A58B-56D0-4891-9B13-5FF8B3C4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870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36D08-EDB7-4584-8E45-8EB0CBD9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5A597-2EB4-4E6E-A34D-A496FA659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897851"/>
            <a:ext cx="11809312" cy="539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</a:rPr>
              <a:t>续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val</a:t>
            </a:r>
            <a:r>
              <a:rPr lang="en-US" altLang="zh-CN" sz="2400" b="1" dirty="0">
                <a:solidFill>
                  <a:schemeClr val="tx1"/>
                </a:solidFill>
              </a:rPr>
              <a:t> = dict1.pop('d', 0)     # key</a:t>
            </a:r>
            <a:r>
              <a:rPr lang="zh-CN" altLang="zh-CN" sz="2400" b="1" dirty="0">
                <a:solidFill>
                  <a:schemeClr val="tx1"/>
                </a:solidFill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</a:rPr>
              <a:t>'d'</a:t>
            </a:r>
            <a:r>
              <a:rPr lang="zh-CN" altLang="zh-CN" sz="2400" b="1" dirty="0">
                <a:solidFill>
                  <a:schemeClr val="tx1"/>
                </a:solidFill>
              </a:rPr>
              <a:t>的元素不存在，返回默认值</a:t>
            </a:r>
            <a:r>
              <a:rPr lang="en-US" altLang="zh-CN" sz="2400" b="1" dirty="0">
                <a:solidFill>
                  <a:schemeClr val="tx1"/>
                </a:solidFill>
              </a:rPr>
              <a:t>0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val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0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BB073-F1D3-484A-90F8-0FA9187E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97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36D08-EDB7-4584-8E45-8EB0CBD9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5A597-2EB4-4E6E-A34D-A496FA659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en-US" altLang="zh-CN" sz="2400" b="1" dirty="0" err="1">
                <a:solidFill>
                  <a:schemeClr val="tx1"/>
                </a:solidFill>
              </a:rPr>
              <a:t>popitem</a:t>
            </a:r>
            <a:r>
              <a:rPr lang="en-US" altLang="zh-CN" sz="2400" b="1" dirty="0">
                <a:solidFill>
                  <a:schemeClr val="tx1"/>
                </a:solidFill>
              </a:rPr>
              <a:t>(),</a:t>
            </a:r>
            <a:r>
              <a:rPr lang="zh-CN" altLang="zh-CN" sz="2400" b="1" dirty="0">
                <a:solidFill>
                  <a:schemeClr val="tx1"/>
                </a:solidFill>
              </a:rPr>
              <a:t>随机删除一个元素，并返回键值</a:t>
            </a:r>
            <a:r>
              <a:rPr lang="zh-CN" altLang="en-US" sz="2400" dirty="0"/>
              <a:t>对</a:t>
            </a:r>
            <a:r>
              <a:rPr lang="zh-CN" altLang="zh-CN" sz="2400" b="1" dirty="0">
                <a:solidFill>
                  <a:schemeClr val="tx1"/>
                </a:solidFill>
              </a:rPr>
              <a:t>元组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val</a:t>
            </a:r>
            <a:r>
              <a:rPr lang="en-US" altLang="zh-CN" sz="2400" b="1" dirty="0">
                <a:solidFill>
                  <a:schemeClr val="tx1"/>
                </a:solidFill>
              </a:rPr>
              <a:t> = dict1.popitem()   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val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('a', 1)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clear()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dict1.clear()     # </a:t>
            </a:r>
            <a:r>
              <a:rPr lang="zh-CN" altLang="zh-CN" sz="2400" b="1" dirty="0">
                <a:solidFill>
                  <a:schemeClr val="tx1"/>
                </a:solidFill>
              </a:rPr>
              <a:t>清空字典所有元素，但字典对象保留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{}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BB073-F1D3-484A-90F8-0FA9187E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67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sz="3600" dirty="0"/>
              <a:t>3</a:t>
            </a:r>
            <a:r>
              <a:rPr lang="zh-CN" altLang="en-US" sz="3600" dirty="0"/>
              <a:t>．</a:t>
            </a:r>
            <a:r>
              <a:rPr lang="en-US" altLang="zh-CN" sz="3600" dirty="0" err="1"/>
              <a:t>setdefault</a:t>
            </a:r>
            <a:r>
              <a:rPr lang="en-US" altLang="zh-CN" sz="3600" dirty="0"/>
              <a:t>()</a:t>
            </a: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23392" y="2348880"/>
            <a:ext cx="5616624" cy="415498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&gt;&gt;&gt; dict1 = {}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dict1.setdefault(‘a’)             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#</a:t>
            </a:r>
            <a:r>
              <a:rPr lang="zh-CN" altLang="en-US" sz="2200" b="1" dirty="0">
                <a:solidFill>
                  <a:schemeClr val="tx1"/>
                </a:solidFill>
              </a:rPr>
              <a:t>键</a:t>
            </a:r>
            <a:r>
              <a:rPr lang="en-US" altLang="zh-CN" sz="2200" b="1" dirty="0">
                <a:solidFill>
                  <a:schemeClr val="tx1"/>
                </a:solidFill>
              </a:rPr>
              <a:t>’a’</a:t>
            </a:r>
            <a:r>
              <a:rPr lang="zh-CN" altLang="en-US" sz="2200" b="1" dirty="0">
                <a:solidFill>
                  <a:schemeClr val="tx1"/>
                </a:solidFill>
              </a:rPr>
              <a:t>不存在</a:t>
            </a:r>
            <a:r>
              <a:rPr lang="zh-CN" altLang="zh-CN" sz="2200" b="1" dirty="0">
                <a:solidFill>
                  <a:schemeClr val="tx1"/>
                </a:solidFill>
              </a:rPr>
              <a:t>，添加并设置值为</a:t>
            </a:r>
            <a:r>
              <a:rPr lang="en-US" altLang="zh-CN" sz="2200" b="1" dirty="0">
                <a:solidFill>
                  <a:schemeClr val="tx1"/>
                </a:solidFill>
              </a:rPr>
              <a:t>None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dict1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{'a': None}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x = dict1.setdefault('a', 1)    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已有键</a:t>
            </a:r>
            <a:r>
              <a:rPr lang="en-US" altLang="zh-CN" sz="2200" b="1" dirty="0">
                <a:solidFill>
                  <a:schemeClr val="tx1"/>
                </a:solidFill>
              </a:rPr>
              <a:t>'a'</a:t>
            </a:r>
            <a:r>
              <a:rPr lang="zh-CN" altLang="zh-CN" sz="2200" b="1" dirty="0">
                <a:solidFill>
                  <a:schemeClr val="tx1"/>
                </a:solidFill>
              </a:rPr>
              <a:t>，返回该键对应的值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x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None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dict1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{'a': None}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032624-C099-4DBF-B310-9A321C8F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677C3C-CDB9-4DD9-B99E-2BF6D22BD2FB}"/>
              </a:ext>
            </a:extLst>
          </p:cNvPr>
          <p:cNvSpPr/>
          <p:nvPr/>
        </p:nvSpPr>
        <p:spPr>
          <a:xfrm>
            <a:off x="335360" y="771818"/>
            <a:ext cx="112332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en-US" sz="2800" b="1" kern="100" dirty="0"/>
              <a:t>格式：</a:t>
            </a:r>
            <a:r>
              <a:rPr lang="en-US" altLang="zh-CN" sz="2800" b="1" kern="100" dirty="0" err="1"/>
              <a:t>dict.setdefault</a:t>
            </a:r>
            <a:r>
              <a:rPr lang="en-US" altLang="zh-CN" sz="2800" b="1" kern="100" dirty="0"/>
              <a:t>(key, default=None)</a:t>
            </a:r>
          </a:p>
          <a:p>
            <a:pPr indent="266700">
              <a:spcAft>
                <a:spcPts val="0"/>
              </a:spcAft>
            </a:pPr>
            <a:r>
              <a:rPr lang="zh-CN" altLang="zh-CN" sz="2800" b="1" kern="100" dirty="0"/>
              <a:t>和</a:t>
            </a:r>
            <a:r>
              <a:rPr lang="en-US" altLang="zh-CN" sz="2800" b="1" kern="100" dirty="0"/>
              <a:t>get()</a:t>
            </a:r>
            <a:r>
              <a:rPr lang="zh-CN" altLang="zh-CN" sz="2800" b="1" kern="100" dirty="0"/>
              <a:t>方法类似</a:t>
            </a:r>
            <a:r>
              <a:rPr lang="en-US" altLang="zh-CN" sz="2800" b="1" kern="100" dirty="0"/>
              <a:t>,</a:t>
            </a:r>
            <a:r>
              <a:rPr lang="zh-CN" altLang="en-US" sz="2800" b="1" kern="100" dirty="0"/>
              <a:t>如果</a:t>
            </a:r>
            <a:r>
              <a:rPr lang="en-US" altLang="zh-CN" sz="2800" b="1" kern="100" dirty="0"/>
              <a:t>key</a:t>
            </a:r>
            <a:r>
              <a:rPr lang="zh-CN" altLang="en-US" sz="2800" b="1" kern="100" dirty="0"/>
              <a:t>存在，返回值；</a:t>
            </a:r>
            <a:r>
              <a:rPr lang="zh-CN" altLang="zh-CN" sz="2800" b="1" kern="100" dirty="0"/>
              <a:t>如果</a:t>
            </a:r>
            <a:r>
              <a:rPr lang="en-US" altLang="zh-CN" sz="2800" b="1" kern="100" dirty="0"/>
              <a:t>key</a:t>
            </a:r>
            <a:r>
              <a:rPr lang="zh-CN" altLang="zh-CN" sz="2800" b="1" kern="100" dirty="0"/>
              <a:t>不</a:t>
            </a:r>
            <a:r>
              <a:rPr lang="zh-CN" altLang="en-US" sz="2800" b="1" kern="100" dirty="0"/>
              <a:t>存在</a:t>
            </a:r>
            <a:r>
              <a:rPr lang="zh-CN" altLang="zh-CN" sz="2800" b="1" kern="100" dirty="0"/>
              <a:t>，</a:t>
            </a:r>
            <a:r>
              <a:rPr lang="zh-CN" altLang="en-US" sz="2800" b="1" kern="100" dirty="0"/>
              <a:t>则</a:t>
            </a:r>
            <a:r>
              <a:rPr lang="zh-CN" altLang="zh-CN" sz="2800" b="1" kern="100" dirty="0"/>
              <a:t>添加键并设置值为</a:t>
            </a:r>
            <a:r>
              <a:rPr lang="en-US" altLang="zh-CN" sz="2800" b="1" kern="100" dirty="0"/>
              <a:t>default,</a:t>
            </a:r>
            <a:r>
              <a:rPr lang="zh-CN" altLang="en-US" sz="2800" b="1" kern="100" dirty="0"/>
              <a:t>返回值为</a:t>
            </a:r>
            <a:r>
              <a:rPr lang="en-US" altLang="zh-CN" sz="2800" b="1" kern="100" dirty="0"/>
              <a:t>default</a:t>
            </a:r>
            <a:r>
              <a:rPr lang="zh-CN" altLang="zh-CN" sz="2800" b="1" kern="100" dirty="0"/>
              <a:t>。</a:t>
            </a:r>
            <a:endParaRPr lang="zh-CN" altLang="zh-CN" sz="2800" b="1" kern="100" dirty="0">
              <a:latin typeface="Calibri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0763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3FBCF-8E85-0232-0872-AE69D564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A79D84-3AC6-802E-7C8A-F88F2CF9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x = dict1.setdefault(‘b’, 1)    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不存在</a:t>
            </a:r>
            <a:r>
              <a:rPr lang="zh-CN" altLang="zh-CN" sz="2400" b="1" dirty="0">
                <a:solidFill>
                  <a:schemeClr val="tx1"/>
                </a:solidFill>
              </a:rPr>
              <a:t>键</a:t>
            </a:r>
            <a:r>
              <a:rPr lang="en-US" altLang="zh-CN" sz="2400" b="1" dirty="0">
                <a:solidFill>
                  <a:schemeClr val="tx1"/>
                </a:solidFill>
              </a:rPr>
              <a:t>'b'</a:t>
            </a:r>
            <a:r>
              <a:rPr lang="zh-CN" altLang="zh-CN" sz="2400" b="1" dirty="0">
                <a:solidFill>
                  <a:schemeClr val="tx1"/>
                </a:solidFill>
              </a:rPr>
              <a:t>，添加并设置值为给定的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x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{'a': None, 'b': 1}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79EBA2-FD42-BAD0-8866-249A72B6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096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sz="3600" dirty="0"/>
              <a:t>4</a:t>
            </a:r>
            <a:r>
              <a:rPr lang="zh-CN" altLang="en-US" sz="3600" dirty="0"/>
              <a:t>．</a:t>
            </a:r>
            <a:r>
              <a:rPr lang="en-US" altLang="zh-CN" sz="3600" dirty="0"/>
              <a:t>update()</a:t>
            </a: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75420" y="2492896"/>
            <a:ext cx="10441160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{"name": "Tom", "age": 22}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{"sex": "male"}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dict1.update(dict2)         # </a:t>
            </a:r>
            <a:r>
              <a:rPr lang="zh-CN" altLang="en-US" sz="2400" b="1" dirty="0">
                <a:solidFill>
                  <a:schemeClr val="tx1"/>
                </a:solidFill>
              </a:rPr>
              <a:t>合并字典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{'age': 22, 'name': 'Tom', 'sex': 'male’}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{"name": "Jack", "sex": "male", "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": "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, China"}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dict1.update(dict2)            # </a:t>
            </a:r>
            <a:r>
              <a:rPr lang="zh-CN" altLang="en-US" sz="2400" b="1" dirty="0">
                <a:solidFill>
                  <a:schemeClr val="tx1"/>
                </a:solidFill>
              </a:rPr>
              <a:t>相同键的元素，其值以</a:t>
            </a:r>
            <a:r>
              <a:rPr lang="en-US" altLang="zh-CN" sz="2400" b="1" dirty="0">
                <a:solidFill>
                  <a:schemeClr val="tx1"/>
                </a:solidFill>
              </a:rPr>
              <a:t>dict2</a:t>
            </a:r>
            <a:r>
              <a:rPr lang="zh-CN" altLang="en-US" sz="2400" b="1" dirty="0">
                <a:solidFill>
                  <a:schemeClr val="tx1"/>
                </a:solidFill>
              </a:rPr>
              <a:t>为准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{'</a:t>
            </a:r>
            <a:r>
              <a:rPr lang="en-US" altLang="zh-CN" sz="2400" b="1" dirty="0" err="1">
                <a:solidFill>
                  <a:schemeClr val="tx1"/>
                </a:solidFill>
              </a:rPr>
              <a:t>addr</a:t>
            </a:r>
            <a:r>
              <a:rPr lang="en-US" altLang="zh-CN" sz="2400" b="1" dirty="0">
                <a:solidFill>
                  <a:schemeClr val="tx1"/>
                </a:solidFill>
              </a:rPr>
              <a:t>': 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, China', 'age': 22, 'name': 'Jack', 'sex': 'male'}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6EB391-1472-4F1F-9B57-F7291EFB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C739DA-A76D-4231-8C81-7BC96DF86831}"/>
              </a:ext>
            </a:extLst>
          </p:cNvPr>
          <p:cNvSpPr/>
          <p:nvPr/>
        </p:nvSpPr>
        <p:spPr>
          <a:xfrm>
            <a:off x="335360" y="921206"/>
            <a:ext cx="885671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en-US" sz="2800" b="1" kern="100" dirty="0"/>
              <a:t>格式：</a:t>
            </a:r>
            <a:r>
              <a:rPr lang="en-US" altLang="zh-CN" sz="2800" b="1" kern="100" dirty="0" err="1"/>
              <a:t>dict.update</a:t>
            </a:r>
            <a:r>
              <a:rPr lang="en-US" altLang="zh-CN" sz="2800" b="1" kern="100" dirty="0"/>
              <a:t>(dict2)</a:t>
            </a:r>
            <a:endParaRPr lang="zh-CN" altLang="zh-CN" sz="2800" dirty="0"/>
          </a:p>
          <a:p>
            <a:pPr eaLnBrk="1" fontAlgn="ctr" hangingPunct="1"/>
            <a:r>
              <a:rPr lang="en-US" altLang="zh-CN" sz="2800" b="1" dirty="0"/>
              <a:t>   </a:t>
            </a:r>
            <a:r>
              <a:rPr lang="zh-CN" altLang="en-US" sz="2800" b="1" dirty="0"/>
              <a:t>把</a:t>
            </a:r>
            <a:r>
              <a:rPr lang="zh-CN" altLang="zh-CN" sz="2800" b="1" dirty="0"/>
              <a:t>字典参数</a:t>
            </a:r>
            <a:r>
              <a:rPr lang="en-US" altLang="zh-CN" sz="2800" b="1" dirty="0"/>
              <a:t>dict2</a:t>
            </a:r>
            <a:r>
              <a:rPr lang="zh-CN" altLang="zh-CN" sz="2800" b="1" dirty="0"/>
              <a:t>的键</a:t>
            </a:r>
            <a:r>
              <a:rPr lang="en-US" altLang="zh-CN" sz="2800" b="1" dirty="0"/>
              <a:t>/</a:t>
            </a:r>
            <a:r>
              <a:rPr lang="zh-CN" altLang="zh-CN" sz="2800" b="1" dirty="0"/>
              <a:t>值对更新到字典</a:t>
            </a:r>
            <a:r>
              <a:rPr lang="en-US" altLang="zh-CN" sz="2800" b="1" dirty="0" err="1"/>
              <a:t>dict</a:t>
            </a:r>
            <a:r>
              <a:rPr lang="zh-CN" altLang="zh-CN" sz="2800" b="1" dirty="0"/>
              <a:t>里</a:t>
            </a:r>
            <a:r>
              <a:rPr lang="zh-CN" altLang="en-US" sz="2800" b="1" dirty="0"/>
              <a:t>（原来字典中没有的</a:t>
            </a:r>
            <a:r>
              <a:rPr lang="en-US" altLang="zh-CN" sz="2800" b="1" dirty="0"/>
              <a:t>key</a:t>
            </a:r>
            <a:r>
              <a:rPr lang="zh-CN" altLang="en-US" sz="2800" b="1" dirty="0"/>
              <a:t>，添加；已有的</a:t>
            </a:r>
            <a:r>
              <a:rPr lang="en-US" altLang="zh-CN" sz="2800" b="1" dirty="0"/>
              <a:t>key</a:t>
            </a:r>
            <a:r>
              <a:rPr lang="zh-CN" altLang="en-US" sz="2800" b="1" dirty="0"/>
              <a:t>，更新）</a:t>
            </a:r>
            <a:r>
              <a:rPr lang="zh-CN" altLang="zh-CN" sz="2800" b="1" dirty="0"/>
              <a:t>。</a:t>
            </a:r>
            <a:endParaRPr lang="zh-CN" altLang="zh-CN" sz="2800" dirty="0"/>
          </a:p>
          <a:p>
            <a:pPr indent="266700">
              <a:spcAft>
                <a:spcPts val="0"/>
              </a:spcAft>
            </a:pPr>
            <a:endParaRPr lang="zh-CN" altLang="zh-CN" sz="2800" b="1" kern="100" dirty="0">
              <a:latin typeface="Calibri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7331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344" y="282950"/>
            <a:ext cx="10852150" cy="716915"/>
          </a:xfrm>
        </p:spPr>
        <p:txBody>
          <a:bodyPr/>
          <a:lstStyle/>
          <a:p>
            <a:pPr lvl="0"/>
            <a:r>
              <a:rPr lang="en-US" altLang="zh-CN" sz="3600" dirty="0"/>
              <a:t>5</a:t>
            </a:r>
            <a:r>
              <a:rPr lang="zh-CN" altLang="en-US" sz="3600" dirty="0"/>
              <a:t>．</a:t>
            </a:r>
            <a:r>
              <a:rPr lang="en-US" altLang="zh-CN" sz="3600" dirty="0"/>
              <a:t>copy()</a:t>
            </a: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04851" y="2939524"/>
            <a:ext cx="5112568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copy()</a:t>
            </a:r>
            <a:r>
              <a:rPr lang="zh-CN" altLang="en-US" sz="2400" b="1" dirty="0">
                <a:solidFill>
                  <a:schemeClr val="tx1"/>
                </a:solidFill>
              </a:rPr>
              <a:t>是浅复制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dict1.copy()  # </a:t>
            </a:r>
            <a:r>
              <a:rPr lang="zh-CN" altLang="zh-CN" sz="2400" b="1" dirty="0">
                <a:solidFill>
                  <a:schemeClr val="tx1"/>
                </a:solidFill>
              </a:rPr>
              <a:t>浅复制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dict1['a'] = 0      # dict1</a:t>
            </a:r>
            <a:r>
              <a:rPr lang="zh-CN" altLang="zh-CN" sz="2400" b="1" dirty="0">
                <a:solidFill>
                  <a:schemeClr val="tx1"/>
                </a:solidFill>
              </a:rPr>
              <a:t>改变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0,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    # dict2</a:t>
            </a:r>
            <a:r>
              <a:rPr lang="zh-CN" altLang="zh-CN" sz="2400" b="1" dirty="0">
                <a:solidFill>
                  <a:schemeClr val="tx1"/>
                </a:solidFill>
              </a:rPr>
              <a:t>不受影响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1, 'b': 2, 'c': 3} 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2307644"/>
            <a:ext cx="5760640" cy="41549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# =</a:t>
            </a:r>
            <a:r>
              <a:rPr lang="zh-CN" altLang="en-US" sz="2400" dirty="0"/>
              <a:t>赋值为深复制</a:t>
            </a:r>
            <a:endParaRPr lang="en-US" altLang="zh-CN" sz="2400" dirty="0"/>
          </a:p>
          <a:p>
            <a:r>
              <a:rPr lang="en-US" altLang="zh-CN" sz="2400" dirty="0"/>
              <a:t>&gt;&gt;&gt; dict1 = {'a': 1, 'b': 2, 'c': 3}</a:t>
            </a:r>
            <a:endParaRPr lang="zh-CN" altLang="zh-CN" sz="2400" dirty="0"/>
          </a:p>
          <a:p>
            <a:r>
              <a:rPr lang="en-US" altLang="zh-CN" sz="2400" dirty="0"/>
              <a:t>&gt;&gt;&gt; dict2 = dict1         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赋值，</a:t>
            </a:r>
            <a:r>
              <a:rPr lang="en-US" altLang="zh-CN" sz="2400" dirty="0">
                <a:solidFill>
                  <a:srgbClr val="FF0000"/>
                </a:solidFill>
              </a:rPr>
              <a:t>dict2</a:t>
            </a:r>
            <a:r>
              <a:rPr lang="zh-CN" altLang="zh-CN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</a:rPr>
              <a:t>dict1</a:t>
            </a:r>
            <a:r>
              <a:rPr lang="zh-CN" altLang="zh-CN" sz="2400" dirty="0">
                <a:solidFill>
                  <a:srgbClr val="FF0000"/>
                </a:solidFill>
              </a:rPr>
              <a:t>指向同一个字典</a:t>
            </a:r>
          </a:p>
          <a:p>
            <a:r>
              <a:rPr lang="en-US" altLang="zh-CN" sz="2400" dirty="0"/>
              <a:t>&gt;&gt;&gt; dict2</a:t>
            </a:r>
            <a:endParaRPr lang="zh-CN" altLang="zh-CN" sz="2400" dirty="0"/>
          </a:p>
          <a:p>
            <a:r>
              <a:rPr lang="en-US" altLang="zh-CN" sz="2400" dirty="0"/>
              <a:t>{'a': 1, 'b': 2, 'c': 3}</a:t>
            </a:r>
            <a:endParaRPr lang="zh-CN" altLang="zh-CN" sz="2400" dirty="0"/>
          </a:p>
          <a:p>
            <a:r>
              <a:rPr lang="en-US" altLang="zh-CN" sz="2400" dirty="0"/>
              <a:t>&gt;&gt;&gt; dict1['a'] = 0         </a:t>
            </a:r>
            <a:r>
              <a:rPr lang="en-US" altLang="zh-CN" sz="2400" dirty="0">
                <a:solidFill>
                  <a:srgbClr val="FF0000"/>
                </a:solidFill>
              </a:rPr>
              <a:t># dict1</a:t>
            </a:r>
            <a:r>
              <a:rPr lang="zh-CN" altLang="zh-CN" sz="2400" dirty="0">
                <a:solidFill>
                  <a:srgbClr val="FF0000"/>
                </a:solidFill>
              </a:rPr>
              <a:t>发生改变</a:t>
            </a:r>
          </a:p>
          <a:p>
            <a:r>
              <a:rPr lang="en-US" altLang="zh-CN" sz="2400" dirty="0"/>
              <a:t>&gt;&gt;&gt; dict1</a:t>
            </a:r>
            <a:endParaRPr lang="zh-CN" altLang="zh-CN" sz="2400" dirty="0"/>
          </a:p>
          <a:p>
            <a:r>
              <a:rPr lang="en-US" altLang="zh-CN" sz="2400" dirty="0"/>
              <a:t>{'a': 0, 'b': 2, 'c': 3}</a:t>
            </a:r>
            <a:endParaRPr lang="zh-CN" altLang="zh-CN" sz="2400" dirty="0"/>
          </a:p>
          <a:p>
            <a:r>
              <a:rPr lang="en-US" altLang="zh-CN" sz="2400" dirty="0"/>
              <a:t>&gt;&gt;&gt; dict2      </a:t>
            </a:r>
            <a:r>
              <a:rPr lang="en-US" altLang="zh-CN" sz="2400" dirty="0">
                <a:solidFill>
                  <a:srgbClr val="FF0000"/>
                </a:solidFill>
              </a:rPr>
              <a:t># dict2</a:t>
            </a:r>
            <a:r>
              <a:rPr lang="zh-CN" altLang="zh-CN" sz="2400" dirty="0">
                <a:solidFill>
                  <a:srgbClr val="FF0000"/>
                </a:solidFill>
              </a:rPr>
              <a:t>也立刻改变</a:t>
            </a:r>
          </a:p>
          <a:p>
            <a:r>
              <a:rPr lang="en-US" altLang="zh-CN" sz="2400" dirty="0"/>
              <a:t>{'a': 0, 'b': 2, 'c': 3}</a:t>
            </a:r>
            <a:endParaRPr lang="zh-CN" altLang="zh-CN" sz="2400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381893" y="999865"/>
            <a:ext cx="10852150" cy="71691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 sz="2800" dirty="0"/>
              <a:t>2</a:t>
            </a:r>
            <a:r>
              <a:rPr lang="zh-CN" altLang="en-US" sz="2800" dirty="0"/>
              <a:t>种复制：</a:t>
            </a:r>
            <a:endParaRPr lang="en-US" altLang="zh-CN" sz="2800" dirty="0"/>
          </a:p>
          <a:p>
            <a:r>
              <a:rPr lang="en-US" altLang="zh-CN" sz="2800" dirty="0"/>
              <a:t>(1) = </a:t>
            </a:r>
            <a:r>
              <a:rPr lang="zh-CN" altLang="en-US" sz="2800" dirty="0"/>
              <a:t>赋值</a:t>
            </a:r>
            <a:r>
              <a:rPr lang="zh-CN" altLang="zh-CN" sz="2800" dirty="0"/>
              <a:t>运算符</a:t>
            </a:r>
            <a:endParaRPr lang="en-US" altLang="zh-CN" sz="2800" dirty="0"/>
          </a:p>
          <a:p>
            <a:r>
              <a:rPr lang="en-US" altLang="zh-CN" sz="2800" dirty="0"/>
              <a:t>(2) copy()</a:t>
            </a:r>
            <a:r>
              <a:rPr lang="zh-CN" altLang="en-US" sz="2800" dirty="0"/>
              <a:t>方法。</a:t>
            </a:r>
            <a:endParaRPr lang="en-US" altLang="zh-CN" sz="2800" dirty="0"/>
          </a:p>
          <a:p>
            <a:r>
              <a:rPr lang="zh-CN" altLang="zh-CN" sz="2800" dirty="0"/>
              <a:t>意义不同。</a:t>
            </a:r>
            <a:endParaRPr 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A1E0B7-61D6-4358-B713-062BF184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31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7.1.6 </a:t>
            </a:r>
            <a:r>
              <a:rPr lang="zh-CN" altLang="en-US" dirty="0"/>
              <a:t>字典推导式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424" y="2492896"/>
            <a:ext cx="10369152" cy="341632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dict2={k: v for k, v in dict1.items()}      # </a:t>
            </a:r>
            <a:r>
              <a:rPr lang="zh-CN" altLang="zh-CN" sz="2400" b="1" dirty="0">
                <a:solidFill>
                  <a:schemeClr val="tx1"/>
                </a:solidFill>
              </a:rPr>
              <a:t>字典推导式，结果赋予</a:t>
            </a:r>
            <a:r>
              <a:rPr lang="en-US" altLang="zh-CN" sz="2400" b="1" dirty="0">
                <a:solidFill>
                  <a:schemeClr val="tx1"/>
                </a:solidFill>
              </a:rPr>
              <a:t>dict2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is dict1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 = {k: v**2 for k, v in dict1.items()}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dict2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{'a': 1, 'b': 4, 'c': 9}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1573" y="1291407"/>
            <a:ext cx="7346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字典推导式和列表推导式的使用类似，</a:t>
            </a:r>
            <a:endParaRPr lang="en-US" altLang="zh-CN" sz="2800" b="1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  <a:p>
            <a:r>
              <a:rPr lang="zh-CN" altLang="en-US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区别：</a:t>
            </a:r>
            <a:r>
              <a:rPr lang="en-US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[]</a:t>
            </a:r>
            <a:r>
              <a:rPr lang="zh-CN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改成</a:t>
            </a:r>
            <a:r>
              <a:rPr lang="en-US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{}</a:t>
            </a:r>
            <a:r>
              <a:rPr lang="zh-CN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，结果不是列表而是字典。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E78B65-E3D1-4CAB-AB64-7B7F0A5E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31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7.1.7 </a:t>
            </a:r>
            <a:r>
              <a:rPr lang="zh-CN" altLang="en-US" dirty="0"/>
              <a:t>字典的遍历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472" y="1988840"/>
            <a:ext cx="9062859" cy="415498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x in dict1.keys():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x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'a'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'b'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'c'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x in dict1:    # </a:t>
            </a:r>
            <a:r>
              <a:rPr lang="zh-CN" altLang="zh-CN" sz="2400" b="1" dirty="0">
                <a:solidFill>
                  <a:schemeClr val="tx1"/>
                </a:solidFill>
              </a:rPr>
              <a:t>不指明遍历对象，默认遍历“键”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x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'a'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'b'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'c'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1573" y="1291407"/>
            <a:ext cx="7109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重点：默认情况下，</a:t>
            </a:r>
            <a:r>
              <a:rPr lang="zh-CN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字典遍历</a:t>
            </a:r>
            <a:r>
              <a:rPr lang="zh-CN" altLang="en-US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的</a:t>
            </a:r>
            <a:r>
              <a:rPr lang="zh-CN" altLang="zh-CN" sz="28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是“键”</a:t>
            </a:r>
            <a:endParaRPr lang="zh-CN" altLang="en-US" sz="2800" b="1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EE59-C562-4D22-998D-F3804FAE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783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177315"/>
            <a:ext cx="11809312" cy="1104740"/>
          </a:xfrm>
        </p:spPr>
        <p:txBody>
          <a:bodyPr>
            <a:normAutofit/>
          </a:bodyPr>
          <a:lstStyle/>
          <a:p>
            <a:pPr lvl="0"/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如果要遍历字典的元素</a:t>
            </a:r>
            <a:r>
              <a:rPr lang="zh-CN" altLang="en-US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必须使用</a:t>
            </a:r>
            <a:r>
              <a:rPr lang="zh-CN" altLang="en-US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字典的</a:t>
            </a:r>
            <a:r>
              <a:rPr lang="en-US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items()</a:t>
            </a:r>
            <a:r>
              <a:rPr lang="zh-CN" altLang="en-US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方法</a:t>
            </a:r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明确说明，</a:t>
            </a:r>
            <a:br>
              <a:rPr lang="en-US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</a:br>
            <a:r>
              <a:rPr lang="zh-CN" altLang="en-US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如果要遍历字典的</a:t>
            </a:r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值</a:t>
            </a:r>
            <a:r>
              <a:rPr lang="zh-CN" altLang="en-US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   必须</a:t>
            </a:r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使用字典的</a:t>
            </a:r>
            <a:r>
              <a:rPr lang="en-US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values()</a:t>
            </a:r>
            <a:r>
              <a:rPr lang="zh-CN" altLang="zh-CN" sz="2800" cap="none" spc="20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方法加以说明</a:t>
            </a:r>
            <a:endParaRPr lang="zh-CN" altLang="en-US" sz="2800" cap="none" spc="20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79576" y="1556792"/>
            <a:ext cx="8784976" cy="415498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dict1 = {'a': 1, 'b': 2, 'c':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item in dict1.items():      # </a:t>
            </a:r>
            <a:r>
              <a:rPr lang="zh-CN" altLang="zh-CN" sz="2400" b="1" dirty="0">
                <a:solidFill>
                  <a:schemeClr val="tx1"/>
                </a:solidFill>
              </a:rPr>
              <a:t>遍历字典的元素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item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('a', 1)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('b', 2)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('c', 3)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value in dict1.values():     # </a:t>
            </a:r>
            <a:r>
              <a:rPr lang="zh-CN" altLang="zh-CN" sz="2400" b="1" dirty="0">
                <a:solidFill>
                  <a:schemeClr val="tx1"/>
                </a:solidFill>
              </a:rPr>
              <a:t>遍历字典的“值”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value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BC1959C-97AF-4A30-9747-C6858636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58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7.2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集合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104925-78DB-421B-85C3-87267238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集合（</a:t>
            </a:r>
            <a:r>
              <a:rPr lang="en-US" altLang="zh-CN" dirty="0"/>
              <a:t>set</a:t>
            </a:r>
            <a:r>
              <a:rPr lang="zh-CN" altLang="zh-CN" dirty="0"/>
              <a:t>）是一个无序且</a:t>
            </a:r>
            <a:r>
              <a:rPr lang="zh-CN" altLang="zh-CN" dirty="0">
                <a:solidFill>
                  <a:srgbClr val="FF0000"/>
                </a:solidFill>
              </a:rPr>
              <a:t>没有重复元素</a:t>
            </a:r>
            <a:r>
              <a:rPr lang="zh-CN" altLang="zh-CN" dirty="0"/>
              <a:t>的可变序列。</a:t>
            </a:r>
            <a:endParaRPr lang="en-US" altLang="zh-CN" dirty="0"/>
          </a:p>
          <a:p>
            <a:r>
              <a:rPr lang="zh-CN" altLang="en-US" dirty="0"/>
              <a:t>格式：定界符为</a:t>
            </a:r>
            <a:r>
              <a:rPr lang="en-US" altLang="zh-CN" dirty="0"/>
              <a:t>{}</a:t>
            </a:r>
            <a:r>
              <a:rPr lang="zh-CN" altLang="en-US" dirty="0"/>
              <a:t>（</a:t>
            </a:r>
            <a:r>
              <a:rPr lang="zh-CN" altLang="zh-CN" dirty="0"/>
              <a:t>和字典一样，</a:t>
            </a:r>
            <a:r>
              <a:rPr lang="zh-CN" altLang="en-US" dirty="0"/>
              <a:t>），</a:t>
            </a:r>
            <a:r>
              <a:rPr lang="zh-CN" altLang="zh-CN" dirty="0"/>
              <a:t>元素之间使用逗号分隔。</a:t>
            </a:r>
            <a:endParaRPr lang="en-US" altLang="zh-CN" dirty="0"/>
          </a:p>
          <a:p>
            <a:r>
              <a:rPr lang="zh-CN" altLang="zh-CN" dirty="0"/>
              <a:t>集合中的元素只能是</a:t>
            </a:r>
            <a:r>
              <a:rPr lang="zh-CN" altLang="zh-CN" dirty="0">
                <a:solidFill>
                  <a:srgbClr val="FF0000"/>
                </a:solidFill>
              </a:rPr>
              <a:t>不可变类型的数据</a:t>
            </a:r>
            <a:r>
              <a:rPr lang="zh-CN" altLang="zh-CN" dirty="0"/>
              <a:t>，不能包含如列表、字典、集合等可变类型的数据，因此集合是</a:t>
            </a:r>
            <a:r>
              <a:rPr lang="zh-CN" altLang="zh-CN" dirty="0">
                <a:solidFill>
                  <a:srgbClr val="FF0000"/>
                </a:solidFill>
              </a:rPr>
              <a:t>无法嵌套</a:t>
            </a:r>
            <a:r>
              <a:rPr lang="zh-CN" altLang="zh-CN" dirty="0"/>
              <a:t>的。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A37B0B-EA68-4261-8617-3FC0A2FD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57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3600" dirty="0"/>
              <a:t>7.2.1 </a:t>
            </a:r>
            <a:r>
              <a:rPr lang="zh-CN" altLang="en-US" sz="3600" dirty="0"/>
              <a:t>集合的创建与删除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3432" y="3337561"/>
            <a:ext cx="10369152" cy="156966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       # </a:t>
            </a:r>
            <a:r>
              <a:rPr lang="zh-CN" altLang="zh-CN" sz="2400" b="1" dirty="0">
                <a:solidFill>
                  <a:schemeClr val="tx1"/>
                </a:solidFill>
              </a:rPr>
              <a:t>用“</a:t>
            </a:r>
            <a:r>
              <a:rPr lang="en-US" altLang="zh-CN" sz="2400" b="1" dirty="0">
                <a:solidFill>
                  <a:schemeClr val="tx1"/>
                </a:solidFill>
              </a:rPr>
              <a:t>=</a:t>
            </a:r>
            <a:r>
              <a:rPr lang="zh-CN" altLang="zh-CN" sz="2400" b="1" dirty="0">
                <a:solidFill>
                  <a:schemeClr val="tx1"/>
                </a:solidFill>
              </a:rPr>
              <a:t>”将一个集合赋值给一个变量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set()                    # </a:t>
            </a:r>
            <a:r>
              <a:rPr lang="zh-CN" altLang="en-US" sz="2400" b="1" dirty="0">
                <a:solidFill>
                  <a:schemeClr val="tx1"/>
                </a:solidFill>
              </a:rPr>
              <a:t>用</a:t>
            </a:r>
            <a:r>
              <a:rPr lang="en-US" altLang="zh-CN" sz="2400" b="1" dirty="0">
                <a:solidFill>
                  <a:schemeClr val="tx1"/>
                </a:solidFill>
              </a:rPr>
              <a:t>set( )</a:t>
            </a:r>
            <a:r>
              <a:rPr lang="zh-CN" altLang="en-US" sz="2400" b="1" dirty="0">
                <a:solidFill>
                  <a:schemeClr val="tx1"/>
                </a:solidFill>
              </a:rPr>
              <a:t>函数</a:t>
            </a:r>
            <a:r>
              <a:rPr lang="zh-CN" altLang="zh-CN" sz="2400" b="1" dirty="0">
                <a:solidFill>
                  <a:schemeClr val="tx1"/>
                </a:solidFill>
              </a:rPr>
              <a:t>创建空集合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set{}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5399" y="1107381"/>
            <a:ext cx="87115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1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．集合的创建</a:t>
            </a:r>
            <a:endParaRPr lang="en-US" altLang="zh-CN" sz="2800" b="1" spc="2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</a:endParaRPr>
          </a:p>
          <a:p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格式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1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：集合名 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= set()</a:t>
            </a:r>
            <a:endParaRPr lang="zh-CN" altLang="zh-CN" sz="2800" b="1" spc="2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</a:endParaRPr>
          </a:p>
          <a:p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格式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2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：集合名 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= {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元素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1, 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元组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2, 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…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 , 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元素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n}</a:t>
            </a:r>
            <a:endParaRPr lang="zh-CN" altLang="zh-CN" sz="2800" b="1" spc="2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</a:endParaRPr>
          </a:p>
          <a:p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0E0645-9451-41AB-A1C0-DCE8AFC7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65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7" y="980728"/>
            <a:ext cx="7776865" cy="2088232"/>
          </a:xfr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set3={}      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#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创建空字典，而非空集合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set3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{}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type(set3)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&lt;class '</a:t>
            </a:r>
            <a:r>
              <a:rPr lang="en-US" altLang="zh-CN" sz="2400" dirty="0" err="1">
                <a:solidFill>
                  <a:schemeClr val="tx1"/>
                </a:solidFill>
              </a:rPr>
              <a:t>dict</a:t>
            </a:r>
            <a:r>
              <a:rPr lang="en-US" altLang="zh-CN" sz="2400" dirty="0">
                <a:solidFill>
                  <a:schemeClr val="tx1"/>
                </a:solidFill>
              </a:rPr>
              <a:t>'&gt;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84944" y="188641"/>
            <a:ext cx="10999687" cy="79208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cap="all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注意</a:t>
            </a:r>
            <a:r>
              <a:rPr lang="en-US" altLang="zh-CN" b="1" cap="all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</a:t>
            </a:r>
            <a:r>
              <a:rPr lang="zh-CN" altLang="en-US" b="1" cap="all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：</a:t>
            </a:r>
            <a:r>
              <a:rPr lang="zh-CN" altLang="en-US" b="1" spc="200" dirty="0">
                <a:cs typeface="+mj-cs"/>
              </a:rPr>
              <a:t>集合和字典的定界符相同，使用</a:t>
            </a:r>
            <a:r>
              <a:rPr lang="en-US" altLang="zh-CN" b="1" spc="200" dirty="0">
                <a:cs typeface="+mj-cs"/>
              </a:rPr>
              <a:t>{}</a:t>
            </a:r>
            <a:r>
              <a:rPr lang="zh-CN" altLang="en-US" b="1" spc="200" dirty="0">
                <a:cs typeface="+mj-cs"/>
              </a:rPr>
              <a:t>默认创建的是字典</a:t>
            </a:r>
            <a:endParaRPr lang="en-US" altLang="zh-CN" b="1" spc="200" dirty="0">
              <a:cs typeface="+mj-cs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23392" y="3284984"/>
            <a:ext cx="10852150" cy="576063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spc="200" dirty="0">
                <a:cs typeface="+mj-cs"/>
              </a:rPr>
              <a:t>注意</a:t>
            </a:r>
            <a:r>
              <a:rPr lang="en-US" altLang="zh-CN" b="1" spc="200" dirty="0">
                <a:cs typeface="+mj-cs"/>
              </a:rPr>
              <a:t>2</a:t>
            </a:r>
            <a:r>
              <a:rPr lang="zh-CN" altLang="en-US" b="1" spc="200" dirty="0">
                <a:cs typeface="+mj-cs"/>
              </a:rPr>
              <a:t>：集合中所有元素都是唯一的，重复的元素会自动被去除</a:t>
            </a:r>
            <a:endParaRPr lang="en-US" altLang="zh-CN" b="1" spc="200" dirty="0">
              <a:cs typeface="+mj-cs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127448" y="4077072"/>
            <a:ext cx="8568952" cy="23042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&gt;&gt;&gt; set4={1, 2, 3, 4, 1}   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  <a:ea typeface="+mn-ea"/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  <a:latin typeface="+mn-lt"/>
                <a:ea typeface="+mn-ea"/>
              </a:rPr>
              <a:t>重复元素只保留一个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&gt;&gt;&gt; set4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{1, 2, 3, 4}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79DBF3-BFC0-4920-8896-5315F4B7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779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</a:t>
            </a:r>
            <a:r>
              <a:rPr lang="zh-CN" altLang="en-US" sz="3600" dirty="0"/>
              <a:t>．集合的删除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713" y="2276872"/>
            <a:ext cx="8192640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del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                   # set1</a:t>
            </a:r>
            <a:r>
              <a:rPr lang="zh-CN" altLang="zh-CN" sz="2400" b="1" dirty="0">
                <a:solidFill>
                  <a:schemeClr val="tx1"/>
                </a:solidFill>
              </a:rPr>
              <a:t>已被删除，访问时会抛出异常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"&lt;pyshell#259&gt;", line 1, in &lt;module&gt;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NameError</a:t>
            </a:r>
            <a:r>
              <a:rPr lang="en-US" altLang="zh-CN" sz="2400" b="1" dirty="0">
                <a:solidFill>
                  <a:schemeClr val="tx1"/>
                </a:solidFill>
              </a:rPr>
              <a:t>: name 'set1' is not defined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9456" y="1397646"/>
            <a:ext cx="5153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格式：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del </a:t>
            </a:r>
            <a:r>
              <a:rPr lang="zh-CN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</a:rPr>
              <a:t>集合名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67ED54-67B9-4413-ACEB-02FF5A62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01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7.2.2 </a:t>
            </a:r>
            <a:r>
              <a:rPr lang="zh-CN" altLang="en-US" dirty="0"/>
              <a:t>集合的运算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268760"/>
            <a:ext cx="5472608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cap="all" dirty="0">
                <a:cs typeface="+mj-cs"/>
              </a:rPr>
              <a:t>1. </a:t>
            </a:r>
            <a:r>
              <a:rPr lang="zh-CN" altLang="en-US" sz="3600" cap="all" dirty="0">
                <a:cs typeface="+mj-cs"/>
              </a:rPr>
              <a:t>成员运算符</a:t>
            </a:r>
            <a:r>
              <a:rPr lang="en-US" altLang="zh-CN" sz="3600" dirty="0">
                <a:cs typeface="+mj-cs"/>
              </a:rPr>
              <a:t>in</a:t>
            </a:r>
            <a:endParaRPr lang="en-US" altLang="zh-CN" sz="3600" cap="all" dirty="0"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5440" y="2204864"/>
            <a:ext cx="7128792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1 in set1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判断集合中是否有元素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6 in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6 not in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F5D6F1-07A1-40BE-8303-16F9FFDB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79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476672"/>
            <a:ext cx="11233248" cy="5760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3600" cap="all" dirty="0">
                <a:cs typeface="+mj-cs"/>
              </a:rPr>
              <a:t>2. </a:t>
            </a:r>
            <a:r>
              <a:rPr lang="zh-CN" altLang="en-US" sz="3600" cap="all" dirty="0">
                <a:cs typeface="+mj-cs"/>
              </a:rPr>
              <a:t>交集、并集、差集、对称差集等</a:t>
            </a:r>
            <a:endParaRPr lang="en-US" altLang="zh-CN" sz="3600" cap="all" dirty="0"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9536" y="1443548"/>
            <a:ext cx="9289032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{4, 5, 6, 7, 8}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| set2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求并集</a:t>
            </a:r>
            <a:r>
              <a:rPr lang="en-US" altLang="zh-CN" sz="2400" b="1" dirty="0">
                <a:solidFill>
                  <a:schemeClr val="tx1"/>
                </a:solidFill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</a:rPr>
              <a:t>同或，</a:t>
            </a:r>
            <a:r>
              <a:rPr lang="en-US" altLang="zh-CN" sz="2400" b="1" dirty="0">
                <a:solidFill>
                  <a:schemeClr val="tx1"/>
                </a:solidFill>
              </a:rPr>
              <a:t>shift+\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4, 5, 6, 7, 8}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&amp; set2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求交集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set1 - set2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求差集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^ set2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求对称差集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zh-CN" altLang="en-US" sz="2400" dirty="0">
                <a:solidFill>
                  <a:schemeClr val="tx1"/>
                </a:solidFill>
              </a:rPr>
              <a:t>并集减去交集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6, 7, 8}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7AE53C-E1B8-49B1-82CC-404F8685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276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314352"/>
            <a:ext cx="11089232" cy="320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3. &gt;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&gt;=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&lt;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&lt;=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==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!=</a:t>
            </a:r>
          </a:p>
          <a:p>
            <a:pPr marL="0" indent="0">
              <a:buNone/>
            </a:pP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判断集合的包含关系及是否相同。</a:t>
            </a:r>
            <a:endParaRPr lang="zh-CN" altLang="en-US" sz="2400" spc="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1464" y="1556792"/>
            <a:ext cx="9649072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{4, 5, 6, 7, 8}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&lt; set2                        #</a:t>
            </a:r>
            <a:r>
              <a:rPr lang="zh-CN" altLang="zh-CN" sz="2400" b="1" dirty="0">
                <a:solidFill>
                  <a:schemeClr val="tx1"/>
                </a:solidFill>
              </a:rPr>
              <a:t>判断集合大小（包含关系）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&lt; {1, 2, 3, 4, 5, 6}      # </a:t>
            </a:r>
            <a:r>
              <a:rPr lang="zh-CN" altLang="zh-CN" sz="2400" b="1" dirty="0">
                <a:solidFill>
                  <a:schemeClr val="tx1"/>
                </a:solidFill>
              </a:rPr>
              <a:t>真子集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&lt;= {1, 2, 3, 4, 5}       # </a:t>
            </a:r>
            <a:r>
              <a:rPr lang="zh-CN" altLang="zh-CN" sz="2400" b="1" dirty="0">
                <a:solidFill>
                  <a:schemeClr val="tx1"/>
                </a:solidFill>
              </a:rPr>
              <a:t>子集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!= set2       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判断集合是否不同（有不同的元素）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== {1, 2, 3, 4, 5}	   # </a:t>
            </a:r>
            <a:r>
              <a:rPr lang="zh-CN" altLang="zh-CN" sz="2400" b="1" dirty="0">
                <a:solidFill>
                  <a:schemeClr val="tx1"/>
                </a:solidFill>
              </a:rPr>
              <a:t>判断集合是否相等（元素是否相同）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01DBA5-F17E-47AF-A5B4-7C791546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276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7.2.3 </a:t>
            </a:r>
            <a:r>
              <a:rPr lang="zh-CN" altLang="en-US" dirty="0"/>
              <a:t>内置函数对集合的操作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980728"/>
            <a:ext cx="10225136" cy="7920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内置函数</a:t>
            </a:r>
            <a:r>
              <a:rPr lang="en-US" altLang="zh-CN" sz="2800" spc="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len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max()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min()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sum()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sorted()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zip()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enumerate()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all()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、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any()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均可用于集合的操作</a:t>
            </a:r>
            <a:endParaRPr lang="en-US" altLang="zh-CN" sz="2800" spc="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5480" y="1974082"/>
            <a:ext cx="9001000" cy="473975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set1 = {1, 2, 3, 4}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set2 = {'a', 'b', 'c', 'd'}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len</a:t>
            </a:r>
            <a:r>
              <a:rPr lang="en-US" altLang="zh-CN" sz="2000" b="1" dirty="0">
                <a:solidFill>
                  <a:schemeClr val="tx1"/>
                </a:solidFill>
              </a:rPr>
              <a:t>(set1) 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集合元素个数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4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max(set1)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集合元素最大值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4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min(set1)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集合元素最小值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sum(set1)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集合元素求和，对于非数值型会出错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10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sum(set2)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集合元素求和，对于非数值型会出错</a:t>
            </a:r>
          </a:p>
          <a:p>
            <a:r>
              <a:rPr lang="en-US" altLang="zh-CN" sz="20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000" b="1" dirty="0">
                <a:solidFill>
                  <a:schemeClr val="tx1"/>
                </a:solidFill>
              </a:rPr>
              <a:t> (most recent call last):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  File "&lt;pyshell#298&gt;", line 1, in &lt;module&gt;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sum(set2)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 err="1">
                <a:solidFill>
                  <a:schemeClr val="tx1"/>
                </a:solidFill>
              </a:rPr>
              <a:t>TypeError</a:t>
            </a:r>
            <a:r>
              <a:rPr lang="en-US" altLang="zh-CN" sz="2000" b="1" dirty="0">
                <a:solidFill>
                  <a:schemeClr val="tx1"/>
                </a:solidFill>
              </a:rPr>
              <a:t>: unsupported operand type(s) for +: '</a:t>
            </a:r>
            <a:r>
              <a:rPr lang="en-US" altLang="zh-CN" sz="2000" b="1" dirty="0" err="1">
                <a:solidFill>
                  <a:schemeClr val="tx1"/>
                </a:solidFill>
              </a:rPr>
              <a:t>int</a:t>
            </a:r>
            <a:r>
              <a:rPr lang="en-US" altLang="zh-CN" sz="2000" b="1" dirty="0">
                <a:solidFill>
                  <a:schemeClr val="tx1"/>
                </a:solidFill>
              </a:rPr>
              <a:t>' and </a:t>
            </a:r>
            <a:r>
              <a:rPr lang="en-US" altLang="zh-CN" sz="2200" b="1" dirty="0">
                <a:solidFill>
                  <a:schemeClr val="tx1"/>
                </a:solidFill>
              </a:rPr>
              <a:t>'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en-US" altLang="zh-CN" sz="2200" b="1" dirty="0">
                <a:solidFill>
                  <a:schemeClr val="tx1"/>
                </a:solidFill>
              </a:rPr>
              <a:t>'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6728B6-146A-4FE1-A38A-68C5DDD5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518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605581"/>
            <a:ext cx="10225136" cy="584775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</a:rPr>
              <a:t>续上例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sorted(set1)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[1, 2, 3, 4]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sorted(set1, reverse=True)         # </a:t>
            </a:r>
            <a:r>
              <a:rPr lang="zh-CN" altLang="zh-CN" sz="2200" b="1" dirty="0">
                <a:solidFill>
                  <a:schemeClr val="tx1"/>
                </a:solidFill>
              </a:rPr>
              <a:t>集合元素降序排序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[4, 3, 2, 1]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zip(set1, set2)            # zip()</a:t>
            </a:r>
            <a:r>
              <a:rPr lang="zh-CN" altLang="zh-CN" sz="2200" b="1" dirty="0">
                <a:solidFill>
                  <a:schemeClr val="tx1"/>
                </a:solidFill>
              </a:rPr>
              <a:t>返回的是</a:t>
            </a:r>
            <a:r>
              <a:rPr lang="en-US" altLang="zh-CN" sz="2200" b="1" dirty="0">
                <a:solidFill>
                  <a:schemeClr val="tx1"/>
                </a:solidFill>
              </a:rPr>
              <a:t>zip</a:t>
            </a:r>
            <a:r>
              <a:rPr lang="zh-CN" altLang="zh-CN" sz="2200" b="1" dirty="0">
                <a:solidFill>
                  <a:schemeClr val="tx1"/>
                </a:solidFill>
              </a:rPr>
              <a:t>对象，不能直接输出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&lt;zip object at 0x0000000003369B88&gt;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list(zip(set1, set2))        # </a:t>
            </a:r>
            <a:r>
              <a:rPr lang="zh-CN" altLang="zh-CN" sz="2200" b="1" dirty="0">
                <a:solidFill>
                  <a:schemeClr val="tx1"/>
                </a:solidFill>
              </a:rPr>
              <a:t>使用</a:t>
            </a:r>
            <a:r>
              <a:rPr lang="en-US" altLang="zh-CN" sz="2200" b="1" dirty="0">
                <a:solidFill>
                  <a:schemeClr val="tx1"/>
                </a:solidFill>
              </a:rPr>
              <a:t>list()</a:t>
            </a:r>
            <a:r>
              <a:rPr lang="zh-CN" altLang="zh-CN" sz="2200" b="1" dirty="0">
                <a:solidFill>
                  <a:schemeClr val="tx1"/>
                </a:solidFill>
              </a:rPr>
              <a:t>方法将</a:t>
            </a:r>
            <a:r>
              <a:rPr lang="en-US" altLang="zh-CN" sz="2200" b="1" dirty="0">
                <a:solidFill>
                  <a:schemeClr val="tx1"/>
                </a:solidFill>
              </a:rPr>
              <a:t>zip</a:t>
            </a:r>
            <a:r>
              <a:rPr lang="zh-CN" altLang="zh-CN" sz="2200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[(1, 'a'), (2, 'b'), (3, 'd'), (4, 'c')]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enumerate(set2)        # </a:t>
            </a:r>
            <a:r>
              <a:rPr lang="zh-CN" altLang="zh-CN" sz="2200" b="1" dirty="0">
                <a:solidFill>
                  <a:schemeClr val="tx1"/>
                </a:solidFill>
              </a:rPr>
              <a:t>返回的是</a:t>
            </a:r>
            <a:r>
              <a:rPr lang="en-US" altLang="zh-CN" sz="2200" b="1" dirty="0">
                <a:solidFill>
                  <a:schemeClr val="tx1"/>
                </a:solidFill>
              </a:rPr>
              <a:t>enumerate</a:t>
            </a:r>
            <a:r>
              <a:rPr lang="zh-CN" altLang="zh-CN" sz="2200" b="1" dirty="0">
                <a:solidFill>
                  <a:schemeClr val="tx1"/>
                </a:solidFill>
              </a:rPr>
              <a:t>对象，不能直接输出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&lt;enumerate object at 0x00000000033668B8&gt;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list(enumerate(set2))     # </a:t>
            </a:r>
            <a:r>
              <a:rPr lang="zh-CN" altLang="zh-CN" sz="2200" b="1" dirty="0">
                <a:solidFill>
                  <a:schemeClr val="tx1"/>
                </a:solidFill>
              </a:rPr>
              <a:t>使用</a:t>
            </a:r>
            <a:r>
              <a:rPr lang="en-US" altLang="zh-CN" sz="2200" b="1" dirty="0">
                <a:solidFill>
                  <a:schemeClr val="tx1"/>
                </a:solidFill>
              </a:rPr>
              <a:t>list()</a:t>
            </a:r>
            <a:r>
              <a:rPr lang="zh-CN" altLang="zh-CN" sz="2200" b="1" dirty="0">
                <a:solidFill>
                  <a:schemeClr val="tx1"/>
                </a:solidFill>
              </a:rPr>
              <a:t>方法将</a:t>
            </a:r>
            <a:r>
              <a:rPr lang="en-US" altLang="zh-CN" sz="2200" b="1" dirty="0">
                <a:solidFill>
                  <a:schemeClr val="tx1"/>
                </a:solidFill>
              </a:rPr>
              <a:t>enumerate</a:t>
            </a:r>
            <a:r>
              <a:rPr lang="zh-CN" altLang="zh-CN" sz="2200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[(0, 'a'), (1, 'b'), (2, 'd'), (3, 'c')]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all(set1)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any(set1)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054AA2-551A-43FD-A678-BEA7014D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63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16632"/>
            <a:ext cx="10852150" cy="716915"/>
          </a:xfrm>
        </p:spPr>
        <p:txBody>
          <a:bodyPr/>
          <a:lstStyle/>
          <a:p>
            <a:r>
              <a:rPr lang="en-US" altLang="zh-CN" sz="2800" dirty="0"/>
              <a:t>7.2.4 </a:t>
            </a:r>
            <a:r>
              <a:rPr lang="zh-CN" altLang="en-US" sz="2800" dirty="0"/>
              <a:t>集合对象的常用方法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859667"/>
              </p:ext>
            </p:extLst>
          </p:nvPr>
        </p:nvGraphicFramePr>
        <p:xfrm>
          <a:off x="191344" y="620688"/>
          <a:ext cx="11928647" cy="6217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7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1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034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功能说明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6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set.add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给集合添加元素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，如果添加的元素在集合中已存在，则不执行任何操作。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0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set.update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(set1)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修改当前集合，可以添加新的元素或集合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到当前集合中，如果添加的元素在集合中已存在，则该元素只会出现一次，重复的会忽略。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6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set.discard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(obj)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移除指定的集合元素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。如果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不存在集合中，该方法不会抛出异常。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6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set.remove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(obj)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移除集合中的指定元素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。如果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obj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不存在集合中，该方法会抛出异常。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3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set.pop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随机移除并返回一个元素，如果集合为空会抛出异常。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06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set.difference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(set1)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返回集合的差集，即返回的集合元素包含在第一个集合中，但不包含在第二个集合中。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3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set.intersection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(set1, set2 ...)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返回两个或更多集合中都包含的元素，即交集。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8068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set.union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(set1, set2 ...)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返回两个或更多集合的并集，即包含了所有集合的元素，重复的元素只会出现一次。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91806A-6DFA-4376-87A2-B08789FC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003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16632"/>
            <a:ext cx="10852150" cy="716915"/>
          </a:xfrm>
        </p:spPr>
        <p:txBody>
          <a:bodyPr/>
          <a:lstStyle/>
          <a:p>
            <a:r>
              <a:rPr lang="zh-CN" altLang="en-US" dirty="0"/>
              <a:t>续上表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57542"/>
              </p:ext>
            </p:extLst>
          </p:nvPr>
        </p:nvGraphicFramePr>
        <p:xfrm>
          <a:off x="41821" y="836712"/>
          <a:ext cx="12150179" cy="6346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03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41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功能说明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set.symmetric_difference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返回两个集合中不重复的元素集合，即会移除两个集合中都存在的元素。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set.issubset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(set1)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用于判断集合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的所有元素是否都包含在集合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中，如果是则返回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，否则返回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set.isdisjoint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用于判断两个集合是否包含相同的元素，如果没有任何相同元素返回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，否则返回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set.issuperset(set1)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用于判断集合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的所有元素是否都包含在原始的集合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中，如果是则返回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，否则返回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set.difference_update(set1, set2 ...)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移除集合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中的元素，该元素在集合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set1, set2 ...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中也存在。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set.intersection_update(set1, set2 ...)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删除集合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中的元素，该元素在集合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set1, set2 ...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中不都存在。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83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set.symmetric_difference_update(set1)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移除当前集合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在另一个指定集合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中相同的元素，并将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set1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中不同的元素插入到当前集合中。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67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set.clear()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清空集合所有元素，但字典对象保留。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419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set.copy()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复制并返回一个新集合。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516930-442C-4205-987E-30764604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428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8218A-CD19-4D5F-9A25-4DCF1DDD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Add,update,remove,pop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9B0A2-FD09-4F22-A613-7282A4A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8" y="1268760"/>
            <a:ext cx="12169352" cy="5394201"/>
          </a:xfrm>
        </p:spPr>
        <p:txBody>
          <a:bodyPr/>
          <a:lstStyle/>
          <a:p>
            <a:r>
              <a:rPr lang="en-US" altLang="zh-CN" kern="100" dirty="0"/>
              <a:t> </a:t>
            </a:r>
            <a:r>
              <a:rPr lang="en-US" altLang="zh-CN" kern="100" dirty="0" err="1"/>
              <a:t>set.add</a:t>
            </a:r>
            <a:r>
              <a:rPr lang="en-US" altLang="zh-CN" kern="100" dirty="0"/>
              <a:t>(obj)</a:t>
            </a:r>
            <a:r>
              <a:rPr lang="zh-CN" altLang="en-US" kern="100" dirty="0"/>
              <a:t>：</a:t>
            </a:r>
            <a:r>
              <a:rPr lang="zh-CN" altLang="zh-CN" kern="100" dirty="0"/>
              <a:t>添加元素</a:t>
            </a:r>
            <a:r>
              <a:rPr lang="en-US" altLang="zh-CN" kern="100" dirty="0"/>
              <a:t>obj</a:t>
            </a:r>
            <a:r>
              <a:rPr lang="zh-CN" altLang="zh-CN" kern="100" dirty="0"/>
              <a:t>，已存在则不执行任何操作</a:t>
            </a:r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r>
              <a:rPr lang="en-US" altLang="zh-CN" kern="100" dirty="0"/>
              <a:t> set1.update(set2):</a:t>
            </a:r>
            <a:r>
              <a:rPr lang="zh-CN" altLang="zh-CN" kern="100" dirty="0"/>
              <a:t>修改集合，添加</a:t>
            </a:r>
            <a:r>
              <a:rPr lang="en-US" altLang="zh-CN" kern="100" dirty="0"/>
              <a:t>set2</a:t>
            </a:r>
            <a:r>
              <a:rPr lang="zh-CN" altLang="en-US" kern="100" dirty="0"/>
              <a:t>的</a:t>
            </a:r>
            <a:r>
              <a:rPr lang="zh-CN" altLang="zh-CN" kern="100" dirty="0"/>
              <a:t>新元素，如果已存在，则只出现一次</a:t>
            </a:r>
            <a:r>
              <a:rPr lang="zh-CN" altLang="en-US" kern="100" dirty="0"/>
              <a:t>。</a:t>
            </a:r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r>
              <a:rPr lang="en-US" altLang="zh-CN" kern="100" dirty="0"/>
              <a:t> </a:t>
            </a:r>
            <a:r>
              <a:rPr lang="en-US" altLang="zh-CN" kern="100" dirty="0" err="1"/>
              <a:t>set.remove</a:t>
            </a:r>
            <a:r>
              <a:rPr lang="en-US" altLang="zh-CN" kern="100" dirty="0"/>
              <a:t>(obj)</a:t>
            </a:r>
            <a:r>
              <a:rPr lang="zh-CN" altLang="en-US" kern="100" dirty="0"/>
              <a:t>：</a:t>
            </a:r>
            <a:r>
              <a:rPr lang="zh-CN" altLang="zh-CN" kern="100" dirty="0"/>
              <a:t>移除指定元素。如果不存在</a:t>
            </a:r>
            <a:r>
              <a:rPr lang="zh-CN" altLang="en-US" kern="100" dirty="0"/>
              <a:t>则</a:t>
            </a:r>
            <a:r>
              <a:rPr lang="zh-CN" altLang="zh-CN" kern="100" dirty="0"/>
              <a:t>抛出异常。</a:t>
            </a:r>
            <a:endParaRPr lang="en-US" altLang="zh-CN" kern="100" dirty="0"/>
          </a:p>
          <a:p>
            <a:r>
              <a:rPr lang="en-US" altLang="zh-CN" kern="100" dirty="0"/>
              <a:t> </a:t>
            </a:r>
            <a:r>
              <a:rPr lang="en-US" altLang="zh-CN" kern="100" dirty="0" err="1"/>
              <a:t>set.discard</a:t>
            </a:r>
            <a:r>
              <a:rPr lang="en-US" altLang="zh-CN" kern="100" dirty="0"/>
              <a:t>(obj)</a:t>
            </a:r>
            <a:r>
              <a:rPr lang="zh-CN" altLang="en-US" kern="100" dirty="0"/>
              <a:t>：</a:t>
            </a:r>
            <a:r>
              <a:rPr lang="zh-CN" altLang="zh-CN" kern="100" dirty="0"/>
              <a:t>移除指定元素。如果不存在不会抛出异常</a:t>
            </a:r>
            <a:endParaRPr lang="en-US" altLang="zh-CN" kern="100" dirty="0"/>
          </a:p>
          <a:p>
            <a:r>
              <a:rPr lang="en-US" altLang="zh-CN" kern="100" dirty="0"/>
              <a:t> </a:t>
            </a:r>
            <a:r>
              <a:rPr lang="en-US" altLang="zh-CN" kern="100" dirty="0" err="1"/>
              <a:t>set.pop</a:t>
            </a:r>
            <a:r>
              <a:rPr lang="en-US" altLang="zh-CN" kern="100" dirty="0"/>
              <a:t>(): </a:t>
            </a:r>
            <a:r>
              <a:rPr lang="zh-CN" altLang="zh-CN" kern="100" dirty="0"/>
              <a:t>随机移除并返回一个元素，如果集合为空抛出异常。</a:t>
            </a:r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23E51-C725-4C4E-B559-73A642DD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8921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379685"/>
            <a:ext cx="10225136" cy="600164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add(), update()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{3, 4, 5, 6}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set1.add(5)       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添加元素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set1.update(set2)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将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r>
              <a:rPr lang="zh-CN" altLang="zh-CN" sz="2200" b="1" dirty="0">
                <a:solidFill>
                  <a:schemeClr val="tx1"/>
                </a:solidFill>
              </a:rPr>
              <a:t>中元素全部添加到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r>
              <a:rPr lang="zh-CN" altLang="zh-CN" sz="2200" b="1" dirty="0">
                <a:solidFill>
                  <a:schemeClr val="tx1"/>
                </a:solidFill>
              </a:rPr>
              <a:t>中，去掉重复元素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4, 5, 6}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remove()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set1.remove(6)    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移除集合中的元素</a:t>
            </a:r>
            <a:r>
              <a:rPr lang="en-US" altLang="zh-CN" sz="2200" b="1" dirty="0">
                <a:solidFill>
                  <a:schemeClr val="tx1"/>
                </a:solidFill>
              </a:rPr>
              <a:t>6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set1.remove(6)    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元素</a:t>
            </a:r>
            <a:r>
              <a:rPr lang="en-US" altLang="zh-CN" sz="2200" b="1" dirty="0">
                <a:solidFill>
                  <a:schemeClr val="tx1"/>
                </a:solidFill>
              </a:rPr>
              <a:t>6</a:t>
            </a:r>
            <a:r>
              <a:rPr lang="zh-CN" altLang="zh-CN" sz="2200" b="1" dirty="0">
                <a:solidFill>
                  <a:schemeClr val="tx1"/>
                </a:solidFill>
              </a:rPr>
              <a:t>已不在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r>
              <a:rPr lang="zh-CN" altLang="zh-CN" sz="2200" b="1" dirty="0">
                <a:solidFill>
                  <a:schemeClr val="tx1"/>
                </a:solidFill>
              </a:rPr>
              <a:t>中，抛出异常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KeyError</a:t>
            </a:r>
            <a:r>
              <a:rPr lang="en-US" altLang="zh-CN" sz="2400" b="1" dirty="0">
                <a:solidFill>
                  <a:schemeClr val="tx1"/>
                </a:solidFill>
              </a:rPr>
              <a:t>: 6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AF0D50-6A08-4DF1-96F6-CD5321EF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079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BB389-87EE-4E54-87CF-2300B6E7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DCB34F-8279-49E4-9A93-9DDF52E45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# discard()</a:t>
            </a:r>
            <a:r>
              <a:rPr lang="zh-CN" altLang="en-US" sz="2400" dirty="0"/>
              <a:t>不报错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set1.discard(5)          	# </a:t>
            </a:r>
            <a:r>
              <a:rPr lang="zh-CN" altLang="zh-CN" sz="2400" dirty="0"/>
              <a:t>移除集合中的元素</a:t>
            </a:r>
            <a:r>
              <a:rPr lang="en-US" altLang="zh-CN" sz="2400" dirty="0"/>
              <a:t>5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{1, 2, 3, 4}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set1.discard(5)          	# </a:t>
            </a:r>
            <a:r>
              <a:rPr lang="zh-CN" altLang="zh-CN" sz="2400" dirty="0"/>
              <a:t>元素</a:t>
            </a:r>
            <a:r>
              <a:rPr lang="en-US" altLang="zh-CN" sz="2400" dirty="0"/>
              <a:t>5</a:t>
            </a:r>
            <a:r>
              <a:rPr lang="zh-CN" altLang="zh-CN" sz="2400" dirty="0"/>
              <a:t>已不在</a:t>
            </a:r>
            <a:r>
              <a:rPr lang="en-US" altLang="zh-CN" sz="2400" dirty="0"/>
              <a:t>set1</a:t>
            </a:r>
            <a:r>
              <a:rPr lang="zh-CN" altLang="zh-CN" sz="2400" dirty="0"/>
              <a:t>中，但并不抛出异常</a:t>
            </a:r>
          </a:p>
          <a:p>
            <a:pPr marL="0" indent="0">
              <a:buNone/>
            </a:pPr>
            <a:r>
              <a:rPr lang="en-US" altLang="zh-CN" sz="2400" dirty="0"/>
              <a:t>&gt;&gt;&gt; set1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{1, 2, 3, 4}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 pop()</a:t>
            </a:r>
            <a:r>
              <a:rPr lang="zh-CN" altLang="en-US" sz="2400" dirty="0"/>
              <a:t>随机删除，有返回值</a:t>
            </a:r>
            <a:endParaRPr lang="en-US" altLang="zh-CN" sz="2400" dirty="0"/>
          </a:p>
          <a:p>
            <a:r>
              <a:rPr lang="en-US" altLang="zh-CN" sz="2400" dirty="0"/>
              <a:t>&gt;&gt;&gt; set1.pop()              	# </a:t>
            </a:r>
            <a:r>
              <a:rPr lang="zh-CN" altLang="zh-CN" sz="2400" dirty="0"/>
              <a:t>随机移除并返回一个元素</a:t>
            </a:r>
          </a:p>
          <a:p>
            <a:pPr marL="0" indent="0">
              <a:buNone/>
            </a:pPr>
            <a:r>
              <a:rPr lang="en-US" altLang="zh-CN" sz="2400" dirty="0"/>
              <a:t>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{2, 3, 4}</a:t>
            </a:r>
            <a:endParaRPr lang="zh-CN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F66A9A-08A9-4D14-85E2-CEFCC515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070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512A2-34D0-4AFA-BDD6-10F0DCA8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difference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E70F0-8B1F-4EAD-A374-34A1943C6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736"/>
            <a:ext cx="11809312" cy="5394201"/>
          </a:xfrm>
        </p:spPr>
        <p:txBody>
          <a:bodyPr/>
          <a:lstStyle/>
          <a:p>
            <a:r>
              <a:rPr lang="en-US" altLang="zh-CN" kern="100" dirty="0" err="1"/>
              <a:t>set.difference</a:t>
            </a:r>
            <a:r>
              <a:rPr lang="en-US" altLang="zh-CN" kern="100" dirty="0"/>
              <a:t>(set1)	</a:t>
            </a:r>
            <a:r>
              <a:rPr lang="zh-CN" altLang="en-US" kern="100" dirty="0"/>
              <a:t>求</a:t>
            </a:r>
            <a:r>
              <a:rPr lang="zh-CN" altLang="zh-CN" kern="100" dirty="0"/>
              <a:t>差集</a:t>
            </a:r>
            <a:r>
              <a:rPr lang="en-US" altLang="zh-CN" kern="100" dirty="0"/>
              <a:t>(A-B),</a:t>
            </a:r>
          </a:p>
          <a:p>
            <a:pPr lvl="1"/>
            <a:r>
              <a:rPr lang="zh-CN" altLang="zh-CN" kern="100" dirty="0"/>
              <a:t>即</a:t>
            </a:r>
            <a:r>
              <a:rPr lang="zh-CN" altLang="en-US" kern="100" dirty="0"/>
              <a:t>结果</a:t>
            </a:r>
            <a:r>
              <a:rPr lang="zh-CN" altLang="zh-CN" kern="100" dirty="0"/>
              <a:t>包含在</a:t>
            </a:r>
            <a:r>
              <a:rPr lang="en-US" altLang="zh-CN" kern="100" dirty="0"/>
              <a:t>set</a:t>
            </a:r>
            <a:r>
              <a:rPr lang="zh-CN" altLang="zh-CN" kern="100" dirty="0"/>
              <a:t>中，不包含在</a:t>
            </a:r>
            <a:r>
              <a:rPr lang="en-US" altLang="zh-CN" kern="100" dirty="0"/>
              <a:t>set1</a:t>
            </a:r>
            <a:r>
              <a:rPr lang="zh-CN" altLang="zh-CN" kern="100" dirty="0"/>
              <a:t>中。</a:t>
            </a:r>
            <a:endParaRPr lang="en-US" altLang="zh-CN" kern="100" dirty="0"/>
          </a:p>
          <a:p>
            <a:r>
              <a:rPr lang="en-US" altLang="zh-CN" kern="100" dirty="0" err="1"/>
              <a:t>set.intersection</a:t>
            </a:r>
            <a:r>
              <a:rPr lang="en-US" altLang="zh-CN" kern="100" dirty="0"/>
              <a:t>(set1,set2…) </a:t>
            </a:r>
            <a:r>
              <a:rPr lang="zh-CN" altLang="en-US" kern="100" dirty="0"/>
              <a:t>求</a:t>
            </a:r>
            <a:r>
              <a:rPr lang="zh-CN" altLang="zh-CN" kern="100" dirty="0"/>
              <a:t>交集。</a:t>
            </a:r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r>
              <a:rPr lang="en-US" altLang="zh-CN" kern="100" dirty="0" err="1"/>
              <a:t>set.union</a:t>
            </a:r>
            <a:r>
              <a:rPr lang="en-US" altLang="zh-CN" kern="100" dirty="0"/>
              <a:t>(set1, set2 ...)</a:t>
            </a:r>
            <a:r>
              <a:rPr lang="zh-CN" altLang="en-US" kern="100" dirty="0"/>
              <a:t>求</a:t>
            </a:r>
            <a:r>
              <a:rPr lang="zh-CN" altLang="zh-CN" kern="100" dirty="0"/>
              <a:t>并集</a:t>
            </a:r>
            <a:endParaRPr lang="en-US" altLang="zh-CN" kern="100" dirty="0"/>
          </a:p>
          <a:p>
            <a:r>
              <a:rPr lang="en-US" altLang="zh-CN" kern="100" dirty="0" err="1"/>
              <a:t>set.symmetric_difference</a:t>
            </a:r>
            <a:r>
              <a:rPr lang="en-US" altLang="zh-CN" kern="100" dirty="0"/>
              <a:t>()</a:t>
            </a:r>
            <a:r>
              <a:rPr lang="zh-CN" altLang="en-US" kern="100" dirty="0"/>
              <a:t>求</a:t>
            </a:r>
            <a:r>
              <a:rPr lang="zh-CN" altLang="en-US" kern="100" dirty="0">
                <a:latin typeface="Calibri"/>
                <a:ea typeface="宋体"/>
                <a:cs typeface="Times New Roman"/>
              </a:rPr>
              <a:t>对称差集（并</a:t>
            </a:r>
            <a:r>
              <a:rPr lang="en-US" altLang="zh-CN" kern="100" dirty="0">
                <a:latin typeface="Calibri"/>
                <a:ea typeface="宋体"/>
                <a:cs typeface="Times New Roman"/>
              </a:rPr>
              <a:t>-</a:t>
            </a:r>
            <a:r>
              <a:rPr lang="zh-CN" altLang="en-US" kern="100" dirty="0">
                <a:latin typeface="Calibri"/>
                <a:ea typeface="宋体"/>
                <a:cs typeface="Times New Roman"/>
              </a:rPr>
              <a:t>交）</a:t>
            </a:r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pPr lvl="1"/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zh-CN" kern="100" dirty="0">
              <a:latin typeface="Calibri"/>
              <a:ea typeface="宋体"/>
              <a:cs typeface="Times New Roman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18E87-A855-4976-A4DA-FAE2A23D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33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332656"/>
            <a:ext cx="10225136" cy="375487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100" b="1" dirty="0">
                <a:solidFill>
                  <a:schemeClr val="tx1"/>
                </a:solidFill>
              </a:rPr>
              <a:t>续上例：</a:t>
            </a:r>
            <a:endParaRPr lang="en-US" altLang="zh-CN" sz="21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&gt;&gt;&gt; set1 = </a:t>
            </a:r>
            <a:r>
              <a:rPr lang="en-US" altLang="zh-CN" sz="2000" dirty="0">
                <a:solidFill>
                  <a:schemeClr val="tx1"/>
                </a:solidFill>
              </a:rPr>
              <a:t>{2, 3, 4}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set2 = {3, 4, 5, 6}</a:t>
            </a:r>
            <a:endParaRPr lang="en-US" altLang="zh-CN" sz="21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&gt;&gt;&gt; set1.difference(set2) 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差集</a:t>
            </a:r>
          </a:p>
          <a:p>
            <a:r>
              <a:rPr lang="en-US" altLang="zh-CN" sz="2100" b="1" dirty="0">
                <a:solidFill>
                  <a:schemeClr val="tx1"/>
                </a:solidFill>
              </a:rPr>
              <a:t>{2}</a:t>
            </a:r>
            <a:endParaRPr lang="zh-CN" altLang="zh-CN" sz="21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&gt;&gt;&gt; set1.intersection(set2)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交集</a:t>
            </a:r>
          </a:p>
          <a:p>
            <a:r>
              <a:rPr lang="en-US" altLang="zh-CN" sz="2100" b="1" dirty="0">
                <a:solidFill>
                  <a:schemeClr val="tx1"/>
                </a:solidFill>
              </a:rPr>
              <a:t>{3, 4}</a:t>
            </a:r>
            <a:endParaRPr lang="zh-CN" altLang="zh-CN" sz="21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&gt;&gt;&gt; set1.union(set2)           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并集</a:t>
            </a:r>
          </a:p>
          <a:p>
            <a:r>
              <a:rPr lang="en-US" altLang="zh-CN" sz="2100" b="1" dirty="0">
                <a:solidFill>
                  <a:schemeClr val="tx1"/>
                </a:solidFill>
              </a:rPr>
              <a:t>{2, 3, 4, 5, 6}</a:t>
            </a:r>
            <a:endParaRPr lang="zh-CN" altLang="zh-CN" sz="21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&gt;&gt;&gt; set1.symmetric_difference(set2)    </a:t>
            </a:r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对称差集</a:t>
            </a:r>
            <a:r>
              <a:rPr lang="zh-CN" altLang="en-US" sz="2200" b="1" dirty="0">
                <a:solidFill>
                  <a:schemeClr val="tx1"/>
                </a:solidFill>
              </a:rPr>
              <a:t>，只出现一次的元素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100" b="1" dirty="0">
                <a:solidFill>
                  <a:schemeClr val="tx1"/>
                </a:solidFill>
              </a:rPr>
              <a:t>{2, 5, 6}</a:t>
            </a:r>
            <a:endParaRPr lang="zh-CN" altLang="zh-CN" sz="21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8953BB-C554-4472-912C-5EABC7D6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65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1816" y="548680"/>
            <a:ext cx="10936832" cy="674030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# </a:t>
            </a:r>
            <a:r>
              <a:rPr lang="en-US" altLang="zh-CN" sz="2800" b="1" dirty="0" err="1">
                <a:solidFill>
                  <a:schemeClr val="tx1"/>
                </a:solidFill>
              </a:rPr>
              <a:t>A.difference_update</a:t>
            </a:r>
            <a:r>
              <a:rPr lang="en-US" altLang="zh-CN" sz="2800" b="1" dirty="0">
                <a:solidFill>
                  <a:schemeClr val="tx1"/>
                </a:solidFill>
              </a:rPr>
              <a:t>(B): A=A-B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set1 = </a:t>
            </a:r>
            <a:r>
              <a:rPr lang="en-US" altLang="zh-CN" sz="2400" dirty="0">
                <a:solidFill>
                  <a:schemeClr val="tx1"/>
                </a:solidFill>
              </a:rPr>
              <a:t>{1,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2, 3, 4}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{3, 4, 5, 6}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set2.difference_update(set1)      # </a:t>
            </a:r>
            <a:r>
              <a:rPr lang="zh-CN" altLang="zh-CN" sz="2200" b="1" dirty="0">
                <a:solidFill>
                  <a:schemeClr val="tx1"/>
                </a:solidFill>
              </a:rPr>
              <a:t>从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r>
              <a:rPr lang="zh-CN" altLang="zh-CN" sz="2200" b="1" dirty="0">
                <a:solidFill>
                  <a:schemeClr val="tx1"/>
                </a:solidFill>
              </a:rPr>
              <a:t>中删除所有出现在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r>
              <a:rPr lang="zh-CN" altLang="zh-CN" sz="2200" b="1" dirty="0">
                <a:solidFill>
                  <a:schemeClr val="tx1"/>
                </a:solidFill>
              </a:rPr>
              <a:t>中的元素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{5, 6}</a:t>
            </a: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en-US" altLang="zh-CN" sz="2200" b="1" dirty="0" err="1">
                <a:solidFill>
                  <a:schemeClr val="tx1"/>
                </a:solidFill>
              </a:rPr>
              <a:t>A.intersection_update</a:t>
            </a:r>
            <a:r>
              <a:rPr lang="en-US" altLang="zh-CN" sz="2200" b="1" dirty="0">
                <a:solidFill>
                  <a:schemeClr val="tx1"/>
                </a:solidFill>
              </a:rPr>
              <a:t>(B): A=A&amp;B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 = {1,2,3,4};  set2 = {3, 4, 5, 6}                      	# </a:t>
            </a:r>
            <a:r>
              <a:rPr lang="zh-CN" altLang="zh-CN" sz="2200" b="1" dirty="0">
                <a:solidFill>
                  <a:schemeClr val="tx1"/>
                </a:solidFill>
              </a:rPr>
              <a:t>重新创建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set1.intersection_update(set2)   #</a:t>
            </a:r>
            <a:r>
              <a:rPr lang="zh-CN" altLang="zh-CN" sz="2200" b="1" dirty="0">
                <a:solidFill>
                  <a:schemeClr val="tx1"/>
                </a:solidFill>
              </a:rPr>
              <a:t>从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r>
              <a:rPr lang="zh-CN" altLang="zh-CN" sz="2200" b="1" dirty="0">
                <a:solidFill>
                  <a:schemeClr val="tx1"/>
                </a:solidFill>
              </a:rPr>
              <a:t>中移除不存在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r>
              <a:rPr lang="zh-CN" altLang="zh-CN" sz="2200" b="1" dirty="0">
                <a:solidFill>
                  <a:schemeClr val="tx1"/>
                </a:solidFill>
              </a:rPr>
              <a:t>中的元素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{3, 4}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en-US" altLang="zh-CN" sz="2200" b="1" dirty="0" err="1">
                <a:solidFill>
                  <a:schemeClr val="tx1"/>
                </a:solidFill>
              </a:rPr>
              <a:t>A.symmetric_difference</a:t>
            </a:r>
            <a:r>
              <a:rPr lang="en-US" altLang="zh-CN" sz="2200" b="1" dirty="0">
                <a:solidFill>
                  <a:schemeClr val="tx1"/>
                </a:solidFill>
              </a:rPr>
              <a:t>(B): </a:t>
            </a:r>
            <a:r>
              <a:rPr lang="zh-CN" altLang="en-US" sz="2200" b="1" dirty="0">
                <a:solidFill>
                  <a:schemeClr val="tx1"/>
                </a:solidFill>
              </a:rPr>
              <a:t>用对称差积更新</a:t>
            </a:r>
            <a:r>
              <a:rPr lang="en-US" altLang="zh-CN" sz="2200" b="1" dirty="0">
                <a:solidFill>
                  <a:schemeClr val="tx1"/>
                </a:solidFill>
              </a:rPr>
              <a:t>A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 = {1, 2, 3, 4}; Set2 = {3,</a:t>
            </a:r>
            <a:r>
              <a:rPr lang="zh-CN" altLang="en-US" sz="2200" b="1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4,</a:t>
            </a:r>
            <a:r>
              <a:rPr lang="zh-CN" altLang="en-US" sz="2200" b="1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5,</a:t>
            </a:r>
            <a:r>
              <a:rPr lang="zh-CN" altLang="en-US" sz="2200" b="1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6}                    	# </a:t>
            </a:r>
            <a:r>
              <a:rPr lang="zh-CN" altLang="zh-CN" sz="2200" b="1" dirty="0">
                <a:solidFill>
                  <a:schemeClr val="tx1"/>
                </a:solidFill>
              </a:rPr>
              <a:t>重新创建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set1.symmetric_difference_update(set2)   # </a:t>
            </a:r>
            <a:r>
              <a:rPr lang="zh-CN" altLang="zh-CN" sz="2200" b="1" dirty="0">
                <a:solidFill>
                  <a:schemeClr val="tx1"/>
                </a:solidFill>
              </a:rPr>
              <a:t>在</a:t>
            </a:r>
            <a:r>
              <a:rPr lang="en-US" altLang="zh-CN" sz="2200" b="1" dirty="0">
                <a:solidFill>
                  <a:schemeClr val="tx1"/>
                </a:solidFill>
              </a:rPr>
              <a:t>set1</a:t>
            </a:r>
            <a:r>
              <a:rPr lang="zh-CN" altLang="zh-CN" sz="2200" b="1" dirty="0">
                <a:solidFill>
                  <a:schemeClr val="tx1"/>
                </a:solidFill>
              </a:rPr>
              <a:t>中移除与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r>
              <a:rPr lang="zh-CN" altLang="zh-CN" sz="2200" b="1" dirty="0">
                <a:solidFill>
                  <a:schemeClr val="tx1"/>
                </a:solidFill>
              </a:rPr>
              <a:t>中的重复元素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{1, 2, 5, 6}</a:t>
            </a:r>
          </a:p>
          <a:p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9749E6-7943-45F8-80EC-5C341DCC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65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A29DE-01F5-4C2D-BDE4-00DF8008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476672"/>
            <a:ext cx="11809312" cy="539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Issubset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issuperset</a:t>
            </a:r>
            <a:r>
              <a:rPr lang="en-US" altLang="zh-CN" sz="2400" dirty="0"/>
              <a:t>: </a:t>
            </a:r>
            <a:r>
              <a:rPr lang="zh-CN" altLang="en-US" sz="2400" dirty="0"/>
              <a:t>判断是否子集</a:t>
            </a:r>
            <a:r>
              <a:rPr lang="en-US" altLang="zh-CN" sz="2400" dirty="0"/>
              <a:t>/</a:t>
            </a:r>
            <a:r>
              <a:rPr lang="zh-CN" altLang="en-US" sz="2400" dirty="0"/>
              <a:t>母集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 = {1, 2, 3, 4}                  	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set2 = {1, 2, 3, 4, 5, 6}          	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set1.issubset(set2)    # </a:t>
            </a:r>
            <a:r>
              <a:rPr lang="zh-CN" altLang="zh-CN" sz="2400" dirty="0"/>
              <a:t>判断</a:t>
            </a:r>
            <a:r>
              <a:rPr lang="en-US" altLang="zh-CN" sz="2400" dirty="0"/>
              <a:t>set1</a:t>
            </a:r>
            <a:r>
              <a:rPr lang="zh-CN" altLang="zh-CN" sz="2400" dirty="0"/>
              <a:t>是不是</a:t>
            </a:r>
            <a:r>
              <a:rPr lang="en-US" altLang="zh-CN" sz="2400" dirty="0"/>
              <a:t>set2</a:t>
            </a:r>
            <a:r>
              <a:rPr lang="zh-CN" altLang="zh-CN" sz="2400" dirty="0"/>
              <a:t>的子集</a:t>
            </a:r>
          </a:p>
          <a:p>
            <a:pPr marL="0" indent="0">
              <a:buNone/>
            </a:pPr>
            <a:r>
              <a:rPr lang="en-US" altLang="zh-CN" sz="2400" dirty="0"/>
              <a:t>True</a:t>
            </a:r>
          </a:p>
          <a:p>
            <a:pPr marL="0" indent="0">
              <a:buNone/>
            </a:pPr>
            <a:r>
              <a:rPr lang="en-US" altLang="zh-CN" sz="2400" dirty="0"/>
              <a:t>&gt;&gt;&gt; set2.issubset(set1)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False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set1.issuperset(set2)       # </a:t>
            </a:r>
            <a:r>
              <a:rPr lang="zh-CN" altLang="zh-CN" sz="2400" dirty="0"/>
              <a:t>判断</a:t>
            </a:r>
            <a:r>
              <a:rPr lang="en-US" altLang="zh-CN" sz="2400" dirty="0"/>
              <a:t>set2</a:t>
            </a:r>
            <a:r>
              <a:rPr lang="zh-CN" altLang="zh-CN" sz="2400" dirty="0"/>
              <a:t>是不是</a:t>
            </a:r>
            <a:r>
              <a:rPr lang="en-US" altLang="zh-CN" sz="2400" dirty="0"/>
              <a:t>set1</a:t>
            </a:r>
            <a:r>
              <a:rPr lang="zh-CN" altLang="zh-CN" sz="2400" dirty="0"/>
              <a:t>的子集</a:t>
            </a:r>
          </a:p>
          <a:p>
            <a:pPr marL="0" indent="0">
              <a:buNone/>
            </a:pPr>
            <a:r>
              <a:rPr lang="en-US" altLang="zh-CN" sz="2400" dirty="0"/>
              <a:t>False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&gt;&gt;&gt; set2.issuperset(set1)       # </a:t>
            </a:r>
            <a:r>
              <a:rPr lang="zh-CN" altLang="zh-CN" sz="2400" dirty="0"/>
              <a:t>判断</a:t>
            </a:r>
            <a:r>
              <a:rPr lang="en-US" altLang="zh-CN" sz="2400" dirty="0"/>
              <a:t>set1</a:t>
            </a:r>
            <a:r>
              <a:rPr lang="zh-CN" altLang="zh-CN" sz="2400" dirty="0"/>
              <a:t>是不是</a:t>
            </a:r>
            <a:r>
              <a:rPr lang="en-US" altLang="zh-CN" sz="2400" dirty="0"/>
              <a:t>set2</a:t>
            </a:r>
            <a:r>
              <a:rPr lang="zh-CN" altLang="zh-CN" sz="2400" dirty="0"/>
              <a:t>的子集</a:t>
            </a:r>
          </a:p>
          <a:p>
            <a:pPr marL="0" indent="0">
              <a:buNone/>
            </a:pPr>
            <a:r>
              <a:rPr lang="en-US" altLang="zh-CN" sz="2400" dirty="0"/>
              <a:t>True</a:t>
            </a:r>
            <a:endParaRPr lang="zh-CN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C61651-7E28-45E9-A09F-02D95961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14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360" y="548680"/>
            <a:ext cx="11449272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 err="1"/>
              <a:t>Isdisjoint</a:t>
            </a:r>
            <a:r>
              <a:rPr lang="en-US" altLang="zh-CN" sz="2400" b="1" dirty="0"/>
              <a:t>()</a:t>
            </a:r>
            <a:r>
              <a:rPr lang="zh-CN" altLang="en-US" sz="2400" b="1" dirty="0"/>
              <a:t>判断交集是否为空</a:t>
            </a:r>
            <a:endParaRPr lang="en-US" altLang="zh-CN" sz="2400" b="1" dirty="0"/>
          </a:p>
          <a:p>
            <a:r>
              <a:rPr lang="en-US" altLang="zh-CN" sz="2400" b="1" dirty="0"/>
              <a:t>&gt;&gt;&gt; set1 = {1, 2, 3, 4}                  	</a:t>
            </a:r>
            <a:endParaRPr lang="zh-CN" altLang="zh-CN" sz="2400" b="1" dirty="0"/>
          </a:p>
          <a:p>
            <a:r>
              <a:rPr lang="en-US" altLang="zh-CN" sz="2400" b="1" dirty="0"/>
              <a:t>&gt;&gt;&gt; set2 = {1, 2, 3, 4, 5, 6}          	</a:t>
            </a:r>
            <a:endParaRPr lang="zh-CN" altLang="zh-CN" sz="2400" b="1" dirty="0"/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set1.isdisjoint(set2)     # </a:t>
            </a:r>
            <a:r>
              <a:rPr lang="zh-CN" altLang="zh-CN" sz="2400" b="1" dirty="0">
                <a:solidFill>
                  <a:schemeClr val="tx1"/>
                </a:solidFill>
              </a:rPr>
              <a:t>判断</a:t>
            </a:r>
            <a:r>
              <a:rPr lang="en-US" altLang="zh-CN" sz="2400" b="1" dirty="0">
                <a:solidFill>
                  <a:schemeClr val="tx1"/>
                </a:solidFill>
              </a:rPr>
              <a:t>set1</a:t>
            </a:r>
            <a:r>
              <a:rPr lang="zh-CN" altLang="zh-CN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set2</a:t>
            </a:r>
            <a:r>
              <a:rPr lang="zh-CN" altLang="zh-CN" sz="2400" b="1" dirty="0">
                <a:solidFill>
                  <a:schemeClr val="tx1"/>
                </a:solidFill>
              </a:rPr>
              <a:t>的交集是否为空，不为空则返回</a:t>
            </a: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{5, 6, 7, 8}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set1.isdisjoint(set2)        # set1</a:t>
            </a:r>
            <a:r>
              <a:rPr lang="zh-CN" altLang="zh-CN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set2</a:t>
            </a:r>
            <a:r>
              <a:rPr lang="zh-CN" altLang="zh-CN" sz="2400" b="1" dirty="0">
                <a:solidFill>
                  <a:schemeClr val="tx1"/>
                </a:solidFill>
              </a:rPr>
              <a:t>的交集为空，返回</a:t>
            </a:r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set1.clear()       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清空</a:t>
            </a:r>
            <a:r>
              <a:rPr lang="en-US" altLang="zh-CN" sz="2400" b="1" dirty="0">
                <a:solidFill>
                  <a:schemeClr val="tx1"/>
                </a:solidFill>
              </a:rPr>
              <a:t>set1</a:t>
            </a:r>
            <a:r>
              <a:rPr lang="zh-CN" altLang="zh-CN" sz="2400" b="1" dirty="0">
                <a:solidFill>
                  <a:schemeClr val="tx1"/>
                </a:solidFill>
              </a:rPr>
              <a:t>所有元素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set()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5C462F-87BB-4223-942D-361AA1B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49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3432" y="1928768"/>
            <a:ext cx="10009112" cy="415498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set2 = {1, 2, 3, 4}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= set2.copy()       # </a:t>
            </a:r>
            <a:r>
              <a:rPr lang="zh-CN" altLang="zh-CN" sz="2400" b="1" dirty="0">
                <a:solidFill>
                  <a:schemeClr val="tx1"/>
                </a:solidFill>
              </a:rPr>
              <a:t>复制集合，属于浅复制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set2.add(5)            	# set2</a:t>
            </a:r>
            <a:r>
              <a:rPr lang="zh-CN" altLang="zh-CN" sz="2400" b="1" dirty="0">
                <a:solidFill>
                  <a:schemeClr val="tx1"/>
                </a:solidFill>
              </a:rPr>
              <a:t>发生改变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                 	 	# set1</a:t>
            </a:r>
            <a:r>
              <a:rPr lang="zh-CN" altLang="zh-CN" sz="2400" b="1" dirty="0">
                <a:solidFill>
                  <a:schemeClr val="tx1"/>
                </a:solidFill>
              </a:rPr>
              <a:t>没有变化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 = set1                	# </a:t>
            </a:r>
            <a:r>
              <a:rPr lang="zh-CN" altLang="zh-CN" sz="2400" b="1" dirty="0">
                <a:solidFill>
                  <a:schemeClr val="tx1"/>
                </a:solidFill>
              </a:rPr>
              <a:t>用“</a:t>
            </a:r>
            <a:r>
              <a:rPr lang="en-US" altLang="zh-CN" sz="2400" b="1" dirty="0">
                <a:solidFill>
                  <a:schemeClr val="tx1"/>
                </a:solidFill>
              </a:rPr>
              <a:t>=</a:t>
            </a:r>
            <a:r>
              <a:rPr lang="zh-CN" altLang="zh-CN" sz="2400" b="1" dirty="0">
                <a:solidFill>
                  <a:schemeClr val="tx1"/>
                </a:solidFill>
              </a:rPr>
              <a:t>”赋值运算，</a:t>
            </a:r>
            <a:r>
              <a:rPr lang="en-US" altLang="zh-CN" sz="2400" b="1" dirty="0">
                <a:solidFill>
                  <a:schemeClr val="tx1"/>
                </a:solidFill>
              </a:rPr>
              <a:t>s</a:t>
            </a:r>
            <a:r>
              <a:rPr lang="zh-CN" altLang="zh-CN" sz="2400" b="1" dirty="0">
                <a:solidFill>
                  <a:schemeClr val="tx1"/>
                </a:solidFill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</a:rPr>
              <a:t>set1</a:t>
            </a:r>
            <a:r>
              <a:rPr lang="zh-CN" altLang="zh-CN" sz="2400" b="1" dirty="0">
                <a:solidFill>
                  <a:schemeClr val="tx1"/>
                </a:solidFill>
              </a:rPr>
              <a:t>指向同一个集合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set1.add(5)            	# set1</a:t>
            </a:r>
            <a:r>
              <a:rPr lang="zh-CN" altLang="zh-CN" sz="2400" b="1" dirty="0">
                <a:solidFill>
                  <a:schemeClr val="tx1"/>
                </a:solidFill>
              </a:rPr>
              <a:t>发生改变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                    	           # s</a:t>
            </a:r>
            <a:r>
              <a:rPr lang="zh-CN" altLang="zh-CN" sz="2400" b="1" dirty="0">
                <a:solidFill>
                  <a:schemeClr val="tx1"/>
                </a:solidFill>
              </a:rPr>
              <a:t>也立刻发生改变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{1, 2, 3, 4, 5}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7408" y="364014"/>
            <a:ext cx="89646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/>
            <a:r>
              <a:rPr lang="en-US" altLang="zh-CN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Copy</a:t>
            </a:r>
            <a:r>
              <a:rPr lang="zh-CN" altLang="en-US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浅复制</a:t>
            </a:r>
            <a:endParaRPr lang="en-US" altLang="zh-CN" sz="2600" b="1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  <a:p>
            <a:pPr eaLnBrk="1" fontAlgn="auto" hangingPunct="1"/>
            <a:r>
              <a:rPr lang="zh-CN" altLang="en-US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     和列表、字典一样，</a:t>
            </a:r>
            <a:r>
              <a:rPr lang="en-US" altLang="zh-CN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copy()</a:t>
            </a:r>
            <a:r>
              <a:rPr lang="zh-CN" altLang="en-US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返回一个集合的浅复制，其含义不同于“</a:t>
            </a:r>
            <a:r>
              <a:rPr lang="en-US" altLang="zh-CN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=”</a:t>
            </a:r>
            <a:r>
              <a:rPr lang="zh-CN" altLang="en-US" sz="2600" b="1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直接复制，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13F1AF-9B02-426A-BF74-888F8C3A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354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7.2.5 </a:t>
            </a:r>
            <a:r>
              <a:rPr lang="zh-CN" altLang="en-US" dirty="0"/>
              <a:t>集合的遍历和推导式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124744"/>
            <a:ext cx="4392488" cy="108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1.for</a:t>
            </a:r>
            <a:r>
              <a:rPr lang="zh-CN" altLang="en-US" sz="26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j-cs"/>
              </a:rPr>
              <a:t>循环</a:t>
            </a:r>
            <a:endParaRPr lang="en-US" altLang="zh-CN" sz="2600" spc="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50892" y="1119188"/>
            <a:ext cx="3960440" cy="156966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set1 = {1, 2, 3, 4, 5}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set1: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print(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, end='  ')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1  2  3  4  5  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16736" y="2852936"/>
            <a:ext cx="6539904" cy="313932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&gt;&gt;&gt; set1 = {1, 2, 3, 4}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 = {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** 2 for 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in set1}   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集合推导式，将结果赋予</a:t>
            </a:r>
            <a:r>
              <a:rPr lang="en-US" altLang="zh-CN" sz="2200" b="1" dirty="0">
                <a:solidFill>
                  <a:schemeClr val="tx1"/>
                </a:solidFill>
              </a:rPr>
              <a:t>set2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{16, 1, 4, 9}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 = {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** 2 for 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in set1 if 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% 2 == 0}   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zh-CN" altLang="zh-CN" sz="2200" b="1" dirty="0">
                <a:solidFill>
                  <a:schemeClr val="tx1"/>
                </a:solidFill>
              </a:rPr>
              <a:t>带条件表达式的集合推导式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set2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{16, 4}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23392" y="2852936"/>
            <a:ext cx="4392488" cy="136815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600" b="1" spc="200" dirty="0">
                <a:cs typeface="+mj-cs"/>
              </a:rPr>
              <a:t>2.</a:t>
            </a:r>
            <a:r>
              <a:rPr lang="zh-CN" altLang="en-US" sz="2600" b="1" spc="200" dirty="0">
                <a:cs typeface="+mj-cs"/>
              </a:rPr>
              <a:t>集合推导式</a:t>
            </a:r>
            <a:endParaRPr lang="en-US" altLang="zh-CN" sz="2600" b="1" spc="200" dirty="0">
              <a:cs typeface="+mj-cs"/>
            </a:endParaRPr>
          </a:p>
          <a:p>
            <a:pPr marL="0" indent="0">
              <a:buNone/>
            </a:pPr>
            <a:r>
              <a:rPr lang="zh-CN" altLang="en-US" sz="2600" b="1" spc="200" dirty="0">
                <a:cs typeface="+mj-cs"/>
              </a:rPr>
              <a:t>用法和列表推导式类似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7F73C-68CC-483D-BFC8-149F4B3E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7504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7.3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应用举例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412488-4B8C-4390-91B4-AEDF1817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117793"/>
            <a:ext cx="11809312" cy="1150967"/>
          </a:xfrm>
        </p:spPr>
        <p:txBody>
          <a:bodyPr>
            <a:normAutofit/>
          </a:bodyPr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7-1】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编写程序，生成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200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[0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100]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范围内的随机数，并统计不同数字出现的次数，并按生成的随机数升序输出。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400" y="1268760"/>
            <a:ext cx="10225136" cy="397031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import random</a:t>
            </a:r>
            <a:endParaRPr lang="zh-CN" altLang="zh-CN" sz="28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= [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random.randint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(0, 100) for 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in range(200)]  #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列表推导式</a:t>
            </a: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# print(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)        	#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查看生成的随机数</a:t>
            </a: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diff_nums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= set(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)</a:t>
            </a:r>
            <a:endParaRPr lang="zh-CN" altLang="zh-CN" sz="28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# print(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diff_nums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)   #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查看有哪些不重复的随机数</a:t>
            </a: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result = {}</a:t>
            </a:r>
            <a:endParaRPr lang="zh-CN" altLang="zh-CN" sz="28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for 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in 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diff_nums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:    #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统计每个随机数出现的次数</a:t>
            </a: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     result[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] = 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nums.count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(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)</a:t>
            </a:r>
            <a:endParaRPr lang="zh-CN" altLang="zh-CN" sz="28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print(sorted(</a:t>
            </a:r>
            <a:r>
              <a:rPr lang="en-US" altLang="zh-CN" sz="28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result.items</a:t>
            </a:r>
            <a:r>
              <a:rPr lang="en-US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()))    # </a:t>
            </a:r>
            <a:r>
              <a:rPr lang="zh-CN" altLang="zh-CN" sz="28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按随机数的升序输出字典元素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7A6BD7-BB94-4E66-A114-8E7EB29C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9133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2B3A6-0E16-8C1B-CAE4-122E1922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C325D-A72B-F3E8-A2B6-D70F1AFC9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en-US" altLang="zh-CN" dirty="0"/>
              <a:t># </a:t>
            </a:r>
            <a:r>
              <a:rPr lang="zh-CN" altLang="en-US" dirty="0"/>
              <a:t>随机数在</a:t>
            </a:r>
            <a:r>
              <a:rPr lang="en-US" altLang="zh-CN" dirty="0"/>
              <a:t>[0,5]</a:t>
            </a:r>
            <a:r>
              <a:rPr lang="zh-CN" altLang="en-US" dirty="0"/>
              <a:t>之间，</a:t>
            </a:r>
            <a:r>
              <a:rPr lang="en-US" altLang="zh-CN" dirty="0"/>
              <a:t>10</a:t>
            </a:r>
            <a:r>
              <a:rPr lang="zh-CN" altLang="en-US" dirty="0"/>
              <a:t>个数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[(0, 4), (1, 1), (2, 2), (3, 1), (4, 2)]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C86FB4-6A7B-3530-3619-7CBE5B8D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471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5" y="117793"/>
            <a:ext cx="12030843" cy="1078959"/>
          </a:xfrm>
        </p:spPr>
        <p:txBody>
          <a:bodyPr>
            <a:normAutofit/>
          </a:bodyPr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7-2】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编写程序，使用集合，生成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个范围在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[0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50]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的不重复的随机数。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376" y="1268760"/>
            <a:ext cx="10441160" cy="353943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import random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s = set()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while True: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n = </a:t>
            </a:r>
            <a:r>
              <a:rPr lang="en-US" altLang="zh-CN" sz="2800" b="1" dirty="0" err="1">
                <a:solidFill>
                  <a:schemeClr val="tx1"/>
                </a:solidFill>
              </a:rPr>
              <a:t>random.randint</a:t>
            </a:r>
            <a:r>
              <a:rPr lang="en-US" altLang="zh-CN" sz="2800" b="1" dirty="0">
                <a:solidFill>
                  <a:schemeClr val="tx1"/>
                </a:solidFill>
              </a:rPr>
              <a:t>(0, 50)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dirty="0" err="1">
                <a:solidFill>
                  <a:schemeClr val="tx1"/>
                </a:solidFill>
              </a:rPr>
              <a:t>s.add</a:t>
            </a:r>
            <a:r>
              <a:rPr lang="en-US" altLang="zh-CN" sz="2800" b="1" dirty="0">
                <a:solidFill>
                  <a:schemeClr val="tx1"/>
                </a:solidFill>
              </a:rPr>
              <a:t>(n)			# </a:t>
            </a:r>
            <a:r>
              <a:rPr lang="zh-CN" altLang="zh-CN" sz="2800" b="1" dirty="0">
                <a:solidFill>
                  <a:schemeClr val="tx1"/>
                </a:solidFill>
              </a:rPr>
              <a:t>集合中元素都是不重复的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if </a:t>
            </a:r>
            <a:r>
              <a:rPr lang="en-US" altLang="zh-CN" sz="2800" b="1" dirty="0" err="1">
                <a:solidFill>
                  <a:schemeClr val="tx1"/>
                </a:solidFill>
              </a:rPr>
              <a:t>len</a:t>
            </a:r>
            <a:r>
              <a:rPr lang="en-US" altLang="zh-CN" sz="2800" b="1" dirty="0">
                <a:solidFill>
                  <a:schemeClr val="tx1"/>
                </a:solidFill>
              </a:rPr>
              <a:t>(s) == 30:		# </a:t>
            </a:r>
            <a:r>
              <a:rPr lang="zh-CN" altLang="zh-CN" sz="2800" b="1" dirty="0">
                <a:solidFill>
                  <a:schemeClr val="tx1"/>
                </a:solidFill>
              </a:rPr>
              <a:t>集合中达到</a:t>
            </a:r>
            <a:r>
              <a:rPr lang="en-US" altLang="zh-CN" sz="2800" b="1" dirty="0">
                <a:solidFill>
                  <a:schemeClr val="tx1"/>
                </a:solidFill>
              </a:rPr>
              <a:t>30</a:t>
            </a:r>
            <a:r>
              <a:rPr lang="zh-CN" altLang="zh-CN" sz="2800" b="1" dirty="0">
                <a:solidFill>
                  <a:schemeClr val="tx1"/>
                </a:solidFill>
              </a:rPr>
              <a:t>个元素，循环结束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        break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print(s)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EACF0D-ECF2-4585-9C41-F8E80470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57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117793"/>
            <a:ext cx="11953328" cy="1222975"/>
          </a:xfrm>
        </p:spPr>
        <p:txBody>
          <a:bodyPr>
            <a:noAutofit/>
          </a:bodyPr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7-3】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编写程序，输入你的学号（全是数字），统计学号中各个数字重复了多少次，将统计结果存入字典中，并按数字升序输出该字典。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384" y="1268760"/>
            <a:ext cx="11017224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tx1"/>
                </a:solidFill>
              </a:rPr>
              <a:t>sno</a:t>
            </a:r>
            <a:r>
              <a:rPr lang="en-US" altLang="zh-CN" sz="2400" b="1" dirty="0">
                <a:solidFill>
                  <a:schemeClr val="tx1"/>
                </a:solidFill>
              </a:rPr>
              <a:t> = </a:t>
            </a:r>
            <a:r>
              <a:rPr lang="en-US" altLang="zh-CN" sz="2400" b="1" dirty="0" err="1">
                <a:solidFill>
                  <a:schemeClr val="tx1"/>
                </a:solidFill>
              </a:rPr>
              <a:t>eval</a:t>
            </a:r>
            <a:r>
              <a:rPr lang="en-US" altLang="zh-CN" sz="2400" b="1" dirty="0">
                <a:solidFill>
                  <a:schemeClr val="tx1"/>
                </a:solidFill>
              </a:rPr>
              <a:t>(input("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请输入你的学号：</a:t>
            </a:r>
            <a:r>
              <a:rPr lang="en-US" altLang="zh-CN" sz="2400" b="1" dirty="0">
                <a:solidFill>
                  <a:schemeClr val="tx1"/>
                </a:solidFill>
              </a:rPr>
              <a:t>"))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result = {}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while </a:t>
            </a:r>
            <a:r>
              <a:rPr lang="en-US" altLang="zh-CN" sz="2400" b="1" dirty="0" err="1">
                <a:solidFill>
                  <a:schemeClr val="tx1"/>
                </a:solidFill>
              </a:rPr>
              <a:t>sno</a:t>
            </a:r>
            <a:r>
              <a:rPr lang="en-US" altLang="zh-CN" sz="2400" b="1" dirty="0">
                <a:solidFill>
                  <a:schemeClr val="tx1"/>
                </a:solidFill>
              </a:rPr>
              <a:t> != 0: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= </a:t>
            </a:r>
            <a:r>
              <a:rPr lang="en-US" altLang="zh-CN" sz="2400" b="1" dirty="0" err="1">
                <a:solidFill>
                  <a:schemeClr val="tx1"/>
                </a:solidFill>
              </a:rPr>
              <a:t>sno</a:t>
            </a:r>
            <a:r>
              <a:rPr lang="en-US" altLang="zh-CN" sz="2400" b="1" dirty="0">
                <a:solidFill>
                  <a:schemeClr val="tx1"/>
                </a:solidFill>
              </a:rPr>
              <a:t> % 10     	# </a:t>
            </a:r>
            <a:r>
              <a:rPr lang="zh-CN" altLang="zh-CN" sz="2400" b="1" dirty="0">
                <a:solidFill>
                  <a:schemeClr val="tx1"/>
                </a:solidFill>
              </a:rPr>
              <a:t>取学号最后一位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# </a:t>
            </a:r>
            <a:r>
              <a:rPr lang="zh-CN" altLang="zh-CN" sz="2400" b="1" dirty="0">
                <a:solidFill>
                  <a:schemeClr val="tx1"/>
                </a:solidFill>
              </a:rPr>
              <a:t>如果字典中还没有以该数字为键的元素，则以该数字为键并将其值设为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# </a:t>
            </a:r>
            <a:r>
              <a:rPr lang="zh-CN" altLang="zh-CN" sz="2400" b="1" dirty="0">
                <a:solidFill>
                  <a:schemeClr val="tx1"/>
                </a:solidFill>
              </a:rPr>
              <a:t>如果已有以该数字为键的元素，则将该键对应的值加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result[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] = </a:t>
            </a:r>
            <a:r>
              <a:rPr lang="en-US" altLang="zh-CN" sz="2400" b="1" dirty="0" err="1">
                <a:solidFill>
                  <a:schemeClr val="tx1"/>
                </a:solidFill>
              </a:rPr>
              <a:t>result.get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, 0) + 1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</a:rPr>
              <a:t>sno</a:t>
            </a:r>
            <a:r>
              <a:rPr lang="en-US" altLang="zh-CN" sz="2400" b="1" dirty="0">
                <a:solidFill>
                  <a:schemeClr val="tx1"/>
                </a:solidFill>
              </a:rPr>
              <a:t> = </a:t>
            </a:r>
            <a:r>
              <a:rPr lang="en-US" altLang="zh-CN" sz="2400" b="1" dirty="0" err="1">
                <a:solidFill>
                  <a:schemeClr val="tx1"/>
                </a:solidFill>
              </a:rPr>
              <a:t>sno</a:t>
            </a:r>
            <a:r>
              <a:rPr lang="en-US" altLang="zh-CN" sz="2400" b="1" dirty="0">
                <a:solidFill>
                  <a:schemeClr val="tx1"/>
                </a:solidFill>
              </a:rPr>
              <a:t> // 10			# </a:t>
            </a:r>
            <a:r>
              <a:rPr lang="zh-CN" altLang="zh-CN" sz="2400" b="1" dirty="0">
                <a:solidFill>
                  <a:schemeClr val="tx1"/>
                </a:solidFill>
              </a:rPr>
              <a:t>去除学号最后一位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print(sorted(</a:t>
            </a:r>
            <a:r>
              <a:rPr lang="en-US" altLang="zh-CN" sz="2400" b="1" dirty="0" err="1">
                <a:solidFill>
                  <a:schemeClr val="tx1"/>
                </a:solidFill>
              </a:rPr>
              <a:t>result.items</a:t>
            </a:r>
            <a:r>
              <a:rPr lang="en-US" altLang="zh-CN" sz="2400" b="1" dirty="0">
                <a:solidFill>
                  <a:schemeClr val="tx1"/>
                </a:solidFill>
              </a:rPr>
              <a:t>()))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====</a:t>
            </a:r>
          </a:p>
          <a:p>
            <a:r>
              <a:rPr lang="zh-CN" altLang="en-US" sz="2400" b="1" dirty="0">
                <a:solidFill>
                  <a:schemeClr val="tx1"/>
                </a:solidFill>
              </a:rPr>
              <a:t>请输入你的学号：</a:t>
            </a:r>
            <a:r>
              <a:rPr lang="en-US" altLang="zh-CN" sz="2400" b="1" dirty="0">
                <a:solidFill>
                  <a:schemeClr val="tx1"/>
                </a:solidFill>
              </a:rPr>
              <a:t>2230405001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[(0, 4), (1, 1), (2, 2), (3, 1), (4, 1), (5, 1)]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2208A7-F9F3-4E85-9CDD-6CADAC88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574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5" y="117793"/>
            <a:ext cx="12030843" cy="919924"/>
          </a:xfrm>
        </p:spPr>
        <p:txBody>
          <a:bodyPr>
            <a:normAutofit/>
          </a:bodyPr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7-4】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编写程序，对某门课的所有考试成绩分类统计，分别统计出优、良、中、及格和不及格的人数。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68" y="1124743"/>
            <a:ext cx="11089232" cy="212365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====</a:t>
            </a:r>
          </a:p>
          <a:p>
            <a:r>
              <a:rPr lang="zh-CN" altLang="en-US" sz="2200" b="1" dirty="0">
                <a:solidFill>
                  <a:schemeClr val="tx1"/>
                </a:solidFill>
              </a:rPr>
              <a:t>成绩如下： </a:t>
            </a:r>
            <a:r>
              <a:rPr lang="en-US" altLang="zh-CN" sz="2200" b="1" dirty="0">
                <a:solidFill>
                  <a:schemeClr val="tx1"/>
                </a:solidFill>
              </a:rPr>
              <a:t>[27, 21, 65, 52, 99, 15, 71, 84, 1, 92, 30, 56, 51, 97, 28, 60, 46, 75, 99, 7]</a:t>
            </a:r>
          </a:p>
          <a:p>
            <a:r>
              <a:rPr lang="zh-CN" altLang="en-US" sz="2200" b="1" dirty="0">
                <a:solidFill>
                  <a:schemeClr val="tx1"/>
                </a:solidFill>
              </a:rPr>
              <a:t>统计结果： </a:t>
            </a:r>
            <a:r>
              <a:rPr lang="en-US" altLang="zh-CN" sz="2200" b="1" dirty="0">
                <a:solidFill>
                  <a:schemeClr val="tx1"/>
                </a:solidFill>
              </a:rPr>
              <a:t>{'</a:t>
            </a:r>
            <a:r>
              <a:rPr lang="zh-CN" altLang="en-US" sz="2200" b="1" dirty="0">
                <a:solidFill>
                  <a:schemeClr val="tx1"/>
                </a:solidFill>
              </a:rPr>
              <a:t>优秀</a:t>
            </a:r>
            <a:r>
              <a:rPr lang="en-US" altLang="zh-CN" sz="2200" b="1" dirty="0">
                <a:solidFill>
                  <a:schemeClr val="tx1"/>
                </a:solidFill>
              </a:rPr>
              <a:t>': 4, '</a:t>
            </a:r>
            <a:r>
              <a:rPr lang="zh-CN" altLang="en-US" sz="2200" b="1" dirty="0">
                <a:solidFill>
                  <a:schemeClr val="tx1"/>
                </a:solidFill>
              </a:rPr>
              <a:t>良好</a:t>
            </a:r>
            <a:r>
              <a:rPr lang="en-US" altLang="zh-CN" sz="2200" b="1" dirty="0">
                <a:solidFill>
                  <a:schemeClr val="tx1"/>
                </a:solidFill>
              </a:rPr>
              <a:t>': 1, '</a:t>
            </a:r>
            <a:r>
              <a:rPr lang="zh-CN" altLang="en-US" sz="2200" b="1" dirty="0">
                <a:solidFill>
                  <a:schemeClr val="tx1"/>
                </a:solidFill>
              </a:rPr>
              <a:t>中等</a:t>
            </a:r>
            <a:r>
              <a:rPr lang="en-US" altLang="zh-CN" sz="2200" b="1" dirty="0">
                <a:solidFill>
                  <a:schemeClr val="tx1"/>
                </a:solidFill>
              </a:rPr>
              <a:t>': 2, '</a:t>
            </a:r>
            <a:r>
              <a:rPr lang="zh-CN" altLang="en-US" sz="2200" b="1" dirty="0">
                <a:solidFill>
                  <a:schemeClr val="tx1"/>
                </a:solidFill>
              </a:rPr>
              <a:t>及格</a:t>
            </a:r>
            <a:r>
              <a:rPr lang="en-US" altLang="zh-CN" sz="2200" b="1" dirty="0">
                <a:solidFill>
                  <a:schemeClr val="tx1"/>
                </a:solidFill>
              </a:rPr>
              <a:t>': 2, '</a:t>
            </a:r>
            <a:r>
              <a:rPr lang="zh-CN" altLang="en-US" sz="2200" b="1" dirty="0">
                <a:solidFill>
                  <a:schemeClr val="tx1"/>
                </a:solidFill>
              </a:rPr>
              <a:t>不及格</a:t>
            </a:r>
            <a:r>
              <a:rPr lang="en-US" altLang="zh-CN" sz="2200" b="1" dirty="0">
                <a:solidFill>
                  <a:schemeClr val="tx1"/>
                </a:solidFill>
              </a:rPr>
              <a:t>': 11}</a:t>
            </a: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0DD0C7-A3E7-4C80-9594-A005FB2A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57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5" y="117793"/>
            <a:ext cx="12030843" cy="919924"/>
          </a:xfrm>
        </p:spPr>
        <p:txBody>
          <a:bodyPr>
            <a:normAutofit/>
          </a:bodyPr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7-4】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368" y="1124743"/>
            <a:ext cx="10729192" cy="55092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import random 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marks = [</a:t>
            </a:r>
            <a:r>
              <a:rPr lang="en-US" altLang="zh-CN" sz="2200" b="1" dirty="0" err="1">
                <a:solidFill>
                  <a:schemeClr val="tx1"/>
                </a:solidFill>
              </a:rPr>
              <a:t>random.randint</a:t>
            </a:r>
            <a:r>
              <a:rPr lang="en-US" altLang="zh-CN" sz="2200" b="1" dirty="0">
                <a:solidFill>
                  <a:schemeClr val="tx1"/>
                </a:solidFill>
              </a:rPr>
              <a:t>(0, 100) for </a:t>
            </a:r>
            <a:r>
              <a:rPr lang="en-US" altLang="zh-CN" sz="2200" b="1" dirty="0" err="1">
                <a:solidFill>
                  <a:schemeClr val="tx1"/>
                </a:solidFill>
              </a:rPr>
              <a:t>i</a:t>
            </a:r>
            <a:r>
              <a:rPr lang="en-US" altLang="zh-CN" sz="2200" b="1" dirty="0">
                <a:solidFill>
                  <a:schemeClr val="tx1"/>
                </a:solidFill>
              </a:rPr>
              <a:t> in range(20)]   # </a:t>
            </a:r>
            <a:r>
              <a:rPr lang="zh-CN" altLang="zh-CN" sz="2200" b="1" dirty="0">
                <a:solidFill>
                  <a:schemeClr val="tx1"/>
                </a:solidFill>
              </a:rPr>
              <a:t>随机生成</a:t>
            </a:r>
            <a:r>
              <a:rPr lang="en-US" altLang="zh-CN" sz="2200" b="1" dirty="0">
                <a:solidFill>
                  <a:schemeClr val="tx1"/>
                </a:solidFill>
              </a:rPr>
              <a:t>20</a:t>
            </a:r>
            <a:r>
              <a:rPr lang="zh-CN" altLang="zh-CN" sz="2200" b="1" dirty="0">
                <a:solidFill>
                  <a:schemeClr val="tx1"/>
                </a:solidFill>
              </a:rPr>
              <a:t>个成绩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print("</a:t>
            </a:r>
            <a:r>
              <a:rPr lang="zh-CN" altLang="zh-CN" sz="2200" b="1" dirty="0">
                <a:solidFill>
                  <a:schemeClr val="tx1"/>
                </a:solidFill>
              </a:rPr>
              <a:t>成绩如下：</a:t>
            </a:r>
            <a:r>
              <a:rPr lang="en-US" altLang="zh-CN" sz="2200" b="1" dirty="0">
                <a:solidFill>
                  <a:schemeClr val="tx1"/>
                </a:solidFill>
              </a:rPr>
              <a:t>", marks)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rank = {'</a:t>
            </a:r>
            <a:r>
              <a:rPr lang="zh-CN" altLang="zh-CN" sz="2200" b="1" dirty="0">
                <a:solidFill>
                  <a:schemeClr val="tx1"/>
                </a:solidFill>
              </a:rPr>
              <a:t>优秀</a:t>
            </a:r>
            <a:r>
              <a:rPr lang="en-US" altLang="zh-CN" sz="2200" b="1" dirty="0">
                <a:solidFill>
                  <a:schemeClr val="tx1"/>
                </a:solidFill>
              </a:rPr>
              <a:t>': 0, '</a:t>
            </a:r>
            <a:r>
              <a:rPr lang="zh-CN" altLang="zh-CN" sz="2200" b="1" dirty="0">
                <a:solidFill>
                  <a:schemeClr val="tx1"/>
                </a:solidFill>
              </a:rPr>
              <a:t>良好</a:t>
            </a:r>
            <a:r>
              <a:rPr lang="en-US" altLang="zh-CN" sz="2200" b="1" dirty="0">
                <a:solidFill>
                  <a:schemeClr val="tx1"/>
                </a:solidFill>
              </a:rPr>
              <a:t>': 0, '</a:t>
            </a:r>
            <a:r>
              <a:rPr lang="zh-CN" altLang="zh-CN" sz="2200" b="1" dirty="0">
                <a:solidFill>
                  <a:schemeClr val="tx1"/>
                </a:solidFill>
              </a:rPr>
              <a:t>中等</a:t>
            </a:r>
            <a:r>
              <a:rPr lang="en-US" altLang="zh-CN" sz="2200" b="1" dirty="0">
                <a:solidFill>
                  <a:schemeClr val="tx1"/>
                </a:solidFill>
              </a:rPr>
              <a:t>': 0, '</a:t>
            </a:r>
            <a:r>
              <a:rPr lang="zh-CN" altLang="zh-CN" sz="2200" b="1" dirty="0">
                <a:solidFill>
                  <a:schemeClr val="tx1"/>
                </a:solidFill>
              </a:rPr>
              <a:t>及格</a:t>
            </a:r>
            <a:r>
              <a:rPr lang="en-US" altLang="zh-CN" sz="2200" b="1" dirty="0">
                <a:solidFill>
                  <a:schemeClr val="tx1"/>
                </a:solidFill>
              </a:rPr>
              <a:t>': 0, '</a:t>
            </a:r>
            <a:r>
              <a:rPr lang="zh-CN" altLang="zh-CN" sz="2200" b="1" dirty="0">
                <a:solidFill>
                  <a:schemeClr val="tx1"/>
                </a:solidFill>
              </a:rPr>
              <a:t>不及格</a:t>
            </a:r>
            <a:r>
              <a:rPr lang="en-US" altLang="zh-CN" sz="2200" b="1" dirty="0">
                <a:solidFill>
                  <a:schemeClr val="tx1"/>
                </a:solidFill>
              </a:rPr>
              <a:t>': 0} # </a:t>
            </a:r>
            <a:r>
              <a:rPr lang="zh-CN" altLang="zh-CN" sz="2200" b="1" dirty="0">
                <a:solidFill>
                  <a:schemeClr val="tx1"/>
                </a:solidFill>
              </a:rPr>
              <a:t>所有等级的人数初始为</a:t>
            </a:r>
            <a:r>
              <a:rPr lang="en-US" altLang="zh-CN" sz="2200" b="1" dirty="0">
                <a:solidFill>
                  <a:schemeClr val="tx1"/>
                </a:solidFill>
              </a:rPr>
              <a:t>0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for item in marks: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if item &gt;= 90: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rank['</a:t>
            </a:r>
            <a:r>
              <a:rPr lang="zh-CN" altLang="zh-CN" sz="2200" b="1" dirty="0">
                <a:solidFill>
                  <a:schemeClr val="tx1"/>
                </a:solidFill>
              </a:rPr>
              <a:t>优秀</a:t>
            </a:r>
            <a:r>
              <a:rPr lang="en-US" altLang="zh-CN" sz="2200" b="1" dirty="0">
                <a:solidFill>
                  <a:schemeClr val="tx1"/>
                </a:solidFill>
              </a:rPr>
              <a:t>'] = rank['</a:t>
            </a:r>
            <a:r>
              <a:rPr lang="zh-CN" altLang="zh-CN" sz="2200" b="1" dirty="0">
                <a:solidFill>
                  <a:schemeClr val="tx1"/>
                </a:solidFill>
              </a:rPr>
              <a:t>优秀</a:t>
            </a:r>
            <a:r>
              <a:rPr lang="en-US" altLang="zh-CN" sz="2200" b="1" dirty="0">
                <a:solidFill>
                  <a:schemeClr val="tx1"/>
                </a:solidFill>
              </a:rPr>
              <a:t>'] + 1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</a:t>
            </a:r>
            <a:r>
              <a:rPr lang="en-US" altLang="zh-CN" sz="2200" b="1" dirty="0" err="1">
                <a:solidFill>
                  <a:schemeClr val="tx1"/>
                </a:solidFill>
              </a:rPr>
              <a:t>elif</a:t>
            </a:r>
            <a:r>
              <a:rPr lang="en-US" altLang="zh-CN" sz="2200" b="1" dirty="0">
                <a:solidFill>
                  <a:schemeClr val="tx1"/>
                </a:solidFill>
              </a:rPr>
              <a:t> item &gt;= 80: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rank['</a:t>
            </a:r>
            <a:r>
              <a:rPr lang="zh-CN" altLang="zh-CN" sz="2200" b="1" dirty="0">
                <a:solidFill>
                  <a:schemeClr val="tx1"/>
                </a:solidFill>
              </a:rPr>
              <a:t>良好</a:t>
            </a:r>
            <a:r>
              <a:rPr lang="en-US" altLang="zh-CN" sz="2200" b="1" dirty="0">
                <a:solidFill>
                  <a:schemeClr val="tx1"/>
                </a:solidFill>
              </a:rPr>
              <a:t>'] = rank['</a:t>
            </a:r>
            <a:r>
              <a:rPr lang="zh-CN" altLang="zh-CN" sz="2200" b="1" dirty="0">
                <a:solidFill>
                  <a:schemeClr val="tx1"/>
                </a:solidFill>
              </a:rPr>
              <a:t>良好</a:t>
            </a:r>
            <a:r>
              <a:rPr lang="en-US" altLang="zh-CN" sz="2200" b="1" dirty="0">
                <a:solidFill>
                  <a:schemeClr val="tx1"/>
                </a:solidFill>
              </a:rPr>
              <a:t>'] + 1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</a:t>
            </a:r>
            <a:r>
              <a:rPr lang="en-US" altLang="zh-CN" sz="2200" b="1" dirty="0" err="1">
                <a:solidFill>
                  <a:schemeClr val="tx1"/>
                </a:solidFill>
              </a:rPr>
              <a:t>elif</a:t>
            </a:r>
            <a:r>
              <a:rPr lang="en-US" altLang="zh-CN" sz="2200" b="1" dirty="0">
                <a:solidFill>
                  <a:schemeClr val="tx1"/>
                </a:solidFill>
              </a:rPr>
              <a:t> item &gt;= 70: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rank['</a:t>
            </a:r>
            <a:r>
              <a:rPr lang="zh-CN" altLang="zh-CN" sz="2200" b="1" dirty="0">
                <a:solidFill>
                  <a:schemeClr val="tx1"/>
                </a:solidFill>
              </a:rPr>
              <a:t>中等</a:t>
            </a:r>
            <a:r>
              <a:rPr lang="en-US" altLang="zh-CN" sz="2200" b="1" dirty="0">
                <a:solidFill>
                  <a:schemeClr val="tx1"/>
                </a:solidFill>
              </a:rPr>
              <a:t>'] = rank['</a:t>
            </a:r>
            <a:r>
              <a:rPr lang="zh-CN" altLang="zh-CN" sz="2200" b="1" dirty="0">
                <a:solidFill>
                  <a:schemeClr val="tx1"/>
                </a:solidFill>
              </a:rPr>
              <a:t>中等</a:t>
            </a:r>
            <a:r>
              <a:rPr lang="en-US" altLang="zh-CN" sz="2200" b="1" dirty="0">
                <a:solidFill>
                  <a:schemeClr val="tx1"/>
                </a:solidFill>
              </a:rPr>
              <a:t>'] + 1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</a:t>
            </a:r>
            <a:r>
              <a:rPr lang="en-US" altLang="zh-CN" sz="2200" b="1" dirty="0" err="1">
                <a:solidFill>
                  <a:schemeClr val="tx1"/>
                </a:solidFill>
              </a:rPr>
              <a:t>elif</a:t>
            </a:r>
            <a:r>
              <a:rPr lang="en-US" altLang="zh-CN" sz="2200" b="1" dirty="0">
                <a:solidFill>
                  <a:schemeClr val="tx1"/>
                </a:solidFill>
              </a:rPr>
              <a:t> item &gt;= 60: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rank['</a:t>
            </a:r>
            <a:r>
              <a:rPr lang="zh-CN" altLang="zh-CN" sz="2200" b="1" dirty="0">
                <a:solidFill>
                  <a:schemeClr val="tx1"/>
                </a:solidFill>
              </a:rPr>
              <a:t>及格</a:t>
            </a:r>
            <a:r>
              <a:rPr lang="en-US" altLang="zh-CN" sz="2200" b="1" dirty="0">
                <a:solidFill>
                  <a:schemeClr val="tx1"/>
                </a:solidFill>
              </a:rPr>
              <a:t>'] = rank['</a:t>
            </a:r>
            <a:r>
              <a:rPr lang="zh-CN" altLang="zh-CN" sz="2200" b="1" dirty="0">
                <a:solidFill>
                  <a:schemeClr val="tx1"/>
                </a:solidFill>
              </a:rPr>
              <a:t>及格</a:t>
            </a:r>
            <a:r>
              <a:rPr lang="en-US" altLang="zh-CN" sz="2200" b="1" dirty="0">
                <a:solidFill>
                  <a:schemeClr val="tx1"/>
                </a:solidFill>
              </a:rPr>
              <a:t>'] + 1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else: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rank['</a:t>
            </a:r>
            <a:r>
              <a:rPr lang="zh-CN" altLang="zh-CN" sz="2200" b="1" dirty="0">
                <a:solidFill>
                  <a:schemeClr val="tx1"/>
                </a:solidFill>
              </a:rPr>
              <a:t>不及格</a:t>
            </a:r>
            <a:r>
              <a:rPr lang="en-US" altLang="zh-CN" sz="2200" b="1" dirty="0">
                <a:solidFill>
                  <a:schemeClr val="tx1"/>
                </a:solidFill>
              </a:rPr>
              <a:t>'] = rank['</a:t>
            </a:r>
            <a:r>
              <a:rPr lang="zh-CN" altLang="zh-CN" sz="2200" b="1" dirty="0">
                <a:solidFill>
                  <a:schemeClr val="tx1"/>
                </a:solidFill>
              </a:rPr>
              <a:t>不及格</a:t>
            </a:r>
            <a:r>
              <a:rPr lang="en-US" altLang="zh-CN" sz="2200" b="1" dirty="0">
                <a:solidFill>
                  <a:schemeClr val="tx1"/>
                </a:solidFill>
              </a:rPr>
              <a:t>'] + 1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print("</a:t>
            </a:r>
            <a:r>
              <a:rPr lang="zh-CN" altLang="zh-CN" sz="2200" b="1" dirty="0">
                <a:solidFill>
                  <a:schemeClr val="tx1"/>
                </a:solidFill>
              </a:rPr>
              <a:t>统计结果：</a:t>
            </a:r>
            <a:r>
              <a:rPr lang="en-US" altLang="zh-CN" sz="2200" b="1" dirty="0">
                <a:solidFill>
                  <a:schemeClr val="tx1"/>
                </a:solidFill>
              </a:rPr>
              <a:t>", rank)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0DD0C7-A3E7-4C80-9594-A005FB2A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5909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90069"/>
            <a:ext cx="10852150" cy="716915"/>
          </a:xfrm>
        </p:spPr>
        <p:txBody>
          <a:bodyPr/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7-5】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编写程序，模拟集合的交集、并集和差集运算。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384" y="928440"/>
            <a:ext cx="6885284" cy="569386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set1 = </a:t>
            </a:r>
            <a:r>
              <a:rPr lang="en-US" altLang="zh-CN" sz="2000" b="1" dirty="0" err="1">
                <a:solidFill>
                  <a:schemeClr val="tx1"/>
                </a:solidFill>
              </a:rPr>
              <a:t>eval</a:t>
            </a:r>
            <a:r>
              <a:rPr lang="en-US" altLang="zh-CN" sz="2000" b="1" dirty="0">
                <a:solidFill>
                  <a:schemeClr val="tx1"/>
                </a:solidFill>
              </a:rPr>
              <a:t>(input('</a:t>
            </a:r>
            <a:r>
              <a:rPr lang="zh-CN" altLang="zh-CN" sz="2000" b="1" dirty="0">
                <a:solidFill>
                  <a:schemeClr val="tx1"/>
                </a:solidFill>
              </a:rPr>
              <a:t>请输入集合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zh-CN" sz="2000" b="1" dirty="0">
                <a:solidFill>
                  <a:schemeClr val="tx1"/>
                </a:solidFill>
              </a:rPr>
              <a:t>：</a:t>
            </a:r>
            <a:r>
              <a:rPr lang="en-US" altLang="zh-CN" sz="2000" b="1" dirty="0">
                <a:solidFill>
                  <a:schemeClr val="tx1"/>
                </a:solidFill>
              </a:rPr>
              <a:t>'))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set2 = </a:t>
            </a:r>
            <a:r>
              <a:rPr lang="en-US" altLang="zh-CN" sz="2000" b="1" dirty="0" err="1">
                <a:solidFill>
                  <a:schemeClr val="tx1"/>
                </a:solidFill>
              </a:rPr>
              <a:t>eval</a:t>
            </a:r>
            <a:r>
              <a:rPr lang="en-US" altLang="zh-CN" sz="2000" b="1" dirty="0">
                <a:solidFill>
                  <a:schemeClr val="tx1"/>
                </a:solidFill>
              </a:rPr>
              <a:t>(input('</a:t>
            </a:r>
            <a:r>
              <a:rPr lang="zh-CN" altLang="zh-CN" sz="2000" b="1" dirty="0">
                <a:solidFill>
                  <a:schemeClr val="tx1"/>
                </a:solidFill>
              </a:rPr>
              <a:t>请输入集合</a:t>
            </a:r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r>
              <a:rPr lang="zh-CN" altLang="zh-CN" sz="2000" b="1" dirty="0">
                <a:solidFill>
                  <a:schemeClr val="tx1"/>
                </a:solidFill>
              </a:rPr>
              <a:t>：</a:t>
            </a:r>
            <a:r>
              <a:rPr lang="en-US" altLang="zh-CN" sz="2000" b="1" dirty="0">
                <a:solidFill>
                  <a:schemeClr val="tx1"/>
                </a:solidFill>
              </a:rPr>
              <a:t>'))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intersection = set()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union = set()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difference = set()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for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in set2:      # </a:t>
            </a:r>
            <a:r>
              <a:rPr lang="zh-CN" altLang="zh-CN" sz="2000" b="1" dirty="0">
                <a:solidFill>
                  <a:schemeClr val="tx1"/>
                </a:solidFill>
              </a:rPr>
              <a:t>求交集</a:t>
            </a: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if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in set1: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 dirty="0" err="1">
                <a:solidFill>
                  <a:schemeClr val="tx1"/>
                </a:solidFill>
              </a:rPr>
              <a:t>intersection.add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union = set1.copy()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for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in set2:      # </a:t>
            </a:r>
            <a:r>
              <a:rPr lang="zh-CN" altLang="zh-CN" sz="2000" b="1" dirty="0">
                <a:solidFill>
                  <a:schemeClr val="tx1"/>
                </a:solidFill>
              </a:rPr>
              <a:t>求并集</a:t>
            </a: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if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not in set1: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 dirty="0" err="1">
                <a:solidFill>
                  <a:schemeClr val="tx1"/>
                </a:solidFill>
              </a:rPr>
              <a:t>union.add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for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in set1:      # </a:t>
            </a:r>
            <a:r>
              <a:rPr lang="zh-CN" altLang="zh-CN" sz="2000" b="1" dirty="0">
                <a:solidFill>
                  <a:schemeClr val="tx1"/>
                </a:solidFill>
              </a:rPr>
              <a:t>求差集</a:t>
            </a: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if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not in set2: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 dirty="0" err="1">
                <a:solidFill>
                  <a:schemeClr val="tx1"/>
                </a:solidFill>
              </a:rPr>
              <a:t>difference.add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交集为：</a:t>
            </a:r>
            <a:r>
              <a:rPr lang="en-US" altLang="zh-CN" sz="2000" b="1" dirty="0">
                <a:solidFill>
                  <a:schemeClr val="tx1"/>
                </a:solidFill>
              </a:rPr>
              <a:t>", intersection)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并集为：</a:t>
            </a:r>
            <a:r>
              <a:rPr lang="en-US" altLang="zh-CN" sz="2000" b="1" dirty="0">
                <a:solidFill>
                  <a:schemeClr val="tx1"/>
                </a:solidFill>
              </a:rPr>
              <a:t>", union)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差集为：</a:t>
            </a:r>
            <a:r>
              <a:rPr lang="en-US" altLang="zh-CN" sz="2000" b="1" dirty="0">
                <a:solidFill>
                  <a:schemeClr val="tx1"/>
                </a:solidFill>
              </a:rPr>
              <a:t>", difference)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49CBB0-61D8-4518-BAFC-A860CA19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57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【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例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7-6】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编程程序，检测密码的安全强度。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68" y="1052736"/>
            <a:ext cx="11017224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tx1"/>
                </a:solidFill>
              </a:rPr>
              <a:t>pwd_str</a:t>
            </a:r>
            <a:r>
              <a:rPr lang="en-US" altLang="zh-CN" sz="2400" b="1" dirty="0">
                <a:solidFill>
                  <a:schemeClr val="tx1"/>
                </a:solidFill>
              </a:rPr>
              <a:t> = [set("ABCDEFGHIJKLMNOPQRSTUVWXYZ"),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set("</a:t>
            </a:r>
            <a:r>
              <a:rPr lang="en-US" altLang="zh-CN" sz="2400" b="1" dirty="0" err="1">
                <a:solidFill>
                  <a:schemeClr val="tx1"/>
                </a:solidFill>
              </a:rPr>
              <a:t>abcdefghijklmnopqrstuvwxyz</a:t>
            </a:r>
            <a:r>
              <a:rPr lang="en-US" altLang="zh-CN" sz="2400" b="1" dirty="0">
                <a:solidFill>
                  <a:schemeClr val="tx1"/>
                </a:solidFill>
              </a:rPr>
              <a:t>"),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set("0123456789"),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set("!\"#$%&amp;\'()*+,-./:;&lt;=&gt;?@[\\]^_`{|}~")]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pwd_safe</a:t>
            </a:r>
            <a:r>
              <a:rPr lang="en-US" altLang="zh-CN" sz="2400" b="1" dirty="0">
                <a:solidFill>
                  <a:schemeClr val="tx1"/>
                </a:solidFill>
              </a:rPr>
              <a:t> = {4: '</a:t>
            </a:r>
            <a:r>
              <a:rPr lang="zh-CN" altLang="zh-CN" sz="2400" b="1" dirty="0">
                <a:solidFill>
                  <a:schemeClr val="tx1"/>
                </a:solidFill>
              </a:rPr>
              <a:t>高强度</a:t>
            </a:r>
            <a:r>
              <a:rPr lang="en-US" altLang="zh-CN" sz="2400" b="1" dirty="0">
                <a:solidFill>
                  <a:schemeClr val="tx1"/>
                </a:solidFill>
              </a:rPr>
              <a:t>', 3: '</a:t>
            </a:r>
            <a:r>
              <a:rPr lang="zh-CN" altLang="zh-CN" sz="2400" b="1" dirty="0">
                <a:solidFill>
                  <a:schemeClr val="tx1"/>
                </a:solidFill>
              </a:rPr>
              <a:t>中高强度</a:t>
            </a:r>
            <a:r>
              <a:rPr lang="en-US" altLang="zh-CN" sz="2400" b="1" dirty="0">
                <a:solidFill>
                  <a:schemeClr val="tx1"/>
                </a:solidFill>
              </a:rPr>
              <a:t>', 2: '</a:t>
            </a:r>
            <a:r>
              <a:rPr lang="zh-CN" altLang="zh-CN" sz="2400" b="1" dirty="0">
                <a:solidFill>
                  <a:schemeClr val="tx1"/>
                </a:solidFill>
              </a:rPr>
              <a:t>中低强度</a:t>
            </a:r>
            <a:r>
              <a:rPr lang="en-US" altLang="zh-CN" sz="2400" b="1" dirty="0">
                <a:solidFill>
                  <a:schemeClr val="tx1"/>
                </a:solidFill>
              </a:rPr>
              <a:t>', 1: '</a:t>
            </a:r>
            <a:r>
              <a:rPr lang="zh-CN" altLang="zh-CN" sz="2400" b="1" dirty="0">
                <a:solidFill>
                  <a:schemeClr val="tx1"/>
                </a:solidFill>
              </a:rPr>
              <a:t>弱强度</a:t>
            </a:r>
            <a:r>
              <a:rPr lang="en-US" altLang="zh-CN" sz="2400" b="1" dirty="0">
                <a:solidFill>
                  <a:schemeClr val="tx1"/>
                </a:solidFill>
              </a:rPr>
              <a:t>'}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pwd</a:t>
            </a:r>
            <a:r>
              <a:rPr lang="en-US" altLang="zh-CN" sz="2400" b="1" dirty="0">
                <a:solidFill>
                  <a:schemeClr val="tx1"/>
                </a:solidFill>
              </a:rPr>
              <a:t>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请输入要验证的密码：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pwd</a:t>
            </a:r>
            <a:r>
              <a:rPr lang="en-US" altLang="zh-CN" sz="2400" b="1" dirty="0">
                <a:solidFill>
                  <a:schemeClr val="tx1"/>
                </a:solidFill>
              </a:rPr>
              <a:t> = set(</a:t>
            </a:r>
            <a:r>
              <a:rPr lang="en-US" altLang="zh-CN" sz="2400" b="1" dirty="0" err="1">
                <a:solidFill>
                  <a:schemeClr val="tx1"/>
                </a:solidFill>
              </a:rPr>
              <a:t>pwd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= 0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item in </a:t>
            </a:r>
            <a:r>
              <a:rPr lang="en-US" altLang="zh-CN" sz="2400" b="1" dirty="0" err="1">
                <a:solidFill>
                  <a:schemeClr val="tx1"/>
                </a:solidFill>
              </a:rPr>
              <a:t>pwd_str</a:t>
            </a:r>
            <a:r>
              <a:rPr lang="en-US" altLang="zh-CN" sz="2400" b="1" dirty="0">
                <a:solidFill>
                  <a:schemeClr val="tx1"/>
                </a:solidFill>
              </a:rPr>
              <a:t>:    # </a:t>
            </a:r>
            <a:r>
              <a:rPr lang="zh-CN" altLang="zh-CN" sz="2400" b="1" dirty="0">
                <a:solidFill>
                  <a:schemeClr val="tx1"/>
                </a:solidFill>
              </a:rPr>
              <a:t>将密码和</a:t>
            </a:r>
            <a:r>
              <a:rPr lang="en-US" altLang="zh-CN" sz="2400" b="1" dirty="0" err="1">
                <a:solidFill>
                  <a:schemeClr val="tx1"/>
                </a:solidFill>
              </a:rPr>
              <a:t>pwd_str</a:t>
            </a:r>
            <a:r>
              <a:rPr lang="zh-CN" altLang="zh-CN" sz="2400" b="1" dirty="0">
                <a:solidFill>
                  <a:schemeClr val="tx1"/>
                </a:solidFill>
              </a:rPr>
              <a:t>中的各类字符构成的集合做交集运算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if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(item &amp; </a:t>
            </a:r>
            <a:r>
              <a:rPr lang="en-US" altLang="zh-CN" sz="2400" b="1" dirty="0" err="1">
                <a:solidFill>
                  <a:schemeClr val="tx1"/>
                </a:solidFill>
              </a:rPr>
              <a:t>pwd</a:t>
            </a:r>
            <a:r>
              <a:rPr lang="en-US" altLang="zh-CN" sz="2400" b="1" dirty="0">
                <a:solidFill>
                  <a:schemeClr val="tx1"/>
                </a:solidFill>
              </a:rPr>
              <a:t>) &gt; 0:  	# </a:t>
            </a:r>
            <a:r>
              <a:rPr lang="zh-CN" altLang="zh-CN" sz="2400" b="1" dirty="0">
                <a:solidFill>
                  <a:schemeClr val="tx1"/>
                </a:solidFill>
              </a:rPr>
              <a:t>运算结果不为空，则表示包含此类字符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+= 1		# 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zh-CN" altLang="zh-CN" sz="2400" b="1" dirty="0">
                <a:solidFill>
                  <a:schemeClr val="tx1"/>
                </a:solidFill>
              </a:rPr>
              <a:t>增加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</a:t>
            </a:r>
            <a:r>
              <a:rPr lang="en-US" altLang="zh-CN" sz="2400" b="1" dirty="0" err="1">
                <a:solidFill>
                  <a:schemeClr val="tx1"/>
                </a:solidFill>
              </a:rPr>
              <a:t>pwd_safe.get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, "</a:t>
            </a:r>
            <a:r>
              <a:rPr lang="zh-CN" altLang="zh-CN" sz="2400" b="1" dirty="0">
                <a:solidFill>
                  <a:schemeClr val="tx1"/>
                </a:solidFill>
              </a:rPr>
              <a:t>密码字符无法识别！</a:t>
            </a:r>
            <a:r>
              <a:rPr lang="en-US" altLang="zh-CN" sz="2400" b="1" dirty="0">
                <a:solidFill>
                  <a:schemeClr val="tx1"/>
                </a:solidFill>
              </a:rPr>
              <a:t>"))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F2BC69-5AF7-47ED-8E8F-BE52A8D4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574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7.4</a:t>
            </a:r>
            <a:r>
              <a:rPr lang="zh-CN" altLang="en-US" dirty="0"/>
              <a:t>节习题全</a:t>
            </a:r>
            <a:r>
              <a:rPr lang="en-US" altLang="zh-CN" dirty="0"/>
              <a:t>(P142)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60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868600B-01E7-4D95-8DE7-02209BAC0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88641"/>
            <a:ext cx="8208912" cy="778044"/>
          </a:xfr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FC5CAD9-7BD4-4007-B127-5DDAF9B984AF}"/>
              </a:ext>
            </a:extLst>
          </p:cNvPr>
          <p:cNvSpPr txBox="1"/>
          <p:nvPr/>
        </p:nvSpPr>
        <p:spPr>
          <a:xfrm>
            <a:off x="191344" y="1124744"/>
            <a:ext cx="116652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思路：对称差集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–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交集，元素只存在一个集合中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=====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输入第一个集合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:{1,2,3}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输入第二个集合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:{4,5,6}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{1, 2, 3, 4, 5, 6}</a:t>
            </a: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====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输入第一个集合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:{1,2,3}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输入第二个集合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:{3,4,5}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{1, 2, 4, 5}</a:t>
            </a:r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444356-3694-47A8-827C-C139A3B68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353056"/>
            <a:ext cx="11737304" cy="6316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set1 = eval(input('</a:t>
            </a:r>
            <a:r>
              <a:rPr lang="zh-CN" altLang="en-US" dirty="0"/>
              <a:t>输入第一个集合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set2 = eval(input('</a:t>
            </a:r>
            <a:r>
              <a:rPr lang="zh-CN" altLang="en-US" dirty="0"/>
              <a:t>输入第二个集合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set0 = set()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set1:</a:t>
            </a:r>
          </a:p>
          <a:p>
            <a:pPr marL="0" indent="0"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i</a:t>
            </a:r>
            <a:r>
              <a:rPr lang="en-US" altLang="zh-CN" dirty="0"/>
              <a:t> not in set2:</a:t>
            </a:r>
          </a:p>
          <a:p>
            <a:pPr marL="0" indent="0">
              <a:buNone/>
            </a:pPr>
            <a:r>
              <a:rPr lang="en-US" altLang="zh-CN" dirty="0"/>
              <a:t>        set0.add(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set2:</a:t>
            </a:r>
          </a:p>
          <a:p>
            <a:pPr marL="0" indent="0">
              <a:buNone/>
            </a:pPr>
            <a:r>
              <a:rPr lang="en-US" altLang="zh-CN" dirty="0"/>
              <a:t>    if </a:t>
            </a:r>
            <a:r>
              <a:rPr lang="en-US" altLang="zh-CN" dirty="0" err="1"/>
              <a:t>i</a:t>
            </a:r>
            <a:r>
              <a:rPr lang="en-US" altLang="zh-CN" dirty="0"/>
              <a:t> not in set1:</a:t>
            </a:r>
          </a:p>
          <a:p>
            <a:pPr marL="0" indent="0">
              <a:buNone/>
            </a:pPr>
            <a:r>
              <a:rPr lang="en-US" altLang="zh-CN" dirty="0"/>
              <a:t>        set0.add(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print(set0)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3710C9-64F9-438D-B1E2-9EA2A4A1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0765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74045-88FF-4071-9046-FA2B9001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E2D1D-7C21-4BD9-ADBD-B5626EDE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327CF3AB-F0F3-4A97-9074-34304E164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4661"/>
            <a:ext cx="12150179" cy="1042091"/>
          </a:xfr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7C450F7-C1F8-4D6E-A256-C00B2AACC258}"/>
              </a:ext>
            </a:extLst>
          </p:cNvPr>
          <p:cNvSpPr txBox="1"/>
          <p:nvPr/>
        </p:nvSpPr>
        <p:spPr>
          <a:xfrm>
            <a:off x="191344" y="1321604"/>
            <a:ext cx="1166529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import random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L1 = [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random.randint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(0,100) for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in range(100)]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print('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随机产生的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个数：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',L1)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dict1={}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for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in L1: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dict1[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]=dict1.get(i,0)+1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print(sorted(dict1.items(),reverse=True))</a:t>
            </a:r>
          </a:p>
        </p:txBody>
      </p:sp>
    </p:spTree>
    <p:extLst>
      <p:ext uri="{BB962C8B-B14F-4D97-AF65-F5344CB8AC3E}">
        <p14:creationId xmlns:p14="http://schemas.microsoft.com/office/powerpoint/2010/main" val="6466239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8AFA2-02F9-43B6-B446-183CE304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570DAD4-4E97-408E-9155-E1B247352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7793"/>
            <a:ext cx="12150180" cy="1150967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6EBD67-2254-4190-94C4-5751635E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6B348D-6653-4F7B-999A-317BF7F661E1}"/>
              </a:ext>
            </a:extLst>
          </p:cNvPr>
          <p:cNvSpPr txBox="1"/>
          <p:nvPr/>
        </p:nvSpPr>
        <p:spPr>
          <a:xfrm>
            <a:off x="191344" y="1249596"/>
            <a:ext cx="116652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思路：用户输入数字，返回星期几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中一个数字：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Wednesday</a:t>
            </a: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====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中一个数字：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您输入的值不存在</a:t>
            </a:r>
          </a:p>
        </p:txBody>
      </p:sp>
    </p:spTree>
    <p:extLst>
      <p:ext uri="{BB962C8B-B14F-4D97-AF65-F5344CB8AC3E}">
        <p14:creationId xmlns:p14="http://schemas.microsoft.com/office/powerpoint/2010/main" val="21078536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BE13A-D4EE-4D48-BD6E-97FA7E99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C95D0-8B23-4DCA-900A-2A03E744A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dict0 = {1:'Monday',2:'Tuesday',3:'Wednesday',4:'Thursday',5:'Friday',6:'Saturday',7:'Sunday'}</a:t>
            </a:r>
          </a:p>
          <a:p>
            <a:pPr marL="0" indent="0">
              <a:buNone/>
            </a:pPr>
            <a:r>
              <a:rPr lang="en-US" altLang="zh-CN" dirty="0"/>
              <a:t>x = eval(input('</a:t>
            </a:r>
            <a:r>
              <a:rPr lang="zh-CN" altLang="en-US" dirty="0"/>
              <a:t>请输入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7</a:t>
            </a:r>
            <a:r>
              <a:rPr lang="zh-CN" altLang="en-US" dirty="0"/>
              <a:t>中一个数字：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print(dict0.get(x,'</a:t>
            </a:r>
            <a:r>
              <a:rPr lang="zh-CN" altLang="en-US" dirty="0"/>
              <a:t>您输入的值不存在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8F2481-DE90-4B01-B06B-17E7B95C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420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D9CB4-E0BC-4AAF-BD3D-37B20672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1442F39-A6E8-4FF7-BB9C-6BA822AB3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7" y="188640"/>
            <a:ext cx="12025337" cy="11521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7ABB71-FC38-4F74-86E0-B2A4A615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C85AAD-09D5-485A-BF13-6C733B9D282B}"/>
              </a:ext>
            </a:extLst>
          </p:cNvPr>
          <p:cNvSpPr txBox="1"/>
          <p:nvPr/>
        </p:nvSpPr>
        <p:spPr>
          <a:xfrm>
            <a:off x="191344" y="1465620"/>
            <a:ext cx="116652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思路：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zip</a:t>
            </a: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====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{'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sno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': '1910203011', '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': 'Tom', 'score': 98}</a:t>
            </a:r>
          </a:p>
        </p:txBody>
      </p:sp>
    </p:spTree>
    <p:extLst>
      <p:ext uri="{BB962C8B-B14F-4D97-AF65-F5344CB8AC3E}">
        <p14:creationId xmlns:p14="http://schemas.microsoft.com/office/powerpoint/2010/main" val="2504788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90740-3DAB-44E1-80B0-AC94C1CE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6AE537-C3B0-4677-8CB2-69F97C64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 = ['</a:t>
            </a:r>
            <a:r>
              <a:rPr lang="en-US" altLang="zh-CN" dirty="0" err="1"/>
              <a:t>sno</a:t>
            </a:r>
            <a:r>
              <a:rPr lang="en-US" altLang="zh-CN" dirty="0"/>
              <a:t>','</a:t>
            </a:r>
            <a:r>
              <a:rPr lang="en-US" altLang="zh-CN" dirty="0" err="1"/>
              <a:t>sname</a:t>
            </a:r>
            <a:r>
              <a:rPr lang="en-US" altLang="zh-CN" dirty="0"/>
              <a:t>','score']</a:t>
            </a:r>
          </a:p>
          <a:p>
            <a:pPr marL="0" indent="0">
              <a:buNone/>
            </a:pPr>
            <a:r>
              <a:rPr lang="en-US" altLang="zh-CN" dirty="0"/>
              <a:t>b = ['1910203011','Tom',98]</a:t>
            </a:r>
          </a:p>
          <a:p>
            <a:pPr marL="0" indent="0">
              <a:buNone/>
            </a:pPr>
            <a:r>
              <a:rPr lang="en-US" altLang="zh-CN" dirty="0"/>
              <a:t>re = </a:t>
            </a:r>
            <a:r>
              <a:rPr lang="en-US" altLang="zh-CN" dirty="0" err="1"/>
              <a:t>dict</a:t>
            </a:r>
            <a:r>
              <a:rPr lang="en-US" altLang="zh-CN" dirty="0"/>
              <a:t>(zip(</a:t>
            </a:r>
            <a:r>
              <a:rPr lang="en-US" altLang="zh-CN" dirty="0" err="1"/>
              <a:t>a,b</a:t>
            </a:r>
            <a:r>
              <a:rPr lang="en-US" altLang="zh-CN" dirty="0"/>
              <a:t>))</a:t>
            </a:r>
          </a:p>
          <a:p>
            <a:pPr marL="0" indent="0">
              <a:buNone/>
            </a:pPr>
            <a:r>
              <a:rPr lang="en-US" altLang="zh-CN" dirty="0"/>
              <a:t>print(re)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EB6249-67D0-46A2-A398-4215D5A6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3438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2634B-2DED-4249-883A-891FB8F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3DB72E2-FC8B-4593-9A0E-33145505E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5" y="147439"/>
            <a:ext cx="12030843" cy="1193329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2ECA8-6C45-410D-A6D0-2DD84C5F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2AC8DE-5B34-427D-B049-55073BD717A1}"/>
              </a:ext>
            </a:extLst>
          </p:cNvPr>
          <p:cNvSpPr txBox="1"/>
          <p:nvPr/>
        </p:nvSpPr>
        <p:spPr>
          <a:xfrm>
            <a:off x="191344" y="1465620"/>
            <a:ext cx="116652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为了方便输出，将数值范围改为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[0,5],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输出如下：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===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[(0, 39), (4, 37), (3, 37), (5, 34), (1, 29), (2, 24)]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65988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D40CB-16B9-4875-A4DA-F5C74B9E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5DE5E-BCD7-45E6-98E2-EE07C536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import random</a:t>
            </a:r>
          </a:p>
          <a:p>
            <a:pPr marL="0" indent="0">
              <a:buNone/>
            </a:pPr>
            <a:r>
              <a:rPr lang="en-US" altLang="zh-CN" dirty="0"/>
              <a:t>L1 = [</a:t>
            </a:r>
            <a:r>
              <a:rPr lang="en-US" altLang="zh-CN" dirty="0" err="1"/>
              <a:t>random.randint</a:t>
            </a:r>
            <a:r>
              <a:rPr lang="en-US" altLang="zh-CN"/>
              <a:t>(0,5) </a:t>
            </a: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range(200)]</a:t>
            </a:r>
          </a:p>
          <a:p>
            <a:pPr marL="0" indent="0">
              <a:buNone/>
            </a:pPr>
            <a:r>
              <a:rPr lang="en-US" altLang="zh-CN" dirty="0"/>
              <a:t>dict1={}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L1:</a:t>
            </a:r>
          </a:p>
          <a:p>
            <a:pPr marL="0" indent="0">
              <a:buNone/>
            </a:pPr>
            <a:r>
              <a:rPr lang="en-US" altLang="zh-CN" dirty="0"/>
              <a:t>    dict1[</a:t>
            </a:r>
            <a:r>
              <a:rPr lang="en-US" altLang="zh-CN" dirty="0" err="1"/>
              <a:t>i</a:t>
            </a:r>
            <a:r>
              <a:rPr lang="en-US" altLang="zh-CN" dirty="0"/>
              <a:t>]=dict1.get(i,0)+1</a:t>
            </a:r>
          </a:p>
          <a:p>
            <a:pPr marL="0" indent="0">
              <a:buNone/>
            </a:pPr>
            <a:r>
              <a:rPr lang="en-US" altLang="zh-CN" dirty="0"/>
              <a:t>print(dict1)</a:t>
            </a:r>
          </a:p>
          <a:p>
            <a:pPr marL="0" indent="0">
              <a:buNone/>
            </a:pPr>
            <a:r>
              <a:rPr lang="en-US" altLang="zh-CN" dirty="0"/>
              <a:t>print(sorted(dict1.items(),key=lambda x:x[1], reverse=True))  # items()</a:t>
            </a:r>
            <a:r>
              <a:rPr lang="zh-CN" altLang="en-US" dirty="0"/>
              <a:t>返回键值对构成的元组列表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 lambda</a:t>
            </a:r>
            <a:r>
              <a:rPr lang="zh-CN" altLang="en-US" dirty="0"/>
              <a:t>指定了一个匿名函数：用</a:t>
            </a:r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作为</a:t>
            </a:r>
            <a:r>
              <a:rPr lang="en-US" altLang="zh-CN" dirty="0"/>
              <a:t>x</a:t>
            </a:r>
            <a:r>
              <a:rPr lang="zh-CN" altLang="en-US" dirty="0"/>
              <a:t>的返回值，即按照元组的第</a:t>
            </a:r>
            <a:r>
              <a:rPr lang="en-US" altLang="zh-CN" dirty="0"/>
              <a:t>2</a:t>
            </a:r>
            <a:r>
              <a:rPr lang="zh-CN" altLang="en-US" dirty="0"/>
              <a:t>个元素</a:t>
            </a:r>
            <a:r>
              <a:rPr lang="en-US" altLang="zh-CN" dirty="0"/>
              <a:t>value</a:t>
            </a:r>
            <a:r>
              <a:rPr lang="zh-CN" altLang="en-US" dirty="0"/>
              <a:t>作为关键字进行排序</a:t>
            </a:r>
            <a:r>
              <a:rPr lang="en-US" altLang="zh-CN" dirty="0"/>
              <a:t>  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2A689E-D3F8-4C79-AE61-44679940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212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C3869-AF0D-4281-B4A1-D8C046E8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DF9AE-29F6-4409-A183-7DB65287E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说明：如果执行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print(dict1.items())</a:t>
            </a:r>
          </a:p>
          <a:p>
            <a:pPr marL="0" indent="0">
              <a:buNone/>
            </a:pPr>
            <a:r>
              <a:rPr lang="zh-CN" altLang="en-US" dirty="0"/>
              <a:t>结果为：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dict_items</a:t>
            </a:r>
            <a:r>
              <a:rPr lang="en-US" altLang="zh-CN" dirty="0"/>
              <a:t>([(0, 40), (2, 43), (3, 28), (4, 29), (1, 32), (5, 28)])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3AAE7A-A329-4B1F-B7C7-7BD362E2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942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1C05F-0B23-4E81-A559-DC94BA70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13E6F-CB82-4FD5-A576-0BDE4D1B3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01718B-EB23-4AE3-87F6-2929A8C4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4760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253815" y="980728"/>
            <a:ext cx="3684369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谢谢观赏</a:t>
            </a:r>
            <a:br>
              <a:rPr lang="en-US" altLang="zh-CN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BA512E-9535-4A8D-B1B1-F1B96E4A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7196</Words>
  <Application>Microsoft Office PowerPoint</Application>
  <PresentationFormat>宽屏</PresentationFormat>
  <Paragraphs>801</Paragraphs>
  <Slides>71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71</vt:i4>
      </vt:variant>
    </vt:vector>
  </HeadingPairs>
  <TitlesOfParts>
    <vt:vector size="86" baseType="lpstr">
      <vt:lpstr>黑体</vt:lpstr>
      <vt:lpstr>华文新魏</vt:lpstr>
      <vt:lpstr>宋体</vt:lpstr>
      <vt:lpstr>微软雅黑</vt:lpstr>
      <vt:lpstr>Arial</vt:lpstr>
      <vt:lpstr>Calibri</vt:lpstr>
      <vt:lpstr>Calibri Light</vt:lpstr>
      <vt:lpstr>Century Gothic</vt:lpstr>
      <vt:lpstr>Viner Hand ITC</vt:lpstr>
      <vt:lpstr>Wingdings</vt:lpstr>
      <vt:lpstr>当图网</vt:lpstr>
      <vt:lpstr>当图网1</vt:lpstr>
      <vt:lpstr>1_当图网</vt:lpstr>
      <vt:lpstr>1_当图网1</vt:lpstr>
      <vt:lpstr>水汽尾迹</vt:lpstr>
      <vt:lpstr>PowerPoint 演示文稿</vt:lpstr>
      <vt:lpstr>目录</vt:lpstr>
      <vt:lpstr>7.1 字典</vt:lpstr>
      <vt:lpstr>7.1.1 字典概述</vt:lpstr>
      <vt:lpstr>7.1.2 字典的创建、元素引用及删除</vt:lpstr>
      <vt:lpstr>PowerPoint 演示文稿</vt:lpstr>
      <vt:lpstr>2．字典元素的引用</vt:lpstr>
      <vt:lpstr>PowerPoint 演示文稿</vt:lpstr>
      <vt:lpstr>PowerPoint 演示文稿</vt:lpstr>
      <vt:lpstr>3．字典的删除</vt:lpstr>
      <vt:lpstr>7.1.3 运算符对字典的操作</vt:lpstr>
      <vt:lpstr>7.1.4 内置函数对字典的操作</vt:lpstr>
      <vt:lpstr>PowerPoint 演示文稿</vt:lpstr>
      <vt:lpstr>PowerPoint 演示文稿</vt:lpstr>
      <vt:lpstr>7.1.5 字典对象的常用方法</vt:lpstr>
      <vt:lpstr>1．items()、keys()、values()</vt:lpstr>
      <vt:lpstr>2．pop()、popitem()、clear()</vt:lpstr>
      <vt:lpstr>PowerPoint 演示文稿</vt:lpstr>
      <vt:lpstr>PowerPoint 演示文稿</vt:lpstr>
      <vt:lpstr>3．setdefault()</vt:lpstr>
      <vt:lpstr>PowerPoint 演示文稿</vt:lpstr>
      <vt:lpstr>4．update()</vt:lpstr>
      <vt:lpstr>5．copy()</vt:lpstr>
      <vt:lpstr>7.1.6 字典推导式</vt:lpstr>
      <vt:lpstr>7.1.7 字典的遍历</vt:lpstr>
      <vt:lpstr>如果要遍历字典的元素：必须使用字典的items()方法明确说明， 如果要遍历字典的值：   必须使用字典的values()方法加以说明</vt:lpstr>
      <vt:lpstr>7.2 集合</vt:lpstr>
      <vt:lpstr>PowerPoint 演示文稿</vt:lpstr>
      <vt:lpstr>7.2.1 集合的创建与删除</vt:lpstr>
      <vt:lpstr>PowerPoint 演示文稿</vt:lpstr>
      <vt:lpstr>2．集合的删除</vt:lpstr>
      <vt:lpstr>7.2.2 集合的运算</vt:lpstr>
      <vt:lpstr>PowerPoint 演示文稿</vt:lpstr>
      <vt:lpstr>PowerPoint 演示文稿</vt:lpstr>
      <vt:lpstr>7.2.3 内置函数对集合的操作</vt:lpstr>
      <vt:lpstr>PowerPoint 演示文稿</vt:lpstr>
      <vt:lpstr>7.2.4 集合对象的常用方法</vt:lpstr>
      <vt:lpstr>续上表</vt:lpstr>
      <vt:lpstr>1）Add,update,remove,pop方法</vt:lpstr>
      <vt:lpstr>PowerPoint 演示文稿</vt:lpstr>
      <vt:lpstr>PowerPoint 演示文稿</vt:lpstr>
      <vt:lpstr>2）difference方法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7.2.5 集合的遍历和推导式</vt:lpstr>
      <vt:lpstr>7.3 应用举例</vt:lpstr>
      <vt:lpstr>【例7-1】编写程序，生成200个[0，100]范围内的随机数，并统计不同数字出现的次数，并按生成的随机数升序输出。</vt:lpstr>
      <vt:lpstr>PowerPoint 演示文稿</vt:lpstr>
      <vt:lpstr>【例7-2】编写程序，使用集合，生成30个范围在[0，50]的不重复的随机数。</vt:lpstr>
      <vt:lpstr>【例7-3】编写程序，输入你的学号（全是数字），统计学号中各个数字重复了多少次，将统计结果存入字典中，并按数字升序输出该字典。</vt:lpstr>
      <vt:lpstr>【例7-4】编写程序，对某门课的所有考试成绩分类统计，分别统计出优、良、中、及格和不及格的人数。</vt:lpstr>
      <vt:lpstr>【例7-4】</vt:lpstr>
      <vt:lpstr>【例7-5】编写程序，模拟集合的交集、并集和差集运算。</vt:lpstr>
      <vt:lpstr>【例7-6】编程程序，检测密码的安全强度。</vt:lpstr>
      <vt:lpstr>本章习题  P</vt:lpstr>
      <vt:lpstr>课后作业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熊福松</dc:creator>
  <cp:lastModifiedBy>Julia</cp:lastModifiedBy>
  <cp:revision>171</cp:revision>
  <dcterms:created xsi:type="dcterms:W3CDTF">2018-10-09T06:59:00Z</dcterms:created>
  <dcterms:modified xsi:type="dcterms:W3CDTF">2023-04-01T12:52:30Z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