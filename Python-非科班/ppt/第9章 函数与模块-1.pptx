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4.xml" ContentType="application/vnd.openxmlformats-officedocument.them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heme/theme5.xml" ContentType="application/vnd.openxmlformats-officedocument.theme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1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2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notesSlides/notesSlide3.xml" ContentType="application/vnd.openxmlformats-officedocument.presentationml.notesSlide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notesSlides/notesSlide4.xml" ContentType="application/vnd.openxmlformats-officedocument.presentationml.notesSlide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5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6.xml" ContentType="application/vnd.openxmlformats-officedocument.presentationml.notesSlide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notesSlides/notesSlide7.xml" ContentType="application/vnd.openxmlformats-officedocument.presentationml.notesSlide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notesSlides/notesSlide8.xml" ContentType="application/vnd.openxmlformats-officedocument.presentationml.notesSlide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704" r:id="rId3"/>
    <p:sldMasterId id="2147483724" r:id="rId4"/>
  </p:sldMasterIdLst>
  <p:notesMasterIdLst>
    <p:notesMasterId r:id="rId92"/>
  </p:notesMasterIdLst>
  <p:sldIdLst>
    <p:sldId id="582" r:id="rId5"/>
    <p:sldId id="485" r:id="rId6"/>
    <p:sldId id="483" r:id="rId7"/>
    <p:sldId id="487" r:id="rId8"/>
    <p:sldId id="486" r:id="rId9"/>
    <p:sldId id="496" r:id="rId10"/>
    <p:sldId id="583" r:id="rId11"/>
    <p:sldId id="497" r:id="rId12"/>
    <p:sldId id="501" r:id="rId13"/>
    <p:sldId id="601" r:id="rId14"/>
    <p:sldId id="602" r:id="rId15"/>
    <p:sldId id="502" r:id="rId16"/>
    <p:sldId id="584" r:id="rId17"/>
    <p:sldId id="504" r:id="rId18"/>
    <p:sldId id="505" r:id="rId19"/>
    <p:sldId id="488" r:id="rId20"/>
    <p:sldId id="506" r:id="rId21"/>
    <p:sldId id="507" r:id="rId22"/>
    <p:sldId id="508" r:id="rId23"/>
    <p:sldId id="509" r:id="rId24"/>
    <p:sldId id="585" r:id="rId25"/>
    <p:sldId id="510" r:id="rId26"/>
    <p:sldId id="511" r:id="rId27"/>
    <p:sldId id="512" r:id="rId28"/>
    <p:sldId id="513" r:id="rId29"/>
    <p:sldId id="514" r:id="rId30"/>
    <p:sldId id="515" r:id="rId31"/>
    <p:sldId id="586" r:id="rId32"/>
    <p:sldId id="526" r:id="rId33"/>
    <p:sldId id="489" r:id="rId34"/>
    <p:sldId id="527" r:id="rId35"/>
    <p:sldId id="528" r:id="rId36"/>
    <p:sldId id="529" r:id="rId37"/>
    <p:sldId id="530" r:id="rId38"/>
    <p:sldId id="531" r:id="rId39"/>
    <p:sldId id="490" r:id="rId40"/>
    <p:sldId id="532" r:id="rId41"/>
    <p:sldId id="533" r:id="rId42"/>
    <p:sldId id="587" r:id="rId43"/>
    <p:sldId id="534" r:id="rId44"/>
    <p:sldId id="535" r:id="rId45"/>
    <p:sldId id="491" r:id="rId46"/>
    <p:sldId id="536" r:id="rId47"/>
    <p:sldId id="537" r:id="rId48"/>
    <p:sldId id="538" r:id="rId49"/>
    <p:sldId id="539" r:id="rId50"/>
    <p:sldId id="492" r:id="rId51"/>
    <p:sldId id="540" r:id="rId52"/>
    <p:sldId id="541" r:id="rId53"/>
    <p:sldId id="493" r:id="rId54"/>
    <p:sldId id="542" r:id="rId55"/>
    <p:sldId id="543" r:id="rId56"/>
    <p:sldId id="544" r:id="rId57"/>
    <p:sldId id="545" r:id="rId58"/>
    <p:sldId id="552" r:id="rId59"/>
    <p:sldId id="553" r:id="rId60"/>
    <p:sldId id="554" r:id="rId61"/>
    <p:sldId id="555" r:id="rId62"/>
    <p:sldId id="494" r:id="rId63"/>
    <p:sldId id="556" r:id="rId64"/>
    <p:sldId id="557" r:id="rId65"/>
    <p:sldId id="558" r:id="rId66"/>
    <p:sldId id="559" r:id="rId67"/>
    <p:sldId id="560" r:id="rId68"/>
    <p:sldId id="603" r:id="rId69"/>
    <p:sldId id="604" r:id="rId70"/>
    <p:sldId id="561" r:id="rId71"/>
    <p:sldId id="562" r:id="rId72"/>
    <p:sldId id="577" r:id="rId73"/>
    <p:sldId id="573" r:id="rId74"/>
    <p:sldId id="578" r:id="rId75"/>
    <p:sldId id="605" r:id="rId76"/>
    <p:sldId id="588" r:id="rId77"/>
    <p:sldId id="606" r:id="rId78"/>
    <p:sldId id="607" r:id="rId79"/>
    <p:sldId id="608" r:id="rId80"/>
    <p:sldId id="565" r:id="rId81"/>
    <p:sldId id="591" r:id="rId82"/>
    <p:sldId id="592" r:id="rId83"/>
    <p:sldId id="593" r:id="rId84"/>
    <p:sldId id="597" r:id="rId85"/>
    <p:sldId id="598" r:id="rId86"/>
    <p:sldId id="599" r:id="rId87"/>
    <p:sldId id="600" r:id="rId88"/>
    <p:sldId id="594" r:id="rId89"/>
    <p:sldId id="595" r:id="rId90"/>
    <p:sldId id="596" r:id="rId91"/>
  </p:sldIdLst>
  <p:sldSz cx="12192000" cy="6858000"/>
  <p:notesSz cx="6858000" cy="9144000"/>
  <p:custDataLst>
    <p:tags r:id="rId9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4660"/>
  </p:normalViewPr>
  <p:slideViewPr>
    <p:cSldViewPr showGuides="1">
      <p:cViewPr varScale="1">
        <p:scale>
          <a:sx n="82" d="100"/>
          <a:sy n="82" d="100"/>
        </p:scale>
        <p:origin x="546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9482"/>
    </p:cViewPr>
  </p:sorterViewPr>
  <p:notesViewPr>
    <p:cSldViewPr>
      <p:cViewPr varScale="1">
        <p:scale>
          <a:sx n="57" d="100"/>
          <a:sy n="57" d="100"/>
        </p:scale>
        <p:origin x="248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tags" Target="tags/tag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2808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13143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92409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30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41426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36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57701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01942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47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01087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50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8057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59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4708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image" Target="../media/image7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6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10.png"/><Relationship Id="rId5" Type="http://schemas.openxmlformats.org/officeDocument/2006/relationships/tags" Target="../tags/tag36.xml"/><Relationship Id="rId10" Type="http://schemas.openxmlformats.org/officeDocument/2006/relationships/image" Target="../media/image9.pn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9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10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11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1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13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3.png"/><Relationship Id="rId4" Type="http://schemas.openxmlformats.org/officeDocument/2006/relationships/tags" Target="../tags/tag74.xml"/><Relationship Id="rId9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5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6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5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5.png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6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7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image" Target="../media/image13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13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10" Type="http://schemas.openxmlformats.org/officeDocument/2006/relationships/image" Target="../media/image18.png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9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image" Target="../media/image21.png"/><Relationship Id="rId5" Type="http://schemas.openxmlformats.org/officeDocument/2006/relationships/tags" Target="../tags/tag142.xml"/><Relationship Id="rId10" Type="http://schemas.openxmlformats.org/officeDocument/2006/relationships/image" Target="../media/image20.png"/><Relationship Id="rId4" Type="http://schemas.openxmlformats.org/officeDocument/2006/relationships/tags" Target="../tags/tag141.xml"/><Relationship Id="rId9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6" Type="http://schemas.openxmlformats.org/officeDocument/2006/relationships/image" Target="../media/image7.png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image" Target="../media/image6.png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image" Target="../media/image10.png"/><Relationship Id="rId5" Type="http://schemas.openxmlformats.org/officeDocument/2006/relationships/tags" Target="../tags/tag162.xml"/><Relationship Id="rId10" Type="http://schemas.openxmlformats.org/officeDocument/2006/relationships/image" Target="../media/image9.png"/><Relationship Id="rId4" Type="http://schemas.openxmlformats.org/officeDocument/2006/relationships/tags" Target="../tags/tag161.xml"/><Relationship Id="rId9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9" Type="http://schemas.openxmlformats.org/officeDocument/2006/relationships/image" Target="../media/image13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7" Type="http://schemas.openxmlformats.org/officeDocument/2006/relationships/image" Target="../media/image5.png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77.xml"/><Relationship Id="rId4" Type="http://schemas.openxmlformats.org/officeDocument/2006/relationships/tags" Target="../tags/tag176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image" Target="../media/image6.png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15.png"/><Relationship Id="rId5" Type="http://schemas.openxmlformats.org/officeDocument/2006/relationships/tags" Target="../tags/tag182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7" Type="http://schemas.openxmlformats.org/officeDocument/2006/relationships/image" Target="../media/image16.png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91.xml"/><Relationship Id="rId4" Type="http://schemas.openxmlformats.org/officeDocument/2006/relationships/tags" Target="../tags/tag190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9" Type="http://schemas.openxmlformats.org/officeDocument/2006/relationships/image" Target="../media/image17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10" Type="http://schemas.openxmlformats.org/officeDocument/2006/relationships/image" Target="../media/image13.png"/><Relationship Id="rId4" Type="http://schemas.openxmlformats.org/officeDocument/2006/relationships/tags" Target="../tags/tag202.xml"/><Relationship Id="rId9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3" Type="http://schemas.openxmlformats.org/officeDocument/2006/relationships/tags" Target="../tags/tag209.xml"/><Relationship Id="rId7" Type="http://schemas.openxmlformats.org/officeDocument/2006/relationships/tags" Target="../tags/tag213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10" Type="http://schemas.openxmlformats.org/officeDocument/2006/relationships/image" Target="../media/image13.png"/><Relationship Id="rId4" Type="http://schemas.openxmlformats.org/officeDocument/2006/relationships/tags" Target="../tags/tag210.xml"/><Relationship Id="rId9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10" Type="http://schemas.openxmlformats.org/officeDocument/2006/relationships/image" Target="../media/image18.png"/><Relationship Id="rId4" Type="http://schemas.openxmlformats.org/officeDocument/2006/relationships/tags" Target="../tags/tag218.xml"/><Relationship Id="rId9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12" Type="http://schemas.openxmlformats.org/officeDocument/2006/relationships/image" Target="../media/image19.png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slideMaster" Target="../slideMasters/slideMaster4.xml"/><Relationship Id="rId5" Type="http://schemas.openxmlformats.org/officeDocument/2006/relationships/tags" Target="../tags/tag227.xml"/><Relationship Id="rId10" Type="http://schemas.openxmlformats.org/officeDocument/2006/relationships/tags" Target="../tags/tag232.xml"/><Relationship Id="rId4" Type="http://schemas.openxmlformats.org/officeDocument/2006/relationships/tags" Target="../tags/tag226.xml"/><Relationship Id="rId9" Type="http://schemas.openxmlformats.org/officeDocument/2006/relationships/tags" Target="../tags/tag231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image" Target="../media/image21.png"/><Relationship Id="rId5" Type="http://schemas.openxmlformats.org/officeDocument/2006/relationships/tags" Target="../tags/tag237.xml"/><Relationship Id="rId10" Type="http://schemas.openxmlformats.org/officeDocument/2006/relationships/image" Target="../media/image20.png"/><Relationship Id="rId4" Type="http://schemas.openxmlformats.org/officeDocument/2006/relationships/tags" Target="../tags/tag236.xml"/><Relationship Id="rId9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C79EA9-B2DE-488F-94A3-3C76E05A050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B748EC-9DCD-49DE-B3B5-5F117F44322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CE2041-C7A0-4053-BC0A-BA417C2D930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970A69-B931-4A2D-93CC-CDE5B5F85C6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E3E1CD-16B9-4A8C-A306-E727D2E9501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530FFC-F6AF-4212-A0AB-5554BEF391B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2BC2D9-2B53-4CDF-88E6-EEA489262C8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59BCC3-78E5-40E4-8B73-412206FDBA4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88F4DA6-159E-45D3-8C3D-197F99532F4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92B7CC-1DE2-4E6B-9ADB-3BA3DC6CB90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50E321A-9E29-4231-819D-250F6E89053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5A3CCE-1C07-48CE-9A5D-4CBCA597B74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D661A-B502-40A9-9167-414FF9C4876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4B6650B-6989-4B94-9A31-00A618EAAF7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2913C3-05D0-4295-8282-060F7494793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295EC1-1666-4BB5-9AE0-EAC9F85FBF7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16CFF8-1261-4C36-9F34-797099B2A9C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5A359A2-4560-4F7A-845B-1B329514D6F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4D5B8-6CA3-41AE-BD19-2EB65A7F06F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54A36C-73DC-4D99-96DA-F99E05CED5D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9AF07E4-E51E-468C-9B61-6AA6FEED36B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BF2E03-E666-498F-93D3-F5E9DF36A84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E69255-974E-4C81-BFBB-3A21FBC4C65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773BED5-EAF2-4977-B94F-A0A495A1B1B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237AC6-ADB9-42E0-9AB7-026D1D41C51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ADF137-2FF6-42F1-ACC2-C2FB27CCD6B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1B1D6639-1EC6-4219-AE91-92C5810B059F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956313F-70B1-4A1A-B44D-C8F7280E052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2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6BDE41A-57A3-43B0-8FED-5EA4D59B532E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51487" y="2681555"/>
            <a:ext cx="3577049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51487" y="3459937"/>
            <a:ext cx="3577050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24EEB3F5-42AB-41A9-B04B-25114F226C72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B4BAD3A-94D1-49A8-A477-AF0E237B6A4F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0" y="-15482"/>
            <a:ext cx="364934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0800000">
            <a:off x="8542657" y="15483"/>
            <a:ext cx="364934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2FFBADA0-C41D-4561-A4AF-71540BE0F931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角 13"/>
          <p:cNvSpPr/>
          <p:nvPr userDrawn="1">
            <p:custDataLst>
              <p:tags r:id="rId7"/>
            </p:custDataLst>
          </p:nvPr>
        </p:nvSpPr>
        <p:spPr>
          <a:xfrm>
            <a:off x="5638165" y="1484173"/>
            <a:ext cx="9144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FDDF2E7C-746F-48F5-8EFA-8DB4F379F8B9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FDC5378-6858-4971-A707-D5E42FFB1CEB}" type="datetime1">
              <a:rPr lang="zh-CN" altLang="en-US" smtClean="0"/>
              <a:t>2023/4/29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rot="5400000">
            <a:off x="-3378783" y="2809615"/>
            <a:ext cx="68580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D68D7DF-A4AE-4B31-AE6C-F47A46FB556C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8EEDFE51-8AB5-4971-9624-868377426123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713BB5F-E70E-49F7-B9C7-90857307C724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DAF41616-FD8F-4A98-916A-C7BEBF8DA3DB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84C1F8A-3447-4866-B9DD-0F42CE173B6D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417440B-E2DA-4DF5-ABE4-EDF0CB0B25B3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070A5B8-C8CE-4BAB-80DC-2CF0D69E8E6D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2A2C0B6-EF60-45F7-9F23-8EB5DD5A49FF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AF4CF529-593D-468F-A07A-6E53B2BB1E74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F6BB3595-6457-4E2D-BA18-4FD005A0054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6332A31-F72A-44A6-8E59-116A9F38E0F1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836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955" y="265299"/>
            <a:ext cx="10131426" cy="924653"/>
          </a:xfrm>
        </p:spPr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955" y="1412777"/>
            <a:ext cx="10389271" cy="4378424"/>
          </a:xfrm>
        </p:spPr>
        <p:txBody>
          <a:bodyPr anchor="ctr">
            <a:normAutofit/>
          </a:bodyPr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6300-F4E6-434A-8019-54CF341EEC71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 b="1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0040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881" y="-1899592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AC33-D426-42BF-A092-9D16F0E9F40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054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3BA4-C390-4BE0-A292-605BFAD21D9D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2406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A7CB6-0C46-4BAB-A381-E531936E388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 b="1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7753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83CF5-3521-4D59-B6E9-A67B35882400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060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D170C-ADAA-417C-BD5D-346863E32FD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2461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2DFD-138E-4330-8E25-A1E91A7BCB69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91982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B665-FF11-449A-ADE8-D2DF4D1BDC5F}" type="datetime1">
              <a:rPr lang="zh-CN" altLang="en-US" smtClean="0"/>
              <a:t>2023/4/29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8820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4EC8E-3189-4D84-BF55-476A77E3D39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19977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D5333-9206-4F68-B33F-FFF4D62C2B5B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5188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373CB-E161-441B-A95B-3FEDD2D0497F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2161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898A-6F9F-433A-A374-3A1DA151C3D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77663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EE928-C680-4E5C-81C1-0BDAF0107E4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03665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6CAD3-5783-4157-A836-170743F234DE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22925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73B5D-4E8B-412E-9805-0B5B0DB37694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029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65D57-2D27-4E1B-A607-94990BC891E7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365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197B023F-465A-4036-966D-C58A4F2DCF2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311884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5A4A7ECC-2C56-431F-8A61-0E3BCB67DDD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4CDD7FE5-75EA-4EAC-AF63-1A6D36FC15B0}" type="datetime1">
              <a:rPr lang="zh-CN" altLang="en-US" smtClean="0"/>
              <a:t>2023/4/29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2911D56-3267-4EB5-B57F-271AA677EAA9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BE7C8213-BEF3-4EFD-8931-3983A8F8B263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D15CD5F3-AC48-4775-9A38-C396469736FB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46635B-B5ED-4435-BEA8-3822593806DA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3CB81FE8-6E0F-4788-A1A5-5808E918378E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566E8A1-7A8E-42D1-8891-060C180ECA37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84F9FB6A-F174-4138-95A9-651AFAF4AF69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237490"/>
            <a:ext cx="11037570" cy="676910"/>
          </a:xfrm>
        </p:spPr>
        <p:txBody>
          <a:bodyPr>
            <a:no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B5C7190-849B-420B-BF92-99BBB9DCF683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C18F452A-F4FF-4408-BD38-21C501A6BFE9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614045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F27B-7C9D-40A8-8464-64C3DC13DE3C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962-69F4-4742-AEC6-8AF27A8BA3F0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44F3-6CF3-45F0-A9F5-3D63F8EFBAD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AD3-4FAC-41A4-9DB4-63F76468F4B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06957-9820-45B7-A76C-0743EC10976E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626745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A195-705B-484E-89C5-7872D43068FE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29895"/>
            <a:ext cx="10852150" cy="666750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59697-DF0E-4ABD-BE72-2202026B3FA1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707390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7F3E-04B7-4CEC-91EF-FAA90848DFD8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680085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BE9-954D-47A5-8F2D-8585EDAF59B5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3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tags" Target="../tags/tag4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theme" Target="../theme/theme4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BC40D3-92EF-4671-A149-A5F28F796A6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E5B8C4-C711-4624-A94C-0ED8126A23F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296C5-AD72-489E-83A6-A11FC130C466}" type="datetime1">
              <a:rPr lang="zh-CN" altLang="en-US" smtClean="0"/>
              <a:t>2023/4/29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0691FE-0AD1-4C7D-AC8C-D169295ECA8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2023/4/29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71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680" r:id="rId19"/>
    <p:sldLayoutId id="2147483684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  <p:sldLayoutId id="2147483703" r:id="rId3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3.xml"/><Relationship Id="rId7" Type="http://schemas.openxmlformats.org/officeDocument/2006/relationships/slide" Target="slide42.xml"/><Relationship Id="rId2" Type="http://schemas.openxmlformats.org/officeDocument/2006/relationships/slideLayout" Target="../slideLayouts/slideLayout49.xml"/><Relationship Id="rId1" Type="http://schemas.openxmlformats.org/officeDocument/2006/relationships/tags" Target="../tags/tag241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10" Type="http://schemas.openxmlformats.org/officeDocument/2006/relationships/slide" Target="slide59.xml"/><Relationship Id="rId4" Type="http://schemas.openxmlformats.org/officeDocument/2006/relationships/slide" Target="slide16.xml"/><Relationship Id="rId9" Type="http://schemas.openxmlformats.org/officeDocument/2006/relationships/slide" Target="slide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5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5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5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5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5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5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5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6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6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7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7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7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7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8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8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8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tags" Target="../tags/tag28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29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29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30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30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30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slideLayout" Target="../slideLayouts/slideLayout46.xml"/><Relationship Id="rId1" Type="http://schemas.openxmlformats.org/officeDocument/2006/relationships/tags" Target="../tags/tag30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tags" Target="../tags/tag30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4" Type="http://schemas.openxmlformats.org/officeDocument/2006/relationships/slideLayout" Target="../slideLayouts/slideLayout3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218" y="908720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b="1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9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函数与模块</a:t>
            </a:r>
            <a:endParaRPr lang="zh-CN" altLang="en-US" sz="40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sz="half" idx="2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b="1" dirty="0"/>
              <a:t>9.1 </a:t>
            </a:r>
            <a:r>
              <a:rPr lang="zh-CN" altLang="en-US" sz="3200" b="1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函数的定义与调用</a:t>
            </a:r>
            <a:endParaRPr lang="zh-CN" altLang="en-US" sz="3200" b="1" dirty="0"/>
          </a:p>
          <a:p>
            <a:pPr algn="l">
              <a:buClrTx/>
              <a:buSzTx/>
              <a:buFontTx/>
            </a:pPr>
            <a:r>
              <a:rPr lang="en-US" altLang="zh-CN" sz="3200" b="1" dirty="0"/>
              <a:t>9.2 </a:t>
            </a:r>
            <a:r>
              <a:rPr lang="en-US" altLang="zh-CN" sz="3200" b="1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函数的参数传递</a:t>
            </a:r>
            <a:endParaRPr lang="en-US" altLang="zh-CN" sz="3200" b="1" dirty="0"/>
          </a:p>
          <a:p>
            <a:pPr algn="l">
              <a:buClrTx/>
              <a:buSzTx/>
              <a:buFontTx/>
            </a:pPr>
            <a:r>
              <a:rPr lang="en-US" altLang="zh-CN" sz="3200" b="1" dirty="0"/>
              <a:t>9.3 </a:t>
            </a:r>
            <a:r>
              <a:rPr lang="en-US" altLang="zh-CN" sz="3200" b="1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函数的返回值</a:t>
            </a:r>
            <a:endParaRPr lang="en-US" altLang="zh-CN" sz="3200" b="1" dirty="0"/>
          </a:p>
          <a:p>
            <a:pPr algn="l">
              <a:buClrTx/>
              <a:buSzTx/>
              <a:buFontTx/>
            </a:pPr>
            <a:r>
              <a:rPr lang="en-US" altLang="zh-CN" sz="3200" b="1" dirty="0"/>
              <a:t>9.4 </a:t>
            </a:r>
            <a:r>
              <a:rPr lang="en-US" altLang="zh-CN" sz="3200" b="1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变量的作用域</a:t>
            </a:r>
            <a:endParaRPr lang="en-US" altLang="zh-CN" sz="3200" b="1" dirty="0"/>
          </a:p>
          <a:p>
            <a:endParaRPr lang="en-US" altLang="zh-CN" sz="3200" b="1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9.5 </a:t>
            </a:r>
            <a:r>
              <a:rPr lang="en-US" altLang="zh-CN" sz="3200" b="1" dirty="0">
                <a:sym typeface="+mn-ea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递归函数</a:t>
            </a:r>
            <a:endParaRPr lang="en-US" altLang="zh-CN" sz="3200" b="1" dirty="0"/>
          </a:p>
          <a:p>
            <a:pPr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9.6 </a:t>
            </a:r>
            <a:r>
              <a:rPr lang="en-US" altLang="zh-CN" sz="3200" b="1" dirty="0">
                <a:sym typeface="+mn-ea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内嵌函数</a:t>
            </a:r>
            <a:r>
              <a:rPr lang="en-US" altLang="zh-CN" sz="3200" b="1" dirty="0">
                <a:sym typeface="+mn-ea"/>
              </a:rPr>
              <a:t>*</a:t>
            </a:r>
            <a:endParaRPr lang="en-US" altLang="zh-CN" sz="3200" b="1" dirty="0"/>
          </a:p>
          <a:p>
            <a:pPr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9.7 </a:t>
            </a:r>
            <a:r>
              <a:rPr lang="en-US" altLang="zh-CN" sz="3200" b="1" dirty="0">
                <a:sym typeface="+mn-ea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装饰器</a:t>
            </a:r>
            <a:r>
              <a:rPr lang="en-US" altLang="zh-CN" sz="3200" b="1" dirty="0">
                <a:sym typeface="+mn-ea"/>
              </a:rPr>
              <a:t>*</a:t>
            </a:r>
            <a:endParaRPr lang="en-US" altLang="zh-CN" sz="3200" b="1" dirty="0"/>
          </a:p>
          <a:p>
            <a:pPr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9.8 </a:t>
            </a:r>
            <a:r>
              <a:rPr lang="en-US" altLang="zh-CN" sz="3200" b="1" dirty="0">
                <a:sym typeface="+mn-ea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模块</a:t>
            </a:r>
            <a:endParaRPr lang="en-US" altLang="zh-CN" sz="3200" b="1" dirty="0"/>
          </a:p>
          <a:p>
            <a:endParaRPr lang="zh-CN" altLang="en-US" sz="3200" b="1" dirty="0"/>
          </a:p>
          <a:p>
            <a:endParaRPr lang="zh-CN" altLang="en-US" sz="32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E0DB64-FE86-4137-BC82-CE777BA3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b="0" smtClean="0"/>
              <a:t>2</a:t>
            </a:fld>
            <a:endParaRPr lang="zh-CN" altLang="en-US" b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686560" y="2292350"/>
            <a:ext cx="8938260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9.1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函数的定义与使用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292C16-3269-4A4C-9C2D-CBA80246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Autofit/>
          </a:bodyPr>
          <a:lstStyle/>
          <a:p>
            <a:pPr eaLnBrk="1" hangingPunct="1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为什么要定义和使用函数？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cap="all" dirty="0">
                <a:ln w="3175" cmpd="sng">
                  <a:noFill/>
                </a:ln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优点：</a:t>
            </a:r>
            <a:endParaRPr lang="en-US" altLang="zh-CN" sz="3200" b="1" cap="all" dirty="0">
              <a:ln w="3175" cmpd="sng">
                <a:noFill/>
              </a:ln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3200" b="1" cap="all" dirty="0">
                <a:ln w="3175" cmpd="sng">
                  <a:noFill/>
                </a:ln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提高代码复用性</a:t>
            </a:r>
            <a:endParaRPr lang="en-US" altLang="zh-CN" sz="3200" b="1" cap="all" dirty="0">
              <a:ln w="3175" cmpd="sng">
                <a:noFill/>
              </a:ln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3200" b="1" cap="all" dirty="0">
                <a:ln w="3175" cmpd="sng">
                  <a:noFill/>
                </a:ln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利于模块化编程</a:t>
            </a:r>
            <a:endParaRPr lang="en-US" altLang="zh-CN" sz="3200" b="1" cap="all" dirty="0">
              <a:ln w="3175" cmpd="sng">
                <a:noFill/>
              </a:ln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  <a:p>
            <a:pPr eaLnBrk="1" hangingPunct="1"/>
            <a:endParaRPr lang="en-US" altLang="zh-CN" sz="3200" b="1" dirty="0"/>
          </a:p>
        </p:txBody>
      </p:sp>
      <p:sp>
        <p:nvSpPr>
          <p:cNvPr id="2" name="横卷形 1"/>
          <p:cNvSpPr/>
          <p:nvPr/>
        </p:nvSpPr>
        <p:spPr>
          <a:xfrm>
            <a:off x="6106795" y="1825625"/>
            <a:ext cx="4429760" cy="2637155"/>
          </a:xfrm>
          <a:prstGeom prst="horizontalScrol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cap="all" dirty="0">
                <a:ln w="3175" cmpd="sng">
                  <a:noFill/>
                </a:ln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另一种提高代码复用性的技术是面向对象技术</a:t>
            </a:r>
            <a:r>
              <a:rPr lang="en-US" altLang="zh-CN" sz="3200" b="1" cap="all" dirty="0">
                <a:ln w="3175" cmpd="sng">
                  <a:noFill/>
                </a:ln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——</a:t>
            </a:r>
            <a:r>
              <a:rPr lang="zh-CN" altLang="en-US" sz="3200" b="1" cap="all" dirty="0">
                <a:ln w="3175" cmpd="sng">
                  <a:noFill/>
                </a:ln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定义类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A2AC9C-91AE-4D58-8482-D00F89F5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9.1.1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函数的定义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语法：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96340" y="2331720"/>
            <a:ext cx="4425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def 函数名([形式参数表]):</a:t>
            </a:r>
          </a:p>
          <a:p>
            <a:r>
              <a:rPr lang="zh-CN" altLang="en-US" sz="2800" b="1" dirty="0"/>
              <a:t>    函数体</a:t>
            </a:r>
          </a:p>
        </p:txBody>
      </p:sp>
      <p:sp>
        <p:nvSpPr>
          <p:cNvPr id="4" name="线形标注 1 3"/>
          <p:cNvSpPr/>
          <p:nvPr/>
        </p:nvSpPr>
        <p:spPr>
          <a:xfrm>
            <a:off x="7018020" y="1226820"/>
            <a:ext cx="3168650" cy="1223645"/>
          </a:xfrm>
          <a:prstGeom prst="borderCallout1">
            <a:avLst>
              <a:gd name="adj1" fmla="val 9548"/>
              <a:gd name="adj2" fmla="val -320"/>
              <a:gd name="adj3" fmla="val 92942"/>
              <a:gd name="adj4" fmla="val -4234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举例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 b="1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ym typeface="+mn-ea"/>
              </a:rPr>
              <a:t>def nothing():</a:t>
            </a:r>
            <a:endParaRPr lang="zh-CN" altLang="en-US" sz="2400" b="1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ym typeface="+mn-ea"/>
              </a:rPr>
              <a:t>    pass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线形标注 1 2"/>
          <p:cNvSpPr/>
          <p:nvPr/>
        </p:nvSpPr>
        <p:spPr>
          <a:xfrm>
            <a:off x="7018020" y="2853055"/>
            <a:ext cx="3491230" cy="1152525"/>
          </a:xfrm>
          <a:prstGeom prst="borderCallout1">
            <a:avLst>
              <a:gd name="adj1" fmla="val 12617"/>
              <a:gd name="adj2" fmla="val -320"/>
              <a:gd name="adj3" fmla="val 3471"/>
              <a:gd name="adj4" fmla="val -388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举例</a:t>
            </a:r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</a:p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def hello():</a:t>
            </a:r>
          </a:p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    print('Hello Python!')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3791585" y="4436745"/>
            <a:ext cx="4032250" cy="1656715"/>
          </a:xfrm>
          <a:prstGeom prst="borderCallout1">
            <a:avLst>
              <a:gd name="adj1" fmla="val 12801"/>
              <a:gd name="adj2" fmla="val -629"/>
              <a:gd name="adj3" fmla="val -71483"/>
              <a:gd name="adj4" fmla="val -1488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举例</a:t>
            </a:r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</a:p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def print_star(n):</a:t>
            </a:r>
          </a:p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    for i in range(n):</a:t>
            </a:r>
          </a:p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        print('*')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FEB75-BF15-48F2-BA43-98DA669F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" grpId="0" animBg="1"/>
      <p:bldP spid="3" grpId="1" animBg="1"/>
      <p:bldP spid="5" grpId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r>
              <a:rPr lang="en-US" altLang="zh-CN" dirty="0"/>
              <a:t>4</a:t>
            </a:r>
            <a:r>
              <a:rPr dirty="0"/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26820"/>
            <a:ext cx="8679815" cy="4283075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def triangle_area(a, b, c):</a:t>
            </a:r>
          </a:p>
          <a:p>
            <a:pPr marL="0" indent="0">
              <a:buNone/>
            </a:pPr>
            <a:r>
              <a:rPr lang="zh-CN" altLang="en-US" sz="2400" b="1" dirty="0"/>
              <a:t>    p = (a + b + c) / 2</a:t>
            </a:r>
          </a:p>
          <a:p>
            <a:pPr marL="0" indent="0">
              <a:buNone/>
            </a:pPr>
            <a:r>
              <a:rPr lang="zh-CN" altLang="en-US" sz="2400" b="1" dirty="0"/>
              <a:t>    if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a+b&gt;c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and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b + c &gt; a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and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c + a &gt; b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:</a:t>
            </a:r>
          </a:p>
          <a:p>
            <a:pPr marL="0" indent="0">
              <a:buNone/>
            </a:pPr>
            <a:r>
              <a:rPr lang="zh-CN" altLang="en-US" sz="2400" b="1" dirty="0"/>
              <a:t>        return (p * (p - a) * (p - b) * (p - c)) ** 0.5</a:t>
            </a:r>
          </a:p>
          <a:p>
            <a:pPr marL="0" indent="0">
              <a:buNone/>
            </a:pPr>
            <a:r>
              <a:rPr lang="zh-CN" altLang="en-US" sz="2400" b="1" dirty="0"/>
              <a:t>    else:</a:t>
            </a:r>
          </a:p>
          <a:p>
            <a:pPr marL="0" indent="0">
              <a:buNone/>
            </a:pPr>
            <a:r>
              <a:rPr lang="zh-CN" altLang="en-US" sz="2400" b="1" dirty="0"/>
              <a:t>        return -1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19050" y="5042118"/>
            <a:ext cx="103505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函数名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形式参数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函数体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返回值（表示函数的结果，如果没有返回值，则返回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None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1" y="1772816"/>
            <a:ext cx="8290559" cy="309613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EC37C95-43D0-4BA0-907E-DBFFDB82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6DDCE-88E8-45A3-B260-23711AC4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定义函数需遵循的规则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95BA3-798B-4E79-A59B-607C88A05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def开头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Def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后面的原括弧和冒号不能少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函数体要缩进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形参可以有多个，也可以没有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D9827D-0222-4A16-89BC-E42B29FC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919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9.1.2 </a:t>
            </a:r>
            <a:r>
              <a:rPr dirty="0" err="1"/>
              <a:t>函数的调用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8361" y="1487891"/>
            <a:ext cx="10409858" cy="1358688"/>
          </a:xfrm>
        </p:spPr>
        <p:txBody>
          <a:bodyPr/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格式：函数名([实际参数表])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8218" y="2548450"/>
            <a:ext cx="39700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b="1" dirty="0"/>
          </a:p>
          <a:p>
            <a:r>
              <a:rPr lang="zh-CN" altLang="en-US" sz="2800" b="1" dirty="0"/>
              <a:t>&gt;&gt;&gt; def add(a, b):</a:t>
            </a:r>
          </a:p>
          <a:p>
            <a:r>
              <a:rPr lang="zh-CN" altLang="en-US" sz="2800" b="1" dirty="0"/>
              <a:t>	    return a + b</a:t>
            </a:r>
          </a:p>
          <a:p>
            <a:endParaRPr lang="zh-CN" altLang="en-US" sz="2800" b="1" dirty="0"/>
          </a:p>
          <a:p>
            <a:r>
              <a:rPr lang="zh-CN" altLang="en-US" sz="2800" b="1" dirty="0"/>
              <a:t>&gt;&gt;&gt; print(add(3, 5))</a:t>
            </a:r>
          </a:p>
          <a:p>
            <a:r>
              <a:rPr lang="zh-CN" altLang="en-US" sz="2800" b="1" dirty="0"/>
              <a:t>8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形参和实参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6220C4B4-D7CB-41C2-8798-429FAEEE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定义和使用函数的位置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226821"/>
            <a:ext cx="3709976" cy="1914148"/>
          </a:xfrm>
        </p:spPr>
        <p:txBody>
          <a:bodyPr>
            <a:noAutofit/>
          </a:bodyPr>
          <a:lstStyle/>
          <a:p>
            <a:r>
              <a:rPr lang="zh-CN" altLang="en-US" dirty="0"/>
              <a:t>交互模式 </a:t>
            </a:r>
            <a:r>
              <a:rPr lang="zh-CN" altLang="en-US" dirty="0">
                <a:cs typeface="Arial" panose="020B0604020202020204" pitchFamily="34" charset="0"/>
              </a:rPr>
              <a:t>√</a:t>
            </a:r>
            <a:endParaRPr lang="zh-CN" altLang="en-US" dirty="0"/>
          </a:p>
          <a:p>
            <a:r>
              <a:rPr lang="zh-CN" altLang="en-US" dirty="0"/>
              <a:t>程序文件 </a:t>
            </a:r>
            <a:r>
              <a:rPr lang="zh-CN" altLang="en-US" dirty="0">
                <a:cs typeface="Arial" panose="020B0604020202020204" pitchFamily="34" charset="0"/>
              </a:rPr>
              <a:t>√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zh-CN" altLang="en-US" dirty="0"/>
              <a:t>函数必须先定义，</a:t>
            </a:r>
            <a:br>
              <a:rPr lang="en-US" altLang="zh-CN" dirty="0"/>
            </a:br>
            <a:r>
              <a:rPr lang="zh-CN" altLang="en-US" dirty="0"/>
              <a:t>后使用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98200" y="1232305"/>
            <a:ext cx="29190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def add(a, b):</a:t>
            </a:r>
          </a:p>
          <a:p>
            <a:r>
              <a:rPr lang="zh-CN" altLang="en-US" sz="2800" dirty="0"/>
              <a:t>    return a + b</a:t>
            </a:r>
          </a:p>
          <a:p>
            <a:r>
              <a:rPr lang="zh-CN" altLang="en-US" sz="2800" dirty="0"/>
              <a:t>print(add(3, 5))</a:t>
            </a:r>
          </a:p>
        </p:txBody>
      </p:sp>
      <p:sp>
        <p:nvSpPr>
          <p:cNvPr id="10" name="矩形 9"/>
          <p:cNvSpPr/>
          <p:nvPr/>
        </p:nvSpPr>
        <p:spPr>
          <a:xfrm>
            <a:off x="8770048" y="1609910"/>
            <a:ext cx="649537" cy="1107996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98200" y="3412227"/>
            <a:ext cx="297561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fun(10)</a:t>
            </a:r>
          </a:p>
          <a:p>
            <a:r>
              <a:rPr lang="zh-CN" altLang="en-US" sz="2800"/>
              <a:t>def fun(x):</a:t>
            </a:r>
          </a:p>
          <a:p>
            <a:r>
              <a:rPr lang="zh-CN" altLang="en-US" sz="2800"/>
              <a:t>    print(x)</a:t>
            </a:r>
          </a:p>
        </p:txBody>
      </p:sp>
      <p:sp>
        <p:nvSpPr>
          <p:cNvPr id="15" name="矩形 14"/>
          <p:cNvSpPr/>
          <p:nvPr/>
        </p:nvSpPr>
        <p:spPr>
          <a:xfrm>
            <a:off x="8577688" y="3401367"/>
            <a:ext cx="1034257" cy="1107996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×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7737E2-0630-4211-AFFB-7F70954F9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/>
      <p:bldP spid="10" grpId="0"/>
      <p:bldP spid="10" grpId="1"/>
      <p:bldP spid="11" grpId="0" animBg="1"/>
      <p:bldP spid="11" grpId="1" animBg="1"/>
      <p:bldP spid="15" grpId="0"/>
      <p:bldP spid="1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CC56F-748F-8C96-2A45-9F74F34C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 </a:t>
            </a:r>
            <a:r>
              <a:rPr lang="zh-CN" altLang="en-US" dirty="0"/>
              <a:t>函数判断素数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F5363C-648B-20A7-57B7-5843E7D91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/>
              <a:t>输入一个正整数列表</a:t>
            </a:r>
            <a:r>
              <a:rPr lang="en-US" altLang="zh-CN" dirty="0"/>
              <a:t> L</a:t>
            </a:r>
            <a:r>
              <a:rPr lang="zh-CN" altLang="en-US" dirty="0"/>
              <a:t>并对其遍历</a:t>
            </a:r>
            <a:r>
              <a:rPr lang="en-US" altLang="zh-CN" dirty="0"/>
              <a:t>,</a:t>
            </a:r>
            <a:r>
              <a:rPr lang="zh-CN" altLang="en-US" dirty="0"/>
              <a:t>利用函数判断每一个数是否为素数，将所有素数存入新列表 </a:t>
            </a:r>
            <a:r>
              <a:rPr lang="en-US" altLang="zh-CN" dirty="0"/>
              <a:t>Res</a:t>
            </a:r>
            <a:r>
              <a:rPr lang="zh-CN" altLang="en-US" dirty="0"/>
              <a:t>并输出。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要求：判断素数的函数定义如下</a:t>
            </a:r>
            <a:r>
              <a:rPr lang="en-US" altLang="zh-CN" dirty="0"/>
              <a:t>,</a:t>
            </a:r>
            <a:r>
              <a:rPr lang="zh-CN" altLang="en-US" dirty="0"/>
              <a:t>要求是素数返回</a:t>
            </a:r>
            <a:r>
              <a:rPr lang="en-US" altLang="zh-CN" dirty="0"/>
              <a:t>True,</a:t>
            </a:r>
            <a:r>
              <a:rPr lang="zh-CN" altLang="en-US" dirty="0"/>
              <a:t>不是则返回</a:t>
            </a:r>
            <a:r>
              <a:rPr lang="en-US" altLang="zh-CN" dirty="0"/>
              <a:t>False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Isprime</a:t>
            </a:r>
            <a:r>
              <a:rPr lang="en-US" altLang="zh-CN" dirty="0"/>
              <a:t>(x)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…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</a:t>
            </a:r>
          </a:p>
          <a:p>
            <a:pPr marL="0" indent="0">
              <a:buNone/>
            </a:pPr>
            <a:r>
              <a:rPr lang="en-US" altLang="zh-CN" dirty="0"/>
              <a:t>[1,2,3,4,5]</a:t>
            </a:r>
          </a:p>
          <a:p>
            <a:pPr marL="0" indent="0">
              <a:buNone/>
            </a:pPr>
            <a:r>
              <a:rPr lang="en-US" altLang="zh-CN" dirty="0"/>
              <a:t>[2, 3, 5]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D0104B-C8A4-FD77-567C-A8DD4DB7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98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F688E3-CCE2-CDA4-D8CB-5EEC219E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609600"/>
            <a:ext cx="4752528" cy="58437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def </a:t>
            </a:r>
            <a:r>
              <a:rPr lang="en-US" altLang="zh-CN" dirty="0" err="1"/>
              <a:t>Isprime</a:t>
            </a:r>
            <a:r>
              <a:rPr lang="en-US" altLang="zh-CN" dirty="0"/>
              <a:t>(x):</a:t>
            </a:r>
          </a:p>
          <a:p>
            <a:pPr marL="0" indent="0">
              <a:buNone/>
            </a:pPr>
            <a:r>
              <a:rPr lang="en-US" altLang="zh-CN" dirty="0"/>
              <a:t>    if x&lt;=1:</a:t>
            </a:r>
          </a:p>
          <a:p>
            <a:pPr marL="0" indent="0">
              <a:buNone/>
            </a:pPr>
            <a:r>
              <a:rPr lang="en-US" altLang="zh-CN" dirty="0"/>
              <a:t>        return(False)</a:t>
            </a:r>
          </a:p>
          <a:p>
            <a:pPr marL="0" indent="0">
              <a:buNone/>
            </a:pPr>
            <a:r>
              <a:rPr lang="en-US" altLang="zh-CN" dirty="0"/>
              <a:t>    if x==2:</a:t>
            </a:r>
          </a:p>
          <a:p>
            <a:pPr marL="0" indent="0">
              <a:buNone/>
            </a:pPr>
            <a:r>
              <a:rPr lang="en-US" altLang="zh-CN" dirty="0"/>
              <a:t>        return(True)</a:t>
            </a:r>
          </a:p>
          <a:p>
            <a:pPr marL="0" indent="0">
              <a:buNone/>
            </a:pPr>
            <a:r>
              <a:rPr lang="en-US" altLang="zh-CN" dirty="0"/>
              <a:t>    flag=True</a:t>
            </a:r>
          </a:p>
          <a:p>
            <a:pPr marL="0" indent="0">
              <a:buNone/>
            </a:pPr>
            <a:r>
              <a:rPr lang="en-US" altLang="zh-CN" dirty="0"/>
              <a:t>    for </a:t>
            </a:r>
            <a:r>
              <a:rPr lang="en-US" altLang="zh-CN" dirty="0" err="1"/>
              <a:t>i</a:t>
            </a:r>
            <a:r>
              <a:rPr lang="en-US" altLang="zh-CN" dirty="0"/>
              <a:t> in range(2,x):</a:t>
            </a:r>
          </a:p>
          <a:p>
            <a:pPr marL="0" indent="0">
              <a:buNone/>
            </a:pPr>
            <a:r>
              <a:rPr lang="en-US" altLang="zh-CN" dirty="0"/>
              <a:t>        if </a:t>
            </a:r>
            <a:r>
              <a:rPr lang="en-US" altLang="zh-CN" dirty="0" err="1"/>
              <a:t>x%i</a:t>
            </a:r>
            <a:r>
              <a:rPr lang="en-US" altLang="zh-CN" dirty="0"/>
              <a:t>==0:</a:t>
            </a:r>
          </a:p>
          <a:p>
            <a:pPr marL="0" indent="0">
              <a:buNone/>
            </a:pPr>
            <a:r>
              <a:rPr lang="en-US" altLang="zh-CN" dirty="0"/>
              <a:t>            flag=False</a:t>
            </a:r>
          </a:p>
          <a:p>
            <a:pPr marL="0" indent="0">
              <a:buNone/>
            </a:pPr>
            <a:r>
              <a:rPr lang="en-US" altLang="zh-CN" dirty="0"/>
              <a:t>            break</a:t>
            </a:r>
          </a:p>
          <a:p>
            <a:pPr marL="0" indent="0">
              <a:buNone/>
            </a:pPr>
            <a:r>
              <a:rPr lang="en-US" altLang="zh-CN" dirty="0"/>
              <a:t>    return(flag)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B51CB8-91DF-FF96-0E41-976F3304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5B2455-EB5C-9A56-DD00-F380B6515D9B}"/>
              </a:ext>
            </a:extLst>
          </p:cNvPr>
          <p:cNvSpPr txBox="1"/>
          <p:nvPr/>
        </p:nvSpPr>
        <p:spPr>
          <a:xfrm>
            <a:off x="5303912" y="908720"/>
            <a:ext cx="61666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/>
              <a:t>L = eval(input())</a:t>
            </a:r>
          </a:p>
          <a:p>
            <a:pPr marL="0" indent="0">
              <a:buNone/>
            </a:pPr>
            <a:r>
              <a:rPr lang="en-US" altLang="zh-CN" sz="2400" dirty="0"/>
              <a:t>Res = []</a:t>
            </a:r>
          </a:p>
          <a:p>
            <a:pPr marL="0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L:</a:t>
            </a:r>
          </a:p>
          <a:p>
            <a:pPr marL="0" indent="0">
              <a:buNone/>
            </a:pPr>
            <a:r>
              <a:rPr lang="en-US" altLang="zh-CN" sz="2400" dirty="0"/>
              <a:t>    if </a:t>
            </a:r>
            <a:r>
              <a:rPr lang="en-US" altLang="zh-CN" sz="2400" dirty="0" err="1"/>
              <a:t>Isprime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)==True:</a:t>
            </a:r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Res.append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print(Res)</a:t>
            </a:r>
          </a:p>
        </p:txBody>
      </p:sp>
    </p:spTree>
    <p:extLst>
      <p:ext uri="{BB962C8B-B14F-4D97-AF65-F5344CB8AC3E}">
        <p14:creationId xmlns:p14="http://schemas.microsoft.com/office/powerpoint/2010/main" val="3130414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9.1.3 lambda</a:t>
            </a:r>
            <a:r>
              <a:t>表达式和匿名函数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lambda</a:t>
            </a:r>
            <a:r>
              <a:rPr dirty="0" err="1"/>
              <a:t>表达式：只用一个表达式就能实现的简单函数</a:t>
            </a:r>
            <a:endParaRPr dirty="0"/>
          </a:p>
          <a:p>
            <a:r>
              <a:rPr dirty="0" err="1"/>
              <a:t>因为没有函数名，所以也称为</a:t>
            </a:r>
            <a:r>
              <a:rPr lang="en-US" altLang="zh-CN" dirty="0" err="1"/>
              <a:t>“</a:t>
            </a:r>
            <a:r>
              <a:rPr dirty="0" err="1"/>
              <a:t>匿名函数</a:t>
            </a:r>
            <a:r>
              <a:rPr lang="en-US" altLang="zh-CN" dirty="0"/>
              <a:t>”</a:t>
            </a:r>
          </a:p>
          <a:p>
            <a:endParaRPr lang="en-US" altLang="zh-CN" dirty="0"/>
          </a:p>
          <a:p>
            <a:r>
              <a:rPr dirty="0" err="1"/>
              <a:t>一般格式</a:t>
            </a:r>
            <a:r>
              <a:rPr dirty="0"/>
              <a:t>：</a:t>
            </a:r>
          </a:p>
          <a:p>
            <a:pPr lvl="1"/>
            <a:r>
              <a:rPr dirty="0"/>
              <a:t>lambda [</a:t>
            </a:r>
            <a:r>
              <a:rPr dirty="0" err="1"/>
              <a:t>参数表</a:t>
            </a:r>
            <a:r>
              <a:rPr dirty="0"/>
              <a:t>]: </a:t>
            </a:r>
            <a:r>
              <a:rPr dirty="0" err="1"/>
              <a:t>表达式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BA197C-AB94-4972-B6FF-F644A7CE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DCA81-56BF-444E-AEAD-CCB2D05E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8E8D3-1F25-42B4-B1AD-E25071293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734" y="1988840"/>
            <a:ext cx="10389271" cy="437842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800" dirty="0"/>
              <a:t>&gt;&gt;&gt; f = lambda x, y: x + y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800" dirty="0"/>
              <a:t>&gt;&gt;&gt; f(3, 5)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800" dirty="0"/>
              <a:t>8</a:t>
            </a:r>
            <a:endParaRPr lang="en-US" altLang="zh-CN" sz="2800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说明</a:t>
            </a:r>
            <a:r>
              <a:rPr lang="en-US" altLang="zh-CN" sz="2800" dirty="0"/>
              <a:t>】</a:t>
            </a:r>
          </a:p>
          <a:p>
            <a:pPr>
              <a:lnSpc>
                <a:spcPct val="130000"/>
              </a:lnSpc>
            </a:pPr>
            <a:r>
              <a:rPr lang="zh-CN" altLang="en-US" sz="2800" dirty="0"/>
              <a:t>：左边是参数，可以有多个参数，也可以没有</a:t>
            </a:r>
          </a:p>
          <a:p>
            <a:pPr>
              <a:lnSpc>
                <a:spcPct val="130000"/>
              </a:lnSpc>
            </a:pPr>
            <a:r>
              <a:rPr lang="zh-CN" altLang="en-US" sz="2800" dirty="0"/>
              <a:t>：右边是返回值</a:t>
            </a:r>
            <a:endParaRPr lang="en-US" altLang="zh-CN" sz="2800" dirty="0"/>
          </a:p>
          <a:p>
            <a:pPr>
              <a:lnSpc>
                <a:spcPct val="130000"/>
              </a:lnSpc>
            </a:pPr>
            <a:r>
              <a:rPr lang="zh-CN" altLang="en-US" sz="2800" dirty="0"/>
              <a:t>赋值号 </a:t>
            </a:r>
            <a:r>
              <a:rPr lang="en-US" altLang="zh-CN" sz="2800" dirty="0"/>
              <a:t>= </a:t>
            </a:r>
            <a:r>
              <a:rPr lang="zh-CN" altLang="en-US" sz="2800" dirty="0"/>
              <a:t>前的变量，是函数名，在调用时使用</a:t>
            </a:r>
          </a:p>
          <a:p>
            <a:pPr>
              <a:lnSpc>
                <a:spcPct val="130000"/>
              </a:lnSpc>
            </a:pPr>
            <a:endParaRPr lang="en-US" altLang="zh-CN" sz="2800" dirty="0"/>
          </a:p>
          <a:p>
            <a:pPr>
              <a:lnSpc>
                <a:spcPct val="130000"/>
              </a:lnSpc>
            </a:pP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47323-083C-4336-9B4B-CE26C9A2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6596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同时定义两个匿名函数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35560" y="1988840"/>
            <a:ext cx="82346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&gt;&gt;&gt; f1, f2 = lambda x, y: x + y, lambda x, y: x - y</a:t>
            </a:r>
          </a:p>
          <a:p>
            <a:r>
              <a:rPr lang="zh-CN" altLang="en-US" sz="2800" dirty="0"/>
              <a:t>&gt;&gt;&gt; f1(3, 5)</a:t>
            </a:r>
          </a:p>
          <a:p>
            <a:r>
              <a:rPr lang="zh-CN" altLang="en-US" sz="2800" dirty="0"/>
              <a:t>8</a:t>
            </a:r>
          </a:p>
          <a:p>
            <a:r>
              <a:rPr lang="zh-CN" altLang="en-US" sz="2800" dirty="0"/>
              <a:t>&gt;&gt;&gt; f2(3, 5)</a:t>
            </a:r>
          </a:p>
          <a:p>
            <a:r>
              <a:rPr lang="zh-CN" altLang="en-US" sz="2800" dirty="0"/>
              <a:t>-2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BE65FE-50F9-49C6-85F8-90734F5A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匿名函数作为返回值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27448" y="1760548"/>
            <a:ext cx="101314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def f():</a:t>
            </a:r>
          </a:p>
          <a:p>
            <a:r>
              <a:rPr lang="zh-CN" altLang="en-US" sz="3200" dirty="0"/>
              <a:t>    return lambda x, y: x + y    </a:t>
            </a:r>
            <a:r>
              <a:rPr lang="en-US" altLang="zh-CN" sz="3200" dirty="0"/>
              <a:t>#</a:t>
            </a:r>
            <a:r>
              <a:rPr lang="zh-CN" altLang="en-US" sz="3200" dirty="0"/>
              <a:t>返回值是个匿名函数</a:t>
            </a:r>
          </a:p>
          <a:p>
            <a:r>
              <a:rPr lang="zh-CN" altLang="en-US" sz="3200" dirty="0"/>
              <a:t>fun = f()</a:t>
            </a:r>
            <a:r>
              <a:rPr lang="en-US" altLang="zh-CN" sz="3200" dirty="0"/>
              <a:t>	</a:t>
            </a:r>
          </a:p>
          <a:p>
            <a:r>
              <a:rPr lang="en-US" altLang="zh-CN" sz="3200" dirty="0"/>
              <a:t>	# </a:t>
            </a:r>
            <a:r>
              <a:rPr lang="zh-CN" altLang="en-US" sz="3200" dirty="0"/>
              <a:t>等价于 </a:t>
            </a:r>
            <a:r>
              <a:rPr lang="en-US" altLang="zh-CN" sz="3200" dirty="0"/>
              <a:t>fun = lambda </a:t>
            </a:r>
            <a:r>
              <a:rPr lang="en-US" altLang="zh-CN" sz="3200" dirty="0" err="1"/>
              <a:t>x,y</a:t>
            </a:r>
            <a:r>
              <a:rPr lang="en-US" altLang="zh-CN" sz="3200" dirty="0"/>
              <a:t>: </a:t>
            </a:r>
            <a:r>
              <a:rPr lang="en-US" altLang="zh-CN" sz="3200" dirty="0" err="1"/>
              <a:t>x+y</a:t>
            </a:r>
            <a:endParaRPr lang="en-US" altLang="zh-CN" sz="3200" dirty="0"/>
          </a:p>
          <a:p>
            <a:r>
              <a:rPr lang="en-US" altLang="zh-CN" sz="3200" dirty="0"/>
              <a:t>	# </a:t>
            </a:r>
            <a:r>
              <a:rPr lang="zh-CN" altLang="en-US" sz="3200" dirty="0"/>
              <a:t>函数</a:t>
            </a:r>
            <a:r>
              <a:rPr lang="en-US" altLang="zh-CN" sz="3200" dirty="0"/>
              <a:t>f()</a:t>
            </a:r>
            <a:r>
              <a:rPr lang="zh-CN" altLang="en-US" sz="3200" dirty="0"/>
              <a:t>的结果是匿名函数，</a:t>
            </a:r>
            <a:endParaRPr lang="en-US" altLang="zh-CN" sz="3200" dirty="0"/>
          </a:p>
          <a:p>
            <a:r>
              <a:rPr lang="en-US" altLang="zh-CN" sz="3200" dirty="0"/>
              <a:t>	# </a:t>
            </a:r>
            <a:r>
              <a:rPr lang="zh-CN" altLang="en-US" sz="3200" dirty="0"/>
              <a:t>匿名函数的函数名</a:t>
            </a:r>
            <a:r>
              <a:rPr lang="en-US" altLang="zh-CN" sz="3200" dirty="0"/>
              <a:t>,</a:t>
            </a:r>
            <a:r>
              <a:rPr lang="zh-CN" altLang="en-US" sz="3200" dirty="0"/>
              <a:t>采用前面的变量名</a:t>
            </a:r>
            <a:r>
              <a:rPr lang="en-US" altLang="zh-CN" sz="3200" dirty="0"/>
              <a:t>fun</a:t>
            </a:r>
            <a:endParaRPr lang="zh-CN" altLang="en-US" sz="3200" dirty="0"/>
          </a:p>
          <a:p>
            <a:r>
              <a:rPr lang="zh-CN" altLang="en-US" sz="3200" dirty="0"/>
              <a:t>print(fun(3, 5))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40F870-F72F-448B-AA57-2E40E180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9.2 </a:t>
            </a:r>
            <a:r>
              <a:rPr lang="zh-CN" altLang="en-US" b="1" kern="1200" dirty="0">
                <a:solidFill>
                  <a:schemeClr val="tx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函数的参数传递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91C430-00C7-47AD-AABD-1FA1C355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9.2.1 </a:t>
            </a:r>
            <a:r>
              <a:t>参数的传递方式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1340769"/>
            <a:ext cx="10340075" cy="1098228"/>
          </a:xfrm>
        </p:spPr>
        <p:txBody>
          <a:bodyPr/>
          <a:lstStyle/>
          <a:p>
            <a:r>
              <a:rPr lang="en-US" altLang="zh-CN" dirty="0" err="1"/>
              <a:t>Python</a:t>
            </a:r>
            <a:r>
              <a:rPr dirty="0" err="1"/>
              <a:t>实行</a:t>
            </a:r>
            <a:r>
              <a:rPr lang="en-US" altLang="zh-CN" dirty="0" err="1"/>
              <a:t>“</a:t>
            </a:r>
            <a:r>
              <a:rPr b="1" dirty="0" err="1">
                <a:solidFill>
                  <a:srgbClr val="FF0000"/>
                </a:solidFill>
              </a:rPr>
              <a:t>值传递</a:t>
            </a:r>
            <a:r>
              <a:rPr lang="en-US" altLang="zh-CN" dirty="0"/>
              <a:t>”</a:t>
            </a:r>
            <a:r>
              <a:rPr dirty="0"/>
              <a:t>！</a:t>
            </a:r>
          </a:p>
        </p:txBody>
      </p:sp>
      <p:sp>
        <p:nvSpPr>
          <p:cNvPr id="4" name="矩形 3"/>
          <p:cNvSpPr/>
          <p:nvPr/>
        </p:nvSpPr>
        <p:spPr>
          <a:xfrm>
            <a:off x="1919605" y="2708910"/>
            <a:ext cx="2159635" cy="100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形参</a:t>
            </a:r>
          </a:p>
        </p:txBody>
      </p:sp>
      <p:sp>
        <p:nvSpPr>
          <p:cNvPr id="5" name="矩形 4"/>
          <p:cNvSpPr/>
          <p:nvPr/>
        </p:nvSpPr>
        <p:spPr>
          <a:xfrm>
            <a:off x="5951855" y="2709545"/>
            <a:ext cx="2016125" cy="1007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实参</a:t>
            </a:r>
          </a:p>
        </p:txBody>
      </p:sp>
      <p:cxnSp>
        <p:nvCxnSpPr>
          <p:cNvPr id="6" name="直接箭头连接符 5"/>
          <p:cNvCxnSpPr>
            <a:stCxn id="5" idx="1"/>
            <a:endCxn id="4" idx="3"/>
          </p:cNvCxnSpPr>
          <p:nvPr/>
        </p:nvCxnSpPr>
        <p:spPr>
          <a:xfrm flipH="1">
            <a:off x="4079240" y="3213100"/>
            <a:ext cx="1872615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785360" y="2691130"/>
            <a:ext cx="788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值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556000" y="4462145"/>
            <a:ext cx="34524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形参和实参有各自独立的存储空间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5D6B50-5382-4B34-B9B1-B234E0B3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8570" y="0"/>
            <a:ext cx="10131425" cy="145626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举例</a:t>
            </a:r>
            <a:r>
              <a:rPr lang="en-US" altLang="zh-CN" sz="2400" dirty="0"/>
              <a:t>1</a:t>
            </a:r>
            <a:r>
              <a:rPr sz="2400" dirty="0"/>
              <a:t>：形参不影响实参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0848" y="1340768"/>
            <a:ext cx="5906997" cy="2664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def change1(number, string, lst):</a:t>
            </a:r>
          </a:p>
          <a:p>
            <a:pPr marL="0" indent="0">
              <a:buNone/>
            </a:pPr>
            <a:r>
              <a:rPr lang="zh-CN" altLang="en-US" sz="2400" dirty="0"/>
              <a:t>    number = 10</a:t>
            </a:r>
          </a:p>
          <a:p>
            <a:pPr marL="0" indent="0">
              <a:buNone/>
            </a:pPr>
            <a:r>
              <a:rPr lang="zh-CN" altLang="en-US" sz="2400" dirty="0"/>
              <a:t>    string = 'aaaa'</a:t>
            </a:r>
          </a:p>
          <a:p>
            <a:pPr marL="0" indent="0">
              <a:buNone/>
            </a:pPr>
            <a:r>
              <a:rPr lang="zh-CN" altLang="en-US" sz="2400" dirty="0"/>
              <a:t>    lst = [1, 2, 3]</a:t>
            </a:r>
          </a:p>
          <a:p>
            <a:pPr marL="0" indent="0">
              <a:buNone/>
            </a:pPr>
            <a:r>
              <a:rPr lang="zh-CN" altLang="en-US" sz="2400" dirty="0"/>
              <a:t>    print("Inside:", number, string, lst)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30123" y="952500"/>
            <a:ext cx="4891952" cy="4060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ym typeface="+mn-ea"/>
              </a:rPr>
              <a:t>num = 20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string = 'bbbb'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lst = [4, 5, 6]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print("Before:", num, string, lst)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change1(num, string, lst)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print("After:", num, string, lst)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cxnSp>
        <p:nvCxnSpPr>
          <p:cNvPr id="5" name="直接箭头连接符 4"/>
          <p:cNvCxnSpPr>
            <a:cxnSpLocks/>
          </p:cNvCxnSpPr>
          <p:nvPr/>
        </p:nvCxnSpPr>
        <p:spPr>
          <a:xfrm flipH="1" flipV="1">
            <a:off x="2927648" y="1623543"/>
            <a:ext cx="5135178" cy="17410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79376" y="4699440"/>
            <a:ext cx="42805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运行结果：</a:t>
            </a:r>
            <a:endParaRPr lang="en-US" altLang="zh-CN" sz="2400" dirty="0"/>
          </a:p>
          <a:p>
            <a:r>
              <a:rPr lang="en-US" altLang="zh-CN" sz="2400" dirty="0"/>
              <a:t>====</a:t>
            </a:r>
          </a:p>
          <a:p>
            <a:r>
              <a:rPr lang="zh-CN" altLang="en-US" sz="2400" dirty="0"/>
              <a:t>Before: 20 bbbb [4, 5, 6]</a:t>
            </a:r>
          </a:p>
          <a:p>
            <a:r>
              <a:rPr lang="zh-CN" altLang="en-US" sz="2400" dirty="0"/>
              <a:t>Inside: 10 aaaa [1, 2, 3]</a:t>
            </a:r>
          </a:p>
          <a:p>
            <a:r>
              <a:rPr lang="zh-CN" altLang="en-US" sz="2400" dirty="0"/>
              <a:t>After: 20 bbbb [4, 5, 6]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773A0138-7792-4AD1-8389-E276309F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z="2400" smtClean="0"/>
              <a:t>18</a:t>
            </a:fld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609601"/>
            <a:ext cx="10121826" cy="87518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举例</a:t>
            </a:r>
            <a:r>
              <a:rPr lang="en-US" altLang="zh-CN" sz="2800" dirty="0"/>
              <a:t>2</a:t>
            </a:r>
            <a:r>
              <a:rPr sz="2800" dirty="0"/>
              <a:t>：形参是可变数据，影响到实参的例子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62255" y="952500"/>
            <a:ext cx="5691505" cy="538861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def change2(lst1, lst2, dict1, dict2):</a:t>
            </a:r>
          </a:p>
          <a:p>
            <a:pPr marL="0" indent="0">
              <a:buNone/>
            </a:pPr>
            <a:r>
              <a:rPr lang="zh-CN" altLang="en-US" sz="2400" dirty="0"/>
              <a:t>    lst1[0] = 10</a:t>
            </a:r>
          </a:p>
          <a:p>
            <a:pPr marL="0" indent="0">
              <a:buNone/>
            </a:pPr>
            <a:r>
              <a:rPr lang="zh-CN" altLang="en-US" sz="2400" dirty="0"/>
              <a:t>    lst2 = [1, 2]</a:t>
            </a:r>
          </a:p>
          <a:p>
            <a:pPr marL="0" indent="0">
              <a:buNone/>
            </a:pPr>
            <a:r>
              <a:rPr lang="zh-CN" altLang="en-US" sz="2400" dirty="0"/>
              <a:t>    dict1['a'] = 100</a:t>
            </a:r>
          </a:p>
          <a:p>
            <a:pPr marL="0" indent="0">
              <a:buNone/>
            </a:pPr>
            <a:r>
              <a:rPr lang="zh-CN" altLang="en-US" sz="2400" dirty="0"/>
              <a:t>    dict2 = {'a': 3, 'b': 4}</a:t>
            </a:r>
          </a:p>
          <a:p>
            <a:pPr marL="0" indent="0">
              <a:buNone/>
            </a:pPr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chemeClr val="accent2"/>
                </a:solidFill>
              </a:rPr>
              <a:t>print("Inside: lst1={}, lst2={}, dict1={}, dict2={}".format(lst1, lst2, dict1, dict2))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5954395" y="952500"/>
            <a:ext cx="6115685" cy="53886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/>
              <a:t>lst1 = [5, 6]</a:t>
            </a:r>
          </a:p>
          <a:p>
            <a:pPr marL="0" indent="0">
              <a:buNone/>
            </a:pPr>
            <a:r>
              <a:rPr lang="zh-CN" altLang="en-US" sz="2400"/>
              <a:t>lst2 = [7, 8]</a:t>
            </a:r>
          </a:p>
          <a:p>
            <a:pPr marL="0" indent="0">
              <a:buNone/>
            </a:pPr>
            <a:r>
              <a:rPr lang="zh-CN" altLang="en-US" sz="2400"/>
              <a:t>dict1 = {'a': 9, 'b': 10}</a:t>
            </a:r>
          </a:p>
          <a:p>
            <a:pPr marL="0" indent="0">
              <a:buNone/>
            </a:pPr>
            <a:r>
              <a:rPr lang="zh-CN" altLang="en-US" sz="2400"/>
              <a:t>dict2 = {'a': 11, 'b': 12}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accent2"/>
                </a:solidFill>
              </a:rPr>
              <a:t>print("Before: lst1={}, lst2={}, dict1={}, dict2={}".format(lst1, lst2, dict1, dict2))</a:t>
            </a:r>
          </a:p>
          <a:p>
            <a:pPr marL="0" indent="0">
              <a:buNone/>
            </a:pPr>
            <a:r>
              <a:rPr lang="zh-CN" altLang="en-US" sz="2400"/>
              <a:t>change2(lst1, lst2, dict1, dict2)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accent2"/>
                </a:solidFill>
              </a:rPr>
              <a:t>print("After: lst1={}, lst2={}, dict1={}, dict2={}".format(lst1, lst2, dict1, dict2))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45540" y="6263640"/>
            <a:ext cx="5108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抱歉，蓝色字体部分排版空间不够，只能分行了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37945" y="3933056"/>
            <a:ext cx="11302671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运行结果：</a:t>
            </a:r>
            <a:endParaRPr lang="en-US" altLang="zh-CN" sz="2400" dirty="0"/>
          </a:p>
          <a:p>
            <a:r>
              <a:rPr lang="en-US" altLang="zh-CN" sz="2400" dirty="0"/>
              <a:t>	====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Before: lst1=[5, 6], lst2=[7, 8], dict1={'b': 10, 'a': 9}, dict2={'b': 12, 'a': 11}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Inside: lst1=[10, 6], lst2=[1, 2], dict1={'b': 10, 'a': 100}, dict2={'b': 4, 'a': 3}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After: lst1=[10, 6], lst2=[7, 8], dict1={'b': 10, 'a': 100}, dict2={'b': 12, 'a': 11}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06AD71A-A403-4F88-B431-5B0530B0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3" grpId="0" animBg="1"/>
      <p:bldP spid="1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交换两个数的两种写法对比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/>
              <a:t>def swap1(a, b):</a:t>
            </a:r>
          </a:p>
          <a:p>
            <a:pPr marL="0" indent="0">
              <a:buNone/>
            </a:pPr>
            <a:r>
              <a:rPr lang="zh-CN" altLang="en-US" sz="2400" dirty="0"/>
              <a:t>    t = a</a:t>
            </a:r>
          </a:p>
          <a:p>
            <a:pPr marL="0" indent="0">
              <a:buNone/>
            </a:pPr>
            <a:r>
              <a:rPr lang="zh-CN" altLang="en-US" sz="2400" dirty="0"/>
              <a:t>    a = b</a:t>
            </a:r>
          </a:p>
          <a:p>
            <a:pPr marL="0" indent="0">
              <a:buNone/>
            </a:pPr>
            <a:r>
              <a:rPr lang="zh-CN" altLang="en-US" sz="2400" dirty="0"/>
              <a:t>    b = t</a:t>
            </a:r>
          </a:p>
          <a:p>
            <a:pPr marL="0" indent="0">
              <a:buNone/>
            </a:pPr>
            <a:r>
              <a:rPr lang="zh-CN" altLang="en-US" sz="2400" dirty="0"/>
              <a:t>a = 10</a:t>
            </a:r>
          </a:p>
          <a:p>
            <a:pPr marL="0" indent="0">
              <a:buNone/>
            </a:pPr>
            <a:r>
              <a:rPr lang="zh-CN" altLang="en-US" sz="2400" dirty="0"/>
              <a:t>b = 20</a:t>
            </a:r>
          </a:p>
          <a:p>
            <a:pPr marL="0" indent="0">
              <a:buNone/>
            </a:pPr>
            <a:r>
              <a:rPr lang="zh-CN" altLang="en-US" sz="2400" dirty="0"/>
              <a:t>print("Before:", a, b)</a:t>
            </a:r>
          </a:p>
          <a:p>
            <a:pPr marL="0" indent="0">
              <a:buNone/>
            </a:pPr>
            <a:r>
              <a:rPr lang="zh-CN" altLang="en-US" sz="2400" dirty="0"/>
              <a:t>swap1(a, b)</a:t>
            </a:r>
          </a:p>
          <a:p>
            <a:pPr marL="0" indent="0">
              <a:buNone/>
            </a:pPr>
            <a:r>
              <a:rPr lang="zh-CN" altLang="en-US" sz="2400" dirty="0"/>
              <a:t>print("After:", a, b)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def swap2(lst):</a:t>
            </a:r>
          </a:p>
          <a:p>
            <a:pPr marL="0" indent="0">
              <a:buNone/>
            </a:pPr>
            <a:r>
              <a:rPr lang="zh-CN" altLang="en-US" sz="2800" dirty="0"/>
              <a:t>   lst[0], lst[1] = lst[1], lst[0]</a:t>
            </a:r>
          </a:p>
          <a:p>
            <a:pPr marL="0" indent="0">
              <a:buNone/>
            </a:pPr>
            <a:r>
              <a:rPr lang="zh-CN" altLang="en-US" sz="2800" dirty="0"/>
              <a:t>lst = [10, 20]</a:t>
            </a:r>
          </a:p>
          <a:p>
            <a:pPr marL="0" indent="0">
              <a:buNone/>
            </a:pPr>
            <a:r>
              <a:rPr lang="zh-CN" altLang="en-US" sz="2800" dirty="0"/>
              <a:t>print("Before:", lst)</a:t>
            </a:r>
          </a:p>
          <a:p>
            <a:pPr marL="0" indent="0">
              <a:buNone/>
            </a:pPr>
            <a:r>
              <a:rPr lang="zh-CN" altLang="en-US" sz="2800" dirty="0"/>
              <a:t>swap2(lst)</a:t>
            </a:r>
          </a:p>
          <a:p>
            <a:pPr marL="0" indent="0">
              <a:buNone/>
            </a:pPr>
            <a:r>
              <a:rPr lang="zh-CN" altLang="en-US" sz="2800" dirty="0"/>
              <a:t>print("After:", lst)</a:t>
            </a:r>
          </a:p>
        </p:txBody>
      </p:sp>
      <p:sp>
        <p:nvSpPr>
          <p:cNvPr id="6" name="矩形 5"/>
          <p:cNvSpPr/>
          <p:nvPr/>
        </p:nvSpPr>
        <p:spPr>
          <a:xfrm>
            <a:off x="3599180" y="2829560"/>
            <a:ext cx="110109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×</a:t>
            </a:r>
          </a:p>
        </p:txBody>
      </p:sp>
      <p:sp>
        <p:nvSpPr>
          <p:cNvPr id="7" name="矩形 6"/>
          <p:cNvSpPr/>
          <p:nvPr/>
        </p:nvSpPr>
        <p:spPr>
          <a:xfrm>
            <a:off x="10320020" y="2953385"/>
            <a:ext cx="6845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23BB50-57B1-4F3E-8B98-4A017BE1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  <p:bldP spid="5" grpId="1" build="p"/>
      <p:bldP spid="6" grpId="0"/>
      <p:bldP spid="6" grpId="1"/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67DD2-9B46-4F05-8D65-4A814D43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C1DCF-30A1-400F-AF6F-51424215B2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运行结果：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====</a:t>
            </a:r>
          </a:p>
          <a:p>
            <a:pPr marL="0" indent="0">
              <a:buNone/>
            </a:pPr>
            <a:r>
              <a:rPr lang="en-US" altLang="zh-CN" sz="2400" dirty="0"/>
              <a:t>Before: 10 20</a:t>
            </a:r>
          </a:p>
          <a:p>
            <a:pPr marL="0" indent="0">
              <a:buNone/>
            </a:pPr>
            <a:r>
              <a:rPr lang="en-US" altLang="zh-CN" sz="2400" dirty="0"/>
              <a:t>After: 10 20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455AFA-E9E1-474E-8047-1FE77784CF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====</a:t>
            </a:r>
          </a:p>
          <a:p>
            <a:pPr marL="0" indent="0">
              <a:buNone/>
            </a:pPr>
            <a:r>
              <a:rPr lang="en-US" altLang="zh-CN" sz="2400" dirty="0"/>
              <a:t>Before: [10, 20]</a:t>
            </a:r>
          </a:p>
          <a:p>
            <a:pPr marL="0" indent="0">
              <a:buNone/>
            </a:pPr>
            <a:r>
              <a:rPr lang="en-US" altLang="zh-CN" sz="2400" dirty="0"/>
              <a:t>After: [20, 10]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A5E018-E780-49C9-B691-8FB28688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017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9.2.2 </a:t>
            </a:r>
            <a:r>
              <a:t>参数的类型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最普通的参数是</a:t>
            </a:r>
            <a:r>
              <a:rPr lang="en-US" altLang="zh-CN" dirty="0"/>
              <a:t>“</a:t>
            </a:r>
            <a:r>
              <a:rPr b="1" dirty="0" err="1"/>
              <a:t>位置</a:t>
            </a:r>
            <a:r>
              <a:rPr dirty="0" err="1"/>
              <a:t>参数</a:t>
            </a:r>
            <a:r>
              <a:rPr lang="en-US" altLang="zh-CN" dirty="0"/>
              <a:t>”</a:t>
            </a:r>
          </a:p>
        </p:txBody>
      </p:sp>
      <p:sp>
        <p:nvSpPr>
          <p:cNvPr id="4" name="矩形 3"/>
          <p:cNvSpPr/>
          <p:nvPr/>
        </p:nvSpPr>
        <p:spPr>
          <a:xfrm>
            <a:off x="1330913" y="1412777"/>
            <a:ext cx="9530173" cy="1107996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66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形参和实参按照位置对应</a:t>
            </a:r>
          </a:p>
        </p:txBody>
      </p:sp>
      <p:sp>
        <p:nvSpPr>
          <p:cNvPr id="6" name="椭圆形标注 5"/>
          <p:cNvSpPr/>
          <p:nvPr/>
        </p:nvSpPr>
        <p:spPr>
          <a:xfrm>
            <a:off x="6527800" y="3993673"/>
            <a:ext cx="3600450" cy="2016125"/>
          </a:xfrm>
          <a:prstGeom prst="wedgeEllipse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有没有不按照位置对应的参数呢？</a:t>
            </a:r>
          </a:p>
        </p:txBody>
      </p:sp>
      <p:sp>
        <p:nvSpPr>
          <p:cNvPr id="7" name="笑脸 6"/>
          <p:cNvSpPr/>
          <p:nvPr/>
        </p:nvSpPr>
        <p:spPr>
          <a:xfrm>
            <a:off x="9696450" y="5300980"/>
            <a:ext cx="431800" cy="431800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9F54C5-9ECB-415A-A13D-F3BFEAB0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 animBg="1"/>
      <p:bldP spid="6" grpId="1" animBg="1"/>
      <p:bldP spid="7" grpId="0" animBg="1"/>
      <p:bldP spid="7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t>默认值参数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1412777"/>
            <a:ext cx="10389271" cy="360039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def 函数名(..., </a:t>
            </a:r>
            <a:r>
              <a:rPr lang="zh-CN" altLang="en-US" dirty="0">
                <a:solidFill>
                  <a:srgbClr val="FF0000"/>
                </a:solidFill>
              </a:rPr>
              <a:t>形参名=默认值</a:t>
            </a:r>
            <a:r>
              <a:rPr lang="zh-CN" altLang="en-US" dirty="0"/>
              <a:t>):</a:t>
            </a:r>
          </a:p>
          <a:p>
            <a:pPr marL="457200" lvl="1" indent="0">
              <a:buNone/>
            </a:pPr>
            <a:r>
              <a:rPr lang="zh-CN" altLang="en-US" dirty="0"/>
              <a:t>    函数体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说明：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参数带默认值，就是可以省略的参数</a:t>
            </a:r>
          </a:p>
          <a:p>
            <a:pPr marL="457200" lvl="1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必须写在最右边哦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534675-1655-4742-A578-3FE40682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默认值参数举例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9661" y="1484784"/>
            <a:ext cx="10131426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def fun(x, y=10, z=20):</a:t>
            </a:r>
          </a:p>
          <a:p>
            <a:pPr marL="0" indent="0">
              <a:buNone/>
            </a:pPr>
            <a:r>
              <a:rPr lang="zh-CN" altLang="en-US" dirty="0"/>
              <a:t>    print("x=", x, "y=", y, "z=", z)</a:t>
            </a:r>
          </a:p>
          <a:p>
            <a:pPr marL="0" indent="0">
              <a:buNone/>
            </a:pPr>
            <a:r>
              <a:rPr lang="zh-CN" altLang="en-US" dirty="0"/>
              <a:t>fun(100, 200)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定义了</a:t>
            </a:r>
            <a:r>
              <a:rPr lang="en-US" altLang="zh-CN" sz="2800" dirty="0"/>
              <a:t>3</a:t>
            </a:r>
            <a:r>
              <a:rPr lang="zh-CN" altLang="en-US" sz="2800" dirty="0"/>
              <a:t>个形参</a:t>
            </a:r>
            <a:r>
              <a:rPr lang="en-US" altLang="zh-CN" sz="2800" dirty="0"/>
              <a:t>: </a:t>
            </a:r>
            <a:r>
              <a:rPr lang="en-US" altLang="zh-CN" sz="2800" dirty="0" err="1"/>
              <a:t>x,y,z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dirty="0"/>
              <a:t>调用时</a:t>
            </a:r>
            <a:r>
              <a:rPr lang="zh-CN" altLang="en-US" sz="2800" dirty="0"/>
              <a:t>只给了</a:t>
            </a:r>
            <a:r>
              <a:rPr lang="en-US" altLang="zh-CN" sz="2800" dirty="0"/>
              <a:t>2</a:t>
            </a:r>
            <a:r>
              <a:rPr lang="zh-CN" altLang="en-US" sz="2800" dirty="0"/>
              <a:t>个实参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结果：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x= 100 y= 200 z= 20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28DCAA-81A0-4492-9CD7-CC5B0627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关键字参数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格式：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形参名 = 实参值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sz="2800" dirty="0"/>
              <a:t>出现在函数调用中</a:t>
            </a:r>
          </a:p>
          <a:p>
            <a:pPr marL="457200" lvl="1" indent="0">
              <a:buNone/>
            </a:pPr>
            <a:r>
              <a:rPr lang="zh-CN" altLang="en-US" sz="2800" dirty="0"/>
              <a:t>跟默认值参数像不像？  </a:t>
            </a:r>
            <a:r>
              <a:rPr lang="en-US" altLang="zh-CN" dirty="0"/>
              <a:t>	</a:t>
            </a:r>
            <a:r>
              <a:rPr lang="zh-CN" altLang="en-US" sz="2800" dirty="0"/>
              <a:t>默认值参数是定义函数时写的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8CE409-46BB-46E5-A70C-EB5A0B67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关键字参数举例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1" y="1412777"/>
            <a:ext cx="10481866" cy="51799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/>
              <a:t>def fun(x, y):</a:t>
            </a:r>
          </a:p>
          <a:p>
            <a:pPr marL="0" indent="0">
              <a:buNone/>
            </a:pPr>
            <a:r>
              <a:rPr lang="zh-CN" altLang="en-US" dirty="0"/>
              <a:t>    print("x=", x, "y=", y)</a:t>
            </a:r>
          </a:p>
          <a:p>
            <a:pPr marL="0" indent="0">
              <a:buNone/>
            </a:pPr>
            <a:r>
              <a:rPr lang="zh-CN" altLang="en-US" dirty="0"/>
              <a:t>fun(y=10, x=20)</a:t>
            </a:r>
            <a:endParaRPr lang="en-US" altLang="zh-CN" dirty="0"/>
          </a:p>
          <a:p>
            <a:pPr marL="0" indent="0">
              <a:buNone/>
            </a:pPr>
            <a:endParaRPr lang="en-US" altLang="zh-CN" sz="3300" dirty="0"/>
          </a:p>
          <a:p>
            <a:pPr marL="0" indent="0">
              <a:buNone/>
            </a:pPr>
            <a:r>
              <a:rPr lang="zh-CN" altLang="en-US" sz="3300" dirty="0"/>
              <a:t>说明：</a:t>
            </a:r>
            <a:endParaRPr lang="en-US" altLang="zh-CN" sz="3300" dirty="0"/>
          </a:p>
          <a:p>
            <a:pPr marL="0" indent="0">
              <a:buNone/>
            </a:pPr>
            <a:r>
              <a:rPr lang="en-US" altLang="zh-CN" sz="3300" dirty="0"/>
              <a:t>	</a:t>
            </a:r>
            <a:r>
              <a:rPr lang="zh-CN" altLang="en-US" sz="3300" dirty="0"/>
              <a:t>形参的顺序：先 </a:t>
            </a:r>
            <a:r>
              <a:rPr lang="en-US" altLang="zh-CN" sz="3300" dirty="0"/>
              <a:t>x </a:t>
            </a:r>
            <a:r>
              <a:rPr lang="zh-CN" altLang="en-US" sz="3300" dirty="0"/>
              <a:t>后 </a:t>
            </a:r>
            <a:r>
              <a:rPr lang="en-US" altLang="zh-CN" sz="3300" dirty="0"/>
              <a:t>y</a:t>
            </a:r>
          </a:p>
          <a:p>
            <a:pPr marL="0" indent="0">
              <a:buNone/>
            </a:pPr>
            <a:r>
              <a:rPr lang="en-US" altLang="zh-CN" sz="3300" dirty="0"/>
              <a:t>	</a:t>
            </a:r>
            <a:r>
              <a:rPr lang="zh-CN" altLang="en-US" sz="3300" dirty="0"/>
              <a:t>实参的顺序：随意啦</a:t>
            </a:r>
            <a:endParaRPr lang="en-US" altLang="zh-CN" sz="3300" dirty="0"/>
          </a:p>
          <a:p>
            <a:pPr marL="0" indent="0">
              <a:buNone/>
            </a:pPr>
            <a:endParaRPr lang="en-US" altLang="zh-CN" sz="3300" dirty="0"/>
          </a:p>
          <a:p>
            <a:pPr marL="0" indent="0">
              <a:buNone/>
            </a:pPr>
            <a:r>
              <a:rPr lang="en-US" altLang="zh-CN" sz="3300" dirty="0"/>
              <a:t>	=====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sz="2800" dirty="0"/>
              <a:t>x= 20 y= 10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63B0FC-1B71-4D23-94B0-8466714A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t>可变长度参数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99184" y="1584960"/>
            <a:ext cx="8237175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400" dirty="0">
                <a:solidFill>
                  <a:schemeClr val="tx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两种：元组、字典！</a:t>
            </a:r>
          </a:p>
        </p:txBody>
      </p:sp>
      <p:sp>
        <p:nvSpPr>
          <p:cNvPr id="5" name="椭圆形标注 4"/>
          <p:cNvSpPr/>
          <p:nvPr/>
        </p:nvSpPr>
        <p:spPr>
          <a:xfrm>
            <a:off x="1343025" y="3932555"/>
            <a:ext cx="3600847" cy="1944370"/>
          </a:xfrm>
          <a:prstGeom prst="wedgeEllipseCallout">
            <a:avLst>
              <a:gd name="adj1" fmla="val 936"/>
              <a:gd name="adj2" fmla="val -1131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元组：元素一般是</a:t>
            </a:r>
            <a:r>
              <a:rPr lang="en-US" altLang="zh-CN" sz="2800" dirty="0"/>
              <a:t>1</a:t>
            </a:r>
            <a:r>
              <a:rPr lang="zh-CN" altLang="en-US" sz="2800" dirty="0"/>
              <a:t>个独立的数据，用</a:t>
            </a:r>
            <a:r>
              <a:rPr lang="en-US" altLang="zh-CN" sz="2800" dirty="0"/>
              <a:t>*</a:t>
            </a:r>
          </a:p>
        </p:txBody>
      </p:sp>
      <p:sp>
        <p:nvSpPr>
          <p:cNvPr id="6" name="椭圆形标注 5"/>
          <p:cNvSpPr/>
          <p:nvPr/>
        </p:nvSpPr>
        <p:spPr>
          <a:xfrm>
            <a:off x="6239510" y="3717033"/>
            <a:ext cx="3456890" cy="2088138"/>
          </a:xfrm>
          <a:prstGeom prst="wedgeEllipseCallout">
            <a:avLst>
              <a:gd name="adj1" fmla="val -74928"/>
              <a:gd name="adj2" fmla="val -1040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字典：元素是一对数据，</a:t>
            </a:r>
            <a:br>
              <a:rPr lang="en-US" altLang="zh-CN" sz="2800" dirty="0"/>
            </a:br>
            <a:r>
              <a:rPr lang="zh-CN" altLang="en-US" sz="2800" dirty="0"/>
              <a:t>用</a:t>
            </a:r>
            <a:r>
              <a:rPr lang="en-US" altLang="zh-CN" sz="2800" dirty="0"/>
              <a:t>**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00365A-B78F-478B-8824-B8BF7DC6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97D53C-8671-453C-9670-3417DA68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332656"/>
            <a:ext cx="10422307" cy="5212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b="1" dirty="0"/>
              <a:t>元组作为可变长度参数的示例</a:t>
            </a:r>
            <a:endParaRPr lang="en-US" altLang="zh-CN" sz="3600" b="1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def sum(*num): </a:t>
            </a:r>
            <a:r>
              <a:rPr lang="en-US" altLang="zh-CN" sz="2800" dirty="0"/>
              <a:t>	#</a:t>
            </a:r>
            <a:r>
              <a:rPr lang="zh-CN" altLang="en-US" sz="2800" dirty="0"/>
              <a:t>形参看成元组</a:t>
            </a:r>
          </a:p>
          <a:p>
            <a:pPr marL="0" indent="0">
              <a:buNone/>
            </a:pPr>
            <a:r>
              <a:rPr lang="zh-CN" altLang="en-US" sz="2800" dirty="0"/>
              <a:t>    s = 0</a:t>
            </a:r>
          </a:p>
          <a:p>
            <a:pPr marL="0" indent="0">
              <a:buNone/>
            </a:pPr>
            <a:r>
              <a:rPr lang="zh-CN" altLang="en-US" sz="2800" dirty="0"/>
              <a:t>    for i in num:   </a:t>
            </a:r>
            <a:r>
              <a:rPr lang="en-US" altLang="zh-CN" sz="2800" dirty="0"/>
              <a:t># </a:t>
            </a:r>
            <a:r>
              <a:rPr lang="zh-CN" altLang="en-US" sz="2800" dirty="0"/>
              <a:t>遍历元组</a:t>
            </a:r>
          </a:p>
          <a:p>
            <a:pPr marL="0" indent="0">
              <a:buNone/>
            </a:pPr>
            <a:r>
              <a:rPr lang="zh-CN" altLang="en-US" sz="2800" dirty="0"/>
              <a:t>        s = s + i</a:t>
            </a:r>
          </a:p>
          <a:p>
            <a:pPr marL="0" indent="0">
              <a:buNone/>
            </a:pPr>
            <a:r>
              <a:rPr lang="zh-CN" altLang="en-US" sz="2800" dirty="0"/>
              <a:t>    print("sum=", s)</a:t>
            </a:r>
          </a:p>
          <a:p>
            <a:pPr marL="0" indent="0">
              <a:buNone/>
            </a:pPr>
            <a:r>
              <a:rPr lang="zh-CN" altLang="en-US" sz="2800" dirty="0"/>
              <a:t>    return s</a:t>
            </a:r>
          </a:p>
          <a:p>
            <a:pPr marL="0" indent="0">
              <a:buNone/>
            </a:pP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A0CE0D-C3B4-4530-ACAB-87E288AF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9211554-2167-47EB-9351-224BE4FE4DC6}"/>
              </a:ext>
            </a:extLst>
          </p:cNvPr>
          <p:cNvSpPr txBox="1">
            <a:spLocks/>
          </p:cNvSpPr>
          <p:nvPr/>
        </p:nvSpPr>
        <p:spPr>
          <a:xfrm>
            <a:off x="6287344" y="908720"/>
            <a:ext cx="5904656" cy="364913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/>
              <a:buNone/>
            </a:pPr>
            <a:r>
              <a:rPr lang="zh-CN" altLang="en-US" sz="2800" dirty="0">
                <a:sym typeface="+mn-ea"/>
              </a:rPr>
              <a:t>sum(1, 2, 3, 4, 5)   </a:t>
            </a:r>
            <a:r>
              <a:rPr lang="en-US" altLang="zh-CN" sz="2800" dirty="0">
                <a:sym typeface="+mn-ea"/>
              </a:rPr>
              <a:t>#</a:t>
            </a:r>
            <a:r>
              <a:rPr lang="zh-CN" altLang="en-US" sz="2800" dirty="0"/>
              <a:t>实参看成元组元素</a:t>
            </a:r>
          </a:p>
          <a:p>
            <a:pPr marL="0" indent="0" fontAlgn="auto">
              <a:buFont typeface="Arial"/>
              <a:buNone/>
            </a:pPr>
            <a:r>
              <a:rPr lang="zh-CN" altLang="en-US" sz="2800" dirty="0">
                <a:sym typeface="+mn-ea"/>
              </a:rPr>
              <a:t>sum(15, 30, 10)</a:t>
            </a:r>
            <a:endParaRPr lang="zh-CN" altLang="en-US" sz="2800" dirty="0"/>
          </a:p>
          <a:p>
            <a:pPr marL="0" indent="0" fontAlgn="auto">
              <a:buFont typeface="Arial"/>
              <a:buNone/>
            </a:pPr>
            <a:r>
              <a:rPr lang="zh-CN" altLang="en-US" sz="2800" dirty="0">
                <a:sym typeface="+mn-ea"/>
              </a:rPr>
              <a:t>sum()</a:t>
            </a:r>
            <a:endParaRPr lang="en-US" altLang="zh-CN" sz="2800" dirty="0">
              <a:sym typeface="+mn-ea"/>
            </a:endParaRPr>
          </a:p>
          <a:p>
            <a:pPr marL="0" indent="0" fontAlgn="auto">
              <a:buFont typeface="Arial"/>
              <a:buNone/>
            </a:pPr>
            <a:r>
              <a:rPr lang="zh-CN" altLang="en-US" sz="2800" dirty="0">
                <a:sym typeface="+mn-ea"/>
              </a:rPr>
              <a:t>numbers = [1, 2, 3]</a:t>
            </a:r>
            <a:endParaRPr lang="zh-CN" altLang="en-US" sz="2800" dirty="0"/>
          </a:p>
          <a:p>
            <a:pPr marL="0" indent="0" fontAlgn="auto">
              <a:buFont typeface="Arial"/>
              <a:buNone/>
            </a:pPr>
            <a:r>
              <a:rPr lang="zh-CN" altLang="en-US" sz="2800" dirty="0">
                <a:sym typeface="+mn-ea"/>
              </a:rPr>
              <a:t>sum(*numbers)   </a:t>
            </a:r>
            <a:endParaRPr lang="en-US" altLang="zh-CN" sz="2800" dirty="0">
              <a:sym typeface="+mn-ea"/>
            </a:endParaRPr>
          </a:p>
          <a:p>
            <a:pPr marL="0" indent="0" fontAlgn="auto">
              <a:buFont typeface="Arial"/>
              <a:buNone/>
            </a:pPr>
            <a:r>
              <a:rPr lang="en-US" altLang="zh-CN" sz="2800" dirty="0">
                <a:sym typeface="+mn-ea"/>
              </a:rPr>
              <a:t>	# #</a:t>
            </a:r>
            <a:r>
              <a:rPr lang="zh-CN" altLang="en-US" sz="2800" dirty="0"/>
              <a:t>实参是元组或列表，前面加 </a:t>
            </a:r>
            <a:r>
              <a:rPr lang="en-US" altLang="zh-CN" sz="2800" dirty="0"/>
              <a:t>*</a:t>
            </a:r>
            <a:endParaRPr lang="zh-CN" altLang="en-US" sz="2800" dirty="0"/>
          </a:p>
          <a:p>
            <a:pPr marL="0" indent="0" fontAlgn="auto">
              <a:buFont typeface="Arial"/>
              <a:buNone/>
            </a:pPr>
            <a:endParaRPr lang="zh-CN" altLang="en-US" sz="2800" dirty="0"/>
          </a:p>
          <a:p>
            <a:pPr marL="0" indent="0" fontAlgn="auto">
              <a:buFont typeface="Arial"/>
              <a:buNone/>
            </a:pP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A374BA-31B3-40C5-A725-67707FBDE719}"/>
              </a:ext>
            </a:extLst>
          </p:cNvPr>
          <p:cNvSpPr txBox="1"/>
          <p:nvPr/>
        </p:nvSpPr>
        <p:spPr>
          <a:xfrm>
            <a:off x="3059446" y="4421591"/>
            <a:ext cx="454208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	====</a:t>
            </a:r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sum= 15</a:t>
            </a:r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sum= 55</a:t>
            </a:r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sum= 0</a:t>
            </a:r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sum= 6</a:t>
            </a:r>
          </a:p>
        </p:txBody>
      </p:sp>
    </p:spTree>
    <p:extLst>
      <p:ext uri="{BB962C8B-B14F-4D97-AF65-F5344CB8AC3E}">
        <p14:creationId xmlns:p14="http://schemas.microsoft.com/office/powerpoint/2010/main" val="338581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908720"/>
            <a:ext cx="10389271" cy="4378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def total(**t):   </a:t>
            </a:r>
            <a:r>
              <a:rPr lang="en-US" altLang="zh-CN" dirty="0"/>
              <a:t>#</a:t>
            </a:r>
            <a:r>
              <a:rPr lang="zh-CN" altLang="en-US" sz="2800" dirty="0"/>
              <a:t>形参看成字典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s = 0</a:t>
            </a:r>
          </a:p>
          <a:p>
            <a:pPr marL="0" indent="0">
              <a:buNone/>
            </a:pPr>
            <a:r>
              <a:rPr lang="zh-CN" altLang="en-US" dirty="0"/>
              <a:t>    for i in t.values():   </a:t>
            </a:r>
            <a:r>
              <a:rPr lang="en-US" altLang="zh-CN" dirty="0"/>
              <a:t>#</a:t>
            </a:r>
            <a:r>
              <a:rPr lang="zh-CN" altLang="en-US" sz="2800" dirty="0"/>
              <a:t>遍历字典的</a:t>
            </a:r>
            <a:r>
              <a:rPr lang="en-US" altLang="zh-CN" sz="2800" dirty="0"/>
              <a:t>“</a:t>
            </a:r>
            <a:r>
              <a:rPr lang="zh-CN" altLang="en-US" sz="2800" dirty="0">
                <a:sym typeface="+mn-ea"/>
              </a:rPr>
              <a:t>值</a:t>
            </a:r>
            <a:r>
              <a:rPr lang="en-US" altLang="zh-CN" sz="2800" dirty="0"/>
              <a:t>”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s += i</a:t>
            </a:r>
          </a:p>
          <a:p>
            <a:pPr marL="0" indent="0">
              <a:buNone/>
            </a:pPr>
            <a:r>
              <a:rPr lang="zh-CN" altLang="en-US" dirty="0"/>
              <a:t>    return s</a:t>
            </a:r>
          </a:p>
          <a:p>
            <a:pPr marL="0" indent="0">
              <a:buNone/>
            </a:pPr>
            <a:r>
              <a:rPr lang="zh-CN" altLang="en-US" dirty="0"/>
              <a:t>sum = total(a=10, b=20, c=30)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		# </a:t>
            </a:r>
            <a:r>
              <a:rPr lang="zh-CN" altLang="en-US" sz="2800" dirty="0"/>
              <a:t>按</a:t>
            </a:r>
            <a:r>
              <a:rPr lang="en-US" altLang="zh-CN" sz="2800" dirty="0"/>
              <a:t>“</a:t>
            </a:r>
            <a:r>
              <a:rPr lang="zh-CN" altLang="en-US" sz="2800" dirty="0"/>
              <a:t>形参</a:t>
            </a:r>
            <a:r>
              <a:rPr lang="en-US" altLang="zh-CN" sz="2800" dirty="0"/>
              <a:t>=</a:t>
            </a:r>
            <a:r>
              <a:rPr lang="zh-CN" altLang="en-US" sz="2800" dirty="0"/>
              <a:t>实参</a:t>
            </a:r>
            <a:r>
              <a:rPr lang="en-US" altLang="zh-CN" sz="2800" dirty="0"/>
              <a:t>”</a:t>
            </a:r>
            <a:r>
              <a:rPr lang="zh-CN" altLang="en-US" sz="2800" dirty="0"/>
              <a:t>方式调用，形参是</a:t>
            </a:r>
            <a:r>
              <a:rPr lang="en-US" altLang="zh-CN" sz="2800" dirty="0"/>
              <a:t>“</a:t>
            </a:r>
            <a:r>
              <a:rPr lang="zh-CN" altLang="en-US" sz="2800" dirty="0"/>
              <a:t>键</a:t>
            </a:r>
            <a:r>
              <a:rPr lang="en-US" altLang="zh-CN" sz="2800" dirty="0"/>
              <a:t>”</a:t>
            </a:r>
            <a:r>
              <a:rPr lang="zh-CN" altLang="en-US" sz="2800" dirty="0"/>
              <a:t>，实参是</a:t>
            </a:r>
            <a:r>
              <a:rPr lang="en-US" altLang="zh-CN" sz="2800" dirty="0"/>
              <a:t>“</a:t>
            </a:r>
            <a:r>
              <a:rPr lang="zh-CN" altLang="en-US" sz="2800" dirty="0"/>
              <a:t>值</a:t>
            </a:r>
            <a:r>
              <a:rPr lang="en-US" altLang="zh-CN" sz="2800" dirty="0"/>
              <a:t>”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print("sum=", sum)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375920" y="5207706"/>
            <a:ext cx="345638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sum= 60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FED00BD-956B-46B1-B2C8-CCC89279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598ED5AD-33E8-4007-9174-1A2B8137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9.3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函数的返回值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BFBFC0-C9BC-4FEF-9012-599FBBDE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9.3.1 return</a:t>
            </a:r>
            <a:r>
              <a:t>语句和函数返回值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412777"/>
            <a:ext cx="10265842" cy="352839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return [函数返回值]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sz="2800" dirty="0"/>
              <a:t>代表函数处理的最终结果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zh-CN" altLang="en-US" sz="2800" b="1" dirty="0"/>
              <a:t>返回值可以是任意类型，甚至没有返回值也行（此时得到的是</a:t>
            </a:r>
            <a:r>
              <a:rPr lang="en-US" altLang="zh-CN" sz="2800" b="1" dirty="0"/>
              <a:t>None</a:t>
            </a:r>
            <a:r>
              <a:rPr lang="zh-CN" altLang="en-US" sz="2800" b="1" dirty="0"/>
              <a:t>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FFD8C-1C10-435A-B112-04DF01D9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9-1 求多个数中的最大值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zh-CN" altLang="en-US" dirty="0"/>
              <a:t>def my_max(x, y, *z):  </a:t>
            </a:r>
            <a:r>
              <a:rPr lang="en-US" altLang="zh-CN" dirty="0"/>
              <a:t>		   # </a:t>
            </a:r>
            <a:r>
              <a:rPr lang="zh-CN" altLang="en-US" sz="2800" b="1" dirty="0"/>
              <a:t>不定长参数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max_value = x              # 假定第一个参数是最大值</a:t>
            </a:r>
          </a:p>
          <a:p>
            <a:pPr marL="0" indent="0">
              <a:buNone/>
            </a:pPr>
            <a:r>
              <a:rPr lang="zh-CN" altLang="en-US" dirty="0"/>
              <a:t>    if y &gt; max_value:          # 第二个参数跟现有的最大值比较</a:t>
            </a:r>
          </a:p>
          <a:p>
            <a:pPr marL="0" indent="0">
              <a:buNone/>
            </a:pPr>
            <a:r>
              <a:rPr lang="zh-CN" altLang="en-US" dirty="0"/>
              <a:t>        max_value = y          # 更新最大值</a:t>
            </a:r>
          </a:p>
          <a:p>
            <a:pPr marL="0" indent="0">
              <a:buNone/>
            </a:pPr>
            <a:r>
              <a:rPr lang="zh-CN" altLang="en-US" dirty="0"/>
              <a:t>    for i in z:                # 遍历元组</a:t>
            </a:r>
            <a:r>
              <a:rPr lang="en-US" altLang="zh-CN" dirty="0"/>
              <a:t>z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if i &gt; max_value:</a:t>
            </a:r>
          </a:p>
          <a:p>
            <a:pPr marL="0" indent="0">
              <a:buNone/>
            </a:pPr>
            <a:r>
              <a:rPr lang="zh-CN" altLang="en-US" dirty="0"/>
              <a:t>            max_value = i</a:t>
            </a:r>
          </a:p>
          <a:p>
            <a:pPr marL="0" indent="0">
              <a:buNone/>
            </a:pPr>
            <a:r>
              <a:rPr lang="zh-CN" altLang="en-US" dirty="0"/>
              <a:t>    return max_value</a:t>
            </a:r>
          </a:p>
          <a:p>
            <a:pPr marL="0" indent="0">
              <a:buNone/>
            </a:pPr>
            <a:r>
              <a:rPr lang="zh-CN" altLang="en-US" dirty="0"/>
              <a:t>print(my_max(3, 6, 9, 5, 7, 2))</a:t>
            </a:r>
          </a:p>
        </p:txBody>
      </p:sp>
      <p:sp>
        <p:nvSpPr>
          <p:cNvPr id="7" name="笑脸 6"/>
          <p:cNvSpPr/>
          <p:nvPr/>
        </p:nvSpPr>
        <p:spPr>
          <a:xfrm>
            <a:off x="10200005" y="1052195"/>
            <a:ext cx="648335" cy="648335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6D2D2280-2693-4762-AF4A-DB1AEED5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9.3.2 </a:t>
            </a:r>
            <a:r>
              <a:t>多条</a:t>
            </a:r>
            <a:r>
              <a:rPr lang="en-US" altLang="zh-CN"/>
              <a:t>return</a:t>
            </a:r>
            <a:r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1412777"/>
            <a:ext cx="10389271" cy="1944215"/>
          </a:xfrm>
        </p:spPr>
        <p:txBody>
          <a:bodyPr/>
          <a:lstStyle/>
          <a:p>
            <a:r>
              <a:rPr lang="zh-CN" altLang="en-US" dirty="0"/>
              <a:t>只有</a:t>
            </a:r>
            <a:r>
              <a:rPr lang="en-US" altLang="zh-CN" sz="2800" dirty="0"/>
              <a:t>return</a:t>
            </a:r>
            <a:r>
              <a:rPr lang="zh-CN" altLang="en-US" sz="2800" dirty="0"/>
              <a:t>，后面不出现任何值</a:t>
            </a:r>
            <a:r>
              <a:rPr lang="en-US" altLang="zh-CN" sz="2800" dirty="0"/>
              <a:t>,</a:t>
            </a:r>
            <a:r>
              <a:rPr lang="zh-CN" altLang="en-US" sz="2800" dirty="0"/>
              <a:t>等同于 </a:t>
            </a:r>
            <a:r>
              <a:rPr lang="en-US" altLang="zh-CN" sz="2800" dirty="0"/>
              <a:t>return None</a:t>
            </a:r>
          </a:p>
          <a:p>
            <a:r>
              <a:rPr lang="zh-CN" altLang="en-US" dirty="0"/>
              <a:t>如果</a:t>
            </a:r>
            <a:r>
              <a:rPr lang="zh-CN" altLang="en-US" sz="2800" dirty="0"/>
              <a:t>整个</a:t>
            </a:r>
            <a:r>
              <a:rPr lang="zh-CN" altLang="en-US" dirty="0"/>
              <a:t>函数没有任何</a:t>
            </a:r>
            <a:r>
              <a:rPr lang="en-US" altLang="zh-CN" dirty="0"/>
              <a:t>return</a:t>
            </a:r>
            <a:r>
              <a:rPr lang="zh-CN" altLang="en-US" dirty="0"/>
              <a:t>语句，等同于 </a:t>
            </a:r>
            <a:r>
              <a:rPr lang="en-US" altLang="zh-CN" dirty="0"/>
              <a:t>return None</a:t>
            </a:r>
            <a:endParaRPr lang="en-US" dirty="0"/>
          </a:p>
          <a:p>
            <a:r>
              <a:rPr dirty="0" err="1"/>
              <a:t>函数</a:t>
            </a:r>
            <a:r>
              <a:rPr lang="zh-CN" altLang="en-US" dirty="0"/>
              <a:t>的</a:t>
            </a:r>
            <a:r>
              <a:rPr lang="en-US" altLang="zh-CN" dirty="0" err="1"/>
              <a:t>return</a:t>
            </a:r>
            <a:r>
              <a:rPr dirty="0" err="1"/>
              <a:t>语句</a:t>
            </a:r>
            <a:r>
              <a:rPr lang="zh-CN" altLang="en-US" dirty="0"/>
              <a:t>可以</a:t>
            </a:r>
            <a:r>
              <a:rPr dirty="0" err="1"/>
              <a:t>是任意</a:t>
            </a:r>
            <a:r>
              <a:rPr lang="zh-CN" altLang="en-US" b="1" dirty="0">
                <a:solidFill>
                  <a:srgbClr val="FF0000"/>
                </a:solidFill>
              </a:rPr>
              <a:t>多个：</a:t>
            </a:r>
            <a:endParaRPr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930900" y="2996565"/>
            <a:ext cx="2181225" cy="441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374774" y="3356992"/>
            <a:ext cx="8836025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存在多条</a:t>
            </a:r>
            <a:r>
              <a:rPr lang="en-US" altLang="zh-CN" sz="44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return</a:t>
            </a:r>
            <a:r>
              <a:rPr lang="zh-CN" altLang="en-US" sz="44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语句时，第一次执行到</a:t>
            </a:r>
            <a:r>
              <a:rPr lang="en-US" altLang="zh-CN" sz="44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return</a:t>
            </a:r>
            <a:r>
              <a:rPr lang="zh-CN" altLang="en-US" sz="44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语句就结束整个函数体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75B3F4-FA70-4095-9F41-025CCAE4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9-2 求两个数中的较大值，两者相等时输出“Equal”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1189951"/>
            <a:ext cx="10389271" cy="5479409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zh-CN" altLang="en-US" dirty="0"/>
              <a:t>def larger(x, y):</a:t>
            </a:r>
          </a:p>
          <a:p>
            <a:pPr marL="0" indent="0">
              <a:buNone/>
            </a:pPr>
            <a:r>
              <a:rPr lang="zh-CN" altLang="en-US" dirty="0"/>
              <a:t>    if x &gt; y:</a:t>
            </a:r>
          </a:p>
          <a:p>
            <a:pPr marL="0" indent="0">
              <a:buNone/>
            </a:pPr>
            <a:r>
              <a:rPr lang="zh-CN" altLang="en-US" dirty="0"/>
              <a:t>        return x</a:t>
            </a:r>
          </a:p>
          <a:p>
            <a:pPr marL="0" indent="0">
              <a:buNone/>
            </a:pPr>
            <a:r>
              <a:rPr lang="zh-CN" altLang="en-US" dirty="0"/>
              <a:t>    elif x == y:</a:t>
            </a:r>
          </a:p>
          <a:p>
            <a:pPr marL="0" indent="0">
              <a:buNone/>
            </a:pPr>
            <a:r>
              <a:rPr lang="zh-CN" altLang="en-US" dirty="0"/>
              <a:t>        return "Equal"</a:t>
            </a:r>
          </a:p>
          <a:p>
            <a:pPr marL="0" indent="0">
              <a:buNone/>
            </a:pPr>
            <a:r>
              <a:rPr lang="zh-CN" altLang="en-US" dirty="0"/>
              <a:t>    else:</a:t>
            </a:r>
          </a:p>
          <a:p>
            <a:pPr marL="0" indent="0">
              <a:buNone/>
            </a:pPr>
            <a:r>
              <a:rPr lang="zh-CN" altLang="en-US" dirty="0"/>
              <a:t>        return y</a:t>
            </a:r>
          </a:p>
          <a:p>
            <a:pPr marL="0" indent="0">
              <a:buNone/>
            </a:pPr>
            <a:r>
              <a:rPr lang="zh-CN" altLang="en-US" dirty="0"/>
              <a:t>a, b = input("输入两个数，用空格隔开：").split(" ")</a:t>
            </a:r>
          </a:p>
          <a:p>
            <a:pPr marL="0" indent="0">
              <a:buNone/>
            </a:pPr>
            <a:r>
              <a:rPr lang="zh-CN" altLang="en-US" dirty="0"/>
              <a:t>print(larger(a, b))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zh-CN" altLang="en-US" sz="2800" dirty="0"/>
              <a:t>三条</a:t>
            </a:r>
            <a:r>
              <a:rPr lang="en-US" altLang="zh-CN" sz="2800" dirty="0"/>
              <a:t>return</a:t>
            </a:r>
            <a:r>
              <a:rPr lang="zh-CN" altLang="en-US" sz="2800" dirty="0"/>
              <a:t>语句只能有一个被执行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E5DBCD1-9042-4B28-89FF-00803AB4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9.3.3 </a:t>
            </a:r>
            <a:r>
              <a:t>返回多个值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1196752"/>
            <a:ext cx="10389271" cy="5688631"/>
          </a:xfrm>
        </p:spPr>
        <p:txBody>
          <a:bodyPr>
            <a:normAutofit fontScale="97500"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9-3 </a:t>
            </a:r>
            <a:r>
              <a:rPr lang="en-US" altLang="zh-CN" dirty="0" err="1"/>
              <a:t>求三门课程的总分和平均分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def grade(math, English, Chinese):</a:t>
            </a:r>
          </a:p>
          <a:p>
            <a:pPr marL="457200" lvl="1" indent="0">
              <a:buNone/>
            </a:pPr>
            <a:r>
              <a:rPr lang="en-US" altLang="zh-CN" dirty="0"/>
              <a:t>    Sum = math + English + Chinese</a:t>
            </a:r>
          </a:p>
          <a:p>
            <a:pPr marL="457200" lvl="1" indent="0">
              <a:buNone/>
            </a:pPr>
            <a:r>
              <a:rPr lang="en-US" altLang="zh-CN" dirty="0"/>
              <a:t>    Avg = Sum / 3</a:t>
            </a:r>
          </a:p>
          <a:p>
            <a:pPr marL="457200" lvl="1" indent="0">
              <a:buNone/>
            </a:pPr>
            <a:r>
              <a:rPr lang="en-US" altLang="zh-CN" dirty="0"/>
              <a:t>    return Sum, Avg</a:t>
            </a:r>
          </a:p>
          <a:p>
            <a:pPr marL="457200" lvl="1" indent="0">
              <a:buNone/>
            </a:pPr>
            <a:r>
              <a:rPr lang="en-US" altLang="zh-CN" dirty="0" err="1"/>
              <a:t>sum_grade</a:t>
            </a:r>
            <a:r>
              <a:rPr lang="en-US" altLang="zh-CN" dirty="0"/>
              <a:t>, </a:t>
            </a:r>
            <a:r>
              <a:rPr lang="en-US" altLang="zh-CN" dirty="0" err="1"/>
              <a:t>avg_grade</a:t>
            </a:r>
            <a:r>
              <a:rPr lang="en-US" altLang="zh-CN" dirty="0"/>
              <a:t> = grade(90, 78, 84)   </a:t>
            </a:r>
          </a:p>
          <a:p>
            <a:pPr marL="457200" lvl="1" indent="0">
              <a:buNone/>
            </a:pPr>
            <a:r>
              <a:rPr lang="en-US" altLang="zh-CN" dirty="0"/>
              <a:t>print("</a:t>
            </a:r>
            <a:r>
              <a:rPr lang="en-US" altLang="zh-CN" dirty="0" err="1"/>
              <a:t>总分</a:t>
            </a:r>
            <a:r>
              <a:rPr lang="en-US" altLang="zh-CN" dirty="0"/>
              <a:t>:", </a:t>
            </a:r>
            <a:r>
              <a:rPr lang="en-US" altLang="zh-CN" dirty="0" err="1"/>
              <a:t>sum_grade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print("</a:t>
            </a:r>
            <a:r>
              <a:rPr lang="en-US" altLang="zh-CN" dirty="0" err="1"/>
              <a:t>平均分</a:t>
            </a:r>
            <a:r>
              <a:rPr lang="en-US" altLang="zh-CN" dirty="0"/>
              <a:t>:", </a:t>
            </a:r>
            <a:r>
              <a:rPr lang="en-US" altLang="zh-CN" dirty="0" err="1"/>
              <a:t>avg_grade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zh-CN" altLang="en-US" sz="2800" dirty="0"/>
              <a:t>说明：这多个值构成了一个元组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A60009-2671-482B-9835-BE80BE49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9.4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变量的作用域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A7DCA9-1967-40C1-92BB-64099E34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什么是作用域？</a:t>
            </a:r>
          </a:p>
        </p:txBody>
      </p:sp>
      <p:sp>
        <p:nvSpPr>
          <p:cNvPr id="4" name="椭圆形标注 3"/>
          <p:cNvSpPr/>
          <p:nvPr/>
        </p:nvSpPr>
        <p:spPr>
          <a:xfrm>
            <a:off x="3935730" y="764540"/>
            <a:ext cx="3456305" cy="1151890"/>
          </a:xfrm>
          <a:prstGeom prst="wedgeEllipseCallout">
            <a:avLst>
              <a:gd name="adj1" fmla="val -60325"/>
              <a:gd name="adj2" fmla="val -4647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起作用的范围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071495" y="2254885"/>
            <a:ext cx="4074160" cy="4248150"/>
            <a:chOff x="4837" y="3551"/>
            <a:chExt cx="6416" cy="6690"/>
          </a:xfrm>
          <a:noFill/>
        </p:grpSpPr>
        <p:sp>
          <p:nvSpPr>
            <p:cNvPr id="5" name="矩形 4"/>
            <p:cNvSpPr/>
            <p:nvPr/>
          </p:nvSpPr>
          <p:spPr>
            <a:xfrm>
              <a:off x="4837" y="3551"/>
              <a:ext cx="6416" cy="669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某工厂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6371" y="5214"/>
              <a:ext cx="3628" cy="10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一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车间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6371" y="6831"/>
              <a:ext cx="3628" cy="10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二车间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371" y="8432"/>
              <a:ext cx="3628" cy="10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三车间</a:t>
              </a:r>
            </a:p>
          </p:txBody>
        </p:sp>
      </p:grpSp>
      <p:sp>
        <p:nvSpPr>
          <p:cNvPr id="10" name="线形标注 1 9"/>
          <p:cNvSpPr/>
          <p:nvPr/>
        </p:nvSpPr>
        <p:spPr>
          <a:xfrm>
            <a:off x="8543925" y="1556385"/>
            <a:ext cx="2376170" cy="1152525"/>
          </a:xfrm>
          <a:prstGeom prst="borderCallout1">
            <a:avLst>
              <a:gd name="adj1" fmla="val 33719"/>
              <a:gd name="adj2" fmla="val 240"/>
              <a:gd name="adj3" fmla="val 101597"/>
              <a:gd name="adj4" fmla="val -6737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厂长、会计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（全局的）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543925" y="3140710"/>
            <a:ext cx="2376170" cy="2603500"/>
            <a:chOff x="13455" y="4946"/>
            <a:chExt cx="3742" cy="4100"/>
          </a:xfrm>
        </p:grpSpPr>
        <p:sp>
          <p:nvSpPr>
            <p:cNvPr id="11" name="线形标注 1 10"/>
            <p:cNvSpPr/>
            <p:nvPr/>
          </p:nvSpPr>
          <p:spPr>
            <a:xfrm>
              <a:off x="13455" y="4946"/>
              <a:ext cx="3742" cy="1701"/>
            </a:xfrm>
            <a:prstGeom prst="borderCallout1">
              <a:avLst>
                <a:gd name="adj1" fmla="val 24573"/>
                <a:gd name="adj2" fmla="val 240"/>
                <a:gd name="adj3" fmla="val 58788"/>
                <a:gd name="adj4" fmla="val -97755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一车间主任</a:t>
              </a:r>
            </a:p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（局部的）</a:t>
              </a:r>
            </a:p>
          </p:txBody>
        </p:sp>
        <p:sp>
          <p:nvSpPr>
            <p:cNvPr id="12" name="线形标注 1 11"/>
            <p:cNvSpPr/>
            <p:nvPr/>
          </p:nvSpPr>
          <p:spPr>
            <a:xfrm>
              <a:off x="13455" y="7346"/>
              <a:ext cx="3742" cy="1701"/>
            </a:xfrm>
            <a:prstGeom prst="borderCallout1">
              <a:avLst>
                <a:gd name="adj1" fmla="val 24573"/>
                <a:gd name="adj2" fmla="val 240"/>
                <a:gd name="adj3" fmla="val -2233"/>
                <a:gd name="adj4" fmla="val -97755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二车间主任</a:t>
              </a:r>
            </a:p>
            <a:p>
              <a:pPr algn="ctr"/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（局部的）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4D4675-90C4-4DB5-8C4F-B607D59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" grpId="0" animBg="1"/>
      <p:bldP spid="10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9719" y="254492"/>
            <a:ext cx="10147301" cy="586740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9.4.1 </a:t>
            </a:r>
            <a:r>
              <a:rPr sz="2800" dirty="0" err="1"/>
              <a:t>局部变量</a:t>
            </a:r>
            <a:endParaRPr sz="280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400" y="1002051"/>
            <a:ext cx="6912973" cy="5122837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def fun1(x):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a = 10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	#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局部变量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x = 20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	#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局部变量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print("Inside fun1:a=", a, "x=", x)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def fun2(x):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a = 100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	 #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局部变量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x = x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5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#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局部变量</a:t>
            </a:r>
          </a:p>
          <a:p>
            <a:pPr marL="457200" lvl="1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print("Inside fun2:a=", a, "x=", x)</a:t>
            </a:r>
          </a:p>
          <a:p>
            <a:pPr marL="457200" lvl="1" indent="0"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36" y="859790"/>
            <a:ext cx="4392488" cy="5388610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CN" sz="2400" dirty="0" err="1">
                <a:sym typeface="+mn-ea"/>
              </a:rPr>
              <a:t>a,x</a:t>
            </a:r>
            <a:r>
              <a:rPr lang="en-US" altLang="zh-CN" sz="2400" dirty="0">
                <a:sym typeface="+mn-ea"/>
              </a:rPr>
              <a:t> = -1,-2</a:t>
            </a:r>
          </a:p>
          <a:p>
            <a:pPr marL="457200" lvl="1" indent="0">
              <a:buNone/>
            </a:pPr>
            <a:r>
              <a:rPr lang="zh-CN" altLang="en-US" sz="2400" dirty="0">
                <a:sym typeface="+mn-ea"/>
              </a:rPr>
              <a:t>fun1(3)</a:t>
            </a:r>
            <a:endParaRPr lang="zh-CN" altLang="en-US" sz="2400" dirty="0"/>
          </a:p>
          <a:p>
            <a:pPr marL="457200" lvl="1" indent="0">
              <a:buNone/>
            </a:pPr>
            <a:r>
              <a:rPr lang="zh-CN" altLang="en-US" sz="2400" dirty="0">
                <a:sym typeface="+mn-ea"/>
              </a:rPr>
              <a:t>fun2(8)</a:t>
            </a:r>
            <a:endParaRPr lang="zh-CN" altLang="en-US" sz="2400" dirty="0"/>
          </a:p>
          <a:p>
            <a:pPr marL="457200" lvl="1" indent="0">
              <a:buNone/>
            </a:pPr>
            <a:r>
              <a:rPr lang="zh-CN" altLang="en-US" sz="2400" dirty="0">
                <a:sym typeface="+mn-ea"/>
              </a:rPr>
              <a:t>print("Outside:a=", a, "x=", x)</a:t>
            </a:r>
            <a:endParaRPr lang="en-US" altLang="zh-CN" sz="2400" dirty="0">
              <a:sym typeface="+mn-ea"/>
            </a:endParaRPr>
          </a:p>
          <a:p>
            <a:pPr marL="457200" lvl="1" indent="0">
              <a:buNone/>
            </a:pPr>
            <a:endParaRPr lang="en-US" altLang="zh-CN" sz="2400" dirty="0">
              <a:sym typeface="+mn-ea"/>
            </a:endParaRPr>
          </a:p>
          <a:p>
            <a:pPr marL="457200" lvl="1" indent="0">
              <a:buNone/>
            </a:pPr>
            <a:r>
              <a:rPr lang="en-US" altLang="zh-CN" sz="2400" dirty="0">
                <a:sym typeface="+mn-ea"/>
              </a:rPr>
              <a:t>====</a:t>
            </a:r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Inside fun1: a=10, x=20</a:t>
            </a:r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Inside fun2: a=100, x=13</a:t>
            </a:r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Outside: a=-1, x=-2</a:t>
            </a:r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DED1CB73-9BFD-4A9B-B1CA-57444CA8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4FB37-B84B-4821-A414-9EC6CCCB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822F0-87F7-4C80-94F1-4085D7CE3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2142067"/>
            <a:ext cx="7786463" cy="1935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函数内的赋值语句，用的是局部变量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形参和局部变量只能在本函数体中使用</a:t>
            </a:r>
          </a:p>
          <a:p>
            <a:pPr marL="0" indent="0"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0D8789-AD58-488B-A495-F9CC23A0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192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9.4.2 </a:t>
            </a:r>
            <a:r>
              <a:rPr lang="zh-CN" altLang="en-US" dirty="0"/>
              <a:t>全局变量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1384" y="1500750"/>
            <a:ext cx="5813276" cy="468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全局变量：赋值语句写在函数的外</a:t>
            </a:r>
          </a:p>
          <a:p>
            <a:endParaRPr lang="en-US" altLang="zh-CN" sz="2800" b="1" dirty="0"/>
          </a:p>
          <a:p>
            <a:r>
              <a:rPr lang="zh-CN" altLang="en-US" sz="2800" b="1" dirty="0"/>
              <a:t>a = 10  </a:t>
            </a:r>
            <a:r>
              <a:rPr lang="en-US" altLang="zh-CN" sz="2800" b="1" dirty="0"/>
              <a:t>	#</a:t>
            </a:r>
            <a:r>
              <a:rPr lang="zh-CN" altLang="en-US" sz="2800" b="1" dirty="0"/>
              <a:t>全局变量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在函数外部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/>
              <a:t>def fun():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/>
              <a:t>    print("Inside:a=", a)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/>
              <a:t>fun()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/>
              <a:t>a = 30           # 修改全局变量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/>
              <a:t>fun()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/>
              <a:t>print("Outside:a=", a)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42215" y="2045335"/>
            <a:ext cx="28238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Inside:a= 10</a:t>
            </a:r>
          </a:p>
          <a:p>
            <a:r>
              <a:rPr lang="zh-CN" altLang="en-US" sz="2800" dirty="0"/>
              <a:t>Inside:a= 30</a:t>
            </a:r>
          </a:p>
          <a:p>
            <a:r>
              <a:rPr lang="zh-CN" altLang="en-US" sz="2800" dirty="0"/>
              <a:t>Outside:a= 30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003CE3-3534-4C62-A1D2-C422D73A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函数中要用到全局变量怎么处理？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955" y="1412777"/>
            <a:ext cx="4659933" cy="4378424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zh-CN" altLang="en-US" sz="2400" dirty="0"/>
              <a:t>def fun():</a:t>
            </a:r>
          </a:p>
          <a:p>
            <a:pPr marL="0" indent="0">
              <a:buNone/>
            </a:pPr>
            <a:r>
              <a:rPr lang="zh-CN" altLang="en-US" sz="2400" dirty="0"/>
              <a:t>    x = 10  </a:t>
            </a:r>
            <a:r>
              <a:rPr lang="en-US" altLang="zh-CN" sz="2400" dirty="0"/>
              <a:t># </a:t>
            </a:r>
            <a:r>
              <a:rPr lang="zh-CN" altLang="en-US" sz="2400" dirty="0"/>
              <a:t>局部变量</a:t>
            </a:r>
          </a:p>
          <a:p>
            <a:pPr marL="0" indent="0">
              <a:buNone/>
            </a:pPr>
            <a:r>
              <a:rPr lang="zh-CN" altLang="en-US" sz="2400" dirty="0"/>
              <a:t>    global y   </a:t>
            </a:r>
            <a:r>
              <a:rPr lang="en-US" altLang="zh-CN" sz="2400" dirty="0"/>
              <a:t># </a:t>
            </a:r>
            <a:r>
              <a:rPr lang="zh-CN" altLang="en-US" sz="2400" dirty="0"/>
              <a:t>全局变量</a:t>
            </a:r>
          </a:p>
          <a:p>
            <a:pPr marL="0" indent="0">
              <a:buNone/>
            </a:pPr>
            <a:r>
              <a:rPr lang="zh-CN" altLang="en-US" sz="2400" dirty="0"/>
              <a:t>    y = 20</a:t>
            </a:r>
          </a:p>
          <a:p>
            <a:pPr marL="0" indent="0">
              <a:buNone/>
            </a:pPr>
            <a:r>
              <a:rPr lang="zh-CN" altLang="en-US" sz="2400" dirty="0"/>
              <a:t>    print("Inside:x=",x,"y=",y)</a:t>
            </a:r>
          </a:p>
          <a:p>
            <a:pPr marL="0" indent="0">
              <a:buNone/>
            </a:pPr>
            <a:r>
              <a:rPr lang="zh-CN" altLang="en-US" sz="2400" dirty="0"/>
              <a:t>x = 100    </a:t>
            </a:r>
            <a:r>
              <a:rPr lang="en-US" altLang="zh-CN" sz="2400" dirty="0"/>
              <a:t># </a:t>
            </a:r>
            <a:r>
              <a:rPr lang="zh-CN" altLang="en-US" sz="2400" dirty="0"/>
              <a:t>全局变量</a:t>
            </a:r>
          </a:p>
          <a:p>
            <a:pPr marL="0" indent="0">
              <a:buNone/>
            </a:pPr>
            <a:r>
              <a:rPr lang="zh-CN" altLang="en-US" sz="2400" dirty="0"/>
              <a:t>y = 200</a:t>
            </a:r>
            <a:r>
              <a:rPr lang="en-US" altLang="zh-CN" sz="2400" dirty="0"/>
              <a:t>	 # </a:t>
            </a:r>
            <a:r>
              <a:rPr lang="zh-CN" altLang="en-US" sz="2400" dirty="0"/>
              <a:t>全局变量</a:t>
            </a:r>
          </a:p>
          <a:p>
            <a:pPr marL="0" indent="0">
              <a:buNone/>
            </a:pPr>
            <a:r>
              <a:rPr lang="zh-CN" altLang="en-US" sz="2400" dirty="0"/>
              <a:t>print("Before:x=", x, "y=", y)</a:t>
            </a:r>
          </a:p>
          <a:p>
            <a:pPr marL="0" indent="0">
              <a:buNone/>
            </a:pPr>
            <a:r>
              <a:rPr lang="zh-CN" altLang="en-US" sz="2400" dirty="0"/>
              <a:t>fun()</a:t>
            </a:r>
          </a:p>
          <a:p>
            <a:pPr marL="0" indent="0">
              <a:buNone/>
            </a:pPr>
            <a:r>
              <a:rPr lang="zh-CN" altLang="en-US" sz="2400" dirty="0"/>
              <a:t>print("After:x=", x, "y=", y)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44C66FE3-75C9-4C1E-9C9B-D2369A12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7C34FC-574E-4DCB-915C-CB10A04658BB}"/>
              </a:ext>
            </a:extLst>
          </p:cNvPr>
          <p:cNvSpPr txBox="1"/>
          <p:nvPr/>
        </p:nvSpPr>
        <p:spPr>
          <a:xfrm>
            <a:off x="6600056" y="2060848"/>
            <a:ext cx="42171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en-US" altLang="zh-CN" sz="2800" dirty="0" err="1"/>
              <a:t>Before:x</a:t>
            </a:r>
            <a:r>
              <a:rPr lang="en-US" altLang="zh-CN" sz="2800" dirty="0"/>
              <a:t>=100 y=200</a:t>
            </a:r>
          </a:p>
          <a:p>
            <a:r>
              <a:rPr lang="en-US" altLang="zh-CN" sz="2800" dirty="0" err="1"/>
              <a:t>Inside:x</a:t>
            </a:r>
            <a:r>
              <a:rPr lang="en-US" altLang="zh-CN" sz="2800" dirty="0"/>
              <a:t>=10 y=20</a:t>
            </a:r>
          </a:p>
          <a:p>
            <a:r>
              <a:rPr lang="en-US" altLang="zh-CN" sz="2800" dirty="0" err="1"/>
              <a:t>After:x</a:t>
            </a:r>
            <a:r>
              <a:rPr lang="en-US" altLang="zh-CN" sz="2800" dirty="0"/>
              <a:t>=100 y=20</a:t>
            </a:r>
          </a:p>
          <a:p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9.5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递归函数</a:t>
            </a:r>
            <a:endParaRPr lang="en-US" altLang="zh-CN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276E9B-0F0D-4161-9644-0648607F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3" y="265299"/>
            <a:ext cx="10007997" cy="114694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什么是递归？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zh-CN" altLang="en-US" dirty="0"/>
              <a:t>思想：一生二，二生三，三生无穷</a:t>
            </a:r>
          </a:p>
        </p:txBody>
      </p:sp>
      <p:sp>
        <p:nvSpPr>
          <p:cNvPr id="4" name="矩形 3"/>
          <p:cNvSpPr/>
          <p:nvPr/>
        </p:nvSpPr>
        <p:spPr>
          <a:xfrm>
            <a:off x="3575684" y="1484630"/>
            <a:ext cx="2808347" cy="1052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递：</a:t>
            </a:r>
          </a:p>
          <a:p>
            <a:pPr algn="ctr"/>
            <a:r>
              <a:rPr lang="zh-CN" altLang="en-US" sz="2800" dirty="0"/>
              <a:t>（传递下去）</a:t>
            </a:r>
          </a:p>
        </p:txBody>
      </p:sp>
      <p:sp>
        <p:nvSpPr>
          <p:cNvPr id="5" name="矩形 4"/>
          <p:cNvSpPr/>
          <p:nvPr/>
        </p:nvSpPr>
        <p:spPr>
          <a:xfrm>
            <a:off x="3575684" y="3620135"/>
            <a:ext cx="2736339" cy="1052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归：</a:t>
            </a:r>
          </a:p>
          <a:p>
            <a:pPr algn="ctr"/>
            <a:r>
              <a:rPr lang="zh-CN" altLang="en-US" sz="2800" dirty="0"/>
              <a:t>（回来）</a:t>
            </a:r>
          </a:p>
        </p:txBody>
      </p:sp>
      <p:sp>
        <p:nvSpPr>
          <p:cNvPr id="7" name="左弧形箭头 6"/>
          <p:cNvSpPr/>
          <p:nvPr/>
        </p:nvSpPr>
        <p:spPr>
          <a:xfrm flipV="1">
            <a:off x="2279650" y="1844675"/>
            <a:ext cx="1296035" cy="252031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4583430" y="2564765"/>
            <a:ext cx="288290" cy="10077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云形标注 8"/>
          <p:cNvSpPr/>
          <p:nvPr/>
        </p:nvSpPr>
        <p:spPr>
          <a:xfrm>
            <a:off x="7319645" y="1412240"/>
            <a:ext cx="4609003" cy="316865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递归的本质：定义一个函数时，直接或间接调用了这个函数本身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F187FC-A3F7-415A-B2B1-4AB3DDF5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9-4 </a:t>
            </a:r>
            <a:r>
              <a:t>递归法</a:t>
            </a:r>
            <a:r>
              <a:rPr lang="en-US" altLang="zh-CN"/>
              <a:t>求n的阶乘，输出10以内的阶乘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557021"/>
            <a:ext cx="5112568" cy="3743959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dirty="0"/>
              <a:t>def fac(n):</a:t>
            </a:r>
          </a:p>
          <a:p>
            <a:pPr marL="0" indent="0">
              <a:buNone/>
            </a:pPr>
            <a:r>
              <a:rPr lang="zh-CN" altLang="en-US" sz="2400" dirty="0"/>
              <a:t>    if n == 0 or n == 1:</a:t>
            </a:r>
          </a:p>
          <a:p>
            <a:pPr marL="0" indent="0">
              <a:buNone/>
            </a:pPr>
            <a:r>
              <a:rPr lang="zh-CN" altLang="en-US" sz="2400" dirty="0"/>
              <a:t>        return 1</a:t>
            </a:r>
          </a:p>
          <a:p>
            <a:pPr marL="0" indent="0">
              <a:buNone/>
            </a:pPr>
            <a:r>
              <a:rPr lang="zh-CN" altLang="en-US" sz="2400" dirty="0"/>
              <a:t>    else:</a:t>
            </a:r>
          </a:p>
          <a:p>
            <a:pPr marL="0" indent="0">
              <a:buNone/>
            </a:pPr>
            <a:r>
              <a:rPr lang="zh-CN" altLang="en-US" sz="2400" dirty="0"/>
              <a:t>        return fac(n-1) * n   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		# </a:t>
            </a:r>
            <a:r>
              <a:rPr lang="zh-CN" altLang="en-US" sz="2400" dirty="0"/>
              <a:t>定义函数时调用了自己</a:t>
            </a:r>
          </a:p>
          <a:p>
            <a:pPr marL="0" indent="0">
              <a:buNone/>
            </a:pPr>
            <a:r>
              <a:rPr lang="zh-CN" altLang="en-US" sz="2400" dirty="0"/>
              <a:t>for i in range(1, 10):</a:t>
            </a:r>
          </a:p>
          <a:p>
            <a:pPr marL="0" indent="0">
              <a:buNone/>
            </a:pPr>
            <a:r>
              <a:rPr lang="zh-CN" altLang="en-US" sz="2400" dirty="0"/>
              <a:t>    print(i, "!=", fac(i))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9A5CAD-3F60-45DD-B66A-0F162115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5F032F9-F593-4300-9A30-A685E1C12B00}"/>
              </a:ext>
            </a:extLst>
          </p:cNvPr>
          <p:cNvSpPr txBox="1">
            <a:spLocks/>
          </p:cNvSpPr>
          <p:nvPr/>
        </p:nvSpPr>
        <p:spPr>
          <a:xfrm>
            <a:off x="6096000" y="1772816"/>
            <a:ext cx="5112568" cy="37439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b="1" kern="1200" cap="none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b="1" kern="1200" cap="none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b="1" kern="1200" cap="none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b="1" kern="1200" cap="none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2800" b="1" kern="1200" cap="none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Arial"/>
              <a:buNone/>
            </a:pPr>
            <a:r>
              <a:rPr lang="en-US" altLang="zh-CN" sz="2400" dirty="0"/>
              <a:t>====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1 != 1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2 != 2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3 != 6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4 != 24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5 != 120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6 != 720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7 != 5040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8 != 40320</a:t>
            </a:r>
          </a:p>
          <a:p>
            <a:pPr marL="0" indent="0" fontAlgn="auto">
              <a:buFont typeface="Arial"/>
              <a:buNone/>
            </a:pPr>
            <a:r>
              <a:rPr lang="en-US" altLang="zh-CN" sz="2400" dirty="0"/>
              <a:t>9 != 362880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9-5 </a:t>
            </a:r>
            <a:r>
              <a:t>递归法</a:t>
            </a:r>
            <a:r>
              <a:rPr lang="en-US" altLang="zh-CN"/>
              <a:t>求两个数的最大公约数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26820"/>
            <a:ext cx="5847080" cy="5114290"/>
          </a:xfrm>
          <a:noFill/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zh-CN" altLang="en-US" dirty="0"/>
              <a:t>def gcd(m, n): </a:t>
            </a:r>
          </a:p>
          <a:p>
            <a:pPr marL="0" indent="0">
              <a:buNone/>
            </a:pPr>
            <a:r>
              <a:rPr lang="zh-CN" altLang="en-US" dirty="0"/>
              <a:t>    r = m % n</a:t>
            </a:r>
          </a:p>
          <a:p>
            <a:pPr marL="0" indent="0">
              <a:buNone/>
            </a:pPr>
            <a:r>
              <a:rPr lang="zh-CN" altLang="en-US" dirty="0"/>
              <a:t>    if r == 0:</a:t>
            </a:r>
          </a:p>
          <a:p>
            <a:pPr marL="0" indent="0">
              <a:buNone/>
            </a:pPr>
            <a:r>
              <a:rPr lang="zh-CN" altLang="en-US" dirty="0"/>
              <a:t>        return n</a:t>
            </a:r>
          </a:p>
          <a:p>
            <a:pPr marL="0" indent="0">
              <a:buNone/>
            </a:pPr>
            <a:r>
              <a:rPr lang="zh-CN" altLang="en-US" dirty="0"/>
              <a:t>    else:</a:t>
            </a:r>
          </a:p>
          <a:p>
            <a:pPr marL="0" indent="0">
              <a:buNone/>
            </a:pPr>
            <a:r>
              <a:rPr lang="zh-CN" altLang="en-US" dirty="0"/>
              <a:t>        return gcd(n, r)</a:t>
            </a:r>
          </a:p>
          <a:p>
            <a:pPr marL="0" indent="0">
              <a:buNone/>
            </a:pPr>
            <a:r>
              <a:rPr lang="zh-CN" altLang="en-US" dirty="0"/>
              <a:t>a = int(input("请输入第1个整数："))</a:t>
            </a:r>
          </a:p>
          <a:p>
            <a:pPr marL="0" indent="0">
              <a:buNone/>
            </a:pPr>
            <a:r>
              <a:rPr lang="zh-CN" altLang="en-US" dirty="0"/>
              <a:t>b = int(input("请输入第2个整数："))</a:t>
            </a:r>
          </a:p>
          <a:p>
            <a:pPr marL="0" indent="0">
              <a:buNone/>
            </a:pPr>
            <a:r>
              <a:rPr lang="zh-CN" altLang="en-US" dirty="0"/>
              <a:t>print("最大公约数：", gcd(a, b))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41648" y="1226820"/>
            <a:ext cx="241046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算法：</a:t>
            </a:r>
            <a:r>
              <a:rPr lang="en-US" altLang="zh-CN" sz="2400" dirty="0"/>
              <a:t> </a:t>
            </a:r>
          </a:p>
          <a:p>
            <a:r>
              <a:rPr lang="en-US" altLang="zh-CN" sz="2400" dirty="0"/>
              <a:t>m     n      r</a:t>
            </a:r>
          </a:p>
          <a:p>
            <a:r>
              <a:rPr lang="en-US" altLang="zh-CN" sz="2400" dirty="0"/>
              <a:t>45    24    21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55600" y="2713702"/>
            <a:ext cx="241046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m     n      r</a:t>
            </a:r>
          </a:p>
          <a:p>
            <a:r>
              <a:rPr lang="en-US" altLang="zh-CN" sz="2400" dirty="0"/>
              <a:t>24    21    3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710930" y="3768725"/>
            <a:ext cx="241046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/>
              <a:t> m     n      r</a:t>
            </a:r>
          </a:p>
          <a:p>
            <a:r>
              <a:rPr lang="en-US" altLang="zh-CN" sz="2400"/>
              <a:t>21     3      0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9552305" y="4220845"/>
            <a:ext cx="504190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线形标注 1 7"/>
          <p:cNvSpPr/>
          <p:nvPr/>
        </p:nvSpPr>
        <p:spPr>
          <a:xfrm>
            <a:off x="9552305" y="5229225"/>
            <a:ext cx="1969770" cy="647700"/>
          </a:xfrm>
          <a:prstGeom prst="borderCallout1">
            <a:avLst>
              <a:gd name="adj1" fmla="val -3039"/>
              <a:gd name="adj2" fmla="val 25145"/>
              <a:gd name="adj3" fmla="val -95784"/>
              <a:gd name="adj4" fmla="val 1344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最大公约数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4007485" y="5661025"/>
            <a:ext cx="1871980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线形标注 1 9"/>
          <p:cNvSpPr/>
          <p:nvPr/>
        </p:nvSpPr>
        <p:spPr>
          <a:xfrm>
            <a:off x="6517005" y="5517515"/>
            <a:ext cx="1872615" cy="647700"/>
          </a:xfrm>
          <a:prstGeom prst="borderCallout1">
            <a:avLst>
              <a:gd name="adj1" fmla="val 40588"/>
              <a:gd name="adj2" fmla="val -2475"/>
              <a:gd name="adj3" fmla="val 68921"/>
              <a:gd name="adj4" fmla="val -383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递归用法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0C860FAB-9FF3-4A45-BB75-05DAC64F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递归的两大要素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12777"/>
            <a:ext cx="10131426" cy="2808311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原问题可以通过一个或多个规模更小的相似问题进行求解</a:t>
            </a:r>
          </a:p>
          <a:p>
            <a:r>
              <a:rPr lang="zh-CN" altLang="en-US" dirty="0"/>
              <a:t>必须有明确的递归结束条件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b="1" dirty="0"/>
              <a:t>优点：易于理解</a:t>
            </a:r>
            <a:endParaRPr lang="en-US" altLang="zh-CN" dirty="0"/>
          </a:p>
          <a:p>
            <a:r>
              <a:rPr lang="zh-CN" altLang="en-US" sz="2800" b="1" dirty="0"/>
              <a:t>缺点：执行效率低</a:t>
            </a: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A58E9-358A-4A59-B7D7-D79610EB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</a:t>
            </a:r>
            <a: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 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内嵌函数</a:t>
            </a:r>
            <a: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38916E-E3F8-4B73-AEA1-2713ACF5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内嵌函数示例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def outer():</a:t>
            </a:r>
          </a:p>
          <a:p>
            <a:pPr marL="0" indent="0">
              <a:buNone/>
            </a:pPr>
            <a:r>
              <a:rPr lang="zh-CN" altLang="en-US" dirty="0"/>
              <a:t>    def inner():</a:t>
            </a:r>
          </a:p>
          <a:p>
            <a:pPr marL="0" indent="0">
              <a:buNone/>
            </a:pPr>
            <a:r>
              <a:rPr lang="zh-CN" altLang="en-US" dirty="0"/>
              <a:t>        print("inner")</a:t>
            </a:r>
          </a:p>
          <a:p>
            <a:pPr marL="0" indent="0">
              <a:buNone/>
            </a:pPr>
            <a:r>
              <a:rPr lang="zh-CN" altLang="en-US" dirty="0"/>
              <a:t>    print("outer")</a:t>
            </a:r>
          </a:p>
          <a:p>
            <a:pPr marL="0" indent="0">
              <a:buNone/>
            </a:pPr>
            <a:r>
              <a:rPr lang="zh-CN" altLang="en-US" dirty="0"/>
              <a:t>    inner()  # 调用内嵌函数</a:t>
            </a:r>
          </a:p>
          <a:p>
            <a:pPr marL="0" indent="0">
              <a:buNone/>
            </a:pPr>
            <a:r>
              <a:rPr lang="zh-CN" altLang="en-US" dirty="0"/>
              <a:t>outer()</a:t>
            </a:r>
          </a:p>
          <a:p>
            <a:pPr marL="0" indent="0">
              <a:buNone/>
            </a:pPr>
            <a:r>
              <a:rPr lang="zh-CN" altLang="en-US" dirty="0"/>
              <a:t>inner()   # 此句会出错，抛出异常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5735955" y="1844675"/>
            <a:ext cx="1990725" cy="908685"/>
          </a:xfrm>
          <a:prstGeom prst="borderCallout1">
            <a:avLst>
              <a:gd name="adj1" fmla="val 30817"/>
              <a:gd name="adj2" fmla="val -2009"/>
              <a:gd name="adj3" fmla="val 79664"/>
              <a:gd name="adj4" fmla="val -824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嵌在一个函数内部</a:t>
            </a:r>
          </a:p>
        </p:txBody>
      </p:sp>
      <p:sp>
        <p:nvSpPr>
          <p:cNvPr id="8" name="线形标注 1 7"/>
          <p:cNvSpPr/>
          <p:nvPr/>
        </p:nvSpPr>
        <p:spPr>
          <a:xfrm>
            <a:off x="3651250" y="5864860"/>
            <a:ext cx="3598545" cy="648335"/>
          </a:xfrm>
          <a:prstGeom prst="borderCallout1">
            <a:avLst>
              <a:gd name="adj1" fmla="val 33202"/>
              <a:gd name="adj2" fmla="val -2057"/>
              <a:gd name="adj3" fmla="val -18119"/>
              <a:gd name="adj4" fmla="val -401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作用域是在</a:t>
            </a:r>
            <a:r>
              <a:rPr lang="en-US" altLang="zh-CN" sz="2400"/>
              <a:t>outer()</a:t>
            </a:r>
            <a:r>
              <a:rPr lang="zh-CN" altLang="en-US" sz="2400"/>
              <a:t>内部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4CEC1-F4D8-453F-8970-F040882C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337" y="167535"/>
            <a:ext cx="10202065" cy="70802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内嵌函数中的变量作用域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5400" y="980727"/>
            <a:ext cx="4752528" cy="5709737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def f1():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	</a:t>
            </a:r>
            <a:r>
              <a:rPr lang="zh-CN" altLang="en-US" sz="2400" dirty="0"/>
              <a:t>global x   </a:t>
            </a:r>
            <a:r>
              <a:rPr lang="en-US" altLang="zh-CN" sz="2400" dirty="0"/>
              <a:t># </a:t>
            </a:r>
            <a:r>
              <a:rPr lang="zh-CN" altLang="en-US" sz="2400" dirty="0"/>
              <a:t>全局变量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	</a:t>
            </a:r>
            <a:r>
              <a:rPr lang="zh-CN" altLang="en-US" sz="2400" dirty="0"/>
              <a:t>x = 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	</a:t>
            </a:r>
            <a:r>
              <a:rPr lang="zh-CN" altLang="en-US" sz="2400" dirty="0"/>
              <a:t>y = 20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	</a:t>
            </a:r>
            <a:r>
              <a:rPr lang="zh-CN" altLang="en-US" sz="2400" dirty="0"/>
              <a:t>def f2():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	</a:t>
            </a:r>
            <a:r>
              <a:rPr lang="zh-CN" altLang="en-US" sz="2400" dirty="0"/>
              <a:t>nonlocal y  </a:t>
            </a:r>
            <a:r>
              <a:rPr lang="en-US" altLang="zh-CN" sz="2000" dirty="0"/>
              <a:t>#</a:t>
            </a:r>
            <a:r>
              <a:rPr lang="zh-CN" altLang="en-US" sz="2000" dirty="0"/>
              <a:t>非局部声明变量</a:t>
            </a:r>
            <a:endParaRPr lang="zh-CN" altLang="en-US" sz="2400" dirty="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	</a:t>
            </a:r>
            <a:r>
              <a:rPr lang="zh-CN" altLang="en-US" sz="2400" dirty="0"/>
              <a:t>global x  </a:t>
            </a:r>
            <a:r>
              <a:rPr lang="en-US" altLang="zh-CN" sz="2400" dirty="0"/>
              <a:t># </a:t>
            </a:r>
            <a:r>
              <a:rPr lang="zh-CN" altLang="en-US" sz="2400" dirty="0"/>
              <a:t>同一个全局变量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	</a:t>
            </a:r>
            <a:r>
              <a:rPr lang="zh-CN" altLang="en-US" sz="2400" dirty="0"/>
              <a:t>x = x + 1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	</a:t>
            </a:r>
            <a:r>
              <a:rPr lang="zh-CN" altLang="en-US" sz="2400" dirty="0"/>
              <a:t>y = 40</a:t>
            </a:r>
            <a:endParaRPr lang="en-US" altLang="zh-CN" sz="2400" dirty="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>
                <a:sym typeface="+mn-ea"/>
              </a:rPr>
              <a:t>       </a:t>
            </a: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 print("In f2:x=", x, "y=", y)</a:t>
            </a:r>
            <a:endParaRPr lang="en-US" altLang="zh-CN" sz="2400" dirty="0">
              <a:sym typeface="+mn-ea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f2()</a:t>
            </a:r>
            <a:endParaRPr lang="zh-CN" altLang="en-US" sz="2400" dirty="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>
                <a:sym typeface="+mn-ea"/>
              </a:rPr>
              <a:t>    </a:t>
            </a: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print("In f1:x=", x, "y=", y)</a:t>
            </a:r>
            <a:endParaRPr lang="en-US" altLang="zh-CN" sz="2400" dirty="0">
              <a:sym typeface="+mn-ea"/>
            </a:endParaRPr>
          </a:p>
          <a:p>
            <a:pPr marL="0" indent="0">
              <a:spcAft>
                <a:spcPts val="0"/>
              </a:spcAft>
              <a:buNone/>
            </a:pPr>
            <a:endParaRPr lang="en-US" altLang="zh-CN" sz="2400" dirty="0">
              <a:sym typeface="+mn-ea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2400" dirty="0">
                <a:sym typeface="+mn-ea"/>
              </a:rPr>
              <a:t>注：非局部声明变量是指最近在外部函数已声明的变量，但不能是全家变量</a:t>
            </a:r>
            <a:endParaRPr lang="en-US" altLang="zh-CN" sz="2400" dirty="0">
              <a:sym typeface="+mn-ea"/>
            </a:endParaRPr>
          </a:p>
          <a:p>
            <a:pPr marL="0" indent="0">
              <a:spcAft>
                <a:spcPts val="0"/>
              </a:spcAft>
              <a:buNone/>
            </a:pPr>
            <a:endParaRPr lang="zh-CN" altLang="en-US" sz="24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74255" y="980057"/>
            <a:ext cx="5061129" cy="2736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ym typeface="+mn-ea"/>
              </a:rPr>
              <a:t>x = 100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y = 200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print("Before:x=", x, "y=", y)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f1()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print("After:x=", x, "y=", y)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24" name="灯片编号占位符 23">
            <a:extLst>
              <a:ext uri="{FF2B5EF4-FFF2-40B4-BE49-F238E27FC236}">
                <a16:creationId xmlns:a16="http://schemas.microsoft.com/office/drawing/2014/main" id="{DB6569FE-374D-4558-BBE1-4AF1EAF3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9.7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装饰器</a:t>
            </a:r>
            <a: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71BAD3-CCA6-4361-853E-A44E164E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装饰器是什么？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5447664" y="548640"/>
            <a:ext cx="4714875" cy="2303780"/>
          </a:xfrm>
          <a:prstGeom prst="cloudCallout">
            <a:avLst>
              <a:gd name="adj1" fmla="val -89551"/>
              <a:gd name="adj2" fmla="val -3727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一种用于扩展已有函数功能的特殊函数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85875" y="3074988"/>
            <a:ext cx="88595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想象一个使用场景：</a:t>
            </a:r>
          </a:p>
          <a:p>
            <a:r>
              <a:rPr lang="zh-CN" altLang="en-US" sz="2800" dirty="0"/>
              <a:t>一个已经被很多人使用了的函数 需要修改和扩展功能</a:t>
            </a:r>
          </a:p>
        </p:txBody>
      </p:sp>
      <p:sp>
        <p:nvSpPr>
          <p:cNvPr id="6" name="双波形 5"/>
          <p:cNvSpPr/>
          <p:nvPr/>
        </p:nvSpPr>
        <p:spPr>
          <a:xfrm>
            <a:off x="2907030" y="4999990"/>
            <a:ext cx="2808605" cy="935990"/>
          </a:xfrm>
          <a:prstGeom prst="doubleWav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直接改函数？</a:t>
            </a:r>
          </a:p>
        </p:txBody>
      </p:sp>
      <p:sp>
        <p:nvSpPr>
          <p:cNvPr id="7" name="爆炸形 1 6"/>
          <p:cNvSpPr/>
          <p:nvPr/>
        </p:nvSpPr>
        <p:spPr>
          <a:xfrm>
            <a:off x="6743700" y="4625340"/>
            <a:ext cx="3528764" cy="1818005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你会挨骂的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AADE9B-7BBF-4139-8198-FDAD2CEE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6" grpId="0" animBg="1"/>
      <p:bldP spid="6" grpId="1" animBg="1"/>
      <p:bldP spid="7" grpId="0" animBg="1"/>
      <p:bldP spid="7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9.7.1 </a:t>
            </a:r>
            <a:r>
              <a:t>无参数装饰器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26820"/>
            <a:ext cx="10852150" cy="1256030"/>
          </a:xfrm>
        </p:spPr>
        <p:txBody>
          <a:bodyPr>
            <a:normAutofit/>
          </a:bodyPr>
          <a:lstStyle/>
          <a:p>
            <a:r>
              <a:rPr lang="zh-CN" altLang="en-US"/>
              <a:t>例</a:t>
            </a:r>
            <a:r>
              <a:rPr lang="en-US" altLang="zh-CN"/>
              <a:t>9-6 使用无参数装饰器myDectoration为printMessage()增加功能</a:t>
            </a:r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905" y="2074545"/>
            <a:ext cx="732853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def myDectoration(func):        # 装饰器函数</a:t>
            </a:r>
          </a:p>
          <a:p>
            <a:r>
              <a:rPr lang="zh-CN" altLang="en-US" sz="2800" dirty="0"/>
              <a:t>    print("执行myDectoation函数")</a:t>
            </a:r>
          </a:p>
          <a:p>
            <a:r>
              <a:rPr lang="zh-CN" altLang="en-US" sz="2800" dirty="0"/>
              <a:t>    def inner():</a:t>
            </a:r>
          </a:p>
          <a:p>
            <a:r>
              <a:rPr lang="zh-CN" altLang="en-US" sz="2800" dirty="0"/>
              <a:t>        print("正在执行内部函数")</a:t>
            </a:r>
          </a:p>
          <a:p>
            <a:r>
              <a:rPr lang="zh-CN" altLang="en-US" sz="2800" dirty="0"/>
              <a:t>        func()</a:t>
            </a:r>
          </a:p>
          <a:p>
            <a:r>
              <a:rPr lang="zh-CN" altLang="en-US" sz="2800" dirty="0"/>
              <a:t>    return inner</a:t>
            </a:r>
          </a:p>
          <a:p>
            <a:r>
              <a:rPr lang="zh-CN" altLang="en-US" sz="2800" dirty="0"/>
              <a:t>@myDectoration</a:t>
            </a:r>
          </a:p>
          <a:p>
            <a:r>
              <a:rPr lang="zh-CN" altLang="en-US" sz="2800" dirty="0"/>
              <a:t>def printMessage():             # 被装饰函数</a:t>
            </a:r>
          </a:p>
          <a:p>
            <a:r>
              <a:rPr lang="zh-CN" altLang="en-US" sz="2800" dirty="0"/>
              <a:t>    print("--------欢迎您-------")</a:t>
            </a:r>
          </a:p>
          <a:p>
            <a:r>
              <a:rPr lang="zh-CN" altLang="en-US" sz="2800" dirty="0"/>
              <a:t>printMessage()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2279650" y="4580890"/>
            <a:ext cx="3743960" cy="10083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线形标注 1 5"/>
          <p:cNvSpPr/>
          <p:nvPr/>
        </p:nvSpPr>
        <p:spPr>
          <a:xfrm>
            <a:off x="7359650" y="4004945"/>
            <a:ext cx="2510790" cy="791845"/>
          </a:xfrm>
          <a:prstGeom prst="borderCallout1">
            <a:avLst>
              <a:gd name="adj1" fmla="val 28708"/>
              <a:gd name="adj2" fmla="val -2073"/>
              <a:gd name="adj3" fmla="val 106495"/>
              <a:gd name="adj4" fmla="val -539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装饰函数写在被装饰函数上方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669290" y="3140710"/>
            <a:ext cx="1872615" cy="864235"/>
          </a:xfrm>
          <a:prstGeom prst="borderCallout1">
            <a:avLst>
              <a:gd name="adj1" fmla="val 100440"/>
              <a:gd name="adj2" fmla="val 68769"/>
              <a:gd name="adj3" fmla="val 186921"/>
              <a:gd name="adj4" fmla="val 1183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@</a:t>
            </a:r>
            <a:r>
              <a:rPr lang="zh-CN" altLang="en-US" sz="2400"/>
              <a:t>是装饰器的用法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C2259FD-C918-4BF4-9268-F3E03077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9-7 为有参数的函数printMessage()增加功能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zh-CN" altLang="en-US" sz="2400" dirty="0"/>
              <a:t>def myDectoration(func):         # 装饰器函数</a:t>
            </a:r>
          </a:p>
          <a:p>
            <a:pPr marL="0" indent="0">
              <a:buNone/>
            </a:pPr>
            <a:r>
              <a:rPr lang="zh-CN" altLang="en-US" sz="2400" dirty="0"/>
              <a:t>    print("执行myDectoation函数")</a:t>
            </a:r>
          </a:p>
          <a:p>
            <a:pPr marL="0" indent="0">
              <a:buNone/>
            </a:pPr>
            <a:r>
              <a:rPr lang="zh-CN" altLang="en-US" sz="2400" dirty="0"/>
              <a:t>    def inner(*args):</a:t>
            </a:r>
          </a:p>
          <a:p>
            <a:pPr marL="0" indent="0">
              <a:buNone/>
            </a:pPr>
            <a:r>
              <a:rPr lang="zh-CN" altLang="en-US" sz="2400" dirty="0"/>
              <a:t>        print("正在执行内部函数")</a:t>
            </a:r>
          </a:p>
          <a:p>
            <a:pPr marL="0" indent="0">
              <a:buNone/>
            </a:pPr>
            <a:r>
              <a:rPr lang="zh-CN" altLang="en-US" sz="2400" dirty="0"/>
              <a:t>        func(*args)</a:t>
            </a:r>
          </a:p>
          <a:p>
            <a:pPr marL="0" indent="0">
              <a:buNone/>
            </a:pPr>
            <a:r>
              <a:rPr lang="zh-CN" altLang="en-US" sz="2400" dirty="0"/>
              <a:t>    return inner</a:t>
            </a:r>
          </a:p>
          <a:p>
            <a:pPr marL="0" indent="0">
              <a:buNone/>
            </a:pPr>
            <a:r>
              <a:rPr lang="zh-CN" altLang="en-US" sz="2400" dirty="0"/>
              <a:t>@myDectoration</a:t>
            </a:r>
          </a:p>
          <a:p>
            <a:pPr marL="0" indent="0">
              <a:buNone/>
            </a:pPr>
            <a:r>
              <a:rPr lang="zh-CN" altLang="en-US" sz="2400" dirty="0"/>
              <a:t>def printMessage(name):          # 被装饰函数</a:t>
            </a:r>
          </a:p>
          <a:p>
            <a:pPr marL="0" indent="0">
              <a:buNone/>
            </a:pPr>
            <a:r>
              <a:rPr lang="zh-CN" altLang="en-US" sz="2400" dirty="0"/>
              <a:t>    print("--------%s欢迎您-------"%name)</a:t>
            </a:r>
          </a:p>
          <a:p>
            <a:pPr marL="0" indent="0">
              <a:buNone/>
            </a:pPr>
            <a:r>
              <a:rPr lang="zh-CN" altLang="en-US" sz="2400" dirty="0"/>
              <a:t>printMessage("Holly")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6FF23-7B61-485A-8391-59D0A7D0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9.7.2 </a:t>
            </a:r>
            <a:r>
              <a:t>有参数装饰器</a:t>
            </a:r>
          </a:p>
        </p:txBody>
      </p:sp>
      <p:sp>
        <p:nvSpPr>
          <p:cNvPr id="4" name="矩形 3"/>
          <p:cNvSpPr/>
          <p:nvPr/>
        </p:nvSpPr>
        <p:spPr>
          <a:xfrm>
            <a:off x="1397000" y="1722755"/>
            <a:ext cx="5423535" cy="25203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注意区分两个函数：</a:t>
            </a:r>
          </a:p>
          <a:p>
            <a:pPr algn="ctr"/>
            <a:r>
              <a:rPr lang="zh-CN" altLang="en-US" sz="2400" dirty="0"/>
              <a:t>装饰器函数可以有参数、无参数</a:t>
            </a:r>
          </a:p>
          <a:p>
            <a:pPr algn="ctr"/>
            <a:r>
              <a:rPr lang="zh-CN" altLang="en-US" sz="2400" dirty="0"/>
              <a:t>被装饰函数也可以有参数、无参数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7967980" y="1123315"/>
            <a:ext cx="2592070" cy="1584325"/>
          </a:xfrm>
          <a:prstGeom prst="borderCallout1">
            <a:avLst>
              <a:gd name="adj1" fmla="val 19759"/>
              <a:gd name="adj2" fmla="val -1690"/>
              <a:gd name="adj3" fmla="val -23166"/>
              <a:gd name="adj4" fmla="val -13400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此处针对的是装饰器函数有参数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4A6BD34-1016-45B7-BE4F-098B535F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9-8 利用有参数的装饰器扩展有参数的函数的功能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23315"/>
            <a:ext cx="10852150" cy="511429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def decorator_maker(d_arg1, d_arg2):       # 装饰器函数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print("I make decorators! I accept argument:", d_arg1, d_arg2)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def my_decorator(func):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print("I am the decorator. You pass me arguments:", d_arg1, d_arg2)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def inner(f_arg1, f_arg2):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    print("I am inner.I can access all variables.")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    print("From decorator:", d_arg1, d_arg2)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    print("From function call:", f_arg1, f_arg2)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    return func(f_arg1, f_arg2)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    return inner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return my_decorator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@decorator_maker("AAA", "BBB")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def decorated_function(f_arg1, f_arg2):     # 被装饰函数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    print("I am the decorated function! I only know arguments:", f_arg1, f_arg2)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en-US" sz="2000"/>
              <a:t>decorated_function("CCC", "DDD")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7046" y="2866438"/>
            <a:ext cx="10538643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I make decorators! I accept argument: AAA BBB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I am the decorator. You pass me arguments: AAA BBB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I am inner.I can access all variables.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From decorator: AAA BBB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From function call: CCC DDD</a:t>
            </a:r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I am the decorated function! I only know arguments: CCC DDD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37E975-9BD4-4B77-BB77-47D0591E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9.7.3 </a:t>
            </a:r>
            <a:r>
              <a:t>多重装饰器</a:t>
            </a:r>
          </a:p>
        </p:txBody>
      </p:sp>
      <p:sp>
        <p:nvSpPr>
          <p:cNvPr id="4" name="线形标注 1 3"/>
          <p:cNvSpPr/>
          <p:nvPr/>
        </p:nvSpPr>
        <p:spPr>
          <a:xfrm>
            <a:off x="5648960" y="1226820"/>
            <a:ext cx="4438015" cy="974090"/>
          </a:xfrm>
          <a:prstGeom prst="borderCallout1">
            <a:avLst>
              <a:gd name="adj1" fmla="val 33246"/>
              <a:gd name="adj2" fmla="val -200"/>
              <a:gd name="adj3" fmla="val -45306"/>
              <a:gd name="adj4" fmla="val -355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多个装饰器装饰同一个函数</a:t>
            </a:r>
          </a:p>
        </p:txBody>
      </p:sp>
      <p:sp>
        <p:nvSpPr>
          <p:cNvPr id="5" name="云形标注 4"/>
          <p:cNvSpPr/>
          <p:nvPr/>
        </p:nvSpPr>
        <p:spPr>
          <a:xfrm>
            <a:off x="3143250" y="3429000"/>
            <a:ext cx="4320540" cy="1583690"/>
          </a:xfrm>
          <a:prstGeom prst="cloudCallout">
            <a:avLst>
              <a:gd name="adj1" fmla="val -47137"/>
              <a:gd name="adj2" fmla="val 11611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装饰器的执行顺序是自下而上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52F17E-7E7A-49D2-B1EC-63292B14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/>
              <a:t>例</a:t>
            </a:r>
            <a:r>
              <a:rPr lang="en-US" altLang="zh-CN" sz="2800"/>
              <a:t>9-9 多重装饰器示例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/>
              <a:t># </a:t>
            </a:r>
            <a:r>
              <a:rPr sz="2400"/>
              <a:t>第一个装饰器函数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def decorator_a(func): </a:t>
            </a:r>
          </a:p>
          <a:p>
            <a:pPr marL="0" indent="0">
              <a:buNone/>
            </a:pPr>
            <a:r>
              <a:rPr lang="zh-CN" altLang="en-US" sz="2400"/>
              <a:t>    print("Get in decorator_a")</a:t>
            </a:r>
          </a:p>
          <a:p>
            <a:pPr marL="0" indent="0">
              <a:buNone/>
            </a:pPr>
            <a:r>
              <a:rPr lang="zh-CN" altLang="en-US" sz="2400"/>
              <a:t>    def inner_a(*args, **kwargs):</a:t>
            </a:r>
          </a:p>
          <a:p>
            <a:pPr marL="0" indent="0">
              <a:buNone/>
            </a:pPr>
            <a:r>
              <a:rPr lang="zh-CN" altLang="en-US" sz="2400"/>
              <a:t>        print("Get in inner_a")</a:t>
            </a:r>
          </a:p>
          <a:p>
            <a:pPr marL="0" indent="0">
              <a:buNone/>
            </a:pPr>
            <a:r>
              <a:rPr lang="zh-CN" altLang="en-US" sz="2400"/>
              <a:t>        return func(*args, **kwargs)</a:t>
            </a:r>
          </a:p>
          <a:p>
            <a:pPr marL="0" indent="0">
              <a:buNone/>
            </a:pPr>
            <a:r>
              <a:rPr lang="zh-CN" altLang="en-US" sz="2400"/>
              <a:t>    return inner_a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/>
              <a:t># </a:t>
            </a:r>
            <a:r>
              <a:rPr lang="zh-CN" altLang="en-US" sz="2400"/>
              <a:t>第二个装饰器函数</a:t>
            </a:r>
          </a:p>
          <a:p>
            <a:pPr marL="0" indent="0">
              <a:buNone/>
            </a:pPr>
            <a:r>
              <a:rPr lang="zh-CN" altLang="en-US" sz="2400"/>
              <a:t>def decorator_b(func):</a:t>
            </a:r>
          </a:p>
          <a:p>
            <a:pPr marL="0" indent="0">
              <a:buNone/>
            </a:pPr>
            <a:r>
              <a:rPr lang="zh-CN" altLang="en-US" sz="2400"/>
              <a:t>    print("Get in decorator_b")</a:t>
            </a:r>
          </a:p>
          <a:p>
            <a:pPr marL="0" indent="0">
              <a:buNone/>
            </a:pPr>
            <a:r>
              <a:rPr lang="zh-CN" altLang="en-US" sz="2400"/>
              <a:t>    def inner_b(*args, **kwargs):</a:t>
            </a:r>
          </a:p>
          <a:p>
            <a:pPr marL="0" indent="0">
              <a:buNone/>
            </a:pPr>
            <a:r>
              <a:rPr lang="zh-CN" altLang="en-US" sz="2400"/>
              <a:t>        print("Get in inner_b")</a:t>
            </a:r>
          </a:p>
          <a:p>
            <a:pPr marL="0" indent="0">
              <a:buNone/>
            </a:pPr>
            <a:r>
              <a:rPr lang="zh-CN" altLang="en-US" sz="2400"/>
              <a:t>        return func(*args, **kwargs)</a:t>
            </a:r>
          </a:p>
          <a:p>
            <a:pPr marL="0" indent="0">
              <a:buNone/>
            </a:pPr>
            <a:r>
              <a:rPr lang="zh-CN" altLang="en-US" sz="2400"/>
              <a:t>    return inner_b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83810" y="5880735"/>
            <a:ext cx="1811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后接下一页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375C1F-33BD-4814-BF04-4B5057CC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>
                <a:sym typeface="+mn-ea"/>
              </a:rPr>
              <a:t>9-9 多重装饰器示例</a:t>
            </a:r>
            <a:r>
              <a:rPr>
                <a:sym typeface="+mn-ea"/>
              </a:rPr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@decorator_b</a:t>
            </a:r>
          </a:p>
          <a:p>
            <a:pPr marL="0" indent="0">
              <a:buNone/>
            </a:pPr>
            <a:r>
              <a:rPr lang="zh-CN" altLang="en-US"/>
              <a:t>@decorator_a</a:t>
            </a:r>
          </a:p>
          <a:p>
            <a:pPr marL="0" indent="0">
              <a:buNone/>
            </a:pPr>
            <a:r>
              <a:rPr lang="zh-CN" altLang="en-US"/>
              <a:t>def f(x):                     # 被装饰函数</a:t>
            </a:r>
          </a:p>
          <a:p>
            <a:pPr marL="0" indent="0">
              <a:buNone/>
            </a:pPr>
            <a:r>
              <a:rPr lang="zh-CN" altLang="en-US"/>
              <a:t>    print("Get in f")</a:t>
            </a:r>
          </a:p>
          <a:p>
            <a:pPr marL="0" indent="0">
              <a:buNone/>
            </a:pPr>
            <a:r>
              <a:rPr lang="zh-CN" altLang="en-US"/>
              <a:t>    return x * 10</a:t>
            </a:r>
          </a:p>
          <a:p>
            <a:pPr marL="0" indent="0">
              <a:buNone/>
            </a:pPr>
            <a:r>
              <a:rPr lang="zh-CN" altLang="en-US"/>
              <a:t>f(5)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34735" y="3721100"/>
            <a:ext cx="35001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Get in decorator_a</a:t>
            </a:r>
          </a:p>
          <a:p>
            <a:r>
              <a:rPr lang="zh-CN" altLang="en-US" sz="2800" dirty="0"/>
              <a:t>Get in decorator_b</a:t>
            </a:r>
          </a:p>
          <a:p>
            <a:r>
              <a:rPr lang="zh-CN" altLang="en-US" sz="2800" dirty="0"/>
              <a:t>Get in inner_b</a:t>
            </a:r>
          </a:p>
          <a:p>
            <a:r>
              <a:rPr lang="zh-CN" altLang="en-US" sz="2800" dirty="0"/>
              <a:t>Get in inner_a</a:t>
            </a:r>
          </a:p>
          <a:p>
            <a:r>
              <a:rPr lang="zh-CN" altLang="en-US" sz="2800" dirty="0"/>
              <a:t>Get in f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7707E4-1161-4FB6-A225-01EE486D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9.8 </a:t>
            </a:r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模块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A1FE7A-84A3-43A9-82D3-04B93AFF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9.8.1 </a:t>
            </a:r>
            <a:r>
              <a:t>什么是模块</a:t>
            </a:r>
          </a:p>
        </p:txBody>
      </p:sp>
      <p:sp>
        <p:nvSpPr>
          <p:cNvPr id="4" name="矩形 3"/>
          <p:cNvSpPr/>
          <p:nvPr/>
        </p:nvSpPr>
        <p:spPr>
          <a:xfrm>
            <a:off x="2221865" y="1479550"/>
            <a:ext cx="752856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 dirty="0">
                <a:ln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就是源程序文件！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01035" y="3107055"/>
            <a:ext cx="5102225" cy="2184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优点：</a:t>
            </a:r>
          </a:p>
          <a:p>
            <a:pPr>
              <a:lnSpc>
                <a:spcPct val="17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提高代码的可重用性</a:t>
            </a:r>
          </a:p>
          <a:p>
            <a:pPr>
              <a:lnSpc>
                <a:spcPct val="17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避免同名变量冲突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D821BC7-D5D1-41AC-803A-5EEADAE5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5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9.8.2 Python</a:t>
            </a:r>
            <a:r>
              <a:t>的程序架构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6414135" y="1123315"/>
            <a:ext cx="4392295" cy="1727835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复杂程序多数由</a:t>
            </a:r>
            <a:r>
              <a:rPr lang="en-US" altLang="zh-CN" sz="2400" dirty="0"/>
              <a:t>1</a:t>
            </a:r>
            <a:r>
              <a:rPr lang="zh-CN" altLang="en-US" sz="2400" dirty="0"/>
              <a:t>个主程序和多个模块构成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99456" y="2922270"/>
            <a:ext cx="38722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假设有一个程序：</a:t>
            </a:r>
          </a:p>
          <a:p>
            <a:r>
              <a:rPr lang="en-US" altLang="zh-CN" sz="3600" dirty="0"/>
              <a:t>a.py</a:t>
            </a:r>
          </a:p>
          <a:p>
            <a:r>
              <a:rPr lang="en-US" altLang="zh-CN" sz="3600" dirty="0"/>
              <a:t>b.py</a:t>
            </a:r>
          </a:p>
          <a:p>
            <a:r>
              <a:rPr lang="en-US" altLang="zh-CN" sz="3600" dirty="0"/>
              <a:t>c.py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223385" y="3556635"/>
            <a:ext cx="4392295" cy="2736215"/>
            <a:chOff x="6651" y="5601"/>
            <a:chExt cx="6917" cy="4309"/>
          </a:xfrm>
        </p:grpSpPr>
        <p:sp>
          <p:nvSpPr>
            <p:cNvPr id="7" name="线形标注 1 6"/>
            <p:cNvSpPr/>
            <p:nvPr/>
          </p:nvSpPr>
          <p:spPr>
            <a:xfrm>
              <a:off x="10620" y="5601"/>
              <a:ext cx="2949" cy="1021"/>
            </a:xfrm>
            <a:prstGeom prst="borderCallout1">
              <a:avLst>
                <a:gd name="adj1" fmla="val 38099"/>
                <a:gd name="adj2" fmla="val 33"/>
                <a:gd name="adj3" fmla="val 49657"/>
                <a:gd name="adj4" fmla="val -24276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/>
                <a:t>主程序</a:t>
              </a:r>
            </a:p>
          </p:txBody>
        </p:sp>
        <p:sp>
          <p:nvSpPr>
            <p:cNvPr id="8" name="线形标注 1 7"/>
            <p:cNvSpPr/>
            <p:nvPr/>
          </p:nvSpPr>
          <p:spPr>
            <a:xfrm>
              <a:off x="9146" y="7214"/>
              <a:ext cx="3062" cy="1021"/>
            </a:xfrm>
            <a:prstGeom prst="borderCallout1">
              <a:avLst>
                <a:gd name="adj1" fmla="val 28403"/>
                <a:gd name="adj2" fmla="val -1077"/>
                <a:gd name="adj3" fmla="val -20568"/>
                <a:gd name="adj4" fmla="val -19007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/>
                <a:t>模块之一</a:t>
              </a:r>
            </a:p>
          </p:txBody>
        </p:sp>
        <p:sp>
          <p:nvSpPr>
            <p:cNvPr id="9" name="线形标注 1 8"/>
            <p:cNvSpPr/>
            <p:nvPr/>
          </p:nvSpPr>
          <p:spPr>
            <a:xfrm>
              <a:off x="6651" y="8890"/>
              <a:ext cx="3175" cy="1021"/>
            </a:xfrm>
            <a:prstGeom prst="borderCallout1">
              <a:avLst>
                <a:gd name="adj1" fmla="val 18707"/>
                <a:gd name="adj2" fmla="val -1322"/>
                <a:gd name="adj3" fmla="val -100489"/>
                <a:gd name="adj4" fmla="val -104472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/>
                <a:t>模块之二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16D9BF-0637-4800-BE1B-911D64C9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6" grpId="0" animBg="1"/>
      <p:bldP spid="6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各个文件中的内容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84860" y="1302385"/>
            <a:ext cx="42138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b.py</a:t>
            </a:r>
            <a:r>
              <a:rPr lang="zh-CN" altLang="en-US" sz="2800" dirty="0"/>
              <a:t>的内容：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zh-CN" altLang="en-US" sz="2800" dirty="0"/>
              <a:t>import math</a:t>
            </a:r>
          </a:p>
          <a:p>
            <a:r>
              <a:rPr lang="zh-CN" altLang="en-US" sz="2800" dirty="0"/>
              <a:t>def area(r):</a:t>
            </a:r>
          </a:p>
          <a:p>
            <a:r>
              <a:rPr lang="zh-CN" altLang="en-US" sz="2800" dirty="0"/>
              <a:t>    print(math.pi * r * r)</a:t>
            </a:r>
          </a:p>
          <a:p>
            <a:r>
              <a:rPr lang="zh-CN" altLang="en-US" sz="2800" dirty="0"/>
              <a:t>def input_b():</a:t>
            </a:r>
          </a:p>
          <a:p>
            <a:r>
              <a:rPr lang="zh-CN" altLang="en-US" sz="2800" dirty="0"/>
              <a:t>    print("I am B module")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4860" y="4627880"/>
            <a:ext cx="42456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c.py</a:t>
            </a:r>
            <a:r>
              <a:rPr lang="zh-CN" altLang="en-US" sz="2800" dirty="0"/>
              <a:t>的内容：</a:t>
            </a:r>
          </a:p>
          <a:p>
            <a:endParaRPr lang="en-US" altLang="zh-CN" sz="2800" dirty="0"/>
          </a:p>
          <a:p>
            <a:r>
              <a:rPr lang="zh-CN" altLang="en-US" sz="2800" dirty="0"/>
              <a:t>def input_c():</a:t>
            </a:r>
          </a:p>
          <a:p>
            <a:r>
              <a:rPr lang="zh-CN" altLang="en-US" sz="2800" dirty="0"/>
              <a:t>    print("I am C module")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51984" y="1040130"/>
            <a:ext cx="5256584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a.py</a:t>
            </a:r>
            <a:r>
              <a:rPr lang="zh-CN" altLang="en-US" sz="2800" dirty="0"/>
              <a:t>的内容：</a:t>
            </a:r>
          </a:p>
          <a:p>
            <a:endParaRPr lang="zh-CN" altLang="en-US" sz="2800" dirty="0"/>
          </a:p>
          <a:p>
            <a:r>
              <a:rPr lang="zh-CN" altLang="en-US" sz="2800" dirty="0"/>
              <a:t>import b, c</a:t>
            </a:r>
            <a:endParaRPr lang="en-US" altLang="zh-CN" sz="2800" dirty="0"/>
          </a:p>
          <a:p>
            <a:r>
              <a:rPr lang="en-US" altLang="zh-CN" sz="2800" dirty="0"/>
              <a:t>	#</a:t>
            </a:r>
            <a:r>
              <a:rPr lang="zh-CN" altLang="en-US" sz="2800" dirty="0"/>
              <a:t>使用别的模块需先导入</a:t>
            </a:r>
          </a:p>
          <a:p>
            <a:r>
              <a:rPr lang="zh-CN" altLang="en-US" sz="2800" dirty="0"/>
              <a:t>b.input_b()</a:t>
            </a:r>
          </a:p>
          <a:p>
            <a:r>
              <a:rPr lang="zh-CN" altLang="en-US" sz="2800" dirty="0"/>
              <a:t>c.input_c()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72B1950-A66D-44A6-84A3-F0DBD185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9.8.3 </a:t>
            </a:r>
            <a:r>
              <a:t>模块搜索路径</a:t>
            </a:r>
            <a:r>
              <a:rPr lang="en-US" altLang="zh-CN"/>
              <a:t>*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384" y="1556792"/>
            <a:ext cx="113052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如何保证模块文件能顺利被主程序调用呢？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/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最简单的方法：把所有文件放在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同一个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文件夹中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可实际上，模块文件不在同一个文件夹中，怎么办？</a:t>
            </a:r>
          </a:p>
          <a:p>
            <a:pPr algn="l"/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2AABA40-3561-4D8F-AC49-52BE04EF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33" y="92028"/>
            <a:ext cx="10131426" cy="924653"/>
          </a:xfrm>
        </p:spPr>
        <p:txBody>
          <a:bodyPr/>
          <a:lstStyle/>
          <a:p>
            <a:r>
              <a:rPr lang="zh-CN" altLang="en-US" dirty="0"/>
              <a:t>设置模块的搜索路径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5400" y="1154811"/>
            <a:ext cx="112121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如果模块文件和主程序不在同一文件夹下，前面的写法将会出错。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查找模块的规则：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首先在当前文件夹下查找；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然后在设置的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built-in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模块中查找；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然后在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sys.path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给定的路劲中查找模块文件。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D0C86F-D283-436D-842F-852431B2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33" y="92028"/>
            <a:ext cx="10131426" cy="924653"/>
          </a:xfrm>
        </p:spPr>
        <p:txBody>
          <a:bodyPr/>
          <a:lstStyle/>
          <a:p>
            <a:r>
              <a:rPr lang="zh-CN" altLang="en-US" dirty="0"/>
              <a:t>设置模块的搜索路径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5400" y="1154811"/>
            <a:ext cx="112121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如何知道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sys.path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已有哪些路径？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&gt;&gt;&gt; import sys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&gt;&gt;&gt; sys.path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['','C:\\Users\\admin\\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AppData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\\Local\\Programs\\Python\\Python39\\Lib\\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idlelib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', 'C:\\Users\\admin\\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AppData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\\Local\\Programs\\Python\\Python39\\python39.zip', 'C:\\Users\\admin\\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AppData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\\Local\\Programs\\Python\\Python39\\DLLs', 'C:\\Users\\admin\\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AppData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\\Local\\Programs\\Python\\Python39\\lib', 'C:\\Users\\admin\\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AppData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\\Local\\Programs\\Python\\Python39', 'C:\\Users\\admin\\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AppData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\\Local\\Programs\\Python\\Python39\\lib\\site-packages']</a:t>
            </a:r>
          </a:p>
          <a:p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D0C86F-D283-436D-842F-852431B2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47525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433" y="92028"/>
            <a:ext cx="10131426" cy="924653"/>
          </a:xfrm>
        </p:spPr>
        <p:txBody>
          <a:bodyPr/>
          <a:lstStyle/>
          <a:p>
            <a:r>
              <a:rPr lang="zh-CN" altLang="en-US" dirty="0"/>
              <a:t>设置模块的搜索路径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5400" y="1154811"/>
            <a:ext cx="112121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将文件夹添加到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sys.path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中：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&gt;&gt;&gt;sys.path.append("C:\\")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D0C86F-D283-436D-842F-852431B2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17059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9.8.4 </a:t>
            </a:r>
            <a:r>
              <a:t>模块的有条件执行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1729105" y="1557020"/>
            <a:ext cx="5249545" cy="21717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如果没有控制，任何模块中的代码在别的模块中都可以导入以后执行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7896225" y="1340485"/>
            <a:ext cx="2643505" cy="2152650"/>
          </a:xfrm>
          <a:prstGeom prst="borderCallout1">
            <a:avLst>
              <a:gd name="adj1" fmla="val 28728"/>
              <a:gd name="adj2" fmla="val 576"/>
              <a:gd name="adj3" fmla="val 75958"/>
              <a:gd name="adj4" fmla="val -8104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altLang="zh-CN" sz="2800"/>
              <a:t>import A</a:t>
            </a:r>
          </a:p>
          <a:p>
            <a:pPr algn="l">
              <a:lnSpc>
                <a:spcPct val="150000"/>
              </a:lnSpc>
            </a:pPr>
            <a:r>
              <a:rPr lang="en-US" altLang="zh-CN" sz="2800"/>
              <a:t>A.fun()</a:t>
            </a:r>
          </a:p>
          <a:p>
            <a:pPr algn="l">
              <a:lnSpc>
                <a:spcPct val="150000"/>
              </a:lnSpc>
            </a:pPr>
            <a:r>
              <a:rPr lang="zh-CN" altLang="en-US" sz="2800">
                <a:solidFill>
                  <a:srgbClr val="FFFF00"/>
                </a:solidFill>
              </a:rPr>
              <a:t>搞定啦！</a:t>
            </a:r>
          </a:p>
        </p:txBody>
      </p:sp>
      <p:sp>
        <p:nvSpPr>
          <p:cNvPr id="6" name="椭圆形标注 5"/>
          <p:cNvSpPr/>
          <p:nvPr/>
        </p:nvSpPr>
        <p:spPr>
          <a:xfrm>
            <a:off x="5663565" y="4580890"/>
            <a:ext cx="4176395" cy="1584325"/>
          </a:xfrm>
          <a:prstGeom prst="wedgeEllipse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老师！我真的不想我的主程序被别的模块随便调用啊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A39DFF-176D-4F08-BADC-CA765D89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bldLvl="0" animBg="1"/>
      <p:bldP spid="5" grpId="1" animBg="1"/>
      <p:bldP spid="6" grpId="0" animBg="1"/>
      <p:bldP spid="6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控制模块的执行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226820"/>
            <a:ext cx="11186715" cy="423672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def main():</a:t>
            </a:r>
          </a:p>
          <a:p>
            <a:pPr marL="0" indent="0">
              <a:buNone/>
            </a:pPr>
            <a:r>
              <a:rPr lang="zh-CN" altLang="en-US" dirty="0"/>
              <a:t>    print(__name__)  </a:t>
            </a:r>
            <a:r>
              <a:rPr lang="en-US" altLang="zh-CN" dirty="0"/>
              <a:t># </a:t>
            </a:r>
            <a:r>
              <a:rPr lang="zh-CN" altLang="en-US" sz="2800" dirty="0"/>
              <a:t>系统变量，能自动根据情况获得变量值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if __name__ ==‘__main__‘:  </a:t>
            </a:r>
            <a:r>
              <a:rPr lang="en-US" altLang="zh-CN" dirty="0"/>
              <a:t># </a:t>
            </a:r>
            <a:r>
              <a:rPr lang="en-US" altLang="zh-CN" sz="2800" dirty="0"/>
              <a:t>__name__</a:t>
            </a:r>
            <a:r>
              <a:rPr lang="zh-CN" altLang="en-US" sz="2800" dirty="0"/>
              <a:t>变量的取值为模块名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main()</a:t>
            </a:r>
          </a:p>
          <a:p>
            <a:pPr marL="0" indent="0">
              <a:buNone/>
            </a:pPr>
            <a:r>
              <a:rPr lang="zh-CN" altLang="en-US" dirty="0"/>
              <a:t>    import test</a:t>
            </a:r>
          </a:p>
          <a:p>
            <a:pPr marL="0" indent="0">
              <a:buNone/>
            </a:pPr>
            <a:r>
              <a:rPr lang="zh-CN" altLang="en-US" dirty="0"/>
              <a:t>    test.test()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1E868FF-3DF4-4F59-B593-C4E6054C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黑体" panose="02010609060101010101" pitchFamily="49" charset="-122"/>
                <a:ea typeface="黑体" panose="02010609060101010101" pitchFamily="49" charset="-122"/>
              </a:rPr>
              <a:t>本章习题  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955" y="1412777"/>
            <a:ext cx="10389271" cy="1656183"/>
          </a:xfrm>
        </p:spPr>
        <p:txBody>
          <a:bodyPr/>
          <a:lstStyle/>
          <a:p>
            <a:r>
              <a:rPr lang="en-US" altLang="zh-CN" dirty="0"/>
              <a:t>P192 </a:t>
            </a:r>
            <a:r>
              <a:rPr lang="zh-CN" altLang="en-US" dirty="0"/>
              <a:t>第</a:t>
            </a:r>
            <a:r>
              <a:rPr lang="en-US" altLang="zh-CN" dirty="0"/>
              <a:t>6,7,8.9</a:t>
            </a:r>
            <a:r>
              <a:rPr lang="zh-CN" altLang="en-US" dirty="0"/>
              <a:t>题。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A6DB8D-8B09-10C8-7DE1-B5B05FFE3E84}"/>
              </a:ext>
            </a:extLst>
          </p:cNvPr>
          <p:cNvSpPr txBox="1"/>
          <p:nvPr/>
        </p:nvSpPr>
        <p:spPr>
          <a:xfrm>
            <a:off x="263352" y="260648"/>
            <a:ext cx="112332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6.</a:t>
            </a:r>
            <a:r>
              <a:rPr lang="zh-CN" altLang="en-US" sz="2800" b="1" dirty="0"/>
              <a:t>哥德巴赫猜想：自定义一个函数：用于判断一个正整数是否为素数，返回值为</a:t>
            </a:r>
            <a:r>
              <a:rPr lang="en-US" altLang="zh-CN" sz="2800" b="1" dirty="0"/>
              <a:t>True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False. </a:t>
            </a:r>
          </a:p>
          <a:p>
            <a:r>
              <a:rPr lang="en-US" altLang="zh-CN" sz="2800" b="1" dirty="0"/>
              <a:t>    </a:t>
            </a:r>
            <a:r>
              <a:rPr lang="zh-CN" altLang="en-US" sz="2800" b="1" dirty="0"/>
              <a:t>用该函数验证哥德巴赫猜想：输入一个大于等于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的正整数，分解成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个素数之和，输出所有分解方法。</a:t>
            </a:r>
            <a:endParaRPr lang="en-US" altLang="zh-CN" sz="28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====</a:t>
            </a:r>
          </a:p>
          <a:p>
            <a:r>
              <a:rPr lang="zh-CN" altLang="en-US" sz="2400" b="1" dirty="0"/>
              <a:t>m=(m大于4)10</a:t>
            </a:r>
          </a:p>
          <a:p>
            <a:r>
              <a:rPr lang="zh-CN" altLang="en-US" sz="2400" b="1" dirty="0"/>
              <a:t>10 = 3 + 7</a:t>
            </a:r>
          </a:p>
          <a:p>
            <a:r>
              <a:rPr lang="zh-CN" altLang="en-US" sz="2400" b="1" dirty="0"/>
              <a:t>10 = 5 + 5</a:t>
            </a:r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332656"/>
            <a:ext cx="11449271" cy="6264696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def </a:t>
            </a:r>
            <a:r>
              <a:rPr lang="en-US" altLang="zh-CN" dirty="0" err="1"/>
              <a:t>isprime</a:t>
            </a:r>
            <a:r>
              <a:rPr lang="en-US" altLang="zh-CN" dirty="0"/>
              <a:t>(x):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if x==1: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return False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elif</a:t>
            </a:r>
            <a:r>
              <a:rPr lang="en-US" altLang="zh-CN" dirty="0"/>
              <a:t> x==2: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return True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else: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for </a:t>
            </a:r>
            <a:r>
              <a:rPr lang="en-US" altLang="zh-CN" dirty="0" err="1"/>
              <a:t>i</a:t>
            </a:r>
            <a:r>
              <a:rPr lang="en-US" altLang="zh-CN" dirty="0"/>
              <a:t> in range(2,x):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    if </a:t>
            </a:r>
            <a:r>
              <a:rPr lang="en-US" altLang="zh-CN" dirty="0" err="1"/>
              <a:t>x%i</a:t>
            </a:r>
            <a:r>
              <a:rPr lang="en-US" altLang="zh-CN" dirty="0"/>
              <a:t>==0: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        return False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else: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    return True</a:t>
            </a:r>
          </a:p>
          <a:p>
            <a:pPr marL="0" indent="0">
              <a:lnSpc>
                <a:spcPts val="1700"/>
              </a:lnSpc>
              <a:buNone/>
            </a:pPr>
            <a:endParaRPr lang="en-US" altLang="zh-CN" dirty="0"/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m=int(input("m=(m</a:t>
            </a:r>
            <a:r>
              <a:rPr lang="zh-CN" altLang="en-US" dirty="0"/>
              <a:t>大于</a:t>
            </a:r>
            <a:r>
              <a:rPr lang="en-US" altLang="zh-CN" dirty="0"/>
              <a:t>4)"))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range(2,m//2+1):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isprime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 and </a:t>
            </a:r>
            <a:r>
              <a:rPr lang="en-US" altLang="zh-CN" dirty="0" err="1"/>
              <a:t>isprime</a:t>
            </a:r>
            <a:r>
              <a:rPr lang="en-US" altLang="zh-CN" dirty="0"/>
              <a:t>(m-</a:t>
            </a:r>
            <a:r>
              <a:rPr lang="en-US" altLang="zh-CN" dirty="0" err="1"/>
              <a:t>i</a:t>
            </a:r>
            <a:r>
              <a:rPr lang="en-US" altLang="zh-CN" dirty="0"/>
              <a:t>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print(m,'=',</a:t>
            </a:r>
            <a:r>
              <a:rPr lang="en-US" altLang="zh-CN" dirty="0" err="1"/>
              <a:t>i</a:t>
            </a:r>
            <a:r>
              <a:rPr lang="en-US" altLang="zh-CN" dirty="0"/>
              <a:t>,'+',m-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pPr marL="0" indent="0">
              <a:lnSpc>
                <a:spcPts val="1700"/>
              </a:lnSpc>
              <a:buNone/>
            </a:pPr>
            <a:endParaRPr lang="en-US" altLang="zh-CN" dirty="0"/>
          </a:p>
          <a:p>
            <a:pPr marL="0" indent="0">
              <a:lnSpc>
                <a:spcPts val="1700"/>
              </a:lnSpc>
              <a:buNone/>
            </a:pP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1E868FF-3DF4-4F59-B593-C4E6054C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56232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08E908-E64E-4DAD-9EE2-A12315CA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73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5FA3E5-5920-B11F-0E2B-D4467A95BAF5}"/>
              </a:ext>
            </a:extLst>
          </p:cNvPr>
          <p:cNvSpPr txBox="1"/>
          <p:nvPr/>
        </p:nvSpPr>
        <p:spPr>
          <a:xfrm>
            <a:off x="335360" y="404664"/>
            <a:ext cx="957706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7. </a:t>
            </a:r>
            <a:r>
              <a:rPr lang="zh-CN" altLang="en-US" sz="2800" b="1" dirty="0"/>
              <a:t>验证密码：用户最多输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次，正确输出</a:t>
            </a:r>
            <a:r>
              <a:rPr lang="en-US" altLang="zh-CN" sz="2800" b="1" dirty="0"/>
              <a:t>Yea,</a:t>
            </a:r>
            <a:r>
              <a:rPr lang="zh-CN" altLang="en-US" sz="2800" b="1" dirty="0"/>
              <a:t>错误输出</a:t>
            </a:r>
            <a:r>
              <a:rPr lang="en-US" altLang="zh-CN" sz="2800" b="1" dirty="0"/>
              <a:t>No</a:t>
            </a:r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===</a:t>
            </a:r>
          </a:p>
          <a:p>
            <a:r>
              <a:rPr lang="zh-CN" altLang="en-US" sz="2400" b="1" dirty="0"/>
              <a:t>pwd: 123</a:t>
            </a:r>
          </a:p>
          <a:p>
            <a:r>
              <a:rPr lang="zh-CN" altLang="en-US" sz="2400" b="1" dirty="0"/>
              <a:t>No</a:t>
            </a:r>
          </a:p>
          <a:p>
            <a:r>
              <a:rPr lang="zh-CN" altLang="en-US" sz="2400" b="1" dirty="0"/>
              <a:t>pwd: 111</a:t>
            </a:r>
          </a:p>
          <a:p>
            <a:r>
              <a:rPr lang="zh-CN" altLang="en-US" sz="2400" b="1" dirty="0"/>
              <a:t>No</a:t>
            </a:r>
          </a:p>
          <a:p>
            <a:r>
              <a:rPr lang="zh-CN" altLang="en-US" sz="2400" b="1" dirty="0"/>
              <a:t>pwd: 12345</a:t>
            </a:r>
          </a:p>
          <a:p>
            <a:r>
              <a:rPr lang="zh-CN" altLang="en-US" sz="2400" b="1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4790345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332656"/>
            <a:ext cx="11449271" cy="4968552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answer = “12345“   #</a:t>
            </a:r>
            <a:r>
              <a:rPr lang="zh-CN" altLang="en-US" dirty="0"/>
              <a:t>后台定义真是密码</a:t>
            </a:r>
            <a:endParaRPr lang="en-US" altLang="zh-CN" dirty="0"/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def </a:t>
            </a:r>
            <a:r>
              <a:rPr lang="en-US" altLang="zh-CN" dirty="0" err="1"/>
              <a:t>yanzheng</a:t>
            </a:r>
            <a:r>
              <a:rPr lang="en-US" altLang="zh-CN" dirty="0"/>
              <a:t>(</a:t>
            </a:r>
            <a:r>
              <a:rPr lang="en-US" altLang="zh-CN" dirty="0" err="1"/>
              <a:t>pwd</a:t>
            </a:r>
            <a:r>
              <a:rPr lang="en-US" altLang="zh-CN" dirty="0"/>
              <a:t>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pwd</a:t>
            </a:r>
            <a:r>
              <a:rPr lang="en-US" altLang="zh-CN" dirty="0"/>
              <a:t>==answer: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return True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else: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return False</a:t>
            </a:r>
          </a:p>
          <a:p>
            <a:pPr marL="0" indent="0">
              <a:lnSpc>
                <a:spcPts val="1700"/>
              </a:lnSpc>
              <a:buNone/>
            </a:pPr>
            <a:endParaRPr lang="en-US" altLang="zh-CN" dirty="0"/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range(3):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pw=input("</a:t>
            </a:r>
            <a:r>
              <a:rPr lang="en-US" altLang="zh-CN" dirty="0" err="1"/>
              <a:t>pwd</a:t>
            </a:r>
            <a:r>
              <a:rPr lang="en-US" altLang="zh-CN" dirty="0"/>
              <a:t>: ")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yanzheng</a:t>
            </a:r>
            <a:r>
              <a:rPr lang="en-US" altLang="zh-CN" dirty="0"/>
              <a:t>(pw):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print('Yes')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break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else: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    print('No')</a:t>
            </a:r>
          </a:p>
          <a:p>
            <a:pPr marL="0" indent="0">
              <a:lnSpc>
                <a:spcPts val="1700"/>
              </a:lnSpc>
              <a:buNone/>
            </a:pP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1E868FF-3DF4-4F59-B593-C4E6054C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56951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332656"/>
            <a:ext cx="11521279" cy="2520280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ts val="1700"/>
              </a:lnSpc>
              <a:buNone/>
            </a:pPr>
            <a:r>
              <a:rPr lang="zh-CN" altLang="en-US" dirty="0"/>
              <a:t>真题：</a:t>
            </a:r>
            <a:r>
              <a:rPr lang="en-US" altLang="zh-CN" dirty="0"/>
              <a:t>【</a:t>
            </a:r>
            <a:r>
              <a:rPr lang="zh-CN" altLang="en-US" dirty="0"/>
              <a:t>寻找梅森素数</a:t>
            </a:r>
            <a:r>
              <a:rPr lang="en-US" altLang="zh-CN" dirty="0"/>
              <a:t>】</a:t>
            </a:r>
            <a:r>
              <a:rPr lang="zh-CN" altLang="en-US" dirty="0"/>
              <a:t>（</a:t>
            </a:r>
            <a:r>
              <a:rPr lang="en-US" altLang="zh-CN" dirty="0"/>
              <a:t>2021</a:t>
            </a:r>
            <a:r>
              <a:rPr lang="zh-CN" altLang="en-US" dirty="0"/>
              <a:t>期末）</a:t>
            </a:r>
            <a:endParaRPr lang="en-US" altLang="zh-CN" dirty="0"/>
          </a:p>
          <a:p>
            <a:pPr marL="0" indent="0">
              <a:lnSpc>
                <a:spcPts val="1700"/>
              </a:lnSpc>
              <a:buNone/>
            </a:pPr>
            <a:endParaRPr lang="zh-CN" altLang="en-US" dirty="0"/>
          </a:p>
          <a:p>
            <a:pPr marL="0" indent="0">
              <a:lnSpc>
                <a:spcPts val="1700"/>
              </a:lnSpc>
              <a:buNone/>
            </a:pPr>
            <a:r>
              <a:rPr lang="zh-CN" altLang="en-US" dirty="0"/>
              <a:t>    梅森数是形如</a:t>
            </a:r>
            <a:r>
              <a:rPr lang="en-US" altLang="zh-CN" dirty="0"/>
              <a:t>2**p-1</a:t>
            </a:r>
            <a:r>
              <a:rPr lang="zh-CN" altLang="en-US" dirty="0"/>
              <a:t>的数，记作</a:t>
            </a:r>
            <a:r>
              <a:rPr lang="en-US" altLang="zh-CN" dirty="0" err="1"/>
              <a:t>Mp</a:t>
            </a:r>
            <a:r>
              <a:rPr lang="en-US" altLang="zh-CN" dirty="0"/>
              <a:t>,</a:t>
            </a:r>
            <a:r>
              <a:rPr lang="zh-CN" altLang="en-US" dirty="0"/>
              <a:t>期中指数</a:t>
            </a:r>
            <a:r>
              <a:rPr lang="en-US" altLang="zh-CN" dirty="0"/>
              <a:t>p</a:t>
            </a:r>
            <a:r>
              <a:rPr lang="zh-CN" altLang="en-US" dirty="0"/>
              <a:t>为素数。例如</a:t>
            </a:r>
          </a:p>
          <a:p>
            <a:pPr marL="0" indent="0">
              <a:lnSpc>
                <a:spcPts val="1700"/>
              </a:lnSpc>
              <a:buNone/>
            </a:pPr>
            <a:r>
              <a:rPr lang="zh-CN" altLang="en-US" dirty="0"/>
              <a:t>如果梅森数是素数，那么他就是梅森素数。例如</a:t>
            </a:r>
            <a:r>
              <a:rPr lang="en-US" altLang="zh-CN" dirty="0"/>
              <a:t>2**2-1=3</a:t>
            </a:r>
            <a:r>
              <a:rPr lang="zh-CN" altLang="en-US" dirty="0"/>
              <a:t>，</a:t>
            </a:r>
            <a:r>
              <a:rPr lang="en-US" altLang="zh-CN" dirty="0"/>
              <a:t>2**3-1=7</a:t>
            </a:r>
            <a:endParaRPr lang="zh-CN" altLang="en-US" dirty="0"/>
          </a:p>
          <a:p>
            <a:pPr marL="0" indent="0">
              <a:lnSpc>
                <a:spcPts val="1700"/>
              </a:lnSpc>
              <a:buNone/>
            </a:pPr>
            <a:r>
              <a:rPr lang="zh-CN" altLang="en-US" dirty="0"/>
              <a:t>    编写程序，找出最小的</a:t>
            </a:r>
            <a:r>
              <a:rPr lang="en-US" altLang="zh-CN" dirty="0"/>
              <a:t>9</a:t>
            </a:r>
            <a:r>
              <a:rPr lang="zh-CN" altLang="en-US" dirty="0"/>
              <a:t>个梅森素数，每行输出</a:t>
            </a:r>
            <a:r>
              <a:rPr lang="en-US" altLang="zh-CN" dirty="0" err="1"/>
              <a:t>p,Mp</a:t>
            </a:r>
            <a:r>
              <a:rPr lang="zh-CN" altLang="en-US" dirty="0"/>
              <a:t>和</a:t>
            </a:r>
            <a:r>
              <a:rPr lang="en-US" altLang="zh-CN" dirty="0" err="1"/>
              <a:t>Mp</a:t>
            </a:r>
            <a:r>
              <a:rPr lang="zh-CN" altLang="en-US" dirty="0"/>
              <a:t>的位数</a:t>
            </a:r>
            <a:endParaRPr lang="en-US" altLang="zh-CN" dirty="0"/>
          </a:p>
          <a:p>
            <a:pPr marL="0" indent="0">
              <a:lnSpc>
                <a:spcPts val="1700"/>
              </a:lnSpc>
              <a:buNone/>
            </a:pPr>
            <a:r>
              <a:rPr lang="en-US" altLang="zh-CN" dirty="0"/>
              <a:t>    </a:t>
            </a:r>
            <a:r>
              <a:rPr lang="zh-CN" altLang="en-US" dirty="0"/>
              <a:t>样例：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1E868FF-3DF4-4F59-B593-C4E6054C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275E83-8C6C-5E2D-7113-1ED3F6569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2708920"/>
            <a:ext cx="3824026" cy="27363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11804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332656"/>
            <a:ext cx="11377263" cy="5328592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def prime(n):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   for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in range(2,int(n**0.5)):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	     if </a:t>
            </a:r>
            <a:r>
              <a:rPr lang="en-US" altLang="zh-CN" sz="2200" dirty="0" err="1"/>
              <a:t>n%i</a:t>
            </a:r>
            <a:r>
              <a:rPr lang="en-US" altLang="zh-CN" sz="2200" dirty="0"/>
              <a:t>==0: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			  return False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   return True</a:t>
            </a:r>
          </a:p>
          <a:p>
            <a:pPr marL="0" indent="0">
              <a:lnSpc>
                <a:spcPts val="1700"/>
              </a:lnSpc>
              <a:buNone/>
            </a:pPr>
            <a:endParaRPr lang="en-US" altLang="zh-CN" sz="2200" dirty="0"/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 err="1"/>
              <a:t>p,m</a:t>
            </a:r>
            <a:r>
              <a:rPr lang="en-US" altLang="zh-CN" sz="2200" dirty="0"/>
              <a:t>=2,3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print(</a:t>
            </a:r>
            <a:r>
              <a:rPr lang="en-US" altLang="zh-CN" sz="2200" dirty="0" err="1"/>
              <a:t>p,m,len</a:t>
            </a:r>
            <a:r>
              <a:rPr lang="en-US" altLang="zh-CN" sz="2200" dirty="0"/>
              <a:t>(str(m)))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p=3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flag=1   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while flag&lt;9: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   m=2**p-1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   if prime(p) and prime(m):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      print(</a:t>
            </a:r>
            <a:r>
              <a:rPr lang="en-US" altLang="zh-CN" sz="2200" dirty="0" err="1"/>
              <a:t>p,m,len</a:t>
            </a:r>
            <a:r>
              <a:rPr lang="en-US" altLang="zh-CN" sz="2200" dirty="0"/>
              <a:t>(str(m)))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altLang="zh-CN" sz="2200" dirty="0"/>
              <a:t>    flag+=1   p+=2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1E868FF-3DF4-4F59-B593-C4E6054C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07595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26A514-C5ED-4AB1-AE10-62D68382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87E17-E372-41DA-956B-265E853E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案例教程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50D6DE-A89A-46CF-AD6B-BA03CF22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B14EFA-E853-4A2E-A26B-06C52D00CE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A37DC6-918E-442F-9DB1-A3D70B5B38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7056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二、向有序列表中增加一个元素 </a:t>
            </a:r>
            <a:r>
              <a:rPr lang="en-US" altLang="zh-CN" dirty="0"/>
              <a:t>P127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27C13A-367B-4222-96F2-B72835E6B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186759" cy="58673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a = [6,14,27,33,46,62,87]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print('the sorted </a:t>
            </a:r>
            <a:r>
              <a:rPr lang="en-US" altLang="zh-CN" sz="1800" dirty="0" err="1"/>
              <a:t>list:',a</a:t>
            </a:r>
            <a:r>
              <a:rPr lang="en-US" altLang="zh-CN" sz="1800" dirty="0"/>
              <a:t>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n =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(a)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v =eval(input('please input: '))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a = a+[0]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def </a:t>
            </a:r>
            <a:r>
              <a:rPr lang="en-US" altLang="zh-CN" sz="1800" dirty="0" err="1"/>
              <a:t>insert_array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a,v</a:t>
            </a:r>
            <a:r>
              <a:rPr lang="en-US" altLang="zh-CN" sz="1800" dirty="0"/>
              <a:t>):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for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in range(n):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    if a[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]&gt;v: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        for j in range(n-1,i-1,-1):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            a[j+1]=a[j]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        a[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]=v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        break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 err="1"/>
              <a:t>insert_array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a,v</a:t>
            </a:r>
            <a:r>
              <a:rPr lang="en-US" altLang="zh-CN" sz="1800" dirty="0"/>
              <a:t>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print('Now is: ',a)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45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三、打印日历 </a:t>
            </a:r>
            <a:r>
              <a:rPr lang="en-US" altLang="zh-CN" dirty="0"/>
              <a:t>P128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27C13A-367B-4222-96F2-B72835E6B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186759" cy="58673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800" dirty="0"/>
              <a:t>实验要求：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</a:t>
            </a:r>
            <a:r>
              <a:rPr lang="zh-CN" altLang="en-US" sz="1800" dirty="0"/>
              <a:t>已知</a:t>
            </a:r>
            <a:r>
              <a:rPr lang="en-US" altLang="zh-CN" sz="1800" dirty="0"/>
              <a:t>1800</a:t>
            </a:r>
            <a:r>
              <a:rPr lang="zh-CN" altLang="en-US" sz="1800" dirty="0"/>
              <a:t>年</a:t>
            </a:r>
            <a:r>
              <a:rPr lang="en-US" altLang="zh-CN" sz="1800" dirty="0"/>
              <a:t>1</a:t>
            </a:r>
            <a:r>
              <a:rPr lang="zh-CN" altLang="en-US" sz="1800" dirty="0"/>
              <a:t>月</a:t>
            </a:r>
            <a:r>
              <a:rPr lang="en-US" altLang="zh-CN" sz="1800" dirty="0"/>
              <a:t>1</a:t>
            </a:r>
            <a:r>
              <a:rPr lang="zh-CN" altLang="en-US" sz="1800" dirty="0"/>
              <a:t>日是星期三，根据用户输入的年份</a:t>
            </a:r>
            <a:r>
              <a:rPr lang="en-US" altLang="zh-CN" sz="1800" dirty="0"/>
              <a:t>year(&gt;=1800)</a:t>
            </a:r>
            <a:r>
              <a:rPr lang="zh-CN" altLang="en-US" sz="1800" dirty="0"/>
              <a:t>和月份输出当月月历。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800" dirty="0"/>
              <a:t>分析：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模块划分：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	1</a:t>
            </a:r>
            <a:r>
              <a:rPr lang="zh-CN" altLang="en-US" sz="1800" dirty="0"/>
              <a:t>）输入日期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	2</a:t>
            </a:r>
            <a:r>
              <a:rPr lang="zh-CN" altLang="en-US" sz="1800" dirty="0"/>
              <a:t>）输出阅历头部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	3</a:t>
            </a:r>
            <a:r>
              <a:rPr lang="zh-CN" altLang="en-US" sz="1800" dirty="0"/>
              <a:t>）计算</a:t>
            </a:r>
            <a:r>
              <a:rPr lang="en-US" altLang="zh-CN" sz="1800" dirty="0"/>
              <a:t>1</a:t>
            </a:r>
            <a:r>
              <a:rPr lang="zh-CN" altLang="en-US" sz="1800" dirty="0"/>
              <a:t>号是星期几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	4</a:t>
            </a:r>
            <a:r>
              <a:rPr lang="zh-CN" altLang="en-US" sz="1800" dirty="0"/>
              <a:t>）计算当月有几天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sz="1800" dirty="0"/>
              <a:t>	5</a:t>
            </a:r>
            <a:r>
              <a:rPr lang="zh-CN" altLang="en-US" sz="1800" dirty="0"/>
              <a:t>）输出月历主体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9806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三、打印日历 </a:t>
            </a:r>
            <a:r>
              <a:rPr lang="en-US" altLang="zh-CN" dirty="0"/>
              <a:t>P128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81</a:t>
            </a:fld>
            <a:endParaRPr lang="zh-CN" altLang="en-US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23469B43-E3B5-48B4-8353-5C7EDBD83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764704"/>
            <a:ext cx="3574090" cy="2499577"/>
          </a:xfrm>
        </p:spPr>
      </p:pic>
    </p:spTree>
    <p:extLst>
      <p:ext uri="{BB962C8B-B14F-4D97-AF65-F5344CB8AC3E}">
        <p14:creationId xmlns:p14="http://schemas.microsoft.com/office/powerpoint/2010/main" val="30711086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三、打印日历 </a:t>
            </a:r>
            <a:r>
              <a:rPr lang="en-US" altLang="zh-CN" dirty="0"/>
              <a:t>P128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EA6E83C-0AB5-408B-80FB-0F9D632AD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764704"/>
            <a:ext cx="9068586" cy="486960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549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三、打印日历 </a:t>
            </a:r>
            <a:r>
              <a:rPr lang="en-US" altLang="zh-CN" dirty="0"/>
              <a:t>P128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27C13A-367B-4222-96F2-B72835E6B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186759" cy="58673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9917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三、打印日历 </a:t>
            </a:r>
            <a:r>
              <a:rPr lang="en-US" altLang="zh-CN" dirty="0"/>
              <a:t>P128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27C13A-367B-4222-96F2-B72835E6B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186759" cy="586738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3575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1A37B-147C-4B41-B684-6736151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25912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四、杨辉三角形 </a:t>
            </a:r>
            <a:r>
              <a:rPr lang="en-US" altLang="zh-CN" dirty="0"/>
              <a:t>P130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D53D-9E5C-48E2-B4ED-57EF1449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70A1788F-526D-4FC5-8AFC-1249C9772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836712"/>
            <a:ext cx="8784976" cy="4657362"/>
          </a:xfrm>
        </p:spPr>
      </p:pic>
    </p:spTree>
    <p:extLst>
      <p:ext uri="{BB962C8B-B14F-4D97-AF65-F5344CB8AC3E}">
        <p14:creationId xmlns:p14="http://schemas.microsoft.com/office/powerpoint/2010/main" val="7471410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DF08E-F688-47C2-9F7F-8EC6CE16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165F9A7-CD36-4D28-9DE3-E534B4A60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60648"/>
            <a:ext cx="9744007" cy="597666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E825C-96B1-4B5E-B83B-41BCEBA2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7712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DC1AF-DF98-4603-B8CF-158F2BA4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13B9E1E-5E61-40D6-B1DD-45001CA8B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1" y="548680"/>
            <a:ext cx="8695381" cy="223224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146E1E-4C9E-49DA-B0CE-0267DB37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6962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jpeg"/></Relationships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天体">
  <a:themeElements>
    <a:clrScheme name="天体">
      <a:dk1>
        <a:sysClr val="windowText" lastClr="FFFFFF"/>
      </a:dk1>
      <a:lt1>
        <a:sysClr val="window" lastClr="000000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天体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体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5132</Words>
  <Application>Microsoft Office PowerPoint</Application>
  <PresentationFormat>宽屏</PresentationFormat>
  <Paragraphs>814</Paragraphs>
  <Slides>87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87</vt:i4>
      </vt:variant>
    </vt:vector>
  </HeadingPairs>
  <TitlesOfParts>
    <vt:vector size="99" baseType="lpstr">
      <vt:lpstr>黑体</vt:lpstr>
      <vt:lpstr>华文新魏</vt:lpstr>
      <vt:lpstr>宋体</vt:lpstr>
      <vt:lpstr>微软雅黑</vt:lpstr>
      <vt:lpstr>Arial</vt:lpstr>
      <vt:lpstr>Calibri</vt:lpstr>
      <vt:lpstr>Calibri Light</vt:lpstr>
      <vt:lpstr>Viner Hand ITC</vt:lpstr>
      <vt:lpstr>当图网</vt:lpstr>
      <vt:lpstr>当图网1</vt:lpstr>
      <vt:lpstr>1_Office 主题​​</vt:lpstr>
      <vt:lpstr>天体</vt:lpstr>
      <vt:lpstr>PowerPoint 演示文稿</vt:lpstr>
      <vt:lpstr>目录</vt:lpstr>
      <vt:lpstr>9.1 函数的定义与使用</vt:lpstr>
      <vt:lpstr>为什么要定义和使用函数？</vt:lpstr>
      <vt:lpstr>9.1.1 函数的定义</vt:lpstr>
      <vt:lpstr>举例4：</vt:lpstr>
      <vt:lpstr>定义函数需遵循的规则</vt:lpstr>
      <vt:lpstr>9.1.2 函数的调用</vt:lpstr>
      <vt:lpstr>定义和使用函数的位置</vt:lpstr>
      <vt:lpstr>[例] 函数判断素数</vt:lpstr>
      <vt:lpstr>PowerPoint 演示文稿</vt:lpstr>
      <vt:lpstr>9.1.3 lambda表达式和匿名函数</vt:lpstr>
      <vt:lpstr>Lambda 示例</vt:lpstr>
      <vt:lpstr>同时定义两个匿名函数</vt:lpstr>
      <vt:lpstr>匿名函数作为返回值</vt:lpstr>
      <vt:lpstr>9.2 函数的参数传递</vt:lpstr>
      <vt:lpstr>9.2.1 参数的传递方式</vt:lpstr>
      <vt:lpstr>举例1：形参不影响实参</vt:lpstr>
      <vt:lpstr>举例2：形参是可变数据，影响到实参的例子</vt:lpstr>
      <vt:lpstr>交换两个数的两种写法对比</vt:lpstr>
      <vt:lpstr>PowerPoint 演示文稿</vt:lpstr>
      <vt:lpstr>9.2.2 参数的类型</vt:lpstr>
      <vt:lpstr>1. 默认值参数</vt:lpstr>
      <vt:lpstr>默认值参数举例</vt:lpstr>
      <vt:lpstr>2. 关键字参数</vt:lpstr>
      <vt:lpstr>关键字参数举例</vt:lpstr>
      <vt:lpstr>3. 可变长度参数</vt:lpstr>
      <vt:lpstr>PowerPoint 演示文稿</vt:lpstr>
      <vt:lpstr>PowerPoint 演示文稿</vt:lpstr>
      <vt:lpstr>9.3 函数的返回值</vt:lpstr>
      <vt:lpstr>9.3.1 return语句和函数返回值</vt:lpstr>
      <vt:lpstr>例9-1 求多个数中的最大值</vt:lpstr>
      <vt:lpstr>9.3.2 多条return语句</vt:lpstr>
      <vt:lpstr>例9-2 求两个数中的较大值，两者相等时输出“Equal”</vt:lpstr>
      <vt:lpstr>9.3.3 返回多个值</vt:lpstr>
      <vt:lpstr>9.4 变量的作用域</vt:lpstr>
      <vt:lpstr>什么是作用域？</vt:lpstr>
      <vt:lpstr>9.4.1 局部变量</vt:lpstr>
      <vt:lpstr>PowerPoint 演示文稿</vt:lpstr>
      <vt:lpstr>9.4.2 全局变量</vt:lpstr>
      <vt:lpstr>函数中要用到全局变量怎么处理？</vt:lpstr>
      <vt:lpstr>9.5 递归函数</vt:lpstr>
      <vt:lpstr>什么是递归？     思想：一生二，二生三，三生无穷</vt:lpstr>
      <vt:lpstr>例9-4 递归法求n的阶乘，输出10以内的阶乘</vt:lpstr>
      <vt:lpstr>例9-5 递归法求两个数的最大公约数</vt:lpstr>
      <vt:lpstr>递归的两大要素</vt:lpstr>
      <vt:lpstr>9.6  内嵌函数*</vt:lpstr>
      <vt:lpstr>内嵌函数示例</vt:lpstr>
      <vt:lpstr>内嵌函数中的变量作用域</vt:lpstr>
      <vt:lpstr>9.7 装饰器*</vt:lpstr>
      <vt:lpstr>装饰器是什么？</vt:lpstr>
      <vt:lpstr>9.7.1 无参数装饰器</vt:lpstr>
      <vt:lpstr>例9-7 为有参数的函数printMessage()增加功能</vt:lpstr>
      <vt:lpstr>9.7.2 有参数装饰器</vt:lpstr>
      <vt:lpstr>例9-8 利用有参数的装饰器扩展有参数的函数的功能</vt:lpstr>
      <vt:lpstr>9.7.3 多重装饰器</vt:lpstr>
      <vt:lpstr>例9-9 多重装饰器示例</vt:lpstr>
      <vt:lpstr>例9-9 多重装饰器示例（续）</vt:lpstr>
      <vt:lpstr>9.8 模块</vt:lpstr>
      <vt:lpstr>9.8.1 什么是模块</vt:lpstr>
      <vt:lpstr>9.8.2 Python的程序架构</vt:lpstr>
      <vt:lpstr>各个文件中的内容</vt:lpstr>
      <vt:lpstr>9.8.3 模块搜索路径*</vt:lpstr>
      <vt:lpstr>设置模块的搜索路径</vt:lpstr>
      <vt:lpstr>设置模块的搜索路径</vt:lpstr>
      <vt:lpstr>设置模块的搜索路径</vt:lpstr>
      <vt:lpstr>9.8.4 模块的有条件执行</vt:lpstr>
      <vt:lpstr>控制模块的执行</vt:lpstr>
      <vt:lpstr>本章习题  P</vt:lpstr>
      <vt:lpstr>课后作业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</vt:lpstr>
      <vt:lpstr>案例教程</vt:lpstr>
      <vt:lpstr>二、向有序列表中增加一个元素 P127</vt:lpstr>
      <vt:lpstr>三、打印日历 P128</vt:lpstr>
      <vt:lpstr>三、打印日历 P128</vt:lpstr>
      <vt:lpstr>三、打印日历 P128</vt:lpstr>
      <vt:lpstr>三、打印日历 P128</vt:lpstr>
      <vt:lpstr>三、打印日历 P128</vt:lpstr>
      <vt:lpstr>四、杨辉三角形 P130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</cp:lastModifiedBy>
  <cp:revision>141</cp:revision>
  <dcterms:created xsi:type="dcterms:W3CDTF">2018-10-09T06:59:00Z</dcterms:created>
  <dcterms:modified xsi:type="dcterms:W3CDTF">2023-04-29T10:07:13Z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