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bin" ContentType="application/vnd.openxmlformats-officedocument.oleObject"/>
  <Default Extension="gif" ContentType="image/gif"/>
  <Default Extension="png" ContentType="image/png"/>
  <Default Extension="wmf" ContentType="image/x-w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diagrams/colors1.xml" ContentType="application/vnd.openxmlformats-officedocument.drawingml.diagramColors+xml"/>
  <Override PartName="/ppt/diagrams/colors2.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fonts/font1.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bookmarkIdSeed="2" embedTrueTypeFonts="1" saveSubsetFonts="1">
  <p:sldMasterIdLst>
    <p:sldMasterId id="2147483648" r:id="rId1"/>
  </p:sldMasterIdLst>
  <p:notesMasterIdLst>
    <p:notesMasterId r:id="rId14"/>
  </p:notesMasterIdLst>
  <p:sldIdLst>
    <p:sldId id="257" r:id="rId3"/>
    <p:sldId id="593" r:id="rId4"/>
    <p:sldId id="258" r:id="rId5"/>
    <p:sldId id="259" r:id="rId6"/>
    <p:sldId id="524" r:id="rId7"/>
    <p:sldId id="522" r:id="rId8"/>
    <p:sldId id="260" r:id="rId9"/>
    <p:sldId id="459" r:id="rId10"/>
    <p:sldId id="602" r:id="rId11"/>
    <p:sldId id="603" r:id="rId12"/>
    <p:sldId id="613" r:id="rId13"/>
    <p:sldId id="604" r:id="rId15"/>
    <p:sldId id="605" r:id="rId16"/>
    <p:sldId id="606" r:id="rId17"/>
    <p:sldId id="607" r:id="rId18"/>
    <p:sldId id="608" r:id="rId19"/>
    <p:sldId id="610" r:id="rId20"/>
    <p:sldId id="611" r:id="rId21"/>
    <p:sldId id="612" r:id="rId22"/>
    <p:sldId id="469" r:id="rId23"/>
    <p:sldId id="614" r:id="rId24"/>
    <p:sldId id="616" r:id="rId25"/>
    <p:sldId id="527" r:id="rId26"/>
    <p:sldId id="530" r:id="rId27"/>
    <p:sldId id="466" r:id="rId28"/>
    <p:sldId id="531" r:id="rId29"/>
    <p:sldId id="479" r:id="rId30"/>
    <p:sldId id="478" r:id="rId31"/>
    <p:sldId id="483" r:id="rId32"/>
    <p:sldId id="482" r:id="rId33"/>
    <p:sldId id="481" r:id="rId34"/>
    <p:sldId id="486" r:id="rId35"/>
    <p:sldId id="537" r:id="rId36"/>
    <p:sldId id="484" r:id="rId37"/>
    <p:sldId id="617" r:id="rId38"/>
    <p:sldId id="490" r:id="rId39"/>
    <p:sldId id="488" r:id="rId40"/>
    <p:sldId id="618" r:id="rId41"/>
    <p:sldId id="487" r:id="rId42"/>
    <p:sldId id="619" r:id="rId43"/>
    <p:sldId id="620" r:id="rId44"/>
    <p:sldId id="491" r:id="rId45"/>
    <p:sldId id="622" r:id="rId46"/>
    <p:sldId id="476" r:id="rId47"/>
    <p:sldId id="625" r:id="rId48"/>
    <p:sldId id="626" r:id="rId49"/>
    <p:sldId id="627" r:id="rId50"/>
    <p:sldId id="596" r:id="rId51"/>
    <p:sldId id="505" r:id="rId52"/>
    <p:sldId id="629" r:id="rId53"/>
    <p:sldId id="630" r:id="rId54"/>
    <p:sldId id="633" r:id="rId55"/>
    <p:sldId id="632" r:id="rId56"/>
    <p:sldId id="504" r:id="rId57"/>
    <p:sldId id="631" r:id="rId58"/>
    <p:sldId id="509" r:id="rId59"/>
    <p:sldId id="507" r:id="rId60"/>
    <p:sldId id="635" r:id="rId61"/>
    <p:sldId id="637" r:id="rId62"/>
    <p:sldId id="638" r:id="rId63"/>
    <p:sldId id="639" r:id="rId64"/>
    <p:sldId id="636" r:id="rId65"/>
    <p:sldId id="640" r:id="rId66"/>
    <p:sldId id="641" r:id="rId67"/>
    <p:sldId id="511" r:id="rId68"/>
    <p:sldId id="642" r:id="rId69"/>
    <p:sldId id="598" r:id="rId70"/>
    <p:sldId id="516" r:id="rId71"/>
    <p:sldId id="515" r:id="rId72"/>
    <p:sldId id="644" r:id="rId73"/>
    <p:sldId id="514" r:id="rId74"/>
    <p:sldId id="502" r:id="rId75"/>
    <p:sldId id="521" r:id="rId76"/>
    <p:sldId id="557" r:id="rId77"/>
    <p:sldId id="558" r:id="rId78"/>
    <p:sldId id="559" r:id="rId79"/>
    <p:sldId id="560" r:id="rId80"/>
    <p:sldId id="645" r:id="rId81"/>
    <p:sldId id="562" r:id="rId82"/>
    <p:sldId id="563" r:id="rId83"/>
    <p:sldId id="564" r:id="rId84"/>
    <p:sldId id="566" r:id="rId85"/>
    <p:sldId id="567" r:id="rId86"/>
    <p:sldId id="568" r:id="rId87"/>
    <p:sldId id="570" r:id="rId88"/>
    <p:sldId id="571" r:id="rId89"/>
    <p:sldId id="575" r:id="rId90"/>
    <p:sldId id="576" r:id="rId91"/>
    <p:sldId id="646" r:id="rId92"/>
    <p:sldId id="649" r:id="rId93"/>
    <p:sldId id="660" r:id="rId94"/>
    <p:sldId id="650" r:id="rId95"/>
    <p:sldId id="652" r:id="rId96"/>
    <p:sldId id="653" r:id="rId97"/>
    <p:sldId id="654" r:id="rId98"/>
    <p:sldId id="648" r:id="rId99"/>
    <p:sldId id="656" r:id="rId100"/>
    <p:sldId id="661" r:id="rId101"/>
    <p:sldId id="662" r:id="rId102"/>
    <p:sldId id="663" r:id="rId103"/>
    <p:sldId id="655" r:id="rId104"/>
    <p:sldId id="665" r:id="rId105"/>
    <p:sldId id="666" r:id="rId106"/>
    <p:sldId id="668" r:id="rId107"/>
    <p:sldId id="669" r:id="rId108"/>
    <p:sldId id="671" r:id="rId109"/>
    <p:sldId id="664" r:id="rId110"/>
    <p:sldId id="672" r:id="rId111"/>
    <p:sldId id="673" r:id="rId112"/>
    <p:sldId id="674" r:id="rId113"/>
    <p:sldId id="676" r:id="rId114"/>
    <p:sldId id="678" r:id="rId115"/>
    <p:sldId id="679" r:id="rId116"/>
    <p:sldId id="680" r:id="rId117"/>
    <p:sldId id="681" r:id="rId118"/>
    <p:sldId id="682" r:id="rId119"/>
    <p:sldId id="683" r:id="rId120"/>
    <p:sldId id="675" r:id="rId121"/>
    <p:sldId id="684" r:id="rId122"/>
    <p:sldId id="685" r:id="rId123"/>
    <p:sldId id="686" r:id="rId124"/>
    <p:sldId id="687" r:id="rId125"/>
    <p:sldId id="688" r:id="rId126"/>
    <p:sldId id="690" r:id="rId127"/>
    <p:sldId id="689" r:id="rId128"/>
    <p:sldId id="647" r:id="rId129"/>
    <p:sldId id="691" r:id="rId130"/>
    <p:sldId id="692" r:id="rId131"/>
    <p:sldId id="693" r:id="rId132"/>
    <p:sldId id="694" r:id="rId133"/>
    <p:sldId id="695" r:id="rId134"/>
    <p:sldId id="696" r:id="rId135"/>
    <p:sldId id="697" r:id="rId136"/>
    <p:sldId id="698" r:id="rId137"/>
    <p:sldId id="699" r:id="rId138"/>
    <p:sldId id="700" r:id="rId139"/>
    <p:sldId id="701" r:id="rId140"/>
    <p:sldId id="702" r:id="rId141"/>
    <p:sldId id="709" r:id="rId142"/>
    <p:sldId id="703" r:id="rId143"/>
    <p:sldId id="704" r:id="rId144"/>
    <p:sldId id="581" r:id="rId145"/>
    <p:sldId id="706" r:id="rId146"/>
    <p:sldId id="708" r:id="rId147"/>
    <p:sldId id="710" r:id="rId148"/>
    <p:sldId id="716" r:id="rId149"/>
    <p:sldId id="713" r:id="rId150"/>
    <p:sldId id="714" r:id="rId151"/>
    <p:sldId id="715" r:id="rId152"/>
    <p:sldId id="583" r:id="rId153"/>
    <p:sldId id="584" r:id="rId154"/>
    <p:sldId id="585" r:id="rId155"/>
    <p:sldId id="717" r:id="rId156"/>
    <p:sldId id="721" r:id="rId157"/>
    <p:sldId id="719" r:id="rId158"/>
    <p:sldId id="720" r:id="rId159"/>
    <p:sldId id="722" r:id="rId160"/>
    <p:sldId id="723" r:id="rId161"/>
    <p:sldId id="724" r:id="rId162"/>
    <p:sldId id="725" r:id="rId163"/>
    <p:sldId id="726" r:id="rId164"/>
    <p:sldId id="727" r:id="rId165"/>
  </p:sldIdLst>
  <p:sldSz cx="9144000" cy="5143500" type="screen16x9"/>
  <p:notesSz cx="6858000" cy="9144000"/>
  <p:embeddedFontLst>
    <p:embeddedFont>
      <p:font typeface="微软雅黑" panose="020B0503020204020204" pitchFamily="34" charset="-122"/>
      <p:regular r:id="rId169"/>
    </p:embeddedFont>
    <p:embeddedFont>
      <p:font typeface="Calibri" panose="020F0502020204030204" charset="0"/>
      <p:regular r:id="rId170"/>
      <p:bold r:id="rId171"/>
      <p:italic r:id="rId172"/>
      <p:boldItalic r:id="rId173"/>
    </p:embeddedFont>
    <p:embeddedFont>
      <p:font typeface="Wingdings 2" panose="05020102010507070707" pitchFamily="18" charset="2"/>
      <p:regular r:id="rId174"/>
    </p:embeddedFont>
    <p:embeddedFont>
      <p:font typeface="Wingdings 3" panose="05040102010807070707" pitchFamily="18" charset="2"/>
      <p:regular r:id="rId175"/>
    </p:embeddedFont>
  </p:embeddedFontLst>
  <p:custDataLst>
    <p:tags r:id="rId176"/>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userDrawn="1">
          <p15:clr>
            <a:srgbClr val="A4A3A4"/>
          </p15:clr>
        </p15:guide>
        <p15:guide id="2" pos="288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00CC"/>
    <a:srgbClr val="000099"/>
    <a:srgbClr val="000066"/>
    <a:srgbClr val="FFFF99"/>
    <a:srgbClr val="00CCFF"/>
    <a:srgbClr val="99FFCC"/>
    <a:srgbClr val="FFCCFF"/>
    <a:srgbClr val="99FF99"/>
    <a:srgbClr val="9900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6353" autoAdjust="0"/>
    <p:restoredTop sz="77389" autoAdjust="0"/>
  </p:normalViewPr>
  <p:slideViewPr>
    <p:cSldViewPr snapToGrid="0" showGuides="1">
      <p:cViewPr varScale="1">
        <p:scale>
          <a:sx n="113" d="100"/>
          <a:sy n="113" d="100"/>
        </p:scale>
        <p:origin x="-912" y="-102"/>
      </p:cViewPr>
      <p:guideLst>
        <p:guide orient="horz" pos="1620"/>
        <p:guide pos="2880"/>
      </p:guideLst>
    </p:cSldViewPr>
  </p:slideViewPr>
  <p:notesTextViewPr>
    <p:cViewPr>
      <p:scale>
        <a:sx n="1" d="1"/>
        <a:sy n="1" d="1"/>
      </p:scale>
      <p:origin x="0" y="0"/>
    </p:cViewPr>
  </p:notesTextViewPr>
  <p:sorterViewPr>
    <p:cViewPr>
      <p:scale>
        <a:sx n="125" d="100"/>
        <a:sy n="125" d="100"/>
      </p:scale>
      <p:origin x="0" y="0"/>
    </p:cViewPr>
  </p:sorter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6.xml"/><Relationship Id="rId98" Type="http://schemas.openxmlformats.org/officeDocument/2006/relationships/slide" Target="slides/slide95.xml"/><Relationship Id="rId97" Type="http://schemas.openxmlformats.org/officeDocument/2006/relationships/slide" Target="slides/slide94.xml"/><Relationship Id="rId96" Type="http://schemas.openxmlformats.org/officeDocument/2006/relationships/slide" Target="slides/slide93.xml"/><Relationship Id="rId95" Type="http://schemas.openxmlformats.org/officeDocument/2006/relationships/slide" Target="slides/slide92.xml"/><Relationship Id="rId94" Type="http://schemas.openxmlformats.org/officeDocument/2006/relationships/slide" Target="slides/slide91.xml"/><Relationship Id="rId93" Type="http://schemas.openxmlformats.org/officeDocument/2006/relationships/slide" Target="slides/slide90.xml"/><Relationship Id="rId92" Type="http://schemas.openxmlformats.org/officeDocument/2006/relationships/slide" Target="slides/slide89.xml"/><Relationship Id="rId91" Type="http://schemas.openxmlformats.org/officeDocument/2006/relationships/slide" Target="slides/slide88.xml"/><Relationship Id="rId90" Type="http://schemas.openxmlformats.org/officeDocument/2006/relationships/slide" Target="slides/slide87.xml"/><Relationship Id="rId9" Type="http://schemas.openxmlformats.org/officeDocument/2006/relationships/slide" Target="slides/slide7.xml"/><Relationship Id="rId89" Type="http://schemas.openxmlformats.org/officeDocument/2006/relationships/slide" Target="slides/slide86.xml"/><Relationship Id="rId88" Type="http://schemas.openxmlformats.org/officeDocument/2006/relationships/slide" Target="slides/slide85.xml"/><Relationship Id="rId87" Type="http://schemas.openxmlformats.org/officeDocument/2006/relationships/slide" Target="slides/slide84.xml"/><Relationship Id="rId86" Type="http://schemas.openxmlformats.org/officeDocument/2006/relationships/slide" Target="slides/slide83.xml"/><Relationship Id="rId85" Type="http://schemas.openxmlformats.org/officeDocument/2006/relationships/slide" Target="slides/slide82.xml"/><Relationship Id="rId84" Type="http://schemas.openxmlformats.org/officeDocument/2006/relationships/slide" Target="slides/slide81.xml"/><Relationship Id="rId83" Type="http://schemas.openxmlformats.org/officeDocument/2006/relationships/slide" Target="slides/slide80.xml"/><Relationship Id="rId82" Type="http://schemas.openxmlformats.org/officeDocument/2006/relationships/slide" Target="slides/slide79.xml"/><Relationship Id="rId81" Type="http://schemas.openxmlformats.org/officeDocument/2006/relationships/slide" Target="slides/slide78.xml"/><Relationship Id="rId80" Type="http://schemas.openxmlformats.org/officeDocument/2006/relationships/slide" Target="slides/slide77.xml"/><Relationship Id="rId8" Type="http://schemas.openxmlformats.org/officeDocument/2006/relationships/slide" Target="slides/slide6.xml"/><Relationship Id="rId79" Type="http://schemas.openxmlformats.org/officeDocument/2006/relationships/slide" Target="slides/slide76.xml"/><Relationship Id="rId78" Type="http://schemas.openxmlformats.org/officeDocument/2006/relationships/slide" Target="slides/slide75.xml"/><Relationship Id="rId77" Type="http://schemas.openxmlformats.org/officeDocument/2006/relationships/slide" Target="slides/slide74.xml"/><Relationship Id="rId76" Type="http://schemas.openxmlformats.org/officeDocument/2006/relationships/slide" Target="slides/slide73.xml"/><Relationship Id="rId75" Type="http://schemas.openxmlformats.org/officeDocument/2006/relationships/slide" Target="slides/slide72.xml"/><Relationship Id="rId74" Type="http://schemas.openxmlformats.org/officeDocument/2006/relationships/slide" Target="slides/slide71.xml"/><Relationship Id="rId73" Type="http://schemas.openxmlformats.org/officeDocument/2006/relationships/slide" Target="slides/slide70.xml"/><Relationship Id="rId72" Type="http://schemas.openxmlformats.org/officeDocument/2006/relationships/slide" Target="slides/slide69.xml"/><Relationship Id="rId71" Type="http://schemas.openxmlformats.org/officeDocument/2006/relationships/slide" Target="slides/slide68.xml"/><Relationship Id="rId70" Type="http://schemas.openxmlformats.org/officeDocument/2006/relationships/slide" Target="slides/slide67.xml"/><Relationship Id="rId7" Type="http://schemas.openxmlformats.org/officeDocument/2006/relationships/slide" Target="slides/slide5.xml"/><Relationship Id="rId69" Type="http://schemas.openxmlformats.org/officeDocument/2006/relationships/slide" Target="slides/slide66.xml"/><Relationship Id="rId68" Type="http://schemas.openxmlformats.org/officeDocument/2006/relationships/slide" Target="slides/slide65.xml"/><Relationship Id="rId67" Type="http://schemas.openxmlformats.org/officeDocument/2006/relationships/slide" Target="slides/slide64.xml"/><Relationship Id="rId66" Type="http://schemas.openxmlformats.org/officeDocument/2006/relationships/slide" Target="slides/slide63.xml"/><Relationship Id="rId65" Type="http://schemas.openxmlformats.org/officeDocument/2006/relationships/slide" Target="slides/slide62.xml"/><Relationship Id="rId64" Type="http://schemas.openxmlformats.org/officeDocument/2006/relationships/slide" Target="slides/slide61.xml"/><Relationship Id="rId63" Type="http://schemas.openxmlformats.org/officeDocument/2006/relationships/slide" Target="slides/slide60.xml"/><Relationship Id="rId62" Type="http://schemas.openxmlformats.org/officeDocument/2006/relationships/slide" Target="slides/slide59.xml"/><Relationship Id="rId61" Type="http://schemas.openxmlformats.org/officeDocument/2006/relationships/slide" Target="slides/slide58.xml"/><Relationship Id="rId60" Type="http://schemas.openxmlformats.org/officeDocument/2006/relationships/slide" Target="slides/slide57.xml"/><Relationship Id="rId6" Type="http://schemas.openxmlformats.org/officeDocument/2006/relationships/slide" Target="slides/slide4.xml"/><Relationship Id="rId59" Type="http://schemas.openxmlformats.org/officeDocument/2006/relationships/slide" Target="slides/slide56.xml"/><Relationship Id="rId58" Type="http://schemas.openxmlformats.org/officeDocument/2006/relationships/slide" Target="slides/slide55.xml"/><Relationship Id="rId57" Type="http://schemas.openxmlformats.org/officeDocument/2006/relationships/slide" Target="slides/slide54.xml"/><Relationship Id="rId56" Type="http://schemas.openxmlformats.org/officeDocument/2006/relationships/slide" Target="slides/slide53.xml"/><Relationship Id="rId55" Type="http://schemas.openxmlformats.org/officeDocument/2006/relationships/slide" Target="slides/slide52.xml"/><Relationship Id="rId54" Type="http://schemas.openxmlformats.org/officeDocument/2006/relationships/slide" Target="slides/slide51.xml"/><Relationship Id="rId53" Type="http://schemas.openxmlformats.org/officeDocument/2006/relationships/slide" Target="slides/slide50.xml"/><Relationship Id="rId52" Type="http://schemas.openxmlformats.org/officeDocument/2006/relationships/slide" Target="slides/slide49.xml"/><Relationship Id="rId51" Type="http://schemas.openxmlformats.org/officeDocument/2006/relationships/slide" Target="slides/slide48.xml"/><Relationship Id="rId50" Type="http://schemas.openxmlformats.org/officeDocument/2006/relationships/slide" Target="slides/slide47.xml"/><Relationship Id="rId5" Type="http://schemas.openxmlformats.org/officeDocument/2006/relationships/slide" Target="slides/slide3.xml"/><Relationship Id="rId49" Type="http://schemas.openxmlformats.org/officeDocument/2006/relationships/slide" Target="slides/slide46.xml"/><Relationship Id="rId48" Type="http://schemas.openxmlformats.org/officeDocument/2006/relationships/slide" Target="slides/slide45.xml"/><Relationship Id="rId47" Type="http://schemas.openxmlformats.org/officeDocument/2006/relationships/slide" Target="slides/slide44.xml"/><Relationship Id="rId46" Type="http://schemas.openxmlformats.org/officeDocument/2006/relationships/slide" Target="slides/slide43.xml"/><Relationship Id="rId45" Type="http://schemas.openxmlformats.org/officeDocument/2006/relationships/slide" Target="slides/slide42.xml"/><Relationship Id="rId44" Type="http://schemas.openxmlformats.org/officeDocument/2006/relationships/slide" Target="slides/slide41.xml"/><Relationship Id="rId43" Type="http://schemas.openxmlformats.org/officeDocument/2006/relationships/slide" Target="slides/slide40.xml"/><Relationship Id="rId42" Type="http://schemas.openxmlformats.org/officeDocument/2006/relationships/slide" Target="slides/slide39.xml"/><Relationship Id="rId41" Type="http://schemas.openxmlformats.org/officeDocument/2006/relationships/slide" Target="slides/slide38.xml"/><Relationship Id="rId40" Type="http://schemas.openxmlformats.org/officeDocument/2006/relationships/slide" Target="slides/slide37.xml"/><Relationship Id="rId4" Type="http://schemas.openxmlformats.org/officeDocument/2006/relationships/slide" Target="slides/slide2.xml"/><Relationship Id="rId39" Type="http://schemas.openxmlformats.org/officeDocument/2006/relationships/slide" Target="slides/slide36.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 Type="http://schemas.openxmlformats.org/officeDocument/2006/relationships/slide" Target="slides/slide27.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6" Type="http://schemas.openxmlformats.org/officeDocument/2006/relationships/tags" Target="tags/tag1.xml"/><Relationship Id="rId175" Type="http://schemas.openxmlformats.org/officeDocument/2006/relationships/font" Target="fonts/font7.fntdata"/><Relationship Id="rId174" Type="http://schemas.openxmlformats.org/officeDocument/2006/relationships/font" Target="fonts/font6.fntdata"/><Relationship Id="rId173" Type="http://schemas.openxmlformats.org/officeDocument/2006/relationships/font" Target="fonts/font5.fntdata"/><Relationship Id="rId172" Type="http://schemas.openxmlformats.org/officeDocument/2006/relationships/font" Target="fonts/font4.fntdata"/><Relationship Id="rId171" Type="http://schemas.openxmlformats.org/officeDocument/2006/relationships/font" Target="fonts/font3.fntdata"/><Relationship Id="rId170" Type="http://schemas.openxmlformats.org/officeDocument/2006/relationships/font" Target="fonts/font2.fntdata"/><Relationship Id="rId17" Type="http://schemas.openxmlformats.org/officeDocument/2006/relationships/slide" Target="slides/slide14.xml"/><Relationship Id="rId169" Type="http://schemas.openxmlformats.org/officeDocument/2006/relationships/font" Target="fonts/font1.fntdata"/><Relationship Id="rId168" Type="http://schemas.openxmlformats.org/officeDocument/2006/relationships/tableStyles" Target="tableStyles.xml"/><Relationship Id="rId167" Type="http://schemas.openxmlformats.org/officeDocument/2006/relationships/viewProps" Target="viewProps.xml"/><Relationship Id="rId166" Type="http://schemas.openxmlformats.org/officeDocument/2006/relationships/presProps" Target="presProps.xml"/><Relationship Id="rId165" Type="http://schemas.openxmlformats.org/officeDocument/2006/relationships/slide" Target="slides/slide162.xml"/><Relationship Id="rId164" Type="http://schemas.openxmlformats.org/officeDocument/2006/relationships/slide" Target="slides/slide161.xml"/><Relationship Id="rId163" Type="http://schemas.openxmlformats.org/officeDocument/2006/relationships/slide" Target="slides/slide160.xml"/><Relationship Id="rId162" Type="http://schemas.openxmlformats.org/officeDocument/2006/relationships/slide" Target="slides/slide159.xml"/><Relationship Id="rId161" Type="http://schemas.openxmlformats.org/officeDocument/2006/relationships/slide" Target="slides/slide158.xml"/><Relationship Id="rId160" Type="http://schemas.openxmlformats.org/officeDocument/2006/relationships/slide" Target="slides/slide157.xml"/><Relationship Id="rId16" Type="http://schemas.openxmlformats.org/officeDocument/2006/relationships/slide" Target="slides/slide13.xml"/><Relationship Id="rId159" Type="http://schemas.openxmlformats.org/officeDocument/2006/relationships/slide" Target="slides/slide156.xml"/><Relationship Id="rId158" Type="http://schemas.openxmlformats.org/officeDocument/2006/relationships/slide" Target="slides/slide155.xml"/><Relationship Id="rId157" Type="http://schemas.openxmlformats.org/officeDocument/2006/relationships/slide" Target="slides/slide154.xml"/><Relationship Id="rId156" Type="http://schemas.openxmlformats.org/officeDocument/2006/relationships/slide" Target="slides/slide153.xml"/><Relationship Id="rId155" Type="http://schemas.openxmlformats.org/officeDocument/2006/relationships/slide" Target="slides/slide152.xml"/><Relationship Id="rId154" Type="http://schemas.openxmlformats.org/officeDocument/2006/relationships/slide" Target="slides/slide151.xml"/><Relationship Id="rId153" Type="http://schemas.openxmlformats.org/officeDocument/2006/relationships/slide" Target="slides/slide150.xml"/><Relationship Id="rId152" Type="http://schemas.openxmlformats.org/officeDocument/2006/relationships/slide" Target="slides/slide149.xml"/><Relationship Id="rId151" Type="http://schemas.openxmlformats.org/officeDocument/2006/relationships/slide" Target="slides/slide148.xml"/><Relationship Id="rId150" Type="http://schemas.openxmlformats.org/officeDocument/2006/relationships/slide" Target="slides/slide147.xml"/><Relationship Id="rId15" Type="http://schemas.openxmlformats.org/officeDocument/2006/relationships/slide" Target="slides/slide12.xml"/><Relationship Id="rId149" Type="http://schemas.openxmlformats.org/officeDocument/2006/relationships/slide" Target="slides/slide146.xml"/><Relationship Id="rId148" Type="http://schemas.openxmlformats.org/officeDocument/2006/relationships/slide" Target="slides/slide145.xml"/><Relationship Id="rId147" Type="http://schemas.openxmlformats.org/officeDocument/2006/relationships/slide" Target="slides/slide144.xml"/><Relationship Id="rId146" Type="http://schemas.openxmlformats.org/officeDocument/2006/relationships/slide" Target="slides/slide143.xml"/><Relationship Id="rId145" Type="http://schemas.openxmlformats.org/officeDocument/2006/relationships/slide" Target="slides/slide142.xml"/><Relationship Id="rId144" Type="http://schemas.openxmlformats.org/officeDocument/2006/relationships/slide" Target="slides/slide141.xml"/><Relationship Id="rId143" Type="http://schemas.openxmlformats.org/officeDocument/2006/relationships/slide" Target="slides/slide140.xml"/><Relationship Id="rId142" Type="http://schemas.openxmlformats.org/officeDocument/2006/relationships/slide" Target="slides/slide139.xml"/><Relationship Id="rId141" Type="http://schemas.openxmlformats.org/officeDocument/2006/relationships/slide" Target="slides/slide138.xml"/><Relationship Id="rId140" Type="http://schemas.openxmlformats.org/officeDocument/2006/relationships/slide" Target="slides/slide137.xml"/><Relationship Id="rId14" Type="http://schemas.openxmlformats.org/officeDocument/2006/relationships/notesMaster" Target="notesMasters/notesMaster1.xml"/><Relationship Id="rId139" Type="http://schemas.openxmlformats.org/officeDocument/2006/relationships/slide" Target="slides/slide136.xml"/><Relationship Id="rId138" Type="http://schemas.openxmlformats.org/officeDocument/2006/relationships/slide" Target="slides/slide135.xml"/><Relationship Id="rId137" Type="http://schemas.openxmlformats.org/officeDocument/2006/relationships/slide" Target="slides/slide134.xml"/><Relationship Id="rId136" Type="http://schemas.openxmlformats.org/officeDocument/2006/relationships/slide" Target="slides/slide133.xml"/><Relationship Id="rId135" Type="http://schemas.openxmlformats.org/officeDocument/2006/relationships/slide" Target="slides/slide132.xml"/><Relationship Id="rId134" Type="http://schemas.openxmlformats.org/officeDocument/2006/relationships/slide" Target="slides/slide131.xml"/><Relationship Id="rId133" Type="http://schemas.openxmlformats.org/officeDocument/2006/relationships/slide" Target="slides/slide130.xml"/><Relationship Id="rId132" Type="http://schemas.openxmlformats.org/officeDocument/2006/relationships/slide" Target="slides/slide129.xml"/><Relationship Id="rId131" Type="http://schemas.openxmlformats.org/officeDocument/2006/relationships/slide" Target="slides/slide128.xml"/><Relationship Id="rId130" Type="http://schemas.openxmlformats.org/officeDocument/2006/relationships/slide" Target="slides/slide127.xml"/><Relationship Id="rId13" Type="http://schemas.openxmlformats.org/officeDocument/2006/relationships/slide" Target="slides/slide11.xml"/><Relationship Id="rId129" Type="http://schemas.openxmlformats.org/officeDocument/2006/relationships/slide" Target="slides/slide126.xml"/><Relationship Id="rId128" Type="http://schemas.openxmlformats.org/officeDocument/2006/relationships/slide" Target="slides/slide125.xml"/><Relationship Id="rId127" Type="http://schemas.openxmlformats.org/officeDocument/2006/relationships/slide" Target="slides/slide124.xml"/><Relationship Id="rId126" Type="http://schemas.openxmlformats.org/officeDocument/2006/relationships/slide" Target="slides/slide123.xml"/><Relationship Id="rId125" Type="http://schemas.openxmlformats.org/officeDocument/2006/relationships/slide" Target="slides/slide122.xml"/><Relationship Id="rId124" Type="http://schemas.openxmlformats.org/officeDocument/2006/relationships/slide" Target="slides/slide121.xml"/><Relationship Id="rId123" Type="http://schemas.openxmlformats.org/officeDocument/2006/relationships/slide" Target="slides/slide120.xml"/><Relationship Id="rId122" Type="http://schemas.openxmlformats.org/officeDocument/2006/relationships/slide" Target="slides/slide119.xml"/><Relationship Id="rId121" Type="http://schemas.openxmlformats.org/officeDocument/2006/relationships/slide" Target="slides/slide118.xml"/><Relationship Id="rId120" Type="http://schemas.openxmlformats.org/officeDocument/2006/relationships/slide" Target="slides/slide117.xml"/><Relationship Id="rId12" Type="http://schemas.openxmlformats.org/officeDocument/2006/relationships/slide" Target="slides/slide10.xml"/><Relationship Id="rId119" Type="http://schemas.openxmlformats.org/officeDocument/2006/relationships/slide" Target="slides/slide116.xml"/><Relationship Id="rId118" Type="http://schemas.openxmlformats.org/officeDocument/2006/relationships/slide" Target="slides/slide115.xml"/><Relationship Id="rId117" Type="http://schemas.openxmlformats.org/officeDocument/2006/relationships/slide" Target="slides/slide114.xml"/><Relationship Id="rId116" Type="http://schemas.openxmlformats.org/officeDocument/2006/relationships/slide" Target="slides/slide113.xml"/><Relationship Id="rId115" Type="http://schemas.openxmlformats.org/officeDocument/2006/relationships/slide" Target="slides/slide112.xml"/><Relationship Id="rId114" Type="http://schemas.openxmlformats.org/officeDocument/2006/relationships/slide" Target="slides/slide111.xml"/><Relationship Id="rId113" Type="http://schemas.openxmlformats.org/officeDocument/2006/relationships/slide" Target="slides/slide110.xml"/><Relationship Id="rId112" Type="http://schemas.openxmlformats.org/officeDocument/2006/relationships/slide" Target="slides/slide109.xml"/><Relationship Id="rId111" Type="http://schemas.openxmlformats.org/officeDocument/2006/relationships/slide" Target="slides/slide108.xml"/><Relationship Id="rId110" Type="http://schemas.openxmlformats.org/officeDocument/2006/relationships/slide" Target="slides/slide107.xml"/><Relationship Id="rId11" Type="http://schemas.openxmlformats.org/officeDocument/2006/relationships/slide" Target="slides/slide9.xml"/><Relationship Id="rId109" Type="http://schemas.openxmlformats.org/officeDocument/2006/relationships/slide" Target="slides/slide106.xml"/><Relationship Id="rId108" Type="http://schemas.openxmlformats.org/officeDocument/2006/relationships/slide" Target="slides/slide105.xml"/><Relationship Id="rId107" Type="http://schemas.openxmlformats.org/officeDocument/2006/relationships/slide" Target="slides/slide104.xml"/><Relationship Id="rId106" Type="http://schemas.openxmlformats.org/officeDocument/2006/relationships/slide" Target="slides/slide103.xml"/><Relationship Id="rId105" Type="http://schemas.openxmlformats.org/officeDocument/2006/relationships/slide" Target="slides/slide102.xml"/><Relationship Id="rId104" Type="http://schemas.openxmlformats.org/officeDocument/2006/relationships/slide" Target="slides/slide101.xml"/><Relationship Id="rId103" Type="http://schemas.openxmlformats.org/officeDocument/2006/relationships/slide" Target="slides/slide100.xml"/><Relationship Id="rId102" Type="http://schemas.openxmlformats.org/officeDocument/2006/relationships/slide" Target="slides/slide99.xml"/><Relationship Id="rId101" Type="http://schemas.openxmlformats.org/officeDocument/2006/relationships/slide" Target="slides/slide98.xml"/><Relationship Id="rId100" Type="http://schemas.openxmlformats.org/officeDocument/2006/relationships/slide" Target="slides/slide97.xml"/><Relationship Id="rId10" Type="http://schemas.openxmlformats.org/officeDocument/2006/relationships/slide" Target="slides/slide8.xml"/><Relationship Id="rId1" Type="http://schemas.openxmlformats.org/officeDocument/2006/relationships/slideMaster" Target="slideMasters/slideMaster1.xml"/></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移动 </a:t>
          </a:r>
          <a:r>
            <a:rPr lang="en-US" altLang="en-US" sz="1600" b="1" dirty="0" smtClean="0">
              <a:latin typeface="微软雅黑" panose="020B0503020204020204" pitchFamily="34" charset="-122"/>
              <a:ea typeface="微软雅黑" panose="020B0503020204020204" pitchFamily="34" charset="-122"/>
            </a:rPr>
            <a:t>IP</a:t>
          </a:r>
          <a:endParaRPr lang="zh-CN" altLang="en-US" sz="1600" b="1" dirty="0">
            <a:latin typeface="微软雅黑" panose="020B0503020204020204" pitchFamily="34" charset="-122"/>
            <a:ea typeface="微软雅黑" panose="020B0503020204020204" pitchFamily="34" charset="-122"/>
          </a:endParaRPr>
        </a:p>
      </dgm:t>
    </dgm:pt>
    <dgm:pt modelId="{7779C20A-CF07-46B0-B936-A6C64196D555}" cxnId="{E94733B6-D6F7-4CB4-B5EB-CE726AC2E408}"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cxnId="{E94733B6-D6F7-4CB4-B5EB-CE726AC2E408}"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A1A2DED1-7A96-449B-948C-9AFFC52870FB}">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漫游的主机可以用多种方式连接到互联网。</a:t>
          </a:r>
          <a:endParaRPr lang="zh-CN" altLang="en-US" sz="1600" b="1" dirty="0">
            <a:latin typeface="微软雅黑" panose="020B0503020204020204" pitchFamily="34" charset="-122"/>
            <a:ea typeface="微软雅黑" panose="020B0503020204020204" pitchFamily="34" charset="-122"/>
          </a:endParaRPr>
        </a:p>
      </dgm:t>
    </dgm:pt>
    <dgm:pt modelId="{42EDD29C-C998-46AA-9647-EA61F597E67E}" cxnId="{AB306B81-FB8F-45EC-A77B-BC8ED986A75C}"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1B74F761-EE9E-4C6D-991D-7D504BE042BB}" cxnId="{AB306B81-FB8F-45EC-A77B-BC8ED986A75C}"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漫游的主机可以直接或通过无线链路连接到固定网络上的另一个子网。</a:t>
          </a:r>
          <a:endParaRPr lang="zh-CN" altLang="en-US" sz="1600" b="1" dirty="0">
            <a:latin typeface="微软雅黑" panose="020B0503020204020204" pitchFamily="34" charset="-122"/>
            <a:ea typeface="微软雅黑" panose="020B0503020204020204" pitchFamily="34" charset="-122"/>
          </a:endParaRPr>
        </a:p>
      </dgm:t>
    </dgm:pt>
    <dgm:pt modelId="{D26F16F3-24B6-4492-B0D5-019ED015B7F8}" cxnId="{F36DECD8-0377-4F2F-A48A-C8BA8688B250}"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cxnId="{F36DECD8-0377-4F2F-A48A-C8BA8688B250}"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移动自组网络</a:t>
          </a:r>
          <a:endParaRPr lang="zh-CN" altLang="en-US" sz="1600" b="1" dirty="0">
            <a:latin typeface="微软雅黑" panose="020B0503020204020204" pitchFamily="34" charset="-122"/>
            <a:ea typeface="微软雅黑" panose="020B0503020204020204" pitchFamily="34" charset="-122"/>
          </a:endParaRPr>
        </a:p>
      </dgm:t>
    </dgm:pt>
    <dgm:pt modelId="{F748ABAD-7E49-4D6C-885A-AC3BE05A1F2E}" cxnId="{59B0CE95-C5CD-41C9-B333-41F1D0D3ED3B}"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cxnId="{59B0CE95-C5CD-41C9-B333-41F1D0D3ED3B}"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把移动性扩展到无线领域中的自治系统。</a:t>
          </a:r>
          <a:endParaRPr lang="zh-CN" altLang="en-US" sz="1600" b="1" dirty="0">
            <a:latin typeface="微软雅黑" panose="020B0503020204020204" pitchFamily="34" charset="-122"/>
            <a:ea typeface="微软雅黑" panose="020B0503020204020204" pitchFamily="34" charset="-122"/>
          </a:endParaRPr>
        </a:p>
      </dgm:t>
    </dgm:pt>
    <dgm:pt modelId="{B4C83756-7CBE-49A4-83D9-98C9797F0F1F}" cxnId="{F37E952F-FE17-4FD9-A441-46178DFE840B}"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cxnId="{F37E952F-FE17-4FD9-A441-46178DFE840B}"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C59DC06-678D-4673-A543-AFE2B46C2819}">
      <dgm:prSet phldrT="[文本]" custT="1"/>
      <dgm:spPr/>
      <dgm:t>
        <a:bodyPr/>
        <a:lstStyle/>
        <a:p>
          <a:pPr>
            <a:spcBef>
              <a:spcPts val="0"/>
            </a:spcBef>
            <a:spcAft>
              <a:spcPts val="0"/>
            </a:spcAft>
          </a:pPr>
          <a:r>
            <a:rPr lang="zh-CN" altLang="en-US" sz="1600" b="1" dirty="0" smtClean="0">
              <a:solidFill>
                <a:srgbClr val="0000FF"/>
              </a:solidFill>
              <a:latin typeface="微软雅黑" panose="020B0503020204020204" pitchFamily="34" charset="-122"/>
              <a:ea typeface="微软雅黑" panose="020B0503020204020204" pitchFamily="34" charset="-122"/>
            </a:rPr>
            <a:t>末梢网络：</a:t>
          </a:r>
          <a:r>
            <a:rPr lang="zh-CN" altLang="en-US" sz="1600" b="1" dirty="0" smtClean="0">
              <a:latin typeface="微软雅黑" panose="020B0503020204020204" pitchFamily="34" charset="-122"/>
              <a:ea typeface="微软雅黑" panose="020B0503020204020204" pitchFamily="34" charset="-122"/>
            </a:rPr>
            <a:t>不允许外部通信量穿越该网络。</a:t>
          </a:r>
          <a:endParaRPr lang="zh-CN" altLang="en-US" sz="1600" b="1" dirty="0">
            <a:latin typeface="微软雅黑" panose="020B0503020204020204" pitchFamily="34" charset="-122"/>
            <a:ea typeface="微软雅黑" panose="020B0503020204020204" pitchFamily="34" charset="-122"/>
          </a:endParaRPr>
        </a:p>
      </dgm:t>
    </dgm:pt>
    <dgm:pt modelId="{34454BE2-E2DB-4D77-A1CE-FA0835A86B80}" cxnId="{1C4A554D-A23F-44C0-A015-4B6FD97EE942}"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B84E97B-383D-4F59-A29F-DFA1D111AD75}" cxnId="{1C4A554D-A23F-44C0-A015-4B6FD97EE942}"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需要地址管理和增加协议的互操作性。</a:t>
          </a:r>
          <a:endParaRPr lang="zh-CN" altLang="en-US" sz="1600" b="1" dirty="0">
            <a:latin typeface="微软雅黑" panose="020B0503020204020204" pitchFamily="34" charset="-122"/>
            <a:ea typeface="微软雅黑" panose="020B0503020204020204" pitchFamily="34" charset="-122"/>
          </a:endParaRPr>
        </a:p>
      </dgm:t>
    </dgm:pt>
    <dgm:pt modelId="{3A2ED0FA-1EF3-45F6-865A-ABC242F67A38}" cxnId="{C4614AB7-C9E1-4182-B65D-FC39AF3EE3CD}" type="parTrans">
      <dgm:prSet/>
      <dgm:spPr/>
      <dgm:t>
        <a:bodyPr/>
        <a:lstStyle/>
        <a:p>
          <a:pPr>
            <a:spcBef>
              <a:spcPts val="0"/>
            </a:spcBef>
            <a:spcAft>
              <a:spcPts val="0"/>
            </a:spcAft>
          </a:pPr>
          <a:endParaRPr lang="zh-CN" altLang="en-US"/>
        </a:p>
      </dgm:t>
    </dgm:pt>
    <dgm:pt modelId="{DCA4CE6B-16AE-4B9E-8C62-30C60CAD6A5B}" cxnId="{C4614AB7-C9E1-4182-B65D-FC39AF3EE3CD}" type="sibTrans">
      <dgm:prSet/>
      <dgm:spPr/>
      <dgm:t>
        <a:bodyPr/>
        <a:lstStyle/>
        <a:p>
          <a:pPr>
            <a:spcBef>
              <a:spcPts val="0"/>
            </a:spcBef>
            <a:spcAft>
              <a:spcPts val="0"/>
            </a:spcAft>
          </a:pPr>
          <a:endParaRPr lang="zh-CN" altLang="en-US"/>
        </a:p>
      </dgm:t>
    </dgm:pt>
    <dgm:pt modelId="{36C43ABF-8093-4D8B-B4EE-7F9F1334402C}">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核心网络功能仍然是各种路由选择协议。</a:t>
          </a:r>
          <a:endParaRPr lang="zh-CN" altLang="en-US" sz="1600" b="1" dirty="0">
            <a:latin typeface="微软雅黑" panose="020B0503020204020204" pitchFamily="34" charset="-122"/>
            <a:ea typeface="微软雅黑" panose="020B0503020204020204" pitchFamily="34" charset="-122"/>
          </a:endParaRPr>
        </a:p>
      </dgm:t>
    </dgm:pt>
    <dgm:pt modelId="{25F6A130-6126-48BF-83F7-C930D16E1EAA}" cxnId="{DC3BF987-96BA-4937-B38C-B8A73941A992}" type="parTrans">
      <dgm:prSet/>
      <dgm:spPr/>
      <dgm:t>
        <a:bodyPr/>
        <a:lstStyle/>
        <a:p>
          <a:pPr>
            <a:spcBef>
              <a:spcPts val="0"/>
            </a:spcBef>
            <a:spcAft>
              <a:spcPts val="0"/>
            </a:spcAft>
          </a:pPr>
          <a:endParaRPr lang="zh-CN" altLang="en-US"/>
        </a:p>
      </dgm:t>
    </dgm:pt>
    <dgm:pt modelId="{ABE328B4-1E6E-4BBE-9548-C1FAD39E5704}" cxnId="{DC3BF987-96BA-4937-B38C-B8A73941A992}" type="sibTrans">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具有自己特定的路由选择协议，并且可以不和互联网相连。</a:t>
          </a:r>
          <a:endParaRPr lang="zh-CN" altLang="en-US" sz="1600" b="1" dirty="0">
            <a:latin typeface="微软雅黑" panose="020B0503020204020204" pitchFamily="34" charset="-122"/>
            <a:ea typeface="微软雅黑" panose="020B0503020204020204" pitchFamily="34" charset="-122"/>
          </a:endParaRPr>
        </a:p>
      </dgm:t>
    </dgm:pt>
    <dgm:pt modelId="{402A0B97-34F3-4C0F-BE44-3CB59751F557}" cxnId="{29EEA948-629C-4CC0-8D66-7A44007F3F8F}" type="parTrans">
      <dgm:prSet/>
      <dgm:spPr/>
      <dgm:t>
        <a:bodyPr/>
        <a:lstStyle/>
        <a:p>
          <a:pPr>
            <a:spcBef>
              <a:spcPts val="0"/>
            </a:spcBef>
            <a:spcAft>
              <a:spcPts val="0"/>
            </a:spcAft>
          </a:pPr>
          <a:endParaRPr lang="zh-CN" altLang="en-US"/>
        </a:p>
      </dgm:t>
    </dgm:pt>
    <dgm:pt modelId="{6D942553-FA44-47D8-8A80-9F52F147C982}" cxnId="{29EEA948-629C-4CC0-8D66-7A44007F3F8F}" type="sibTrans">
      <dgm:prSet/>
      <dgm:spPr/>
      <dgm:t>
        <a:bodyPr/>
        <a:lstStyle/>
        <a:p>
          <a:pPr>
            <a:spcBef>
              <a:spcPts val="0"/>
            </a:spcBef>
            <a:spcAft>
              <a:spcPts val="0"/>
            </a:spcAft>
          </a:pPr>
          <a:endParaRPr lang="zh-CN" altLang="en-US"/>
        </a:p>
      </dgm:t>
    </dgm:pt>
    <dgm:pt modelId="{7F4AB62F-E6E8-401C-A65C-9108D00A7921}">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即使和互联网相连时，移动自组网络也是以末梢网络 </a:t>
          </a:r>
          <a:r>
            <a:rPr lang="en-US" altLang="en-US" sz="1600" b="1" dirty="0" smtClean="0">
              <a:latin typeface="微软雅黑" panose="020B0503020204020204" pitchFamily="34" charset="-122"/>
              <a:ea typeface="微软雅黑" panose="020B0503020204020204" pitchFamily="34" charset="-122"/>
            </a:rPr>
            <a:t>(stub network) </a:t>
          </a:r>
          <a:r>
            <a:rPr lang="zh-CN" altLang="en-US" sz="1600" b="1" dirty="0" smtClean="0">
              <a:latin typeface="微软雅黑" panose="020B0503020204020204" pitchFamily="34" charset="-122"/>
              <a:ea typeface="微软雅黑" panose="020B0503020204020204" pitchFamily="34" charset="-122"/>
            </a:rPr>
            <a:t>方式工作。</a:t>
          </a:r>
          <a:endParaRPr lang="zh-CN" altLang="en-US" sz="1600" b="1" dirty="0">
            <a:latin typeface="微软雅黑" panose="020B0503020204020204" pitchFamily="34" charset="-122"/>
            <a:ea typeface="微软雅黑" panose="020B0503020204020204" pitchFamily="34" charset="-122"/>
          </a:endParaRPr>
        </a:p>
      </dgm:t>
    </dgm:pt>
    <dgm:pt modelId="{AB7C995F-FB13-4B1E-BAF4-677848CDB566}" cxnId="{AEAEE0FD-72BE-4188-B948-15A16CEAF2D0}" type="parTrans">
      <dgm:prSet/>
      <dgm:spPr/>
      <dgm:t>
        <a:bodyPr/>
        <a:lstStyle/>
        <a:p>
          <a:pPr>
            <a:spcBef>
              <a:spcPts val="0"/>
            </a:spcBef>
            <a:spcAft>
              <a:spcPts val="0"/>
            </a:spcAft>
          </a:pPr>
          <a:endParaRPr lang="zh-CN" altLang="en-US"/>
        </a:p>
      </dgm:t>
    </dgm:pt>
    <dgm:pt modelId="{1D9068A5-5133-40EC-9D89-5986C783D863}" cxnId="{AEAEE0FD-72BE-4188-B948-15A16CEAF2D0}" type="sibTrans">
      <dgm:prSet/>
      <dgm:spPr/>
      <dgm:t>
        <a:bodyPr/>
        <a:lstStyle/>
        <a:p>
          <a:pPr>
            <a:spcBef>
              <a:spcPts val="0"/>
            </a:spcBef>
            <a:spcAft>
              <a:spcPts val="0"/>
            </a:spcAft>
          </a:pPr>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t>
        <a:bodyPr/>
        <a:lstStyle/>
        <a:p>
          <a:endParaRPr lang="zh-CN" altLang="en-US"/>
        </a:p>
      </dgm:t>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t>
        <a:bodyPr/>
        <a:lstStyle/>
        <a:p>
          <a:endParaRPr lang="zh-CN" altLang="en-US"/>
        </a:p>
      </dgm:t>
    </dgm:pt>
    <dgm:pt modelId="{029A2D68-A105-4969-A5E9-8387CC29AA4B}" type="pres">
      <dgm:prSet presAssocID="{CD89CDF2-D34B-4E0E-B217-8BF9E13E4DF1}" presName="desTx" presStyleLbl="alignAccFollowNode1" presStyleIdx="0" presStyleCnt="2">
        <dgm:presLayoutVars>
          <dgm:bulletEnabled val="1"/>
        </dgm:presLayoutVars>
      </dgm:prSet>
      <dgm:spPr/>
      <dgm:t>
        <a:bodyPr/>
        <a:lstStyle/>
        <a:p>
          <a:endParaRPr lang="zh-CN" altLang="en-US"/>
        </a:p>
      </dgm:t>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t>
        <a:bodyPr/>
        <a:lstStyle/>
        <a:p>
          <a:endParaRPr lang="zh-CN" altLang="en-US"/>
        </a:p>
      </dgm:t>
    </dgm:pt>
    <dgm:pt modelId="{43F97FFB-59E7-4DDE-8C5D-7BAF62EB5EA3}" type="pres">
      <dgm:prSet presAssocID="{64BFC9BD-47C9-429C-9319-1A95A4D648B4}" presName="desTx" presStyleLbl="alignAccFollowNode1" presStyleIdx="1" presStyleCnt="2">
        <dgm:presLayoutVars>
          <dgm:bulletEnabled val="1"/>
        </dgm:presLayoutVars>
      </dgm:prSet>
      <dgm:spPr/>
      <dgm:t>
        <a:bodyPr/>
        <a:lstStyle/>
        <a:p>
          <a:endParaRPr lang="zh-CN" altLang="en-US"/>
        </a:p>
      </dgm:t>
    </dgm:pt>
  </dgm:ptLst>
  <dgm:cxnLst>
    <dgm:cxn modelId="{1C4A554D-A23F-44C0-A015-4B6FD97EE942}" srcId="{64BFC9BD-47C9-429C-9319-1A95A4D648B4}" destId="{9C59DC06-678D-4673-A543-AFE2B46C2819}" srcOrd="3" destOrd="0" parTransId="{34454BE2-E2DB-4D77-A1CE-FA0835A86B80}" sibTransId="{9B84E97B-383D-4F59-A29F-DFA1D111AD75}"/>
    <dgm:cxn modelId="{AB306B81-FB8F-45EC-A77B-BC8ED986A75C}" srcId="{CD89CDF2-D34B-4E0E-B217-8BF9E13E4DF1}" destId="{A1A2DED1-7A96-449B-948C-9AFFC52870FB}" srcOrd="0" destOrd="0" parTransId="{42EDD29C-C998-46AA-9647-EA61F597E67E}" sibTransId="{1B74F761-EE9E-4C6D-991D-7D504BE042BB}"/>
    <dgm:cxn modelId="{AEAEE0FD-72BE-4188-B948-15A16CEAF2D0}" srcId="{64BFC9BD-47C9-429C-9319-1A95A4D648B4}" destId="{7F4AB62F-E6E8-401C-A65C-9108D00A7921}" srcOrd="2" destOrd="0" parTransId="{AB7C995F-FB13-4B1E-BAF4-677848CDB566}" sibTransId="{1D9068A5-5133-40EC-9D89-5986C783D863}"/>
    <dgm:cxn modelId="{60B2A25F-BEE1-40B6-B74F-BC653E2FDC71}" type="presOf" srcId="{5F8EB3A2-7713-485D-B3D6-8372B817B21E}" destId="{029A2D68-A105-4969-A5E9-8387CC29AA4B}" srcOrd="0" destOrd="1"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F36DECD8-0377-4F2F-A48A-C8BA8688B250}" srcId="{CD89CDF2-D34B-4E0E-B217-8BF9E13E4DF1}" destId="{5F8EB3A2-7713-485D-B3D6-8372B817B21E}" srcOrd="1" destOrd="0" parTransId="{D26F16F3-24B6-4492-B0D5-019ED015B7F8}" sibTransId="{B0385B2A-5833-4B55-895D-33BC84F41DCE}"/>
    <dgm:cxn modelId="{EA526FD2-5E73-4CF7-BC74-38162A9B4F85}" type="presOf" srcId="{B10E6D86-9A0A-4BA3-A144-CE80F82EA404}" destId="{43F97FFB-59E7-4DDE-8C5D-7BAF62EB5EA3}"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6D58668-C2C4-4749-80B7-3587C55695F4}" type="presOf" srcId="{A1A2DED1-7A96-449B-948C-9AFFC52870FB}" destId="{029A2D68-A105-4969-A5E9-8387CC29AA4B}" srcOrd="0" destOrd="0" presId="urn:microsoft.com/office/officeart/2005/8/layout/hList1"/>
    <dgm:cxn modelId="{C4614AB7-C9E1-4182-B65D-FC39AF3EE3CD}" srcId="{CD89CDF2-D34B-4E0E-B217-8BF9E13E4DF1}" destId="{6E6D6E1A-3588-42D1-9E3E-C780F05F295F}" srcOrd="2" destOrd="0" parTransId="{3A2ED0FA-1EF3-45F6-865A-ABC242F67A38}" sibTransId="{DCA4CE6B-16AE-4B9E-8C62-30C60CAD6A5B}"/>
    <dgm:cxn modelId="{F37E952F-FE17-4FD9-A441-46178DFE840B}" srcId="{64BFC9BD-47C9-429C-9319-1A95A4D648B4}" destId="{B10E6D86-9A0A-4BA3-A144-CE80F82EA404}" srcOrd="0" destOrd="0" parTransId="{B4C83756-7CBE-49A4-83D9-98C9797F0F1F}" sibTransId="{61415CCA-A283-4BCD-AE6A-894BBC950D7F}"/>
    <dgm:cxn modelId="{87013B80-343F-44E9-A581-A6E0143C2796}" type="presOf" srcId="{87AC13B5-C017-43A5-A3FC-9E24388100A6}" destId="{B5F25D68-A1B3-44EE-8DB4-D9520513E1D9}" srcOrd="0" destOrd="0" presId="urn:microsoft.com/office/officeart/2005/8/layout/hList1"/>
    <dgm:cxn modelId="{2C0A324F-DF5A-4A07-A60A-72C90FCEB4B8}" type="presOf" srcId="{9C59DC06-678D-4673-A543-AFE2B46C2819}" destId="{43F97FFB-59E7-4DDE-8C5D-7BAF62EB5EA3}" srcOrd="0" destOrd="3" presId="urn:microsoft.com/office/officeart/2005/8/layout/hList1"/>
    <dgm:cxn modelId="{DC3BF987-96BA-4937-B38C-B8A73941A992}" srcId="{CD89CDF2-D34B-4E0E-B217-8BF9E13E4DF1}" destId="{36C43ABF-8093-4D8B-B4EE-7F9F1334402C}" srcOrd="3" destOrd="0" parTransId="{25F6A130-6126-48BF-83F7-C930D16E1EAA}" sibTransId="{ABE328B4-1E6E-4BBE-9548-C1FAD39E5704}"/>
    <dgm:cxn modelId="{FC25E160-E350-4B33-A525-0E0C09C17A68}" type="presOf" srcId="{64BFC9BD-47C9-429C-9319-1A95A4D648B4}" destId="{8AD6637D-68E4-4546-B053-8729057570A5}" srcOrd="0" destOrd="0" presId="urn:microsoft.com/office/officeart/2005/8/layout/hList1"/>
    <dgm:cxn modelId="{41259695-477E-43EC-9F8A-54E073AA91FB}" type="presOf" srcId="{6E6D6E1A-3588-42D1-9E3E-C780F05F295F}" destId="{029A2D68-A105-4969-A5E9-8387CC29AA4B}" srcOrd="0" destOrd="2" presId="urn:microsoft.com/office/officeart/2005/8/layout/hList1"/>
    <dgm:cxn modelId="{E4E847E9-3331-494E-BFF3-24CD4E42339A}" type="presOf" srcId="{36C43ABF-8093-4D8B-B4EE-7F9F1334402C}" destId="{029A2D68-A105-4969-A5E9-8387CC29AA4B}" srcOrd="0" destOrd="3" presId="urn:microsoft.com/office/officeart/2005/8/layout/hList1"/>
    <dgm:cxn modelId="{CCC9EB6F-6FEC-4D99-86D4-E468A228D5D4}" type="presOf" srcId="{CD89CDF2-D34B-4E0E-B217-8BF9E13E4DF1}" destId="{80F058AD-5D1D-4AA0-BE37-0F9A4669F34C}" srcOrd="0" destOrd="0"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10D067D9-9067-4BA7-8465-53ECEED177FF}" type="presOf" srcId="{7F4AB62F-E6E8-401C-A65C-9108D00A7921}" destId="{43F97FFB-59E7-4DDE-8C5D-7BAF62EB5EA3}" srcOrd="0" destOrd="2" presId="urn:microsoft.com/office/officeart/2005/8/layout/hList1"/>
    <dgm:cxn modelId="{E94733B6-D6F7-4CB4-B5EB-CE726AC2E408}" srcId="{87AC13B5-C017-43A5-A3FC-9E24388100A6}" destId="{CD89CDF2-D34B-4E0E-B217-8BF9E13E4DF1}" srcOrd="0" destOrd="0" parTransId="{7779C20A-CF07-46B0-B936-A6C64196D555}" sibTransId="{3ACE89B1-E38D-46A2-AB12-1C9FA7EF8D4F}"/>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虚拟载波监听</a:t>
          </a:r>
          <a:endParaRPr lang="zh-CN" altLang="en-US" sz="1600" b="1" dirty="0">
            <a:latin typeface="微软雅黑" panose="020B0503020204020204" pitchFamily="34" charset="-122"/>
            <a:ea typeface="微软雅黑" panose="020B0503020204020204" pitchFamily="34" charset="-122"/>
          </a:endParaRPr>
        </a:p>
      </dgm:t>
    </dgm:pt>
    <dgm:pt modelId="{7779C20A-CF07-46B0-B936-A6C64196D555}" cxnId="{E94733B6-D6F7-4CB4-B5EB-CE726AC2E408}"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cxnId="{E94733B6-D6F7-4CB4-B5EB-CE726AC2E408}"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源站 </a:t>
          </a:r>
          <a:r>
            <a:rPr lang="en-US" altLang="en-US" sz="1400" b="1" dirty="0" smtClean="0">
              <a:latin typeface="微软雅黑" panose="020B0503020204020204" pitchFamily="34" charset="-122"/>
              <a:ea typeface="微软雅黑" panose="020B0503020204020204" pitchFamily="34" charset="-122"/>
            </a:rPr>
            <a:t>A </a:t>
          </a:r>
          <a:r>
            <a:rPr lang="zh-CN" altLang="en-US" sz="1400" b="1" dirty="0" smtClean="0">
              <a:latin typeface="微软雅黑" panose="020B0503020204020204" pitchFamily="34" charset="-122"/>
              <a:ea typeface="微软雅黑" panose="020B0503020204020204" pitchFamily="34" charset="-122"/>
            </a:rPr>
            <a:t>把要占用信道的时间（</a:t>
          </a:r>
          <a:r>
            <a:rPr lang="en-US" altLang="en-US" sz="1400" b="1" dirty="0" smtClean="0">
              <a:latin typeface="微软雅黑" panose="020B0503020204020204" pitchFamily="34" charset="-122"/>
              <a:ea typeface="微软雅黑" panose="020B0503020204020204" pitchFamily="34" charset="-122"/>
            </a:rPr>
            <a:t>DATA + SIFS + ACK</a:t>
          </a:r>
          <a:r>
            <a:rPr lang="zh-CN" altLang="en-US" sz="1400" b="1" dirty="0" smtClean="0">
              <a:latin typeface="微软雅黑" panose="020B0503020204020204" pitchFamily="34" charset="-122"/>
              <a:ea typeface="微软雅黑" panose="020B0503020204020204" pitchFamily="34" charset="-122"/>
            </a:rPr>
            <a:t>），写入其数据帧 </a:t>
          </a:r>
          <a:r>
            <a:rPr lang="en-US" altLang="en-US" sz="1400" b="1" dirty="0" smtClean="0">
              <a:latin typeface="微软雅黑" panose="020B0503020204020204" pitchFamily="34" charset="-122"/>
              <a:ea typeface="微软雅黑" panose="020B0503020204020204" pitchFamily="34" charset="-122"/>
            </a:rPr>
            <a:t>DATA </a:t>
          </a:r>
          <a:r>
            <a:rPr lang="zh-CN" altLang="en-US" sz="1400" b="1" dirty="0" smtClean="0">
              <a:latin typeface="微软雅黑" panose="020B0503020204020204" pitchFamily="34" charset="-122"/>
              <a:ea typeface="微软雅黑" panose="020B0503020204020204" pitchFamily="34" charset="-122"/>
            </a:rPr>
            <a:t>的首部。</a:t>
          </a:r>
          <a:endParaRPr lang="zh-CN" altLang="en-US" sz="1400" b="1" dirty="0">
            <a:latin typeface="微软雅黑" panose="020B0503020204020204" pitchFamily="34" charset="-122"/>
            <a:ea typeface="微软雅黑" panose="020B0503020204020204" pitchFamily="34" charset="-122"/>
          </a:endParaRPr>
        </a:p>
      </dgm:t>
    </dgm:pt>
    <dgm:pt modelId="{D26F16F3-24B6-4492-B0D5-019ED015B7F8}" cxnId="{F36DECD8-0377-4F2F-A48A-C8BA8688B250}"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cxnId="{F36DECD8-0377-4F2F-A48A-C8BA8688B250}"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载波监听</a:t>
          </a:r>
          <a:endParaRPr lang="zh-CN" altLang="en-US" sz="1600" b="1" dirty="0">
            <a:latin typeface="微软雅黑" panose="020B0503020204020204" pitchFamily="34" charset="-122"/>
            <a:ea typeface="微软雅黑" panose="020B0503020204020204" pitchFamily="34" charset="-122"/>
          </a:endParaRPr>
        </a:p>
      </dgm:t>
    </dgm:pt>
    <dgm:pt modelId="{F748ABAD-7E49-4D6C-885A-AC3BE05A1F2E}" cxnId="{59B0CE95-C5CD-41C9-B333-41F1D0D3ED3B}"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cxnId="{59B0CE95-C5CD-41C9-B333-41F1D0D3ED3B}"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在物理层用硬件实现。</a:t>
          </a:r>
          <a:endParaRPr lang="zh-CN" altLang="en-US" sz="1400" b="1" dirty="0">
            <a:latin typeface="微软雅黑" panose="020B0503020204020204" pitchFamily="34" charset="-122"/>
            <a:ea typeface="微软雅黑" panose="020B0503020204020204" pitchFamily="34" charset="-122"/>
          </a:endParaRPr>
        </a:p>
      </dgm:t>
    </dgm:pt>
    <dgm:pt modelId="{B4C83756-7CBE-49A4-83D9-98C9797F0F1F}" cxnId="{F37E952F-FE17-4FD9-A441-46178DFE840B}" type="par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cxnId="{F37E952F-FE17-4FD9-A441-46178DFE840B}" type="sibTrans">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所有处在站点 </a:t>
          </a:r>
          <a:r>
            <a:rPr lang="en-US" altLang="en-US" sz="1400" b="1" dirty="0" smtClean="0">
              <a:latin typeface="微软雅黑" panose="020B0503020204020204" pitchFamily="34" charset="-122"/>
              <a:ea typeface="微软雅黑" panose="020B0503020204020204" pitchFamily="34" charset="-122"/>
            </a:rPr>
            <a:t>A </a:t>
          </a:r>
          <a:r>
            <a:rPr lang="zh-CN" altLang="en-US" sz="1400" b="1" dirty="0" smtClean="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dirty="0" smtClean="0">
              <a:solidFill>
                <a:srgbClr val="C00000"/>
              </a:solidFill>
              <a:latin typeface="微软雅黑" panose="020B0503020204020204" pitchFamily="34" charset="-122"/>
              <a:ea typeface="微软雅黑" panose="020B0503020204020204" pitchFamily="34" charset="-122"/>
            </a:rPr>
            <a:t>网络分配向量 </a:t>
          </a:r>
          <a:r>
            <a:rPr lang="en-US" altLang="en-US" sz="1400" b="1" dirty="0" smtClean="0">
              <a:solidFill>
                <a:srgbClr val="C00000"/>
              </a:solidFill>
              <a:latin typeface="微软雅黑" panose="020B0503020204020204" pitchFamily="34" charset="-122"/>
              <a:ea typeface="微软雅黑" panose="020B0503020204020204" pitchFamily="34" charset="-122"/>
            </a:rPr>
            <a:t>NAV </a:t>
          </a:r>
          <a:r>
            <a:rPr lang="en-US" altLang="en-US" sz="1400" b="1" dirty="0" smtClean="0">
              <a:latin typeface="微软雅黑" panose="020B0503020204020204" pitchFamily="34" charset="-122"/>
              <a:ea typeface="微软雅黑" panose="020B0503020204020204" pitchFamily="34" charset="-122"/>
            </a:rPr>
            <a:t>(Network Allocation Vector)</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dgm:t>
    </dgm:pt>
    <dgm:pt modelId="{3A2ED0FA-1EF3-45F6-865A-ABC242F67A38}" cxnId="{C4614AB7-C9E1-4182-B65D-FC39AF3EE3CD}" type="parTrans">
      <dgm:prSet/>
      <dgm:spPr/>
      <dgm:t>
        <a:bodyPr/>
        <a:lstStyle/>
        <a:p>
          <a:pPr>
            <a:spcBef>
              <a:spcPts val="0"/>
            </a:spcBef>
            <a:spcAft>
              <a:spcPts val="0"/>
            </a:spcAft>
          </a:pPr>
          <a:endParaRPr lang="zh-CN" altLang="en-US"/>
        </a:p>
      </dgm:t>
    </dgm:pt>
    <dgm:pt modelId="{DCA4CE6B-16AE-4B9E-8C62-30C60CAD6A5B}" cxnId="{C4614AB7-C9E1-4182-B65D-FC39AF3EE3CD}" type="sibTrans">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endParaRPr lang="zh-CN" altLang="en-US" sz="1400" b="1" dirty="0">
            <a:latin typeface="微软雅黑" panose="020B0503020204020204" pitchFamily="34" charset="-122"/>
            <a:ea typeface="微软雅黑" panose="020B0503020204020204" pitchFamily="34" charset="-122"/>
          </a:endParaRPr>
        </a:p>
      </dgm:t>
    </dgm:pt>
    <dgm:pt modelId="{402A0B97-34F3-4C0F-BE44-3CB59751F557}" cxnId="{29EEA948-629C-4CC0-8D66-7A44007F3F8F}" type="parTrans">
      <dgm:prSet/>
      <dgm:spPr/>
      <dgm:t>
        <a:bodyPr/>
        <a:lstStyle/>
        <a:p>
          <a:pPr>
            <a:spcBef>
              <a:spcPts val="0"/>
            </a:spcBef>
            <a:spcAft>
              <a:spcPts val="0"/>
            </a:spcAft>
          </a:pPr>
          <a:endParaRPr lang="zh-CN" altLang="en-US"/>
        </a:p>
      </dgm:t>
    </dgm:pt>
    <dgm:pt modelId="{6D942553-FA44-47D8-8A80-9F52F147C982}" cxnId="{29EEA948-629C-4CC0-8D66-7A44007F3F8F}" type="sibTrans">
      <dgm:prSet/>
      <dgm:spPr/>
      <dgm:t>
        <a:bodyPr/>
        <a:lstStyle/>
        <a:p>
          <a:pPr>
            <a:spcBef>
              <a:spcPts val="0"/>
            </a:spcBef>
            <a:spcAft>
              <a:spcPts val="0"/>
            </a:spcAft>
          </a:pPr>
          <a:endParaRPr lang="zh-CN" altLang="en-US"/>
        </a:p>
      </dgm:t>
    </dgm:pt>
    <dgm:pt modelId="{0188EC0A-1A5B-42A1-B50A-BF29D2AA4D6D}">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软件实现。</a:t>
          </a:r>
          <a:endParaRPr lang="zh-CN" altLang="en-US" sz="1400" b="1" dirty="0">
            <a:latin typeface="微软雅黑" panose="020B0503020204020204" pitchFamily="34" charset="-122"/>
            <a:ea typeface="微软雅黑" panose="020B0503020204020204" pitchFamily="34" charset="-122"/>
          </a:endParaRPr>
        </a:p>
      </dgm:t>
    </dgm:pt>
    <dgm:pt modelId="{01A3DD19-B181-4D55-858F-BB5E7C2BC91E}" cxnId="{8F3FBD3D-2A6F-4FF1-928D-A390DDB890DE}" type="parTrans">
      <dgm:prSet/>
      <dgm:spPr/>
      <dgm:t>
        <a:bodyPr/>
        <a:lstStyle/>
        <a:p>
          <a:endParaRPr lang="zh-CN" altLang="en-US"/>
        </a:p>
      </dgm:t>
    </dgm:pt>
    <dgm:pt modelId="{55374888-2704-4B5E-85C7-C12A139ABCEF}" cxnId="{8F3FBD3D-2A6F-4FF1-928D-A390DDB890DE}" type="sibTrans">
      <dgm:prSet/>
      <dgm:spPr/>
      <dgm:t>
        <a:bodyPr/>
        <a:lstStyle/>
        <a:p>
          <a:endParaRPr lang="zh-CN" altLang="en-US"/>
        </a:p>
      </dgm:t>
    </dgm:pt>
    <dgm:pt modelId="{820A8474-FE3A-48D0-A3DF-8BFDEE4ED16B}">
      <dgm:prSet phldrT="[文本]" custT="1"/>
      <dgm:spPr/>
      <dgm:t>
        <a:bodyPr/>
        <a:lstStyle/>
        <a:p>
          <a:pPr>
            <a:spcBef>
              <a:spcPts val="0"/>
            </a:spcBef>
            <a:spcAft>
              <a:spcPts val="0"/>
            </a:spcAft>
          </a:pPr>
          <a:r>
            <a:rPr lang="en-US" altLang="en-US" sz="1400" b="1" dirty="0" smtClean="0">
              <a:solidFill>
                <a:srgbClr val="0000CC"/>
              </a:solidFill>
              <a:latin typeface="微软雅黑" panose="020B0503020204020204" pitchFamily="34" charset="-122"/>
              <a:ea typeface="微软雅黑" panose="020B0503020204020204" pitchFamily="34" charset="-122"/>
            </a:rPr>
            <a:t>NAV </a:t>
          </a:r>
          <a:r>
            <a:rPr lang="zh-CN" altLang="en-US" sz="1400" b="1" dirty="0" smtClean="0">
              <a:solidFill>
                <a:srgbClr val="0000CC"/>
              </a:solidFill>
              <a:latin typeface="微软雅黑" panose="020B0503020204020204" pitchFamily="34" charset="-122"/>
              <a:ea typeface="微软雅黑" panose="020B0503020204020204" pitchFamily="34" charset="-122"/>
            </a:rPr>
            <a:t>指出：</a:t>
          </a:r>
          <a:r>
            <a:rPr lang="zh-CN" altLang="en-US" sz="1400" b="1" dirty="0" smtClean="0">
              <a:latin typeface="微软雅黑" panose="020B0503020204020204" pitchFamily="34" charset="-122"/>
              <a:ea typeface="微软雅黑" panose="020B0503020204020204" pitchFamily="34" charset="-122"/>
            </a:rPr>
            <a:t>信道忙的持续时间，意思是：“</a:t>
          </a:r>
          <a:r>
            <a:rPr lang="zh-CN" altLang="en-US" sz="1400" b="1" dirty="0" smtClean="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dgm:t>
    </dgm:pt>
    <dgm:pt modelId="{5C22BFD3-8E28-42A4-9FD7-07DDA0D9D4A9}" cxnId="{5EAAE858-5395-49DB-98C1-474CC4602E97}" type="parTrans">
      <dgm:prSet/>
      <dgm:spPr/>
      <dgm:t>
        <a:bodyPr/>
        <a:lstStyle/>
        <a:p>
          <a:endParaRPr lang="zh-CN" altLang="en-US"/>
        </a:p>
      </dgm:t>
    </dgm:pt>
    <dgm:pt modelId="{8660CE10-724B-4F6A-BEEE-1BD7D9E38FF4}" cxnId="{5EAAE858-5395-49DB-98C1-474CC4602E97}" type="sibTrans">
      <dgm:prSet/>
      <dgm:spPr/>
      <dgm:t>
        <a:bodyPr/>
        <a:lstStyle/>
        <a:p>
          <a:endParaRPr lang="zh-CN" altLang="en-US"/>
        </a:p>
      </dgm:t>
    </dgm:pt>
    <dgm:pt modelId="{647F3DE4-4200-4DCC-86D6-539D04826DA4}">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任何站要发送数据之前，必须监听信道。只要监听到信道忙，就不能发送数据。</a:t>
          </a:r>
          <a:endParaRPr lang="zh-CN" altLang="en-US" sz="1400" b="1" dirty="0">
            <a:latin typeface="微软雅黑" panose="020B0503020204020204" pitchFamily="34" charset="-122"/>
            <a:ea typeface="微软雅黑" panose="020B0503020204020204" pitchFamily="34" charset="-122"/>
          </a:endParaRPr>
        </a:p>
      </dgm:t>
    </dgm:pt>
    <dgm:pt modelId="{ACA452C0-FA06-4219-B47C-91D32414F5D3}" cxnId="{421A1B94-6AE9-4C0C-A5DC-24F5001B4A6E}" type="parTrans">
      <dgm:prSet/>
      <dgm:spPr/>
      <dgm:t>
        <a:bodyPr/>
        <a:lstStyle/>
        <a:p>
          <a:endParaRPr lang="zh-CN" altLang="en-US"/>
        </a:p>
      </dgm:t>
    </dgm:pt>
    <dgm:pt modelId="{0AFECCB2-A04F-445D-8EA3-E4C5E0B864A6}" cxnId="{421A1B94-6AE9-4C0C-A5DC-24F5001B4A6E}" type="sibTrans">
      <dgm:prSet/>
      <dgm:spPr/>
      <dgm:t>
        <a:bodyPr/>
        <a:lstStyle/>
        <a:p>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t>
        <a:bodyPr/>
        <a:lstStyle/>
        <a:p>
          <a:endParaRPr lang="zh-CN" altLang="en-US"/>
        </a:p>
      </dgm:t>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t>
        <a:bodyPr/>
        <a:lstStyle/>
        <a:p>
          <a:endParaRPr lang="zh-CN" altLang="en-US"/>
        </a:p>
      </dgm:t>
    </dgm:pt>
    <dgm:pt modelId="{029A2D68-A105-4969-A5E9-8387CC29AA4B}" type="pres">
      <dgm:prSet presAssocID="{CD89CDF2-D34B-4E0E-B217-8BF9E13E4DF1}" presName="desTx" presStyleLbl="alignAccFollowNode1" presStyleIdx="0" presStyleCnt="2">
        <dgm:presLayoutVars>
          <dgm:bulletEnabled val="1"/>
        </dgm:presLayoutVars>
      </dgm:prSet>
      <dgm:spPr/>
      <dgm:t>
        <a:bodyPr/>
        <a:lstStyle/>
        <a:p>
          <a:endParaRPr lang="zh-CN" altLang="en-US"/>
        </a:p>
      </dgm:t>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t>
        <a:bodyPr/>
        <a:lstStyle/>
        <a:p>
          <a:endParaRPr lang="zh-CN" altLang="en-US"/>
        </a:p>
      </dgm:t>
    </dgm:pt>
    <dgm:pt modelId="{43F97FFB-59E7-4DDE-8C5D-7BAF62EB5EA3}" type="pres">
      <dgm:prSet presAssocID="{64BFC9BD-47C9-429C-9319-1A95A4D648B4}" presName="desTx" presStyleLbl="alignAccFollowNode1" presStyleIdx="1" presStyleCnt="2">
        <dgm:presLayoutVars>
          <dgm:bulletEnabled val="1"/>
        </dgm:presLayoutVars>
      </dgm:prSet>
      <dgm:spPr/>
      <dgm:t>
        <a:bodyPr/>
        <a:lstStyle/>
        <a:p>
          <a:endParaRPr lang="zh-CN" altLang="en-US"/>
        </a:p>
      </dgm:t>
    </dgm:pt>
  </dgm:ptLst>
  <dgm:cxnLst>
    <dgm:cxn modelId="{8F3FBD3D-2A6F-4FF1-928D-A390DDB890DE}" srcId="{CD89CDF2-D34B-4E0E-B217-8BF9E13E4DF1}" destId="{0188EC0A-1A5B-42A1-B50A-BF29D2AA4D6D}" srcOrd="0" destOrd="0" parTransId="{01A3DD19-B181-4D55-858F-BB5E7C2BC91E}" sibTransId="{55374888-2704-4B5E-85C7-C12A139ABCEF}"/>
    <dgm:cxn modelId="{5EAAE858-5395-49DB-98C1-474CC4602E97}" srcId="{CD89CDF2-D34B-4E0E-B217-8BF9E13E4DF1}" destId="{820A8474-FE3A-48D0-A3DF-8BFDEE4ED16B}" srcOrd="3" destOrd="0" parTransId="{5C22BFD3-8E28-42A4-9FD7-07DDA0D9D4A9}" sibTransId="{8660CE10-724B-4F6A-BEEE-1BD7D9E38FF4}"/>
    <dgm:cxn modelId="{17E1AE4D-4B6B-4F2E-AC3C-115C8155A0EA}" type="presOf" srcId="{647F3DE4-4200-4DCC-86D6-539D04826DA4}" destId="{43F97FFB-59E7-4DDE-8C5D-7BAF62EB5EA3}" srcOrd="0" destOrd="2" presId="urn:microsoft.com/office/officeart/2005/8/layout/hList1"/>
    <dgm:cxn modelId="{421A1B94-6AE9-4C0C-A5DC-24F5001B4A6E}" srcId="{64BFC9BD-47C9-429C-9319-1A95A4D648B4}" destId="{647F3DE4-4200-4DCC-86D6-539D04826DA4}" srcOrd="2" destOrd="0" parTransId="{ACA452C0-FA06-4219-B47C-91D32414F5D3}" sibTransId="{0AFECCB2-A04F-445D-8EA3-E4C5E0B864A6}"/>
    <dgm:cxn modelId="{677ACA0E-F971-476E-921D-3B622B85C553}" type="presOf" srcId="{0188EC0A-1A5B-42A1-B50A-BF29D2AA4D6D}" destId="{029A2D68-A105-4969-A5E9-8387CC29AA4B}" srcOrd="0" destOrd="0" presId="urn:microsoft.com/office/officeart/2005/8/layout/hList1"/>
    <dgm:cxn modelId="{60B2A25F-BEE1-40B6-B74F-BC653E2FDC71}" type="presOf" srcId="{5F8EB3A2-7713-485D-B3D6-8372B817B21E}" destId="{029A2D68-A105-4969-A5E9-8387CC29AA4B}" srcOrd="0" destOrd="1"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F36DECD8-0377-4F2F-A48A-C8BA8688B250}" srcId="{CD89CDF2-D34B-4E0E-B217-8BF9E13E4DF1}" destId="{5F8EB3A2-7713-485D-B3D6-8372B817B21E}" srcOrd="1" destOrd="0" parTransId="{D26F16F3-24B6-4492-B0D5-019ED015B7F8}" sibTransId="{B0385B2A-5833-4B55-895D-33BC84F41DCE}"/>
    <dgm:cxn modelId="{EA526FD2-5E73-4CF7-BC74-38162A9B4F85}" type="presOf" srcId="{B10E6D86-9A0A-4BA3-A144-CE80F82EA404}" destId="{43F97FFB-59E7-4DDE-8C5D-7BAF62EB5EA3}" srcOrd="0" destOrd="0" presId="urn:microsoft.com/office/officeart/2005/8/layout/hList1"/>
    <dgm:cxn modelId="{00BDBAFE-A979-4AE7-B303-C8A309558C7F}" type="presOf" srcId="{820A8474-FE3A-48D0-A3DF-8BFDEE4ED16B}" destId="{029A2D68-A105-4969-A5E9-8387CC29AA4B}" srcOrd="0" destOrd="3" presId="urn:microsoft.com/office/officeart/2005/8/layout/hList1"/>
    <dgm:cxn modelId="{65505C41-0AF7-4E19-B249-E866D22349A1}" type="presOf" srcId="{5C0037CB-C0B2-4554-A41A-BD23162891A1}" destId="{43F97FFB-59E7-4DDE-8C5D-7BAF62EB5EA3}" srcOrd="0" destOrd="1" presId="urn:microsoft.com/office/officeart/2005/8/layout/hList1"/>
    <dgm:cxn modelId="{C4614AB7-C9E1-4182-B65D-FC39AF3EE3CD}" srcId="{CD89CDF2-D34B-4E0E-B217-8BF9E13E4DF1}" destId="{6E6D6E1A-3588-42D1-9E3E-C780F05F295F}" srcOrd="2" destOrd="0" parTransId="{3A2ED0FA-1EF3-45F6-865A-ABC242F67A38}" sibTransId="{DCA4CE6B-16AE-4B9E-8C62-30C60CAD6A5B}"/>
    <dgm:cxn modelId="{F37E952F-FE17-4FD9-A441-46178DFE840B}" srcId="{64BFC9BD-47C9-429C-9319-1A95A4D648B4}" destId="{B10E6D86-9A0A-4BA3-A144-CE80F82EA404}" srcOrd="0" destOrd="0" parTransId="{B4C83756-7CBE-49A4-83D9-98C9797F0F1F}" sibTransId="{61415CCA-A283-4BCD-AE6A-894BBC950D7F}"/>
    <dgm:cxn modelId="{87013B80-343F-44E9-A581-A6E0143C2796}" type="presOf" srcId="{87AC13B5-C017-43A5-A3FC-9E24388100A6}" destId="{B5F25D68-A1B3-44EE-8DB4-D9520513E1D9}" srcOrd="0" destOrd="0" presId="urn:microsoft.com/office/officeart/2005/8/layout/hList1"/>
    <dgm:cxn modelId="{FC25E160-E350-4B33-A525-0E0C09C17A68}" type="presOf" srcId="{64BFC9BD-47C9-429C-9319-1A95A4D648B4}" destId="{8AD6637D-68E4-4546-B053-8729057570A5}" srcOrd="0" destOrd="0" presId="urn:microsoft.com/office/officeart/2005/8/layout/hList1"/>
    <dgm:cxn modelId="{41259695-477E-43EC-9F8A-54E073AA91FB}" type="presOf" srcId="{6E6D6E1A-3588-42D1-9E3E-C780F05F295F}" destId="{029A2D68-A105-4969-A5E9-8387CC29AA4B}" srcOrd="0" destOrd="2" presId="urn:microsoft.com/office/officeart/2005/8/layout/hList1"/>
    <dgm:cxn modelId="{CCC9EB6F-6FEC-4D99-86D4-E468A228D5D4}" type="presOf" srcId="{CD89CDF2-D34B-4E0E-B217-8BF9E13E4DF1}" destId="{80F058AD-5D1D-4AA0-BE37-0F9A4669F34C}" srcOrd="0" destOrd="0"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4" y="4083"/>
          <a:ext cx="3304342"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lvl="0" algn="ctr" defTabSz="711200">
            <a:lnSpc>
              <a:spcPct val="90000"/>
            </a:lnSpc>
            <a:spcBef>
              <a:spcPct val="0"/>
            </a:spcBef>
            <a:spcAft>
              <a:spcPts val="0"/>
            </a:spcAft>
          </a:pPr>
          <a:r>
            <a:rPr lang="zh-CN" altLang="en-US" sz="1600" b="1" kern="1200" dirty="0" smtClean="0">
              <a:latin typeface="微软雅黑" panose="020B0503020204020204" pitchFamily="34" charset="-122"/>
              <a:ea typeface="微软雅黑" panose="020B0503020204020204" pitchFamily="34" charset="-122"/>
            </a:rPr>
            <a:t>移动 </a:t>
          </a:r>
          <a:r>
            <a:rPr lang="en-US" altLang="en-US" sz="1600" b="1" kern="1200" dirty="0" smtClean="0">
              <a:latin typeface="微软雅黑" panose="020B0503020204020204" pitchFamily="34" charset="-122"/>
              <a:ea typeface="微软雅黑" panose="020B0503020204020204" pitchFamily="34" charset="-122"/>
            </a:rPr>
            <a:t>IP</a:t>
          </a:r>
          <a:endParaRPr lang="zh-CN" altLang="en-US" sz="1600" b="1" kern="1200" dirty="0">
            <a:latin typeface="微软雅黑" panose="020B0503020204020204" pitchFamily="34" charset="-122"/>
            <a:ea typeface="微软雅黑" panose="020B0503020204020204" pitchFamily="34" charset="-122"/>
          </a:endParaRPr>
        </a:p>
      </dsp:txBody>
      <dsp:txXfrm>
        <a:off x="34" y="4083"/>
        <a:ext cx="3304342" cy="518400"/>
      </dsp:txXfrm>
    </dsp:sp>
    <dsp:sp modelId="{029A2D68-A105-4969-A5E9-8387CC29AA4B}">
      <dsp:nvSpPr>
        <dsp:cNvPr id="0" name=""/>
        <dsp:cNvSpPr/>
      </dsp:nvSpPr>
      <dsp:spPr>
        <a:xfrm>
          <a:off x="34" y="522483"/>
          <a:ext cx="3304342" cy="306342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漫游的主机可以用多种方式连接到互联网。</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漫游的主机可以直接或通过无线链路连接到固定网络上的另一个子网。</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需要地址管理和增加协议的互操作性。</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核心网络功能仍然是各种路由选择协议。</a:t>
          </a:r>
          <a:endParaRPr lang="zh-CN" altLang="en-US" sz="1600" b="1" kern="1200" dirty="0">
            <a:latin typeface="微软雅黑" panose="020B0503020204020204" pitchFamily="34" charset="-122"/>
            <a:ea typeface="微软雅黑" panose="020B0503020204020204" pitchFamily="34" charset="-122"/>
          </a:endParaRPr>
        </a:p>
      </dsp:txBody>
      <dsp:txXfrm>
        <a:off x="34" y="522483"/>
        <a:ext cx="3304342" cy="3063420"/>
      </dsp:txXfrm>
    </dsp:sp>
    <dsp:sp modelId="{8AD6637D-68E4-4546-B053-8729057570A5}">
      <dsp:nvSpPr>
        <dsp:cNvPr id="0" name=""/>
        <dsp:cNvSpPr/>
      </dsp:nvSpPr>
      <dsp:spPr>
        <a:xfrm>
          <a:off x="3766985" y="4083"/>
          <a:ext cx="3304342"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lvl="0" algn="ctr" defTabSz="711200">
            <a:lnSpc>
              <a:spcPct val="90000"/>
            </a:lnSpc>
            <a:spcBef>
              <a:spcPct val="0"/>
            </a:spcBef>
            <a:spcAft>
              <a:spcPts val="0"/>
            </a:spcAft>
          </a:pPr>
          <a:r>
            <a:rPr lang="zh-CN" altLang="en-US" sz="1600" b="1" kern="1200" dirty="0" smtClean="0">
              <a:latin typeface="微软雅黑" panose="020B0503020204020204" pitchFamily="34" charset="-122"/>
              <a:ea typeface="微软雅黑" panose="020B0503020204020204" pitchFamily="34" charset="-122"/>
            </a:rPr>
            <a:t>移动自组网络</a:t>
          </a:r>
          <a:endParaRPr lang="zh-CN" altLang="en-US" sz="1600" b="1" kern="1200" dirty="0">
            <a:latin typeface="微软雅黑" panose="020B0503020204020204" pitchFamily="34" charset="-122"/>
            <a:ea typeface="微软雅黑" panose="020B0503020204020204" pitchFamily="34" charset="-122"/>
          </a:endParaRPr>
        </a:p>
      </dsp:txBody>
      <dsp:txXfrm>
        <a:off x="3766985" y="4083"/>
        <a:ext cx="3304342" cy="518400"/>
      </dsp:txXfrm>
    </dsp:sp>
    <dsp:sp modelId="{43F97FFB-59E7-4DDE-8C5D-7BAF62EB5EA3}">
      <dsp:nvSpPr>
        <dsp:cNvPr id="0" name=""/>
        <dsp:cNvSpPr/>
      </dsp:nvSpPr>
      <dsp:spPr>
        <a:xfrm>
          <a:off x="3766985" y="522483"/>
          <a:ext cx="3304342" cy="306342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把移动性扩展到无线领域中的自治系统。</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具有自己特定的路由选择协议，并且可以不和互联网相连。</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即使和互联网相连时，移动自组网络也是以末梢网络 </a:t>
          </a:r>
          <a:r>
            <a:rPr lang="en-US" altLang="en-US" sz="1600" b="1" kern="1200" dirty="0" smtClean="0">
              <a:latin typeface="微软雅黑" panose="020B0503020204020204" pitchFamily="34" charset="-122"/>
              <a:ea typeface="微软雅黑" panose="020B0503020204020204" pitchFamily="34" charset="-122"/>
            </a:rPr>
            <a:t>(stub network) </a:t>
          </a:r>
          <a:r>
            <a:rPr lang="zh-CN" altLang="en-US" sz="1600" b="1" kern="1200" dirty="0" smtClean="0">
              <a:latin typeface="微软雅黑" panose="020B0503020204020204" pitchFamily="34" charset="-122"/>
              <a:ea typeface="微软雅黑" panose="020B0503020204020204" pitchFamily="34" charset="-122"/>
            </a:rPr>
            <a:t>方式工作。</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solidFill>
                <a:srgbClr val="0000FF"/>
              </a:solidFill>
              <a:latin typeface="微软雅黑" panose="020B0503020204020204" pitchFamily="34" charset="-122"/>
              <a:ea typeface="微软雅黑" panose="020B0503020204020204" pitchFamily="34" charset="-122"/>
            </a:rPr>
            <a:t>末梢网络：</a:t>
          </a:r>
          <a:r>
            <a:rPr lang="zh-CN" altLang="en-US" sz="1600" b="1" kern="1200" dirty="0" smtClean="0">
              <a:latin typeface="微软雅黑" panose="020B0503020204020204" pitchFamily="34" charset="-122"/>
              <a:ea typeface="微软雅黑" panose="020B0503020204020204" pitchFamily="34" charset="-122"/>
            </a:rPr>
            <a:t>不允许外部通信量穿越该网络。</a:t>
          </a:r>
          <a:endParaRPr lang="zh-CN" altLang="en-US" sz="1600" b="1" kern="1200" dirty="0">
            <a:latin typeface="微软雅黑" panose="020B0503020204020204" pitchFamily="34" charset="-122"/>
            <a:ea typeface="微软雅黑" panose="020B0503020204020204" pitchFamily="34" charset="-122"/>
          </a:endParaRPr>
        </a:p>
      </dsp:txBody>
      <dsp:txXfrm>
        <a:off x="3766985" y="522483"/>
        <a:ext cx="3304342" cy="306342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7" y="12675"/>
          <a:ext cx="3576598"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lvl="0" algn="ctr" defTabSz="711200">
            <a:lnSpc>
              <a:spcPct val="90000"/>
            </a:lnSpc>
            <a:spcBef>
              <a:spcPct val="0"/>
            </a:spcBef>
            <a:spcAft>
              <a:spcPts val="0"/>
            </a:spcAft>
          </a:pPr>
          <a:r>
            <a:rPr lang="zh-CN" altLang="en-US" sz="1600" b="1" kern="1200" dirty="0" smtClean="0">
              <a:latin typeface="微软雅黑" panose="020B0503020204020204" pitchFamily="34" charset="-122"/>
              <a:ea typeface="微软雅黑" panose="020B0503020204020204" pitchFamily="34" charset="-122"/>
            </a:rPr>
            <a:t>虚拟载波监听</a:t>
          </a:r>
          <a:endParaRPr lang="zh-CN" altLang="en-US" sz="1600" b="1" kern="1200" dirty="0">
            <a:latin typeface="微软雅黑" panose="020B0503020204020204" pitchFamily="34" charset="-122"/>
            <a:ea typeface="微软雅黑" panose="020B0503020204020204" pitchFamily="34" charset="-122"/>
          </a:endParaRPr>
        </a:p>
      </dsp:txBody>
      <dsp:txXfrm>
        <a:off x="37" y="12675"/>
        <a:ext cx="3576598" cy="518400"/>
      </dsp:txXfrm>
    </dsp:sp>
    <dsp:sp modelId="{029A2D68-A105-4969-A5E9-8387CC29AA4B}">
      <dsp:nvSpPr>
        <dsp:cNvPr id="0" name=""/>
        <dsp:cNvSpPr/>
      </dsp:nvSpPr>
      <dsp:spPr>
        <a:xfrm>
          <a:off x="37" y="531075"/>
          <a:ext cx="3576598" cy="2964599"/>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软件实现。</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源站 </a:t>
          </a:r>
          <a:r>
            <a:rPr lang="en-US" altLang="en-US" sz="1400" b="1" kern="1200" dirty="0" smtClean="0">
              <a:latin typeface="微软雅黑" panose="020B0503020204020204" pitchFamily="34" charset="-122"/>
              <a:ea typeface="微软雅黑" panose="020B0503020204020204" pitchFamily="34" charset="-122"/>
            </a:rPr>
            <a:t>A </a:t>
          </a:r>
          <a:r>
            <a:rPr lang="zh-CN" altLang="en-US" sz="1400" b="1" kern="1200" dirty="0" smtClean="0">
              <a:latin typeface="微软雅黑" panose="020B0503020204020204" pitchFamily="34" charset="-122"/>
              <a:ea typeface="微软雅黑" panose="020B0503020204020204" pitchFamily="34" charset="-122"/>
            </a:rPr>
            <a:t>把要占用信道的时间（</a:t>
          </a:r>
          <a:r>
            <a:rPr lang="en-US" altLang="en-US" sz="1400" b="1" kern="1200" dirty="0" smtClean="0">
              <a:latin typeface="微软雅黑" panose="020B0503020204020204" pitchFamily="34" charset="-122"/>
              <a:ea typeface="微软雅黑" panose="020B0503020204020204" pitchFamily="34" charset="-122"/>
            </a:rPr>
            <a:t>DATA + SIFS + ACK</a:t>
          </a:r>
          <a:r>
            <a:rPr lang="zh-CN" altLang="en-US" sz="1400" b="1" kern="1200" dirty="0" smtClean="0">
              <a:latin typeface="微软雅黑" panose="020B0503020204020204" pitchFamily="34" charset="-122"/>
              <a:ea typeface="微软雅黑" panose="020B0503020204020204" pitchFamily="34" charset="-122"/>
            </a:rPr>
            <a:t>），写入其数据帧 </a:t>
          </a:r>
          <a:r>
            <a:rPr lang="en-US" altLang="en-US" sz="1400" b="1" kern="1200" dirty="0" smtClean="0">
              <a:latin typeface="微软雅黑" panose="020B0503020204020204" pitchFamily="34" charset="-122"/>
              <a:ea typeface="微软雅黑" panose="020B0503020204020204" pitchFamily="34" charset="-122"/>
            </a:rPr>
            <a:t>DATA </a:t>
          </a:r>
          <a:r>
            <a:rPr lang="zh-CN" altLang="en-US" sz="1400" b="1" kern="1200" dirty="0" smtClean="0">
              <a:latin typeface="微软雅黑" panose="020B0503020204020204" pitchFamily="34" charset="-122"/>
              <a:ea typeface="微软雅黑" panose="020B0503020204020204" pitchFamily="34" charset="-122"/>
            </a:rPr>
            <a:t>的首部。</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所有处在站点 </a:t>
          </a:r>
          <a:r>
            <a:rPr lang="en-US" altLang="en-US" sz="1400" b="1" kern="1200" dirty="0" smtClean="0">
              <a:latin typeface="微软雅黑" panose="020B0503020204020204" pitchFamily="34" charset="-122"/>
              <a:ea typeface="微软雅黑" panose="020B0503020204020204" pitchFamily="34" charset="-122"/>
            </a:rPr>
            <a:t>A </a:t>
          </a:r>
          <a:r>
            <a:rPr lang="zh-CN" altLang="en-US" sz="1400" b="1" kern="1200" dirty="0" smtClean="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kern="1200" dirty="0" smtClean="0">
              <a:solidFill>
                <a:srgbClr val="C00000"/>
              </a:solidFill>
              <a:latin typeface="微软雅黑" panose="020B0503020204020204" pitchFamily="34" charset="-122"/>
              <a:ea typeface="微软雅黑" panose="020B0503020204020204" pitchFamily="34" charset="-122"/>
            </a:rPr>
            <a:t>网络分配向量 </a:t>
          </a:r>
          <a:r>
            <a:rPr lang="en-US" altLang="en-US" sz="1400" b="1" kern="1200" dirty="0" smtClean="0">
              <a:solidFill>
                <a:srgbClr val="C00000"/>
              </a:solidFill>
              <a:latin typeface="微软雅黑" panose="020B0503020204020204" pitchFamily="34" charset="-122"/>
              <a:ea typeface="微软雅黑" panose="020B0503020204020204" pitchFamily="34" charset="-122"/>
            </a:rPr>
            <a:t>NAV </a:t>
          </a:r>
          <a:r>
            <a:rPr lang="en-US" altLang="en-US" sz="1400" b="1" kern="1200" dirty="0" smtClean="0">
              <a:latin typeface="微软雅黑" panose="020B0503020204020204" pitchFamily="34" charset="-122"/>
              <a:ea typeface="微软雅黑" panose="020B0503020204020204" pitchFamily="34" charset="-122"/>
            </a:rPr>
            <a:t>(Network Allocation Vector)</a:t>
          </a:r>
          <a:r>
            <a:rPr lang="zh-CN" altLang="en-US" sz="1400" b="1" kern="1200" dirty="0" smtClean="0">
              <a:latin typeface="微软雅黑" panose="020B0503020204020204" pitchFamily="34" charset="-122"/>
              <a:ea typeface="微软雅黑" panose="020B0503020204020204" pitchFamily="34" charset="-122"/>
            </a:rPr>
            <a:t>。</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en-US" altLang="en-US" sz="1400" b="1" kern="1200" dirty="0" smtClean="0">
              <a:solidFill>
                <a:srgbClr val="0000CC"/>
              </a:solidFill>
              <a:latin typeface="微软雅黑" panose="020B0503020204020204" pitchFamily="34" charset="-122"/>
              <a:ea typeface="微软雅黑" panose="020B0503020204020204" pitchFamily="34" charset="-122"/>
            </a:rPr>
            <a:t>NAV </a:t>
          </a:r>
          <a:r>
            <a:rPr lang="zh-CN" altLang="en-US" sz="1400" b="1" kern="1200" dirty="0" smtClean="0">
              <a:solidFill>
                <a:srgbClr val="0000CC"/>
              </a:solidFill>
              <a:latin typeface="微软雅黑" panose="020B0503020204020204" pitchFamily="34" charset="-122"/>
              <a:ea typeface="微软雅黑" panose="020B0503020204020204" pitchFamily="34" charset="-122"/>
            </a:rPr>
            <a:t>指出：</a:t>
          </a:r>
          <a:r>
            <a:rPr lang="zh-CN" altLang="en-US" sz="1400" b="1" kern="1200" dirty="0" smtClean="0">
              <a:latin typeface="微软雅黑" panose="020B0503020204020204" pitchFamily="34" charset="-122"/>
              <a:ea typeface="微软雅黑" panose="020B0503020204020204" pitchFamily="34" charset="-122"/>
            </a:rPr>
            <a:t>信道忙的持续时间，意思是：“</a:t>
          </a:r>
          <a:r>
            <a:rPr lang="zh-CN" altLang="en-US" sz="1400" b="1" kern="1200" dirty="0" smtClean="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kern="1200" dirty="0" smtClean="0">
              <a:latin typeface="微软雅黑" panose="020B0503020204020204" pitchFamily="34" charset="-122"/>
              <a:ea typeface="微软雅黑" panose="020B0503020204020204" pitchFamily="34" charset="-122"/>
            </a:rPr>
            <a:t>”。</a:t>
          </a:r>
          <a:endParaRPr lang="zh-CN" altLang="en-US" sz="1400" b="1" kern="1200" dirty="0">
            <a:latin typeface="微软雅黑" panose="020B0503020204020204" pitchFamily="34" charset="-122"/>
            <a:ea typeface="微软雅黑" panose="020B0503020204020204" pitchFamily="34" charset="-122"/>
          </a:endParaRPr>
        </a:p>
      </dsp:txBody>
      <dsp:txXfrm>
        <a:off x="37" y="531075"/>
        <a:ext cx="3576598" cy="2964599"/>
      </dsp:txXfrm>
    </dsp:sp>
    <dsp:sp modelId="{8AD6637D-68E4-4546-B053-8729057570A5}">
      <dsp:nvSpPr>
        <dsp:cNvPr id="0" name=""/>
        <dsp:cNvSpPr/>
      </dsp:nvSpPr>
      <dsp:spPr>
        <a:xfrm>
          <a:off x="4077359" y="12675"/>
          <a:ext cx="3576598"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lvl="0" algn="ctr" defTabSz="711200">
            <a:lnSpc>
              <a:spcPct val="90000"/>
            </a:lnSpc>
            <a:spcBef>
              <a:spcPct val="0"/>
            </a:spcBef>
            <a:spcAft>
              <a:spcPts val="0"/>
            </a:spcAft>
          </a:pPr>
          <a:r>
            <a:rPr lang="zh-CN" altLang="en-US" sz="1600" b="1" kern="1200" dirty="0" smtClean="0">
              <a:latin typeface="微软雅黑" panose="020B0503020204020204" pitchFamily="34" charset="-122"/>
              <a:ea typeface="微软雅黑" panose="020B0503020204020204" pitchFamily="34" charset="-122"/>
            </a:rPr>
            <a:t>载波监听</a:t>
          </a:r>
          <a:endParaRPr lang="zh-CN" altLang="en-US" sz="1600" b="1" kern="1200" dirty="0">
            <a:latin typeface="微软雅黑" panose="020B0503020204020204" pitchFamily="34" charset="-122"/>
            <a:ea typeface="微软雅黑" panose="020B0503020204020204" pitchFamily="34" charset="-122"/>
          </a:endParaRPr>
        </a:p>
      </dsp:txBody>
      <dsp:txXfrm>
        <a:off x="4077359" y="12675"/>
        <a:ext cx="3576598" cy="518400"/>
      </dsp:txXfrm>
    </dsp:sp>
    <dsp:sp modelId="{43F97FFB-59E7-4DDE-8C5D-7BAF62EB5EA3}">
      <dsp:nvSpPr>
        <dsp:cNvPr id="0" name=""/>
        <dsp:cNvSpPr/>
      </dsp:nvSpPr>
      <dsp:spPr>
        <a:xfrm>
          <a:off x="4077359" y="531075"/>
          <a:ext cx="3576598" cy="2964599"/>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在物理层用硬件实现。</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任何站要发送数据之前，必须监听信道。只要监听到信道忙，就不能发送数据。</a:t>
          </a:r>
          <a:endParaRPr lang="zh-CN" altLang="en-US" sz="1400" b="1" kern="1200" dirty="0">
            <a:latin typeface="微软雅黑" panose="020B0503020204020204" pitchFamily="34" charset="-122"/>
            <a:ea typeface="微软雅黑" panose="020B0503020204020204" pitchFamily="34" charset="-122"/>
          </a:endParaRPr>
        </a:p>
      </dsp:txBody>
      <dsp:txXfrm>
        <a:off x="4077359" y="531075"/>
        <a:ext cx="3576598" cy="2964599"/>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17.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18.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19.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20.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21.vml.rels><?xml version="1.0" encoding="UTF-8" standalone="yes"?>
<Relationships xmlns="http://schemas.openxmlformats.org/package/2006/relationships"><Relationship Id="rId2" Type="http://schemas.openxmlformats.org/officeDocument/2006/relationships/image" Target="../media/image15.wmf"/><Relationship Id="rId1" Type="http://schemas.openxmlformats.org/officeDocument/2006/relationships/image" Target="../media/image6.w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15.wmf"/><Relationship Id="rId1" Type="http://schemas.openxmlformats.org/officeDocument/2006/relationships/image" Target="../media/image6.wmf"/></Relationships>
</file>

<file path=ppt/drawings/_rels/vmlDrawing23.vml.rels><?xml version="1.0" encoding="UTF-8" standalone="yes"?>
<Relationships xmlns="http://schemas.openxmlformats.org/package/2006/relationships"><Relationship Id="rId2" Type="http://schemas.openxmlformats.org/officeDocument/2006/relationships/image" Target="../media/image15.wmf"/><Relationship Id="rId1" Type="http://schemas.openxmlformats.org/officeDocument/2006/relationships/image" Target="../media/image6.w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25.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28.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29.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30.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drawings/_rels/vmlDrawing31.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15.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8.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9.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0.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1.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2.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3.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4.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2.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1.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2.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3.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4.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5.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7.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8.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9.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0.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3.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4.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5.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6.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8.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9.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0.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1.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2.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3.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4.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5.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6.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7.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8.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3.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4.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9.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4.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5.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6.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7.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1.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2.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smtClean="0"/>
              <a:t>单击此处编辑母版文本样式</a:t>
            </a:r>
            <a:endParaRPr lang="zh-CN" altLang="en-US" smtClean="0"/>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4" Type="http://schemas.openxmlformats.org/officeDocument/2006/relationships/theme" Target="../theme/theme1.xml"/><Relationship Id="rId13" Type="http://schemas.openxmlformats.org/officeDocument/2006/relationships/image" Target="../media/image2.GIF"/><Relationship Id="rId12" Type="http://schemas.openxmlformats.org/officeDocument/2006/relationships/image" Target="../media/image1.GIF"/><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Line 3"/>
          <p:cNvSpPr>
            <a:spLocks noChangeShapeType="1"/>
          </p:cNvSpPr>
          <p:nvPr userDrawn="1"/>
        </p:nvSpPr>
        <p:spPr bwMode="auto">
          <a:xfrm>
            <a:off x="1266568" y="4803998"/>
            <a:ext cx="6942395" cy="0"/>
          </a:xfrm>
          <a:prstGeom prst="line">
            <a:avLst/>
          </a:prstGeom>
          <a:noFill/>
          <a:ln w="19050" algn="ctr">
            <a:solidFill>
              <a:srgbClr val="85D1F7"/>
            </a:solidFill>
            <a:round/>
          </a:ln>
          <a:extLst>
            <a:ext uri="{909E8E84-426E-40DD-AFC4-6F175D3DCCD1}">
              <a14:hiddenFill xmlns:a14="http://schemas.microsoft.com/office/drawing/2010/main">
                <a:noFill/>
              </a14:hiddenFill>
            </a:ext>
          </a:extLst>
        </p:spPr>
        <p:txBody>
          <a:bodyPr/>
          <a:lstStyle/>
          <a:p>
            <a:endParaRPr lang="zh-CN" altLang="en-US"/>
          </a:p>
        </p:txBody>
      </p:sp>
      <p:pic>
        <p:nvPicPr>
          <p:cNvPr id="20" name="图片 19"/>
          <p:cNvPicPr>
            <a:picLocks noChangeAspect="1"/>
          </p:cNvPicPr>
          <p:nvPr userDrawn="1"/>
        </p:nvPicPr>
        <p:blipFill>
          <a:blip r:embed="rId12" cstate="print">
            <a:extLst>
              <a:ext uri="{28A0092B-C50C-407E-A947-70E740481C1C}">
                <a14:useLocalDpi xmlns:a14="http://schemas.microsoft.com/office/drawing/2010/main" val="0"/>
              </a:ext>
            </a:extLst>
          </a:blip>
          <a:stretch>
            <a:fillRect/>
          </a:stretch>
        </p:blipFill>
        <p:spPr>
          <a:xfrm>
            <a:off x="4392827" y="149234"/>
            <a:ext cx="358346" cy="458684"/>
          </a:xfrm>
          <a:prstGeom prst="rect">
            <a:avLst/>
          </a:prstGeom>
        </p:spPr>
      </p:pic>
      <p:sp>
        <p:nvSpPr>
          <p:cNvPr id="21" name="Line 3"/>
          <p:cNvSpPr>
            <a:spLocks noChangeShapeType="1"/>
          </p:cNvSpPr>
          <p:nvPr userDrawn="1"/>
        </p:nvSpPr>
        <p:spPr bwMode="auto">
          <a:xfrm>
            <a:off x="0" y="428092"/>
            <a:ext cx="9144000" cy="0"/>
          </a:xfrm>
          <a:prstGeom prst="line">
            <a:avLst/>
          </a:prstGeom>
          <a:noFill/>
          <a:ln w="25400" algn="ctr">
            <a:solidFill>
              <a:srgbClr val="85D1F7"/>
            </a:solidFill>
            <a:round/>
          </a:ln>
          <a:extLst>
            <a:ext uri="{909E8E84-426E-40DD-AFC4-6F175D3DCCD1}">
              <a14:hiddenFill xmlns:a14="http://schemas.microsoft.com/office/drawing/2010/main">
                <a:noFill/>
              </a14:hiddenFill>
            </a:ext>
          </a:extLst>
        </p:spPr>
        <p:txBody>
          <a:bodyPr/>
          <a:lstStyle/>
          <a:p>
            <a:endParaRPr lang="zh-CN" altLang="en-US"/>
          </a:p>
        </p:txBody>
      </p:sp>
      <p:sp>
        <p:nvSpPr>
          <p:cNvPr id="22" name="矩形 21"/>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3" name="图片 32"/>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4388612" y="149234"/>
            <a:ext cx="358346" cy="458684"/>
          </a:xfrm>
          <a:prstGeom prst="rect">
            <a:avLst/>
          </a:prstGeom>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4.png"/><Relationship Id="rId1" Type="http://schemas.openxmlformats.org/officeDocument/2006/relationships/image" Target="../media/image3.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7" Type="http://schemas.openxmlformats.org/officeDocument/2006/relationships/vmlDrawing" Target="../drawings/vmlDrawing1.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1.bin"/><Relationship Id="rId1" Type="http://schemas.openxmlformats.org/officeDocument/2006/relationships/image" Target="../media/image5.jpeg"/></Relationships>
</file>

<file path=ppt/slides/_rels/slide9.xml.rels><?xml version="1.0" encoding="UTF-8" standalone="yes"?>
<Relationships xmlns="http://schemas.openxmlformats.org/package/2006/relationships"><Relationship Id="rId7" Type="http://schemas.openxmlformats.org/officeDocument/2006/relationships/vmlDrawing" Target="../drawings/vmlDrawing2.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2.bin"/><Relationship Id="rId1" Type="http://schemas.openxmlformats.org/officeDocument/2006/relationships/image" Target="../media/image5.jpeg"/></Relationships>
</file>

<file path=ppt/slides/_rels/slide10.xml.rels><?xml version="1.0" encoding="UTF-8" standalone="yes"?>
<Relationships xmlns="http://schemas.openxmlformats.org/package/2006/relationships"><Relationship Id="rId7" Type="http://schemas.openxmlformats.org/officeDocument/2006/relationships/vmlDrawing" Target="../drawings/vmlDrawing3.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3.bin"/><Relationship Id="rId1" Type="http://schemas.openxmlformats.org/officeDocument/2006/relationships/image" Target="../media/image5.jpe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7" Type="http://schemas.openxmlformats.org/officeDocument/2006/relationships/vmlDrawing" Target="../drawings/vmlDrawing4.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4.bin"/><Relationship Id="rId1" Type="http://schemas.openxmlformats.org/officeDocument/2006/relationships/image" Target="../media/image5.jpeg"/></Relationships>
</file>

<file path=ppt/slides/_rels/slide13.xml.rels><?xml version="1.0" encoding="UTF-8" standalone="yes"?>
<Relationships xmlns="http://schemas.openxmlformats.org/package/2006/relationships"><Relationship Id="rId7" Type="http://schemas.openxmlformats.org/officeDocument/2006/relationships/vmlDrawing" Target="../drawings/vmlDrawing5.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5.bin"/><Relationship Id="rId1" Type="http://schemas.openxmlformats.org/officeDocument/2006/relationships/image" Target="../media/image5.jpeg"/></Relationships>
</file>

<file path=ppt/slides/_rels/slide14.xml.rels><?xml version="1.0" encoding="UTF-8" standalone="yes"?>
<Relationships xmlns="http://schemas.openxmlformats.org/package/2006/relationships"><Relationship Id="rId7" Type="http://schemas.openxmlformats.org/officeDocument/2006/relationships/vmlDrawing" Target="../drawings/vmlDrawing6.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6.bin"/><Relationship Id="rId1" Type="http://schemas.openxmlformats.org/officeDocument/2006/relationships/image" Target="../media/image5.jpeg"/></Relationships>
</file>

<file path=ppt/slides/_rels/slide15.xml.rels><?xml version="1.0" encoding="UTF-8" standalone="yes"?>
<Relationships xmlns="http://schemas.openxmlformats.org/package/2006/relationships"><Relationship Id="rId7" Type="http://schemas.openxmlformats.org/officeDocument/2006/relationships/vmlDrawing" Target="../drawings/vmlDrawing7.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7.bin"/><Relationship Id="rId1" Type="http://schemas.openxmlformats.org/officeDocument/2006/relationships/image" Target="../media/image5.jpeg"/></Relationships>
</file>

<file path=ppt/slides/_rels/slide16.xml.rels><?xml version="1.0" encoding="UTF-8" standalone="yes"?>
<Relationships xmlns="http://schemas.openxmlformats.org/package/2006/relationships"><Relationship Id="rId7" Type="http://schemas.openxmlformats.org/officeDocument/2006/relationships/vmlDrawing" Target="../drawings/vmlDrawing8.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8.bin"/><Relationship Id="rId1" Type="http://schemas.openxmlformats.org/officeDocument/2006/relationships/image" Target="../media/image5.jpeg"/></Relationships>
</file>

<file path=ppt/slides/_rels/slide17.xml.rels><?xml version="1.0" encoding="UTF-8" standalone="yes"?>
<Relationships xmlns="http://schemas.openxmlformats.org/package/2006/relationships"><Relationship Id="rId7" Type="http://schemas.openxmlformats.org/officeDocument/2006/relationships/vmlDrawing" Target="../drawings/vmlDrawing9.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9.bin"/><Relationship Id="rId1" Type="http://schemas.openxmlformats.org/officeDocument/2006/relationships/image" Target="../media/image5.jpeg"/></Relationships>
</file>

<file path=ppt/slides/_rels/slide18.xml.rels><?xml version="1.0" encoding="UTF-8" standalone="yes"?>
<Relationships xmlns="http://schemas.openxmlformats.org/package/2006/relationships"><Relationship Id="rId7" Type="http://schemas.openxmlformats.org/officeDocument/2006/relationships/vmlDrawing" Target="../drawings/vmlDrawing10.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10.bin"/><Relationship Id="rId1" Type="http://schemas.openxmlformats.org/officeDocument/2006/relationships/image" Target="../media/image5.jpeg"/></Relationships>
</file>

<file path=ppt/slides/_rels/slide19.xml.rels><?xml version="1.0" encoding="UTF-8" standalone="yes"?>
<Relationships xmlns="http://schemas.openxmlformats.org/package/2006/relationships"><Relationship Id="rId7" Type="http://schemas.openxmlformats.org/officeDocument/2006/relationships/vmlDrawing" Target="../drawings/vmlDrawing11.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6.wmf"/><Relationship Id="rId2" Type="http://schemas.openxmlformats.org/officeDocument/2006/relationships/oleObject" Target="../embeddings/oleObject11.bin"/><Relationship Id="rId1" Type="http://schemas.openxmlformats.org/officeDocument/2006/relationships/image" Target="../media/image5.jpe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4" Type="http://schemas.openxmlformats.org/officeDocument/2006/relationships/notesSlide" Target="../notesSlides/notesSlide2.xml"/><Relationship Id="rId3" Type="http://schemas.openxmlformats.org/officeDocument/2006/relationships/slideLayout" Target="../slideLayouts/slideLayout2.xml"/><Relationship Id="rId2" Type="http://schemas.openxmlformats.org/officeDocument/2006/relationships/image" Target="../media/image8.png"/><Relationship Id="rId1" Type="http://schemas.openxmlformats.org/officeDocument/2006/relationships/image" Target="../media/image5.jpeg"/></Relationships>
</file>

<file path=ppt/slides/_rels/slide22.xml.rels><?xml version="1.0" encoding="UTF-8" standalone="yes"?>
<Relationships xmlns="http://schemas.openxmlformats.org/package/2006/relationships"><Relationship Id="rId4" Type="http://schemas.openxmlformats.org/officeDocument/2006/relationships/notesSlide" Target="../notesSlides/notesSlide3.xml"/><Relationship Id="rId3" Type="http://schemas.openxmlformats.org/officeDocument/2006/relationships/slideLayout" Target="../slideLayouts/slideLayout2.xml"/><Relationship Id="rId2" Type="http://schemas.openxmlformats.org/officeDocument/2006/relationships/image" Target="../media/image5.jpeg"/><Relationship Id="rId1" Type="http://schemas.openxmlformats.org/officeDocument/2006/relationships/image" Target="../media/image8.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8.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xml"/><Relationship Id="rId1" Type="http://schemas.openxmlformats.org/officeDocument/2006/relationships/image" Target="../media/image9.jpe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xml"/><Relationship Id="rId4" Type="http://schemas.openxmlformats.org/officeDocument/2006/relationships/diagramColors" Target="../diagrams/colors1.xml"/><Relationship Id="rId3" Type="http://schemas.openxmlformats.org/officeDocument/2006/relationships/diagramQuickStyle" Target="../diagrams/quickStyle1.xml"/><Relationship Id="rId2" Type="http://schemas.openxmlformats.org/officeDocument/2006/relationships/diagramLayout" Target="../diagrams/layout1.xml"/><Relationship Id="rId1" Type="http://schemas.openxmlformats.org/officeDocument/2006/relationships/diagramData" Target="../diagrams/data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4" Type="http://schemas.openxmlformats.org/officeDocument/2006/relationships/notesSlide" Target="../notesSlides/notesSlide5.xml"/><Relationship Id="rId3" Type="http://schemas.openxmlformats.org/officeDocument/2006/relationships/slideLayout" Target="../slideLayouts/slideLayout2.xml"/><Relationship Id="rId2" Type="http://schemas.openxmlformats.org/officeDocument/2006/relationships/image" Target="../media/image11.png"/><Relationship Id="rId1" Type="http://schemas.openxmlformats.org/officeDocument/2006/relationships/image" Target="../media/image10.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2.wmf"/><Relationship Id="rId1" Type="http://schemas.openxmlformats.org/officeDocument/2006/relationships/image" Target="../media/image10.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2.xml"/><Relationship Id="rId4" Type="http://schemas.openxmlformats.org/officeDocument/2006/relationships/diagramColors" Target="../diagrams/colors2.xml"/><Relationship Id="rId3" Type="http://schemas.openxmlformats.org/officeDocument/2006/relationships/diagramQuickStyle" Target="../diagrams/quickStyle2.xml"/><Relationship Id="rId2" Type="http://schemas.openxmlformats.org/officeDocument/2006/relationships/diagramLayout" Target="../diagrams/layout2.xml"/><Relationship Id="rId1" Type="http://schemas.openxmlformats.org/officeDocument/2006/relationships/diagramData" Target="../diagrams/data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4" Type="http://schemas.openxmlformats.org/officeDocument/2006/relationships/notesSlide" Target="../notesSlides/notesSlide10.xml"/><Relationship Id="rId3" Type="http://schemas.openxmlformats.org/officeDocument/2006/relationships/slideLayout" Target="../slideLayouts/slideLayout2.xml"/><Relationship Id="rId2" Type="http://schemas.openxmlformats.org/officeDocument/2006/relationships/image" Target="../media/image8.png"/><Relationship Id="rId1" Type="http://schemas.openxmlformats.org/officeDocument/2006/relationships/image" Target="../media/image5.jpeg"/></Relationships>
</file>

<file path=ppt/slides/_rels/slide59.xml.rels><?xml version="1.0" encoding="UTF-8" standalone="yes"?>
<Relationships xmlns="http://schemas.openxmlformats.org/package/2006/relationships"><Relationship Id="rId4" Type="http://schemas.openxmlformats.org/officeDocument/2006/relationships/notesSlide" Target="../notesSlides/notesSlide11.xml"/><Relationship Id="rId3" Type="http://schemas.openxmlformats.org/officeDocument/2006/relationships/slideLayout" Target="../slideLayouts/slideLayout2.xml"/><Relationship Id="rId2" Type="http://schemas.openxmlformats.org/officeDocument/2006/relationships/image" Target="../media/image8.png"/><Relationship Id="rId1" Type="http://schemas.openxmlformats.org/officeDocument/2006/relationships/image" Target="../media/image5.jpeg"/></Relationships>
</file>

<file path=ppt/slides/_rels/slide60.xml.rels><?xml version="1.0" encoding="UTF-8" standalone="yes"?>
<Relationships xmlns="http://schemas.openxmlformats.org/package/2006/relationships"><Relationship Id="rId4" Type="http://schemas.openxmlformats.org/officeDocument/2006/relationships/notesSlide" Target="../notesSlides/notesSlide12.xml"/><Relationship Id="rId3" Type="http://schemas.openxmlformats.org/officeDocument/2006/relationships/slideLayout" Target="../slideLayouts/slideLayout2.xml"/><Relationship Id="rId2" Type="http://schemas.openxmlformats.org/officeDocument/2006/relationships/image" Target="../media/image8.png"/><Relationship Id="rId1" Type="http://schemas.openxmlformats.org/officeDocument/2006/relationships/image" Target="../media/image5.jpeg"/></Relationships>
</file>

<file path=ppt/slides/_rels/slide61.xml.rels><?xml version="1.0" encoding="UTF-8" standalone="yes"?>
<Relationships xmlns="http://schemas.openxmlformats.org/package/2006/relationships"><Relationship Id="rId4" Type="http://schemas.openxmlformats.org/officeDocument/2006/relationships/notesSlide" Target="../notesSlides/notesSlide13.xml"/><Relationship Id="rId3" Type="http://schemas.openxmlformats.org/officeDocument/2006/relationships/slideLayout" Target="../slideLayouts/slideLayout2.xml"/><Relationship Id="rId2" Type="http://schemas.openxmlformats.org/officeDocument/2006/relationships/image" Target="../media/image8.png"/><Relationship Id="rId1" Type="http://schemas.openxmlformats.org/officeDocument/2006/relationships/image" Target="../media/image5.jpeg"/></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8.png"/><Relationship Id="rId2" Type="http://schemas.openxmlformats.org/officeDocument/2006/relationships/image" Target="../media/image13.wmf"/><Relationship Id="rId1" Type="http://schemas.openxmlformats.org/officeDocument/2006/relationships/image" Target="../media/image5.jpeg"/></Relationships>
</file>

<file path=ppt/slides/_rels/slide70.xml.rels><?xml version="1.0" encoding="UTF-8" standalone="yes"?>
<Relationships xmlns="http://schemas.openxmlformats.org/package/2006/relationships"><Relationship Id="rId7" Type="http://schemas.openxmlformats.org/officeDocument/2006/relationships/vmlDrawing" Target="../drawings/vmlDrawing12.vml"/><Relationship Id="rId6"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7.wmf"/><Relationship Id="rId3" Type="http://schemas.openxmlformats.org/officeDocument/2006/relationships/image" Target="../media/image5.jpeg"/><Relationship Id="rId2" Type="http://schemas.openxmlformats.org/officeDocument/2006/relationships/image" Target="../media/image6.wmf"/><Relationship Id="rId1" Type="http://schemas.openxmlformats.org/officeDocument/2006/relationships/oleObject" Target="../embeddings/oleObject12.bin"/></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8" Type="http://schemas.openxmlformats.org/officeDocument/2006/relationships/notesSlide" Target="../notesSlides/notesSlide18.xml"/><Relationship Id="rId7" Type="http://schemas.openxmlformats.org/officeDocument/2006/relationships/vmlDrawing" Target="../drawings/vmlDrawing13.vml"/><Relationship Id="rId6" Type="http://schemas.openxmlformats.org/officeDocument/2006/relationships/slideLayout" Target="../slideLayouts/slideLayout2.xml"/><Relationship Id="rId5" Type="http://schemas.openxmlformats.org/officeDocument/2006/relationships/oleObject" Target="../embeddings/oleObject14.bin"/><Relationship Id="rId4" Type="http://schemas.openxmlformats.org/officeDocument/2006/relationships/image" Target="../media/image16.jpeg"/><Relationship Id="rId3" Type="http://schemas.openxmlformats.org/officeDocument/2006/relationships/image" Target="../media/image15.wmf"/><Relationship Id="rId2" Type="http://schemas.openxmlformats.org/officeDocument/2006/relationships/oleObject" Target="../embeddings/oleObject13.bin"/><Relationship Id="rId1" Type="http://schemas.openxmlformats.org/officeDocument/2006/relationships/image" Target="../media/image14.jpeg"/></Relationships>
</file>

<file path=ppt/slides/_rels/slide92.xml.rels><?xml version="1.0" encoding="UTF-8" standalone="yes"?>
<Relationships xmlns="http://schemas.openxmlformats.org/package/2006/relationships"><Relationship Id="rId8" Type="http://schemas.openxmlformats.org/officeDocument/2006/relationships/notesSlide" Target="../notesSlides/notesSlide19.xml"/><Relationship Id="rId7" Type="http://schemas.openxmlformats.org/officeDocument/2006/relationships/vmlDrawing" Target="../drawings/vmlDrawing14.vml"/><Relationship Id="rId6" Type="http://schemas.openxmlformats.org/officeDocument/2006/relationships/slideLayout" Target="../slideLayouts/slideLayout2.xml"/><Relationship Id="rId5" Type="http://schemas.openxmlformats.org/officeDocument/2006/relationships/oleObject" Target="../embeddings/oleObject16.bin"/><Relationship Id="rId4" Type="http://schemas.openxmlformats.org/officeDocument/2006/relationships/image" Target="../media/image16.jpeg"/><Relationship Id="rId3" Type="http://schemas.openxmlformats.org/officeDocument/2006/relationships/image" Target="../media/image15.wmf"/><Relationship Id="rId2" Type="http://schemas.openxmlformats.org/officeDocument/2006/relationships/oleObject" Target="../embeddings/oleObject15.bin"/><Relationship Id="rId1" Type="http://schemas.openxmlformats.org/officeDocument/2006/relationships/image" Target="../media/image14.jpeg"/></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8" Type="http://schemas.openxmlformats.org/officeDocument/2006/relationships/notesSlide" Target="../notesSlides/notesSlide21.xml"/><Relationship Id="rId7" Type="http://schemas.openxmlformats.org/officeDocument/2006/relationships/vmlDrawing" Target="../drawings/vmlDrawing15.vml"/><Relationship Id="rId6" Type="http://schemas.openxmlformats.org/officeDocument/2006/relationships/slideLayout" Target="../slideLayouts/slideLayout2.xml"/><Relationship Id="rId5" Type="http://schemas.openxmlformats.org/officeDocument/2006/relationships/oleObject" Target="../embeddings/oleObject18.bin"/><Relationship Id="rId4" Type="http://schemas.openxmlformats.org/officeDocument/2006/relationships/image" Target="../media/image16.jpeg"/><Relationship Id="rId3" Type="http://schemas.openxmlformats.org/officeDocument/2006/relationships/image" Target="../media/image15.wmf"/><Relationship Id="rId2" Type="http://schemas.openxmlformats.org/officeDocument/2006/relationships/oleObject" Target="../embeddings/oleObject17.bin"/><Relationship Id="rId1" Type="http://schemas.openxmlformats.org/officeDocument/2006/relationships/image" Target="../media/image17.jpeg"/></Relationships>
</file>

<file path=ppt/slides/_rels/slide95.xml.rels><?xml version="1.0" encoding="UTF-8" standalone="yes"?>
<Relationships xmlns="http://schemas.openxmlformats.org/package/2006/relationships"><Relationship Id="rId8" Type="http://schemas.openxmlformats.org/officeDocument/2006/relationships/notesSlide" Target="../notesSlides/notesSlide22.xml"/><Relationship Id="rId7" Type="http://schemas.openxmlformats.org/officeDocument/2006/relationships/vmlDrawing" Target="../drawings/vmlDrawing16.vml"/><Relationship Id="rId6" Type="http://schemas.openxmlformats.org/officeDocument/2006/relationships/slideLayout" Target="../slideLayouts/slideLayout2.xml"/><Relationship Id="rId5" Type="http://schemas.openxmlformats.org/officeDocument/2006/relationships/oleObject" Target="../embeddings/oleObject20.bin"/><Relationship Id="rId4" Type="http://schemas.openxmlformats.org/officeDocument/2006/relationships/image" Target="../media/image16.jpeg"/><Relationship Id="rId3" Type="http://schemas.openxmlformats.org/officeDocument/2006/relationships/image" Target="../media/image15.wmf"/><Relationship Id="rId2" Type="http://schemas.openxmlformats.org/officeDocument/2006/relationships/oleObject" Target="../embeddings/oleObject19.bin"/><Relationship Id="rId1" Type="http://schemas.openxmlformats.org/officeDocument/2006/relationships/image" Target="../media/image17.jpe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6.wmf"/><Relationship Id="rId7" Type="http://schemas.openxmlformats.org/officeDocument/2006/relationships/oleObject" Target="../embeddings/oleObject23.bin"/><Relationship Id="rId6" Type="http://schemas.openxmlformats.org/officeDocument/2006/relationships/image" Target="../media/image7.wmf"/><Relationship Id="rId5" Type="http://schemas.openxmlformats.org/officeDocument/2006/relationships/oleObject" Target="../embeddings/oleObject22.bin"/><Relationship Id="rId4" Type="http://schemas.openxmlformats.org/officeDocument/2006/relationships/image" Target="../media/image16.jpeg"/><Relationship Id="rId3" Type="http://schemas.openxmlformats.org/officeDocument/2006/relationships/image" Target="../media/image15.wmf"/><Relationship Id="rId2" Type="http://schemas.openxmlformats.org/officeDocument/2006/relationships/oleObject" Target="../embeddings/oleObject21.bin"/><Relationship Id="rId11" Type="http://schemas.openxmlformats.org/officeDocument/2006/relationships/notesSlide" Target="../notesSlides/notesSlide23.xml"/><Relationship Id="rId10" Type="http://schemas.openxmlformats.org/officeDocument/2006/relationships/vmlDrawing" Target="../drawings/vmlDrawing17.vml"/><Relationship Id="rId1" Type="http://schemas.openxmlformats.org/officeDocument/2006/relationships/image" Target="../media/image17.jpeg"/></Relationships>
</file>

<file path=ppt/slides/_rels/slide98.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6.wmf"/><Relationship Id="rId7" Type="http://schemas.openxmlformats.org/officeDocument/2006/relationships/oleObject" Target="../embeddings/oleObject26.bin"/><Relationship Id="rId6" Type="http://schemas.openxmlformats.org/officeDocument/2006/relationships/image" Target="../media/image7.wmf"/><Relationship Id="rId5" Type="http://schemas.openxmlformats.org/officeDocument/2006/relationships/oleObject" Target="../embeddings/oleObject25.bin"/><Relationship Id="rId4" Type="http://schemas.openxmlformats.org/officeDocument/2006/relationships/image" Target="../media/image16.jpeg"/><Relationship Id="rId3" Type="http://schemas.openxmlformats.org/officeDocument/2006/relationships/image" Target="../media/image15.wmf"/><Relationship Id="rId2" Type="http://schemas.openxmlformats.org/officeDocument/2006/relationships/oleObject" Target="../embeddings/oleObject24.bin"/><Relationship Id="rId11" Type="http://schemas.openxmlformats.org/officeDocument/2006/relationships/notesSlide" Target="../notesSlides/notesSlide24.xml"/><Relationship Id="rId10" Type="http://schemas.openxmlformats.org/officeDocument/2006/relationships/vmlDrawing" Target="../drawings/vmlDrawing18.vml"/><Relationship Id="rId1" Type="http://schemas.openxmlformats.org/officeDocument/2006/relationships/image" Target="../media/image17.jpeg"/></Relationships>
</file>

<file path=ppt/slides/_rels/slide99.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6.wmf"/><Relationship Id="rId7" Type="http://schemas.openxmlformats.org/officeDocument/2006/relationships/oleObject" Target="../embeddings/oleObject29.bin"/><Relationship Id="rId6" Type="http://schemas.openxmlformats.org/officeDocument/2006/relationships/image" Target="../media/image7.wmf"/><Relationship Id="rId5" Type="http://schemas.openxmlformats.org/officeDocument/2006/relationships/oleObject" Target="../embeddings/oleObject28.bin"/><Relationship Id="rId4" Type="http://schemas.openxmlformats.org/officeDocument/2006/relationships/image" Target="../media/image16.jpeg"/><Relationship Id="rId3" Type="http://schemas.openxmlformats.org/officeDocument/2006/relationships/image" Target="../media/image15.wmf"/><Relationship Id="rId2" Type="http://schemas.openxmlformats.org/officeDocument/2006/relationships/oleObject" Target="../embeddings/oleObject27.bin"/><Relationship Id="rId11" Type="http://schemas.openxmlformats.org/officeDocument/2006/relationships/notesSlide" Target="../notesSlides/notesSlide25.xml"/><Relationship Id="rId10" Type="http://schemas.openxmlformats.org/officeDocument/2006/relationships/vmlDrawing" Target="../drawings/vmlDrawing19.vml"/><Relationship Id="rId1" Type="http://schemas.openxmlformats.org/officeDocument/2006/relationships/image" Target="../media/image17.jpeg"/></Relationships>
</file>

<file path=ppt/slides/_rels/slide100.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6.wmf"/><Relationship Id="rId7" Type="http://schemas.openxmlformats.org/officeDocument/2006/relationships/oleObject" Target="../embeddings/oleObject32.bin"/><Relationship Id="rId6" Type="http://schemas.openxmlformats.org/officeDocument/2006/relationships/image" Target="../media/image7.wmf"/><Relationship Id="rId5" Type="http://schemas.openxmlformats.org/officeDocument/2006/relationships/oleObject" Target="../embeddings/oleObject31.bin"/><Relationship Id="rId4" Type="http://schemas.openxmlformats.org/officeDocument/2006/relationships/image" Target="../media/image16.jpeg"/><Relationship Id="rId3" Type="http://schemas.openxmlformats.org/officeDocument/2006/relationships/image" Target="../media/image15.wmf"/><Relationship Id="rId2" Type="http://schemas.openxmlformats.org/officeDocument/2006/relationships/oleObject" Target="../embeddings/oleObject30.bin"/><Relationship Id="rId11" Type="http://schemas.openxmlformats.org/officeDocument/2006/relationships/notesSlide" Target="../notesSlides/notesSlide26.xml"/><Relationship Id="rId10" Type="http://schemas.openxmlformats.org/officeDocument/2006/relationships/vmlDrawing" Target="../drawings/vmlDrawing20.vml"/><Relationship Id="rId1" Type="http://schemas.openxmlformats.org/officeDocument/2006/relationships/image" Target="../media/image17.jpe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oleObject" Target="../embeddings/oleObject35.bin"/><Relationship Id="rId7" Type="http://schemas.openxmlformats.org/officeDocument/2006/relationships/image" Target="../media/image15.wmf"/><Relationship Id="rId6" Type="http://schemas.openxmlformats.org/officeDocument/2006/relationships/oleObject" Target="../embeddings/oleObject34.bin"/><Relationship Id="rId5" Type="http://schemas.openxmlformats.org/officeDocument/2006/relationships/image" Target="../media/image17.jpeg"/><Relationship Id="rId4" Type="http://schemas.openxmlformats.org/officeDocument/2006/relationships/image" Target="../media/image6.wmf"/><Relationship Id="rId3" Type="http://schemas.openxmlformats.org/officeDocument/2006/relationships/oleObject" Target="../embeddings/oleObject33.bin"/><Relationship Id="rId2" Type="http://schemas.openxmlformats.org/officeDocument/2006/relationships/image" Target="../media/image7.wmf"/><Relationship Id="rId11" Type="http://schemas.openxmlformats.org/officeDocument/2006/relationships/notesSlide" Target="../notesSlides/notesSlide27.xml"/><Relationship Id="rId10" Type="http://schemas.openxmlformats.org/officeDocument/2006/relationships/vmlDrawing" Target="../drawings/vmlDrawing21.vml"/><Relationship Id="rId1" Type="http://schemas.openxmlformats.org/officeDocument/2006/relationships/image" Target="../media/image16.jpeg"/></Relationships>
</file>

<file path=ppt/slides/_rels/slide103.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oleObject" Target="../embeddings/oleObject38.bin"/><Relationship Id="rId7" Type="http://schemas.openxmlformats.org/officeDocument/2006/relationships/image" Target="../media/image15.wmf"/><Relationship Id="rId6" Type="http://schemas.openxmlformats.org/officeDocument/2006/relationships/oleObject" Target="../embeddings/oleObject37.bin"/><Relationship Id="rId5" Type="http://schemas.openxmlformats.org/officeDocument/2006/relationships/image" Target="../media/image17.jpeg"/><Relationship Id="rId4" Type="http://schemas.openxmlformats.org/officeDocument/2006/relationships/image" Target="../media/image6.wmf"/><Relationship Id="rId3" Type="http://schemas.openxmlformats.org/officeDocument/2006/relationships/oleObject" Target="../embeddings/oleObject36.bin"/><Relationship Id="rId2" Type="http://schemas.openxmlformats.org/officeDocument/2006/relationships/image" Target="../media/image7.wmf"/><Relationship Id="rId11" Type="http://schemas.openxmlformats.org/officeDocument/2006/relationships/notesSlide" Target="../notesSlides/notesSlide28.xml"/><Relationship Id="rId10" Type="http://schemas.openxmlformats.org/officeDocument/2006/relationships/vmlDrawing" Target="../drawings/vmlDrawing22.vml"/><Relationship Id="rId1" Type="http://schemas.openxmlformats.org/officeDocument/2006/relationships/image" Target="../media/image16.jpeg"/></Relationships>
</file>

<file path=ppt/slides/_rels/slide104.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oleObject" Target="../embeddings/oleObject41.bin"/><Relationship Id="rId7" Type="http://schemas.openxmlformats.org/officeDocument/2006/relationships/image" Target="../media/image15.wmf"/><Relationship Id="rId6" Type="http://schemas.openxmlformats.org/officeDocument/2006/relationships/oleObject" Target="../embeddings/oleObject40.bin"/><Relationship Id="rId5" Type="http://schemas.openxmlformats.org/officeDocument/2006/relationships/image" Target="../media/image17.jpeg"/><Relationship Id="rId4" Type="http://schemas.openxmlformats.org/officeDocument/2006/relationships/image" Target="../media/image6.wmf"/><Relationship Id="rId3" Type="http://schemas.openxmlformats.org/officeDocument/2006/relationships/oleObject" Target="../embeddings/oleObject39.bin"/><Relationship Id="rId2" Type="http://schemas.openxmlformats.org/officeDocument/2006/relationships/image" Target="../media/image7.wmf"/><Relationship Id="rId11" Type="http://schemas.openxmlformats.org/officeDocument/2006/relationships/notesSlide" Target="../notesSlides/notesSlide29.xml"/><Relationship Id="rId10" Type="http://schemas.openxmlformats.org/officeDocument/2006/relationships/vmlDrawing" Target="../drawings/vmlDrawing23.vml"/><Relationship Id="rId1" Type="http://schemas.openxmlformats.org/officeDocument/2006/relationships/image" Target="../media/image16.jpeg"/></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8" Type="http://schemas.openxmlformats.org/officeDocument/2006/relationships/notesSlide" Target="../notesSlides/notesSlide33.xml"/><Relationship Id="rId7" Type="http://schemas.openxmlformats.org/officeDocument/2006/relationships/vmlDrawing" Target="../drawings/vmlDrawing24.vml"/><Relationship Id="rId6"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oleObject" Target="../embeddings/oleObject43.bin"/><Relationship Id="rId3" Type="http://schemas.openxmlformats.org/officeDocument/2006/relationships/image" Target="../media/image15.wmf"/><Relationship Id="rId2" Type="http://schemas.openxmlformats.org/officeDocument/2006/relationships/oleObject" Target="../embeddings/oleObject42.bin"/><Relationship Id="rId1" Type="http://schemas.openxmlformats.org/officeDocument/2006/relationships/image" Target="../media/image18.jpeg"/></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8" Type="http://schemas.openxmlformats.org/officeDocument/2006/relationships/notesSlide" Target="../notesSlides/notesSlide35.xml"/><Relationship Id="rId7" Type="http://schemas.openxmlformats.org/officeDocument/2006/relationships/vmlDrawing" Target="../drawings/vmlDrawing25.vml"/><Relationship Id="rId6"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oleObject" Target="../embeddings/oleObject45.bin"/><Relationship Id="rId3" Type="http://schemas.openxmlformats.org/officeDocument/2006/relationships/image" Target="../media/image15.wmf"/><Relationship Id="rId2" Type="http://schemas.openxmlformats.org/officeDocument/2006/relationships/oleObject" Target="../embeddings/oleObject44.bin"/><Relationship Id="rId1" Type="http://schemas.openxmlformats.org/officeDocument/2006/relationships/image" Target="../media/image18.jpeg"/></Relationships>
</file>

<file path=ppt/slides/_rels/slide112.xml.rels><?xml version="1.0" encoding="UTF-8" standalone="yes"?>
<Relationships xmlns="http://schemas.openxmlformats.org/package/2006/relationships"><Relationship Id="rId8" Type="http://schemas.openxmlformats.org/officeDocument/2006/relationships/notesSlide" Target="../notesSlides/notesSlide36.xml"/><Relationship Id="rId7" Type="http://schemas.openxmlformats.org/officeDocument/2006/relationships/vmlDrawing" Target="../drawings/vmlDrawing26.vml"/><Relationship Id="rId6"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oleObject" Target="../embeddings/oleObject47.bin"/><Relationship Id="rId3" Type="http://schemas.openxmlformats.org/officeDocument/2006/relationships/image" Target="../media/image15.wmf"/><Relationship Id="rId2" Type="http://schemas.openxmlformats.org/officeDocument/2006/relationships/oleObject" Target="../embeddings/oleObject46.bin"/><Relationship Id="rId1" Type="http://schemas.openxmlformats.org/officeDocument/2006/relationships/image" Target="../media/image18.jpeg"/></Relationships>
</file>

<file path=ppt/slides/_rels/slide113.xml.rels><?xml version="1.0" encoding="UTF-8" standalone="yes"?>
<Relationships xmlns="http://schemas.openxmlformats.org/package/2006/relationships"><Relationship Id="rId8" Type="http://schemas.openxmlformats.org/officeDocument/2006/relationships/notesSlide" Target="../notesSlides/notesSlide37.xml"/><Relationship Id="rId7" Type="http://schemas.openxmlformats.org/officeDocument/2006/relationships/vmlDrawing" Target="../drawings/vmlDrawing27.vml"/><Relationship Id="rId6"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oleObject" Target="../embeddings/oleObject49.bin"/><Relationship Id="rId3" Type="http://schemas.openxmlformats.org/officeDocument/2006/relationships/image" Target="../media/image15.wmf"/><Relationship Id="rId2" Type="http://schemas.openxmlformats.org/officeDocument/2006/relationships/oleObject" Target="../embeddings/oleObject48.bin"/><Relationship Id="rId1" Type="http://schemas.openxmlformats.org/officeDocument/2006/relationships/image" Target="../media/image18.jpeg"/></Relationships>
</file>

<file path=ppt/slides/_rels/slide114.xml.rels><?xml version="1.0" encoding="UTF-8" standalone="yes"?>
<Relationships xmlns="http://schemas.openxmlformats.org/package/2006/relationships"><Relationship Id="rId8" Type="http://schemas.openxmlformats.org/officeDocument/2006/relationships/notesSlide" Target="../notesSlides/notesSlide38.xml"/><Relationship Id="rId7" Type="http://schemas.openxmlformats.org/officeDocument/2006/relationships/vmlDrawing" Target="../drawings/vmlDrawing28.vml"/><Relationship Id="rId6"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oleObject" Target="../embeddings/oleObject51.bin"/><Relationship Id="rId3" Type="http://schemas.openxmlformats.org/officeDocument/2006/relationships/image" Target="../media/image15.wmf"/><Relationship Id="rId2" Type="http://schemas.openxmlformats.org/officeDocument/2006/relationships/oleObject" Target="../embeddings/oleObject50.bin"/><Relationship Id="rId1" Type="http://schemas.openxmlformats.org/officeDocument/2006/relationships/image" Target="../media/image18.jpeg"/></Relationships>
</file>

<file path=ppt/slides/_rels/slide115.xml.rels><?xml version="1.0" encoding="UTF-8" standalone="yes"?>
<Relationships xmlns="http://schemas.openxmlformats.org/package/2006/relationships"><Relationship Id="rId8" Type="http://schemas.openxmlformats.org/officeDocument/2006/relationships/notesSlide" Target="../notesSlides/notesSlide39.xml"/><Relationship Id="rId7" Type="http://schemas.openxmlformats.org/officeDocument/2006/relationships/vmlDrawing" Target="../drawings/vmlDrawing29.vml"/><Relationship Id="rId6"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oleObject" Target="../embeddings/oleObject53.bin"/><Relationship Id="rId3" Type="http://schemas.openxmlformats.org/officeDocument/2006/relationships/image" Target="../media/image15.wmf"/><Relationship Id="rId2" Type="http://schemas.openxmlformats.org/officeDocument/2006/relationships/oleObject" Target="../embeddings/oleObject52.bin"/><Relationship Id="rId1" Type="http://schemas.openxmlformats.org/officeDocument/2006/relationships/image" Target="../media/image18.jpeg"/></Relationships>
</file>

<file path=ppt/slides/_rels/slide116.xml.rels><?xml version="1.0" encoding="UTF-8" standalone="yes"?>
<Relationships xmlns="http://schemas.openxmlformats.org/package/2006/relationships"><Relationship Id="rId8" Type="http://schemas.openxmlformats.org/officeDocument/2006/relationships/notesSlide" Target="../notesSlides/notesSlide40.xml"/><Relationship Id="rId7" Type="http://schemas.openxmlformats.org/officeDocument/2006/relationships/vmlDrawing" Target="../drawings/vmlDrawing30.vml"/><Relationship Id="rId6"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oleObject" Target="../embeddings/oleObject55.bin"/><Relationship Id="rId3" Type="http://schemas.openxmlformats.org/officeDocument/2006/relationships/image" Target="../media/image15.wmf"/><Relationship Id="rId2" Type="http://schemas.openxmlformats.org/officeDocument/2006/relationships/oleObject" Target="../embeddings/oleObject54.bin"/><Relationship Id="rId1" Type="http://schemas.openxmlformats.org/officeDocument/2006/relationships/image" Target="../media/image18.jpeg"/></Relationships>
</file>

<file path=ppt/slides/_rels/slide117.xml.rels><?xml version="1.0" encoding="UTF-8" standalone="yes"?>
<Relationships xmlns="http://schemas.openxmlformats.org/package/2006/relationships"><Relationship Id="rId8" Type="http://schemas.openxmlformats.org/officeDocument/2006/relationships/notesSlide" Target="../notesSlides/notesSlide41.xml"/><Relationship Id="rId7" Type="http://schemas.openxmlformats.org/officeDocument/2006/relationships/vmlDrawing" Target="../drawings/vmlDrawing31.vml"/><Relationship Id="rId6"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oleObject" Target="../embeddings/oleObject57.bin"/><Relationship Id="rId3" Type="http://schemas.openxmlformats.org/officeDocument/2006/relationships/image" Target="../media/image15.wmf"/><Relationship Id="rId2" Type="http://schemas.openxmlformats.org/officeDocument/2006/relationships/oleObject" Target="../embeddings/oleObject56.bin"/><Relationship Id="rId1" Type="http://schemas.openxmlformats.org/officeDocument/2006/relationships/image" Target="../media/image18.jpeg"/></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2.xml"/><Relationship Id="rId1" Type="http://schemas.openxmlformats.org/officeDocument/2006/relationships/image" Target="../media/image19.jpeg"/></Relationships>
</file>

<file path=ppt/slides/_rels/slide135.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2.xml"/><Relationship Id="rId1" Type="http://schemas.openxmlformats.org/officeDocument/2006/relationships/image" Target="../media/image19.jpeg"/></Relationships>
</file>

<file path=ppt/slides/_rels/slide136.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2.xml"/><Relationship Id="rId1" Type="http://schemas.openxmlformats.org/officeDocument/2006/relationships/image" Target="../media/image19.jpe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image" Target="../media/image13.wmf"/></Relationships>
</file>

<file path=ppt/slides/_rels/slide144.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image" Target="../media/image13.wmf"/></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image" Target="../media/image13.wmf"/></Relationships>
</file>

<file path=ppt/slides/_rels/slide147.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image" Target="../media/image13.wmf"/></Relationships>
</file>

<file path=ppt/slides/_rels/slide148.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image" Target="../media/image13.wmf"/></Relationships>
</file>

<file path=ppt/slides/_rels/slide149.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image" Target="../media/image13.wmf"/></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22.png"/><Relationship Id="rId1" Type="http://schemas.openxmlformats.org/officeDocument/2006/relationships/image" Target="../media/image13.wmf"/></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22.png"/><Relationship Id="rId1" Type="http://schemas.openxmlformats.org/officeDocument/2006/relationships/image" Target="../media/image13.wmf"/></Relationships>
</file>

<file path=ppt/slides/_rels/slide15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22.png"/><Relationship Id="rId1" Type="http://schemas.openxmlformats.org/officeDocument/2006/relationships/image" Target="../media/image13.wmf"/></Relationships>
</file>

<file path=ppt/slides/_rels/slide15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22.png"/><Relationship Id="rId1" Type="http://schemas.openxmlformats.org/officeDocument/2006/relationships/image" Target="../media/image13.wmf"/></Relationships>
</file>

<file path=ppt/slides/_rels/slide157.xml.rels><?xml version="1.0" encoding="UTF-8" standalone="yes"?>
<Relationships xmlns="http://schemas.openxmlformats.org/package/2006/relationships"><Relationship Id="rId4" Type="http://schemas.openxmlformats.org/officeDocument/2006/relationships/notesSlide" Target="../notesSlides/notesSlide49.xml"/><Relationship Id="rId3" Type="http://schemas.openxmlformats.org/officeDocument/2006/relationships/slideLayout" Target="../slideLayouts/slideLayout2.xml"/><Relationship Id="rId2" Type="http://schemas.openxmlformats.org/officeDocument/2006/relationships/image" Target="../media/image22.png"/><Relationship Id="rId1" Type="http://schemas.openxmlformats.org/officeDocument/2006/relationships/image" Target="../media/image13.wmf"/></Relationships>
</file>

<file path=ppt/slides/_rels/slide15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22.png"/><Relationship Id="rId1" Type="http://schemas.openxmlformats.org/officeDocument/2006/relationships/image" Target="../media/image13.wmf"/></Relationships>
</file>

<file path=ppt/slides/_rels/slide15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22.png"/><Relationship Id="rId1" Type="http://schemas.openxmlformats.org/officeDocument/2006/relationships/image" Target="../media/image13.wmf"/></Relationships>
</file>

<file path=ppt/slides/_rels/slide16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22.png"/><Relationship Id="rId1" Type="http://schemas.openxmlformats.org/officeDocument/2006/relationships/image" Target="../media/image13.wmf"/></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240934" y="1943628"/>
            <a:ext cx="3986989" cy="1785104"/>
          </a:xfrm>
          <a:prstGeom prst="rect">
            <a:avLst/>
          </a:prstGeom>
        </p:spPr>
        <p:txBody>
          <a:bodyPr wrap="none">
            <a:spAutoFit/>
          </a:bodyPr>
          <a:lstStyle/>
          <a:p>
            <a:pPr algn="ctr" eaLnBrk="0" hangingPunct="0"/>
            <a:r>
              <a:rPr lang="zh-CN" altLang="en-US" sz="5500" b="1" dirty="0" smtClean="0">
                <a:solidFill>
                  <a:schemeClr val="bg1"/>
                </a:solidFill>
                <a:latin typeface="微软雅黑" panose="020B0503020204020204" pitchFamily="34" charset="-122"/>
                <a:ea typeface="微软雅黑" panose="020B0503020204020204" pitchFamily="34" charset="-122"/>
              </a:rPr>
              <a:t>无</a:t>
            </a:r>
            <a:r>
              <a:rPr lang="zh-CN" altLang="en-US"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线</a:t>
            </a:r>
            <a:r>
              <a:rPr lang="zh-CN" altLang="en-US"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网</a:t>
            </a:r>
            <a:r>
              <a:rPr lang="zh-CN" altLang="en-US"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络</a:t>
            </a:r>
            <a:endParaRPr lang="en-US" altLang="zh-CN" sz="5500" b="1" dirty="0" smtClean="0">
              <a:solidFill>
                <a:schemeClr val="bg1"/>
              </a:solidFill>
              <a:latin typeface="微软雅黑" panose="020B0503020204020204" pitchFamily="34" charset="-122"/>
              <a:ea typeface="微软雅黑" panose="020B0503020204020204" pitchFamily="34" charset="-122"/>
            </a:endParaRPr>
          </a:p>
          <a:p>
            <a:pPr algn="ctr" eaLnBrk="0" hangingPunct="0"/>
            <a:r>
              <a:rPr lang="zh-CN" altLang="en-US" sz="5500" b="1" dirty="0" smtClean="0">
                <a:solidFill>
                  <a:schemeClr val="bg1"/>
                </a:solidFill>
                <a:latin typeface="微软雅黑" panose="020B0503020204020204" pitchFamily="34" charset="-122"/>
                <a:ea typeface="微软雅黑" panose="020B0503020204020204" pitchFamily="34" charset="-122"/>
              </a:rPr>
              <a:t>和</a:t>
            </a:r>
            <a:r>
              <a:rPr lang="zh-CN" altLang="en-US"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移</a:t>
            </a:r>
            <a:r>
              <a:rPr lang="zh-CN" altLang="en-US"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动</a:t>
            </a:r>
            <a:r>
              <a:rPr lang="zh-CN" altLang="en-US"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网</a:t>
            </a:r>
            <a:r>
              <a:rPr lang="zh-CN" altLang="en-US"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络</a:t>
            </a:r>
            <a:endParaRPr lang="fr-FR" altLang="zh-CN" sz="55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5565012" y="1461010"/>
            <a:ext cx="1338828" cy="523220"/>
          </a:xfrm>
          <a:prstGeom prst="rect">
            <a:avLst/>
          </a:prstGeom>
        </p:spPr>
        <p:txBody>
          <a:bodyPr wrap="none">
            <a:spAutoFit/>
          </a:bodyPr>
          <a:lstStyle/>
          <a:p>
            <a:pPr algn="ctr" eaLnBrk="0" hangingPunct="0"/>
            <a:r>
              <a:rPr lang="fr-FR" altLang="zh-CN" sz="2800" b="1" dirty="0" smtClean="0">
                <a:solidFill>
                  <a:schemeClr val="bg1"/>
                </a:solidFill>
                <a:latin typeface="微软雅黑" panose="020B0503020204020204" pitchFamily="34" charset="-122"/>
                <a:ea typeface="微软雅黑" panose="020B0503020204020204" pitchFamily="34" charset="-122"/>
              </a:rPr>
              <a:t>第 9 章</a:t>
            </a:r>
            <a:endParaRPr lang="fr-FR" altLang="zh-CN" sz="2800" b="1" dirty="0">
              <a:solidFill>
                <a:schemeClr val="bg1"/>
              </a:solidFill>
              <a:latin typeface="微软雅黑" panose="020B0503020204020204" pitchFamily="34" charset="-122"/>
              <a:ea typeface="微软雅黑" panose="020B0503020204020204" pitchFamily="34" charset="-122"/>
            </a:endParaRP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anose="020B0503020204020204" pitchFamily="34" charset="-122"/>
                <a:ea typeface="微软雅黑" panose="020B0503020204020204" pitchFamily="34" charset="-122"/>
              </a:rPr>
              <a:t>谢希仁  编著</a:t>
            </a:r>
            <a:endParaRPr lang="fr-FR" sz="1200" b="1" dirty="0">
              <a:solidFill>
                <a:srgbClr val="00B0F0"/>
              </a:solidFill>
              <a:latin typeface="微软雅黑" panose="020B0503020204020204" pitchFamily="34" charset="-122"/>
              <a:ea typeface="微软雅黑" panose="020B0503020204020204" pitchFamily="34" charset="-122"/>
            </a:endParaRP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anose="020B0503020204020204" pitchFamily="34" charset="-122"/>
                <a:ea typeface="微软雅黑" panose="020B0503020204020204" pitchFamily="34" charset="-122"/>
              </a:rPr>
              <a:t>计算机网络（</a:t>
            </a:r>
            <a:r>
              <a:rPr lang="fr-FR" sz="1600" b="1" dirty="0" smtClean="0">
                <a:solidFill>
                  <a:srgbClr val="00B0F0"/>
                </a:solidFill>
                <a:latin typeface="微软雅黑" panose="020B0503020204020204" pitchFamily="34" charset="-122"/>
                <a:ea typeface="微软雅黑" panose="020B0503020204020204" pitchFamily="34" charset="-122"/>
              </a:rPr>
              <a:t>第 8 版</a:t>
            </a:r>
            <a:r>
              <a:rPr lang="fr-FR" sz="1600" b="1" dirty="0">
                <a:solidFill>
                  <a:srgbClr val="00B0F0"/>
                </a:solidFill>
                <a:latin typeface="微软雅黑" panose="020B0503020204020204" pitchFamily="34" charset="-122"/>
                <a:ea typeface="微软雅黑" panose="020B0503020204020204" pitchFamily="34" charset="-122"/>
              </a:rPr>
              <a:t>）</a:t>
            </a:r>
            <a:endParaRPr lang="fr-FR" sz="1600" b="1" dirty="0">
              <a:solidFill>
                <a:srgbClr val="00B0F0"/>
              </a:solidFill>
              <a:latin typeface="微软雅黑" panose="020B0503020204020204" pitchFamily="34" charset="-122"/>
              <a:ea typeface="微软雅黑" panose="020B0503020204020204" pitchFamily="34" charset="-122"/>
            </a:endParaRP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9"/>
          <p:cNvSpPr>
            <a:spLocks noChangeArrowheads="1"/>
          </p:cNvSpPr>
          <p:nvPr/>
        </p:nvSpPr>
        <p:spPr bwMode="auto">
          <a:xfrm>
            <a:off x="1736635" y="123343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panose="02010600030101010101" pitchFamily="2" charset="-122"/>
            </a:endParaRPr>
          </a:p>
        </p:txBody>
      </p:sp>
      <p:sp>
        <p:nvSpPr>
          <p:cNvPr id="4" name="Rectangle 10"/>
          <p:cNvSpPr>
            <a:spLocks noChangeArrowheads="1"/>
          </p:cNvSpPr>
          <p:nvPr/>
        </p:nvSpPr>
        <p:spPr bwMode="auto">
          <a:xfrm>
            <a:off x="1736635" y="1713557"/>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11"/>
          <p:cNvSpPr>
            <a:spLocks noChangeArrowheads="1"/>
          </p:cNvSpPr>
          <p:nvPr/>
        </p:nvSpPr>
        <p:spPr bwMode="auto">
          <a:xfrm>
            <a:off x="1736635" y="2203551"/>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panose="02010600030101010101" pitchFamily="2" charset="-122"/>
            </a:endParaRPr>
          </a:p>
        </p:txBody>
      </p:sp>
      <p:sp>
        <p:nvSpPr>
          <p:cNvPr id="6" name="Rectangle 12"/>
          <p:cNvSpPr>
            <a:spLocks noChangeArrowheads="1"/>
          </p:cNvSpPr>
          <p:nvPr/>
        </p:nvSpPr>
        <p:spPr bwMode="auto">
          <a:xfrm>
            <a:off x="1736635" y="2692045"/>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panose="02010600030101010101" pitchFamily="2" charset="-122"/>
            </a:endParaRPr>
          </a:p>
        </p:txBody>
      </p:sp>
      <p:sp>
        <p:nvSpPr>
          <p:cNvPr id="7" name="Line 16"/>
          <p:cNvSpPr>
            <a:spLocks noChangeShapeType="1"/>
          </p:cNvSpPr>
          <p:nvPr/>
        </p:nvSpPr>
        <p:spPr bwMode="auto">
          <a:xfrm>
            <a:off x="2484345" y="1052264"/>
            <a:ext cx="0" cy="2872035"/>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8" name="Rectangle 17"/>
          <p:cNvSpPr>
            <a:spLocks noChangeArrowheads="1"/>
          </p:cNvSpPr>
          <p:nvPr/>
        </p:nvSpPr>
        <p:spPr bwMode="auto">
          <a:xfrm>
            <a:off x="1768382" y="1075295"/>
            <a:ext cx="5661539" cy="2041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800"/>
              </a:lnSpc>
            </a:pPr>
            <a:r>
              <a:rPr lang="en-US" altLang="zh-CN" sz="2000" b="1" dirty="0">
                <a:solidFill>
                  <a:schemeClr val="bg1"/>
                </a:solidFill>
                <a:latin typeface="微软雅黑" panose="020B0503020204020204" pitchFamily="34" charset="-122"/>
                <a:ea typeface="微软雅黑" panose="020B0503020204020204" pitchFamily="34" charset="-122"/>
              </a:rPr>
              <a:t>9.1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无线局域网 </a:t>
            </a:r>
            <a:r>
              <a:rPr lang="en-US" altLang="zh-CN" sz="2000" b="1" dirty="0">
                <a:solidFill>
                  <a:schemeClr val="bg1"/>
                </a:solidFill>
                <a:latin typeface="微软雅黑" panose="020B0503020204020204" pitchFamily="34" charset="-122"/>
                <a:ea typeface="微软雅黑" panose="020B0503020204020204" pitchFamily="34" charset="-122"/>
              </a:rPr>
              <a:t>WLAN</a:t>
            </a:r>
            <a:endParaRPr lang="en-US" altLang="zh-CN" sz="2000" b="1" dirty="0">
              <a:solidFill>
                <a:schemeClr val="bg1"/>
              </a:solidFill>
              <a:latin typeface="微软雅黑" panose="020B0503020204020204" pitchFamily="34" charset="-122"/>
              <a:ea typeface="微软雅黑" panose="020B0503020204020204" pitchFamily="34" charset="-122"/>
            </a:endParaRPr>
          </a:p>
          <a:p>
            <a:pPr>
              <a:lnSpc>
                <a:spcPts val="3800"/>
              </a:lnSpc>
            </a:pPr>
            <a:r>
              <a:rPr lang="en-US" altLang="zh-CN" sz="2000" b="1" dirty="0">
                <a:solidFill>
                  <a:schemeClr val="bg1"/>
                </a:solidFill>
                <a:latin typeface="微软雅黑" panose="020B0503020204020204" pitchFamily="34" charset="-122"/>
                <a:ea typeface="微软雅黑" panose="020B0503020204020204" pitchFamily="34" charset="-122"/>
              </a:rPr>
              <a:t>9.2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无线</a:t>
            </a:r>
            <a:r>
              <a:rPr lang="zh-CN" altLang="en-US" sz="2000" b="1" dirty="0">
                <a:solidFill>
                  <a:schemeClr val="bg1"/>
                </a:solidFill>
                <a:latin typeface="微软雅黑" panose="020B0503020204020204" pitchFamily="34" charset="-122"/>
                <a:ea typeface="微软雅黑" panose="020B0503020204020204" pitchFamily="34" charset="-122"/>
              </a:rPr>
              <a:t>个人区域网 </a:t>
            </a:r>
            <a:r>
              <a:rPr lang="en-US" altLang="zh-CN" sz="2000" b="1" dirty="0">
                <a:solidFill>
                  <a:schemeClr val="bg1"/>
                </a:solidFill>
                <a:latin typeface="微软雅黑" panose="020B0503020204020204" pitchFamily="34" charset="-122"/>
                <a:ea typeface="微软雅黑" panose="020B0503020204020204" pitchFamily="34" charset="-122"/>
              </a:rPr>
              <a:t>WPAN</a:t>
            </a:r>
            <a:endParaRPr lang="en-US" altLang="zh-CN" sz="2000" b="1" dirty="0">
              <a:solidFill>
                <a:schemeClr val="bg1"/>
              </a:solidFill>
              <a:latin typeface="微软雅黑" panose="020B0503020204020204" pitchFamily="34" charset="-122"/>
              <a:ea typeface="微软雅黑" panose="020B0503020204020204" pitchFamily="34" charset="-122"/>
            </a:endParaRPr>
          </a:p>
          <a:p>
            <a:pPr>
              <a:lnSpc>
                <a:spcPts val="3800"/>
              </a:lnSpc>
            </a:pPr>
            <a:r>
              <a:rPr lang="en-US" altLang="zh-CN" sz="2000" b="1" dirty="0" smtClean="0">
                <a:solidFill>
                  <a:schemeClr val="bg1"/>
                </a:solidFill>
                <a:latin typeface="微软雅黑" panose="020B0503020204020204" pitchFamily="34" charset="-122"/>
                <a:ea typeface="微软雅黑" panose="020B0503020204020204" pitchFamily="34" charset="-122"/>
              </a:rPr>
              <a:t>9.4  			            </a:t>
            </a:r>
            <a:r>
              <a:rPr lang="zh-CN" altLang="en-US" sz="2000" b="1" dirty="0" smtClean="0">
                <a:solidFill>
                  <a:schemeClr val="bg1"/>
                </a:solidFill>
                <a:latin typeface="微软雅黑" panose="020B0503020204020204" pitchFamily="34" charset="-122"/>
                <a:ea typeface="微软雅黑" panose="020B0503020204020204" pitchFamily="34" charset="-122"/>
              </a:rPr>
              <a:t>蜂窝</a:t>
            </a:r>
            <a:r>
              <a:rPr lang="zh-CN" altLang="en-US" sz="2000" b="1" dirty="0">
                <a:solidFill>
                  <a:schemeClr val="bg1"/>
                </a:solidFill>
                <a:latin typeface="微软雅黑" panose="020B0503020204020204" pitchFamily="34" charset="-122"/>
                <a:ea typeface="微软雅黑" panose="020B0503020204020204" pitchFamily="34" charset="-122"/>
              </a:rPr>
              <a:t>移动通信网</a:t>
            </a:r>
            <a:endParaRPr lang="en-US" altLang="zh-CN" sz="2000" b="1" dirty="0">
              <a:solidFill>
                <a:schemeClr val="bg1"/>
              </a:solidFill>
              <a:latin typeface="微软雅黑" panose="020B0503020204020204" pitchFamily="34" charset="-122"/>
              <a:ea typeface="微软雅黑" panose="020B0503020204020204" pitchFamily="34" charset="-122"/>
            </a:endParaRPr>
          </a:p>
          <a:p>
            <a:pPr>
              <a:lnSpc>
                <a:spcPts val="3800"/>
              </a:lnSpc>
            </a:pPr>
            <a:r>
              <a:rPr lang="en-US" altLang="zh-CN" sz="2000" b="1" dirty="0">
                <a:solidFill>
                  <a:schemeClr val="bg1"/>
                </a:solidFill>
                <a:latin typeface="微软雅黑" panose="020B0503020204020204" pitchFamily="34" charset="-122"/>
                <a:ea typeface="微软雅黑" panose="020B0503020204020204" pitchFamily="34" charset="-122"/>
              </a:rPr>
              <a:t>9.4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移动 </a:t>
            </a:r>
            <a:r>
              <a:rPr lang="en-US" altLang="zh-CN" sz="2000" b="1" dirty="0" smtClean="0">
                <a:solidFill>
                  <a:schemeClr val="bg1"/>
                </a:solidFill>
                <a:latin typeface="微软雅黑" panose="020B0503020204020204" pitchFamily="34" charset="-122"/>
                <a:ea typeface="微软雅黑" panose="020B0503020204020204" pitchFamily="34" charset="-122"/>
              </a:rPr>
              <a:t>IP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7"/>
          <p:cNvSpPr>
            <a:spLocks noChangeArrowheads="1"/>
          </p:cNvSpPr>
          <p:nvPr/>
        </p:nvSpPr>
        <p:spPr bwMode="auto">
          <a:xfrm>
            <a:off x="639730" y="119867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6" name="Rectangle 29"/>
          <p:cNvSpPr>
            <a:spLocks noChangeArrowheads="1"/>
          </p:cNvSpPr>
          <p:nvPr/>
        </p:nvSpPr>
        <p:spPr bwMode="auto">
          <a:xfrm>
            <a:off x="648619" y="129360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anose="020B0503020204020204" pitchFamily="34" charset="-122"/>
                <a:ea typeface="微软雅黑" panose="020B0503020204020204" pitchFamily="34" charset="-122"/>
              </a:rPr>
              <a:t>9.1</a:t>
            </a:r>
            <a:endParaRPr lang="fr-FR"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无线局域网 </a:t>
            </a:r>
            <a:r>
              <a:rPr lang="en-US" altLang="zh-CN" sz="2000" b="1" dirty="0">
                <a:solidFill>
                  <a:schemeClr val="bg1"/>
                </a:solidFill>
                <a:latin typeface="微软雅黑" panose="020B0503020204020204" pitchFamily="34" charset="-122"/>
                <a:ea typeface="微软雅黑" panose="020B0503020204020204" pitchFamily="34" charset="-122"/>
              </a:rPr>
              <a:t>WLAN</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12" name="Rectangle 10"/>
          <p:cNvSpPr>
            <a:spLocks noChangeArrowheads="1"/>
          </p:cNvSpPr>
          <p:nvPr/>
        </p:nvSpPr>
        <p:spPr bwMode="auto">
          <a:xfrm>
            <a:off x="2629135" y="303380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3" name="Rectangle 9"/>
          <p:cNvSpPr>
            <a:spLocks noChangeArrowheads="1"/>
          </p:cNvSpPr>
          <p:nvPr/>
        </p:nvSpPr>
        <p:spPr bwMode="auto">
          <a:xfrm>
            <a:off x="2629135" y="240897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4" name="Rectangle 9"/>
          <p:cNvSpPr>
            <a:spLocks noChangeArrowheads="1"/>
          </p:cNvSpPr>
          <p:nvPr/>
        </p:nvSpPr>
        <p:spPr bwMode="auto">
          <a:xfrm>
            <a:off x="2629135" y="119867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5" name="Rectangle 10"/>
          <p:cNvSpPr>
            <a:spLocks noChangeArrowheads="1"/>
          </p:cNvSpPr>
          <p:nvPr/>
        </p:nvSpPr>
        <p:spPr bwMode="auto">
          <a:xfrm>
            <a:off x="2629135" y="180509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6" name="Line 16"/>
          <p:cNvSpPr>
            <a:spLocks noChangeShapeType="1"/>
          </p:cNvSpPr>
          <p:nvPr/>
        </p:nvSpPr>
        <p:spPr bwMode="auto">
          <a:xfrm>
            <a:off x="3637198" y="1127232"/>
            <a:ext cx="0" cy="2371983"/>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944670"/>
            <a:ext cx="5611577"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9.1.1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无线</a:t>
            </a:r>
            <a:r>
              <a:rPr lang="zh-CN" altLang="en-US" sz="2000" b="1" dirty="0">
                <a:solidFill>
                  <a:schemeClr val="bg1"/>
                </a:solidFill>
                <a:latin typeface="微软雅黑" panose="020B0503020204020204" pitchFamily="34" charset="-122"/>
                <a:ea typeface="微软雅黑" panose="020B0503020204020204" pitchFamily="34" charset="-122"/>
              </a:rPr>
              <a:t>局域网的组成</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9.1.2  	</a:t>
            </a:r>
            <a:r>
              <a:rPr lang="en-US" altLang="zh-CN" sz="2000" b="1" dirty="0" smtClean="0">
                <a:solidFill>
                  <a:schemeClr val="bg1"/>
                </a:solidFill>
                <a:latin typeface="微软雅黑" panose="020B0503020204020204" pitchFamily="34" charset="-122"/>
                <a:ea typeface="微软雅黑" panose="020B0503020204020204" pitchFamily="34" charset="-122"/>
              </a:rPr>
              <a:t>	           802.11 </a:t>
            </a:r>
            <a:r>
              <a:rPr lang="zh-CN" altLang="en-US" sz="2000" b="1" dirty="0">
                <a:solidFill>
                  <a:schemeClr val="bg1"/>
                </a:solidFill>
                <a:latin typeface="微软雅黑" panose="020B0503020204020204" pitchFamily="34" charset="-122"/>
                <a:ea typeface="微软雅黑" panose="020B0503020204020204" pitchFamily="34" charset="-122"/>
              </a:rPr>
              <a:t>局域网的物理层</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9.1.3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en-US" altLang="zh-CN" sz="2000" b="1" dirty="0">
                <a:solidFill>
                  <a:schemeClr val="bg1"/>
                </a:solidFill>
                <a:latin typeface="微软雅黑" panose="020B0503020204020204" pitchFamily="34" charset="-122"/>
                <a:ea typeface="微软雅黑" panose="020B0503020204020204" pitchFamily="34" charset="-122"/>
              </a:rPr>
              <a:t>802.11 </a:t>
            </a:r>
            <a:r>
              <a:rPr lang="zh-CN" altLang="en-US" sz="2000" b="1" dirty="0">
                <a:solidFill>
                  <a:schemeClr val="bg1"/>
                </a:solidFill>
                <a:latin typeface="微软雅黑" panose="020B0503020204020204" pitchFamily="34" charset="-122"/>
                <a:ea typeface="微软雅黑" panose="020B0503020204020204" pitchFamily="34" charset="-122"/>
              </a:rPr>
              <a:t>局域网的 </a:t>
            </a:r>
            <a:r>
              <a:rPr lang="en-US" altLang="zh-CN" sz="2000" b="1" dirty="0">
                <a:solidFill>
                  <a:schemeClr val="bg1"/>
                </a:solidFill>
                <a:latin typeface="微软雅黑" panose="020B0503020204020204" pitchFamily="34" charset="-122"/>
                <a:ea typeface="微软雅黑" panose="020B0503020204020204" pitchFamily="34" charset="-122"/>
              </a:rPr>
              <a:t>MAC </a:t>
            </a:r>
            <a:r>
              <a:rPr lang="zh-CN" altLang="en-US" sz="2000" b="1" dirty="0">
                <a:solidFill>
                  <a:schemeClr val="bg1"/>
                </a:solidFill>
                <a:latin typeface="微软雅黑" panose="020B0503020204020204" pitchFamily="34" charset="-122"/>
                <a:ea typeface="微软雅黑" panose="020B0503020204020204" pitchFamily="34" charset="-122"/>
              </a:rPr>
              <a:t>层协议</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9.1.4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en-US" altLang="zh-CN" sz="2000" b="1" dirty="0">
                <a:solidFill>
                  <a:schemeClr val="bg1"/>
                </a:solidFill>
                <a:latin typeface="微软雅黑" panose="020B0503020204020204" pitchFamily="34" charset="-122"/>
                <a:ea typeface="微软雅黑" panose="020B0503020204020204" pitchFamily="34" charset="-122"/>
              </a:rPr>
              <a:t>802.11 </a:t>
            </a:r>
            <a:r>
              <a:rPr lang="zh-CN" altLang="en-US" sz="2000" b="1" dirty="0">
                <a:solidFill>
                  <a:schemeClr val="bg1"/>
                </a:solidFill>
                <a:latin typeface="微软雅黑" panose="020B0503020204020204" pitchFamily="34" charset="-122"/>
                <a:ea typeface="微软雅黑" panose="020B0503020204020204" pitchFamily="34" charset="-122"/>
              </a:rPr>
              <a:t>局域网的 </a:t>
            </a:r>
            <a:r>
              <a:rPr lang="en-US" altLang="zh-CN" sz="2000" b="1" dirty="0">
                <a:solidFill>
                  <a:schemeClr val="bg1"/>
                </a:solidFill>
                <a:latin typeface="微软雅黑" panose="020B0503020204020204" pitchFamily="34" charset="-122"/>
                <a:ea typeface="微软雅黑" panose="020B0503020204020204" pitchFamily="34" charset="-122"/>
              </a:rPr>
              <a:t>MAC </a:t>
            </a:r>
            <a:r>
              <a:rPr lang="zh-CN" altLang="en-US" sz="2000" b="1" dirty="0">
                <a:solidFill>
                  <a:schemeClr val="bg1"/>
                </a:solidFill>
                <a:latin typeface="微软雅黑" panose="020B0503020204020204" pitchFamily="34" charset="-122"/>
                <a:ea typeface="微软雅黑" panose="020B0503020204020204" pitchFamily="34" charset="-122"/>
              </a:rPr>
              <a:t>帧</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6"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9.1.1  </a:t>
            </a:r>
            <a:r>
              <a:rPr lang="zh-CN" altLang="en-US" sz="2400" b="1" dirty="0">
                <a:solidFill>
                  <a:schemeClr val="bg1"/>
                </a:solidFill>
                <a:latin typeface="微软雅黑" panose="020B0503020204020204" pitchFamily="34" charset="-122"/>
                <a:ea typeface="微软雅黑" panose="020B0503020204020204" pitchFamily="34" charset="-122"/>
              </a:rPr>
              <a:t>无线局域网的组成</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0" name="Rectangle 46"/>
          <p:cNvSpPr>
            <a:spLocks noChangeArrowheads="1"/>
          </p:cNvSpPr>
          <p:nvPr/>
        </p:nvSpPr>
        <p:spPr bwMode="auto">
          <a:xfrm>
            <a:off x="511896" y="1034104"/>
            <a:ext cx="8129016"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无线</a:t>
            </a:r>
            <a:r>
              <a:rPr lang="zh-CN" altLang="en-US" sz="2000" b="1" dirty="0" smtClean="0">
                <a:solidFill>
                  <a:srgbClr val="C00000"/>
                </a:solidFill>
                <a:latin typeface="微软雅黑" panose="020B0503020204020204" pitchFamily="34" charset="-122"/>
                <a:ea typeface="微软雅黑" panose="020B0503020204020204" pitchFamily="34" charset="-122"/>
              </a:rPr>
              <a:t>局域网 </a:t>
            </a:r>
            <a:r>
              <a:rPr lang="en-US" altLang="zh-CN" sz="2000" b="1" dirty="0" smtClean="0">
                <a:solidFill>
                  <a:srgbClr val="C00000"/>
                </a:solidFill>
                <a:latin typeface="微软雅黑" panose="020B0503020204020204" pitchFamily="34" charset="-122"/>
                <a:ea typeface="微软雅黑" panose="020B0503020204020204" pitchFamily="34" charset="-122"/>
              </a:rPr>
              <a:t>WLAN </a:t>
            </a:r>
            <a:r>
              <a:rPr lang="en-US" altLang="zh-CN" sz="2000" b="1" dirty="0">
                <a:latin typeface="微软雅黑" panose="020B0503020204020204" pitchFamily="34" charset="-122"/>
                <a:ea typeface="微软雅黑" panose="020B0503020204020204" pitchFamily="34" charset="-122"/>
              </a:rPr>
              <a:t>(Wireless Local Area Network</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：采用</a:t>
            </a:r>
            <a:r>
              <a:rPr lang="zh-CN" altLang="en-US" sz="2000" b="1" dirty="0">
                <a:latin typeface="微软雅黑" panose="020B0503020204020204" pitchFamily="34" charset="-122"/>
                <a:ea typeface="微软雅黑" panose="020B0503020204020204" pitchFamily="34" charset="-122"/>
              </a:rPr>
              <a:t>无线通信技术的局域网。</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特点：</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提供</a:t>
            </a:r>
            <a:r>
              <a:rPr lang="zh-CN" altLang="en-US" sz="2000" b="1" dirty="0">
                <a:latin typeface="微软雅黑" panose="020B0503020204020204" pitchFamily="34" charset="-122"/>
                <a:ea typeface="微软雅黑" panose="020B0503020204020204" pitchFamily="34" charset="-122"/>
              </a:rPr>
              <a:t>了移动接入的功能</a:t>
            </a:r>
            <a:endParaRPr lang="en-US" altLang="zh-CN" sz="2000" b="1" dirty="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节省</a:t>
            </a:r>
            <a:r>
              <a:rPr lang="zh-CN" altLang="en-US" sz="2000" b="1" dirty="0">
                <a:latin typeface="微软雅黑" panose="020B0503020204020204" pitchFamily="34" charset="-122"/>
                <a:ea typeface="微软雅黑" panose="020B0503020204020204" pitchFamily="34" charset="-122"/>
              </a:rPr>
              <a:t>投资，建网速度较快</a:t>
            </a:r>
            <a:endParaRPr lang="en-US" altLang="zh-CN" sz="2000" b="1" dirty="0" smtClean="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支持便携设备联网</a:t>
            </a:r>
            <a:endParaRPr lang="en-US" altLang="zh-CN"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由于手机普及率日益增高，通过无线局域网接入到互联网已成为当今上网的最常用的方式。</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46069"/>
            <a:ext cx="8129016" cy="12818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便携</a:t>
            </a:r>
            <a:r>
              <a:rPr lang="zh-CN" altLang="en-US" sz="2000" b="1" dirty="0">
                <a:latin typeface="微软雅黑" panose="020B0503020204020204" pitchFamily="34" charset="-122"/>
                <a:ea typeface="微软雅黑" panose="020B0503020204020204" pitchFamily="34" charset="-122"/>
              </a:rPr>
              <a:t>站和移动站表示的意思并</a:t>
            </a:r>
            <a:r>
              <a:rPr lang="zh-CN" altLang="en-US" sz="2000" b="1" dirty="0" smtClean="0">
                <a:latin typeface="微软雅黑" panose="020B0503020204020204" pitchFamily="34" charset="-122"/>
                <a:ea typeface="微软雅黑" panose="020B0503020204020204" pitchFamily="34" charset="-122"/>
              </a:rPr>
              <a:t>不一样。</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2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便携</a:t>
            </a:r>
            <a:r>
              <a:rPr lang="zh-CN" altLang="en-US" sz="2000" b="1" dirty="0" smtClean="0">
                <a:solidFill>
                  <a:srgbClr val="0000FF"/>
                </a:solidFill>
                <a:latin typeface="微软雅黑" panose="020B0503020204020204" pitchFamily="34" charset="-122"/>
                <a:ea typeface="微软雅黑" panose="020B0503020204020204" pitchFamily="34" charset="-122"/>
              </a:rPr>
              <a:t>站</a:t>
            </a:r>
            <a:r>
              <a:rPr lang="zh-CN" altLang="en-US" sz="2000" b="1" dirty="0" smtClean="0">
                <a:latin typeface="微软雅黑" panose="020B0503020204020204" pitchFamily="34" charset="-122"/>
                <a:ea typeface="微软雅黑" panose="020B0503020204020204" pitchFamily="34" charset="-122"/>
              </a:rPr>
              <a:t>：便于移动，但在</a:t>
            </a:r>
            <a:r>
              <a:rPr lang="zh-CN" altLang="en-US" sz="2000" b="1" dirty="0">
                <a:latin typeface="微软雅黑" panose="020B0503020204020204" pitchFamily="34" charset="-122"/>
                <a:ea typeface="微软雅黑" panose="020B0503020204020204" pitchFamily="34" charset="-122"/>
              </a:rPr>
              <a:t>工作</a:t>
            </a:r>
            <a:r>
              <a:rPr lang="zh-CN" altLang="en-US" sz="2000" b="1" dirty="0" smtClean="0">
                <a:latin typeface="微软雅黑" panose="020B0503020204020204" pitchFamily="34" charset="-122"/>
                <a:ea typeface="微软雅黑" panose="020B0503020204020204" pitchFamily="34" charset="-122"/>
              </a:rPr>
              <a:t>时，其</a:t>
            </a:r>
            <a:r>
              <a:rPr lang="zh-CN" altLang="en-US" sz="2000" b="1" dirty="0">
                <a:latin typeface="微软雅黑" panose="020B0503020204020204" pitchFamily="34" charset="-122"/>
                <a:ea typeface="微软雅黑" panose="020B0503020204020204" pitchFamily="34" charset="-122"/>
              </a:rPr>
              <a:t>位置是固定不变的。</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移动站</a:t>
            </a:r>
            <a:r>
              <a:rPr lang="zh-CN" altLang="en-US" sz="2000" b="1" dirty="0" smtClean="0">
                <a:latin typeface="微软雅黑" panose="020B0503020204020204" pitchFamily="34" charset="-122"/>
                <a:ea typeface="微软雅黑" panose="020B0503020204020204" pitchFamily="34" charset="-122"/>
              </a:rPr>
              <a:t>：不仅</a:t>
            </a:r>
            <a:r>
              <a:rPr lang="zh-CN" altLang="en-US" sz="2000" b="1" dirty="0">
                <a:latin typeface="微软雅黑" panose="020B0503020204020204" pitchFamily="34" charset="-122"/>
                <a:ea typeface="微软雅黑" panose="020B0503020204020204" pitchFamily="34" charset="-122"/>
              </a:rPr>
              <a:t>能够移动</a:t>
            </a:r>
            <a:r>
              <a:rPr lang="zh-CN" altLang="en-US" sz="2000" b="1" dirty="0" smtClean="0">
                <a:latin typeface="微软雅黑" panose="020B0503020204020204" pitchFamily="34" charset="-122"/>
                <a:ea typeface="微软雅黑" panose="020B0503020204020204" pitchFamily="34" charset="-122"/>
              </a:rPr>
              <a:t>，还</a:t>
            </a:r>
            <a:r>
              <a:rPr lang="zh-CN" altLang="en-US" sz="2000" b="1" dirty="0">
                <a:latin typeface="微软雅黑" panose="020B0503020204020204" pitchFamily="34" charset="-122"/>
                <a:ea typeface="微软雅黑" panose="020B0503020204020204" pitchFamily="34" charset="-122"/>
              </a:rPr>
              <a:t>可以在移动的过程中进行</a:t>
            </a:r>
            <a:r>
              <a:rPr lang="zh-CN" altLang="en-US" sz="2000" b="1" dirty="0" smtClean="0">
                <a:latin typeface="微软雅黑" panose="020B0503020204020204" pitchFamily="34" charset="-122"/>
                <a:ea typeface="微软雅黑" panose="020B0503020204020204" pitchFamily="34" charset="-122"/>
              </a:rPr>
              <a:t>通信。</a:t>
            </a:r>
            <a:endParaRPr lang="zh-CN" altLang="en-US" sz="2000" b="1" dirty="0">
              <a:latin typeface="微软雅黑" panose="020B0503020204020204" pitchFamily="34" charset="-122"/>
              <a:ea typeface="微软雅黑" panose="020B0503020204020204" pitchFamily="34" charset="-122"/>
            </a:endParaRP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9.1.1  </a:t>
            </a:r>
            <a:r>
              <a:rPr lang="zh-CN" altLang="en-US" sz="2400" b="1" dirty="0">
                <a:solidFill>
                  <a:schemeClr val="bg1"/>
                </a:solidFill>
                <a:latin typeface="微软雅黑" panose="020B0503020204020204" pitchFamily="34" charset="-122"/>
                <a:ea typeface="微软雅黑" panose="020B0503020204020204" pitchFamily="34" charset="-122"/>
              </a:rPr>
              <a:t>无线局域网的组成</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34658"/>
            <a:ext cx="8420564"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可</a:t>
            </a:r>
            <a:r>
              <a:rPr lang="zh-CN" altLang="en-US" sz="2000" b="1" dirty="0">
                <a:latin typeface="微软雅黑" panose="020B0503020204020204" pitchFamily="34" charset="-122"/>
                <a:ea typeface="微软雅黑" panose="020B0503020204020204" pitchFamily="34" charset="-122"/>
              </a:rPr>
              <a:t>分为</a:t>
            </a:r>
            <a:r>
              <a:rPr lang="zh-CN" altLang="en-US" sz="2000" b="1" dirty="0">
                <a:solidFill>
                  <a:srgbClr val="0000FF"/>
                </a:solidFill>
                <a:latin typeface="微软雅黑" panose="020B0503020204020204" pitchFamily="34" charset="-122"/>
                <a:ea typeface="微软雅黑" panose="020B0503020204020204" pitchFamily="34" charset="-122"/>
              </a:rPr>
              <a:t>两大类：</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683895" indent="-342900" eaLnBrk="0" hangingPunct="0">
              <a:lnSpc>
                <a:spcPts val="32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有固定基础设施的 </a:t>
            </a:r>
            <a:r>
              <a:rPr lang="en-US" altLang="zh-CN" sz="2000" b="1" dirty="0">
                <a:latin typeface="微软雅黑" panose="020B0503020204020204" pitchFamily="34" charset="-122"/>
                <a:ea typeface="微软雅黑" panose="020B0503020204020204" pitchFamily="34" charset="-122"/>
              </a:rPr>
              <a:t>WLAN</a:t>
            </a:r>
            <a:endParaRPr lang="en-US" altLang="zh-CN" sz="2000" b="1" dirty="0">
              <a:latin typeface="微软雅黑" panose="020B0503020204020204" pitchFamily="34" charset="-122"/>
              <a:ea typeface="微软雅黑" panose="020B0503020204020204" pitchFamily="34" charset="-122"/>
            </a:endParaRPr>
          </a:p>
          <a:p>
            <a:pPr marL="683895" indent="-342900" eaLnBrk="0" hangingPunct="0">
              <a:lnSpc>
                <a:spcPts val="32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无固定基础设施的 </a:t>
            </a:r>
            <a:r>
              <a:rPr lang="en-US" altLang="zh-CN" sz="2000" b="1" dirty="0">
                <a:latin typeface="微软雅黑" panose="020B0503020204020204" pitchFamily="34" charset="-122"/>
                <a:ea typeface="微软雅黑" panose="020B0503020204020204" pitchFamily="34" charset="-122"/>
              </a:rPr>
              <a:t>WLAN</a:t>
            </a:r>
            <a:endParaRPr lang="en-US" altLang="zh-CN" sz="2000" b="1" dirty="0">
              <a:latin typeface="微软雅黑" panose="020B0503020204020204" pitchFamily="34" charset="-122"/>
              <a:ea typeface="微软雅黑" panose="020B0503020204020204" pitchFamily="34" charset="-122"/>
            </a:endParaRPr>
          </a:p>
          <a:p>
            <a:pPr marL="342900" indent="-34290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所谓“</a:t>
            </a:r>
            <a:r>
              <a:rPr lang="zh-CN" altLang="en-US" sz="2000" b="1" dirty="0">
                <a:solidFill>
                  <a:srgbClr val="C00000"/>
                </a:solidFill>
                <a:latin typeface="微软雅黑" panose="020B0503020204020204" pitchFamily="34" charset="-122"/>
                <a:ea typeface="微软雅黑" panose="020B0503020204020204" pitchFamily="34" charset="-122"/>
              </a:rPr>
              <a:t>固定基础设施</a:t>
            </a:r>
            <a:r>
              <a:rPr lang="zh-CN" altLang="en-US" sz="2000" b="1" dirty="0">
                <a:latin typeface="微软雅黑" panose="020B0503020204020204" pitchFamily="34" charset="-122"/>
                <a:ea typeface="微软雅黑" panose="020B0503020204020204" pitchFamily="34" charset="-122"/>
              </a:rPr>
              <a:t>”是指预先建立起来的、能够覆盖一定地理</a:t>
            </a:r>
            <a:r>
              <a:rPr lang="zh-CN" altLang="en-US" sz="2000" b="1" dirty="0" smtClean="0">
                <a:latin typeface="微软雅黑" panose="020B0503020204020204" pitchFamily="34" charset="-122"/>
                <a:ea typeface="微软雅黑" panose="020B0503020204020204" pitchFamily="34" charset="-122"/>
              </a:rPr>
              <a:t>范围 的</a:t>
            </a:r>
            <a:r>
              <a:rPr lang="zh-CN" altLang="en-US" sz="2000" b="1" dirty="0">
                <a:latin typeface="微软雅黑" panose="020B0503020204020204" pitchFamily="34" charset="-122"/>
                <a:ea typeface="微软雅黑" panose="020B0503020204020204" pitchFamily="34" charset="-122"/>
              </a:rPr>
              <a:t>一批</a:t>
            </a:r>
            <a:r>
              <a:rPr lang="zh-CN" altLang="en-US" sz="2000" b="1" dirty="0">
                <a:solidFill>
                  <a:srgbClr val="C00000"/>
                </a:solidFill>
                <a:latin typeface="微软雅黑" panose="020B0503020204020204" pitchFamily="34" charset="-122"/>
                <a:ea typeface="微软雅黑" panose="020B0503020204020204" pitchFamily="34" charset="-122"/>
              </a:rPr>
              <a:t>固定基站。</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9.1.1  </a:t>
            </a:r>
            <a:r>
              <a:rPr lang="zh-CN" altLang="en-US" sz="2400" b="1" dirty="0">
                <a:solidFill>
                  <a:schemeClr val="bg1"/>
                </a:solidFill>
                <a:latin typeface="微软雅黑" panose="020B0503020204020204" pitchFamily="34" charset="-122"/>
                <a:ea typeface="微软雅黑" panose="020B0503020204020204" pitchFamily="34" charset="-122"/>
              </a:rPr>
              <a:t>无线局域网的组成</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09475" y="962940"/>
            <a:ext cx="8129015"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IEEE 802.11 </a:t>
            </a:r>
            <a:r>
              <a:rPr lang="zh-CN" altLang="en-US" sz="2000" b="1" dirty="0">
                <a:latin typeface="微软雅黑" panose="020B0503020204020204" pitchFamily="34" charset="-122"/>
                <a:ea typeface="微软雅黑" panose="020B0503020204020204" pitchFamily="34" charset="-122"/>
              </a:rPr>
              <a:t>是一个有</a:t>
            </a:r>
            <a:r>
              <a:rPr lang="zh-CN" altLang="en-US" sz="2000" b="1" dirty="0">
                <a:solidFill>
                  <a:srgbClr val="C00000"/>
                </a:solidFill>
                <a:latin typeface="微软雅黑" panose="020B0503020204020204" pitchFamily="34" charset="-122"/>
                <a:ea typeface="微软雅黑" panose="020B0503020204020204" pitchFamily="34" charset="-122"/>
              </a:rPr>
              <a:t>固定基础设施</a:t>
            </a:r>
            <a:r>
              <a:rPr lang="zh-CN" altLang="en-US" sz="2000" b="1" dirty="0">
                <a:latin typeface="微软雅黑" panose="020B0503020204020204" pitchFamily="34" charset="-122"/>
                <a:ea typeface="微软雅黑" panose="020B0503020204020204" pitchFamily="34" charset="-122"/>
              </a:rPr>
              <a:t>的无线局域网的国际标准。</a:t>
            </a:r>
            <a:endParaRPr lang="zh-CN" altLang="en-US" sz="2000" b="1" dirty="0">
              <a:latin typeface="微软雅黑" panose="020B0503020204020204" pitchFamily="34" charset="-122"/>
              <a:ea typeface="微软雅黑" panose="020B0503020204020204" pitchFamily="34" charset="-122"/>
            </a:endParaRPr>
          </a:p>
          <a:p>
            <a:pPr marL="683895" indent="-342900" eaLnBrk="0" hangingPunct="0">
              <a:lnSpc>
                <a:spcPts val="32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星形拓扑</a:t>
            </a:r>
            <a:r>
              <a:rPr lang="zh-CN" altLang="en-US" sz="2000" b="1" dirty="0" smtClean="0">
                <a:latin typeface="微软雅黑" panose="020B0503020204020204" pitchFamily="34" charset="-122"/>
                <a:ea typeface="微软雅黑" panose="020B0503020204020204" pitchFamily="34" charset="-122"/>
              </a:rPr>
              <a:t>，中心</a:t>
            </a:r>
            <a:r>
              <a:rPr lang="zh-CN" altLang="en-US" sz="2000" b="1" dirty="0">
                <a:latin typeface="微软雅黑" panose="020B0503020204020204" pitchFamily="34" charset="-122"/>
                <a:ea typeface="微软雅黑" panose="020B0503020204020204" pitchFamily="34" charset="-122"/>
              </a:rPr>
              <a:t>叫做</a:t>
            </a:r>
            <a:r>
              <a:rPr lang="zh-CN" altLang="en-US" sz="2000" b="1" dirty="0">
                <a:solidFill>
                  <a:srgbClr val="0000FF"/>
                </a:solidFill>
                <a:latin typeface="微软雅黑" panose="020B0503020204020204" pitchFamily="34" charset="-122"/>
                <a:ea typeface="微软雅黑" panose="020B0503020204020204" pitchFamily="34" charset="-122"/>
              </a:rPr>
              <a:t>接入点 </a:t>
            </a:r>
            <a:r>
              <a:rPr lang="en-US" altLang="zh-CN" sz="2000" b="1" dirty="0">
                <a:solidFill>
                  <a:srgbClr val="0000FF"/>
                </a:solidFill>
                <a:latin typeface="微软雅黑" panose="020B0503020204020204" pitchFamily="34" charset="-122"/>
                <a:ea typeface="微软雅黑" panose="020B0503020204020204" pitchFamily="34" charset="-122"/>
              </a:rPr>
              <a:t>AP </a:t>
            </a:r>
            <a:r>
              <a:rPr lang="en-US" altLang="zh-CN" sz="2000" b="1" dirty="0">
                <a:latin typeface="微软雅黑" panose="020B0503020204020204" pitchFamily="34" charset="-122"/>
                <a:ea typeface="微软雅黑" panose="020B0503020204020204" pitchFamily="34" charset="-122"/>
              </a:rPr>
              <a:t>(Access Point</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smtClean="0">
                <a:latin typeface="微软雅黑" panose="020B0503020204020204" pitchFamily="34" charset="-122"/>
                <a:ea typeface="微软雅黑" panose="020B0503020204020204" pitchFamily="34" charset="-122"/>
              </a:rPr>
              <a:t>AP </a:t>
            </a:r>
            <a:r>
              <a:rPr lang="zh-CN" altLang="en-US" b="1" dirty="0" smtClean="0">
                <a:latin typeface="微软雅黑" panose="020B0503020204020204" pitchFamily="34" charset="-122"/>
                <a:ea typeface="微软雅黑" panose="020B0503020204020204" pitchFamily="34" charset="-122"/>
              </a:rPr>
              <a:t>是</a:t>
            </a:r>
            <a:r>
              <a:rPr lang="zh-CN" altLang="en-US" b="1" dirty="0">
                <a:latin typeface="微软雅黑" panose="020B0503020204020204" pitchFamily="34" charset="-122"/>
                <a:ea typeface="微软雅黑" panose="020B0503020204020204" pitchFamily="34" charset="-122"/>
              </a:rPr>
              <a:t>无线局域网的</a:t>
            </a:r>
            <a:r>
              <a:rPr lang="zh-CN" altLang="en-US" b="1" dirty="0">
                <a:solidFill>
                  <a:srgbClr val="C00000"/>
                </a:solidFill>
                <a:latin typeface="微软雅黑" panose="020B0503020204020204" pitchFamily="34" charset="-122"/>
                <a:ea typeface="微软雅黑" panose="020B0503020204020204" pitchFamily="34" charset="-122"/>
              </a:rPr>
              <a:t>基础设施，</a:t>
            </a:r>
            <a:r>
              <a:rPr lang="zh-CN" altLang="en-US" b="1" dirty="0">
                <a:latin typeface="微软雅黑" panose="020B0503020204020204" pitchFamily="34" charset="-122"/>
                <a:ea typeface="微软雅黑" panose="020B0503020204020204" pitchFamily="34" charset="-122"/>
              </a:rPr>
              <a:t>也是一个</a:t>
            </a:r>
            <a:r>
              <a:rPr lang="zh-CN" altLang="en-US" b="1" dirty="0">
                <a:solidFill>
                  <a:srgbClr val="C00000"/>
                </a:solidFill>
                <a:latin typeface="微软雅黑" panose="020B0503020204020204" pitchFamily="34" charset="-122"/>
                <a:ea typeface="微软雅黑" panose="020B0503020204020204" pitchFamily="34" charset="-122"/>
              </a:rPr>
              <a:t>链路层</a:t>
            </a:r>
            <a:r>
              <a:rPr lang="zh-CN" altLang="en-US" b="1" dirty="0">
                <a:latin typeface="微软雅黑" panose="020B0503020204020204" pitchFamily="34" charset="-122"/>
                <a:ea typeface="微软雅黑" panose="020B0503020204020204" pitchFamily="34" charset="-122"/>
              </a:rPr>
              <a:t>的设备</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smtClean="0">
                <a:latin typeface="微软雅黑" panose="020B0503020204020204" pitchFamily="34" charset="-122"/>
                <a:ea typeface="微软雅黑" panose="020B0503020204020204" pitchFamily="34" charset="-122"/>
              </a:rPr>
              <a:t>AP </a:t>
            </a:r>
            <a:r>
              <a:rPr lang="zh-CN" altLang="en-US" b="1" dirty="0" smtClean="0">
                <a:latin typeface="微软雅黑" panose="020B0503020204020204" pitchFamily="34" charset="-122"/>
                <a:ea typeface="微软雅黑" panose="020B0503020204020204" pitchFamily="34" charset="-122"/>
              </a:rPr>
              <a:t>也</a:t>
            </a:r>
            <a:r>
              <a:rPr lang="zh-CN" altLang="en-US" b="1" dirty="0">
                <a:latin typeface="微软雅黑" panose="020B0503020204020204" pitchFamily="34" charset="-122"/>
                <a:ea typeface="微软雅黑" panose="020B0503020204020204" pitchFamily="34" charset="-122"/>
              </a:rPr>
              <a:t>叫做</a:t>
            </a:r>
            <a:r>
              <a:rPr lang="zh-CN" altLang="en-US" b="1" dirty="0">
                <a:solidFill>
                  <a:srgbClr val="C00000"/>
                </a:solidFill>
                <a:latin typeface="微软雅黑" panose="020B0503020204020204" pitchFamily="34" charset="-122"/>
                <a:ea typeface="微软雅黑" panose="020B0503020204020204" pitchFamily="34" charset="-122"/>
              </a:rPr>
              <a:t>无线接入</a:t>
            </a:r>
            <a:r>
              <a:rPr lang="zh-CN" altLang="en-US" b="1" dirty="0" smtClean="0">
                <a:solidFill>
                  <a:srgbClr val="C00000"/>
                </a:solidFill>
                <a:latin typeface="微软雅黑" panose="020B0503020204020204" pitchFamily="34" charset="-122"/>
                <a:ea typeface="微软雅黑" panose="020B0503020204020204" pitchFamily="34" charset="-122"/>
              </a:rPr>
              <a:t>点 </a:t>
            </a:r>
            <a:r>
              <a:rPr lang="en-US" altLang="zh-CN" b="1" dirty="0" smtClean="0">
                <a:solidFill>
                  <a:srgbClr val="C00000"/>
                </a:solidFill>
                <a:latin typeface="微软雅黑" panose="020B0503020204020204" pitchFamily="34" charset="-122"/>
                <a:ea typeface="微软雅黑" panose="020B0503020204020204" pitchFamily="34" charset="-122"/>
              </a:rPr>
              <a:t>WAP </a:t>
            </a:r>
            <a:r>
              <a:rPr lang="en-US" altLang="zh-CN" b="1" dirty="0">
                <a:latin typeface="微软雅黑" panose="020B0503020204020204" pitchFamily="34" charset="-122"/>
                <a:ea typeface="微软雅黑" panose="020B0503020204020204" pitchFamily="34" charset="-122"/>
              </a:rPr>
              <a:t>(Wireless Access Point)</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rPr>
              <a:t>无线</a:t>
            </a:r>
            <a:r>
              <a:rPr lang="zh-CN" altLang="en-US" b="1" dirty="0">
                <a:latin typeface="微软雅黑" panose="020B0503020204020204" pitchFamily="34" charset="-122"/>
                <a:ea typeface="微软雅黑" panose="020B0503020204020204" pitchFamily="34" charset="-122"/>
              </a:rPr>
              <a:t>局域网中的</a:t>
            </a:r>
            <a:r>
              <a:rPr lang="zh-CN" altLang="en-US" b="1" dirty="0" smtClean="0">
                <a:latin typeface="微软雅黑" panose="020B0503020204020204" pitchFamily="34" charset="-122"/>
                <a:ea typeface="微软雅黑" panose="020B0503020204020204" pitchFamily="34" charset="-122"/>
              </a:rPr>
              <a:t>站点对</a:t>
            </a:r>
            <a:r>
              <a:rPr lang="zh-CN" altLang="en-US" b="1" dirty="0">
                <a:latin typeface="微软雅黑" panose="020B0503020204020204" pitchFamily="34" charset="-122"/>
                <a:ea typeface="微软雅黑" panose="020B0503020204020204" pitchFamily="34" charset="-122"/>
              </a:rPr>
              <a:t>网内或网外的</a:t>
            </a:r>
            <a:r>
              <a:rPr lang="zh-CN" altLang="en-US" b="1" dirty="0" smtClean="0">
                <a:latin typeface="微软雅黑" panose="020B0503020204020204" pitchFamily="34" charset="-122"/>
                <a:ea typeface="微软雅黑" panose="020B0503020204020204" pitchFamily="34" charset="-122"/>
              </a:rPr>
              <a:t>通信</a:t>
            </a:r>
            <a:r>
              <a:rPr lang="zh-CN" altLang="en-US" b="1" dirty="0" smtClean="0">
                <a:solidFill>
                  <a:srgbClr val="C00000"/>
                </a:solidFill>
                <a:latin typeface="微软雅黑" panose="020B0503020204020204" pitchFamily="34" charset="-122"/>
                <a:ea typeface="微软雅黑" panose="020B0503020204020204" pitchFamily="34" charset="-122"/>
              </a:rPr>
              <a:t>都</a:t>
            </a:r>
            <a:r>
              <a:rPr lang="zh-CN" altLang="en-US" b="1" dirty="0">
                <a:solidFill>
                  <a:srgbClr val="C00000"/>
                </a:solidFill>
                <a:latin typeface="微软雅黑" panose="020B0503020204020204" pitchFamily="34" charset="-122"/>
                <a:ea typeface="微软雅黑" panose="020B0503020204020204" pitchFamily="34" charset="-122"/>
              </a:rPr>
              <a:t>必须</a:t>
            </a:r>
            <a:r>
              <a:rPr lang="zh-CN" altLang="en-US" b="1" dirty="0" smtClean="0">
                <a:solidFill>
                  <a:srgbClr val="C00000"/>
                </a:solidFill>
                <a:latin typeface="微软雅黑" panose="020B0503020204020204" pitchFamily="34" charset="-122"/>
                <a:ea typeface="微软雅黑" panose="020B0503020204020204" pitchFamily="34" charset="-122"/>
              </a:rPr>
              <a:t>通过 </a:t>
            </a:r>
            <a:r>
              <a:rPr lang="en-US" altLang="zh-CN" b="1" dirty="0" smtClean="0">
                <a:solidFill>
                  <a:srgbClr val="C00000"/>
                </a:solidFill>
                <a:latin typeface="微软雅黑" panose="020B0503020204020204" pitchFamily="34" charset="-122"/>
                <a:ea typeface="微软雅黑" panose="020B0503020204020204" pitchFamily="34" charset="-122"/>
              </a:rPr>
              <a:t>AP</a:t>
            </a:r>
            <a:r>
              <a:rPr lang="zh-CN" altLang="en-US" b="1" dirty="0">
                <a:solidFill>
                  <a:srgbClr val="C00000"/>
                </a:solidFill>
                <a:latin typeface="微软雅黑" panose="020B0503020204020204" pitchFamily="34" charset="-122"/>
                <a:ea typeface="微软雅黑" panose="020B0503020204020204" pitchFamily="34" charset="-122"/>
              </a:rPr>
              <a:t>。</a:t>
            </a:r>
            <a:endParaRPr lang="en-US" altLang="zh-CN" b="1" dirty="0">
              <a:solidFill>
                <a:srgbClr val="C00000"/>
              </a:solidFill>
              <a:latin typeface="微软雅黑" panose="020B0503020204020204" pitchFamily="34" charset="-122"/>
              <a:ea typeface="微软雅黑" panose="020B0503020204020204" pitchFamily="34" charset="-122"/>
            </a:endParaRPr>
          </a:p>
          <a:p>
            <a:pPr marL="683895" indent="-342900" eaLnBrk="0" hangingPunct="0">
              <a:lnSpc>
                <a:spcPts val="32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在 </a:t>
            </a:r>
            <a:r>
              <a:rPr lang="en-US" altLang="zh-CN" sz="2000" b="1" dirty="0" smtClean="0">
                <a:latin typeface="微软雅黑" panose="020B0503020204020204" pitchFamily="34" charset="-122"/>
                <a:ea typeface="微软雅黑" panose="020B0503020204020204" pitchFamily="34" charset="-122"/>
              </a:rPr>
              <a:t>MAC </a:t>
            </a:r>
            <a:r>
              <a:rPr lang="zh-CN" altLang="en-US" sz="2000" b="1" dirty="0" smtClean="0">
                <a:latin typeface="微软雅黑" panose="020B0503020204020204" pitchFamily="34" charset="-122"/>
                <a:ea typeface="微软雅黑" panose="020B0503020204020204" pitchFamily="34" charset="-122"/>
              </a:rPr>
              <a:t>层</a:t>
            </a:r>
            <a:r>
              <a:rPr lang="zh-CN" altLang="en-US" sz="2000" b="1" dirty="0">
                <a:latin typeface="微软雅黑" panose="020B0503020204020204" pitchFamily="34" charset="-122"/>
                <a:ea typeface="微软雅黑" panose="020B0503020204020204" pitchFamily="34" charset="-122"/>
              </a:rPr>
              <a:t>使用 </a:t>
            </a:r>
            <a:r>
              <a:rPr lang="en-US" altLang="zh-CN" sz="2000" b="1" dirty="0">
                <a:solidFill>
                  <a:srgbClr val="0000FF"/>
                </a:solidFill>
                <a:latin typeface="微软雅黑" panose="020B0503020204020204" pitchFamily="34" charset="-122"/>
                <a:ea typeface="微软雅黑" panose="020B0503020204020204" pitchFamily="34" charset="-122"/>
              </a:rPr>
              <a:t>CSMA/CA </a:t>
            </a:r>
            <a:r>
              <a:rPr lang="zh-CN" altLang="en-US" sz="2000" b="1" dirty="0">
                <a:latin typeface="微软雅黑" panose="020B0503020204020204" pitchFamily="34" charset="-122"/>
                <a:ea typeface="微软雅黑" panose="020B0503020204020204" pitchFamily="34" charset="-122"/>
              </a:rPr>
              <a:t>协议</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凡使用 </a:t>
            </a:r>
            <a:r>
              <a:rPr lang="en-US" altLang="zh-CN" sz="2000" b="1" dirty="0">
                <a:latin typeface="微软雅黑" panose="020B0503020204020204" pitchFamily="34" charset="-122"/>
                <a:ea typeface="微软雅黑" panose="020B0503020204020204" pitchFamily="34" charset="-122"/>
              </a:rPr>
              <a:t>802.11 </a:t>
            </a:r>
            <a:r>
              <a:rPr lang="zh-CN" altLang="en-US" sz="2000" b="1" dirty="0">
                <a:latin typeface="微软雅黑" panose="020B0503020204020204" pitchFamily="34" charset="-122"/>
                <a:ea typeface="微软雅黑" panose="020B0503020204020204" pitchFamily="34" charset="-122"/>
              </a:rPr>
              <a:t>系列协议的局域网又称为 </a:t>
            </a:r>
            <a:r>
              <a:rPr lang="en-US" altLang="zh-CN" sz="2000" b="1" dirty="0">
                <a:solidFill>
                  <a:srgbClr val="0000FF"/>
                </a:solidFill>
                <a:latin typeface="微软雅黑" panose="020B0503020204020204" pitchFamily="34" charset="-122"/>
                <a:ea typeface="微软雅黑" panose="020B0503020204020204" pitchFamily="34" charset="-122"/>
              </a:rPr>
              <a:t>Wi-Fi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54860" y="1086004"/>
            <a:ext cx="5231253" cy="338554"/>
          </a:xfrm>
          <a:prstGeom prst="rect">
            <a:avLst/>
          </a:prstGeom>
          <a:noFill/>
          <a:ln>
            <a:noFill/>
          </a:ln>
        </p:spPr>
        <p:txBody>
          <a:bodyPr wrap="square">
            <a:spAutoFit/>
          </a:bodyPr>
          <a:lstStyle/>
          <a:p>
            <a:pPr algn="ctr"/>
            <a:r>
              <a:rPr lang="en-US" altLang="zh-CN" sz="1600" b="1" dirty="0" smtClean="0">
                <a:solidFill>
                  <a:srgbClr val="0000FF"/>
                </a:solidFill>
                <a:latin typeface="微软雅黑" panose="020B0503020204020204" pitchFamily="34" charset="-122"/>
                <a:ea typeface="微软雅黑" panose="020B0503020204020204" pitchFamily="34" charset="-122"/>
              </a:rPr>
              <a:t>IEEE 802.11 </a:t>
            </a:r>
            <a:r>
              <a:rPr lang="zh-CN" altLang="en-US" sz="1600" b="1" dirty="0" smtClean="0">
                <a:solidFill>
                  <a:srgbClr val="0000FF"/>
                </a:solidFill>
                <a:latin typeface="微软雅黑" panose="020B0503020204020204" pitchFamily="34" charset="-122"/>
                <a:ea typeface="微软雅黑" panose="020B0503020204020204" pitchFamily="34" charset="-122"/>
              </a:rPr>
              <a:t>的</a:t>
            </a:r>
            <a:r>
              <a:rPr lang="zh-CN" altLang="en-US" sz="1600" b="1" dirty="0" smtClean="0">
                <a:solidFill>
                  <a:srgbClr val="C00000"/>
                </a:solidFill>
                <a:latin typeface="微软雅黑" panose="020B0503020204020204" pitchFamily="34" charset="-122"/>
                <a:ea typeface="微软雅黑" panose="020B0503020204020204" pitchFamily="34" charset="-122"/>
              </a:rPr>
              <a:t>基本</a:t>
            </a:r>
            <a:r>
              <a:rPr lang="zh-CN" altLang="en-US" sz="1600" b="1" dirty="0">
                <a:solidFill>
                  <a:srgbClr val="C00000"/>
                </a:solidFill>
                <a:latin typeface="微软雅黑" panose="020B0503020204020204" pitchFamily="34" charset="-122"/>
                <a:ea typeface="微软雅黑" panose="020B0503020204020204" pitchFamily="34" charset="-122"/>
              </a:rPr>
              <a:t>服务集 </a:t>
            </a:r>
            <a:r>
              <a:rPr lang="en-US" altLang="zh-CN" sz="1600" b="1" dirty="0">
                <a:solidFill>
                  <a:srgbClr val="C00000"/>
                </a:solidFill>
                <a:latin typeface="微软雅黑" panose="020B0503020204020204" pitchFamily="34" charset="-122"/>
                <a:ea typeface="微软雅黑" panose="020B0503020204020204" pitchFamily="34" charset="-122"/>
              </a:rPr>
              <a:t>BSS </a:t>
            </a:r>
            <a:r>
              <a:rPr lang="zh-CN" altLang="en-US" sz="1600" b="1" dirty="0">
                <a:solidFill>
                  <a:srgbClr val="0000FF"/>
                </a:solidFill>
                <a:latin typeface="微软雅黑" panose="020B0503020204020204" pitchFamily="34" charset="-122"/>
                <a:ea typeface="微软雅黑" panose="020B0503020204020204" pitchFamily="34" charset="-122"/>
              </a:rPr>
              <a:t>和</a:t>
            </a:r>
            <a:r>
              <a:rPr lang="zh-CN" altLang="en-US" sz="1600" b="1" dirty="0">
                <a:solidFill>
                  <a:srgbClr val="C00000"/>
                </a:solidFill>
                <a:latin typeface="微软雅黑" panose="020B0503020204020204" pitchFamily="34" charset="-122"/>
                <a:ea typeface="微软雅黑" panose="020B0503020204020204" pitchFamily="34" charset="-122"/>
              </a:rPr>
              <a:t>扩展服务集 </a:t>
            </a:r>
            <a:r>
              <a:rPr lang="en-US" altLang="zh-CN" sz="1600" b="1" dirty="0" smtClean="0">
                <a:solidFill>
                  <a:srgbClr val="C00000"/>
                </a:solidFill>
                <a:latin typeface="微软雅黑" panose="020B0503020204020204" pitchFamily="34" charset="-122"/>
                <a:ea typeface="微软雅黑" panose="020B0503020204020204" pitchFamily="34" charset="-122"/>
              </a:rPr>
              <a:t>ESS</a:t>
            </a:r>
            <a:endParaRPr lang="en-US" altLang="zh-CN" sz="1600" b="1" dirty="0">
              <a:solidFill>
                <a:srgbClr val="C00000"/>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9525">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1025" name="VISIO" r:id="rId2" imgW="3514725" imgH="2009775" progId="">
                  <p:embed/>
                </p:oleObj>
              </mc:Choice>
              <mc:Fallback>
                <p:oleObj name="VISIO" r:id="rId2" imgW="3514725" imgH="2009775" progId="">
                  <p:embed/>
                  <p:pic>
                    <p:nvPicPr>
                      <p:cNvPr id="0" name="图片 1024"/>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677947" cy="523220"/>
          </a:xfrm>
          <a:prstGeom prst="rect">
            <a:avLst/>
          </a:prstGeom>
          <a:noFill/>
          <a:ln>
            <a:noFill/>
          </a:ln>
        </p:spPr>
        <p:txBody>
          <a:bodyPr wrap="square">
            <a:spAutoFit/>
          </a:bodyPr>
          <a:lstStyle/>
          <a:p>
            <a:pPr algn="ctr"/>
            <a:r>
              <a:rPr lang="zh-CN" altLang="en-US" sz="1400" b="1" dirty="0" smtClean="0">
                <a:solidFill>
                  <a:srgbClr val="0000CC"/>
                </a:solidFill>
                <a:latin typeface="微软雅黑" panose="020B0503020204020204" pitchFamily="34" charset="-122"/>
                <a:ea typeface="微软雅黑" panose="020B0503020204020204" pitchFamily="34" charset="-122"/>
              </a:rPr>
              <a:t>基本</a:t>
            </a:r>
            <a:r>
              <a:rPr lang="zh-CN" altLang="en-US" sz="1400" b="1" dirty="0">
                <a:solidFill>
                  <a:srgbClr val="0000CC"/>
                </a:solidFill>
                <a:latin typeface="微软雅黑" panose="020B0503020204020204" pitchFamily="34" charset="-122"/>
                <a:ea typeface="微软雅黑" panose="020B0503020204020204" pitchFamily="34" charset="-122"/>
              </a:rPr>
              <a:t>服务</a:t>
            </a:r>
            <a:r>
              <a:rPr lang="zh-CN" altLang="en-US" sz="1400" b="1" dirty="0" smtClean="0">
                <a:solidFill>
                  <a:srgbClr val="0000CC"/>
                </a:solidFill>
                <a:latin typeface="微软雅黑" panose="020B0503020204020204" pitchFamily="34" charset="-122"/>
                <a:ea typeface="微软雅黑" panose="020B0503020204020204" pitchFamily="34" charset="-122"/>
              </a:rPr>
              <a:t>集 </a:t>
            </a:r>
            <a:r>
              <a:rPr lang="en-US" altLang="zh-CN" sz="1400" b="1" dirty="0" smtClean="0">
                <a:solidFill>
                  <a:srgbClr val="0000CC"/>
                </a:solidFill>
                <a:latin typeface="微软雅黑" panose="020B0503020204020204" pitchFamily="34" charset="-122"/>
                <a:ea typeface="微软雅黑" panose="020B0503020204020204" pitchFamily="34" charset="-122"/>
              </a:rPr>
              <a:t>BSS </a:t>
            </a:r>
            <a:r>
              <a:rPr lang="en-US" altLang="zh-CN" sz="1400" b="1" dirty="0">
                <a:solidFill>
                  <a:srgbClr val="0000CC"/>
                </a:solidFill>
                <a:latin typeface="微软雅黑" panose="020B0503020204020204" pitchFamily="34" charset="-122"/>
                <a:ea typeface="微软雅黑" panose="020B0503020204020204" pitchFamily="34" charset="-122"/>
              </a:rPr>
              <a:t>(Basic Service </a:t>
            </a:r>
            <a:r>
              <a:rPr lang="en-US" altLang="zh-CN" sz="1400" b="1" dirty="0" smtClean="0">
                <a:solidFill>
                  <a:srgbClr val="0000CC"/>
                </a:solidFill>
                <a:latin typeface="微软雅黑" panose="020B0503020204020204" pitchFamily="34" charset="-122"/>
                <a:ea typeface="微软雅黑" panose="020B0503020204020204" pitchFamily="34" charset="-122"/>
              </a:rPr>
              <a:t>Set )</a:t>
            </a:r>
            <a:r>
              <a:rPr lang="zh-CN" altLang="en-US" sz="1400" b="1" dirty="0">
                <a:solidFill>
                  <a:srgbClr val="0000CC"/>
                </a:solidFill>
                <a:latin typeface="微软雅黑" panose="020B0503020204020204" pitchFamily="34" charset="-122"/>
                <a:ea typeface="微软雅黑" panose="020B0503020204020204" pitchFamily="34" charset="-122"/>
              </a:rPr>
              <a:t>是</a:t>
            </a:r>
            <a:r>
              <a:rPr lang="zh-CN" altLang="en-US" sz="1400" b="1" dirty="0" smtClean="0">
                <a:solidFill>
                  <a:srgbClr val="0000CC"/>
                </a:solidFill>
                <a:latin typeface="微软雅黑" panose="020B0503020204020204" pitchFamily="34" charset="-122"/>
                <a:ea typeface="微软雅黑" panose="020B0503020204020204" pitchFamily="34" charset="-122"/>
              </a:rPr>
              <a:t>无线</a:t>
            </a:r>
            <a:r>
              <a:rPr lang="zh-CN" altLang="en-US" sz="1400" b="1" dirty="0">
                <a:solidFill>
                  <a:srgbClr val="0000CC"/>
                </a:solidFill>
                <a:latin typeface="微软雅黑" panose="020B0503020204020204" pitchFamily="34" charset="-122"/>
                <a:ea typeface="微软雅黑" panose="020B0503020204020204" pitchFamily="34" charset="-122"/>
              </a:rPr>
              <a:t>局域网的</a:t>
            </a:r>
            <a:r>
              <a:rPr lang="zh-CN" altLang="en-US" sz="1400" b="1" dirty="0">
                <a:solidFill>
                  <a:srgbClr val="C00000"/>
                </a:solidFill>
                <a:latin typeface="微软雅黑" panose="020B0503020204020204" pitchFamily="34" charset="-122"/>
                <a:ea typeface="微软雅黑" panose="020B0503020204020204" pitchFamily="34" charset="-122"/>
              </a:rPr>
              <a:t>最小</a:t>
            </a:r>
            <a:r>
              <a:rPr lang="zh-CN" altLang="en-US" sz="1400" b="1" dirty="0" smtClean="0">
                <a:solidFill>
                  <a:srgbClr val="C00000"/>
                </a:solidFill>
                <a:latin typeface="微软雅黑" panose="020B0503020204020204" pitchFamily="34" charset="-122"/>
                <a:ea typeface="微软雅黑" panose="020B0503020204020204" pitchFamily="34" charset="-122"/>
              </a:rPr>
              <a:t>构件。</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gn="ctr"/>
            <a:r>
              <a:rPr lang="zh-CN" altLang="en-US" sz="1400" b="1" dirty="0" smtClean="0">
                <a:solidFill>
                  <a:srgbClr val="0000CC"/>
                </a:solidFill>
                <a:latin typeface="微软雅黑" panose="020B0503020204020204" pitchFamily="34" charset="-122"/>
                <a:ea typeface="微软雅黑" panose="020B0503020204020204" pitchFamily="34" charset="-122"/>
              </a:rPr>
              <a:t>一个 </a:t>
            </a:r>
            <a:r>
              <a:rPr lang="en-US" altLang="zh-CN" sz="1400" b="1" dirty="0" smtClean="0">
                <a:solidFill>
                  <a:srgbClr val="0000CC"/>
                </a:solidFill>
                <a:latin typeface="微软雅黑" panose="020B0503020204020204" pitchFamily="34" charset="-122"/>
                <a:ea typeface="微软雅黑" panose="020B0503020204020204" pitchFamily="34" charset="-122"/>
              </a:rPr>
              <a:t>BSS </a:t>
            </a:r>
            <a:r>
              <a:rPr lang="zh-CN" altLang="en-US" sz="1400" b="1" dirty="0" smtClean="0">
                <a:solidFill>
                  <a:srgbClr val="0000CC"/>
                </a:solidFill>
                <a:latin typeface="微软雅黑" panose="020B0503020204020204" pitchFamily="34" charset="-122"/>
                <a:ea typeface="微软雅黑" panose="020B0503020204020204" pitchFamily="34" charset="-122"/>
              </a:rPr>
              <a:t>包括</a:t>
            </a:r>
            <a:r>
              <a:rPr lang="zh-CN" altLang="en-US" sz="1400" b="1" dirty="0">
                <a:solidFill>
                  <a:srgbClr val="0000CC"/>
                </a:solidFill>
                <a:latin typeface="微软雅黑" panose="020B0503020204020204" pitchFamily="34" charset="-122"/>
                <a:ea typeface="微软雅黑" panose="020B0503020204020204" pitchFamily="34" charset="-122"/>
              </a:rPr>
              <a:t>一个</a:t>
            </a:r>
            <a:r>
              <a:rPr lang="zh-CN" altLang="en-US" sz="1400" b="1" dirty="0" smtClean="0">
                <a:solidFill>
                  <a:srgbClr val="0000CC"/>
                </a:solidFill>
                <a:latin typeface="微软雅黑" panose="020B0503020204020204" pitchFamily="34" charset="-122"/>
                <a:ea typeface="微软雅黑" panose="020B0503020204020204" pitchFamily="34" charset="-122"/>
              </a:rPr>
              <a:t>接入点 </a:t>
            </a:r>
            <a:r>
              <a:rPr lang="en-US" altLang="zh-CN" sz="1400" b="1" dirty="0" smtClean="0">
                <a:solidFill>
                  <a:srgbClr val="0000CC"/>
                </a:solidFill>
                <a:latin typeface="微软雅黑" panose="020B0503020204020204" pitchFamily="34" charset="-122"/>
                <a:ea typeface="微软雅黑" panose="020B0503020204020204" pitchFamily="34" charset="-122"/>
              </a:rPr>
              <a:t>AP </a:t>
            </a:r>
            <a:r>
              <a:rPr lang="zh-CN" altLang="en-US" sz="1400" b="1" dirty="0" smtClean="0">
                <a:solidFill>
                  <a:srgbClr val="0000CC"/>
                </a:solidFill>
                <a:latin typeface="微软雅黑" panose="020B0503020204020204" pitchFamily="34" charset="-122"/>
                <a:ea typeface="微软雅黑" panose="020B0503020204020204" pitchFamily="34" charset="-122"/>
              </a:rPr>
              <a:t>和</a:t>
            </a:r>
            <a:r>
              <a:rPr lang="zh-CN" altLang="en-US" sz="1400" b="1" dirty="0">
                <a:solidFill>
                  <a:srgbClr val="0000CC"/>
                </a:solidFill>
                <a:latin typeface="微软雅黑" panose="020B0503020204020204" pitchFamily="34" charset="-122"/>
                <a:ea typeface="微软雅黑" panose="020B0503020204020204" pitchFamily="34" charset="-122"/>
              </a:rPr>
              <a:t>若干个</a:t>
            </a:r>
            <a:r>
              <a:rPr lang="zh-CN" altLang="en-US" sz="1400" b="1" dirty="0" smtClean="0">
                <a:solidFill>
                  <a:srgbClr val="0000CC"/>
                </a:solidFill>
                <a:latin typeface="微软雅黑" panose="020B0503020204020204" pitchFamily="34" charset="-122"/>
                <a:ea typeface="微软雅黑" panose="020B0503020204020204" pitchFamily="34" charset="-122"/>
              </a:rPr>
              <a:t>移动站。</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2049" name="VISIO" r:id="rId2" imgW="3514725" imgH="2009775" progId="">
                  <p:embed/>
                </p:oleObj>
              </mc:Choice>
              <mc:Fallback>
                <p:oleObj name="VISIO" r:id="rId2" imgW="3514725" imgH="2009775" progId="">
                  <p:embed/>
                  <p:pic>
                    <p:nvPicPr>
                      <p:cNvPr id="0" name="图片 2048"/>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6"/>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392"/>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405"/>
                                        </p:tgtEl>
                                        <p:attrNameLst>
                                          <p:attrName>style.visibility</p:attrName>
                                        </p:attrNameLst>
                                      </p:cBhvr>
                                      <p:tavLst>
                                        <p:tav tm="0">
                                          <p:val>
                                            <p:strVal val="hidden"/>
                                          </p:val>
                                        </p:tav>
                                        <p:tav tm="50000">
                                          <p:val>
                                            <p:strVal val="visible"/>
                                          </p:val>
                                        </p:tav>
                                      </p:tavLst>
                                    </p:anim>
                                  </p:childTnLst>
                                </p:cTn>
                              </p:par>
                            </p:childTnLst>
                          </p:cTn>
                        </p:par>
                        <p:par>
                          <p:cTn id="13" fill="hold">
                            <p:stCondLst>
                              <p:cond delay="1000"/>
                            </p:stCondLst>
                            <p:childTnLst>
                              <p:par>
                                <p:cTn id="14" presetID="35" presetClass="emph" presetSubtype="0" repeatCount="3000" fill="hold" grpId="0" nodeType="afterEffect">
                                  <p:stCondLst>
                                    <p:cond delay="0"/>
                                  </p:stCondLst>
                                  <p:childTnLst>
                                    <p:anim calcmode="discrete" valueType="str">
                                      <p:cBhvr>
                                        <p:cTn id="15" dur="1000" fill="hold"/>
                                        <p:tgtEl>
                                          <p:spTgt spid="31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0"/>
                                  </p:stCondLst>
                                  <p:childTnLst>
                                    <p:anim calcmode="discrete" valueType="str">
                                      <p:cBhvr>
                                        <p:cTn id="17"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2" grpId="0"/>
      <p:bldP spid="318" grpId="0"/>
      <p:bldP spid="392" grpId="0" animBg="1"/>
      <p:bldP spid="405" grpId="0"/>
      <p:bldP spid="406" grpId="0" animBg="1"/>
      <p:bldP spid="40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anose="020B0503020204020204" pitchFamily="34" charset="-122"/>
                <a:ea typeface="微软雅黑" panose="020B0503020204020204" pitchFamily="34" charset="-122"/>
              </a:rPr>
              <a:t>必须为</a:t>
            </a:r>
            <a:r>
              <a:rPr lang="zh-CN" altLang="en-US" sz="1400" b="1" dirty="0" smtClean="0">
                <a:solidFill>
                  <a:srgbClr val="0000CC"/>
                </a:solidFill>
                <a:latin typeface="微软雅黑" panose="020B0503020204020204" pitchFamily="34" charset="-122"/>
                <a:ea typeface="微软雅黑" panose="020B0503020204020204" pitchFamily="34" charset="-122"/>
              </a:rPr>
              <a:t>该 </a:t>
            </a:r>
            <a:r>
              <a:rPr lang="en-US" altLang="zh-CN" sz="1400" b="1" dirty="0" smtClean="0">
                <a:solidFill>
                  <a:srgbClr val="0000CC"/>
                </a:solidFill>
                <a:latin typeface="微软雅黑" panose="020B0503020204020204" pitchFamily="34" charset="-122"/>
                <a:ea typeface="微软雅黑" panose="020B0503020204020204" pitchFamily="34" charset="-122"/>
              </a:rPr>
              <a:t>AP </a:t>
            </a:r>
            <a:r>
              <a:rPr lang="zh-CN" altLang="en-US" sz="1400" b="1" dirty="0" smtClean="0">
                <a:solidFill>
                  <a:srgbClr val="0000CC"/>
                </a:solidFill>
                <a:latin typeface="微软雅黑" panose="020B0503020204020204" pitchFamily="34" charset="-122"/>
                <a:ea typeface="微软雅黑" panose="020B0503020204020204" pitchFamily="34" charset="-122"/>
              </a:rPr>
              <a:t>分配</a:t>
            </a:r>
            <a:r>
              <a:rPr lang="zh-CN" altLang="en-US" sz="1400" b="1" dirty="0">
                <a:solidFill>
                  <a:srgbClr val="0000CC"/>
                </a:solidFill>
                <a:latin typeface="微软雅黑" panose="020B0503020204020204" pitchFamily="34" charset="-122"/>
                <a:ea typeface="微软雅黑" panose="020B0503020204020204" pitchFamily="34" charset="-122"/>
              </a:rPr>
              <a:t>一个不超过 </a:t>
            </a:r>
            <a:r>
              <a:rPr lang="en-US" altLang="zh-CN" sz="1400" b="1" dirty="0" smtClean="0">
                <a:solidFill>
                  <a:srgbClr val="0000CC"/>
                </a:solidFill>
                <a:latin typeface="微软雅黑" panose="020B0503020204020204" pitchFamily="34" charset="-122"/>
                <a:ea typeface="微软雅黑" panose="020B0503020204020204" pitchFamily="34" charset="-122"/>
              </a:rPr>
              <a:t>32 </a:t>
            </a:r>
            <a:r>
              <a:rPr lang="zh-CN" altLang="en-US" sz="1400" b="1" dirty="0" smtClean="0">
                <a:solidFill>
                  <a:srgbClr val="0000CC"/>
                </a:solidFill>
                <a:latin typeface="微软雅黑" panose="020B0503020204020204" pitchFamily="34" charset="-122"/>
                <a:ea typeface="微软雅黑" panose="020B0503020204020204" pitchFamily="34" charset="-122"/>
              </a:rPr>
              <a:t>字节</a:t>
            </a:r>
            <a:r>
              <a:rPr lang="zh-CN" altLang="en-US" sz="1400" b="1" dirty="0">
                <a:solidFill>
                  <a:srgbClr val="0000CC"/>
                </a:solidFill>
                <a:latin typeface="微软雅黑" panose="020B0503020204020204" pitchFamily="34" charset="-122"/>
                <a:ea typeface="微软雅黑" panose="020B0503020204020204" pitchFamily="34" charset="-122"/>
              </a:rPr>
              <a:t>的</a:t>
            </a:r>
            <a:r>
              <a:rPr lang="zh-CN" altLang="en-US" sz="1400" b="1" dirty="0">
                <a:solidFill>
                  <a:srgbClr val="C00000"/>
                </a:solidFill>
                <a:latin typeface="微软雅黑" panose="020B0503020204020204" pitchFamily="34" charset="-122"/>
                <a:ea typeface="微软雅黑" panose="020B0503020204020204" pitchFamily="34" charset="-122"/>
              </a:rPr>
              <a:t>服务集</a:t>
            </a:r>
            <a:r>
              <a:rPr lang="zh-CN" altLang="en-US" sz="1400" b="1" dirty="0" smtClean="0">
                <a:solidFill>
                  <a:srgbClr val="C00000"/>
                </a:solidFill>
                <a:latin typeface="微软雅黑" panose="020B0503020204020204" pitchFamily="34" charset="-122"/>
                <a:ea typeface="微软雅黑" panose="020B0503020204020204" pitchFamily="34" charset="-122"/>
              </a:rPr>
              <a:t>标识符 </a:t>
            </a:r>
            <a:r>
              <a:rPr lang="en-US" altLang="zh-CN" sz="1400" b="1" dirty="0" smtClean="0">
                <a:solidFill>
                  <a:srgbClr val="C00000"/>
                </a:solidFill>
                <a:latin typeface="微软雅黑" panose="020B0503020204020204" pitchFamily="34" charset="-122"/>
                <a:ea typeface="微软雅黑" panose="020B0503020204020204" pitchFamily="34" charset="-122"/>
              </a:rPr>
              <a:t>SSID </a:t>
            </a:r>
            <a:r>
              <a:rPr lang="en-US" altLang="zh-CN" sz="1400" b="1" dirty="0">
                <a:solidFill>
                  <a:srgbClr val="0000CC"/>
                </a:solidFill>
                <a:latin typeface="微软雅黑" panose="020B0503020204020204" pitchFamily="34" charset="-122"/>
                <a:ea typeface="微软雅黑" panose="020B0503020204020204" pitchFamily="34" charset="-122"/>
              </a:rPr>
              <a:t>(Service Set </a:t>
            </a:r>
            <a:r>
              <a:rPr lang="en-US" altLang="zh-CN" sz="1400" b="1" dirty="0" err="1">
                <a:solidFill>
                  <a:srgbClr val="0000CC"/>
                </a:solidFill>
                <a:latin typeface="微软雅黑" panose="020B0503020204020204" pitchFamily="34" charset="-122"/>
                <a:ea typeface="微软雅黑" panose="020B0503020204020204" pitchFamily="34" charset="-122"/>
              </a:rPr>
              <a:t>IDentifier</a:t>
            </a:r>
            <a:r>
              <a:rPr lang="en-US" altLang="zh-CN" sz="1400" b="1" dirty="0">
                <a:solidFill>
                  <a:srgbClr val="0000CC"/>
                </a:solidFill>
                <a:latin typeface="微软雅黑" panose="020B0503020204020204" pitchFamily="34" charset="-122"/>
                <a:ea typeface="微软雅黑" panose="020B0503020204020204" pitchFamily="34" charset="-122"/>
              </a:rPr>
              <a:t>) </a:t>
            </a:r>
            <a:r>
              <a:rPr lang="zh-CN" altLang="en-US" sz="1400" b="1" dirty="0" smtClean="0">
                <a:solidFill>
                  <a:srgbClr val="0000CC"/>
                </a:solidFill>
                <a:latin typeface="微软雅黑" panose="020B0503020204020204" pitchFamily="34" charset="-122"/>
                <a:ea typeface="微软雅黑" panose="020B0503020204020204" pitchFamily="34" charset="-122"/>
              </a:rPr>
              <a:t>（即该 </a:t>
            </a:r>
            <a:r>
              <a:rPr lang="en-US" altLang="zh-CN" sz="1400" b="1" dirty="0" smtClean="0">
                <a:solidFill>
                  <a:srgbClr val="0000CC"/>
                </a:solidFill>
                <a:latin typeface="微软雅黑" panose="020B0503020204020204" pitchFamily="34" charset="-122"/>
                <a:ea typeface="微软雅黑" panose="020B0503020204020204" pitchFamily="34" charset="-122"/>
              </a:rPr>
              <a:t>AP </a:t>
            </a:r>
            <a:r>
              <a:rPr lang="zh-CN" altLang="en-US" sz="1400" b="1" dirty="0" smtClean="0">
                <a:solidFill>
                  <a:srgbClr val="0000CC"/>
                </a:solidFill>
                <a:latin typeface="微软雅黑" panose="020B0503020204020204" pitchFamily="34" charset="-122"/>
                <a:ea typeface="微软雅黑" panose="020B0503020204020204" pitchFamily="34" charset="-122"/>
              </a:rPr>
              <a:t>的</a:t>
            </a:r>
            <a:r>
              <a:rPr lang="zh-CN" altLang="en-US" sz="1400" b="1" dirty="0">
                <a:solidFill>
                  <a:srgbClr val="0000CC"/>
                </a:solidFill>
                <a:latin typeface="微软雅黑" panose="020B0503020204020204" pitchFamily="34" charset="-122"/>
                <a:ea typeface="微软雅黑" panose="020B0503020204020204" pitchFamily="34" charset="-122"/>
              </a:rPr>
              <a:t>无线局域网的</a:t>
            </a:r>
            <a:r>
              <a:rPr lang="zh-CN" altLang="en-US" sz="1400" b="1" dirty="0">
                <a:solidFill>
                  <a:srgbClr val="C00000"/>
                </a:solidFill>
                <a:latin typeface="微软雅黑" panose="020B0503020204020204" pitchFamily="34" charset="-122"/>
                <a:ea typeface="微软雅黑" panose="020B0503020204020204" pitchFamily="34" charset="-122"/>
              </a:rPr>
              <a:t>名字</a:t>
            </a:r>
            <a:r>
              <a:rPr lang="zh-CN" altLang="en-US" sz="1400" b="1" dirty="0">
                <a:solidFill>
                  <a:srgbClr val="0000CC"/>
                </a:solidFill>
                <a:latin typeface="微软雅黑" panose="020B0503020204020204" pitchFamily="34" charset="-122"/>
                <a:ea typeface="微软雅黑" panose="020B0503020204020204" pitchFamily="34" charset="-122"/>
              </a:rPr>
              <a:t>）和一个通信信道</a:t>
            </a:r>
            <a:r>
              <a:rPr lang="zh-CN" altLang="en-US" sz="1400" b="1" dirty="0" smtClean="0">
                <a:solidFill>
                  <a:srgbClr val="0000CC"/>
                </a:solidFill>
                <a:latin typeface="微软雅黑" panose="020B0503020204020204" pitchFamily="34" charset="-122"/>
                <a:ea typeface="微软雅黑" panose="020B0503020204020204" pitchFamily="34" charset="-122"/>
              </a:rPr>
              <a:t>。</a:t>
            </a:r>
            <a:endParaRPr lang="en-US" altLang="zh-CN" sz="1400" b="1" dirty="0" smtClean="0">
              <a:solidFill>
                <a:srgbClr val="0000CC"/>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3073" name="VISIO" r:id="rId2" imgW="3514725" imgH="2009775" progId="">
                  <p:embed/>
                </p:oleObj>
              </mc:Choice>
              <mc:Fallback>
                <p:oleObj name="VISIO" r:id="rId2" imgW="3514725" imgH="2009775" progId="">
                  <p:embed/>
                  <p:pic>
                    <p:nvPicPr>
                      <p:cNvPr id="0" name="图片 3072"/>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一个 </a:t>
            </a: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所覆盖的地理范围叫做一个</a:t>
            </a:r>
            <a:r>
              <a:rPr lang="zh-CN" altLang="en-US" sz="1600" b="1" dirty="0">
                <a:solidFill>
                  <a:srgbClr val="0000FF"/>
                </a:solidFill>
                <a:latin typeface="微软雅黑" panose="020B0503020204020204" pitchFamily="34" charset="-122"/>
                <a:ea typeface="微软雅黑" panose="020B0503020204020204" pitchFamily="34" charset="-122"/>
              </a:rPr>
              <a:t>基本</a:t>
            </a:r>
            <a:r>
              <a:rPr lang="zh-CN" altLang="en-US" sz="1600" b="1" dirty="0" smtClean="0">
                <a:solidFill>
                  <a:srgbClr val="0000FF"/>
                </a:solidFill>
                <a:latin typeface="微软雅黑" panose="020B0503020204020204" pitchFamily="34" charset="-122"/>
                <a:ea typeface="微软雅黑" panose="020B0503020204020204" pitchFamily="34" charset="-122"/>
              </a:rPr>
              <a:t>服务区 </a:t>
            </a:r>
            <a:r>
              <a:rPr lang="en-US" altLang="zh-CN" sz="1600" b="1" dirty="0" smtClean="0">
                <a:solidFill>
                  <a:srgbClr val="0000FF"/>
                </a:solidFill>
                <a:latin typeface="微软雅黑" panose="020B0503020204020204" pitchFamily="34" charset="-122"/>
                <a:ea typeface="微软雅黑" panose="020B0503020204020204" pitchFamily="34" charset="-122"/>
              </a:rPr>
              <a:t>BSA</a:t>
            </a:r>
            <a:r>
              <a:rPr lang="en-US" altLang="zh-CN" sz="1600" b="1" dirty="0" smtClean="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(Basic Service Area)</a:t>
            </a:r>
            <a:r>
              <a:rPr lang="zh-CN" altLang="en-US"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 name="圆角矩形 217"/>
          <p:cNvSpPr/>
          <p:nvPr/>
        </p:nvSpPr>
        <p:spPr>
          <a:xfrm>
            <a:off x="1052051" y="2772699"/>
            <a:ext cx="6990735" cy="17894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Rectangle 46"/>
          <p:cNvSpPr>
            <a:spLocks noChangeArrowheads="1"/>
          </p:cNvSpPr>
          <p:nvPr/>
        </p:nvSpPr>
        <p:spPr bwMode="auto">
          <a:xfrm>
            <a:off x="509475" y="933444"/>
            <a:ext cx="8129015"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无线局域网通常</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2.4 GHz </a:t>
            </a:r>
            <a:r>
              <a:rPr lang="zh-CN" altLang="en-US" sz="2000" b="1" dirty="0" smtClean="0">
                <a:latin typeface="微软雅黑" panose="020B0503020204020204" pitchFamily="34" charset="-122"/>
                <a:ea typeface="微软雅黑" panose="020B0503020204020204" pitchFamily="34" charset="-122"/>
              </a:rPr>
              <a:t>和 </a:t>
            </a:r>
            <a:r>
              <a:rPr lang="en-US" altLang="zh-CN" sz="2000" b="1" dirty="0" smtClean="0">
                <a:latin typeface="微软雅黑" panose="020B0503020204020204" pitchFamily="34" charset="-122"/>
                <a:ea typeface="微软雅黑" panose="020B0503020204020204" pitchFamily="34" charset="-122"/>
              </a:rPr>
              <a:t>5 GHz </a:t>
            </a:r>
            <a:r>
              <a:rPr lang="zh-CN" altLang="en-US" sz="2000" b="1" dirty="0" smtClean="0">
                <a:latin typeface="微软雅黑" panose="020B0503020204020204" pitchFamily="34" charset="-122"/>
                <a:ea typeface="微软雅黑" panose="020B0503020204020204" pitchFamily="34" charset="-122"/>
              </a:rPr>
              <a:t>频段。每</a:t>
            </a:r>
            <a:r>
              <a:rPr lang="zh-CN" altLang="en-US" sz="2000" b="1" dirty="0">
                <a:latin typeface="微软雅黑" panose="020B0503020204020204" pitchFamily="34" charset="-122"/>
                <a:ea typeface="微软雅黑" panose="020B0503020204020204" pitchFamily="34" charset="-122"/>
              </a:rPr>
              <a:t>一个</a:t>
            </a:r>
            <a:r>
              <a:rPr lang="zh-CN" altLang="en-US" sz="2000" b="1" dirty="0" smtClean="0">
                <a:latin typeface="微软雅黑" panose="020B0503020204020204" pitchFamily="34" charset="-122"/>
                <a:ea typeface="微软雅黑" panose="020B0503020204020204" pitchFamily="34" charset="-122"/>
              </a:rPr>
              <a:t>频段划分</a:t>
            </a:r>
            <a:r>
              <a:rPr lang="zh-CN" altLang="en-US" sz="2000" b="1" dirty="0">
                <a:latin typeface="微软雅黑" panose="020B0503020204020204" pitchFamily="34" charset="-122"/>
                <a:ea typeface="微软雅黑" panose="020B0503020204020204" pitchFamily="34" charset="-122"/>
              </a:rPr>
              <a:t>为若干个信道，供各无线局域网使用</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802.11b </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2.4 </a:t>
            </a:r>
            <a:r>
              <a:rPr lang="en-US" altLang="zh-CN" sz="2000" b="1" dirty="0">
                <a:latin typeface="微软雅黑" panose="020B0503020204020204" pitchFamily="34" charset="-122"/>
                <a:ea typeface="微软雅黑" panose="020B0503020204020204" pitchFamily="34" charset="-122"/>
              </a:rPr>
              <a:t>GHz </a:t>
            </a:r>
            <a:r>
              <a:rPr lang="zh-CN" altLang="en-US" sz="2000" b="1" dirty="0">
                <a:latin typeface="微软雅黑" panose="020B0503020204020204" pitchFamily="34" charset="-122"/>
                <a:ea typeface="微软雅黑" panose="020B0503020204020204" pitchFamily="34" charset="-122"/>
              </a:rPr>
              <a:t>频段，</a:t>
            </a:r>
            <a:r>
              <a:rPr lang="zh-CN" altLang="en-US" sz="2000" b="1" dirty="0" smtClean="0">
                <a:latin typeface="微软雅黑" panose="020B0503020204020204" pitchFamily="34" charset="-122"/>
                <a:ea typeface="微软雅黑" panose="020B0503020204020204" pitchFamily="34" charset="-122"/>
              </a:rPr>
              <a:t>带宽约 </a:t>
            </a:r>
            <a:r>
              <a:rPr lang="en-US" altLang="zh-CN" sz="2000" b="1" dirty="0">
                <a:latin typeface="微软雅黑" panose="020B0503020204020204" pitchFamily="34" charset="-122"/>
                <a:ea typeface="微软雅黑" panose="020B0503020204020204" pitchFamily="34" charset="-122"/>
              </a:rPr>
              <a:t>85 </a:t>
            </a:r>
            <a:r>
              <a:rPr lang="en-US" altLang="zh-CN" sz="2000" b="1" dirty="0" smtClean="0">
                <a:latin typeface="微软雅黑" panose="020B0503020204020204" pitchFamily="34" charset="-122"/>
                <a:ea typeface="微软雅黑" panose="020B0503020204020204" pitchFamily="34" charset="-122"/>
              </a:rPr>
              <a:t>MHz</a:t>
            </a:r>
            <a:r>
              <a:rPr lang="zh-CN" altLang="en-US" sz="2000" b="1" dirty="0" smtClean="0">
                <a:latin typeface="微软雅黑" panose="020B0503020204020204" pitchFamily="34" charset="-122"/>
                <a:ea typeface="微软雅黑" panose="020B0503020204020204" pitchFamily="34" charset="-122"/>
              </a:rPr>
              <a:t>。定义</a:t>
            </a:r>
            <a:r>
              <a:rPr lang="zh-CN" altLang="en-US" sz="2000" b="1" dirty="0">
                <a:latin typeface="微软雅黑" panose="020B0503020204020204" pitchFamily="34" charset="-122"/>
                <a:ea typeface="微软雅黑" panose="020B0503020204020204" pitchFamily="34" charset="-122"/>
              </a:rPr>
              <a:t>了 </a:t>
            </a:r>
            <a:r>
              <a:rPr lang="en-US" altLang="zh-CN" sz="2000" b="1" dirty="0">
                <a:latin typeface="微软雅黑" panose="020B0503020204020204" pitchFamily="34" charset="-122"/>
                <a:ea typeface="微软雅黑" panose="020B0503020204020204" pitchFamily="34" charset="-122"/>
              </a:rPr>
              <a:t>11 </a:t>
            </a:r>
            <a:r>
              <a:rPr lang="zh-CN" altLang="en-US" sz="2000" b="1" dirty="0">
                <a:latin typeface="微软雅黑" panose="020B0503020204020204" pitchFamily="34" charset="-122"/>
                <a:ea typeface="微软雅黑" panose="020B0503020204020204" pitchFamily="34" charset="-122"/>
              </a:rPr>
              <a:t>个部分重叠的信道集。相邻信道的中心频率相差 </a:t>
            </a:r>
            <a:r>
              <a:rPr lang="en-US" altLang="zh-CN" sz="2000" b="1" dirty="0">
                <a:latin typeface="微软雅黑" panose="020B0503020204020204" pitchFamily="34" charset="-122"/>
                <a:ea typeface="微软雅黑" panose="020B0503020204020204" pitchFamily="34" charset="-122"/>
              </a:rPr>
              <a:t>5 MHz</a:t>
            </a:r>
            <a:r>
              <a:rPr lang="zh-CN" altLang="en-US" sz="2000" b="1" dirty="0">
                <a:latin typeface="微软雅黑" panose="020B0503020204020204" pitchFamily="34" charset="-122"/>
                <a:ea typeface="微软雅黑" panose="020B0503020204020204" pitchFamily="34" charset="-122"/>
              </a:rPr>
              <a:t>，每个信道的带宽约为 </a:t>
            </a:r>
            <a:r>
              <a:rPr lang="en-US" altLang="zh-CN" sz="2000" b="1" dirty="0">
                <a:latin typeface="微软雅黑" panose="020B0503020204020204" pitchFamily="34" charset="-122"/>
                <a:ea typeface="微软雅黑" panose="020B0503020204020204" pitchFamily="34" charset="-122"/>
              </a:rPr>
              <a:t>22 MHz</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sp>
        <p:nvSpPr>
          <p:cNvPr id="130" name="AutoShape 5"/>
          <p:cNvSpPr>
            <a:spLocks noChangeArrowheads="1"/>
          </p:cNvSpPr>
          <p:nvPr/>
        </p:nvSpPr>
        <p:spPr bwMode="auto">
          <a:xfrm>
            <a:off x="517853" y="62249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1" name="矩形 4"/>
          <p:cNvSpPr>
            <a:spLocks noChangeArrowheads="1"/>
          </p:cNvSpPr>
          <p:nvPr/>
        </p:nvSpPr>
        <p:spPr bwMode="auto">
          <a:xfrm>
            <a:off x="635844" y="572662"/>
            <a:ext cx="19768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信道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channel)</a:t>
            </a:r>
            <a:endParaRPr lang="en-US" altLang="zh-CN" sz="2000" b="1" dirty="0">
              <a:latin typeface="微软雅黑" panose="020B0503020204020204" pitchFamily="34" charset="-122"/>
              <a:ea typeface="微软雅黑" panose="020B0503020204020204" pitchFamily="34" charset="-122"/>
            </a:endParaRPr>
          </a:p>
        </p:txBody>
      </p:sp>
      <p:grpSp>
        <p:nvGrpSpPr>
          <p:cNvPr id="22" name="组合 21"/>
          <p:cNvGrpSpPr/>
          <p:nvPr/>
        </p:nvGrpSpPr>
        <p:grpSpPr>
          <a:xfrm>
            <a:off x="1258768" y="2909432"/>
            <a:ext cx="6459555" cy="1573230"/>
            <a:chOff x="1210829" y="2062669"/>
            <a:chExt cx="6991296" cy="1983225"/>
          </a:xfrm>
        </p:grpSpPr>
        <p:cxnSp>
          <p:nvCxnSpPr>
            <p:cNvPr id="5" name="直接连接符 4"/>
            <p:cNvCxnSpPr/>
            <p:nvPr/>
          </p:nvCxnSpPr>
          <p:spPr>
            <a:xfrm>
              <a:off x="1252682" y="3313463"/>
              <a:ext cx="694944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弧形 6"/>
            <p:cNvSpPr/>
            <p:nvPr/>
          </p:nvSpPr>
          <p:spPr>
            <a:xfrm>
              <a:off x="1606642"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39" name="弧形 138"/>
            <p:cNvSpPr/>
            <p:nvPr/>
          </p:nvSpPr>
          <p:spPr>
            <a:xfrm>
              <a:off x="1996685"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0" name="弧形 139"/>
            <p:cNvSpPr/>
            <p:nvPr/>
          </p:nvSpPr>
          <p:spPr>
            <a:xfrm>
              <a:off x="240782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1" name="弧形 140"/>
            <p:cNvSpPr/>
            <p:nvPr/>
          </p:nvSpPr>
          <p:spPr>
            <a:xfrm>
              <a:off x="2796827"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2" name="弧形 141"/>
            <p:cNvSpPr/>
            <p:nvPr/>
          </p:nvSpPr>
          <p:spPr>
            <a:xfrm>
              <a:off x="3194716"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3" name="弧形 142"/>
            <p:cNvSpPr/>
            <p:nvPr/>
          </p:nvSpPr>
          <p:spPr>
            <a:xfrm>
              <a:off x="3616525"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4" name="弧形 143"/>
            <p:cNvSpPr/>
            <p:nvPr/>
          </p:nvSpPr>
          <p:spPr>
            <a:xfrm>
              <a:off x="401640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5" name="弧形 144"/>
            <p:cNvSpPr/>
            <p:nvPr/>
          </p:nvSpPr>
          <p:spPr>
            <a:xfrm>
              <a:off x="440787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6" name="弧形 145"/>
            <p:cNvSpPr/>
            <p:nvPr/>
          </p:nvSpPr>
          <p:spPr>
            <a:xfrm>
              <a:off x="480671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7" name="弧形 146"/>
            <p:cNvSpPr/>
            <p:nvPr/>
          </p:nvSpPr>
          <p:spPr>
            <a:xfrm>
              <a:off x="5204599"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8" name="弧形 147"/>
            <p:cNvSpPr/>
            <p:nvPr/>
          </p:nvSpPr>
          <p:spPr>
            <a:xfrm>
              <a:off x="5620368"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9" name="文本框 8"/>
            <p:cNvSpPr txBox="1"/>
            <p:nvPr/>
          </p:nvSpPr>
          <p:spPr>
            <a:xfrm>
              <a:off x="1210829" y="3331408"/>
              <a:ext cx="734235" cy="659575"/>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2.401</a:t>
              </a:r>
              <a:endParaRPr lang="en-US" altLang="zh-CN" sz="1400" b="1" dirty="0" smtClean="0">
                <a:latin typeface="微软雅黑" panose="020B0503020204020204" pitchFamily="34" charset="-122"/>
                <a:ea typeface="微软雅黑" panose="020B0503020204020204" pitchFamily="34" charset="-122"/>
              </a:endParaRPr>
            </a:p>
            <a:p>
              <a:pPr algn="ctr"/>
              <a:r>
                <a:rPr lang="en-US" altLang="zh-CN" sz="1400" b="1" dirty="0" smtClean="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sp>
          <p:nvSpPr>
            <p:cNvPr id="156" name="文本框 155"/>
            <p:cNvSpPr txBox="1"/>
            <p:nvPr/>
          </p:nvSpPr>
          <p:spPr>
            <a:xfrm>
              <a:off x="7203763" y="3331408"/>
              <a:ext cx="734235" cy="659575"/>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2.473</a:t>
              </a:r>
              <a:endParaRPr lang="en-US" altLang="zh-CN" sz="1400" b="1" dirty="0" smtClean="0">
                <a:latin typeface="微软雅黑" panose="020B0503020204020204" pitchFamily="34" charset="-122"/>
                <a:ea typeface="微软雅黑" panose="020B0503020204020204" pitchFamily="34" charset="-122"/>
              </a:endParaRPr>
            </a:p>
            <a:p>
              <a:pPr algn="ctr"/>
              <a:r>
                <a:rPr lang="en-US" altLang="zh-CN" sz="1400" b="1" dirty="0" smtClean="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grpSp>
          <p:nvGrpSpPr>
            <p:cNvPr id="12" name="组合 11"/>
            <p:cNvGrpSpPr/>
            <p:nvPr/>
          </p:nvGrpSpPr>
          <p:grpSpPr>
            <a:xfrm>
              <a:off x="2403681" y="2062669"/>
              <a:ext cx="319581" cy="1249075"/>
              <a:chOff x="1733067" y="1669387"/>
              <a:chExt cx="319581" cy="1249075"/>
            </a:xfrm>
          </p:grpSpPr>
          <p:cxnSp>
            <p:nvCxnSpPr>
              <p:cNvPr id="11" name="直接连接符 10"/>
              <p:cNvCxnSpPr/>
              <p:nvPr/>
            </p:nvCxnSpPr>
            <p:spPr>
              <a:xfrm>
                <a:off x="1904668"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1" name="文本框 160"/>
              <p:cNvSpPr txBox="1"/>
              <p:nvPr/>
            </p:nvSpPr>
            <p:spPr>
              <a:xfrm>
                <a:off x="1733067" y="1669387"/>
                <a:ext cx="319581"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1</a:t>
                </a:r>
                <a:endParaRPr lang="zh-CN" altLang="en-US" sz="14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4422588" y="2062669"/>
              <a:ext cx="319580" cy="1249075"/>
              <a:chOff x="3751974" y="1669387"/>
              <a:chExt cx="319580" cy="1249075"/>
            </a:xfrm>
          </p:grpSpPr>
          <p:cxnSp>
            <p:nvCxnSpPr>
              <p:cNvPr id="159" name="直接连接符 158"/>
              <p:cNvCxnSpPr/>
              <p:nvPr/>
            </p:nvCxnSpPr>
            <p:spPr>
              <a:xfrm>
                <a:off x="3924282"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2" name="文本框 161"/>
              <p:cNvSpPr txBox="1"/>
              <p:nvPr/>
            </p:nvSpPr>
            <p:spPr>
              <a:xfrm>
                <a:off x="3751974" y="1669387"/>
                <a:ext cx="319580"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6</a:t>
                </a:r>
                <a:endParaRPr lang="zh-CN" altLang="en-US" sz="14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6370507" y="2062669"/>
              <a:ext cx="439292" cy="1249075"/>
              <a:chOff x="5709725" y="1669387"/>
              <a:chExt cx="439292" cy="1249075"/>
            </a:xfrm>
          </p:grpSpPr>
          <p:cxnSp>
            <p:nvCxnSpPr>
              <p:cNvPr id="160" name="直接连接符 159"/>
              <p:cNvCxnSpPr/>
              <p:nvPr/>
            </p:nvCxnSpPr>
            <p:spPr>
              <a:xfrm>
                <a:off x="5951791"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3" name="文本框 162"/>
              <p:cNvSpPr txBox="1"/>
              <p:nvPr/>
            </p:nvSpPr>
            <p:spPr>
              <a:xfrm>
                <a:off x="5709725" y="1669387"/>
                <a:ext cx="439292"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11</a:t>
                </a:r>
                <a:endParaRPr lang="zh-CN" altLang="en-US" sz="1400" b="1" dirty="0">
                  <a:latin typeface="微软雅黑" panose="020B0503020204020204" pitchFamily="34" charset="-122"/>
                  <a:ea typeface="微软雅黑" panose="020B0503020204020204" pitchFamily="34" charset="-122"/>
                </a:endParaRPr>
              </a:p>
            </p:txBody>
          </p:sp>
        </p:grpSp>
        <p:grpSp>
          <p:nvGrpSpPr>
            <p:cNvPr id="167" name="组合 166"/>
            <p:cNvGrpSpPr/>
            <p:nvPr/>
          </p:nvGrpSpPr>
          <p:grpSpPr>
            <a:xfrm>
              <a:off x="2808838" y="2062669"/>
              <a:ext cx="319580" cy="1249075"/>
              <a:chOff x="1733068" y="1669387"/>
              <a:chExt cx="319580" cy="1249075"/>
            </a:xfrm>
          </p:grpSpPr>
          <p:cxnSp>
            <p:nvCxnSpPr>
              <p:cNvPr id="168" name="直接连接符 16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9" name="文本框 16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a:t>
                </a:r>
                <a:endParaRPr lang="zh-CN" altLang="en-US" sz="1400" b="1" dirty="0">
                  <a:latin typeface="微软雅黑" panose="020B0503020204020204" pitchFamily="34" charset="-122"/>
                  <a:ea typeface="微软雅黑" panose="020B0503020204020204" pitchFamily="34" charset="-122"/>
                </a:endParaRPr>
              </a:p>
            </p:txBody>
          </p:sp>
        </p:grpSp>
        <p:grpSp>
          <p:nvGrpSpPr>
            <p:cNvPr id="170" name="组合 169"/>
            <p:cNvGrpSpPr/>
            <p:nvPr/>
          </p:nvGrpSpPr>
          <p:grpSpPr>
            <a:xfrm>
              <a:off x="3210385" y="2062669"/>
              <a:ext cx="319580" cy="1249075"/>
              <a:chOff x="1733068" y="1669387"/>
              <a:chExt cx="319580" cy="1249075"/>
            </a:xfrm>
          </p:grpSpPr>
          <p:cxnSp>
            <p:nvCxnSpPr>
              <p:cNvPr id="171" name="直接连接符 17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2" name="文本框 17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3</a:t>
                </a:r>
                <a:endParaRPr lang="zh-CN" altLang="en-US" sz="1400" b="1" dirty="0">
                  <a:latin typeface="微软雅黑" panose="020B0503020204020204" pitchFamily="34" charset="-122"/>
                  <a:ea typeface="微软雅黑" panose="020B0503020204020204" pitchFamily="34" charset="-122"/>
                </a:endParaRPr>
              </a:p>
            </p:txBody>
          </p:sp>
        </p:grpSp>
        <p:grpSp>
          <p:nvGrpSpPr>
            <p:cNvPr id="173" name="组合 172"/>
            <p:cNvGrpSpPr/>
            <p:nvPr/>
          </p:nvGrpSpPr>
          <p:grpSpPr>
            <a:xfrm>
              <a:off x="3615541" y="2062669"/>
              <a:ext cx="319580" cy="1249075"/>
              <a:chOff x="1733068" y="1669387"/>
              <a:chExt cx="319580" cy="1249075"/>
            </a:xfrm>
          </p:grpSpPr>
          <p:cxnSp>
            <p:nvCxnSpPr>
              <p:cNvPr id="174" name="直接连接符 17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5" name="文本框 174"/>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4</a:t>
                </a:r>
                <a:endParaRPr lang="zh-CN" altLang="en-US" sz="1400" b="1" dirty="0">
                  <a:latin typeface="微软雅黑" panose="020B0503020204020204" pitchFamily="34" charset="-122"/>
                  <a:ea typeface="微软雅黑" panose="020B0503020204020204" pitchFamily="34" charset="-122"/>
                </a:endParaRPr>
              </a:p>
            </p:txBody>
          </p:sp>
        </p:grpSp>
        <p:grpSp>
          <p:nvGrpSpPr>
            <p:cNvPr id="176" name="组合 175"/>
            <p:cNvGrpSpPr/>
            <p:nvPr/>
          </p:nvGrpSpPr>
          <p:grpSpPr>
            <a:xfrm>
              <a:off x="4018326" y="2062669"/>
              <a:ext cx="319580" cy="1249075"/>
              <a:chOff x="1733068" y="1669387"/>
              <a:chExt cx="319580" cy="1249075"/>
            </a:xfrm>
          </p:grpSpPr>
          <p:cxnSp>
            <p:nvCxnSpPr>
              <p:cNvPr id="177" name="直接连接符 176"/>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8" name="文本框 177"/>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5</a:t>
                </a:r>
                <a:endParaRPr lang="zh-CN" altLang="en-US" sz="1400" b="1" dirty="0">
                  <a:latin typeface="微软雅黑" panose="020B0503020204020204" pitchFamily="34" charset="-122"/>
                  <a:ea typeface="微软雅黑" panose="020B0503020204020204" pitchFamily="34" charset="-122"/>
                </a:endParaRPr>
              </a:p>
            </p:txBody>
          </p:sp>
        </p:grpSp>
        <p:grpSp>
          <p:nvGrpSpPr>
            <p:cNvPr id="194" name="组合 193"/>
            <p:cNvGrpSpPr/>
            <p:nvPr/>
          </p:nvGrpSpPr>
          <p:grpSpPr>
            <a:xfrm>
              <a:off x="4815187" y="2062669"/>
              <a:ext cx="319580" cy="1249075"/>
              <a:chOff x="1733068" y="1669387"/>
              <a:chExt cx="319580" cy="1249075"/>
            </a:xfrm>
          </p:grpSpPr>
          <p:cxnSp>
            <p:nvCxnSpPr>
              <p:cNvPr id="195" name="直接连接符 194"/>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6" name="文本框 195"/>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7</a:t>
                </a:r>
                <a:endParaRPr lang="zh-CN" altLang="en-US" sz="1400" b="1" dirty="0">
                  <a:latin typeface="微软雅黑" panose="020B0503020204020204" pitchFamily="34" charset="-122"/>
                  <a:ea typeface="微软雅黑" panose="020B0503020204020204" pitchFamily="34" charset="-122"/>
                </a:endParaRPr>
              </a:p>
            </p:txBody>
          </p:sp>
        </p:grpSp>
        <p:grpSp>
          <p:nvGrpSpPr>
            <p:cNvPr id="197" name="组合 196"/>
            <p:cNvGrpSpPr/>
            <p:nvPr/>
          </p:nvGrpSpPr>
          <p:grpSpPr>
            <a:xfrm>
              <a:off x="5216734" y="2062669"/>
              <a:ext cx="319580" cy="1249075"/>
              <a:chOff x="1733068" y="1669387"/>
              <a:chExt cx="319580" cy="1249075"/>
            </a:xfrm>
          </p:grpSpPr>
          <p:cxnSp>
            <p:nvCxnSpPr>
              <p:cNvPr id="198" name="直接连接符 19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9" name="文本框 19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8</a:t>
                </a:r>
                <a:endParaRPr lang="zh-CN" altLang="en-US" sz="1400" b="1" dirty="0">
                  <a:latin typeface="微软雅黑" panose="020B0503020204020204" pitchFamily="34" charset="-122"/>
                  <a:ea typeface="微软雅黑" panose="020B0503020204020204" pitchFamily="34" charset="-122"/>
                </a:endParaRPr>
              </a:p>
            </p:txBody>
          </p:sp>
        </p:grpSp>
        <p:grpSp>
          <p:nvGrpSpPr>
            <p:cNvPr id="200" name="组合 199"/>
            <p:cNvGrpSpPr/>
            <p:nvPr/>
          </p:nvGrpSpPr>
          <p:grpSpPr>
            <a:xfrm>
              <a:off x="5621890" y="2062669"/>
              <a:ext cx="319580" cy="1249075"/>
              <a:chOff x="1733068" y="1669387"/>
              <a:chExt cx="319580" cy="1249075"/>
            </a:xfrm>
          </p:grpSpPr>
          <p:cxnSp>
            <p:nvCxnSpPr>
              <p:cNvPr id="201" name="直接连接符 20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2" name="文本框 20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9</a:t>
                </a:r>
                <a:endParaRPr lang="zh-CN" altLang="en-US" sz="1400" b="1" dirty="0">
                  <a:latin typeface="微软雅黑" panose="020B0503020204020204" pitchFamily="34" charset="-122"/>
                  <a:ea typeface="微软雅黑" panose="020B0503020204020204" pitchFamily="34" charset="-122"/>
                </a:endParaRPr>
              </a:p>
            </p:txBody>
          </p:sp>
        </p:grpSp>
        <p:grpSp>
          <p:nvGrpSpPr>
            <p:cNvPr id="203" name="组合 202"/>
            <p:cNvGrpSpPr/>
            <p:nvPr/>
          </p:nvGrpSpPr>
          <p:grpSpPr>
            <a:xfrm>
              <a:off x="5964819" y="2062669"/>
              <a:ext cx="439292" cy="1249075"/>
              <a:chOff x="1673212" y="1669387"/>
              <a:chExt cx="439292" cy="1249075"/>
            </a:xfrm>
          </p:grpSpPr>
          <p:cxnSp>
            <p:nvCxnSpPr>
              <p:cNvPr id="204" name="直接连接符 20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5" name="文本框 204"/>
              <p:cNvSpPr txBox="1"/>
              <p:nvPr/>
            </p:nvSpPr>
            <p:spPr>
              <a:xfrm>
                <a:off x="1673212" y="1669387"/>
                <a:ext cx="439292"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10</a:t>
                </a:r>
                <a:endParaRPr lang="zh-CN" altLang="en-US" sz="1400" b="1" dirty="0">
                  <a:latin typeface="微软雅黑" panose="020B0503020204020204" pitchFamily="34" charset="-122"/>
                  <a:ea typeface="微软雅黑" panose="020B0503020204020204" pitchFamily="34" charset="-122"/>
                </a:endParaRPr>
              </a:p>
            </p:txBody>
          </p:sp>
        </p:grpSp>
        <p:sp>
          <p:nvSpPr>
            <p:cNvPr id="207" name="文本框 206"/>
            <p:cNvSpPr txBox="1"/>
            <p:nvPr/>
          </p:nvSpPr>
          <p:spPr>
            <a:xfrm>
              <a:off x="4100757" y="3399930"/>
              <a:ext cx="956310"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22 MHz</a:t>
              </a:r>
              <a:endParaRPr lang="zh-CN" altLang="en-US" sz="1400" b="1" dirty="0">
                <a:latin typeface="微软雅黑" panose="020B0503020204020204" pitchFamily="34" charset="-122"/>
                <a:ea typeface="微软雅黑" panose="020B0503020204020204" pitchFamily="34" charset="-122"/>
              </a:endParaRPr>
            </a:p>
          </p:txBody>
        </p:sp>
        <p:cxnSp>
          <p:nvCxnSpPr>
            <p:cNvPr id="16" name="直接连接符 15"/>
            <p:cNvCxnSpPr/>
            <p:nvPr/>
          </p:nvCxnSpPr>
          <p:spPr>
            <a:xfrm>
              <a:off x="3616525"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0" name="直接连接符 209"/>
            <p:cNvCxnSpPr/>
            <p:nvPr/>
          </p:nvCxnSpPr>
          <p:spPr>
            <a:xfrm>
              <a:off x="5578848"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2" name="直接连接符 211"/>
            <p:cNvCxnSpPr/>
            <p:nvPr/>
          </p:nvCxnSpPr>
          <p:spPr>
            <a:xfrm>
              <a:off x="3618213" y="3681139"/>
              <a:ext cx="1960635" cy="0"/>
            </a:xfrm>
            <a:prstGeom prst="line">
              <a:avLst/>
            </a:prstGeom>
            <a:ln w="12700">
              <a:headEnd type="triangle" w="med" len="med"/>
              <a:tailEnd type="triangle" w="med" len="med"/>
            </a:ln>
          </p:spPr>
          <p:style>
            <a:lnRef idx="1">
              <a:schemeClr val="dk1"/>
            </a:lnRef>
            <a:fillRef idx="0">
              <a:schemeClr val="dk1"/>
            </a:fillRef>
            <a:effectRef idx="0">
              <a:schemeClr val="dk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936047" y="1086004"/>
            <a:ext cx="7275870" cy="523220"/>
          </a:xfrm>
          <a:prstGeom prst="rect">
            <a:avLst/>
          </a:prstGeom>
          <a:noFill/>
          <a:ln>
            <a:noFill/>
          </a:ln>
        </p:spPr>
        <p:txBody>
          <a:bodyPr wrap="square">
            <a:spAutoFit/>
          </a:bodyPr>
          <a:lstStyle/>
          <a:p>
            <a:pPr algn="ctr"/>
            <a:r>
              <a:rPr lang="zh-CN" altLang="en-US" sz="1400" b="1" dirty="0" smtClean="0">
                <a:solidFill>
                  <a:srgbClr val="0000CC"/>
                </a:solidFill>
                <a:latin typeface="微软雅黑" panose="020B0503020204020204" pitchFamily="34" charset="-122"/>
                <a:ea typeface="微软雅黑" panose="020B0503020204020204" pitchFamily="34" charset="-122"/>
              </a:rPr>
              <a:t>每个 </a:t>
            </a:r>
            <a:r>
              <a:rPr lang="en-US" altLang="zh-CN" sz="1400" b="1" dirty="0" smtClean="0">
                <a:solidFill>
                  <a:srgbClr val="0000CC"/>
                </a:solidFill>
                <a:latin typeface="微软雅黑" panose="020B0503020204020204" pitchFamily="34" charset="-122"/>
                <a:ea typeface="微软雅黑" panose="020B0503020204020204" pitchFamily="34" charset="-122"/>
              </a:rPr>
              <a:t>AP </a:t>
            </a:r>
            <a:r>
              <a:rPr lang="zh-CN" altLang="en-US" sz="1400" b="1" dirty="0" smtClean="0">
                <a:solidFill>
                  <a:srgbClr val="0000CC"/>
                </a:solidFill>
                <a:latin typeface="微软雅黑" panose="020B0503020204020204" pitchFamily="34" charset="-122"/>
                <a:ea typeface="微软雅黑" panose="020B0503020204020204" pitchFamily="34" charset="-122"/>
              </a:rPr>
              <a:t>有一</a:t>
            </a:r>
            <a:r>
              <a:rPr lang="zh-CN" altLang="en-US" sz="1400" b="1" dirty="0">
                <a:solidFill>
                  <a:srgbClr val="0000CC"/>
                </a:solidFill>
                <a:latin typeface="微软雅黑" panose="020B0503020204020204" pitchFamily="34" charset="-122"/>
                <a:ea typeface="微软雅黑" panose="020B0503020204020204" pitchFamily="34" charset="-122"/>
              </a:rPr>
              <a:t>个唯一</a:t>
            </a:r>
            <a:r>
              <a:rPr lang="zh-CN" altLang="en-US" sz="1400" b="1" dirty="0" smtClean="0">
                <a:solidFill>
                  <a:srgbClr val="0000CC"/>
                </a:solidFill>
                <a:latin typeface="微软雅黑" panose="020B0503020204020204" pitchFamily="34" charset="-122"/>
                <a:ea typeface="微软雅黑" panose="020B0503020204020204" pitchFamily="34" charset="-122"/>
              </a:rPr>
              <a:t>的 </a:t>
            </a:r>
            <a:r>
              <a:rPr lang="en-US" altLang="zh-CN" sz="1400" b="1" dirty="0" smtClean="0">
                <a:solidFill>
                  <a:srgbClr val="0000CC"/>
                </a:solidFill>
                <a:latin typeface="微软雅黑" panose="020B0503020204020204" pitchFamily="34" charset="-122"/>
                <a:ea typeface="微软雅黑" panose="020B0503020204020204" pitchFamily="34" charset="-122"/>
              </a:rPr>
              <a:t>48 </a:t>
            </a:r>
            <a:r>
              <a:rPr lang="zh-CN" altLang="en-US" sz="1400" b="1" dirty="0" smtClean="0">
                <a:solidFill>
                  <a:srgbClr val="0000CC"/>
                </a:solidFill>
                <a:latin typeface="微软雅黑" panose="020B0503020204020204" pitchFamily="34" charset="-122"/>
                <a:ea typeface="微软雅黑" panose="020B0503020204020204" pitchFamily="34" charset="-122"/>
              </a:rPr>
              <a:t>位 </a:t>
            </a:r>
            <a:r>
              <a:rPr lang="en-US" altLang="zh-CN" sz="1400" b="1" dirty="0" smtClean="0">
                <a:solidFill>
                  <a:srgbClr val="0000CC"/>
                </a:solidFill>
                <a:latin typeface="微软雅黑" panose="020B0503020204020204" pitchFamily="34" charset="-122"/>
                <a:ea typeface="微软雅黑" panose="020B0503020204020204" pitchFamily="34" charset="-122"/>
              </a:rPr>
              <a:t>MAC </a:t>
            </a:r>
            <a:r>
              <a:rPr lang="zh-CN" altLang="en-US" sz="1400" b="1" dirty="0" smtClean="0">
                <a:solidFill>
                  <a:srgbClr val="0000CC"/>
                </a:solidFill>
                <a:latin typeface="微软雅黑" panose="020B0503020204020204" pitchFamily="34" charset="-122"/>
                <a:ea typeface="微软雅黑" panose="020B0503020204020204" pitchFamily="34" charset="-122"/>
              </a:rPr>
              <a:t>地址，名称</a:t>
            </a:r>
            <a:r>
              <a:rPr lang="zh-CN" altLang="en-US" sz="1400" b="1" dirty="0">
                <a:solidFill>
                  <a:srgbClr val="0000CC"/>
                </a:solidFill>
                <a:latin typeface="微软雅黑" panose="020B0503020204020204" pitchFamily="34" charset="-122"/>
                <a:ea typeface="微软雅黑" panose="020B0503020204020204" pitchFamily="34" charset="-122"/>
              </a:rPr>
              <a:t>是</a:t>
            </a:r>
            <a:r>
              <a:rPr lang="zh-CN" altLang="en-US" sz="1400" b="1" dirty="0">
                <a:solidFill>
                  <a:srgbClr val="C00000"/>
                </a:solidFill>
                <a:latin typeface="微软雅黑" panose="020B0503020204020204" pitchFamily="34" charset="-122"/>
                <a:ea typeface="微软雅黑" panose="020B0503020204020204" pitchFamily="34" charset="-122"/>
              </a:rPr>
              <a:t>基本服务集</a:t>
            </a:r>
            <a:r>
              <a:rPr lang="zh-CN" altLang="en-US" sz="1400" b="1" dirty="0" smtClean="0">
                <a:solidFill>
                  <a:srgbClr val="C00000"/>
                </a:solidFill>
                <a:latin typeface="微软雅黑" panose="020B0503020204020204" pitchFamily="34" charset="-122"/>
                <a:ea typeface="微软雅黑" panose="020B0503020204020204" pitchFamily="34" charset="-122"/>
              </a:rPr>
              <a:t>标识符 </a:t>
            </a:r>
            <a:r>
              <a:rPr lang="en-US" altLang="zh-CN" sz="1400" b="1" dirty="0" smtClean="0">
                <a:solidFill>
                  <a:srgbClr val="C00000"/>
                </a:solidFill>
                <a:latin typeface="微软雅黑" panose="020B0503020204020204" pitchFamily="34" charset="-122"/>
                <a:ea typeface="微软雅黑" panose="020B0503020204020204" pitchFamily="34" charset="-122"/>
              </a:rPr>
              <a:t>BSSID</a:t>
            </a:r>
            <a:r>
              <a:rPr lang="zh-CN" altLang="en-US" sz="1400" b="1" dirty="0">
                <a:solidFill>
                  <a:srgbClr val="0000CC"/>
                </a:solidFill>
                <a:latin typeface="微软雅黑" panose="020B0503020204020204" pitchFamily="34" charset="-122"/>
                <a:ea typeface="微软雅黑" panose="020B0503020204020204" pitchFamily="34" charset="-122"/>
              </a:rPr>
              <a:t>。在无线局域网中传送的各种帧的首部中，都必须有节点</a:t>
            </a:r>
            <a:r>
              <a:rPr lang="zh-CN" altLang="en-US" sz="1400" b="1" dirty="0" smtClean="0">
                <a:solidFill>
                  <a:srgbClr val="0000CC"/>
                </a:solidFill>
                <a:latin typeface="微软雅黑" panose="020B0503020204020204" pitchFamily="34" charset="-122"/>
                <a:ea typeface="微软雅黑" panose="020B0503020204020204" pitchFamily="34" charset="-122"/>
              </a:rPr>
              <a:t>的 </a:t>
            </a:r>
            <a:r>
              <a:rPr lang="en-US" altLang="zh-CN" sz="1400" b="1" dirty="0" smtClean="0">
                <a:solidFill>
                  <a:srgbClr val="0000CC"/>
                </a:solidFill>
                <a:latin typeface="微软雅黑" panose="020B0503020204020204" pitchFamily="34" charset="-122"/>
                <a:ea typeface="微软雅黑" panose="020B0503020204020204" pitchFamily="34" charset="-122"/>
              </a:rPr>
              <a:t>MAC </a:t>
            </a:r>
            <a:r>
              <a:rPr lang="zh-CN" altLang="en-US" sz="1400" b="1" dirty="0" smtClean="0">
                <a:solidFill>
                  <a:srgbClr val="0000CC"/>
                </a:solidFill>
                <a:latin typeface="微软雅黑" panose="020B0503020204020204" pitchFamily="34" charset="-122"/>
                <a:ea typeface="微软雅黑" panose="020B0503020204020204" pitchFamily="34" charset="-122"/>
              </a:rPr>
              <a:t>地址</a:t>
            </a:r>
            <a:r>
              <a:rPr lang="zh-CN" altLang="en-US" sz="1400" b="1" dirty="0">
                <a:solidFill>
                  <a:srgbClr val="0000CC"/>
                </a:solidFill>
                <a:latin typeface="微软雅黑" panose="020B0503020204020204" pitchFamily="34" charset="-122"/>
                <a:ea typeface="微软雅黑" panose="020B0503020204020204" pitchFamily="34" charset="-122"/>
              </a:rPr>
              <a:t>（</a:t>
            </a:r>
            <a:r>
              <a:rPr lang="zh-CN" altLang="en-US" sz="1400" b="1" dirty="0" smtClean="0">
                <a:solidFill>
                  <a:srgbClr val="0000CC"/>
                </a:solidFill>
                <a:latin typeface="微软雅黑" panose="020B0503020204020204" pitchFamily="34" charset="-122"/>
                <a:ea typeface="微软雅黑" panose="020B0503020204020204" pitchFamily="34" charset="-122"/>
              </a:rPr>
              <a:t>即 </a:t>
            </a:r>
            <a:r>
              <a:rPr lang="en-US" altLang="zh-CN" sz="1400" b="1" dirty="0" smtClean="0">
                <a:solidFill>
                  <a:srgbClr val="0000CC"/>
                </a:solidFill>
                <a:latin typeface="微软雅黑" panose="020B0503020204020204" pitchFamily="34" charset="-122"/>
                <a:ea typeface="微软雅黑" panose="020B0503020204020204" pitchFamily="34" charset="-122"/>
              </a:rPr>
              <a:t>BSSID</a:t>
            </a:r>
            <a:r>
              <a:rPr lang="zh-CN" altLang="en-US" sz="1400" b="1" dirty="0">
                <a:solidFill>
                  <a:srgbClr val="0000CC"/>
                </a:solidFill>
                <a:latin typeface="微软雅黑" panose="020B0503020204020204" pitchFamily="34" charset="-122"/>
                <a:ea typeface="微软雅黑" panose="020B0503020204020204" pitchFamily="34" charset="-122"/>
              </a:rPr>
              <a:t>，但</a:t>
            </a:r>
            <a:r>
              <a:rPr lang="zh-CN" altLang="en-US" sz="1400" b="1" dirty="0" smtClean="0">
                <a:solidFill>
                  <a:srgbClr val="0000CC"/>
                </a:solidFill>
                <a:latin typeface="微软雅黑" panose="020B0503020204020204" pitchFamily="34" charset="-122"/>
                <a:ea typeface="微软雅黑" panose="020B0503020204020204" pitchFamily="34" charset="-122"/>
              </a:rPr>
              <a:t>不是 </a:t>
            </a:r>
            <a:r>
              <a:rPr lang="en-US" altLang="zh-CN" sz="1400" b="1" dirty="0" smtClean="0">
                <a:solidFill>
                  <a:srgbClr val="0000CC"/>
                </a:solidFill>
                <a:latin typeface="微软雅黑" panose="020B0503020204020204" pitchFamily="34" charset="-122"/>
                <a:ea typeface="微软雅黑" panose="020B0503020204020204" pitchFamily="34" charset="-122"/>
              </a:rPr>
              <a:t>SSID</a:t>
            </a:r>
            <a:r>
              <a:rPr lang="zh-CN" altLang="en-US" sz="1400" b="1" dirty="0" smtClean="0">
                <a:solidFill>
                  <a:srgbClr val="0000CC"/>
                </a:solidFill>
                <a:latin typeface="微软雅黑" panose="020B0503020204020204" pitchFamily="34" charset="-122"/>
                <a:ea typeface="微软雅黑" panose="020B0503020204020204" pitchFamily="34" charset="-122"/>
              </a:rPr>
              <a:t>）。</a:t>
            </a:r>
            <a:endParaRPr lang="en-US" altLang="zh-CN" sz="1400" b="1" dirty="0" smtClean="0">
              <a:solidFill>
                <a:srgbClr val="0000CC"/>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4097" name="VISIO" r:id="rId2" imgW="3514725" imgH="2009775" progId="">
                  <p:embed/>
                </p:oleObj>
              </mc:Choice>
              <mc:Fallback>
                <p:oleObj name="VISIO" r:id="rId2" imgW="3514725" imgH="2009775" progId="">
                  <p:embed/>
                  <p:pic>
                    <p:nvPicPr>
                      <p:cNvPr id="0" name="图片 4096"/>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用户通常都知道所连接的无线</a:t>
            </a:r>
            <a:r>
              <a:rPr lang="zh-CN" altLang="en-US" sz="1600" b="1" dirty="0" smtClean="0">
                <a:latin typeface="微软雅黑" panose="020B0503020204020204" pitchFamily="34" charset="-122"/>
                <a:ea typeface="微软雅黑" panose="020B0503020204020204" pitchFamily="34" charset="-122"/>
              </a:rPr>
              <a:t>局域网 </a:t>
            </a:r>
            <a:r>
              <a:rPr lang="en-US" altLang="zh-CN" sz="1600" b="1" dirty="0" smtClean="0">
                <a:latin typeface="微软雅黑" panose="020B0503020204020204" pitchFamily="34" charset="-122"/>
                <a:ea typeface="微软雅黑" panose="020B0503020204020204" pitchFamily="34" charset="-122"/>
              </a:rPr>
              <a:t>SSID</a:t>
            </a:r>
            <a:r>
              <a:rPr lang="zh-CN" altLang="en-US" sz="1600" b="1" dirty="0">
                <a:latin typeface="微软雅黑" panose="020B0503020204020204" pitchFamily="34" charset="-122"/>
                <a:ea typeface="微软雅黑" panose="020B0503020204020204" pitchFamily="34" charset="-122"/>
              </a:rPr>
              <a:t>，但可以不知道</a:t>
            </a:r>
            <a:r>
              <a:rPr lang="zh-CN" altLang="en-US" sz="1600" b="1" dirty="0" smtClean="0">
                <a:latin typeface="微软雅黑" panose="020B0503020204020204" pitchFamily="34" charset="-122"/>
                <a:ea typeface="微软雅黑" panose="020B0503020204020204" pitchFamily="34" charset="-122"/>
              </a:rPr>
              <a:t>其 </a:t>
            </a:r>
            <a:r>
              <a:rPr lang="en-US" altLang="zh-CN" sz="1600" b="1" dirty="0" smtClean="0">
                <a:latin typeface="微软雅黑" panose="020B0503020204020204" pitchFamily="34" charset="-122"/>
                <a:ea typeface="微软雅黑" panose="020B0503020204020204" pitchFamily="34" charset="-122"/>
              </a:rPr>
              <a:t>BSSID</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9"/>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 grpId="0" animBg="1"/>
      <p:bldP spid="40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anose="020B0503020204020204" pitchFamily="34" charset="-122"/>
                <a:ea typeface="微软雅黑" panose="020B0503020204020204" pitchFamily="34" charset="-122"/>
              </a:rPr>
              <a:t>一</a:t>
            </a:r>
            <a:r>
              <a:rPr lang="zh-CN" altLang="en-US" sz="1400" b="1" dirty="0" smtClean="0">
                <a:solidFill>
                  <a:srgbClr val="0000CC"/>
                </a:solidFill>
                <a:latin typeface="微软雅黑" panose="020B0503020204020204" pitchFamily="34" charset="-122"/>
                <a:ea typeface="微软雅黑" panose="020B0503020204020204" pitchFamily="34" charset="-122"/>
              </a:rPr>
              <a:t>个 </a:t>
            </a:r>
            <a:r>
              <a:rPr lang="en-US" altLang="zh-CN" sz="1400" b="1" dirty="0" smtClean="0">
                <a:solidFill>
                  <a:srgbClr val="0000CC"/>
                </a:solidFill>
                <a:latin typeface="微软雅黑" panose="020B0503020204020204" pitchFamily="34" charset="-122"/>
                <a:ea typeface="微软雅黑" panose="020B0503020204020204" pitchFamily="34" charset="-122"/>
              </a:rPr>
              <a:t>BSS </a:t>
            </a:r>
            <a:r>
              <a:rPr lang="zh-CN" altLang="en-US" sz="1400" b="1" dirty="0" smtClean="0">
                <a:solidFill>
                  <a:srgbClr val="0000CC"/>
                </a:solidFill>
                <a:latin typeface="微软雅黑" panose="020B0503020204020204" pitchFamily="34" charset="-122"/>
                <a:ea typeface="微软雅黑" panose="020B0503020204020204" pitchFamily="34" charset="-122"/>
              </a:rPr>
              <a:t>可以通过 </a:t>
            </a:r>
            <a:r>
              <a:rPr lang="en-US" altLang="zh-CN" sz="1400" b="1" dirty="0" smtClean="0">
                <a:solidFill>
                  <a:srgbClr val="0000CC"/>
                </a:solidFill>
                <a:latin typeface="微软雅黑" panose="020B0503020204020204" pitchFamily="34" charset="-122"/>
                <a:ea typeface="微软雅黑" panose="020B0503020204020204" pitchFamily="34" charset="-122"/>
              </a:rPr>
              <a:t>AP </a:t>
            </a:r>
            <a:r>
              <a:rPr lang="zh-CN" altLang="en-US" sz="1400" b="1" dirty="0" smtClean="0">
                <a:solidFill>
                  <a:srgbClr val="0000CC"/>
                </a:solidFill>
                <a:latin typeface="微软雅黑" panose="020B0503020204020204" pitchFamily="34" charset="-122"/>
                <a:ea typeface="微软雅黑" panose="020B0503020204020204" pitchFamily="34" charset="-122"/>
              </a:rPr>
              <a:t>连接</a:t>
            </a:r>
            <a:r>
              <a:rPr lang="zh-CN" altLang="en-US" sz="1400" b="1" dirty="0">
                <a:solidFill>
                  <a:srgbClr val="0000CC"/>
                </a:solidFill>
                <a:latin typeface="微软雅黑" panose="020B0503020204020204" pitchFamily="34" charset="-122"/>
                <a:ea typeface="微软雅黑" panose="020B0503020204020204" pitchFamily="34" charset="-122"/>
              </a:rPr>
              <a:t>到一个</a:t>
            </a:r>
            <a:r>
              <a:rPr lang="zh-CN" altLang="en-US" sz="1400" b="1" dirty="0">
                <a:solidFill>
                  <a:srgbClr val="C00000"/>
                </a:solidFill>
                <a:latin typeface="微软雅黑" panose="020B0503020204020204" pitchFamily="34" charset="-122"/>
                <a:ea typeface="微软雅黑" panose="020B0503020204020204" pitchFamily="34" charset="-122"/>
              </a:rPr>
              <a:t>分配</a:t>
            </a:r>
            <a:r>
              <a:rPr lang="zh-CN" altLang="en-US" sz="1400" b="1" dirty="0" smtClean="0">
                <a:solidFill>
                  <a:srgbClr val="C00000"/>
                </a:solidFill>
                <a:latin typeface="微软雅黑" panose="020B0503020204020204" pitchFamily="34" charset="-122"/>
                <a:ea typeface="微软雅黑" panose="020B0503020204020204" pitchFamily="34" charset="-122"/>
              </a:rPr>
              <a:t>系统 </a:t>
            </a:r>
            <a:r>
              <a:rPr lang="en-US" altLang="zh-CN" sz="1400" b="1" dirty="0" smtClean="0">
                <a:solidFill>
                  <a:srgbClr val="C00000"/>
                </a:solidFill>
                <a:latin typeface="微软雅黑" panose="020B0503020204020204" pitchFamily="34" charset="-122"/>
                <a:ea typeface="微软雅黑" panose="020B0503020204020204" pitchFamily="34" charset="-122"/>
              </a:rPr>
              <a:t>DS </a:t>
            </a:r>
            <a:r>
              <a:rPr lang="en-US" altLang="zh-CN" sz="1400" b="1" dirty="0">
                <a:solidFill>
                  <a:srgbClr val="0000CC"/>
                </a:solidFill>
                <a:latin typeface="微软雅黑" panose="020B0503020204020204" pitchFamily="34" charset="-122"/>
                <a:ea typeface="微软雅黑" panose="020B0503020204020204" pitchFamily="34" charset="-122"/>
              </a:rPr>
              <a:t>(Distribution System)</a:t>
            </a:r>
            <a:r>
              <a:rPr lang="zh-CN" altLang="en-US" sz="1400" b="1" dirty="0">
                <a:solidFill>
                  <a:srgbClr val="0000CC"/>
                </a:solidFill>
                <a:latin typeface="微软雅黑" panose="020B0503020204020204" pitchFamily="34" charset="-122"/>
                <a:ea typeface="微软雅黑" panose="020B0503020204020204" pitchFamily="34" charset="-122"/>
              </a:rPr>
              <a:t>，然后再连接到另一</a:t>
            </a:r>
            <a:r>
              <a:rPr lang="zh-CN" altLang="en-US" sz="1400" b="1" dirty="0" smtClean="0">
                <a:solidFill>
                  <a:srgbClr val="0000CC"/>
                </a:solidFill>
                <a:latin typeface="微软雅黑" panose="020B0503020204020204" pitchFamily="34" charset="-122"/>
                <a:ea typeface="微软雅黑" panose="020B0503020204020204" pitchFamily="34" charset="-122"/>
              </a:rPr>
              <a:t>个 </a:t>
            </a:r>
            <a:r>
              <a:rPr lang="en-US" altLang="zh-CN" sz="1400" b="1" dirty="0" smtClean="0">
                <a:solidFill>
                  <a:srgbClr val="0000CC"/>
                </a:solidFill>
                <a:latin typeface="微软雅黑" panose="020B0503020204020204" pitchFamily="34" charset="-122"/>
                <a:ea typeface="微软雅黑" panose="020B0503020204020204" pitchFamily="34" charset="-122"/>
              </a:rPr>
              <a:t>BSS</a:t>
            </a:r>
            <a:r>
              <a:rPr lang="zh-CN" altLang="en-US" sz="1400" b="1" dirty="0" smtClean="0">
                <a:solidFill>
                  <a:srgbClr val="0000CC"/>
                </a:solidFill>
                <a:latin typeface="微软雅黑" panose="020B0503020204020204" pitchFamily="34" charset="-122"/>
                <a:ea typeface="微软雅黑" panose="020B0503020204020204" pitchFamily="34" charset="-122"/>
              </a:rPr>
              <a:t>，构成</a:t>
            </a:r>
            <a:r>
              <a:rPr lang="zh-CN" altLang="en-US" sz="1400" b="1" dirty="0">
                <a:solidFill>
                  <a:srgbClr val="0000CC"/>
                </a:solidFill>
                <a:latin typeface="微软雅黑" panose="020B0503020204020204" pitchFamily="34" charset="-122"/>
                <a:ea typeface="微软雅黑" panose="020B0503020204020204" pitchFamily="34" charset="-122"/>
              </a:rPr>
              <a:t>了一个</a:t>
            </a:r>
            <a:r>
              <a:rPr lang="zh-CN" altLang="en-US" sz="1400" b="1" dirty="0">
                <a:solidFill>
                  <a:srgbClr val="C00000"/>
                </a:solidFill>
                <a:latin typeface="微软雅黑" panose="020B0503020204020204" pitchFamily="34" charset="-122"/>
                <a:ea typeface="微软雅黑" panose="020B0503020204020204" pitchFamily="34" charset="-122"/>
              </a:rPr>
              <a:t>扩展服务</a:t>
            </a:r>
            <a:r>
              <a:rPr lang="zh-CN" altLang="en-US" sz="1400" b="1" dirty="0" smtClean="0">
                <a:solidFill>
                  <a:srgbClr val="C00000"/>
                </a:solidFill>
                <a:latin typeface="微软雅黑" panose="020B0503020204020204" pitchFamily="34" charset="-122"/>
                <a:ea typeface="微软雅黑" panose="020B0503020204020204" pitchFamily="34" charset="-122"/>
              </a:rPr>
              <a:t>集 </a:t>
            </a:r>
            <a:r>
              <a:rPr lang="en-US" altLang="zh-CN" sz="1400" b="1" dirty="0" smtClean="0">
                <a:solidFill>
                  <a:srgbClr val="C00000"/>
                </a:solidFill>
                <a:latin typeface="微软雅黑" panose="020B0503020204020204" pitchFamily="34" charset="-122"/>
                <a:ea typeface="微软雅黑" panose="020B0503020204020204" pitchFamily="34" charset="-122"/>
              </a:rPr>
              <a:t>ESS </a:t>
            </a:r>
            <a:r>
              <a:rPr lang="en-US" altLang="zh-CN" sz="1400" b="1" dirty="0">
                <a:solidFill>
                  <a:srgbClr val="0000CC"/>
                </a:solidFill>
                <a:latin typeface="微软雅黑" panose="020B0503020204020204" pitchFamily="34" charset="-122"/>
                <a:ea typeface="微软雅黑" panose="020B0503020204020204" pitchFamily="34" charset="-122"/>
              </a:rPr>
              <a:t>(Extended Service Set)</a:t>
            </a:r>
            <a:r>
              <a:rPr lang="zh-CN" altLang="en-US" sz="1400" b="1" dirty="0" smtClean="0">
                <a:solidFill>
                  <a:srgbClr val="0000CC"/>
                </a:solidFill>
                <a:latin typeface="微软雅黑" panose="020B0503020204020204" pitchFamily="34" charset="-122"/>
                <a:ea typeface="微软雅黑" panose="020B0503020204020204" pitchFamily="34" charset="-122"/>
              </a:rPr>
              <a:t>。</a:t>
            </a:r>
            <a:endParaRPr lang="en-US" altLang="zh-CN" sz="1400" b="1" dirty="0" smtClean="0">
              <a:solidFill>
                <a:srgbClr val="0000CC"/>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5121" name="VISIO" r:id="rId2" imgW="3514725" imgH="2009775" progId="">
                  <p:embed/>
                </p:oleObj>
              </mc:Choice>
              <mc:Fallback>
                <p:oleObj name="VISIO" r:id="rId2" imgW="3514725" imgH="2009775" progId="">
                  <p:embed/>
                  <p:pic>
                    <p:nvPicPr>
                      <p:cNvPr id="0" name="图片 5120"/>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35" presetClass="emph" presetSubtype="0" repeatCount="3000" fill="hold" grpId="0" nodeType="afterEffect">
                                  <p:stCondLst>
                                    <p:cond delay="0"/>
                                  </p:stCondLst>
                                  <p:childTnLst>
                                    <p:anim calcmode="discrete" valueType="str">
                                      <p:cBhvr>
                                        <p:cTn id="9" dur="1000" fill="hold"/>
                                        <p:tgtEl>
                                          <p:spTgt spid="243"/>
                                        </p:tgtEl>
                                        <p:attrNameLst>
                                          <p:attrName>style.visibility</p:attrName>
                                        </p:attrNameLst>
                                      </p:cBhvr>
                                      <p:tavLst>
                                        <p:tav tm="0">
                                          <p:val>
                                            <p:strVal val="hidden"/>
                                          </p:val>
                                        </p:tav>
                                        <p:tav tm="50000">
                                          <p:val>
                                            <p:strVal val="visible"/>
                                          </p:val>
                                        </p:tav>
                                      </p:tavLst>
                                    </p:anim>
                                  </p:childTnLst>
                                </p:cTn>
                              </p:par>
                              <p:par>
                                <p:cTn id="10" presetID="35" presetClass="emph" presetSubtype="0" repeatCount="3000" fill="hold" grpId="0" nodeType="withEffect">
                                  <p:stCondLst>
                                    <p:cond delay="0"/>
                                  </p:stCondLst>
                                  <p:childTnLst>
                                    <p:anim calcmode="discrete" valueType="str">
                                      <p:cBhvr>
                                        <p:cTn id="11" dur="1000" fill="hold"/>
                                        <p:tgtEl>
                                          <p:spTgt spid="30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P spid="307" grpId="0"/>
      <p:bldP spid="32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smtClean="0">
                <a:solidFill>
                  <a:srgbClr val="0000CC"/>
                </a:solidFill>
                <a:latin typeface="微软雅黑" panose="020B0503020204020204" pitchFamily="34" charset="-122"/>
                <a:ea typeface="微软雅黑" panose="020B0503020204020204" pitchFamily="34" charset="-122"/>
              </a:rPr>
              <a:t>ESS </a:t>
            </a:r>
            <a:r>
              <a:rPr lang="zh-CN" altLang="en-US" sz="1400" b="1" dirty="0" smtClean="0">
                <a:solidFill>
                  <a:srgbClr val="0000CC"/>
                </a:solidFill>
                <a:latin typeface="微软雅黑" panose="020B0503020204020204" pitchFamily="34" charset="-122"/>
                <a:ea typeface="微软雅黑" panose="020B0503020204020204" pitchFamily="34" charset="-122"/>
              </a:rPr>
              <a:t>也</a:t>
            </a:r>
            <a:r>
              <a:rPr lang="zh-CN" altLang="en-US" sz="1400" b="1" dirty="0">
                <a:solidFill>
                  <a:srgbClr val="0000CC"/>
                </a:solidFill>
                <a:latin typeface="微软雅黑" panose="020B0503020204020204" pitchFamily="34" charset="-122"/>
                <a:ea typeface="微软雅黑" panose="020B0503020204020204" pitchFamily="34" charset="-122"/>
              </a:rPr>
              <a:t>有个标识符，是不</a:t>
            </a:r>
            <a:r>
              <a:rPr lang="zh-CN" altLang="en-US" sz="1400" b="1" dirty="0" smtClean="0">
                <a:solidFill>
                  <a:srgbClr val="0000CC"/>
                </a:solidFill>
                <a:latin typeface="微软雅黑" panose="020B0503020204020204" pitchFamily="34" charset="-122"/>
                <a:ea typeface="微软雅黑" panose="020B0503020204020204" pitchFamily="34" charset="-122"/>
              </a:rPr>
              <a:t>超过 </a:t>
            </a:r>
            <a:r>
              <a:rPr lang="en-US" altLang="zh-CN" sz="1400" b="1" dirty="0" smtClean="0">
                <a:solidFill>
                  <a:srgbClr val="0000CC"/>
                </a:solidFill>
                <a:latin typeface="微软雅黑" panose="020B0503020204020204" pitchFamily="34" charset="-122"/>
                <a:ea typeface="微软雅黑" panose="020B0503020204020204" pitchFamily="34" charset="-122"/>
              </a:rPr>
              <a:t>32 </a:t>
            </a:r>
            <a:r>
              <a:rPr lang="zh-CN" altLang="en-US" sz="1400" b="1" dirty="0" smtClean="0">
                <a:solidFill>
                  <a:srgbClr val="0000CC"/>
                </a:solidFill>
                <a:latin typeface="微软雅黑" panose="020B0503020204020204" pitchFamily="34" charset="-122"/>
                <a:ea typeface="微软雅黑" panose="020B0503020204020204" pitchFamily="34" charset="-122"/>
              </a:rPr>
              <a:t>字符</a:t>
            </a:r>
            <a:r>
              <a:rPr lang="zh-CN" altLang="en-US" sz="1400" b="1" dirty="0">
                <a:solidFill>
                  <a:srgbClr val="0000CC"/>
                </a:solidFill>
                <a:latin typeface="微软雅黑" panose="020B0503020204020204" pitchFamily="34" charset="-122"/>
                <a:ea typeface="微软雅黑" panose="020B0503020204020204" pitchFamily="34" charset="-122"/>
              </a:rPr>
              <a:t>的字符串</a:t>
            </a:r>
            <a:r>
              <a:rPr lang="zh-CN" altLang="en-US" sz="1400" b="1" dirty="0" smtClean="0">
                <a:solidFill>
                  <a:srgbClr val="0000CC"/>
                </a:solidFill>
                <a:latin typeface="微软雅黑" panose="020B0503020204020204" pitchFamily="34" charset="-122"/>
                <a:ea typeface="微软雅黑" panose="020B0503020204020204" pitchFamily="34" charset="-122"/>
              </a:rPr>
              <a:t>名字 </a:t>
            </a:r>
            <a:r>
              <a:rPr lang="en-US" altLang="zh-CN" sz="1400" b="1" dirty="0" smtClean="0">
                <a:solidFill>
                  <a:srgbClr val="0000CC"/>
                </a:solidFill>
                <a:latin typeface="微软雅黑" panose="020B0503020204020204" pitchFamily="34" charset="-122"/>
                <a:ea typeface="微软雅黑" panose="020B0503020204020204" pitchFamily="34" charset="-122"/>
              </a:rPr>
              <a:t>(</a:t>
            </a:r>
            <a:r>
              <a:rPr lang="zh-CN" altLang="en-US" sz="1400" b="1" dirty="0" smtClean="0">
                <a:solidFill>
                  <a:srgbClr val="C00000"/>
                </a:solidFill>
                <a:latin typeface="微软雅黑" panose="020B0503020204020204" pitchFamily="34" charset="-122"/>
                <a:ea typeface="微软雅黑" panose="020B0503020204020204" pitchFamily="34" charset="-122"/>
              </a:rPr>
              <a:t>不是地址</a:t>
            </a:r>
            <a:r>
              <a:rPr lang="en-US" altLang="zh-CN" sz="1400" b="1" dirty="0" smtClean="0">
                <a:solidFill>
                  <a:srgbClr val="0000CC"/>
                </a:solidFill>
                <a:latin typeface="微软雅黑" panose="020B0503020204020204" pitchFamily="34" charset="-122"/>
                <a:ea typeface="微软雅黑" panose="020B0503020204020204" pitchFamily="34" charset="-122"/>
              </a:rPr>
              <a:t>)</a:t>
            </a:r>
            <a:r>
              <a:rPr lang="zh-CN" altLang="en-US" sz="1400" b="1" dirty="0" smtClean="0">
                <a:solidFill>
                  <a:srgbClr val="0000CC"/>
                </a:solidFill>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叫做</a:t>
            </a:r>
            <a:r>
              <a:rPr lang="zh-CN" altLang="en-US" sz="1400" b="1" dirty="0">
                <a:solidFill>
                  <a:srgbClr val="C00000"/>
                </a:solidFill>
                <a:latin typeface="微软雅黑" panose="020B0503020204020204" pitchFamily="34" charset="-122"/>
                <a:ea typeface="微软雅黑" panose="020B0503020204020204" pitchFamily="34" charset="-122"/>
              </a:rPr>
              <a:t>扩展服务集</a:t>
            </a:r>
            <a:r>
              <a:rPr lang="zh-CN" altLang="en-US" sz="1400" b="1" dirty="0" smtClean="0">
                <a:solidFill>
                  <a:srgbClr val="C00000"/>
                </a:solidFill>
                <a:latin typeface="微软雅黑" panose="020B0503020204020204" pitchFamily="34" charset="-122"/>
                <a:ea typeface="微软雅黑" panose="020B0503020204020204" pitchFamily="34" charset="-122"/>
              </a:rPr>
              <a:t>标识符 </a:t>
            </a:r>
            <a:r>
              <a:rPr lang="en-US" altLang="zh-CN" sz="1400" b="1" dirty="0" smtClean="0">
                <a:solidFill>
                  <a:srgbClr val="C00000"/>
                </a:solidFill>
                <a:latin typeface="微软雅黑" panose="020B0503020204020204" pitchFamily="34" charset="-122"/>
                <a:ea typeface="微软雅黑" panose="020B0503020204020204" pitchFamily="34" charset="-122"/>
              </a:rPr>
              <a:t>ESSID</a:t>
            </a:r>
            <a:r>
              <a:rPr lang="zh-CN" altLang="en-US" sz="1400" b="1" dirty="0" smtClean="0">
                <a:solidFill>
                  <a:srgbClr val="C00000"/>
                </a:solidFill>
                <a:latin typeface="微软雅黑" panose="020B0503020204020204" pitchFamily="34" charset="-122"/>
                <a:ea typeface="微软雅黑" panose="020B0503020204020204" pitchFamily="34" charset="-122"/>
              </a:rPr>
              <a:t>。</a:t>
            </a:r>
            <a:endParaRPr lang="en-US" altLang="zh-CN" sz="1400" b="1" dirty="0" smtClean="0">
              <a:solidFill>
                <a:srgbClr val="C00000"/>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6145" name="VISIO" r:id="rId2" imgW="3514725" imgH="2009775" progId="">
                  <p:embed/>
                </p:oleObj>
              </mc:Choice>
              <mc:Fallback>
                <p:oleObj name="VISIO" r:id="rId2" imgW="3514725" imgH="2009775" progId="">
                  <p:embed/>
                  <p:pic>
                    <p:nvPicPr>
                      <p:cNvPr id="0" name="图片 6144"/>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smtClean="0">
                <a:solidFill>
                  <a:srgbClr val="0000CC"/>
                </a:solidFill>
                <a:latin typeface="微软雅黑" panose="020B0503020204020204" pitchFamily="34" charset="-122"/>
                <a:ea typeface="微软雅黑" panose="020B0503020204020204" pitchFamily="34" charset="-122"/>
              </a:rPr>
              <a:t>DS </a:t>
            </a:r>
            <a:r>
              <a:rPr lang="zh-CN" altLang="en-US" sz="1400" b="1" dirty="0" smtClean="0">
                <a:solidFill>
                  <a:srgbClr val="0000CC"/>
                </a:solidFill>
                <a:latin typeface="微软雅黑" panose="020B0503020204020204" pitchFamily="34" charset="-122"/>
                <a:ea typeface="微软雅黑" panose="020B0503020204020204" pitchFamily="34" charset="-122"/>
              </a:rPr>
              <a:t>的作用：使 </a:t>
            </a:r>
            <a:r>
              <a:rPr lang="en-US" altLang="zh-CN" sz="1400" b="1" dirty="0" smtClean="0">
                <a:solidFill>
                  <a:srgbClr val="0000CC"/>
                </a:solidFill>
                <a:latin typeface="微软雅黑" panose="020B0503020204020204" pitchFamily="34" charset="-122"/>
                <a:ea typeface="微软雅黑" panose="020B0503020204020204" pitchFamily="34" charset="-122"/>
              </a:rPr>
              <a:t>ESS </a:t>
            </a:r>
            <a:r>
              <a:rPr lang="zh-CN" altLang="en-US" sz="1400" b="1" dirty="0" smtClean="0">
                <a:solidFill>
                  <a:srgbClr val="0000CC"/>
                </a:solidFill>
                <a:latin typeface="微软雅黑" panose="020B0503020204020204" pitchFamily="34" charset="-122"/>
                <a:ea typeface="微软雅黑" panose="020B0503020204020204" pitchFamily="34" charset="-122"/>
              </a:rPr>
              <a:t>对</a:t>
            </a:r>
            <a:r>
              <a:rPr lang="zh-CN" altLang="en-US" sz="1400" b="1" dirty="0">
                <a:solidFill>
                  <a:srgbClr val="0000CC"/>
                </a:solidFill>
                <a:latin typeface="微软雅黑" panose="020B0503020204020204" pitchFamily="34" charset="-122"/>
                <a:ea typeface="微软雅黑" panose="020B0503020204020204" pitchFamily="34" charset="-122"/>
              </a:rPr>
              <a:t>上层的表现就像一</a:t>
            </a:r>
            <a:r>
              <a:rPr lang="zh-CN" altLang="en-US" sz="1400" b="1" dirty="0" smtClean="0">
                <a:solidFill>
                  <a:srgbClr val="0000CC"/>
                </a:solidFill>
                <a:latin typeface="微软雅黑" panose="020B0503020204020204" pitchFamily="34" charset="-122"/>
                <a:ea typeface="微软雅黑" panose="020B0503020204020204" pitchFamily="34" charset="-122"/>
              </a:rPr>
              <a:t>个 </a:t>
            </a:r>
            <a:r>
              <a:rPr lang="en-US" altLang="zh-CN" sz="1400" b="1" dirty="0" smtClean="0">
                <a:solidFill>
                  <a:srgbClr val="0000CC"/>
                </a:solidFill>
                <a:latin typeface="微软雅黑" panose="020B0503020204020204" pitchFamily="34" charset="-122"/>
                <a:ea typeface="微软雅黑" panose="020B0503020204020204" pitchFamily="34" charset="-122"/>
              </a:rPr>
              <a:t>BSS </a:t>
            </a:r>
            <a:r>
              <a:rPr lang="zh-CN" altLang="en-US" sz="1400" b="1" dirty="0">
                <a:solidFill>
                  <a:srgbClr val="0000CC"/>
                </a:solidFill>
                <a:latin typeface="微软雅黑" panose="020B0503020204020204" pitchFamily="34" charset="-122"/>
                <a:ea typeface="微软雅黑" panose="020B0503020204020204" pitchFamily="34" charset="-122"/>
              </a:rPr>
              <a:t>一样</a:t>
            </a:r>
            <a:r>
              <a:rPr lang="zh-CN" altLang="en-US" sz="1400" b="1" dirty="0" smtClean="0">
                <a:solidFill>
                  <a:srgbClr val="0000CC"/>
                </a:solidFill>
                <a:latin typeface="微软雅黑" panose="020B0503020204020204" pitchFamily="34" charset="-122"/>
                <a:ea typeface="微软雅黑" panose="020B0503020204020204" pitchFamily="34" charset="-122"/>
              </a:rPr>
              <a:t>。</a:t>
            </a:r>
            <a:endParaRPr lang="en-US" altLang="zh-CN" sz="1400" b="1" dirty="0" smtClean="0">
              <a:solidFill>
                <a:srgbClr val="0000CC"/>
              </a:solidFill>
              <a:latin typeface="微软雅黑" panose="020B0503020204020204" pitchFamily="34" charset="-122"/>
              <a:ea typeface="微软雅黑" panose="020B0503020204020204" pitchFamily="34" charset="-122"/>
            </a:endParaRPr>
          </a:p>
          <a:p>
            <a:pPr algn="ctr"/>
            <a:r>
              <a:rPr lang="en-US" altLang="zh-CN" sz="1400" b="1" dirty="0" smtClean="0">
                <a:solidFill>
                  <a:srgbClr val="0000CC"/>
                </a:solidFill>
                <a:latin typeface="微软雅黑" panose="020B0503020204020204" pitchFamily="34" charset="-122"/>
                <a:ea typeface="微软雅黑" panose="020B0503020204020204" pitchFamily="34" charset="-122"/>
              </a:rPr>
              <a:t>DS </a:t>
            </a:r>
            <a:r>
              <a:rPr lang="zh-CN" altLang="en-US" sz="1400" b="1" dirty="0" smtClean="0">
                <a:solidFill>
                  <a:srgbClr val="0000CC"/>
                </a:solidFill>
                <a:latin typeface="微软雅黑" panose="020B0503020204020204" pitchFamily="34" charset="-122"/>
                <a:ea typeface="微软雅黑" panose="020B0503020204020204" pitchFamily="34" charset="-122"/>
              </a:rPr>
              <a:t>可以</a:t>
            </a:r>
            <a:r>
              <a:rPr lang="zh-CN" altLang="en-US" sz="1400" b="1" dirty="0">
                <a:solidFill>
                  <a:srgbClr val="0000CC"/>
                </a:solidFill>
                <a:latin typeface="微软雅黑" panose="020B0503020204020204" pitchFamily="34" charset="-122"/>
                <a:ea typeface="微软雅黑" panose="020B0503020204020204" pitchFamily="34" charset="-122"/>
              </a:rPr>
              <a:t>使用</a:t>
            </a:r>
            <a:r>
              <a:rPr lang="zh-CN" altLang="en-US" sz="1400" b="1" dirty="0">
                <a:solidFill>
                  <a:srgbClr val="C00000"/>
                </a:solidFill>
                <a:latin typeface="微软雅黑" panose="020B0503020204020204" pitchFamily="34" charset="-122"/>
                <a:ea typeface="微软雅黑" panose="020B0503020204020204" pitchFamily="34" charset="-122"/>
              </a:rPr>
              <a:t>以太网</a:t>
            </a:r>
            <a:r>
              <a:rPr lang="zh-CN" altLang="en-US" sz="1400" b="1" dirty="0" smtClean="0">
                <a:solidFill>
                  <a:srgbClr val="0000CC"/>
                </a:solidFill>
                <a:latin typeface="微软雅黑" panose="020B0503020204020204" pitchFamily="34" charset="-122"/>
                <a:ea typeface="微软雅黑" panose="020B0503020204020204" pitchFamily="34" charset="-122"/>
              </a:rPr>
              <a:t>（最常用）</a:t>
            </a:r>
            <a:r>
              <a:rPr lang="zh-CN" altLang="en-US" sz="1400" b="1" dirty="0">
                <a:solidFill>
                  <a:srgbClr val="0000CC"/>
                </a:solidFill>
                <a:latin typeface="微软雅黑" panose="020B0503020204020204" pitchFamily="34" charset="-122"/>
                <a:ea typeface="微软雅黑" panose="020B0503020204020204" pitchFamily="34" charset="-122"/>
              </a:rPr>
              <a:t>、点对点链路或其他无线网络。</a:t>
            </a:r>
            <a:endParaRPr lang="en-US" altLang="zh-CN" sz="1400" b="1" dirty="0" smtClean="0">
              <a:solidFill>
                <a:srgbClr val="C00000"/>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7169" name="VISIO" r:id="rId2" imgW="3514725" imgH="2009775" progId="">
                  <p:embed/>
                </p:oleObj>
              </mc:Choice>
              <mc:Fallback>
                <p:oleObj name="VISIO" r:id="rId2" imgW="3514725" imgH="2009775" progId="">
                  <p:embed/>
                  <p:pic>
                    <p:nvPicPr>
                      <p:cNvPr id="0" name="图片 7168"/>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en-US" altLang="zh-CN" sz="1400" b="1" dirty="0" smtClean="0">
                <a:solidFill>
                  <a:srgbClr val="0000CC"/>
                </a:solidFill>
                <a:latin typeface="微软雅黑" panose="020B0503020204020204" pitchFamily="34" charset="-122"/>
                <a:ea typeface="微软雅黑" panose="020B0503020204020204" pitchFamily="34" charset="-122"/>
              </a:rPr>
              <a:t>ESS </a:t>
            </a:r>
            <a:r>
              <a:rPr lang="zh-CN" altLang="en-US" sz="1400" b="1" dirty="0" smtClean="0">
                <a:solidFill>
                  <a:srgbClr val="0000CC"/>
                </a:solidFill>
                <a:latin typeface="微软雅黑" panose="020B0503020204020204" pitchFamily="34" charset="-122"/>
                <a:ea typeface="微软雅黑" panose="020B0503020204020204" pitchFamily="34" charset="-122"/>
              </a:rPr>
              <a:t>还</a:t>
            </a:r>
            <a:r>
              <a:rPr lang="zh-CN" altLang="en-US" sz="1400" b="1" dirty="0">
                <a:solidFill>
                  <a:srgbClr val="0000CC"/>
                </a:solidFill>
                <a:latin typeface="微软雅黑" panose="020B0503020204020204" pitchFamily="34" charset="-122"/>
                <a:ea typeface="微软雅黑" panose="020B0503020204020204" pitchFamily="34" charset="-122"/>
              </a:rPr>
              <a:t>可为无线用户提供</a:t>
            </a:r>
            <a:r>
              <a:rPr lang="zh-CN" altLang="en-US" sz="1400" b="1" dirty="0" smtClean="0">
                <a:solidFill>
                  <a:srgbClr val="0000CC"/>
                </a:solidFill>
                <a:latin typeface="微软雅黑" panose="020B0503020204020204" pitchFamily="34" charset="-122"/>
                <a:ea typeface="微软雅黑" panose="020B0503020204020204" pitchFamily="34" charset="-122"/>
              </a:rPr>
              <a:t>到 </a:t>
            </a:r>
            <a:r>
              <a:rPr lang="en-US" altLang="zh-CN" sz="1400" b="1" dirty="0" smtClean="0">
                <a:solidFill>
                  <a:srgbClr val="0000CC"/>
                </a:solidFill>
                <a:latin typeface="微软雅黑" panose="020B0503020204020204" pitchFamily="34" charset="-122"/>
                <a:ea typeface="微软雅黑" panose="020B0503020204020204" pitchFamily="34" charset="-122"/>
              </a:rPr>
              <a:t>802.x </a:t>
            </a:r>
            <a:r>
              <a:rPr lang="zh-CN" altLang="en-US" sz="1400" b="1" dirty="0" smtClean="0">
                <a:solidFill>
                  <a:srgbClr val="0000CC"/>
                </a:solidFill>
                <a:latin typeface="微软雅黑" panose="020B0503020204020204" pitchFamily="34" charset="-122"/>
                <a:ea typeface="微软雅黑" panose="020B0503020204020204" pitchFamily="34" charset="-122"/>
              </a:rPr>
              <a:t>局域网（非</a:t>
            </a:r>
            <a:r>
              <a:rPr lang="en-US" altLang="zh-CN" sz="1400" b="1" dirty="0">
                <a:solidFill>
                  <a:srgbClr val="0000CC"/>
                </a:solidFill>
                <a:latin typeface="微软雅黑" panose="020B0503020204020204" pitchFamily="34" charset="-122"/>
                <a:ea typeface="微软雅黑" panose="020B0503020204020204" pitchFamily="34" charset="-122"/>
              </a:rPr>
              <a:t>802.11</a:t>
            </a:r>
            <a:r>
              <a:rPr lang="zh-CN" altLang="en-US" sz="1400" b="1" dirty="0">
                <a:solidFill>
                  <a:srgbClr val="0000CC"/>
                </a:solidFill>
                <a:latin typeface="微软雅黑" panose="020B0503020204020204" pitchFamily="34" charset="-122"/>
                <a:ea typeface="微软雅黑" panose="020B0503020204020204" pitchFamily="34" charset="-122"/>
              </a:rPr>
              <a:t>无线局域网）的</a:t>
            </a:r>
            <a:r>
              <a:rPr lang="zh-CN" altLang="en-US" sz="1400" b="1" dirty="0">
                <a:solidFill>
                  <a:srgbClr val="C00000"/>
                </a:solidFill>
                <a:latin typeface="微软雅黑" panose="020B0503020204020204" pitchFamily="34" charset="-122"/>
                <a:ea typeface="微软雅黑" panose="020B0503020204020204" pitchFamily="34" charset="-122"/>
              </a:rPr>
              <a:t>接入</a:t>
            </a:r>
            <a:r>
              <a:rPr lang="zh-CN" altLang="en-US" sz="1400" b="1" dirty="0" smtClean="0">
                <a:solidFill>
                  <a:srgbClr val="C00000"/>
                </a:solidFill>
                <a:latin typeface="微软雅黑" panose="020B0503020204020204" pitchFamily="34" charset="-122"/>
                <a:ea typeface="微软雅黑" panose="020B0503020204020204" pitchFamily="34" charset="-122"/>
              </a:rPr>
              <a:t>。</a:t>
            </a:r>
            <a:r>
              <a:rPr lang="zh-CN" altLang="en-US" sz="1400" b="1" dirty="0" smtClean="0">
                <a:solidFill>
                  <a:srgbClr val="0000CC"/>
                </a:solidFill>
                <a:latin typeface="微软雅黑" panose="020B0503020204020204" pitchFamily="34" charset="-122"/>
                <a:ea typeface="微软雅黑" panose="020B0503020204020204" pitchFamily="34" charset="-122"/>
              </a:rPr>
              <a:t>通过</a:t>
            </a:r>
            <a:r>
              <a:rPr lang="zh-CN" altLang="en-US" sz="1400" b="1" dirty="0" smtClean="0">
                <a:solidFill>
                  <a:srgbClr val="C00000"/>
                </a:solidFill>
                <a:latin typeface="微软雅黑" panose="020B0503020204020204" pitchFamily="34" charset="-122"/>
                <a:ea typeface="微软雅黑" panose="020B0503020204020204" pitchFamily="34" charset="-122"/>
              </a:rPr>
              <a:t>门户 </a:t>
            </a:r>
            <a:r>
              <a:rPr lang="en-US" altLang="zh-CN" sz="1400" b="1" dirty="0" smtClean="0">
                <a:solidFill>
                  <a:srgbClr val="0000CC"/>
                </a:solidFill>
                <a:latin typeface="微软雅黑" panose="020B0503020204020204" pitchFamily="34" charset="-122"/>
                <a:ea typeface="微软雅黑" panose="020B0503020204020204" pitchFamily="34" charset="-122"/>
              </a:rPr>
              <a:t>(</a:t>
            </a:r>
            <a:r>
              <a:rPr lang="en-US" altLang="zh-CN" sz="1400" b="1" dirty="0">
                <a:solidFill>
                  <a:srgbClr val="0000CC"/>
                </a:solidFill>
                <a:latin typeface="微软雅黑" panose="020B0503020204020204" pitchFamily="34" charset="-122"/>
                <a:ea typeface="微软雅黑" panose="020B0503020204020204" pitchFamily="34" charset="-122"/>
              </a:rPr>
              <a:t>Portal</a:t>
            </a:r>
            <a:r>
              <a:rPr lang="en-US" altLang="zh-CN" sz="1400" b="1" dirty="0" smtClean="0">
                <a:solidFill>
                  <a:srgbClr val="0000CC"/>
                </a:solidFill>
                <a:latin typeface="微软雅黑" panose="020B0503020204020204" pitchFamily="34" charset="-122"/>
                <a:ea typeface="微软雅黑" panose="020B0503020204020204" pitchFamily="34" charset="-122"/>
              </a:rPr>
              <a:t>) </a:t>
            </a:r>
            <a:r>
              <a:rPr lang="zh-CN" altLang="en-US" sz="1400" b="1" dirty="0" smtClean="0">
                <a:solidFill>
                  <a:srgbClr val="0000CC"/>
                </a:solidFill>
                <a:latin typeface="微软雅黑" panose="020B0503020204020204" pitchFamily="34" charset="-122"/>
                <a:ea typeface="微软雅黑" panose="020B0503020204020204" pitchFamily="34" charset="-122"/>
              </a:rPr>
              <a:t>设备实现。门户相当于</a:t>
            </a:r>
            <a:r>
              <a:rPr lang="zh-CN" altLang="en-US" sz="1400" b="1" dirty="0">
                <a:solidFill>
                  <a:srgbClr val="0000CC"/>
                </a:solidFill>
                <a:latin typeface="微软雅黑" panose="020B0503020204020204" pitchFamily="34" charset="-122"/>
                <a:ea typeface="微软雅黑" panose="020B0503020204020204" pitchFamily="34" charset="-122"/>
              </a:rPr>
              <a:t>一个网桥。</a:t>
            </a:r>
            <a:endParaRPr lang="en-US" altLang="zh-CN" sz="1400" b="1" dirty="0" smtClean="0">
              <a:solidFill>
                <a:srgbClr val="C00000"/>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8193" name="VISIO" r:id="rId2" imgW="3514725" imgH="2009775" progId="">
                  <p:embed/>
                </p:oleObj>
              </mc:Choice>
              <mc:Fallback>
                <p:oleObj name="VISIO" r:id="rId2" imgW="3514725" imgH="2009775" progId="">
                  <p:embed/>
                  <p:pic>
                    <p:nvPicPr>
                      <p:cNvPr id="0" name="图片 8192"/>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门户</a:t>
            </a:r>
            <a:endParaRPr lang="en-US" altLang="zh-CN" sz="1200" b="1" dirty="0">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zh-CN" altLang="en-US" sz="1400" b="1" dirty="0" smtClean="0">
                <a:solidFill>
                  <a:srgbClr val="0000CC"/>
                </a:solidFill>
                <a:latin typeface="微软雅黑" panose="020B0503020204020204" pitchFamily="34" charset="-122"/>
                <a:ea typeface="微软雅黑" panose="020B0503020204020204" pitchFamily="34" charset="-122"/>
              </a:rPr>
              <a:t>移动站 </a:t>
            </a:r>
            <a:r>
              <a:rPr lang="en-US" altLang="zh-CN" sz="1400" b="1" dirty="0" smtClean="0">
                <a:solidFill>
                  <a:srgbClr val="0000CC"/>
                </a:solidFill>
                <a:latin typeface="微软雅黑" panose="020B0503020204020204" pitchFamily="34" charset="-122"/>
                <a:ea typeface="微软雅黑" panose="020B0503020204020204" pitchFamily="34" charset="-122"/>
              </a:rPr>
              <a:t>A </a:t>
            </a:r>
            <a:r>
              <a:rPr lang="zh-CN" altLang="en-US" sz="1400" b="1" dirty="0" smtClean="0">
                <a:solidFill>
                  <a:srgbClr val="0000CC"/>
                </a:solidFill>
                <a:latin typeface="微软雅黑" panose="020B0503020204020204" pitchFamily="34" charset="-122"/>
                <a:ea typeface="微软雅黑" panose="020B0503020204020204" pitchFamily="34" charset="-122"/>
              </a:rPr>
              <a:t>如果</a:t>
            </a:r>
            <a:r>
              <a:rPr lang="zh-CN" altLang="en-US" sz="1400" b="1" dirty="0">
                <a:solidFill>
                  <a:srgbClr val="0000CC"/>
                </a:solidFill>
                <a:latin typeface="微软雅黑" panose="020B0503020204020204" pitchFamily="34" charset="-122"/>
                <a:ea typeface="微软雅黑" panose="020B0503020204020204" pitchFamily="34" charset="-122"/>
              </a:rPr>
              <a:t>要和另一</a:t>
            </a:r>
            <a:r>
              <a:rPr lang="zh-CN" altLang="en-US" sz="1400" b="1" dirty="0" smtClean="0">
                <a:solidFill>
                  <a:srgbClr val="0000CC"/>
                </a:solidFill>
                <a:latin typeface="微软雅黑" panose="020B0503020204020204" pitchFamily="34" charset="-122"/>
                <a:ea typeface="微软雅黑" panose="020B0503020204020204" pitchFamily="34" charset="-122"/>
              </a:rPr>
              <a:t>个 </a:t>
            </a:r>
            <a:r>
              <a:rPr lang="en-US" altLang="zh-CN" sz="1400" b="1" dirty="0" smtClean="0">
                <a:solidFill>
                  <a:srgbClr val="0000CC"/>
                </a:solidFill>
                <a:latin typeface="微软雅黑" panose="020B0503020204020204" pitchFamily="34" charset="-122"/>
                <a:ea typeface="微软雅黑" panose="020B0503020204020204" pitchFamily="34" charset="-122"/>
              </a:rPr>
              <a:t>BSS </a:t>
            </a:r>
            <a:r>
              <a:rPr lang="zh-CN" altLang="en-US" sz="1400" b="1" dirty="0" smtClean="0">
                <a:solidFill>
                  <a:srgbClr val="0000CC"/>
                </a:solidFill>
                <a:latin typeface="微软雅黑" panose="020B0503020204020204" pitchFamily="34" charset="-122"/>
                <a:ea typeface="微软雅黑" panose="020B0503020204020204" pitchFamily="34" charset="-122"/>
              </a:rPr>
              <a:t>中的移动站 </a:t>
            </a:r>
            <a:r>
              <a:rPr lang="en-US" altLang="zh-CN" sz="1400" b="1" dirty="0" smtClean="0">
                <a:solidFill>
                  <a:srgbClr val="0000CC"/>
                </a:solidFill>
                <a:latin typeface="微软雅黑" panose="020B0503020204020204" pitchFamily="34" charset="-122"/>
                <a:ea typeface="微软雅黑" panose="020B0503020204020204" pitchFamily="34" charset="-122"/>
              </a:rPr>
              <a:t>B </a:t>
            </a:r>
            <a:r>
              <a:rPr lang="zh-CN" altLang="en-US" sz="1400" b="1" dirty="0" smtClean="0">
                <a:solidFill>
                  <a:srgbClr val="0000CC"/>
                </a:solidFill>
                <a:latin typeface="微软雅黑" panose="020B0503020204020204" pitchFamily="34" charset="-122"/>
                <a:ea typeface="微软雅黑" panose="020B0503020204020204" pitchFamily="34" charset="-122"/>
              </a:rPr>
              <a:t>通信</a:t>
            </a:r>
            <a:r>
              <a:rPr lang="zh-CN" altLang="en-US" sz="1400" b="1" dirty="0">
                <a:solidFill>
                  <a:srgbClr val="0000CC"/>
                </a:solidFill>
                <a:latin typeface="微软雅黑" panose="020B0503020204020204" pitchFamily="34" charset="-122"/>
                <a:ea typeface="微软雅黑" panose="020B0503020204020204" pitchFamily="34" charset="-122"/>
              </a:rPr>
              <a:t>，就必须经过两个</a:t>
            </a:r>
            <a:r>
              <a:rPr lang="zh-CN" altLang="en-US" sz="1400" b="1" dirty="0" smtClean="0">
                <a:solidFill>
                  <a:srgbClr val="0000CC"/>
                </a:solidFill>
                <a:latin typeface="微软雅黑" panose="020B0503020204020204" pitchFamily="34" charset="-122"/>
                <a:ea typeface="微软雅黑" panose="020B0503020204020204" pitchFamily="34" charset="-122"/>
              </a:rPr>
              <a:t>接入点 </a:t>
            </a:r>
            <a:r>
              <a:rPr lang="en-US" altLang="zh-CN" sz="1400" b="1" dirty="0" smtClean="0">
                <a:solidFill>
                  <a:srgbClr val="0000CC"/>
                </a:solidFill>
                <a:latin typeface="微软雅黑" panose="020B0503020204020204" pitchFamily="34" charset="-122"/>
                <a:ea typeface="微软雅黑" panose="020B0503020204020204" pitchFamily="34" charset="-122"/>
              </a:rPr>
              <a:t>AP</a:t>
            </a:r>
            <a:r>
              <a:rPr lang="en-US" altLang="zh-CN" sz="1400" b="1" baseline="-25000" dirty="0" smtClean="0">
                <a:solidFill>
                  <a:srgbClr val="0000CC"/>
                </a:solidFill>
                <a:latin typeface="微软雅黑" panose="020B0503020204020204" pitchFamily="34" charset="-122"/>
                <a:ea typeface="微软雅黑" panose="020B0503020204020204" pitchFamily="34" charset="-122"/>
              </a:rPr>
              <a:t>1</a:t>
            </a:r>
            <a:r>
              <a:rPr lang="en-US" altLang="zh-CN" sz="1400" b="1" dirty="0" smtClean="0">
                <a:solidFill>
                  <a:srgbClr val="0000CC"/>
                </a:solidFill>
                <a:latin typeface="微软雅黑" panose="020B0503020204020204" pitchFamily="34" charset="-122"/>
                <a:ea typeface="微软雅黑" panose="020B0503020204020204" pitchFamily="34" charset="-122"/>
              </a:rPr>
              <a:t> </a:t>
            </a:r>
            <a:r>
              <a:rPr lang="zh-CN" altLang="en-US" sz="1400" b="1" dirty="0" smtClean="0">
                <a:solidFill>
                  <a:srgbClr val="0000CC"/>
                </a:solidFill>
                <a:latin typeface="微软雅黑" panose="020B0503020204020204" pitchFamily="34" charset="-122"/>
                <a:ea typeface="微软雅黑" panose="020B0503020204020204" pitchFamily="34" charset="-122"/>
              </a:rPr>
              <a:t>和 </a:t>
            </a:r>
            <a:r>
              <a:rPr lang="en-US" altLang="zh-CN" sz="1400" b="1" dirty="0" smtClean="0">
                <a:solidFill>
                  <a:srgbClr val="0000CC"/>
                </a:solidFill>
                <a:latin typeface="微软雅黑" panose="020B0503020204020204" pitchFamily="34" charset="-122"/>
                <a:ea typeface="微软雅黑" panose="020B0503020204020204" pitchFamily="34" charset="-122"/>
              </a:rPr>
              <a:t>AP</a:t>
            </a:r>
            <a:r>
              <a:rPr lang="en-US" altLang="zh-CN" sz="1400" b="1" baseline="-25000" dirty="0">
                <a:solidFill>
                  <a:srgbClr val="0000CC"/>
                </a:solidFill>
                <a:latin typeface="微软雅黑" panose="020B0503020204020204" pitchFamily="34" charset="-122"/>
                <a:ea typeface="微软雅黑" panose="020B0503020204020204" pitchFamily="34" charset="-122"/>
              </a:rPr>
              <a:t>2</a:t>
            </a:r>
            <a:r>
              <a:rPr lang="zh-CN" altLang="en-US" sz="1400" b="1" dirty="0">
                <a:solidFill>
                  <a:srgbClr val="0000CC"/>
                </a:solidFill>
                <a:latin typeface="微软雅黑" panose="020B0503020204020204" pitchFamily="34" charset="-122"/>
                <a:ea typeface="微软雅黑" panose="020B0503020204020204" pitchFamily="34" charset="-122"/>
              </a:rPr>
              <a:t>，</a:t>
            </a:r>
            <a:r>
              <a:rPr lang="zh-CN" altLang="en-US" sz="1400" b="1" dirty="0" smtClean="0">
                <a:solidFill>
                  <a:srgbClr val="0000CC"/>
                </a:solidFill>
                <a:latin typeface="微软雅黑" panose="020B0503020204020204" pitchFamily="34" charset="-122"/>
                <a:ea typeface="微软雅黑" panose="020B0503020204020204" pitchFamily="34" charset="-122"/>
              </a:rPr>
              <a:t>即 </a:t>
            </a:r>
            <a:r>
              <a:rPr lang="en-US" altLang="zh-CN" sz="1400" b="1" dirty="0" smtClean="0">
                <a:solidFill>
                  <a:srgbClr val="0000CC"/>
                </a:solidFill>
                <a:latin typeface="微软雅黑" panose="020B0503020204020204" pitchFamily="34" charset="-122"/>
                <a:ea typeface="微软雅黑" panose="020B0503020204020204" pitchFamily="34" charset="-122"/>
              </a:rPr>
              <a:t>A</a:t>
            </a:r>
            <a:r>
              <a:rPr lang="en-US" altLang="zh-CN" sz="1400" b="1" dirty="0">
                <a:solidFill>
                  <a:srgbClr val="0000CC"/>
                </a:solidFill>
                <a:latin typeface="微软雅黑" panose="020B0503020204020204" pitchFamily="34" charset="-122"/>
                <a:ea typeface="微软雅黑" panose="020B0503020204020204" pitchFamily="34" charset="-122"/>
              </a:rPr>
              <a:t>→AP</a:t>
            </a:r>
            <a:r>
              <a:rPr lang="en-US" altLang="zh-CN" sz="1400" b="1" baseline="-25000" dirty="0">
                <a:solidFill>
                  <a:srgbClr val="0000CC"/>
                </a:solidFill>
                <a:latin typeface="微软雅黑" panose="020B0503020204020204" pitchFamily="34" charset="-122"/>
                <a:ea typeface="微软雅黑" panose="020B0503020204020204" pitchFamily="34" charset="-122"/>
              </a:rPr>
              <a:t>1</a:t>
            </a:r>
            <a:r>
              <a:rPr lang="en-US" altLang="zh-CN" sz="1400" b="1" dirty="0">
                <a:solidFill>
                  <a:srgbClr val="0000CC"/>
                </a:solidFill>
                <a:latin typeface="微软雅黑" panose="020B0503020204020204" pitchFamily="34" charset="-122"/>
                <a:ea typeface="微软雅黑" panose="020B0503020204020204" pitchFamily="34" charset="-122"/>
              </a:rPr>
              <a:t>→AP</a:t>
            </a:r>
            <a:r>
              <a:rPr lang="en-US" altLang="zh-CN" sz="1400" b="1" baseline="-25000" dirty="0">
                <a:solidFill>
                  <a:srgbClr val="0000CC"/>
                </a:solidFill>
                <a:latin typeface="微软雅黑" panose="020B0503020204020204" pitchFamily="34" charset="-122"/>
                <a:ea typeface="微软雅黑" panose="020B0503020204020204" pitchFamily="34" charset="-122"/>
              </a:rPr>
              <a:t>2</a:t>
            </a:r>
            <a:r>
              <a:rPr lang="en-US" altLang="zh-CN" sz="1400" b="1" dirty="0">
                <a:solidFill>
                  <a:srgbClr val="0000CC"/>
                </a:solidFill>
                <a:latin typeface="微软雅黑" panose="020B0503020204020204" pitchFamily="34" charset="-122"/>
                <a:ea typeface="微软雅黑" panose="020B0503020204020204" pitchFamily="34" charset="-122"/>
              </a:rPr>
              <a:t>→B</a:t>
            </a:r>
            <a:r>
              <a:rPr lang="zh-CN" altLang="en-US" sz="1400" b="1" dirty="0" smtClean="0">
                <a:solidFill>
                  <a:srgbClr val="0000CC"/>
                </a:solidFill>
                <a:latin typeface="微软雅黑" panose="020B0503020204020204" pitchFamily="34" charset="-122"/>
                <a:ea typeface="微软雅黑" panose="020B0503020204020204" pitchFamily="34" charset="-122"/>
              </a:rPr>
              <a:t>。</a:t>
            </a:r>
            <a:endParaRPr lang="en-US" altLang="zh-CN" sz="1400" b="1" dirty="0" smtClean="0">
              <a:solidFill>
                <a:srgbClr val="C00000"/>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endParaRPr lang="en-US" altLang="zh-CN" sz="1200" b="1" dirty="0">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9217" name="VISIO" r:id="rId2" imgW="3514725" imgH="2009775" progId="">
                  <p:embed/>
                </p:oleObj>
              </mc:Choice>
              <mc:Fallback>
                <p:oleObj name="VISIO" r:id="rId2" imgW="3514725" imgH="2009775" progId="">
                  <p:embed/>
                  <p:pic>
                    <p:nvPicPr>
                      <p:cNvPr id="0" name="图片 9216"/>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309"/>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08"/>
                                        </p:tgtEl>
                                        <p:attrNameLst>
                                          <p:attrName>style.visibility</p:attrName>
                                        </p:attrNameLst>
                                      </p:cBhvr>
                                      <p:tavLst>
                                        <p:tav tm="0">
                                          <p:val>
                                            <p:strVal val="hidden"/>
                                          </p:val>
                                        </p:tav>
                                        <p:tav tm="50000">
                                          <p:val>
                                            <p:strVal val="visible"/>
                                          </p:val>
                                        </p:tav>
                                      </p:tavLst>
                                    </p:anim>
                                  </p:childTnLst>
                                </p:cTn>
                              </p:par>
                              <p:par>
                                <p:cTn id="9" presetID="35" presetClass="emph" presetSubtype="0" repeatCount="indefinite" fill="hold" grpId="0" nodeType="withEffect">
                                  <p:stCondLst>
                                    <p:cond delay="0"/>
                                  </p:stCondLst>
                                  <p:endCondLst>
                                    <p:cond evt="onNext" delay="0">
                                      <p:tgtEl>
                                        <p:sldTgt/>
                                      </p:tgtEl>
                                    </p:cond>
                                  </p:endCondLst>
                                  <p:childTnLst>
                                    <p:anim calcmode="discrete" valueType="str">
                                      <p:cBhvr>
                                        <p:cTn id="10" dur="1000" fill="hold"/>
                                        <p:tgtEl>
                                          <p:spTgt spid="312"/>
                                        </p:tgtEl>
                                        <p:attrNameLst>
                                          <p:attrName>style.visibility</p:attrName>
                                        </p:attrNameLst>
                                      </p:cBhvr>
                                      <p:tavLst>
                                        <p:tav tm="0">
                                          <p:val>
                                            <p:strVal val="hidden"/>
                                          </p:val>
                                        </p:tav>
                                        <p:tav tm="50000">
                                          <p:val>
                                            <p:strVal val="visible"/>
                                          </p:val>
                                        </p:tav>
                                      </p:tavLst>
                                    </p:anim>
                                  </p:childTnLst>
                                </p:cTn>
                              </p:par>
                              <p:par>
                                <p:cTn id="11" presetID="35" presetClass="emph" presetSubtype="0" repeatCount="indefinite" fill="hold" grpId="0" nodeType="withEffect">
                                  <p:stCondLst>
                                    <p:cond delay="0"/>
                                  </p:stCondLst>
                                  <p:endCondLst>
                                    <p:cond evt="onNext" delay="0">
                                      <p:tgtEl>
                                        <p:sldTgt/>
                                      </p:tgtEl>
                                    </p:cond>
                                  </p:endCondLst>
                                  <p:childTnLst>
                                    <p:anim calcmode="discrete" valueType="str">
                                      <p:cBhvr>
                                        <p:cTn id="12"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 grpId="0"/>
      <p:bldP spid="309" grpId="0"/>
      <p:bldP spid="312" grpId="0"/>
      <p:bldP spid="31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smtClean="0">
                <a:solidFill>
                  <a:srgbClr val="0000CC"/>
                </a:solidFill>
                <a:latin typeface="微软雅黑" panose="020B0503020204020204" pitchFamily="34" charset="-122"/>
                <a:ea typeface="微软雅黑" panose="020B0503020204020204" pitchFamily="34" charset="-122"/>
              </a:rPr>
              <a:t>移动站 </a:t>
            </a:r>
            <a:r>
              <a:rPr lang="en-US" altLang="zh-CN" sz="1400" b="1" dirty="0" smtClean="0">
                <a:solidFill>
                  <a:srgbClr val="0000CC"/>
                </a:solidFill>
                <a:latin typeface="微软雅黑" panose="020B0503020204020204" pitchFamily="34" charset="-122"/>
                <a:ea typeface="微软雅黑" panose="020B0503020204020204" pitchFamily="34" charset="-122"/>
              </a:rPr>
              <a:t>A </a:t>
            </a:r>
            <a:r>
              <a:rPr lang="zh-CN" altLang="en-US" sz="1400" b="1" dirty="0" smtClean="0">
                <a:solidFill>
                  <a:srgbClr val="0000CC"/>
                </a:solidFill>
                <a:latin typeface="微软雅黑" panose="020B0503020204020204" pitchFamily="34" charset="-122"/>
                <a:ea typeface="微软雅黑" panose="020B0503020204020204" pitchFamily="34" charset="-122"/>
              </a:rPr>
              <a:t>漫游到位置 </a:t>
            </a:r>
            <a:r>
              <a:rPr lang="en-US" altLang="zh-CN" sz="1400" b="1" dirty="0" smtClean="0">
                <a:solidFill>
                  <a:srgbClr val="0000CC"/>
                </a:solidFill>
                <a:latin typeface="微软雅黑" panose="020B0503020204020204" pitchFamily="34" charset="-122"/>
                <a:ea typeface="微软雅黑" panose="020B0503020204020204" pitchFamily="34" charset="-122"/>
              </a:rPr>
              <a:t>A</a:t>
            </a:r>
            <a:r>
              <a:rPr lang="en-US" altLang="zh-CN" sz="1400" b="1" baseline="-25000" dirty="0" smtClean="0">
                <a:solidFill>
                  <a:srgbClr val="0000CC"/>
                </a:solidFill>
                <a:latin typeface="微软雅黑" panose="020B0503020204020204" pitchFamily="34" charset="-122"/>
                <a:ea typeface="微软雅黑" panose="020B0503020204020204" pitchFamily="34" charset="-122"/>
              </a:rPr>
              <a:t>1</a:t>
            </a:r>
            <a:r>
              <a:rPr lang="en-US" altLang="zh-CN" sz="1400" b="1" dirty="0" smtClean="0">
                <a:solidFill>
                  <a:srgbClr val="0000CC"/>
                </a:solidFill>
                <a:latin typeface="微软雅黑" panose="020B0503020204020204" pitchFamily="34" charset="-122"/>
                <a:ea typeface="微软雅黑" panose="020B0503020204020204" pitchFamily="34" charset="-122"/>
              </a:rPr>
              <a:t> </a:t>
            </a:r>
            <a:r>
              <a:rPr lang="zh-CN" altLang="en-US" sz="1400" b="1" dirty="0" smtClean="0">
                <a:solidFill>
                  <a:srgbClr val="0000CC"/>
                </a:solidFill>
                <a:latin typeface="微软雅黑" panose="020B0503020204020204" pitchFamily="34" charset="-122"/>
                <a:ea typeface="微软雅黑" panose="020B0503020204020204" pitchFamily="34" charset="-122"/>
              </a:rPr>
              <a:t>时，选择</a:t>
            </a:r>
            <a:r>
              <a:rPr lang="zh-CN" altLang="en-US" sz="1400" b="1" dirty="0">
                <a:solidFill>
                  <a:srgbClr val="0000CC"/>
                </a:solidFill>
                <a:latin typeface="微软雅黑" panose="020B0503020204020204" pitchFamily="34" charset="-122"/>
                <a:ea typeface="微软雅黑" panose="020B0503020204020204" pitchFamily="34" charset="-122"/>
              </a:rPr>
              <a:t>和信号较强的一</a:t>
            </a:r>
            <a:r>
              <a:rPr lang="zh-CN" altLang="en-US" sz="1400" b="1" dirty="0" smtClean="0">
                <a:solidFill>
                  <a:srgbClr val="0000CC"/>
                </a:solidFill>
                <a:latin typeface="微软雅黑" panose="020B0503020204020204" pitchFamily="34" charset="-122"/>
                <a:ea typeface="微软雅黑" panose="020B0503020204020204" pitchFamily="34" charset="-122"/>
              </a:rPr>
              <a:t>个 </a:t>
            </a:r>
            <a:r>
              <a:rPr lang="en-US" altLang="zh-CN" sz="1400" b="1" dirty="0" smtClean="0">
                <a:solidFill>
                  <a:srgbClr val="0000CC"/>
                </a:solidFill>
                <a:latin typeface="微软雅黑" panose="020B0503020204020204" pitchFamily="34" charset="-122"/>
                <a:ea typeface="微软雅黑" panose="020B0503020204020204" pitchFamily="34" charset="-122"/>
              </a:rPr>
              <a:t>AP </a:t>
            </a:r>
            <a:r>
              <a:rPr lang="zh-CN" altLang="en-US" sz="1400" b="1" dirty="0" smtClean="0">
                <a:solidFill>
                  <a:srgbClr val="0000CC"/>
                </a:solidFill>
                <a:latin typeface="微软雅黑" panose="020B0503020204020204" pitchFamily="34" charset="-122"/>
                <a:ea typeface="微软雅黑" panose="020B0503020204020204" pitchFamily="34" charset="-122"/>
              </a:rPr>
              <a:t>联系</a:t>
            </a:r>
            <a:r>
              <a:rPr lang="zh-CN" altLang="en-US" sz="1400" b="1" dirty="0">
                <a:solidFill>
                  <a:srgbClr val="0000CC"/>
                </a:solidFill>
                <a:latin typeface="微软雅黑" panose="020B0503020204020204" pitchFamily="34" charset="-122"/>
                <a:ea typeface="微软雅黑" panose="020B0503020204020204" pitchFamily="34" charset="-122"/>
              </a:rPr>
              <a:t>。</a:t>
            </a:r>
            <a:r>
              <a:rPr lang="zh-CN" altLang="en-US" sz="1400" b="1" dirty="0" smtClean="0">
                <a:solidFill>
                  <a:srgbClr val="0000CC"/>
                </a:solidFill>
                <a:latin typeface="微软雅黑" panose="020B0503020204020204" pitchFamily="34" charset="-122"/>
                <a:ea typeface="微软雅黑" panose="020B0503020204020204" pitchFamily="34" charset="-122"/>
              </a:rPr>
              <a:t>当漫游</a:t>
            </a:r>
            <a:r>
              <a:rPr lang="zh-CN" altLang="en-US" sz="1400" b="1" dirty="0">
                <a:solidFill>
                  <a:srgbClr val="0000CC"/>
                </a:solidFill>
                <a:latin typeface="微软雅黑" panose="020B0503020204020204" pitchFamily="34" charset="-122"/>
                <a:ea typeface="微软雅黑" panose="020B0503020204020204" pitchFamily="34" charset="-122"/>
              </a:rPr>
              <a:t>到</a:t>
            </a:r>
            <a:r>
              <a:rPr lang="zh-CN" altLang="en-US" sz="1400" b="1" dirty="0" smtClean="0">
                <a:solidFill>
                  <a:srgbClr val="0000CC"/>
                </a:solidFill>
                <a:latin typeface="微软雅黑" panose="020B0503020204020204" pitchFamily="34" charset="-122"/>
                <a:ea typeface="微软雅黑" panose="020B0503020204020204" pitchFamily="34" charset="-122"/>
              </a:rPr>
              <a:t>位置 </a:t>
            </a:r>
            <a:r>
              <a:rPr lang="en-US" altLang="zh-CN" sz="1400" b="1" dirty="0" smtClean="0">
                <a:solidFill>
                  <a:srgbClr val="0000CC"/>
                </a:solidFill>
                <a:latin typeface="微软雅黑" panose="020B0503020204020204" pitchFamily="34" charset="-122"/>
                <a:ea typeface="微软雅黑" panose="020B0503020204020204" pitchFamily="34" charset="-122"/>
              </a:rPr>
              <a:t>A</a:t>
            </a:r>
            <a:r>
              <a:rPr lang="en-US" altLang="zh-CN" sz="1400" b="1" baseline="-25000" dirty="0">
                <a:solidFill>
                  <a:srgbClr val="0000CC"/>
                </a:solidFill>
                <a:latin typeface="微软雅黑" panose="020B0503020204020204" pitchFamily="34" charset="-122"/>
                <a:ea typeface="微软雅黑" panose="020B0503020204020204" pitchFamily="34" charset="-122"/>
              </a:rPr>
              <a:t>2</a:t>
            </a:r>
            <a:r>
              <a:rPr lang="en-US" altLang="zh-CN" sz="1400" b="1" dirty="0" smtClean="0">
                <a:solidFill>
                  <a:srgbClr val="0000CC"/>
                </a:solidFill>
                <a:latin typeface="微软雅黑" panose="020B0503020204020204" pitchFamily="34" charset="-122"/>
                <a:ea typeface="微软雅黑" panose="020B0503020204020204" pitchFamily="34" charset="-122"/>
              </a:rPr>
              <a:t> </a:t>
            </a:r>
            <a:r>
              <a:rPr lang="zh-CN" altLang="en-US" sz="1400" b="1" dirty="0" smtClean="0">
                <a:solidFill>
                  <a:srgbClr val="0000CC"/>
                </a:solidFill>
                <a:latin typeface="微软雅黑" panose="020B0503020204020204" pitchFamily="34" charset="-122"/>
                <a:ea typeface="微软雅黑" panose="020B0503020204020204" pitchFamily="34" charset="-122"/>
              </a:rPr>
              <a:t>时</a:t>
            </a:r>
            <a:r>
              <a:rPr lang="zh-CN" altLang="en-US" sz="1400" b="1" dirty="0">
                <a:solidFill>
                  <a:srgbClr val="0000CC"/>
                </a:solidFill>
                <a:latin typeface="微软雅黑" panose="020B0503020204020204" pitchFamily="34" charset="-122"/>
                <a:ea typeface="微软雅黑" panose="020B0503020204020204" pitchFamily="34" charset="-122"/>
              </a:rPr>
              <a:t>，就只能</a:t>
            </a:r>
            <a:r>
              <a:rPr lang="zh-CN" altLang="en-US" sz="1400" b="1" dirty="0" smtClean="0">
                <a:solidFill>
                  <a:srgbClr val="0000CC"/>
                </a:solidFill>
                <a:latin typeface="微软雅黑" panose="020B0503020204020204" pitchFamily="34" charset="-122"/>
                <a:ea typeface="微软雅黑" panose="020B0503020204020204" pitchFamily="34" charset="-122"/>
              </a:rPr>
              <a:t>和 </a:t>
            </a:r>
            <a:r>
              <a:rPr lang="en-US" altLang="zh-CN" sz="1400" b="1" dirty="0" smtClean="0">
                <a:solidFill>
                  <a:srgbClr val="0000CC"/>
                </a:solidFill>
                <a:latin typeface="微软雅黑" panose="020B0503020204020204" pitchFamily="34" charset="-122"/>
                <a:ea typeface="微软雅黑" panose="020B0503020204020204" pitchFamily="34" charset="-122"/>
              </a:rPr>
              <a:t>AP</a:t>
            </a:r>
            <a:r>
              <a:rPr lang="en-US" altLang="zh-CN" sz="1400" b="1" baseline="-25000" dirty="0">
                <a:solidFill>
                  <a:srgbClr val="0000CC"/>
                </a:solidFill>
                <a:latin typeface="微软雅黑" panose="020B0503020204020204" pitchFamily="34" charset="-122"/>
                <a:ea typeface="微软雅黑" panose="020B0503020204020204" pitchFamily="34" charset="-122"/>
              </a:rPr>
              <a:t>2</a:t>
            </a:r>
            <a:r>
              <a:rPr lang="en-US" altLang="zh-CN" sz="1400" b="1" dirty="0" smtClean="0">
                <a:solidFill>
                  <a:srgbClr val="0000CC"/>
                </a:solidFill>
                <a:latin typeface="微软雅黑" panose="020B0503020204020204" pitchFamily="34" charset="-122"/>
                <a:ea typeface="微软雅黑" panose="020B0503020204020204" pitchFamily="34" charset="-122"/>
              </a:rPr>
              <a:t> </a:t>
            </a:r>
            <a:r>
              <a:rPr lang="zh-CN" altLang="en-US" sz="1400" b="1" dirty="0" smtClean="0">
                <a:solidFill>
                  <a:srgbClr val="0000CC"/>
                </a:solidFill>
                <a:latin typeface="微软雅黑" panose="020B0503020204020204" pitchFamily="34" charset="-122"/>
                <a:ea typeface="微软雅黑" panose="020B0503020204020204" pitchFamily="34" charset="-122"/>
              </a:rPr>
              <a:t>联系了。</a:t>
            </a:r>
            <a:endParaRPr lang="en-US" altLang="zh-CN" sz="1400" b="1" dirty="0" smtClean="0">
              <a:solidFill>
                <a:srgbClr val="C00000"/>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10241" name="VISIO" r:id="rId2" imgW="3514725" imgH="2009775" progId="">
                  <p:embed/>
                </p:oleObj>
              </mc:Choice>
              <mc:Fallback>
                <p:oleObj name="VISIO" r:id="rId2" imgW="3514725" imgH="2009775" progId="">
                  <p:embed/>
                  <p:pic>
                    <p:nvPicPr>
                      <p:cNvPr id="0" name="图片 10240"/>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smtClean="0">
                <a:latin typeface="微软雅黑" panose="020B0503020204020204" pitchFamily="34" charset="-122"/>
                <a:ea typeface="微软雅黑" panose="020B0503020204020204" pitchFamily="34" charset="-122"/>
              </a:rPr>
              <a:t>BSS </a:t>
            </a:r>
            <a:r>
              <a:rPr lang="zh-CN" altLang="en-US" sz="1600" b="1" dirty="0" smtClean="0">
                <a:latin typeface="微软雅黑" panose="020B0503020204020204" pitchFamily="34" charset="-122"/>
                <a:ea typeface="微软雅黑" panose="020B0503020204020204" pitchFamily="34" charset="-122"/>
              </a:rPr>
              <a:t>的</a:t>
            </a:r>
            <a:r>
              <a:rPr lang="zh-CN" altLang="en-US" sz="1600" b="1" dirty="0">
                <a:latin typeface="微软雅黑" panose="020B0503020204020204" pitchFamily="34" charset="-122"/>
                <a:ea typeface="微软雅黑" panose="020B0503020204020204" pitchFamily="34" charset="-122"/>
              </a:rPr>
              <a:t>服务范围是</a:t>
            </a:r>
            <a:r>
              <a:rPr lang="zh-CN" altLang="en-US" sz="1600" b="1" dirty="0" smtClean="0">
                <a:latin typeface="微软雅黑" panose="020B0503020204020204" pitchFamily="34" charset="-122"/>
                <a:ea typeface="微软雅黑" panose="020B0503020204020204" pitchFamily="34" charset="-122"/>
              </a:rPr>
              <a:t>由 </a:t>
            </a:r>
            <a:r>
              <a:rPr lang="en-US" altLang="zh-CN" sz="1600" b="1" dirty="0" smtClean="0">
                <a:latin typeface="微软雅黑" panose="020B0503020204020204" pitchFamily="34" charset="-122"/>
                <a:ea typeface="微软雅黑" panose="020B0503020204020204" pitchFamily="34" charset="-122"/>
              </a:rPr>
              <a:t>AP </a:t>
            </a:r>
            <a:r>
              <a:rPr lang="zh-CN" altLang="en-US" sz="1600" b="1" dirty="0" smtClean="0">
                <a:latin typeface="微软雅黑" panose="020B0503020204020204" pitchFamily="34" charset="-122"/>
                <a:ea typeface="微软雅黑" panose="020B0503020204020204" pitchFamily="34" charset="-122"/>
              </a:rPr>
              <a:t>所</a:t>
            </a:r>
            <a:r>
              <a:rPr lang="zh-CN" altLang="en-US" sz="1600" b="1" dirty="0">
                <a:latin typeface="微软雅黑" panose="020B0503020204020204" pitchFamily="34" charset="-122"/>
                <a:ea typeface="微软雅黑" panose="020B0503020204020204" pitchFamily="34" charset="-122"/>
              </a:rPr>
              <a:t>发射的电磁波的辐射范围确定的。</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10"/>
                                        </p:tgtEl>
                                        <p:attrNameLst>
                                          <p:attrName>style.visibility</p:attrName>
                                        </p:attrNameLst>
                                      </p:cBhvr>
                                      <p:to>
                                        <p:strVal val="visible"/>
                                      </p:to>
                                    </p:set>
                                    <p:animEffect transition="in" filter="wipe(left)">
                                      <p:cBhvr>
                                        <p:cTn id="7" dur="1000"/>
                                        <p:tgtEl>
                                          <p:spTgt spid="310"/>
                                        </p:tgtEl>
                                      </p:cBhvr>
                                    </p:animEffect>
                                  </p:childTnLst>
                                </p:cTn>
                              </p:par>
                            </p:childTnLst>
                          </p:cTn>
                        </p:par>
                        <p:par>
                          <p:cTn id="8" fill="hold">
                            <p:stCondLst>
                              <p:cond delay="1000"/>
                            </p:stCondLst>
                            <p:childTnLst>
                              <p:par>
                                <p:cTn id="9" presetID="22" presetClass="entr" presetSubtype="8" fill="hold" grpId="0" nodeType="afterEffect">
                                  <p:stCondLst>
                                    <p:cond delay="1000"/>
                                  </p:stCondLst>
                                  <p:childTnLst>
                                    <p:set>
                                      <p:cBhvr>
                                        <p:cTn id="10" dur="1" fill="hold">
                                          <p:stCondLst>
                                            <p:cond delay="0"/>
                                          </p:stCondLst>
                                        </p:cTn>
                                        <p:tgtEl>
                                          <p:spTgt spid="395"/>
                                        </p:tgtEl>
                                        <p:attrNameLst>
                                          <p:attrName>style.visibility</p:attrName>
                                        </p:attrNameLst>
                                      </p:cBhvr>
                                      <p:to>
                                        <p:strVal val="visible"/>
                                      </p:to>
                                    </p:set>
                                    <p:animEffect transition="in" filter="wipe(left)">
                                      <p:cBhvr>
                                        <p:cTn id="11" dur="1000"/>
                                        <p:tgtEl>
                                          <p:spTgt spid="3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 grpId="0" animBg="1"/>
      <p:bldP spid="39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a:solidFill>
                  <a:srgbClr val="0000CC"/>
                </a:solidFill>
                <a:latin typeface="微软雅黑" panose="020B0503020204020204" pitchFamily="34" charset="-122"/>
                <a:ea typeface="微软雅黑" panose="020B0503020204020204" pitchFamily="34" charset="-122"/>
              </a:rPr>
              <a:t>移动站只要能够和其中一</a:t>
            </a:r>
            <a:r>
              <a:rPr lang="zh-CN" altLang="en-US" sz="1400" b="1" dirty="0" smtClean="0">
                <a:solidFill>
                  <a:srgbClr val="0000CC"/>
                </a:solidFill>
                <a:latin typeface="微软雅黑" panose="020B0503020204020204" pitchFamily="34" charset="-122"/>
                <a:ea typeface="微软雅黑" panose="020B0503020204020204" pitchFamily="34" charset="-122"/>
              </a:rPr>
              <a:t>个 </a:t>
            </a:r>
            <a:r>
              <a:rPr lang="en-US" altLang="zh-CN" sz="1400" b="1" dirty="0" smtClean="0">
                <a:solidFill>
                  <a:srgbClr val="0000CC"/>
                </a:solidFill>
                <a:latin typeface="微软雅黑" panose="020B0503020204020204" pitchFamily="34" charset="-122"/>
                <a:ea typeface="微软雅黑" panose="020B0503020204020204" pitchFamily="34" charset="-122"/>
              </a:rPr>
              <a:t>AP </a:t>
            </a:r>
            <a:r>
              <a:rPr lang="zh-CN" altLang="en-US" sz="1400" b="1" dirty="0" smtClean="0">
                <a:solidFill>
                  <a:srgbClr val="0000CC"/>
                </a:solidFill>
                <a:latin typeface="微软雅黑" panose="020B0503020204020204" pitchFamily="34" charset="-122"/>
                <a:ea typeface="微软雅黑" panose="020B0503020204020204" pitchFamily="34" charset="-122"/>
              </a:rPr>
              <a:t>联系</a:t>
            </a:r>
            <a:r>
              <a:rPr lang="zh-CN" altLang="en-US" sz="1400" b="1" dirty="0">
                <a:solidFill>
                  <a:srgbClr val="0000CC"/>
                </a:solidFill>
                <a:latin typeface="微软雅黑" panose="020B0503020204020204" pitchFamily="34" charset="-122"/>
                <a:ea typeface="微软雅黑" panose="020B0503020204020204" pitchFamily="34" charset="-122"/>
              </a:rPr>
              <a:t>上，</a:t>
            </a:r>
            <a:r>
              <a:rPr lang="zh-CN" altLang="en-US" sz="1400" b="1" dirty="0" smtClean="0">
                <a:solidFill>
                  <a:srgbClr val="0000CC"/>
                </a:solidFill>
                <a:latin typeface="微软雅黑" panose="020B0503020204020204" pitchFamily="34" charset="-122"/>
                <a:ea typeface="微软雅黑" panose="020B0503020204020204" pitchFamily="34" charset="-122"/>
              </a:rPr>
              <a:t>就可以一直保持</a:t>
            </a:r>
            <a:r>
              <a:rPr lang="zh-CN" altLang="en-US" sz="1400" b="1" dirty="0">
                <a:solidFill>
                  <a:srgbClr val="0000CC"/>
                </a:solidFill>
                <a:latin typeface="微软雅黑" panose="020B0503020204020204" pitchFamily="34" charset="-122"/>
                <a:ea typeface="微软雅黑" panose="020B0503020204020204" pitchFamily="34" charset="-122"/>
              </a:rPr>
              <a:t>与另一个</a:t>
            </a:r>
            <a:r>
              <a:rPr lang="zh-CN" altLang="en-US" sz="1400" b="1" dirty="0" smtClean="0">
                <a:solidFill>
                  <a:srgbClr val="0000CC"/>
                </a:solidFill>
                <a:latin typeface="微软雅黑" panose="020B0503020204020204" pitchFamily="34" charset="-122"/>
                <a:ea typeface="微软雅黑" panose="020B0503020204020204" pitchFamily="34" charset="-122"/>
              </a:rPr>
              <a:t>移动站 </a:t>
            </a:r>
            <a:r>
              <a:rPr lang="en-US" altLang="zh-CN" sz="1400" b="1" dirty="0" smtClean="0">
                <a:solidFill>
                  <a:srgbClr val="0000CC"/>
                </a:solidFill>
                <a:latin typeface="微软雅黑" panose="020B0503020204020204" pitchFamily="34" charset="-122"/>
                <a:ea typeface="微软雅黑" panose="020B0503020204020204" pitchFamily="34" charset="-122"/>
              </a:rPr>
              <a:t>B </a:t>
            </a:r>
            <a:r>
              <a:rPr lang="zh-CN" altLang="en-US" sz="1400" b="1" dirty="0" smtClean="0">
                <a:solidFill>
                  <a:srgbClr val="0000CC"/>
                </a:solidFill>
                <a:latin typeface="微软雅黑" panose="020B0503020204020204" pitchFamily="34" charset="-122"/>
                <a:ea typeface="微软雅黑" panose="020B0503020204020204" pitchFamily="34" charset="-122"/>
              </a:rPr>
              <a:t>的</a:t>
            </a:r>
            <a:r>
              <a:rPr lang="zh-CN" altLang="en-US" sz="1400" b="1" dirty="0">
                <a:solidFill>
                  <a:srgbClr val="0000CC"/>
                </a:solidFill>
                <a:latin typeface="微软雅黑" panose="020B0503020204020204" pitchFamily="34" charset="-122"/>
                <a:ea typeface="微软雅黑" panose="020B0503020204020204" pitchFamily="34" charset="-122"/>
              </a:rPr>
              <a:t>通信</a:t>
            </a:r>
            <a:r>
              <a:rPr lang="zh-CN" altLang="en-US" sz="1400" b="1" dirty="0" smtClean="0">
                <a:solidFill>
                  <a:srgbClr val="0000CC"/>
                </a:solidFill>
                <a:latin typeface="微软雅黑" panose="020B0503020204020204" pitchFamily="34" charset="-122"/>
                <a:ea typeface="微软雅黑" panose="020B0503020204020204" pitchFamily="34" charset="-122"/>
              </a:rPr>
              <a:t>。</a:t>
            </a:r>
            <a:endParaRPr lang="en-US" altLang="zh-CN" sz="1400" b="1" dirty="0" smtClean="0">
              <a:solidFill>
                <a:srgbClr val="C00000"/>
              </a:solidFill>
              <a:latin typeface="微软雅黑" panose="020B0503020204020204" pitchFamily="34" charset="-122"/>
              <a:ea typeface="微软雅黑" panose="020B0503020204020204"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IEEE 802.11</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spid="_x0000_s11265" name="VISIO" r:id="rId2" imgW="3514725" imgH="2009775" progId="">
                  <p:embed/>
                </p:oleObj>
              </mc:Choice>
              <mc:Fallback>
                <p:oleObj name="VISIO" r:id="rId2" imgW="3514725" imgH="2009775" progId="">
                  <p:embed/>
                  <p:pic>
                    <p:nvPicPr>
                      <p:cNvPr id="0" name="图片 11264"/>
                      <p:cNvPicPr>
                        <a:picLocks noChangeAspect="1"/>
                      </p:cNvPicPr>
                      <p:nvPr/>
                    </p:nvPicPr>
                    <p:blipFill>
                      <a:blip r:embed="rId3"/>
                      <a:stretch>
                        <a:fillRect/>
                      </a:stretch>
                    </p:blipFill>
                    <p:spPr>
                      <a:xfrm>
                        <a:off x="7302043" y="1625466"/>
                        <a:ext cx="1081382" cy="738978"/>
                      </a:xfrm>
                      <a:prstGeom prst="rect">
                        <a:avLst/>
                      </a:prstGeom>
                      <a:noFill/>
                      <a:ln w="9525">
                        <a:noFill/>
                      </a:ln>
                      <a:effectLst>
                        <a:outerShdw dist="25400" dir="5400000" algn="ctr" rotWithShape="0">
                          <a:srgbClr val="EEECE1"/>
                        </a:outerShdw>
                      </a:effec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endParaRPr lang="zh-CN" altLang="en-US" sz="1200" b="1" dirty="0">
              <a:solidFill>
                <a:srgbClr val="000099"/>
              </a:solidFill>
              <a:latin typeface="微软雅黑" panose="020B0503020204020204" pitchFamily="34" charset="-122"/>
              <a:ea typeface="微软雅黑" panose="020B0503020204020204" pitchFamily="34" charset="-122"/>
            </a:endParaRPr>
          </a:p>
        </p:txBody>
      </p:sp>
      <p:sp>
        <p:nvSpPr>
          <p:cNvPr id="321" name="Freeform 301"/>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endParaRPr lang="en-US" altLang="zh-CN" sz="1200" b="1" dirty="0">
              <a:solidFill>
                <a:srgbClr val="9900CC"/>
              </a:solidFill>
              <a:latin typeface="微软雅黑" panose="020B0503020204020204" pitchFamily="34" charset="-122"/>
              <a:ea typeface="微软雅黑" panose="020B0503020204020204" pitchFamily="34" charset="-122"/>
            </a:endParaRPr>
          </a:p>
        </p:txBody>
      </p:sp>
      <p:pic>
        <p:nvPicPr>
          <p:cNvPr id="326" name="Picture 30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endParaRPr lang="zh-CN" altLang="en-US" sz="1200" b="1" dirty="0">
              <a:latin typeface="微软雅黑" panose="020B0503020204020204" pitchFamily="34" charset="-122"/>
              <a:ea typeface="微软雅黑" panose="020B0503020204020204" pitchFamily="34" charset="-122"/>
            </a:endParaRP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endParaRPr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endParaRP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endParaRPr lang="zh-CN" altLang="en-US" sz="1200" b="1">
              <a:latin typeface="微软雅黑" panose="020B0503020204020204" pitchFamily="34" charset="-122"/>
              <a:ea typeface="微软雅黑" panose="020B0503020204020204" pitchFamily="34" charset="-122"/>
            </a:endParaRPr>
          </a:p>
        </p:txBody>
      </p:sp>
      <p:grpSp>
        <p:nvGrpSpPr>
          <p:cNvPr id="416" name="组合 415"/>
          <p:cNvGrpSpPr/>
          <p:nvPr/>
        </p:nvGrpSpPr>
        <p:grpSpPr>
          <a:xfrm>
            <a:off x="1437803" y="3131308"/>
            <a:ext cx="558674" cy="429804"/>
            <a:chOff x="4406004" y="4260453"/>
            <a:chExt cx="558674" cy="429804"/>
          </a:xfrm>
        </p:grpSpPr>
        <p:grpSp>
          <p:nvGrpSpPr>
            <p:cNvPr id="417" name="Group 460"/>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smtClean="0">
                <a:latin typeface="微软雅黑" panose="020B0503020204020204" pitchFamily="34" charset="-122"/>
                <a:ea typeface="微软雅黑" panose="020B0503020204020204" pitchFamily="34" charset="-122"/>
              </a:rPr>
              <a:t>BSS </a:t>
            </a:r>
            <a:r>
              <a:rPr lang="zh-CN" altLang="en-US" sz="1600" b="1" dirty="0" smtClean="0">
                <a:latin typeface="微软雅黑" panose="020B0503020204020204" pitchFamily="34" charset="-122"/>
                <a:ea typeface="微软雅黑" panose="020B0503020204020204" pitchFamily="34" charset="-122"/>
              </a:rPr>
              <a:t>的</a:t>
            </a:r>
            <a:r>
              <a:rPr lang="zh-CN" altLang="en-US" sz="1600" b="1" dirty="0">
                <a:latin typeface="微软雅黑" panose="020B0503020204020204" pitchFamily="34" charset="-122"/>
                <a:ea typeface="微软雅黑" panose="020B0503020204020204" pitchFamily="34" charset="-122"/>
              </a:rPr>
              <a:t>服务范围是</a:t>
            </a:r>
            <a:r>
              <a:rPr lang="zh-CN" altLang="en-US" sz="1600" b="1" dirty="0" smtClean="0">
                <a:latin typeface="微软雅黑" panose="020B0503020204020204" pitchFamily="34" charset="-122"/>
                <a:ea typeface="微软雅黑" panose="020B0503020204020204" pitchFamily="34" charset="-122"/>
              </a:rPr>
              <a:t>由 </a:t>
            </a:r>
            <a:r>
              <a:rPr lang="en-US" altLang="zh-CN" sz="1600" b="1" dirty="0" smtClean="0">
                <a:latin typeface="微软雅黑" panose="020B0503020204020204" pitchFamily="34" charset="-122"/>
                <a:ea typeface="微软雅黑" panose="020B0503020204020204" pitchFamily="34" charset="-122"/>
              </a:rPr>
              <a:t>AP </a:t>
            </a:r>
            <a:r>
              <a:rPr lang="zh-CN" altLang="en-US" sz="1600" b="1" dirty="0" smtClean="0">
                <a:latin typeface="微软雅黑" panose="020B0503020204020204" pitchFamily="34" charset="-122"/>
                <a:ea typeface="微软雅黑" panose="020B0503020204020204" pitchFamily="34" charset="-122"/>
              </a:rPr>
              <a:t>所</a:t>
            </a:r>
            <a:r>
              <a:rPr lang="zh-CN" altLang="en-US" sz="1600" b="1" dirty="0">
                <a:latin typeface="微软雅黑" panose="020B0503020204020204" pitchFamily="34" charset="-122"/>
                <a:ea typeface="微软雅黑" panose="020B0503020204020204" pitchFamily="34" charset="-122"/>
              </a:rPr>
              <a:t>发射的电磁波的辐射范围确定的。</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24144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solidFill>
                  <a:srgbClr val="0000FF"/>
                </a:solidFill>
                <a:latin typeface="微软雅黑" panose="020B0503020204020204" pitchFamily="34" charset="-122"/>
                <a:ea typeface="微软雅黑" panose="020B0503020204020204" pitchFamily="34" charset="-122"/>
              </a:rPr>
              <a:t>关联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association)</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43809"/>
            <a:ext cx="823718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一个移动站若要加入到一</a:t>
            </a:r>
            <a:r>
              <a:rPr lang="zh-CN" altLang="en-US" sz="2000" b="1" dirty="0" smtClean="0">
                <a:latin typeface="微软雅黑" panose="020B0503020204020204" pitchFamily="34" charset="-122"/>
                <a:ea typeface="微软雅黑" panose="020B0503020204020204" pitchFamily="34" charset="-122"/>
              </a:rPr>
              <a:t>个 </a:t>
            </a:r>
            <a:r>
              <a:rPr lang="en-US" altLang="zh-CN" sz="2000" b="1" dirty="0" smtClean="0">
                <a:latin typeface="微软雅黑" panose="020B0503020204020204" pitchFamily="34" charset="-122"/>
                <a:ea typeface="微软雅黑" panose="020B0503020204020204" pitchFamily="34" charset="-122"/>
              </a:rPr>
              <a:t>BSS</a:t>
            </a:r>
            <a:r>
              <a:rPr lang="zh-CN" altLang="en-US" sz="2000" b="1" dirty="0">
                <a:latin typeface="微软雅黑" panose="020B0503020204020204" pitchFamily="34" charset="-122"/>
                <a:ea typeface="微软雅黑" panose="020B0503020204020204" pitchFamily="34" charset="-122"/>
              </a:rPr>
              <a:t>，就必须</a:t>
            </a:r>
            <a:r>
              <a:rPr lang="zh-CN" altLang="en-US" sz="2000" b="1" dirty="0" smtClean="0">
                <a:latin typeface="微软雅黑" panose="020B0503020204020204" pitchFamily="34" charset="-122"/>
                <a:ea typeface="微软雅黑" panose="020B0503020204020204" pitchFamily="34" charset="-122"/>
              </a:rPr>
              <a:t>先与某个 </a:t>
            </a:r>
            <a:r>
              <a:rPr lang="en-US" altLang="zh-CN" sz="2000" b="1" dirty="0" smtClean="0">
                <a:latin typeface="微软雅黑" panose="020B0503020204020204" pitchFamily="34" charset="-122"/>
                <a:ea typeface="微软雅黑" panose="020B0503020204020204" pitchFamily="34" charset="-122"/>
              </a:rPr>
              <a:t>AP </a:t>
            </a:r>
            <a:r>
              <a:rPr lang="zh-CN" altLang="en-US" sz="2000" b="1" dirty="0" smtClean="0">
                <a:solidFill>
                  <a:srgbClr val="0000FF"/>
                </a:solidFill>
                <a:latin typeface="微软雅黑" panose="020B0503020204020204" pitchFamily="34" charset="-122"/>
                <a:ea typeface="微软雅黑" panose="020B0503020204020204" pitchFamily="34" charset="-122"/>
              </a:rPr>
              <a:t>建立关联</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建立</a:t>
            </a:r>
            <a:r>
              <a:rPr lang="zh-CN" altLang="en-US" sz="2000" b="1" dirty="0" smtClean="0">
                <a:solidFill>
                  <a:srgbClr val="C00000"/>
                </a:solidFill>
                <a:latin typeface="微软雅黑" panose="020B0503020204020204" pitchFamily="34" charset="-122"/>
                <a:ea typeface="微软雅黑" panose="020B0503020204020204" pitchFamily="34" charset="-122"/>
              </a:rPr>
              <a:t>关联：</a:t>
            </a:r>
            <a:r>
              <a:rPr lang="zh-CN" altLang="en-US" sz="2000" b="1" dirty="0" smtClean="0">
                <a:latin typeface="微软雅黑" panose="020B0503020204020204" pitchFamily="34" charset="-122"/>
                <a:ea typeface="微软雅黑" panose="020B0503020204020204" pitchFamily="34" charset="-122"/>
              </a:rPr>
              <a:t>表示</a:t>
            </a:r>
            <a:r>
              <a:rPr lang="zh-CN" altLang="en-US" sz="2000" b="1" dirty="0">
                <a:latin typeface="微软雅黑" panose="020B0503020204020204" pitchFamily="34" charset="-122"/>
                <a:ea typeface="微软雅黑" panose="020B0503020204020204" pitchFamily="34" charset="-122"/>
              </a:rPr>
              <a:t>这个移动站加入了选定的 </a:t>
            </a:r>
            <a:r>
              <a:rPr lang="en-US" altLang="zh-CN" sz="2000" b="1" dirty="0">
                <a:latin typeface="微软雅黑" panose="020B0503020204020204" pitchFamily="34" charset="-122"/>
                <a:ea typeface="微软雅黑" panose="020B0503020204020204" pitchFamily="34" charset="-122"/>
              </a:rPr>
              <a:t>AP </a:t>
            </a:r>
            <a:r>
              <a:rPr lang="zh-CN" altLang="en-US" sz="2000" b="1" dirty="0">
                <a:latin typeface="微软雅黑" panose="020B0503020204020204" pitchFamily="34" charset="-122"/>
                <a:ea typeface="微软雅黑" panose="020B0503020204020204" pitchFamily="34" charset="-122"/>
              </a:rPr>
              <a:t>所属的子网，并和这个 </a:t>
            </a:r>
            <a:r>
              <a:rPr lang="en-US" altLang="zh-CN" sz="2000" b="1" dirty="0">
                <a:latin typeface="微软雅黑" panose="020B0503020204020204" pitchFamily="34" charset="-122"/>
                <a:ea typeface="微软雅黑" panose="020B0503020204020204" pitchFamily="34" charset="-122"/>
              </a:rPr>
              <a:t>AP </a:t>
            </a:r>
            <a:r>
              <a:rPr lang="zh-CN" altLang="en-US" sz="2000" b="1" dirty="0">
                <a:latin typeface="微软雅黑" panose="020B0503020204020204" pitchFamily="34" charset="-122"/>
                <a:ea typeface="微软雅黑" panose="020B0503020204020204" pitchFamily="34" charset="-122"/>
              </a:rPr>
              <a:t>之间创建了一个</a:t>
            </a:r>
            <a:r>
              <a:rPr lang="zh-CN" altLang="en-US" sz="2000" b="1" dirty="0">
                <a:solidFill>
                  <a:srgbClr val="0000FF"/>
                </a:solidFill>
                <a:latin typeface="微软雅黑" panose="020B0503020204020204" pitchFamily="34" charset="-122"/>
                <a:ea typeface="微软雅黑" panose="020B0503020204020204" pitchFamily="34" charset="-122"/>
              </a:rPr>
              <a:t>虚拟线路</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只有关联的 </a:t>
            </a:r>
            <a:r>
              <a:rPr lang="en-US" altLang="zh-CN" sz="2000" b="1" dirty="0">
                <a:latin typeface="微软雅黑" panose="020B0503020204020204" pitchFamily="34" charset="-122"/>
                <a:ea typeface="微软雅黑" panose="020B0503020204020204" pitchFamily="34" charset="-122"/>
              </a:rPr>
              <a:t>AP </a:t>
            </a:r>
            <a:r>
              <a:rPr lang="zh-CN" altLang="en-US" sz="2000" b="1" dirty="0" smtClean="0">
                <a:latin typeface="微软雅黑" panose="020B0503020204020204" pitchFamily="34" charset="-122"/>
                <a:ea typeface="微软雅黑" panose="020B0503020204020204" pitchFamily="34" charset="-122"/>
              </a:rPr>
              <a:t>才能向</a:t>
            </a:r>
            <a:r>
              <a:rPr lang="zh-CN" altLang="en-US" sz="2000" b="1" dirty="0">
                <a:latin typeface="微软雅黑" panose="020B0503020204020204" pitchFamily="34" charset="-122"/>
                <a:ea typeface="微软雅黑" panose="020B0503020204020204" pitchFamily="34" charset="-122"/>
              </a:rPr>
              <a:t>这个移动站发送数据帧，而这个移动站也只有通过关联的 </a:t>
            </a:r>
            <a:r>
              <a:rPr lang="en-US" altLang="zh-CN" sz="2000" b="1" dirty="0">
                <a:latin typeface="微软雅黑" panose="020B0503020204020204" pitchFamily="34" charset="-122"/>
                <a:ea typeface="微软雅黑" panose="020B0503020204020204" pitchFamily="34" charset="-122"/>
              </a:rPr>
              <a:t>AP </a:t>
            </a:r>
            <a:r>
              <a:rPr lang="zh-CN" altLang="en-US" sz="2000" b="1" dirty="0">
                <a:latin typeface="微软雅黑" panose="020B0503020204020204" pitchFamily="34" charset="-122"/>
                <a:ea typeface="微软雅黑" panose="020B0503020204020204" pitchFamily="34" charset="-122"/>
              </a:rPr>
              <a:t>才能向其他站点发送数据帧。</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建立关联的两种</a:t>
            </a:r>
            <a:r>
              <a:rPr lang="zh-CN" altLang="en-US" sz="2000" b="1" dirty="0" smtClean="0">
                <a:latin typeface="微软雅黑" panose="020B0503020204020204" pitchFamily="34" charset="-122"/>
                <a:ea typeface="微软雅黑" panose="020B0503020204020204" pitchFamily="34" charset="-122"/>
              </a:rPr>
              <a:t>方法：</a:t>
            </a:r>
            <a:r>
              <a:rPr lang="en-US" altLang="zh-CN" sz="2000" b="1" dirty="0" smtClean="0">
                <a:solidFill>
                  <a:srgbClr val="0000FF"/>
                </a:solidFill>
                <a:latin typeface="微软雅黑" panose="020B0503020204020204" pitchFamily="34" charset="-122"/>
                <a:ea typeface="微软雅黑" panose="020B0503020204020204" pitchFamily="34" charset="-122"/>
                <a:sym typeface="Wingdings" panose="05000000000000000000" pitchFamily="2" charset="2"/>
              </a:rPr>
              <a:t>(1) </a:t>
            </a:r>
            <a:r>
              <a:rPr lang="zh-CN" altLang="en-US" sz="2000" b="1" dirty="0" smtClean="0">
                <a:solidFill>
                  <a:srgbClr val="0000FF"/>
                </a:solidFill>
                <a:latin typeface="微软雅黑" panose="020B0503020204020204" pitchFamily="34" charset="-122"/>
                <a:ea typeface="微软雅黑" panose="020B0503020204020204" pitchFamily="34" charset="-122"/>
              </a:rPr>
              <a:t>被动</a:t>
            </a:r>
            <a:r>
              <a:rPr lang="zh-CN" altLang="en-US" sz="2000" b="1" dirty="0">
                <a:solidFill>
                  <a:srgbClr val="0000FF"/>
                </a:solidFill>
                <a:latin typeface="微软雅黑" panose="020B0503020204020204" pitchFamily="34" charset="-122"/>
                <a:ea typeface="微软雅黑" panose="020B0503020204020204" pitchFamily="34" charset="-122"/>
              </a:rPr>
              <a:t>扫描</a:t>
            </a:r>
            <a:endParaRPr lang="en-US" altLang="zh-CN" sz="2000" b="1" dirty="0">
              <a:solidFill>
                <a:srgbClr val="0000FF"/>
              </a:solidFill>
              <a:latin typeface="微软雅黑" panose="020B0503020204020204" pitchFamily="34" charset="-122"/>
              <a:ea typeface="微软雅黑" panose="020B0503020204020204" pitchFamily="34" charset="-122"/>
            </a:endParaRPr>
          </a:p>
        </p:txBody>
      </p:sp>
      <p:sp>
        <p:nvSpPr>
          <p:cNvPr id="8" name="Oval 70"/>
          <p:cNvSpPr>
            <a:spLocks noChangeArrowheads="1"/>
          </p:cNvSpPr>
          <p:nvPr/>
        </p:nvSpPr>
        <p:spPr bwMode="auto">
          <a:xfrm>
            <a:off x="2140830" y="1132542"/>
            <a:ext cx="2569492" cy="1649789"/>
          </a:xfrm>
          <a:prstGeom prst="ellipse">
            <a:avLst/>
          </a:prstGeom>
          <a:solidFill>
            <a:schemeClr val="bg1"/>
          </a:solidFill>
          <a:ln w="19050">
            <a:solidFill>
              <a:srgbClr val="000099"/>
            </a:solidFill>
            <a:prstDash val="dash"/>
            <a:rou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 name="Oval 70"/>
          <p:cNvSpPr>
            <a:spLocks noChangeArrowheads="1"/>
          </p:cNvSpPr>
          <p:nvPr/>
        </p:nvSpPr>
        <p:spPr bwMode="auto">
          <a:xfrm>
            <a:off x="4183909" y="1126274"/>
            <a:ext cx="2569492" cy="1649789"/>
          </a:xfrm>
          <a:prstGeom prst="ellipse">
            <a:avLst/>
          </a:prstGeom>
          <a:solidFill>
            <a:schemeClr val="bg1">
              <a:alpha val="70000"/>
            </a:schemeClr>
          </a:solidFill>
          <a:ln w="19050">
            <a:solidFill>
              <a:srgbClr val="C00000"/>
            </a:solidFill>
            <a:prstDash val="dash"/>
            <a:rou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 name="Text Box 84"/>
          <p:cNvSpPr txBox="1">
            <a:spLocks noChangeArrowheads="1"/>
          </p:cNvSpPr>
          <p:nvPr/>
        </p:nvSpPr>
        <p:spPr bwMode="auto">
          <a:xfrm>
            <a:off x="3051919" y="114173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11" name="Text Box 96"/>
          <p:cNvSpPr txBox="1">
            <a:spLocks noChangeArrowheads="1"/>
          </p:cNvSpPr>
          <p:nvPr/>
        </p:nvSpPr>
        <p:spPr bwMode="auto">
          <a:xfrm>
            <a:off x="4277085" y="2782331"/>
            <a:ext cx="3577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endParaRPr lang="en-US" altLang="zh-CN" sz="1800" b="1" dirty="0">
              <a:latin typeface="微软雅黑" panose="020B0503020204020204" pitchFamily="34" charset="-122"/>
              <a:ea typeface="微软雅黑" panose="020B0503020204020204" pitchFamily="34" charset="-122"/>
            </a:endParaRPr>
          </a:p>
        </p:txBody>
      </p:sp>
      <p:pic>
        <p:nvPicPr>
          <p:cNvPr id="25" name="Picture 222" descr="D-Link%20DI-713P%20Wireless%20Broadband%20router"/>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581195"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96"/>
          <p:cNvSpPr txBox="1">
            <a:spLocks noChangeArrowheads="1"/>
          </p:cNvSpPr>
          <p:nvPr/>
        </p:nvSpPr>
        <p:spPr bwMode="auto">
          <a:xfrm>
            <a:off x="2099596" y="176234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1</a:t>
            </a:r>
            <a:endParaRPr lang="en-US" altLang="zh-CN" sz="1800" b="1" baseline="-25000" dirty="0">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5920965" y="1720410"/>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endParaRPr lang="en-US" altLang="zh-CN" sz="1800" b="1" baseline="-25000" dirty="0">
              <a:latin typeface="微软雅黑" panose="020B0503020204020204" pitchFamily="34" charset="-122"/>
              <a:ea typeface="微软雅黑" panose="020B0503020204020204" pitchFamily="34" charset="-122"/>
            </a:endParaRPr>
          </a:p>
        </p:txBody>
      </p:sp>
      <p:sp>
        <p:nvSpPr>
          <p:cNvPr id="28" name="Text Box 84"/>
          <p:cNvSpPr txBox="1">
            <a:spLocks noChangeArrowheads="1"/>
          </p:cNvSpPr>
          <p:nvPr/>
        </p:nvSpPr>
        <p:spPr bwMode="auto">
          <a:xfrm>
            <a:off x="5041583" y="119458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4124458" y="2366750"/>
            <a:ext cx="670033" cy="464129"/>
            <a:chOff x="4406004" y="4260453"/>
            <a:chExt cx="558674" cy="429804"/>
          </a:xfrm>
        </p:grpSpPr>
        <p:grpSp>
          <p:nvGrpSpPr>
            <p:cNvPr id="38" name="Group 460"/>
            <p:cNvGrpSpPr/>
            <p:nvPr/>
          </p:nvGrpSpPr>
          <p:grpSpPr bwMode="auto">
            <a:xfrm>
              <a:off x="4543772" y="4322623"/>
              <a:ext cx="420906" cy="367634"/>
              <a:chOff x="657" y="1570"/>
              <a:chExt cx="318" cy="318"/>
            </a:xfrm>
          </p:grpSpPr>
          <p:sp>
            <p:nvSpPr>
              <p:cNvPr id="4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7"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9" name="Group 463"/>
            <p:cNvGrpSpPr/>
            <p:nvPr/>
          </p:nvGrpSpPr>
          <p:grpSpPr bwMode="auto">
            <a:xfrm>
              <a:off x="4406004" y="4260453"/>
              <a:ext cx="405022" cy="119404"/>
              <a:chOff x="748" y="2251"/>
              <a:chExt cx="306" cy="90"/>
            </a:xfrm>
            <a:solidFill>
              <a:srgbClr val="0066FF"/>
            </a:solidFill>
          </p:grpSpPr>
          <p:sp>
            <p:nvSpPr>
              <p:cNvPr id="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pic>
        <p:nvPicPr>
          <p:cNvPr id="48" name="Picture 222" descr="D-Link%20DI-713P%20Wireless%20Broadband%20router"/>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54543"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2" name="组合 51"/>
          <p:cNvGrpSpPr/>
          <p:nvPr/>
        </p:nvGrpSpPr>
        <p:grpSpPr>
          <a:xfrm>
            <a:off x="3089312" y="1678757"/>
            <a:ext cx="1060126" cy="692116"/>
            <a:chOff x="3236796" y="1678757"/>
            <a:chExt cx="1060126" cy="692116"/>
          </a:xfrm>
        </p:grpSpPr>
        <p:sp>
          <p:nvSpPr>
            <p:cNvPr id="23" name="Line 245"/>
            <p:cNvSpPr>
              <a:spLocks noChangeShapeType="1"/>
            </p:cNvSpPr>
            <p:nvPr/>
          </p:nvSpPr>
          <p:spPr bwMode="auto">
            <a:xfrm>
              <a:off x="3469729" y="1897938"/>
              <a:ext cx="827193" cy="472935"/>
            </a:xfrm>
            <a:prstGeom prst="line">
              <a:avLst/>
            </a:prstGeom>
            <a:noFill/>
            <a:ln w="9525">
              <a:solidFill>
                <a:schemeClr val="tx1"/>
              </a:solidFill>
              <a:rou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 name="TextBox 82"/>
            <p:cNvSpPr txBox="1">
              <a:spLocks noChangeArrowheads="1"/>
            </p:cNvSpPr>
            <p:nvPr/>
          </p:nvSpPr>
          <p:spPr bwMode="auto">
            <a:xfrm>
              <a:off x="3236796" y="1678757"/>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4701711" y="1835438"/>
            <a:ext cx="1077184" cy="718964"/>
            <a:chOff x="4849195" y="1835438"/>
            <a:chExt cx="1077184" cy="718964"/>
          </a:xfrm>
        </p:grpSpPr>
        <p:sp>
          <p:nvSpPr>
            <p:cNvPr id="36" name="Line 245"/>
            <p:cNvSpPr>
              <a:spLocks noChangeShapeType="1"/>
            </p:cNvSpPr>
            <p:nvPr/>
          </p:nvSpPr>
          <p:spPr bwMode="auto">
            <a:xfrm flipH="1">
              <a:off x="4849195" y="2049656"/>
              <a:ext cx="802569" cy="504746"/>
            </a:xfrm>
            <a:prstGeom prst="line">
              <a:avLst/>
            </a:prstGeom>
            <a:noFill/>
            <a:ln w="9525">
              <a:solidFill>
                <a:srgbClr val="0000FF"/>
              </a:solidFill>
              <a:rou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 name="TextBox 91"/>
            <p:cNvSpPr txBox="1">
              <a:spLocks noChangeArrowheads="1"/>
            </p:cNvSpPr>
            <p:nvPr/>
          </p:nvSpPr>
          <p:spPr bwMode="auto">
            <a:xfrm>
              <a:off x="5536529" y="183543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3" name="组合 52"/>
          <p:cNvGrpSpPr/>
          <p:nvPr/>
        </p:nvGrpSpPr>
        <p:grpSpPr>
          <a:xfrm>
            <a:off x="4476374" y="1644505"/>
            <a:ext cx="1019582" cy="715114"/>
            <a:chOff x="4623858" y="1644505"/>
            <a:chExt cx="1019582" cy="715114"/>
          </a:xfrm>
        </p:grpSpPr>
        <p:sp>
          <p:nvSpPr>
            <p:cNvPr id="29" name="Line 245"/>
            <p:cNvSpPr>
              <a:spLocks noChangeShapeType="1"/>
            </p:cNvSpPr>
            <p:nvPr/>
          </p:nvSpPr>
          <p:spPr bwMode="auto">
            <a:xfrm flipH="1">
              <a:off x="4623858" y="1865150"/>
              <a:ext cx="770601" cy="494469"/>
            </a:xfrm>
            <a:prstGeom prst="line">
              <a:avLst/>
            </a:prstGeom>
            <a:noFill/>
            <a:ln w="9525">
              <a:solidFill>
                <a:schemeClr val="tx1"/>
              </a:solidFill>
              <a:rou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 name="TextBox 94"/>
            <p:cNvSpPr txBox="1">
              <a:spLocks noChangeArrowheads="1"/>
            </p:cNvSpPr>
            <p:nvPr/>
          </p:nvSpPr>
          <p:spPr bwMode="auto">
            <a:xfrm>
              <a:off x="5253590" y="164450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33" name="椭圆 97"/>
          <p:cNvSpPr>
            <a:spLocks noChangeArrowheads="1"/>
          </p:cNvSpPr>
          <p:nvPr/>
        </p:nvSpPr>
        <p:spPr bwMode="auto">
          <a:xfrm>
            <a:off x="4777205" y="2525451"/>
            <a:ext cx="146862" cy="111711"/>
          </a:xfrm>
          <a:prstGeom prst="ellipse">
            <a:avLst/>
          </a:pr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54" name="组合 53"/>
          <p:cNvGrpSpPr/>
          <p:nvPr/>
        </p:nvGrpSpPr>
        <p:grpSpPr>
          <a:xfrm>
            <a:off x="4486392" y="1878275"/>
            <a:ext cx="998745" cy="681631"/>
            <a:chOff x="4633876" y="1878275"/>
            <a:chExt cx="998745" cy="681631"/>
          </a:xfrm>
        </p:grpSpPr>
        <p:sp>
          <p:nvSpPr>
            <p:cNvPr id="7" name="Line 245"/>
            <p:cNvSpPr>
              <a:spLocks noChangeShapeType="1"/>
            </p:cNvSpPr>
            <p:nvPr/>
          </p:nvSpPr>
          <p:spPr bwMode="auto">
            <a:xfrm flipV="1">
              <a:off x="4867202" y="1878275"/>
              <a:ext cx="765419" cy="481344"/>
            </a:xfrm>
            <a:prstGeom prst="line">
              <a:avLst/>
            </a:prstGeom>
            <a:noFill/>
            <a:ln w="9525">
              <a:solidFill>
                <a:srgbClr val="9900CC"/>
              </a:solidFill>
              <a:rou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TextBox 91"/>
            <p:cNvSpPr txBox="1">
              <a:spLocks noChangeArrowheads="1"/>
            </p:cNvSpPr>
            <p:nvPr/>
          </p:nvSpPr>
          <p:spPr bwMode="auto">
            <a:xfrm>
              <a:off x="4633876" y="219057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AP </a:t>
            </a:r>
            <a:r>
              <a:rPr lang="zh-CN" altLang="zh-CN" sz="1600" b="1" dirty="0" smtClean="0">
                <a:latin typeface="微软雅黑" panose="020B0503020204020204" pitchFamily="34" charset="-122"/>
                <a:ea typeface="微软雅黑" panose="020B0503020204020204" pitchFamily="34" charset="-122"/>
              </a:rPr>
              <a:t>周期性发出</a:t>
            </a:r>
            <a:r>
              <a:rPr lang="zh-CN" altLang="zh-CN" sz="1600" b="1" dirty="0" smtClean="0">
                <a:solidFill>
                  <a:srgbClr val="C00000"/>
                </a:solidFill>
                <a:latin typeface="微软雅黑" panose="020B0503020204020204" pitchFamily="34" charset="-122"/>
                <a:ea typeface="微软雅黑" panose="020B0503020204020204" pitchFamily="34" charset="-122"/>
              </a:rPr>
              <a:t>信标帧</a:t>
            </a:r>
            <a:r>
              <a:rPr lang="en-US" altLang="zh-CN" sz="1600" b="1" dirty="0" smtClean="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beacon frame)</a:t>
            </a:r>
            <a:r>
              <a:rPr lang="zh-CN" altLang="zh-CN" sz="1600" b="1" dirty="0">
                <a:latin typeface="微软雅黑" panose="020B0503020204020204" pitchFamily="34" charset="-122"/>
                <a:ea typeface="微软雅黑" panose="020B0503020204020204" pitchFamily="34" charset="-122"/>
              </a:rPr>
              <a:t>，其中</a:t>
            </a:r>
            <a:r>
              <a:rPr lang="zh-CN" altLang="zh-CN" sz="1600" b="1" dirty="0" smtClean="0">
                <a:latin typeface="微软雅黑" panose="020B0503020204020204" pitchFamily="34" charset="-122"/>
                <a:ea typeface="微软雅黑" panose="020B0503020204020204" pitchFamily="34" charset="-122"/>
              </a:rPr>
              <a:t>包含</a:t>
            </a:r>
            <a:r>
              <a:rPr lang="en-US" altLang="zh-CN" sz="1600" b="1" dirty="0" smtClean="0">
                <a:latin typeface="微软雅黑" panose="020B0503020204020204" pitchFamily="34" charset="-122"/>
                <a:ea typeface="微软雅黑" panose="020B0503020204020204" pitchFamily="34" charset="-122"/>
              </a:rPr>
              <a:t> SSID </a:t>
            </a:r>
            <a:r>
              <a:rPr lang="zh-CN" altLang="en-US" sz="1600" b="1" dirty="0" smtClean="0">
                <a:latin typeface="微软雅黑" panose="020B0503020204020204" pitchFamily="34" charset="-122"/>
                <a:ea typeface="微软雅黑" panose="020B0503020204020204" pitchFamily="34" charset="-122"/>
              </a:rPr>
              <a:t>、</a:t>
            </a:r>
            <a:r>
              <a:rPr lang="zh-CN" altLang="zh-CN" sz="1600" b="1" dirty="0" smtClean="0">
                <a:latin typeface="微软雅黑" panose="020B0503020204020204" pitchFamily="34" charset="-122"/>
                <a:ea typeface="微软雅黑" panose="020B0503020204020204" pitchFamily="34" charset="-122"/>
              </a:rPr>
              <a:t>速率等系统参数。</a:t>
            </a:r>
            <a:endParaRPr lang="zh-CN" altLang="zh-CN" sz="1600" b="1" dirty="0">
              <a:latin typeface="微软雅黑" panose="020B0503020204020204" pitchFamily="34" charset="-122"/>
              <a:ea typeface="微软雅黑" panose="020B0503020204020204" pitchFamily="34" charset="-122"/>
            </a:endParaRP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zh-CN" altLang="zh-CN" sz="1600" b="1" dirty="0" smtClean="0">
                <a:latin typeface="微软雅黑" panose="020B0503020204020204" pitchFamily="34" charset="-122"/>
                <a:ea typeface="微软雅黑" panose="020B0503020204020204" pitchFamily="34" charset="-122"/>
              </a:rPr>
              <a:t>移动站</a:t>
            </a:r>
            <a:r>
              <a:rPr lang="en-US" altLang="zh-CN" sz="1600" b="1" dirty="0" smtClean="0">
                <a:latin typeface="微软雅黑" panose="020B0503020204020204" pitchFamily="34" charset="-122"/>
                <a:ea typeface="微软雅黑" panose="020B0503020204020204" pitchFamily="34" charset="-122"/>
              </a:rPr>
              <a:t> A </a:t>
            </a:r>
            <a:r>
              <a:rPr lang="zh-CN" altLang="zh-CN" sz="1600" b="1" dirty="0" smtClean="0">
                <a:latin typeface="微软雅黑" panose="020B0503020204020204" pitchFamily="34" charset="-122"/>
                <a:ea typeface="微软雅黑" panose="020B0503020204020204" pitchFamily="34" charset="-122"/>
              </a:rPr>
              <a:t>扫描</a:t>
            </a:r>
            <a:r>
              <a:rPr lang="en-US" altLang="zh-CN" sz="1600" b="1" dirty="0" smtClean="0">
                <a:latin typeface="微软雅黑" panose="020B0503020204020204" pitchFamily="34" charset="-122"/>
                <a:ea typeface="微软雅黑" panose="020B0503020204020204" pitchFamily="34" charset="-122"/>
              </a:rPr>
              <a:t> 11 </a:t>
            </a:r>
            <a:r>
              <a:rPr lang="zh-CN" altLang="zh-CN" sz="1600" b="1" dirty="0" smtClean="0">
                <a:latin typeface="微软雅黑" panose="020B0503020204020204" pitchFamily="34" charset="-122"/>
                <a:ea typeface="微软雅黑" panose="020B0503020204020204" pitchFamily="34" charset="-122"/>
              </a:rPr>
              <a:t>个</a:t>
            </a:r>
            <a:r>
              <a:rPr lang="zh-CN" altLang="zh-CN" sz="1600" b="1" dirty="0">
                <a:latin typeface="微软雅黑" panose="020B0503020204020204" pitchFamily="34" charset="-122"/>
                <a:ea typeface="微软雅黑" panose="020B0503020204020204" pitchFamily="34" charset="-122"/>
              </a:rPr>
              <a:t>信道，</a:t>
            </a:r>
            <a:r>
              <a:rPr lang="zh-CN" altLang="zh-CN" sz="1600" b="1" dirty="0" smtClean="0">
                <a:latin typeface="微软雅黑" panose="020B0503020204020204" pitchFamily="34" charset="-122"/>
                <a:ea typeface="微软雅黑" panose="020B0503020204020204" pitchFamily="34" charset="-122"/>
              </a:rPr>
              <a:t>选择加入到</a:t>
            </a:r>
            <a:r>
              <a:rPr lang="en-US" altLang="zh-CN" sz="1600" b="1" dirty="0" smtClean="0">
                <a:latin typeface="微软雅黑" panose="020B0503020204020204" pitchFamily="34" charset="-122"/>
                <a:ea typeface="微软雅黑" panose="020B0503020204020204" pitchFamily="34" charset="-122"/>
              </a:rPr>
              <a:t> AP</a:t>
            </a:r>
            <a:r>
              <a:rPr lang="en-US" altLang="zh-CN" sz="1600" b="1" baseline="-25000" dirty="0" smtClean="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zh-CN" sz="1600" b="1" dirty="0" smtClean="0">
                <a:latin typeface="微软雅黑" panose="020B0503020204020204" pitchFamily="34" charset="-122"/>
                <a:ea typeface="微软雅黑" panose="020B0503020204020204" pitchFamily="34" charset="-122"/>
              </a:rPr>
              <a:t>所在</a:t>
            </a:r>
            <a:r>
              <a:rPr lang="zh-CN" altLang="zh-CN" sz="1600" b="1" dirty="0">
                <a:latin typeface="微软雅黑" panose="020B0503020204020204" pitchFamily="34" charset="-122"/>
                <a:ea typeface="微软雅黑" panose="020B0503020204020204" pitchFamily="34" charset="-122"/>
              </a:rPr>
              <a:t>的基本服务</a:t>
            </a:r>
            <a:r>
              <a:rPr lang="zh-CN" altLang="zh-CN" sz="1600" b="1" dirty="0" smtClean="0">
                <a:latin typeface="微软雅黑" panose="020B0503020204020204" pitchFamily="34" charset="-122"/>
                <a:ea typeface="微软雅黑" panose="020B0503020204020204" pitchFamily="34" charset="-122"/>
              </a:rPr>
              <a:t>集</a:t>
            </a:r>
            <a:r>
              <a:rPr lang="en-US" altLang="zh-CN" sz="1600" b="1" dirty="0" smtClean="0">
                <a:latin typeface="微软雅黑" panose="020B0503020204020204" pitchFamily="34" charset="-122"/>
                <a:ea typeface="微软雅黑" panose="020B0503020204020204" pitchFamily="34" charset="-122"/>
              </a:rPr>
              <a:t> BSS</a:t>
            </a:r>
            <a:r>
              <a:rPr lang="en-US" altLang="zh-CN" sz="1600" b="1" baseline="-25000" dirty="0">
                <a:latin typeface="微软雅黑" panose="020B0503020204020204" pitchFamily="34" charset="-122"/>
                <a:ea typeface="微软雅黑" panose="020B0503020204020204" pitchFamily="34" charset="-122"/>
              </a:rPr>
              <a:t>2</a:t>
            </a:r>
            <a:r>
              <a:rPr lang="zh-CN" altLang="zh-CN" sz="1600" b="1" dirty="0" smtClean="0">
                <a:latin typeface="微软雅黑" panose="020B0503020204020204" pitchFamily="34" charset="-122"/>
                <a:ea typeface="微软雅黑" panose="020B0503020204020204" pitchFamily="34" charset="-122"/>
              </a:rPr>
              <a:t>，向</a:t>
            </a:r>
            <a:r>
              <a:rPr lang="en-US" altLang="zh-CN" sz="1600" b="1" dirty="0" smtClean="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zh-CN" sz="1600" b="1" dirty="0" smtClean="0">
                <a:latin typeface="微软雅黑" panose="020B0503020204020204" pitchFamily="34" charset="-122"/>
                <a:ea typeface="微软雅黑" panose="020B0503020204020204" pitchFamily="34" charset="-122"/>
              </a:rPr>
              <a:t>发出</a:t>
            </a:r>
            <a:r>
              <a:rPr lang="zh-CN" altLang="zh-CN" sz="1600" b="1" dirty="0">
                <a:solidFill>
                  <a:srgbClr val="C00000"/>
                </a:solidFill>
                <a:latin typeface="微软雅黑" panose="020B0503020204020204" pitchFamily="34" charset="-122"/>
                <a:ea typeface="微软雅黑" panose="020B0503020204020204" pitchFamily="34" charset="-122"/>
              </a:rPr>
              <a:t>关联请求</a:t>
            </a:r>
            <a:r>
              <a:rPr lang="zh-CN" altLang="zh-CN" sz="1600" b="1" dirty="0" smtClean="0">
                <a:solidFill>
                  <a:srgbClr val="C00000"/>
                </a:solidFill>
                <a:latin typeface="微软雅黑" panose="020B0503020204020204" pitchFamily="34" charset="-122"/>
                <a:ea typeface="微软雅黑" panose="020B0503020204020204" pitchFamily="34" charset="-122"/>
              </a:rPr>
              <a:t>帧</a:t>
            </a:r>
            <a:r>
              <a:rPr lang="en-US" altLang="zh-CN" sz="1600" b="1" dirty="0" smtClean="0">
                <a:solidFill>
                  <a:srgbClr val="C00000"/>
                </a:solidFill>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Association Request frame)</a:t>
            </a:r>
            <a:r>
              <a:rPr lang="zh-CN" altLang="zh-CN" sz="1600" b="1" dirty="0">
                <a:latin typeface="微软雅黑" panose="020B0503020204020204" pitchFamily="34" charset="-122"/>
                <a:ea typeface="微软雅黑" panose="020B0503020204020204" pitchFamily="34" charset="-122"/>
              </a:rPr>
              <a:t>。</a:t>
            </a:r>
            <a:endParaRPr lang="zh-CN" altLang="zh-CN" sz="1600" b="1" dirty="0">
              <a:latin typeface="微软雅黑" panose="020B0503020204020204" pitchFamily="34" charset="-122"/>
              <a:ea typeface="微软雅黑" panose="020B0503020204020204" pitchFamily="34" charset="-122"/>
            </a:endParaRP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zh-CN" sz="1600" b="1" dirty="0" smtClean="0">
                <a:latin typeface="微软雅黑" panose="020B0503020204020204" pitchFamily="34" charset="-122"/>
                <a:ea typeface="微软雅黑" panose="020B0503020204020204" pitchFamily="34" charset="-122"/>
              </a:rPr>
              <a:t>同意移动站</a:t>
            </a:r>
            <a:r>
              <a:rPr lang="en-US" altLang="zh-CN" sz="1600" b="1" dirty="0" smtClean="0">
                <a:latin typeface="微软雅黑" panose="020B0503020204020204" pitchFamily="34" charset="-122"/>
                <a:ea typeface="微软雅黑" panose="020B0503020204020204" pitchFamily="34" charset="-122"/>
              </a:rPr>
              <a:t> A </a:t>
            </a:r>
            <a:r>
              <a:rPr lang="zh-CN" altLang="zh-CN" sz="1600" b="1" dirty="0" smtClean="0">
                <a:latin typeface="微软雅黑" panose="020B0503020204020204" pitchFamily="34" charset="-122"/>
                <a:ea typeface="微软雅黑" panose="020B0503020204020204" pitchFamily="34" charset="-122"/>
              </a:rPr>
              <a:t>发</a:t>
            </a:r>
            <a:r>
              <a:rPr lang="zh-CN" altLang="zh-CN" sz="1600" b="1" dirty="0">
                <a:latin typeface="微软雅黑" panose="020B0503020204020204" pitchFamily="34" charset="-122"/>
                <a:ea typeface="微软雅黑" panose="020B0503020204020204" pitchFamily="34" charset="-122"/>
              </a:rPr>
              <a:t>来的关联请求，向移动站</a:t>
            </a:r>
            <a:r>
              <a:rPr lang="en-US" altLang="zh-CN" sz="1600" b="1" dirty="0">
                <a:latin typeface="微软雅黑" panose="020B0503020204020204" pitchFamily="34" charset="-122"/>
                <a:ea typeface="微软雅黑" panose="020B0503020204020204" pitchFamily="34" charset="-122"/>
              </a:rPr>
              <a:t>A</a:t>
            </a:r>
            <a:r>
              <a:rPr lang="zh-CN" altLang="zh-CN" sz="1600" b="1" dirty="0">
                <a:latin typeface="微软雅黑" panose="020B0503020204020204" pitchFamily="34" charset="-122"/>
                <a:ea typeface="微软雅黑" panose="020B0503020204020204" pitchFamily="34" charset="-122"/>
              </a:rPr>
              <a:t>发送</a:t>
            </a:r>
            <a:r>
              <a:rPr lang="zh-CN" altLang="zh-CN" sz="1600" b="1" dirty="0">
                <a:solidFill>
                  <a:srgbClr val="C00000"/>
                </a:solidFill>
                <a:latin typeface="微软雅黑" panose="020B0503020204020204" pitchFamily="34" charset="-122"/>
                <a:ea typeface="微软雅黑" panose="020B0503020204020204" pitchFamily="34" charset="-122"/>
              </a:rPr>
              <a:t>关联响应</a:t>
            </a:r>
            <a:r>
              <a:rPr lang="zh-CN" altLang="zh-CN" sz="1600" b="1" dirty="0" smtClean="0">
                <a:solidFill>
                  <a:srgbClr val="C00000"/>
                </a:solidFill>
                <a:latin typeface="微软雅黑" panose="020B0503020204020204" pitchFamily="34" charset="-122"/>
                <a:ea typeface="微软雅黑" panose="020B0503020204020204" pitchFamily="34" charset="-122"/>
              </a:rPr>
              <a:t>帧</a:t>
            </a:r>
            <a:r>
              <a:rPr lang="en-US" altLang="zh-CN" sz="1600" b="1" dirty="0" smtClean="0">
                <a:solidFill>
                  <a:srgbClr val="C00000"/>
                </a:solidFill>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Association Response frame)</a:t>
            </a:r>
            <a:r>
              <a:rPr lang="zh-CN" altLang="zh-CN" sz="1600" b="1" dirty="0">
                <a:latin typeface="微软雅黑" panose="020B0503020204020204" pitchFamily="34" charset="-122"/>
                <a:ea typeface="微软雅黑" panose="020B0503020204020204" pitchFamily="34" charset="-122"/>
              </a:rPr>
              <a:t>。</a:t>
            </a:r>
            <a:endParaRPr lang="zh-CN" altLang="zh-CN"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left)">
                                      <p:cBhvr>
                                        <p:cTn id="7" dur="1000"/>
                                        <p:tgtEl>
                                          <p:spTgt spid="52"/>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wipe(right)">
                                      <p:cBhvr>
                                        <p:cTn id="10" dur="1000"/>
                                        <p:tgtEl>
                                          <p:spTgt spid="5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55"/>
                                        </p:tgtEl>
                                        <p:attrNameLst>
                                          <p:attrName>style.visibility</p:attrName>
                                        </p:attrNameLst>
                                      </p:cBhvr>
                                      <p:to>
                                        <p:strVal val="visible"/>
                                      </p:to>
                                    </p:set>
                                    <p:animEffect transition="in" filter="wipe(right)">
                                      <p:cBhvr>
                                        <p:cTn id="20" dur="1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smtClean="0">
                <a:latin typeface="微软雅黑" panose="020B0503020204020204" pitchFamily="34" charset="-122"/>
                <a:ea typeface="微软雅黑" panose="020B0503020204020204" pitchFamily="34" charset="-122"/>
              </a:rPr>
              <a:t>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主动</a:t>
            </a:r>
            <a:r>
              <a:rPr lang="zh-CN" altLang="en-US" sz="1600" b="1" dirty="0">
                <a:latin typeface="微软雅黑" panose="020B0503020204020204" pitchFamily="34" charset="-122"/>
                <a:ea typeface="微软雅黑" panose="020B0503020204020204" pitchFamily="34" charset="-122"/>
              </a:rPr>
              <a:t>发出广播的</a:t>
            </a:r>
            <a:r>
              <a:rPr lang="zh-CN" altLang="en-US" sz="1600" b="1" dirty="0">
                <a:solidFill>
                  <a:srgbClr val="C00000"/>
                </a:solidFill>
                <a:latin typeface="微软雅黑" panose="020B0503020204020204" pitchFamily="34" charset="-122"/>
                <a:ea typeface="微软雅黑" panose="020B0503020204020204" pitchFamily="34" charset="-122"/>
              </a:rPr>
              <a:t>探测请求</a:t>
            </a:r>
            <a:r>
              <a:rPr lang="zh-CN" altLang="en-US" sz="1600" b="1" dirty="0" smtClean="0">
                <a:solidFill>
                  <a:srgbClr val="C00000"/>
                </a:solidFill>
                <a:latin typeface="微软雅黑" panose="020B0503020204020204" pitchFamily="34" charset="-122"/>
                <a:ea typeface="微软雅黑" panose="020B0503020204020204" pitchFamily="34" charset="-122"/>
              </a:rPr>
              <a:t>帧</a:t>
            </a:r>
            <a:r>
              <a:rPr lang="zh-CN" altLang="en-US" sz="1600" b="1" dirty="0" smtClean="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Probe Request frame)</a:t>
            </a:r>
            <a:r>
              <a:rPr lang="zh-CN" altLang="en-US" sz="1600" b="1" dirty="0">
                <a:latin typeface="微软雅黑" panose="020B0503020204020204" pitchFamily="34" charset="-122"/>
                <a:ea typeface="微软雅黑" panose="020B0503020204020204" pitchFamily="34" charset="-122"/>
              </a:rPr>
              <a:t>，让所有能够收到此帧的</a:t>
            </a:r>
            <a:r>
              <a:rPr lang="zh-CN" altLang="en-US" sz="1600" b="1" dirty="0" smtClean="0">
                <a:latin typeface="微软雅黑" panose="020B0503020204020204" pitchFamily="34" charset="-122"/>
                <a:ea typeface="微软雅黑" panose="020B0503020204020204" pitchFamily="34" charset="-122"/>
              </a:rPr>
              <a:t>接入点知道</a:t>
            </a:r>
            <a:r>
              <a:rPr lang="zh-CN" altLang="en-US" sz="1600" b="1" dirty="0">
                <a:latin typeface="微软雅黑" panose="020B0503020204020204" pitchFamily="34" charset="-122"/>
                <a:ea typeface="微软雅黑" panose="020B0503020204020204" pitchFamily="34" charset="-122"/>
              </a:rPr>
              <a:t>有移动站要求建立</a:t>
            </a:r>
            <a:r>
              <a:rPr lang="zh-CN" altLang="en-US" sz="1600" b="1" dirty="0" smtClean="0">
                <a:latin typeface="微软雅黑" panose="020B0503020204020204" pitchFamily="34" charset="-122"/>
                <a:ea typeface="微软雅黑" panose="020B0503020204020204" pitchFamily="34" charset="-122"/>
              </a:rPr>
              <a:t>关联</a:t>
            </a:r>
            <a:r>
              <a:rPr lang="zh-CN" altLang="zh-CN" sz="1600" b="1" dirty="0" smtClean="0">
                <a:latin typeface="微软雅黑" panose="020B0503020204020204" pitchFamily="34" charset="-122"/>
                <a:ea typeface="微软雅黑" panose="020B0503020204020204" pitchFamily="34" charset="-122"/>
              </a:rPr>
              <a:t>。</a:t>
            </a:r>
            <a:endParaRPr lang="zh-CN" altLang="zh-CN" sz="1600" b="1" dirty="0">
              <a:latin typeface="微软雅黑" panose="020B0503020204020204" pitchFamily="34" charset="-122"/>
              <a:ea typeface="微软雅黑" panose="020B0503020204020204" pitchFamily="34" charset="-122"/>
            </a:endParaRPr>
          </a:p>
          <a:p>
            <a:pPr>
              <a:lnSpc>
                <a:spcPts val="2200"/>
              </a:lnSpc>
            </a:pPr>
            <a:r>
              <a:rPr lang="en-US" altLang="zh-CN" sz="16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smtClean="0">
                <a:latin typeface="微软雅黑" panose="020B0503020204020204" pitchFamily="34" charset="-122"/>
                <a:ea typeface="微软雅黑" panose="020B0503020204020204" pitchFamily="34" charset="-122"/>
              </a:rPr>
              <a:t>两个 </a:t>
            </a:r>
            <a:r>
              <a:rPr lang="en-US" altLang="zh-CN" sz="1600" b="1" dirty="0" smtClean="0">
                <a:latin typeface="微软雅黑" panose="020B0503020204020204" pitchFamily="34" charset="-122"/>
                <a:ea typeface="微软雅黑" panose="020B0503020204020204" pitchFamily="34" charset="-122"/>
              </a:rPr>
              <a:t>AP </a:t>
            </a:r>
            <a:r>
              <a:rPr lang="zh-CN" altLang="en-US" sz="1600" b="1" dirty="0" smtClean="0">
                <a:latin typeface="微软雅黑" panose="020B0503020204020204" pitchFamily="34" charset="-122"/>
                <a:ea typeface="微软雅黑" panose="020B0503020204020204" pitchFamily="34" charset="-122"/>
              </a:rPr>
              <a:t>都</a:t>
            </a:r>
            <a:r>
              <a:rPr lang="zh-CN" altLang="en-US" sz="1600" b="1" dirty="0">
                <a:latin typeface="微软雅黑" panose="020B0503020204020204" pitchFamily="34" charset="-122"/>
                <a:ea typeface="微软雅黑" panose="020B0503020204020204" pitchFamily="34" charset="-122"/>
              </a:rPr>
              <a:t>回答</a:t>
            </a:r>
            <a:r>
              <a:rPr lang="zh-CN" altLang="en-US" sz="1600" b="1" dirty="0">
                <a:solidFill>
                  <a:srgbClr val="C00000"/>
                </a:solidFill>
                <a:latin typeface="微软雅黑" panose="020B0503020204020204" pitchFamily="34" charset="-122"/>
                <a:ea typeface="微软雅黑" panose="020B0503020204020204" pitchFamily="34" charset="-122"/>
              </a:rPr>
              <a:t>探测响应</a:t>
            </a:r>
            <a:r>
              <a:rPr lang="zh-CN" altLang="en-US" sz="1600" b="1" dirty="0" smtClean="0">
                <a:solidFill>
                  <a:srgbClr val="C00000"/>
                </a:solidFill>
                <a:latin typeface="微软雅黑" panose="020B0503020204020204" pitchFamily="34" charset="-122"/>
                <a:ea typeface="微软雅黑" panose="020B0503020204020204" pitchFamily="34" charset="-122"/>
              </a:rPr>
              <a:t>帧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Probe Response frame)</a:t>
            </a:r>
            <a:r>
              <a:rPr lang="zh-CN" altLang="en-US"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a:p>
            <a:pPr>
              <a:lnSpc>
                <a:spcPts val="2200"/>
              </a:lnSpc>
            </a:pPr>
            <a:r>
              <a:rPr lang="zh-CN" altLang="en-US" sz="16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smtClean="0">
                <a:latin typeface="微软雅黑" panose="020B0503020204020204" pitchFamily="34" charset="-122"/>
                <a:ea typeface="微软雅黑" panose="020B0503020204020204" pitchFamily="34" charset="-122"/>
              </a:rPr>
              <a:t>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向 </a:t>
            </a:r>
            <a:r>
              <a:rPr lang="en-US" altLang="zh-CN" sz="1600" b="1" dirty="0" smtClean="0">
                <a:latin typeface="微软雅黑" panose="020B0503020204020204" pitchFamily="34" charset="-122"/>
                <a:ea typeface="微软雅黑" panose="020B0503020204020204" pitchFamily="34" charset="-122"/>
              </a:rPr>
              <a:t>AP</a:t>
            </a:r>
            <a:r>
              <a:rPr lang="en-US" altLang="zh-CN" sz="1600" b="1" baseline="-25000" dirty="0" smtClean="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发出</a:t>
            </a:r>
            <a:r>
              <a:rPr lang="zh-CN" altLang="en-US" sz="1600" b="1" dirty="0">
                <a:solidFill>
                  <a:srgbClr val="C00000"/>
                </a:solidFill>
                <a:latin typeface="微软雅黑" panose="020B0503020204020204" pitchFamily="34" charset="-122"/>
                <a:ea typeface="微软雅黑" panose="020B0503020204020204" pitchFamily="34" charset="-122"/>
              </a:rPr>
              <a:t>关联请求</a:t>
            </a:r>
            <a:r>
              <a:rPr lang="zh-CN" altLang="en-US" sz="1600" b="1" dirty="0" smtClean="0">
                <a:solidFill>
                  <a:srgbClr val="C00000"/>
                </a:solidFill>
                <a:latin typeface="微软雅黑" panose="020B0503020204020204" pitchFamily="34" charset="-122"/>
                <a:ea typeface="微软雅黑" panose="020B0503020204020204" pitchFamily="34" charset="-122"/>
              </a:rPr>
              <a:t>帧 </a:t>
            </a:r>
            <a:r>
              <a:rPr lang="en-US" altLang="zh-CN" sz="1600" b="1" dirty="0">
                <a:latin typeface="微软雅黑" panose="020B0503020204020204" pitchFamily="34" charset="-122"/>
                <a:ea typeface="微软雅黑" panose="020B0503020204020204" pitchFamily="34" charset="-122"/>
              </a:rPr>
              <a:t>(Association Response frame)</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a:p>
            <a:pPr>
              <a:lnSpc>
                <a:spcPts val="2200"/>
              </a:lnSpc>
            </a:pPr>
            <a:r>
              <a:rPr lang="zh-CN" altLang="en-US" sz="16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en-US" altLang="zh-CN" sz="1600" b="1" dirty="0" smtClean="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向移动站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发送</a:t>
            </a:r>
            <a:r>
              <a:rPr lang="zh-CN" altLang="en-US" sz="1600" b="1" dirty="0">
                <a:latin typeface="微软雅黑" panose="020B0503020204020204" pitchFamily="34" charset="-122"/>
                <a:ea typeface="微软雅黑" panose="020B0503020204020204" pitchFamily="34" charset="-122"/>
              </a:rPr>
              <a:t>关联响应帧，与</a:t>
            </a:r>
            <a:r>
              <a:rPr lang="zh-CN" altLang="en-US" sz="1600" b="1" dirty="0" smtClean="0">
                <a:latin typeface="微软雅黑" panose="020B0503020204020204" pitchFamily="34" charset="-122"/>
                <a:ea typeface="微软雅黑" panose="020B0503020204020204" pitchFamily="34" charset="-122"/>
              </a:rPr>
              <a:t>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建立关联</a:t>
            </a:r>
            <a:r>
              <a:rPr lang="zh-CN" altLang="en-US"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
        <p:nvSpPr>
          <p:cNvPr id="56"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建立关联的两种</a:t>
            </a:r>
            <a:r>
              <a:rPr lang="zh-CN" altLang="en-US" sz="2000" b="1" dirty="0" smtClean="0">
                <a:latin typeface="微软雅黑" panose="020B0503020204020204" pitchFamily="34" charset="-122"/>
                <a:ea typeface="微软雅黑" panose="020B0503020204020204" pitchFamily="34" charset="-122"/>
              </a:rPr>
              <a:t>方法：</a:t>
            </a:r>
            <a:r>
              <a:rPr lang="en-US" altLang="zh-CN" sz="2000" b="1" dirty="0" smtClean="0">
                <a:solidFill>
                  <a:srgbClr val="0000FF"/>
                </a:solidFill>
                <a:latin typeface="微软雅黑" panose="020B0503020204020204" pitchFamily="34" charset="-122"/>
                <a:ea typeface="微软雅黑" panose="020B0503020204020204" pitchFamily="34" charset="-122"/>
                <a:sym typeface="Wingdings" panose="05000000000000000000" pitchFamily="2" charset="2"/>
              </a:rPr>
              <a:t>(2) </a:t>
            </a:r>
            <a:r>
              <a:rPr lang="zh-CN" altLang="en-US" sz="2000" b="1" dirty="0" smtClean="0">
                <a:solidFill>
                  <a:srgbClr val="0000FF"/>
                </a:solidFill>
                <a:latin typeface="微软雅黑" panose="020B0503020204020204" pitchFamily="34" charset="-122"/>
                <a:ea typeface="微软雅黑" panose="020B0503020204020204" pitchFamily="34" charset="-122"/>
              </a:rPr>
              <a:t>主动</a:t>
            </a:r>
            <a:r>
              <a:rPr lang="zh-CN" altLang="en-US" sz="2000" b="1" dirty="0">
                <a:solidFill>
                  <a:srgbClr val="0000FF"/>
                </a:solidFill>
                <a:latin typeface="微软雅黑" panose="020B0503020204020204" pitchFamily="34" charset="-122"/>
                <a:ea typeface="微软雅黑" panose="020B0503020204020204" pitchFamily="34" charset="-122"/>
              </a:rPr>
              <a:t>扫描</a:t>
            </a:r>
            <a:endParaRPr lang="en-US" altLang="zh-CN" sz="2000" b="1" dirty="0">
              <a:solidFill>
                <a:srgbClr val="0000FF"/>
              </a:solidFill>
              <a:latin typeface="微软雅黑" panose="020B0503020204020204" pitchFamily="34" charset="-122"/>
              <a:ea typeface="微软雅黑" panose="020B0503020204020204" pitchFamily="34" charset="-122"/>
            </a:endParaRPr>
          </a:p>
        </p:txBody>
      </p:sp>
      <p:sp>
        <p:nvSpPr>
          <p:cNvPr id="60" name="Oval 70"/>
          <p:cNvSpPr>
            <a:spLocks noChangeArrowheads="1"/>
          </p:cNvSpPr>
          <p:nvPr/>
        </p:nvSpPr>
        <p:spPr bwMode="auto">
          <a:xfrm>
            <a:off x="1668551" y="1109160"/>
            <a:ext cx="3178782" cy="1776142"/>
          </a:xfrm>
          <a:prstGeom prst="ellipse">
            <a:avLst/>
          </a:prstGeom>
          <a:solidFill>
            <a:srgbClr val="FFFFFF"/>
          </a:solidFill>
          <a:ln w="19050">
            <a:solidFill>
              <a:srgbClr val="000099"/>
            </a:solidFill>
            <a:prstDash val="dash"/>
            <a:rou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Oval 70"/>
          <p:cNvSpPr>
            <a:spLocks noChangeArrowheads="1"/>
          </p:cNvSpPr>
          <p:nvPr/>
        </p:nvSpPr>
        <p:spPr bwMode="auto">
          <a:xfrm>
            <a:off x="3986001" y="1119055"/>
            <a:ext cx="3178782" cy="1776142"/>
          </a:xfrm>
          <a:prstGeom prst="ellipse">
            <a:avLst/>
          </a:prstGeom>
          <a:solidFill>
            <a:srgbClr val="FFFFFF">
              <a:alpha val="70000"/>
            </a:srgbClr>
          </a:solidFill>
          <a:ln w="19050">
            <a:solidFill>
              <a:srgbClr val="C00000"/>
            </a:solidFill>
            <a:prstDash val="dash"/>
            <a:rou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Text Box 96"/>
          <p:cNvSpPr txBox="1">
            <a:spLocks noChangeArrowheads="1"/>
          </p:cNvSpPr>
          <p:nvPr/>
        </p:nvSpPr>
        <p:spPr bwMode="auto">
          <a:xfrm>
            <a:off x="4232067" y="2784624"/>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endParaRPr lang="en-US" altLang="zh-CN" sz="1800" b="1" dirty="0">
              <a:latin typeface="微软雅黑" panose="020B0503020204020204" pitchFamily="34" charset="-122"/>
              <a:ea typeface="微软雅黑" panose="020B0503020204020204" pitchFamily="34" charset="-122"/>
            </a:endParaRPr>
          </a:p>
        </p:txBody>
      </p:sp>
      <p:sp>
        <p:nvSpPr>
          <p:cNvPr id="78" name="Text Box 96"/>
          <p:cNvSpPr txBox="1">
            <a:spLocks noChangeArrowheads="1"/>
          </p:cNvSpPr>
          <p:nvPr/>
        </p:nvSpPr>
        <p:spPr bwMode="auto">
          <a:xfrm>
            <a:off x="2008839" y="182932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a:latin typeface="微软雅黑" panose="020B0503020204020204" pitchFamily="34" charset="-122"/>
                <a:ea typeface="微软雅黑" panose="020B0503020204020204" pitchFamily="34" charset="-122"/>
              </a:rPr>
              <a:t>AP</a:t>
            </a:r>
            <a:r>
              <a:rPr lang="en-US" altLang="zh-CN" sz="1800" b="1" baseline="-25000">
                <a:latin typeface="微软雅黑" panose="020B0503020204020204" pitchFamily="34" charset="-122"/>
                <a:ea typeface="微软雅黑" panose="020B0503020204020204" pitchFamily="34" charset="-122"/>
              </a:rPr>
              <a:t>1</a:t>
            </a:r>
            <a:endParaRPr lang="en-US" altLang="zh-CN" sz="1800" b="1" baseline="-25000">
              <a:latin typeface="微软雅黑" panose="020B0503020204020204" pitchFamily="34" charset="-122"/>
              <a:ea typeface="微软雅黑" panose="020B0503020204020204" pitchFamily="34" charset="-122"/>
            </a:endParaRPr>
          </a:p>
        </p:txBody>
      </p:sp>
      <p:grpSp>
        <p:nvGrpSpPr>
          <p:cNvPr id="114" name="组合 113"/>
          <p:cNvGrpSpPr/>
          <p:nvPr/>
        </p:nvGrpSpPr>
        <p:grpSpPr>
          <a:xfrm>
            <a:off x="4084482" y="2396894"/>
            <a:ext cx="670033" cy="464129"/>
            <a:chOff x="4406004" y="4260453"/>
            <a:chExt cx="558674" cy="429804"/>
          </a:xfrm>
        </p:grpSpPr>
        <p:grpSp>
          <p:nvGrpSpPr>
            <p:cNvPr id="115" name="Group 460"/>
            <p:cNvGrpSpPr/>
            <p:nvPr/>
          </p:nvGrpSpPr>
          <p:grpSpPr bwMode="auto">
            <a:xfrm>
              <a:off x="4543772" y="4322623"/>
              <a:ext cx="420906" cy="367634"/>
              <a:chOff x="657" y="1570"/>
              <a:chExt cx="318" cy="318"/>
            </a:xfrm>
          </p:grpSpPr>
          <p:sp>
            <p:nvSpPr>
              <p:cNvPr id="12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4" name="Picture 462" descr="laptop copy"/>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oup 463"/>
            <p:cNvGrpSpPr/>
            <p:nvPr/>
          </p:nvGrpSpPr>
          <p:grpSpPr bwMode="auto">
            <a:xfrm>
              <a:off x="4406004" y="4260453"/>
              <a:ext cx="405022" cy="119404"/>
              <a:chOff x="748" y="2251"/>
              <a:chExt cx="306" cy="90"/>
            </a:xfrm>
            <a:solidFill>
              <a:srgbClr val="0066FF"/>
            </a:solidFill>
          </p:grpSpPr>
          <p:sp>
            <p:nvSpPr>
              <p:cNvPr id="11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62" name="Text Box 84"/>
          <p:cNvSpPr txBox="1">
            <a:spLocks noChangeArrowheads="1"/>
          </p:cNvSpPr>
          <p:nvPr/>
        </p:nvSpPr>
        <p:spPr bwMode="auto">
          <a:xfrm>
            <a:off x="2880485" y="112029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79" name="Text Box 96"/>
          <p:cNvSpPr txBox="1">
            <a:spLocks noChangeArrowheads="1"/>
          </p:cNvSpPr>
          <p:nvPr/>
        </p:nvSpPr>
        <p:spPr bwMode="auto">
          <a:xfrm>
            <a:off x="6239034" y="1688701"/>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endParaRPr lang="en-US" altLang="zh-CN" sz="1800" b="1" baseline="-25000" dirty="0">
              <a:latin typeface="微软雅黑" panose="020B0503020204020204" pitchFamily="34" charset="-122"/>
              <a:ea typeface="微软雅黑" panose="020B0503020204020204" pitchFamily="34" charset="-122"/>
            </a:endParaRPr>
          </a:p>
        </p:txBody>
      </p:sp>
      <p:sp>
        <p:nvSpPr>
          <p:cNvPr id="80" name="Text Box 84"/>
          <p:cNvSpPr txBox="1">
            <a:spLocks noChangeArrowheads="1"/>
          </p:cNvSpPr>
          <p:nvPr/>
        </p:nvSpPr>
        <p:spPr bwMode="auto">
          <a:xfrm>
            <a:off x="5237587" y="117595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19" name="组合 18"/>
          <p:cNvGrpSpPr/>
          <p:nvPr/>
        </p:nvGrpSpPr>
        <p:grpSpPr>
          <a:xfrm>
            <a:off x="4475127" y="2010990"/>
            <a:ext cx="1304124" cy="770522"/>
            <a:chOff x="4632443" y="2010990"/>
            <a:chExt cx="1304124" cy="770522"/>
          </a:xfrm>
        </p:grpSpPr>
        <p:sp>
          <p:nvSpPr>
            <p:cNvPr id="59" name="Line 245"/>
            <p:cNvSpPr>
              <a:spLocks noChangeShapeType="1"/>
            </p:cNvSpPr>
            <p:nvPr/>
          </p:nvSpPr>
          <p:spPr bwMode="auto">
            <a:xfrm flipV="1">
              <a:off x="4889252" y="2010990"/>
              <a:ext cx="1047315" cy="560463"/>
            </a:xfrm>
            <a:prstGeom prst="line">
              <a:avLst/>
            </a:prstGeom>
            <a:noFill/>
            <a:ln w="9525">
              <a:solidFill>
                <a:srgbClr val="9900CC"/>
              </a:solidFill>
              <a:rou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82" name="TextBox 123"/>
            <p:cNvSpPr txBox="1">
              <a:spLocks noChangeArrowheads="1"/>
            </p:cNvSpPr>
            <p:nvPr/>
          </p:nvSpPr>
          <p:spPr bwMode="auto">
            <a:xfrm>
              <a:off x="4632443" y="2412180"/>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4676594" y="2229459"/>
            <a:ext cx="1953929" cy="521954"/>
            <a:chOff x="4833910" y="2229459"/>
            <a:chExt cx="1953929" cy="521954"/>
          </a:xfrm>
        </p:grpSpPr>
        <p:sp>
          <p:nvSpPr>
            <p:cNvPr id="93" name="Line 245"/>
            <p:cNvSpPr>
              <a:spLocks noChangeShapeType="1"/>
            </p:cNvSpPr>
            <p:nvPr/>
          </p:nvSpPr>
          <p:spPr bwMode="auto">
            <a:xfrm rot="5400000" flipH="1" flipV="1">
              <a:off x="5653313" y="1616886"/>
              <a:ext cx="315124" cy="1953929"/>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9" name="TextBox 90"/>
            <p:cNvSpPr txBox="1">
              <a:spLocks noChangeArrowheads="1"/>
            </p:cNvSpPr>
            <p:nvPr/>
          </p:nvSpPr>
          <p:spPr bwMode="auto">
            <a:xfrm>
              <a:off x="6360797" y="2229459"/>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pic>
        <p:nvPicPr>
          <p:cNvPr id="112" name="Picture 222" descr="D-Link%20DI-713P%20Wireless%20Broadband%20route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00686" y="1720907"/>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222" descr="D-Link%20DI-713P%20Wireless%20Broadband%20route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97943" y="1618681"/>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 name="组合 16"/>
          <p:cNvGrpSpPr/>
          <p:nvPr/>
        </p:nvGrpSpPr>
        <p:grpSpPr>
          <a:xfrm>
            <a:off x="2871760" y="1857159"/>
            <a:ext cx="1362200" cy="700678"/>
            <a:chOff x="3029076" y="1857159"/>
            <a:chExt cx="1362200" cy="700678"/>
          </a:xfrm>
        </p:grpSpPr>
        <p:sp>
          <p:nvSpPr>
            <p:cNvPr id="90" name="Line 245"/>
            <p:cNvSpPr>
              <a:spLocks noChangeShapeType="1"/>
            </p:cNvSpPr>
            <p:nvPr/>
          </p:nvSpPr>
          <p:spPr bwMode="auto">
            <a:xfrm>
              <a:off x="3285869" y="2037398"/>
              <a:ext cx="1105407" cy="520439"/>
            </a:xfrm>
            <a:prstGeom prst="line">
              <a:avLst/>
            </a:prstGeom>
            <a:noFill/>
            <a:ln w="9525">
              <a:solidFill>
                <a:srgbClr val="990000"/>
              </a:solidFill>
              <a:rou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1" name="TextBox 126"/>
            <p:cNvSpPr txBox="1">
              <a:spLocks noChangeArrowheads="1"/>
            </p:cNvSpPr>
            <p:nvPr/>
          </p:nvSpPr>
          <p:spPr bwMode="auto">
            <a:xfrm>
              <a:off x="3029076" y="1857159"/>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3337723" y="1595641"/>
            <a:ext cx="824510" cy="798625"/>
            <a:chOff x="3495039" y="1595641"/>
            <a:chExt cx="824510" cy="798625"/>
          </a:xfrm>
        </p:grpSpPr>
        <p:sp>
          <p:nvSpPr>
            <p:cNvPr id="85" name="Line 245"/>
            <p:cNvSpPr>
              <a:spLocks noChangeShapeType="1"/>
            </p:cNvSpPr>
            <p:nvPr/>
          </p:nvSpPr>
          <p:spPr bwMode="auto">
            <a:xfrm rot="5400000" flipH="1">
              <a:off x="3511249" y="1585967"/>
              <a:ext cx="792089" cy="824510"/>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5" name="TextBox 90"/>
            <p:cNvSpPr txBox="1">
              <a:spLocks noChangeArrowheads="1"/>
            </p:cNvSpPr>
            <p:nvPr/>
          </p:nvSpPr>
          <p:spPr bwMode="auto">
            <a:xfrm>
              <a:off x="3536962" y="159564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2" name="组合 11"/>
          <p:cNvGrpSpPr/>
          <p:nvPr/>
        </p:nvGrpSpPr>
        <p:grpSpPr>
          <a:xfrm>
            <a:off x="2862522" y="2113495"/>
            <a:ext cx="1391246" cy="532935"/>
            <a:chOff x="3019838" y="2113495"/>
            <a:chExt cx="1391246" cy="532935"/>
          </a:xfrm>
        </p:grpSpPr>
        <p:sp>
          <p:nvSpPr>
            <p:cNvPr id="75" name="Line 245"/>
            <p:cNvSpPr>
              <a:spLocks noChangeShapeType="1"/>
            </p:cNvSpPr>
            <p:nvPr/>
          </p:nvSpPr>
          <p:spPr bwMode="auto">
            <a:xfrm rot="5400000" flipH="1">
              <a:off x="3448993" y="1684340"/>
              <a:ext cx="532935" cy="1391246"/>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6" name="TextBox 90"/>
            <p:cNvSpPr txBox="1">
              <a:spLocks noChangeArrowheads="1"/>
            </p:cNvSpPr>
            <p:nvPr/>
          </p:nvSpPr>
          <p:spPr bwMode="auto">
            <a:xfrm>
              <a:off x="3235828" y="215836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662057" y="2439874"/>
            <a:ext cx="1541617" cy="369332"/>
            <a:chOff x="2819373" y="2439874"/>
            <a:chExt cx="1541617" cy="369332"/>
          </a:xfrm>
        </p:grpSpPr>
        <p:sp>
          <p:nvSpPr>
            <p:cNvPr id="84" name="Line 245"/>
            <p:cNvSpPr>
              <a:spLocks noChangeShapeType="1"/>
            </p:cNvSpPr>
            <p:nvPr/>
          </p:nvSpPr>
          <p:spPr bwMode="auto">
            <a:xfrm rot="5400000" flipH="1">
              <a:off x="3507010" y="1817946"/>
              <a:ext cx="166343" cy="1541617"/>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7" name="TextBox 90"/>
            <p:cNvSpPr txBox="1">
              <a:spLocks noChangeArrowheads="1"/>
            </p:cNvSpPr>
            <p:nvPr/>
          </p:nvSpPr>
          <p:spPr bwMode="auto">
            <a:xfrm>
              <a:off x="3097577" y="2439874"/>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4560957" y="1765465"/>
            <a:ext cx="1300008" cy="760214"/>
            <a:chOff x="4718273" y="1765465"/>
            <a:chExt cx="1300008" cy="760214"/>
          </a:xfrm>
        </p:grpSpPr>
        <p:sp>
          <p:nvSpPr>
            <p:cNvPr id="83" name="Line 245"/>
            <p:cNvSpPr>
              <a:spLocks noChangeShapeType="1"/>
            </p:cNvSpPr>
            <p:nvPr/>
          </p:nvSpPr>
          <p:spPr bwMode="auto">
            <a:xfrm flipH="1">
              <a:off x="4718273" y="1975880"/>
              <a:ext cx="1036797" cy="549799"/>
            </a:xfrm>
            <a:prstGeom prst="line">
              <a:avLst/>
            </a:prstGeom>
            <a:noFill/>
            <a:ln w="9525">
              <a:solidFill>
                <a:srgbClr val="990000"/>
              </a:solidFill>
              <a:rou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8" name="TextBox 126"/>
            <p:cNvSpPr txBox="1">
              <a:spLocks noChangeArrowheads="1"/>
            </p:cNvSpPr>
            <p:nvPr/>
          </p:nvSpPr>
          <p:spPr bwMode="auto">
            <a:xfrm>
              <a:off x="5628431" y="176546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5" name="组合 14"/>
          <p:cNvGrpSpPr/>
          <p:nvPr/>
        </p:nvGrpSpPr>
        <p:grpSpPr>
          <a:xfrm>
            <a:off x="4461827" y="1838412"/>
            <a:ext cx="1083478" cy="611510"/>
            <a:chOff x="4619143" y="1838412"/>
            <a:chExt cx="1083478" cy="611510"/>
          </a:xfrm>
        </p:grpSpPr>
        <p:sp>
          <p:nvSpPr>
            <p:cNvPr id="81" name="Line 245"/>
            <p:cNvSpPr>
              <a:spLocks noChangeShapeType="1"/>
            </p:cNvSpPr>
            <p:nvPr/>
          </p:nvSpPr>
          <p:spPr bwMode="auto">
            <a:xfrm flipV="1">
              <a:off x="4619143" y="1846775"/>
              <a:ext cx="1083478" cy="603147"/>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9" name="TextBox 90"/>
            <p:cNvSpPr txBox="1">
              <a:spLocks noChangeArrowheads="1"/>
            </p:cNvSpPr>
            <p:nvPr/>
          </p:nvSpPr>
          <p:spPr bwMode="auto">
            <a:xfrm>
              <a:off x="5055047" y="183841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4761421" y="1920866"/>
            <a:ext cx="1307897" cy="777350"/>
            <a:chOff x="4918737" y="1920866"/>
            <a:chExt cx="1307897" cy="777350"/>
          </a:xfrm>
        </p:grpSpPr>
        <p:sp>
          <p:nvSpPr>
            <p:cNvPr id="92" name="Line 245"/>
            <p:cNvSpPr>
              <a:spLocks noChangeShapeType="1"/>
            </p:cNvSpPr>
            <p:nvPr/>
          </p:nvSpPr>
          <p:spPr bwMode="auto">
            <a:xfrm flipH="1">
              <a:off x="4918737" y="2132524"/>
              <a:ext cx="1069983" cy="565692"/>
            </a:xfrm>
            <a:prstGeom prst="line">
              <a:avLst/>
            </a:prstGeom>
            <a:noFill/>
            <a:ln w="9525">
              <a:solidFill>
                <a:srgbClr val="0000FF"/>
              </a:solidFill>
              <a:rou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8" name="TextBox 89"/>
            <p:cNvSpPr txBox="1">
              <a:spLocks noChangeArrowheads="1"/>
            </p:cNvSpPr>
            <p:nvPr/>
          </p:nvSpPr>
          <p:spPr bwMode="auto">
            <a:xfrm>
              <a:off x="5836784" y="192086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4102764" y="1551959"/>
            <a:ext cx="409513" cy="860221"/>
            <a:chOff x="4260080" y="1551959"/>
            <a:chExt cx="409513" cy="860221"/>
          </a:xfrm>
        </p:grpSpPr>
        <p:sp>
          <p:nvSpPr>
            <p:cNvPr id="86" name="Line 245"/>
            <p:cNvSpPr>
              <a:spLocks noChangeShapeType="1"/>
            </p:cNvSpPr>
            <p:nvPr/>
          </p:nvSpPr>
          <p:spPr bwMode="auto">
            <a:xfrm rot="5400000" flipH="1" flipV="1">
              <a:off x="4086080" y="1980452"/>
              <a:ext cx="860221" cy="3236"/>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0" name="TextBox 90"/>
            <p:cNvSpPr txBox="1">
              <a:spLocks noChangeArrowheads="1"/>
            </p:cNvSpPr>
            <p:nvPr/>
          </p:nvSpPr>
          <p:spPr bwMode="auto">
            <a:xfrm>
              <a:off x="4260080" y="164596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21" name="矩形 20"/>
          <p:cNvSpPr/>
          <p:nvPr/>
        </p:nvSpPr>
        <p:spPr>
          <a:xfrm>
            <a:off x="7213335" y="1774568"/>
            <a:ext cx="1438649" cy="1323439"/>
          </a:xfrm>
          <a:prstGeom prst="rect">
            <a:avLst/>
          </a:prstGeom>
        </p:spPr>
        <p:txBody>
          <a:bodyPr wrap="square">
            <a:spAutoFit/>
          </a:bodyPr>
          <a:lstStyle/>
          <a:p>
            <a:pPr eaLnBrk="0" hangingPunct="0">
              <a:lnSpc>
                <a:spcPts val="2400"/>
              </a:lnSpc>
              <a:buClr>
                <a:srgbClr val="0070C0"/>
              </a:buClr>
            </a:pPr>
            <a:r>
              <a:rPr lang="zh-CN" altLang="en-US" sz="1600" b="1" dirty="0">
                <a:latin typeface="微软雅黑" panose="020B0503020204020204" pitchFamily="34" charset="-122"/>
                <a:ea typeface="微软雅黑" panose="020B0503020204020204" pitchFamily="34" charset="-122"/>
              </a:rPr>
              <a:t>一个移动站可以</a:t>
            </a:r>
            <a:r>
              <a:rPr lang="zh-CN" altLang="en-US" sz="1600" b="1" dirty="0">
                <a:solidFill>
                  <a:srgbClr val="C00000"/>
                </a:solidFill>
                <a:latin typeface="微软雅黑" panose="020B0503020204020204" pitchFamily="34" charset="-122"/>
                <a:ea typeface="微软雅黑" panose="020B0503020204020204" pitchFamily="34" charset="-122"/>
              </a:rPr>
              <a:t>同时</a:t>
            </a:r>
            <a:r>
              <a:rPr lang="zh-CN" altLang="en-US" sz="1600" b="1" dirty="0">
                <a:latin typeface="微软雅黑" panose="020B0503020204020204" pitchFamily="34" charset="-122"/>
                <a:ea typeface="微软雅黑" panose="020B0503020204020204" pitchFamily="34" charset="-122"/>
              </a:rPr>
              <a:t>进行主动扫描和被动扫描。</a:t>
            </a:r>
            <a:endParaRPr lang="en-US" altLang="zh-CN"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repeatCount="3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right)">
                                      <p:cBhvr>
                                        <p:cTn id="10" dur="1000"/>
                                        <p:tgtEl>
                                          <p:spTgt spid="12"/>
                                        </p:tgtEl>
                                      </p:cBhvr>
                                    </p:animEffect>
                                  </p:childTnLst>
                                </p:cTn>
                              </p:par>
                              <p:par>
                                <p:cTn id="11" presetID="22" presetClass="entr" presetSubtype="2" repeatCount="300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right)">
                                      <p:cBhvr>
                                        <p:cTn id="13" dur="1000"/>
                                        <p:tgtEl>
                                          <p:spTgt spid="13"/>
                                        </p:tgtEl>
                                      </p:cBhvr>
                                    </p:animEffect>
                                  </p:childTnLst>
                                </p:cTn>
                              </p:par>
                              <p:par>
                                <p:cTn id="14" presetID="22" presetClass="entr" presetSubtype="4" repeatCount="300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1000"/>
                                        <p:tgtEl>
                                          <p:spTgt spid="14"/>
                                        </p:tgtEl>
                                      </p:cBhvr>
                                    </p:animEffect>
                                  </p:childTnLst>
                                </p:cTn>
                              </p:par>
                              <p:par>
                                <p:cTn id="17" presetID="22" presetClass="entr" presetSubtype="8" repeatCount="3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1000"/>
                                        <p:tgtEl>
                                          <p:spTgt spid="15"/>
                                        </p:tgtEl>
                                      </p:cBhvr>
                                    </p:animEffect>
                                  </p:childTnLst>
                                </p:cTn>
                              </p:par>
                              <p:par>
                                <p:cTn id="20" presetID="22" presetClass="entr" presetSubtype="8" repeatCount="3000"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left)">
                                      <p:cBhvr>
                                        <p:cTn id="22" dur="10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1000"/>
                                        <p:tgtEl>
                                          <p:spTgt spid="17"/>
                                        </p:tgtEl>
                                      </p:cBhvr>
                                    </p:animEffect>
                                  </p:childTnLst>
                                </p:cTn>
                              </p:par>
                              <p:par>
                                <p:cTn id="28" presetID="22" presetClass="entr" presetSubtype="2"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wipe(right)">
                                      <p:cBhvr>
                                        <p:cTn id="30" dur="1000"/>
                                        <p:tgtEl>
                                          <p:spTgt spid="1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down)">
                                      <p:cBhvr>
                                        <p:cTn id="35" dur="10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wipe(up)">
                                      <p:cBhvr>
                                        <p:cTn id="40" dur="10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18228"/>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8400"/>
            <a:ext cx="5845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重建</a:t>
            </a:r>
            <a:r>
              <a:rPr lang="zh-CN" altLang="en-US" sz="2000" b="1" dirty="0" smtClean="0">
                <a:latin typeface="微软雅黑" panose="020B0503020204020204" pitchFamily="34" charset="-122"/>
                <a:ea typeface="微软雅黑" panose="020B0503020204020204" pitchFamily="34" charset="-122"/>
              </a:rPr>
              <a:t>关联 </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reassociation</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和分离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dissociation)</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28050"/>
            <a:ext cx="8133857"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移动站</a:t>
            </a: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重建</a:t>
            </a:r>
            <a:r>
              <a:rPr lang="zh-CN" altLang="en-US" sz="2000" b="1" dirty="0" smtClean="0">
                <a:solidFill>
                  <a:srgbClr val="C00000"/>
                </a:solidFill>
                <a:latin typeface="微软雅黑" panose="020B0503020204020204" pitchFamily="34" charset="-122"/>
                <a:ea typeface="微软雅黑" panose="020B0503020204020204" pitchFamily="34" charset="-122"/>
              </a:rPr>
              <a:t>关联 </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reassociation</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服务，可</a:t>
            </a:r>
            <a:r>
              <a:rPr lang="zh-CN" altLang="en-US" sz="2000" b="1" dirty="0">
                <a:latin typeface="微软雅黑" panose="020B0503020204020204" pitchFamily="34" charset="-122"/>
                <a:ea typeface="微软雅黑" panose="020B0503020204020204" pitchFamily="34" charset="-122"/>
              </a:rPr>
              <a:t>把这种关联转移到另一个接入点。</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a:t>
            </a: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分离</a:t>
            </a:r>
            <a:r>
              <a:rPr lang="zh-CN" altLang="en-US" sz="2000" b="1" dirty="0" smtClean="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dissociation</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服务</a:t>
            </a:r>
            <a:r>
              <a:rPr lang="zh-CN" altLang="en-US" sz="2000" b="1" dirty="0">
                <a:latin typeface="微软雅黑" panose="020B0503020204020204" pitchFamily="34" charset="-122"/>
                <a:ea typeface="微软雅黑" panose="020B0503020204020204" pitchFamily="34" charset="-122"/>
              </a:rPr>
              <a:t>时</a:t>
            </a:r>
            <a:r>
              <a:rPr lang="zh-CN" altLang="en-US" sz="2000" b="1" dirty="0" smtClean="0">
                <a:latin typeface="微软雅黑" panose="020B0503020204020204" pitchFamily="34" charset="-122"/>
                <a:ea typeface="微软雅黑" panose="020B0503020204020204" pitchFamily="34" charset="-122"/>
              </a:rPr>
              <a:t>，可</a:t>
            </a:r>
            <a:r>
              <a:rPr lang="zh-CN" altLang="en-US" sz="2000" b="1" dirty="0">
                <a:latin typeface="微软雅黑" panose="020B0503020204020204" pitchFamily="34" charset="-122"/>
                <a:ea typeface="微软雅黑" panose="020B0503020204020204" pitchFamily="34" charset="-122"/>
              </a:rPr>
              <a:t>终止这种关联</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322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p>
        </p:txBody>
      </p:sp>
      <p:sp>
        <p:nvSpPr>
          <p:cNvPr id="6" name="矩形 4"/>
          <p:cNvSpPr>
            <a:spLocks noChangeArrowheads="1"/>
          </p:cNvSpPr>
          <p:nvPr/>
        </p:nvSpPr>
        <p:spPr bwMode="auto">
          <a:xfrm>
            <a:off x="635843" y="573396"/>
            <a:ext cx="3729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smtClean="0">
                <a:latin typeface="微软雅黑" panose="020B0503020204020204" pitchFamily="34" charset="-122"/>
                <a:ea typeface="微软雅黑" panose="020B0503020204020204" pitchFamily="34" charset="-122"/>
              </a:rPr>
              <a:t>安全地建立关联</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38617"/>
            <a:ext cx="813385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用户</a:t>
            </a:r>
            <a:r>
              <a:rPr lang="zh-CN" altLang="en-US" sz="2000" b="1" dirty="0">
                <a:latin typeface="微软雅黑" panose="020B0503020204020204" pitchFamily="34" charset="-122"/>
                <a:ea typeface="微软雅黑" panose="020B0503020204020204" pitchFamily="34" charset="-122"/>
              </a:rPr>
              <a:t>在和附近的</a:t>
            </a:r>
            <a:r>
              <a:rPr lang="zh-CN" altLang="en-US" sz="2000" b="1" dirty="0" smtClean="0">
                <a:latin typeface="微软雅黑" panose="020B0503020204020204" pitchFamily="34" charset="-122"/>
                <a:ea typeface="微软雅黑" panose="020B0503020204020204" pitchFamily="34" charset="-122"/>
              </a:rPr>
              <a:t>接入点 </a:t>
            </a:r>
            <a:r>
              <a:rPr lang="en-US" altLang="zh-CN" sz="2000" b="1" dirty="0" smtClean="0">
                <a:latin typeface="微软雅黑" panose="020B0503020204020204" pitchFamily="34" charset="-122"/>
                <a:ea typeface="微软雅黑" panose="020B0503020204020204" pitchFamily="34" charset="-122"/>
              </a:rPr>
              <a:t>AP </a:t>
            </a:r>
            <a:r>
              <a:rPr lang="zh-CN" altLang="en-US" sz="2000" b="1" dirty="0" smtClean="0">
                <a:latin typeface="微软雅黑" panose="020B0503020204020204" pitchFamily="34" charset="-122"/>
                <a:ea typeface="微软雅黑" panose="020B0503020204020204" pitchFamily="34" charset="-122"/>
              </a:rPr>
              <a:t>建立</a:t>
            </a:r>
            <a:r>
              <a:rPr lang="zh-CN" altLang="en-US" sz="2000" b="1" dirty="0">
                <a:latin typeface="微软雅黑" panose="020B0503020204020204" pitchFamily="34" charset="-122"/>
                <a:ea typeface="微软雅黑" panose="020B0503020204020204" pitchFamily="34" charset="-122"/>
              </a:rPr>
              <a:t>关联时，一般还要键入用户</a:t>
            </a:r>
            <a:r>
              <a:rPr lang="zh-CN" altLang="en-US" sz="2000" b="1" dirty="0" smtClean="0">
                <a:latin typeface="微软雅黑" panose="020B0503020204020204" pitchFamily="34" charset="-122"/>
                <a:ea typeface="微软雅黑" panose="020B0503020204020204" pitchFamily="34" charset="-122"/>
              </a:rPr>
              <a:t>密码。</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初期加密</a:t>
            </a:r>
            <a:r>
              <a:rPr lang="zh-CN" altLang="en-US" sz="2000" b="1" dirty="0">
                <a:latin typeface="微软雅黑" panose="020B0503020204020204" pitchFamily="34" charset="-122"/>
                <a:ea typeface="微软雅黑" panose="020B0503020204020204" pitchFamily="34" charset="-122"/>
              </a:rPr>
              <a:t>方案：</a:t>
            </a:r>
            <a:r>
              <a:rPr lang="zh-CN" altLang="en-US" sz="2000" b="1" dirty="0">
                <a:solidFill>
                  <a:srgbClr val="C00000"/>
                </a:solidFill>
                <a:latin typeface="微软雅黑" panose="020B0503020204020204" pitchFamily="34" charset="-122"/>
                <a:ea typeface="微软雅黑" panose="020B0503020204020204" pitchFamily="34" charset="-122"/>
              </a:rPr>
              <a:t>有线等效的</a:t>
            </a:r>
            <a:r>
              <a:rPr lang="zh-CN" altLang="en-US" sz="2000" b="1" dirty="0" smtClean="0">
                <a:solidFill>
                  <a:srgbClr val="C00000"/>
                </a:solidFill>
                <a:latin typeface="微软雅黑" panose="020B0503020204020204" pitchFamily="34" charset="-122"/>
                <a:ea typeface="微软雅黑" panose="020B0503020204020204" pitchFamily="34" charset="-122"/>
              </a:rPr>
              <a:t>保密 </a:t>
            </a:r>
            <a:r>
              <a:rPr lang="en-US" altLang="zh-CN" sz="2000" b="1" dirty="0" smtClean="0">
                <a:solidFill>
                  <a:srgbClr val="C00000"/>
                </a:solidFill>
                <a:latin typeface="微软雅黑" panose="020B0503020204020204" pitchFamily="34" charset="-122"/>
                <a:ea typeface="微软雅黑" panose="020B0503020204020204" pitchFamily="34" charset="-122"/>
              </a:rPr>
              <a:t>WEP </a:t>
            </a:r>
            <a:r>
              <a:rPr lang="en-US" altLang="zh-CN" sz="2000" b="1" dirty="0">
                <a:latin typeface="微软雅黑" panose="020B0503020204020204" pitchFamily="34" charset="-122"/>
                <a:ea typeface="微软雅黑" panose="020B0503020204020204" pitchFamily="34" charset="-122"/>
              </a:rPr>
              <a:t>(Wired Equivalent </a:t>
            </a:r>
            <a:r>
              <a:rPr lang="en-US" altLang="zh-CN" sz="2000" b="1" dirty="0" smtClean="0">
                <a:latin typeface="微软雅黑" panose="020B0503020204020204" pitchFamily="34" charset="-122"/>
                <a:ea typeface="微软雅黑" panose="020B0503020204020204" pitchFamily="34" charset="-122"/>
              </a:rPr>
              <a:t>Privacy</a:t>
            </a:r>
            <a:r>
              <a:rPr lang="en-US" altLang="zh-CN"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现在加密方案：</a:t>
            </a:r>
            <a:r>
              <a:rPr lang="zh-CN" altLang="en-US" sz="2000" b="1" dirty="0">
                <a:solidFill>
                  <a:srgbClr val="C00000"/>
                </a:solidFill>
                <a:latin typeface="微软雅黑" panose="020B0503020204020204" pitchFamily="34" charset="-122"/>
                <a:ea typeface="微软雅黑" panose="020B0503020204020204" pitchFamily="34" charset="-122"/>
              </a:rPr>
              <a:t>无线局域网受保护的</a:t>
            </a:r>
            <a:r>
              <a:rPr lang="zh-CN" altLang="en-US" sz="2000" b="1" dirty="0" smtClean="0">
                <a:solidFill>
                  <a:srgbClr val="C00000"/>
                </a:solidFill>
                <a:latin typeface="微软雅黑" panose="020B0503020204020204" pitchFamily="34" charset="-122"/>
                <a:ea typeface="微软雅黑" panose="020B0503020204020204" pitchFamily="34" charset="-122"/>
              </a:rPr>
              <a:t>接入 </a:t>
            </a:r>
            <a:r>
              <a:rPr lang="en-US" altLang="zh-CN" sz="2000" b="1" dirty="0" smtClean="0">
                <a:solidFill>
                  <a:srgbClr val="C00000"/>
                </a:solidFill>
                <a:latin typeface="微软雅黑" panose="020B0503020204020204" pitchFamily="34" charset="-122"/>
                <a:ea typeface="微软雅黑" panose="020B0503020204020204" pitchFamily="34" charset="-122"/>
              </a:rPr>
              <a:t>WPA </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WiFi</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Protected </a:t>
            </a:r>
            <a:r>
              <a:rPr lang="en-US" altLang="zh-CN" sz="2000" b="1" dirty="0" smtClean="0">
                <a:latin typeface="微软雅黑" panose="020B0503020204020204" pitchFamily="34" charset="-122"/>
                <a:ea typeface="微软雅黑" panose="020B0503020204020204" pitchFamily="34" charset="-122"/>
              </a:rPr>
              <a:t>Access) </a:t>
            </a:r>
            <a:r>
              <a:rPr lang="zh-CN" altLang="en-US" sz="2000" b="1" dirty="0" smtClean="0">
                <a:latin typeface="微软雅黑" panose="020B0503020204020204" pitchFamily="34" charset="-122"/>
                <a:ea typeface="微软雅黑" panose="020B0503020204020204" pitchFamily="34" charset="-122"/>
              </a:rPr>
              <a:t>或 </a:t>
            </a:r>
            <a:r>
              <a:rPr lang="en-US" altLang="zh-CN" sz="2000" b="1" dirty="0" smtClean="0">
                <a:latin typeface="微软雅黑" panose="020B0503020204020204" pitchFamily="34" charset="-122"/>
                <a:ea typeface="微软雅黑" panose="020B0503020204020204" pitchFamily="34" charset="-122"/>
              </a:rPr>
              <a:t>WPA2</a:t>
            </a:r>
            <a:r>
              <a:rPr lang="zh-CN" altLang="en-US" sz="2000" b="1" dirty="0" smtClean="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圆角矩形 154"/>
          <p:cNvSpPr/>
          <p:nvPr/>
        </p:nvSpPr>
        <p:spPr>
          <a:xfrm>
            <a:off x="509475" y="2168700"/>
            <a:ext cx="8129015" cy="21672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46"/>
          <p:cNvSpPr>
            <a:spLocks noChangeArrowheads="1"/>
          </p:cNvSpPr>
          <p:nvPr/>
        </p:nvSpPr>
        <p:spPr bwMode="auto">
          <a:xfrm>
            <a:off x="509475" y="964105"/>
            <a:ext cx="8129015" cy="1246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又</a:t>
            </a:r>
            <a:r>
              <a:rPr lang="zh-CN" altLang="en-US" sz="2000" b="1" dirty="0">
                <a:latin typeface="微软雅黑" panose="020B0503020204020204" pitchFamily="34" charset="-122"/>
                <a:ea typeface="微软雅黑" panose="020B0503020204020204" pitchFamily="34" charset="-122"/>
              </a:rPr>
              <a:t>称为</a:t>
            </a:r>
            <a:r>
              <a:rPr lang="zh-CN" altLang="en-US" sz="2000" b="1" dirty="0">
                <a:solidFill>
                  <a:srgbClr val="C00000"/>
                </a:solidFill>
                <a:latin typeface="微软雅黑" panose="020B0503020204020204" pitchFamily="34" charset="-122"/>
                <a:ea typeface="微软雅黑" panose="020B0503020204020204" pitchFamily="34" charset="-122"/>
              </a:rPr>
              <a:t>自组</a:t>
            </a:r>
            <a:r>
              <a:rPr lang="zh-CN" altLang="en-US" sz="2000" b="1" dirty="0" smtClean="0">
                <a:solidFill>
                  <a:srgbClr val="C00000"/>
                </a:solidFill>
                <a:latin typeface="微软雅黑" panose="020B0503020204020204" pitchFamily="34" charset="-122"/>
                <a:ea typeface="微软雅黑" panose="020B0503020204020204" pitchFamily="34" charset="-122"/>
              </a:rPr>
              <a:t>网络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ad hoc network) </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没有固定基础设施（即没有 </a:t>
            </a:r>
            <a:r>
              <a:rPr lang="en-US" altLang="zh-CN" sz="2000" b="1" dirty="0">
                <a:latin typeface="微软雅黑" panose="020B0503020204020204" pitchFamily="34" charset="-122"/>
                <a:ea typeface="微软雅黑" panose="020B0503020204020204" pitchFamily="34" charset="-122"/>
              </a:rPr>
              <a:t>AP</a:t>
            </a:r>
            <a:r>
              <a:rPr lang="zh-CN" altLang="en-US" sz="2000" b="1" dirty="0">
                <a:latin typeface="微软雅黑" panose="020B0503020204020204" pitchFamily="34" charset="-122"/>
                <a:ea typeface="微软雅黑" panose="020B0503020204020204" pitchFamily="34" charset="-122"/>
              </a:rPr>
              <a:t>）的无线局域网</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移动站都处于</a:t>
            </a:r>
            <a:r>
              <a:rPr lang="zh-CN" altLang="en-US" sz="2000" b="1" dirty="0">
                <a:latin typeface="微软雅黑" panose="020B0503020204020204" pitchFamily="34" charset="-122"/>
                <a:ea typeface="微软雅黑" panose="020B0503020204020204" pitchFamily="34" charset="-122"/>
              </a:rPr>
              <a:t>平等</a:t>
            </a:r>
            <a:r>
              <a:rPr lang="zh-CN" altLang="en-US" sz="2000" b="1" dirty="0" smtClean="0">
                <a:latin typeface="微软雅黑" panose="020B0503020204020204" pitchFamily="34" charset="-122"/>
                <a:ea typeface="微软雅黑" panose="020B0503020204020204" pitchFamily="34" charset="-122"/>
              </a:rPr>
              <a:t>状态。</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1077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7563"/>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移动自组网络</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
        <p:nvSpPr>
          <p:cNvPr id="5" name="Oval 21"/>
          <p:cNvSpPr>
            <a:spLocks noChangeArrowheads="1"/>
          </p:cNvSpPr>
          <p:nvPr/>
        </p:nvSpPr>
        <p:spPr bwMode="auto">
          <a:xfrm>
            <a:off x="2096395" y="2638111"/>
            <a:ext cx="4509748" cy="1393523"/>
          </a:xfrm>
          <a:prstGeom prst="ellipse">
            <a:avLst/>
          </a:prstGeom>
          <a:solidFill>
            <a:srgbClr val="99FF99"/>
          </a:solidFill>
          <a:ln w="9525">
            <a:solidFill>
              <a:schemeClr val="tx1"/>
            </a:solidFill>
            <a:prstDash val="dash"/>
            <a:rou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 name="Text Box 45"/>
          <p:cNvSpPr txBox="1">
            <a:spLocks noChangeArrowheads="1"/>
          </p:cNvSpPr>
          <p:nvPr/>
        </p:nvSpPr>
        <p:spPr bwMode="auto">
          <a:xfrm>
            <a:off x="3833313" y="3133732"/>
            <a:ext cx="1023847"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自组网络</a:t>
            </a:r>
            <a:endParaRPr lang="zh-CN" altLang="en-US" sz="1600" b="1" dirty="0">
              <a:latin typeface="微软雅黑" panose="020B0503020204020204" pitchFamily="34" charset="-122"/>
              <a:ea typeface="微软雅黑" panose="020B0503020204020204" pitchFamily="34" charset="-122"/>
            </a:endParaRPr>
          </a:p>
        </p:txBody>
      </p:sp>
      <p:sp>
        <p:nvSpPr>
          <p:cNvPr id="7" name="Text Box 172"/>
          <p:cNvSpPr txBox="1">
            <a:spLocks noChangeArrowheads="1"/>
          </p:cNvSpPr>
          <p:nvPr/>
        </p:nvSpPr>
        <p:spPr bwMode="auto">
          <a:xfrm>
            <a:off x="3125435" y="3498082"/>
            <a:ext cx="34258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endParaRPr lang="en-US" altLang="zh-CN" sz="1600" b="1" dirty="0">
              <a:latin typeface="微软雅黑" panose="020B0503020204020204" pitchFamily="34" charset="-122"/>
              <a:ea typeface="微软雅黑" panose="020B0503020204020204" pitchFamily="34" charset="-122"/>
            </a:endParaRPr>
          </a:p>
        </p:txBody>
      </p:sp>
      <p:sp>
        <p:nvSpPr>
          <p:cNvPr id="8" name="Text Box 173"/>
          <p:cNvSpPr txBox="1">
            <a:spLocks noChangeArrowheads="1"/>
          </p:cNvSpPr>
          <p:nvPr/>
        </p:nvSpPr>
        <p:spPr bwMode="auto">
          <a:xfrm>
            <a:off x="6289406" y="3104401"/>
            <a:ext cx="30527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endParaRPr lang="en-US" altLang="zh-CN" sz="1600" b="1">
              <a:latin typeface="微软雅黑" panose="020B0503020204020204" pitchFamily="34" charset="-122"/>
              <a:ea typeface="微软雅黑" panose="020B0503020204020204" pitchFamily="34" charset="-122"/>
            </a:endParaRPr>
          </a:p>
        </p:txBody>
      </p:sp>
      <p:sp>
        <p:nvSpPr>
          <p:cNvPr id="9" name="Text Box 174"/>
          <p:cNvSpPr txBox="1">
            <a:spLocks noChangeArrowheads="1"/>
          </p:cNvSpPr>
          <p:nvPr/>
        </p:nvSpPr>
        <p:spPr bwMode="auto">
          <a:xfrm>
            <a:off x="5144058" y="2654060"/>
            <a:ext cx="35069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D</a:t>
            </a:r>
            <a:endParaRPr lang="en-US" altLang="zh-CN" sz="1600" b="1" dirty="0">
              <a:latin typeface="微软雅黑" panose="020B0503020204020204" pitchFamily="34" charset="-122"/>
              <a:ea typeface="微软雅黑" panose="020B0503020204020204" pitchFamily="34" charset="-122"/>
            </a:endParaRPr>
          </a:p>
        </p:txBody>
      </p:sp>
      <p:sp>
        <p:nvSpPr>
          <p:cNvPr id="10" name="Text Box 175"/>
          <p:cNvSpPr txBox="1">
            <a:spLocks noChangeArrowheads="1"/>
          </p:cNvSpPr>
          <p:nvPr/>
        </p:nvSpPr>
        <p:spPr bwMode="auto">
          <a:xfrm>
            <a:off x="3794689" y="2577449"/>
            <a:ext cx="336092"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endParaRPr lang="en-US" altLang="zh-CN" sz="1600" b="1">
              <a:latin typeface="微软雅黑" panose="020B0503020204020204" pitchFamily="34" charset="-122"/>
              <a:ea typeface="微软雅黑" panose="020B0503020204020204" pitchFamily="34" charset="-122"/>
            </a:endParaRPr>
          </a:p>
        </p:txBody>
      </p:sp>
      <p:sp>
        <p:nvSpPr>
          <p:cNvPr id="11" name="Text Box 176"/>
          <p:cNvSpPr txBox="1">
            <a:spLocks noChangeArrowheads="1"/>
          </p:cNvSpPr>
          <p:nvPr/>
        </p:nvSpPr>
        <p:spPr bwMode="auto">
          <a:xfrm>
            <a:off x="2214935" y="2986720"/>
            <a:ext cx="32960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endParaRPr lang="en-US" altLang="zh-CN" sz="1600" b="1" dirty="0">
              <a:latin typeface="微软雅黑" panose="020B0503020204020204" pitchFamily="34" charset="-122"/>
              <a:ea typeface="微软雅黑" panose="020B0503020204020204" pitchFamily="34" charset="-122"/>
            </a:endParaRPr>
          </a:p>
        </p:txBody>
      </p:sp>
      <p:sp>
        <p:nvSpPr>
          <p:cNvPr id="12" name="Text Box 177"/>
          <p:cNvSpPr txBox="1">
            <a:spLocks noChangeArrowheads="1"/>
          </p:cNvSpPr>
          <p:nvPr/>
        </p:nvSpPr>
        <p:spPr bwMode="auto">
          <a:xfrm>
            <a:off x="5017366" y="3543961"/>
            <a:ext cx="313383"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F</a:t>
            </a:r>
            <a:endParaRPr lang="en-US" altLang="zh-CN" sz="1600" b="1" dirty="0">
              <a:latin typeface="微软雅黑" panose="020B0503020204020204" pitchFamily="34" charset="-122"/>
              <a:ea typeface="微软雅黑" panose="020B0503020204020204" pitchFamily="34" charset="-122"/>
            </a:endParaRPr>
          </a:p>
        </p:txBody>
      </p:sp>
      <p:sp>
        <p:nvSpPr>
          <p:cNvPr id="13" name="AutoShape 179"/>
          <p:cNvSpPr>
            <a:spLocks noChangeArrowheads="1"/>
          </p:cNvSpPr>
          <p:nvPr/>
        </p:nvSpPr>
        <p:spPr bwMode="auto">
          <a:xfrm rot="114164">
            <a:off x="3981022" y="2823305"/>
            <a:ext cx="1012853" cy="139894"/>
          </a:xfrm>
          <a:prstGeom prst="rightArrow">
            <a:avLst>
              <a:gd name="adj1" fmla="val 50000"/>
              <a:gd name="adj2" fmla="val 137745"/>
            </a:avLst>
          </a:prstGeom>
          <a:solidFill>
            <a:srgbClr val="FFFF00"/>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4" name="AutoShape 180"/>
          <p:cNvSpPr>
            <a:spLocks noChangeArrowheads="1"/>
          </p:cNvSpPr>
          <p:nvPr/>
        </p:nvSpPr>
        <p:spPr bwMode="auto">
          <a:xfrm rot="1262345">
            <a:off x="5355894" y="3026335"/>
            <a:ext cx="778607" cy="121323"/>
          </a:xfrm>
          <a:prstGeom prst="rightArrow">
            <a:avLst>
              <a:gd name="adj1" fmla="val 50000"/>
              <a:gd name="adj2" fmla="val 122096"/>
            </a:avLst>
          </a:prstGeom>
          <a:solidFill>
            <a:srgbClr val="FFFF00"/>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5" name="AutoShape 181"/>
          <p:cNvSpPr>
            <a:spLocks noChangeArrowheads="1"/>
          </p:cNvSpPr>
          <p:nvPr/>
        </p:nvSpPr>
        <p:spPr bwMode="auto">
          <a:xfrm rot="20907191">
            <a:off x="2795144" y="2914916"/>
            <a:ext cx="858464" cy="127514"/>
          </a:xfrm>
          <a:prstGeom prst="rightArrow">
            <a:avLst>
              <a:gd name="adj1" fmla="val 50000"/>
              <a:gd name="adj2" fmla="val 128084"/>
            </a:avLst>
          </a:prstGeom>
          <a:solidFill>
            <a:srgbClr val="FFFF00"/>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6" name="AutoShape 182"/>
          <p:cNvSpPr>
            <a:spLocks noChangeArrowheads="1"/>
          </p:cNvSpPr>
          <p:nvPr/>
        </p:nvSpPr>
        <p:spPr bwMode="auto">
          <a:xfrm rot="14368129">
            <a:off x="2548223" y="3359506"/>
            <a:ext cx="424632" cy="119786"/>
          </a:xfrm>
          <a:prstGeom prst="rightArrow">
            <a:avLst>
              <a:gd name="adj1" fmla="val 50000"/>
              <a:gd name="adj2" fmla="val 77951"/>
            </a:avLst>
          </a:prstGeom>
          <a:solidFill>
            <a:srgbClr val="FFFF00"/>
          </a:solidFill>
          <a:ln w="9525">
            <a:solidFill>
              <a:schemeClr val="tx1"/>
            </a:solidFill>
            <a:miter lim="800000"/>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 name="Text Box 183"/>
          <p:cNvSpPr txBox="1">
            <a:spLocks noChangeArrowheads="1"/>
          </p:cNvSpPr>
          <p:nvPr/>
        </p:nvSpPr>
        <p:spPr bwMode="auto">
          <a:xfrm>
            <a:off x="2653789" y="3925323"/>
            <a:ext cx="800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源节点</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18" name="Text Box 184"/>
          <p:cNvSpPr txBox="1">
            <a:spLocks noChangeArrowheads="1"/>
          </p:cNvSpPr>
          <p:nvPr/>
        </p:nvSpPr>
        <p:spPr bwMode="auto">
          <a:xfrm>
            <a:off x="6535756" y="3097107"/>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目的节点</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19" name="Text Box 185"/>
          <p:cNvSpPr txBox="1">
            <a:spLocks noChangeArrowheads="1"/>
          </p:cNvSpPr>
          <p:nvPr/>
        </p:nvSpPr>
        <p:spPr bwMode="auto">
          <a:xfrm>
            <a:off x="1338556" y="2785264"/>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endParaRPr lang="zh-CN" altLang="en-US" sz="1600" b="1" dirty="0">
              <a:latin typeface="微软雅黑" panose="020B0503020204020204" pitchFamily="34" charset="-122"/>
              <a:ea typeface="微软雅黑" panose="020B0503020204020204" pitchFamily="34" charset="-122"/>
            </a:endParaRPr>
          </a:p>
        </p:txBody>
      </p:sp>
      <p:sp>
        <p:nvSpPr>
          <p:cNvPr id="20" name="Text Box 186"/>
          <p:cNvSpPr txBox="1">
            <a:spLocks noChangeArrowheads="1"/>
          </p:cNvSpPr>
          <p:nvPr/>
        </p:nvSpPr>
        <p:spPr bwMode="auto">
          <a:xfrm>
            <a:off x="3174784" y="2261969"/>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endParaRPr lang="zh-CN" altLang="en-US" sz="1600" b="1" dirty="0">
              <a:latin typeface="微软雅黑" panose="020B0503020204020204" pitchFamily="34" charset="-122"/>
              <a:ea typeface="微软雅黑" panose="020B0503020204020204" pitchFamily="34" charset="-122"/>
            </a:endParaRPr>
          </a:p>
        </p:txBody>
      </p:sp>
      <p:sp>
        <p:nvSpPr>
          <p:cNvPr id="21" name="Text Box 187"/>
          <p:cNvSpPr txBox="1">
            <a:spLocks noChangeArrowheads="1"/>
          </p:cNvSpPr>
          <p:nvPr/>
        </p:nvSpPr>
        <p:spPr bwMode="auto">
          <a:xfrm>
            <a:off x="4765097" y="2299048"/>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endParaRPr lang="zh-CN" altLang="en-US" sz="1600" b="1" dirty="0">
              <a:latin typeface="微软雅黑" panose="020B0503020204020204" pitchFamily="34" charset="-122"/>
              <a:ea typeface="微软雅黑" panose="020B0503020204020204" pitchFamily="34" charset="-122"/>
            </a:endParaRPr>
          </a:p>
        </p:txBody>
      </p:sp>
      <p:grpSp>
        <p:nvGrpSpPr>
          <p:cNvPr id="89" name="组合 88"/>
          <p:cNvGrpSpPr/>
          <p:nvPr/>
        </p:nvGrpSpPr>
        <p:grpSpPr>
          <a:xfrm>
            <a:off x="2769848" y="3451678"/>
            <a:ext cx="614662" cy="423778"/>
            <a:chOff x="4406004" y="4260453"/>
            <a:chExt cx="558674" cy="429804"/>
          </a:xfrm>
        </p:grpSpPr>
        <p:grpSp>
          <p:nvGrpSpPr>
            <p:cNvPr id="90" name="Group 460"/>
            <p:cNvGrpSpPr/>
            <p:nvPr/>
          </p:nvGrpSpPr>
          <p:grpSpPr bwMode="auto">
            <a:xfrm>
              <a:off x="4543772" y="4322623"/>
              <a:ext cx="420906" cy="367634"/>
              <a:chOff x="657" y="1570"/>
              <a:chExt cx="318" cy="318"/>
            </a:xfrm>
          </p:grpSpPr>
          <p:sp>
            <p:nvSpPr>
              <p:cNvPr id="9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9" name="Picture 462" descr="laptop copy"/>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 name="Group 463"/>
            <p:cNvGrpSpPr/>
            <p:nvPr/>
          </p:nvGrpSpPr>
          <p:grpSpPr bwMode="auto">
            <a:xfrm>
              <a:off x="4406004" y="4260453"/>
              <a:ext cx="405022" cy="119404"/>
              <a:chOff x="748" y="2251"/>
              <a:chExt cx="306" cy="90"/>
            </a:xfrm>
            <a:solidFill>
              <a:srgbClr val="0066FF"/>
            </a:solidFill>
          </p:grpSpPr>
          <p:sp>
            <p:nvSpPr>
              <p:cNvPr id="9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00" name="组合 99"/>
          <p:cNvGrpSpPr/>
          <p:nvPr/>
        </p:nvGrpSpPr>
        <p:grpSpPr>
          <a:xfrm>
            <a:off x="5079921" y="3471456"/>
            <a:ext cx="614662" cy="423778"/>
            <a:chOff x="4406004" y="4260453"/>
            <a:chExt cx="558674" cy="429804"/>
          </a:xfrm>
        </p:grpSpPr>
        <p:grpSp>
          <p:nvGrpSpPr>
            <p:cNvPr id="101" name="Group 460"/>
            <p:cNvGrpSpPr/>
            <p:nvPr/>
          </p:nvGrpSpPr>
          <p:grpSpPr bwMode="auto">
            <a:xfrm>
              <a:off x="4543772" y="4322623"/>
              <a:ext cx="420906" cy="367634"/>
              <a:chOff x="657" y="1570"/>
              <a:chExt cx="318" cy="318"/>
            </a:xfrm>
          </p:grpSpPr>
          <p:sp>
            <p:nvSpPr>
              <p:cNvPr id="10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0" name="Picture 462" descr="laptop copy"/>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463"/>
            <p:cNvGrpSpPr/>
            <p:nvPr/>
          </p:nvGrpSpPr>
          <p:grpSpPr bwMode="auto">
            <a:xfrm>
              <a:off x="4406004" y="4260453"/>
              <a:ext cx="405022" cy="119404"/>
              <a:chOff x="748" y="2251"/>
              <a:chExt cx="306" cy="90"/>
            </a:xfrm>
            <a:solidFill>
              <a:srgbClr val="0066FF"/>
            </a:solidFill>
          </p:grpSpPr>
          <p:sp>
            <p:nvSpPr>
              <p:cNvPr id="10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1" name="组合 110"/>
          <p:cNvGrpSpPr/>
          <p:nvPr/>
        </p:nvGrpSpPr>
        <p:grpSpPr>
          <a:xfrm>
            <a:off x="2339640" y="2806528"/>
            <a:ext cx="614662" cy="423778"/>
            <a:chOff x="4406004" y="4260453"/>
            <a:chExt cx="558674" cy="429804"/>
          </a:xfrm>
        </p:grpSpPr>
        <p:grpSp>
          <p:nvGrpSpPr>
            <p:cNvPr id="112" name="Group 460"/>
            <p:cNvGrpSpPr/>
            <p:nvPr/>
          </p:nvGrpSpPr>
          <p:grpSpPr bwMode="auto">
            <a:xfrm>
              <a:off x="4543772" y="4322623"/>
              <a:ext cx="420906" cy="367634"/>
              <a:chOff x="657" y="1570"/>
              <a:chExt cx="318" cy="318"/>
            </a:xfrm>
          </p:grpSpPr>
          <p:sp>
            <p:nvSpPr>
              <p:cNvPr id="120"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1" name="Picture 462" descr="laptop copy"/>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 name="Group 463"/>
            <p:cNvGrpSpPr/>
            <p:nvPr/>
          </p:nvGrpSpPr>
          <p:grpSpPr bwMode="auto">
            <a:xfrm>
              <a:off x="4406004" y="4260453"/>
              <a:ext cx="405022" cy="119404"/>
              <a:chOff x="748" y="2251"/>
              <a:chExt cx="306" cy="90"/>
            </a:xfrm>
            <a:solidFill>
              <a:srgbClr val="0066FF"/>
            </a:solidFill>
          </p:grpSpPr>
          <p:sp>
            <p:nvSpPr>
              <p:cNvPr id="114"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7"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22" name="组合 121"/>
          <p:cNvGrpSpPr/>
          <p:nvPr/>
        </p:nvGrpSpPr>
        <p:grpSpPr>
          <a:xfrm>
            <a:off x="3471686" y="2590487"/>
            <a:ext cx="614662" cy="423778"/>
            <a:chOff x="4406004" y="4260453"/>
            <a:chExt cx="558674" cy="429804"/>
          </a:xfrm>
        </p:grpSpPr>
        <p:grpSp>
          <p:nvGrpSpPr>
            <p:cNvPr id="123" name="Group 460"/>
            <p:cNvGrpSpPr/>
            <p:nvPr/>
          </p:nvGrpSpPr>
          <p:grpSpPr bwMode="auto">
            <a:xfrm>
              <a:off x="4543772" y="4322623"/>
              <a:ext cx="420906" cy="367634"/>
              <a:chOff x="657" y="1570"/>
              <a:chExt cx="318" cy="318"/>
            </a:xfrm>
          </p:grpSpPr>
          <p:sp>
            <p:nvSpPr>
              <p:cNvPr id="131"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32" name="Picture 462" descr="laptop copy"/>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 name="Group 463"/>
            <p:cNvGrpSpPr/>
            <p:nvPr/>
          </p:nvGrpSpPr>
          <p:grpSpPr bwMode="auto">
            <a:xfrm>
              <a:off x="4406004" y="4260453"/>
              <a:ext cx="405022" cy="119404"/>
              <a:chOff x="748" y="2251"/>
              <a:chExt cx="306" cy="90"/>
            </a:xfrm>
            <a:solidFill>
              <a:srgbClr val="0066FF"/>
            </a:solidFill>
          </p:grpSpPr>
          <p:sp>
            <p:nvSpPr>
              <p:cNvPr id="12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3" name="组合 132"/>
          <p:cNvGrpSpPr/>
          <p:nvPr/>
        </p:nvGrpSpPr>
        <p:grpSpPr>
          <a:xfrm>
            <a:off x="4828690" y="2649130"/>
            <a:ext cx="614662" cy="423778"/>
            <a:chOff x="4406004" y="4260453"/>
            <a:chExt cx="558674" cy="429804"/>
          </a:xfrm>
        </p:grpSpPr>
        <p:grpSp>
          <p:nvGrpSpPr>
            <p:cNvPr id="134" name="Group 460"/>
            <p:cNvGrpSpPr/>
            <p:nvPr/>
          </p:nvGrpSpPr>
          <p:grpSpPr bwMode="auto">
            <a:xfrm>
              <a:off x="4543772" y="4322623"/>
              <a:ext cx="420906" cy="367634"/>
              <a:chOff x="657" y="1570"/>
              <a:chExt cx="318" cy="318"/>
            </a:xfrm>
          </p:grpSpPr>
          <p:sp>
            <p:nvSpPr>
              <p:cNvPr id="142"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43" name="Picture 462" descr="laptop copy"/>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 name="Group 463"/>
            <p:cNvGrpSpPr/>
            <p:nvPr/>
          </p:nvGrpSpPr>
          <p:grpSpPr bwMode="auto">
            <a:xfrm>
              <a:off x="4406004" y="4260453"/>
              <a:ext cx="405022" cy="119404"/>
              <a:chOff x="748" y="2251"/>
              <a:chExt cx="306" cy="90"/>
            </a:xfrm>
            <a:solidFill>
              <a:srgbClr val="0066FF"/>
            </a:solidFill>
          </p:grpSpPr>
          <p:sp>
            <p:nvSpPr>
              <p:cNvPr id="13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44" name="组合 143"/>
          <p:cNvGrpSpPr/>
          <p:nvPr/>
        </p:nvGrpSpPr>
        <p:grpSpPr>
          <a:xfrm>
            <a:off x="5972232" y="3049366"/>
            <a:ext cx="614662" cy="423778"/>
            <a:chOff x="4406004" y="4260453"/>
            <a:chExt cx="558674" cy="429804"/>
          </a:xfrm>
        </p:grpSpPr>
        <p:grpSp>
          <p:nvGrpSpPr>
            <p:cNvPr id="145" name="Group 460"/>
            <p:cNvGrpSpPr/>
            <p:nvPr/>
          </p:nvGrpSpPr>
          <p:grpSpPr bwMode="auto">
            <a:xfrm>
              <a:off x="4543772" y="4322623"/>
              <a:ext cx="420906" cy="367634"/>
              <a:chOff x="657" y="1570"/>
              <a:chExt cx="318" cy="318"/>
            </a:xfrm>
          </p:grpSpPr>
          <p:sp>
            <p:nvSpPr>
              <p:cNvPr id="15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4" name="Picture 462" descr="laptop copy"/>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463"/>
            <p:cNvGrpSpPr/>
            <p:nvPr/>
          </p:nvGrpSpPr>
          <p:grpSpPr bwMode="auto">
            <a:xfrm>
              <a:off x="4406004" y="4260453"/>
              <a:ext cx="405022" cy="119404"/>
              <a:chOff x="748" y="2251"/>
              <a:chExt cx="306" cy="90"/>
            </a:xfrm>
            <a:solidFill>
              <a:srgbClr val="0066FF"/>
            </a:solidFill>
          </p:grpSpPr>
          <p:sp>
            <p:nvSpPr>
              <p:cNvPr id="14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56" name="矩形 155"/>
          <p:cNvSpPr/>
          <p:nvPr/>
        </p:nvSpPr>
        <p:spPr>
          <a:xfrm>
            <a:off x="1799304" y="4344487"/>
            <a:ext cx="5427406" cy="369332"/>
          </a:xfrm>
          <a:prstGeom prst="rect">
            <a:avLst/>
          </a:prstGeom>
        </p:spPr>
        <p:txBody>
          <a:bodyPr wrap="squar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三个主要问题：</a:t>
            </a:r>
            <a:r>
              <a:rPr lang="zh-CN" altLang="en-US" b="1" dirty="0">
                <a:latin typeface="微软雅黑" panose="020B0503020204020204" pitchFamily="34" charset="-122"/>
                <a:ea typeface="微软雅黑" panose="020B0503020204020204" pitchFamily="34" charset="-122"/>
              </a:rPr>
              <a:t>路由选择协议，多播，安全。</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
                                        </p:tgtEl>
                                        <p:attrNameLst>
                                          <p:attrName>style.visibility</p:attrName>
                                        </p:attrNameLst>
                                      </p:cBhvr>
                                      <p:tavLst>
                                        <p:tav tm="0">
                                          <p:val>
                                            <p:strVal val="hidden"/>
                                          </p:val>
                                        </p:tav>
                                        <p:tav tm="50000">
                                          <p:val>
                                            <p:strVal val="visible"/>
                                          </p:val>
                                        </p:tav>
                                      </p:tavLst>
                                    </p:anim>
                                  </p:childTnLst>
                                </p:cTn>
                              </p:par>
                            </p:childTnLst>
                          </p:cTn>
                        </p:par>
                        <p:par>
                          <p:cTn id="9" fill="hold">
                            <p:stCondLst>
                              <p:cond delay="1000"/>
                            </p:stCondLst>
                            <p:childTnLst>
                              <p:par>
                                <p:cTn id="10" presetID="2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wipe(down)">
                                      <p:cBhvr>
                                        <p:cTn id="12" dur="1000"/>
                                        <p:tgtEl>
                                          <p:spTgt spid="16"/>
                                        </p:tgtEl>
                                      </p:cBhvr>
                                    </p:animEffect>
                                  </p:childTnLst>
                                </p:cTn>
                              </p:par>
                            </p:childTnLst>
                          </p:cTn>
                        </p:par>
                        <p:par>
                          <p:cTn id="13" fill="hold">
                            <p:stCondLst>
                              <p:cond delay="2000"/>
                            </p:stCondLst>
                            <p:childTnLst>
                              <p:par>
                                <p:cTn id="14" presetID="22" presetClass="entr" presetSubtype="8" fill="hold" grpId="0"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1000"/>
                                        <p:tgtEl>
                                          <p:spTgt spid="15"/>
                                        </p:tgtEl>
                                      </p:cBhvr>
                                    </p:animEffect>
                                  </p:childTnLst>
                                </p:cTn>
                              </p:par>
                            </p:childTnLst>
                          </p:cTn>
                        </p:par>
                        <p:par>
                          <p:cTn id="17" fill="hold">
                            <p:stCondLst>
                              <p:cond delay="3000"/>
                            </p:stCondLst>
                            <p:childTnLst>
                              <p:par>
                                <p:cTn id="18" presetID="22" presetClass="entr" presetSubtype="8"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left)">
                                      <p:cBhvr>
                                        <p:cTn id="20" dur="1000"/>
                                        <p:tgtEl>
                                          <p:spTgt spid="13"/>
                                        </p:tgtEl>
                                      </p:cBhvr>
                                    </p:animEffect>
                                  </p:childTnLst>
                                </p:cTn>
                              </p:par>
                            </p:childTnLst>
                          </p:cTn>
                        </p:par>
                        <p:par>
                          <p:cTn id="21" fill="hold">
                            <p:stCondLst>
                              <p:cond delay="4000"/>
                            </p:stCondLst>
                            <p:childTnLst>
                              <p:par>
                                <p:cTn id="22" presetID="22" presetClass="entr" presetSubtype="8"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left)">
                                      <p:cBhvr>
                                        <p:cTn id="24" dur="10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6"/>
                                        </p:tgtEl>
                                        <p:attrNameLst>
                                          <p:attrName>style.visibility</p:attrName>
                                        </p:attrNameLst>
                                      </p:cBhvr>
                                      <p:to>
                                        <p:strVal val="visible"/>
                                      </p:to>
                                    </p:set>
                                    <p:animEffect transition="in" filter="fade">
                                      <p:cBhvr>
                                        <p:cTn id="29" dur="50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p:bldP spid="18" grpId="0"/>
      <p:bldP spid="15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09475" y="958806"/>
            <a:ext cx="812901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服务</a:t>
            </a:r>
            <a:r>
              <a:rPr lang="zh-CN" altLang="en-US" sz="2000" b="1" dirty="0">
                <a:latin typeface="微软雅黑" panose="020B0503020204020204" pitchFamily="34" charset="-122"/>
                <a:ea typeface="微软雅黑" panose="020B0503020204020204" pitchFamily="34" charset="-122"/>
              </a:rPr>
              <a:t>范围通常是受限的</a:t>
            </a:r>
            <a:r>
              <a:rPr lang="zh-CN" altLang="en-US" sz="2000" b="1" dirty="0" smtClean="0">
                <a:latin typeface="微软雅黑" panose="020B0503020204020204" pitchFamily="34" charset="-122"/>
                <a:ea typeface="微软雅黑" panose="020B0503020204020204" pitchFamily="34" charset="-122"/>
              </a:rPr>
              <a:t>，一般不和</a:t>
            </a:r>
            <a:r>
              <a:rPr lang="zh-CN" altLang="en-US" sz="2000" b="1" dirty="0">
                <a:latin typeface="微软雅黑" panose="020B0503020204020204" pitchFamily="34" charset="-122"/>
                <a:ea typeface="微软雅黑" panose="020B0503020204020204" pitchFamily="34" charset="-122"/>
              </a:rPr>
              <a:t>外界的其他网络相连接。</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移动自组网络也就是</a:t>
            </a:r>
            <a:r>
              <a:rPr lang="zh-CN" altLang="en-US" sz="2000" b="1" dirty="0">
                <a:solidFill>
                  <a:srgbClr val="0000FF"/>
                </a:solidFill>
                <a:latin typeface="微软雅黑" panose="020B0503020204020204" pitchFamily="34" charset="-122"/>
                <a:ea typeface="微软雅黑" panose="020B0503020204020204" pitchFamily="34" charset="-122"/>
              </a:rPr>
              <a:t>移动分组无线网络</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优点：</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方便灵活。</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生存性非常好。</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0547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2264"/>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移动自组网络</a:t>
            </a:r>
            <a:endParaRPr lang="fr-FR" altLang="zh-CN"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571"/>
            <a:ext cx="8291169"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743"/>
            <a:ext cx="27568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anose="020B0503020204020204" pitchFamily="34" charset="-122"/>
                <a:ea typeface="微软雅黑" panose="020B0503020204020204" pitchFamily="34" charset="-122"/>
              </a:rPr>
              <a:t>无线传感器网络 </a:t>
            </a:r>
            <a:r>
              <a:rPr lang="en-US" altLang="zh-CN" sz="2000" b="1" dirty="0">
                <a:latin typeface="微软雅黑" panose="020B0503020204020204" pitchFamily="34" charset="-122"/>
                <a:ea typeface="微软雅黑" panose="020B0503020204020204" pitchFamily="34" charset="-122"/>
              </a:rPr>
              <a:t>WSN</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48796"/>
            <a:ext cx="8291169"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anose="020B0503020204020204" pitchFamily="34" charset="-122"/>
                <a:ea typeface="微软雅黑" panose="020B0503020204020204" pitchFamily="34" charset="-122"/>
              </a:rPr>
              <a:t>无线传感器</a:t>
            </a:r>
            <a:r>
              <a:rPr lang="zh-CN" altLang="en-US" sz="1900" b="1" dirty="0" smtClean="0">
                <a:solidFill>
                  <a:srgbClr val="C00000"/>
                </a:solidFill>
                <a:latin typeface="微软雅黑" panose="020B0503020204020204" pitchFamily="34" charset="-122"/>
                <a:ea typeface="微软雅黑" panose="020B0503020204020204" pitchFamily="34" charset="-122"/>
              </a:rPr>
              <a:t>网络 </a:t>
            </a:r>
            <a:r>
              <a:rPr lang="en-US" altLang="zh-CN" sz="1900" b="1" dirty="0" smtClean="0">
                <a:solidFill>
                  <a:srgbClr val="C00000"/>
                </a:solidFill>
                <a:latin typeface="微软雅黑" panose="020B0503020204020204" pitchFamily="34" charset="-122"/>
                <a:ea typeface="微软雅黑" panose="020B0503020204020204" pitchFamily="34" charset="-122"/>
              </a:rPr>
              <a:t>WSN </a:t>
            </a:r>
            <a:r>
              <a:rPr lang="en-US" altLang="zh-CN" sz="1900" b="1" dirty="0">
                <a:latin typeface="微软雅黑" panose="020B0503020204020204" pitchFamily="34" charset="-122"/>
                <a:ea typeface="微软雅黑" panose="020B0503020204020204" pitchFamily="34" charset="-122"/>
              </a:rPr>
              <a:t>(Wireless Sensor Network) </a:t>
            </a:r>
            <a:r>
              <a:rPr lang="zh-CN" altLang="en-US" sz="1900" b="1" dirty="0" smtClean="0">
                <a:latin typeface="微软雅黑" panose="020B0503020204020204" pitchFamily="34" charset="-122"/>
                <a:ea typeface="微软雅黑" panose="020B0503020204020204" pitchFamily="34" charset="-122"/>
              </a:rPr>
              <a:t>：由</a:t>
            </a:r>
            <a:r>
              <a:rPr lang="zh-CN" altLang="en-US" sz="1900" b="1" dirty="0">
                <a:latin typeface="微软雅黑" panose="020B0503020204020204" pitchFamily="34" charset="-122"/>
                <a:ea typeface="微软雅黑" panose="020B0503020204020204" pitchFamily="34" charset="-122"/>
              </a:rPr>
              <a:t>大量</a:t>
            </a:r>
            <a:r>
              <a:rPr lang="zh-CN" altLang="en-US" sz="1900" b="1" dirty="0">
                <a:solidFill>
                  <a:srgbClr val="0000FF"/>
                </a:solidFill>
                <a:latin typeface="微软雅黑" panose="020B0503020204020204" pitchFamily="34" charset="-122"/>
                <a:ea typeface="微软雅黑" panose="020B0503020204020204" pitchFamily="34" charset="-122"/>
              </a:rPr>
              <a:t>传感器</a:t>
            </a:r>
            <a:r>
              <a:rPr lang="zh-CN" altLang="en-US" sz="1900" b="1" dirty="0">
                <a:latin typeface="微软雅黑" panose="020B0503020204020204" pitchFamily="34" charset="-122"/>
                <a:ea typeface="微软雅黑" panose="020B0503020204020204" pitchFamily="34" charset="-122"/>
              </a:rPr>
              <a:t>结点通过无线通信技术构成的</a:t>
            </a:r>
            <a:r>
              <a:rPr lang="zh-CN" altLang="en-US" sz="1900" b="1" dirty="0">
                <a:solidFill>
                  <a:srgbClr val="0000FF"/>
                </a:solidFill>
                <a:latin typeface="微软雅黑" panose="020B0503020204020204" pitchFamily="34" charset="-122"/>
                <a:ea typeface="微软雅黑" panose="020B0503020204020204" pitchFamily="34" charset="-122"/>
              </a:rPr>
              <a:t>自组网络</a:t>
            </a:r>
            <a:r>
              <a:rPr lang="zh-CN" altLang="en-US" sz="1900" b="1" dirty="0">
                <a:latin typeface="微软雅黑" panose="020B0503020204020204" pitchFamily="34" charset="-122"/>
                <a:ea typeface="微软雅黑" panose="020B0503020204020204" pitchFamily="34" charset="-122"/>
              </a:rPr>
              <a:t>。</a:t>
            </a:r>
            <a:endParaRPr lang="zh-CN" altLang="en-US" sz="19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smtClean="0">
                <a:solidFill>
                  <a:srgbClr val="C00000"/>
                </a:solidFill>
                <a:latin typeface="微软雅黑" panose="020B0503020204020204" pitchFamily="34" charset="-122"/>
                <a:ea typeface="微软雅黑" panose="020B0503020204020204" pitchFamily="34" charset="-122"/>
              </a:rPr>
              <a:t>应用：</a:t>
            </a:r>
            <a:r>
              <a:rPr lang="zh-CN" altLang="en-US" sz="1900" b="1" dirty="0" smtClean="0">
                <a:latin typeface="微软雅黑" panose="020B0503020204020204" pitchFamily="34" charset="-122"/>
                <a:ea typeface="微软雅黑" panose="020B0503020204020204" pitchFamily="34" charset="-122"/>
              </a:rPr>
              <a:t>进行</a:t>
            </a:r>
            <a:r>
              <a:rPr lang="zh-CN" altLang="en-US" sz="1900" b="1" dirty="0">
                <a:latin typeface="微软雅黑" panose="020B0503020204020204" pitchFamily="34" charset="-122"/>
                <a:ea typeface="微软雅黑" panose="020B0503020204020204" pitchFamily="34" charset="-122"/>
              </a:rPr>
              <a:t>各种数据的采集、处理和</a:t>
            </a:r>
            <a:r>
              <a:rPr lang="zh-CN" altLang="en-US" sz="1900" b="1" dirty="0" smtClean="0">
                <a:latin typeface="微软雅黑" panose="020B0503020204020204" pitchFamily="34" charset="-122"/>
                <a:ea typeface="微软雅黑" panose="020B0503020204020204" pitchFamily="34" charset="-122"/>
              </a:rPr>
              <a:t>传输。</a:t>
            </a:r>
            <a:endParaRPr lang="en-US" altLang="zh-CN" sz="19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smtClean="0">
                <a:solidFill>
                  <a:srgbClr val="C00000"/>
                </a:solidFill>
                <a:latin typeface="微软雅黑" panose="020B0503020204020204" pitchFamily="34" charset="-122"/>
                <a:ea typeface="微软雅黑" panose="020B0503020204020204" pitchFamily="34" charset="-122"/>
              </a:rPr>
              <a:t>特点：</a:t>
            </a:r>
            <a:endParaRPr lang="en-US" altLang="zh-CN" sz="1900" b="1" dirty="0" smtClean="0">
              <a:solidFill>
                <a:srgbClr val="C00000"/>
              </a:solidFill>
              <a:latin typeface="微软雅黑" panose="020B0503020204020204" pitchFamily="34" charset="-122"/>
              <a:ea typeface="微软雅黑" panose="020B0503020204020204" pitchFamily="34" charset="-122"/>
            </a:endParaRPr>
          </a:p>
          <a:p>
            <a:pPr marL="711200" lvl="1" indent="-347980" eaLnBrk="0" hangingPunct="0">
              <a:lnSpc>
                <a:spcPts val="3300"/>
              </a:lnSpc>
              <a:buClr>
                <a:srgbClr val="7030A0"/>
              </a:buClr>
              <a:buFont typeface="+mj-lt"/>
              <a:buAutoNum type="arabicPeriod"/>
            </a:pPr>
            <a:r>
              <a:rPr lang="zh-CN" altLang="en-US" sz="1900" b="1" dirty="0" smtClean="0">
                <a:latin typeface="微软雅黑" panose="020B0503020204020204" pitchFamily="34" charset="-122"/>
                <a:ea typeface="微软雅黑" panose="020B0503020204020204" pitchFamily="34" charset="-122"/>
              </a:rPr>
              <a:t>不</a:t>
            </a:r>
            <a:r>
              <a:rPr lang="zh-CN" altLang="en-US" sz="1900" b="1" dirty="0">
                <a:latin typeface="微软雅黑" panose="020B0503020204020204" pitchFamily="34" charset="-122"/>
                <a:ea typeface="微软雅黑" panose="020B0503020204020204" pitchFamily="34" charset="-122"/>
              </a:rPr>
              <a:t>需要很高的带宽</a:t>
            </a:r>
            <a:r>
              <a:rPr lang="zh-CN" altLang="en-US" sz="1900" b="1" dirty="0" smtClean="0">
                <a:latin typeface="微软雅黑" panose="020B0503020204020204" pitchFamily="34" charset="-122"/>
                <a:ea typeface="微软雅黑" panose="020B0503020204020204" pitchFamily="34" charset="-122"/>
              </a:rPr>
              <a:t>，但大部分时间必须保持低功耗。</a:t>
            </a:r>
            <a:endParaRPr lang="zh-CN" altLang="en-US" sz="1900" b="1" dirty="0">
              <a:latin typeface="微软雅黑" panose="020B0503020204020204" pitchFamily="34" charset="-122"/>
              <a:ea typeface="微软雅黑" panose="020B0503020204020204" pitchFamily="34" charset="-122"/>
            </a:endParaRPr>
          </a:p>
          <a:p>
            <a:pPr marL="711200" lvl="1" indent="-347980" eaLnBrk="0" hangingPunct="0">
              <a:lnSpc>
                <a:spcPts val="3300"/>
              </a:lnSpc>
              <a:buClr>
                <a:srgbClr val="7030A0"/>
              </a:buClr>
              <a:buFont typeface="+mj-lt"/>
              <a:buAutoNum type="arabicPeriod"/>
            </a:pPr>
            <a:r>
              <a:rPr lang="zh-CN" altLang="en-US" sz="1900" b="1" dirty="0" smtClean="0">
                <a:latin typeface="微软雅黑" panose="020B0503020204020204" pitchFamily="34" charset="-122"/>
                <a:ea typeface="微软雅黑" panose="020B0503020204020204" pitchFamily="34" charset="-122"/>
              </a:rPr>
              <a:t>对</a:t>
            </a:r>
            <a:r>
              <a:rPr lang="zh-CN" altLang="en-US" sz="1900" b="1" dirty="0">
                <a:latin typeface="微软雅黑" panose="020B0503020204020204" pitchFamily="34" charset="-122"/>
                <a:ea typeface="微软雅黑" panose="020B0503020204020204" pitchFamily="34" charset="-122"/>
              </a:rPr>
              <a:t>协议栈的大小有严格的限制。</a:t>
            </a:r>
            <a:endParaRPr lang="zh-CN" altLang="en-US" sz="1900" b="1" dirty="0">
              <a:latin typeface="微软雅黑" panose="020B0503020204020204" pitchFamily="34" charset="-122"/>
              <a:ea typeface="微软雅黑" panose="020B0503020204020204" pitchFamily="34" charset="-122"/>
            </a:endParaRPr>
          </a:p>
          <a:p>
            <a:pPr marL="711200" lvl="1" indent="-347980" eaLnBrk="0" hangingPunct="0">
              <a:lnSpc>
                <a:spcPts val="3300"/>
              </a:lnSpc>
              <a:buClr>
                <a:srgbClr val="7030A0"/>
              </a:buClr>
              <a:buFont typeface="+mj-lt"/>
              <a:buAutoNum type="arabicPeriod"/>
            </a:pPr>
            <a:r>
              <a:rPr lang="zh-CN" altLang="en-US" sz="1900" b="1" dirty="0" smtClean="0">
                <a:latin typeface="微软雅黑" panose="020B0503020204020204" pitchFamily="34" charset="-122"/>
                <a:ea typeface="微软雅黑" panose="020B0503020204020204" pitchFamily="34" charset="-122"/>
              </a:rPr>
              <a:t>对</a:t>
            </a:r>
            <a:r>
              <a:rPr lang="zh-CN" altLang="en-US" sz="1900" b="1" dirty="0">
                <a:latin typeface="微软雅黑" panose="020B0503020204020204" pitchFamily="34" charset="-122"/>
                <a:ea typeface="微软雅黑" panose="020B0503020204020204" pitchFamily="34" charset="-122"/>
              </a:rPr>
              <a:t>网络安全性、结点自动配置、网络动态重组等方面有一定的要求。 </a:t>
            </a:r>
            <a:endParaRPr lang="zh-CN" altLang="en-US" sz="19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14520"/>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p:nvPr/>
        </p:nvSpPr>
        <p:spPr>
          <a:xfrm>
            <a:off x="637984" y="565208"/>
            <a:ext cx="3005951" cy="400110"/>
          </a:xfrm>
          <a:prstGeom prst="rect">
            <a:avLst/>
          </a:prstGeom>
        </p:spPr>
        <p:txBody>
          <a:bodyPr wrap="none">
            <a:spAutoFit/>
          </a:bodyPr>
          <a:lstStyle/>
          <a:p>
            <a:r>
              <a:rPr lang="zh-CN" altLang="en-US" sz="2000" b="1" dirty="0">
                <a:latin typeface="微软雅黑" panose="020B0503020204020204" pitchFamily="34" charset="-122"/>
                <a:ea typeface="微软雅黑" panose="020B0503020204020204" pitchFamily="34" charset="-122"/>
              </a:rPr>
              <a:t>传感器结点的形状和组成</a:t>
            </a:r>
            <a:endParaRPr lang="zh-CN" altLang="en-US" sz="2000" b="1" dirty="0">
              <a:latin typeface="微软雅黑" panose="020B0503020204020204" pitchFamily="34" charset="-122"/>
              <a:ea typeface="微软雅黑" panose="020B0503020204020204" pitchFamily="34" charset="-122"/>
            </a:endParaRPr>
          </a:p>
        </p:txBody>
      </p:sp>
      <p:sp>
        <p:nvSpPr>
          <p:cNvPr id="6" name="圆角矩形 5"/>
          <p:cNvSpPr/>
          <p:nvPr/>
        </p:nvSpPr>
        <p:spPr>
          <a:xfrm>
            <a:off x="517852" y="96484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758424" y="1408605"/>
            <a:ext cx="7618591" cy="2693466"/>
            <a:chOff x="758424" y="1408605"/>
            <a:chExt cx="7618591" cy="2693466"/>
          </a:xfrm>
        </p:grpSpPr>
        <p:sp>
          <p:nvSpPr>
            <p:cNvPr id="7" name="Rectangle 6"/>
            <p:cNvSpPr>
              <a:spLocks noChangeArrowheads="1"/>
            </p:cNvSpPr>
            <p:nvPr/>
          </p:nvSpPr>
          <p:spPr bwMode="auto">
            <a:xfrm>
              <a:off x="4775611" y="1408605"/>
              <a:ext cx="3601404" cy="2245051"/>
            </a:xfrm>
            <a:prstGeom prst="rect">
              <a:avLst/>
            </a:prstGeom>
            <a:solidFill>
              <a:schemeClr val="bg1"/>
            </a:solidFill>
            <a:ln w="12700" cap="sq">
              <a:solidFill>
                <a:srgbClr val="333399"/>
              </a:solidFill>
              <a:miter lim="800000"/>
              <a:headEnd type="none" w="sm" len="sm"/>
              <a:tailEnd type="none" w="sm" len="sm"/>
            </a:ln>
            <a:effectLst/>
          </p:spPr>
          <p:txBody>
            <a:bodyPr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8" name="AutoShape 7"/>
            <p:cNvSpPr>
              <a:spLocks noChangeArrowheads="1"/>
            </p:cNvSpPr>
            <p:nvPr/>
          </p:nvSpPr>
          <p:spPr bwMode="auto">
            <a:xfrm>
              <a:off x="4965992" y="2487930"/>
              <a:ext cx="832924" cy="1038317"/>
            </a:xfrm>
            <a:prstGeom prst="roundRect">
              <a:avLst>
                <a:gd name="adj" fmla="val 16667"/>
              </a:avLst>
            </a:prstGeom>
            <a:solidFill>
              <a:srgbClr val="008000"/>
            </a:solidFill>
            <a:ln w="12700" cap="sq">
              <a:solidFill>
                <a:srgbClr val="333399"/>
              </a:solidFill>
              <a:round/>
              <a:headEnd type="none" w="sm" len="sm"/>
              <a:tailEnd type="none" w="sm" len="sm"/>
            </a:ln>
            <a:effectLst/>
          </p:spPr>
          <p:txBody>
            <a:bodyPr wrap="none" anchor="ctr"/>
            <a:lstStyle/>
            <a:p>
              <a:pPr algn="ctr" eaLnBrk="0" hangingPunct="0"/>
              <a:r>
                <a:rPr lang="zh-CN" altLang="en-US" b="1">
                  <a:solidFill>
                    <a:schemeClr val="bg1"/>
                  </a:solidFill>
                  <a:latin typeface="微软雅黑" panose="020B0503020204020204" pitchFamily="34" charset="-122"/>
                  <a:ea typeface="微软雅黑" panose="020B0503020204020204" pitchFamily="34" charset="-122"/>
                </a:rPr>
                <a:t>存储器</a:t>
              </a:r>
              <a:endParaRPr lang="zh-CN" altLang="en-US" b="1">
                <a:solidFill>
                  <a:schemeClr val="bg1"/>
                </a:solidFill>
                <a:latin typeface="微软雅黑" panose="020B0503020204020204" pitchFamily="34" charset="-122"/>
                <a:ea typeface="微软雅黑" panose="020B0503020204020204" pitchFamily="34" charset="-122"/>
              </a:endParaRPr>
            </a:p>
          </p:txBody>
        </p:sp>
        <p:sp>
          <p:nvSpPr>
            <p:cNvPr id="9" name="AutoShape 8"/>
            <p:cNvSpPr>
              <a:spLocks noChangeArrowheads="1"/>
            </p:cNvSpPr>
            <p:nvPr/>
          </p:nvSpPr>
          <p:spPr bwMode="auto">
            <a:xfrm>
              <a:off x="5914733" y="1588738"/>
              <a:ext cx="945567" cy="664875"/>
            </a:xfrm>
            <a:prstGeom prst="roundRect">
              <a:avLst>
                <a:gd name="adj" fmla="val 16667"/>
              </a:avLst>
            </a:prstGeom>
            <a:solidFill>
              <a:srgbClr val="0000FF"/>
            </a:solidFill>
            <a:ln w="12700" cap="sq">
              <a:solidFill>
                <a:schemeClr val="tx2"/>
              </a:solidFill>
              <a:round/>
              <a:headEnd type="none" w="sm" len="sm"/>
              <a:tailEnd type="none" w="sm" len="sm"/>
            </a:ln>
            <a:effectLst/>
          </p:spPr>
          <p:txBody>
            <a:bodyPr wrap="none" anchor="ctr"/>
            <a:lstStyle/>
            <a:p>
              <a:pPr algn="ctr" eaLnBrk="0" hangingPunct="0"/>
              <a:r>
                <a:rPr lang="en-US" altLang="zh-CN" b="1">
                  <a:solidFill>
                    <a:schemeClr val="bg1"/>
                  </a:solidFill>
                  <a:latin typeface="微软雅黑" panose="020B0503020204020204" pitchFamily="34" charset="-122"/>
                  <a:ea typeface="微软雅黑" panose="020B0503020204020204" pitchFamily="34" charset="-122"/>
                </a:rPr>
                <a:t>CPU</a:t>
              </a:r>
              <a:endParaRPr lang="en-US" altLang="zh-CN" b="1">
                <a:solidFill>
                  <a:schemeClr val="bg1"/>
                </a:solidFill>
                <a:latin typeface="微软雅黑" panose="020B0503020204020204" pitchFamily="34" charset="-122"/>
                <a:ea typeface="微软雅黑" panose="020B0503020204020204" pitchFamily="34" charset="-122"/>
              </a:endParaRPr>
            </a:p>
          </p:txBody>
        </p:sp>
        <p:grpSp>
          <p:nvGrpSpPr>
            <p:cNvPr id="10" name="Group 9"/>
            <p:cNvGrpSpPr/>
            <p:nvPr/>
          </p:nvGrpSpPr>
          <p:grpSpPr bwMode="auto">
            <a:xfrm>
              <a:off x="6101942" y="2487930"/>
              <a:ext cx="1042346" cy="1032459"/>
              <a:chOff x="1296" y="2064"/>
              <a:chExt cx="768" cy="1344"/>
            </a:xfrm>
            <a:solidFill>
              <a:srgbClr val="00B050"/>
            </a:solidFill>
          </p:grpSpPr>
          <p:sp>
            <p:nvSpPr>
              <p:cNvPr id="11" name="AutoShape 10"/>
              <p:cNvSpPr>
                <a:spLocks noChangeArrowheads="1"/>
              </p:cNvSpPr>
              <p:nvPr/>
            </p:nvSpPr>
            <p:spPr bwMode="auto">
              <a:xfrm>
                <a:off x="1296"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2" name="AutoShape 11"/>
              <p:cNvSpPr>
                <a:spLocks noChangeArrowheads="1"/>
              </p:cNvSpPr>
              <p:nvPr/>
            </p:nvSpPr>
            <p:spPr bwMode="auto">
              <a:xfrm>
                <a:off x="1872"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3" name="AutoShape 12"/>
              <p:cNvSpPr>
                <a:spLocks noChangeArrowheads="1"/>
              </p:cNvSpPr>
              <p:nvPr/>
            </p:nvSpPr>
            <p:spPr bwMode="auto">
              <a:xfrm>
                <a:off x="1584"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grpSp>
        <p:sp>
          <p:nvSpPr>
            <p:cNvPr id="14" name="AutoShape 13"/>
            <p:cNvSpPr>
              <a:spLocks noChangeArrowheads="1"/>
            </p:cNvSpPr>
            <p:nvPr/>
          </p:nvSpPr>
          <p:spPr bwMode="auto">
            <a:xfrm rot="5400000">
              <a:off x="6965988" y="1767037"/>
              <a:ext cx="613617" cy="257016"/>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00FFFF"/>
            </a:solidFill>
            <a:ln w="12700" cap="sq">
              <a:solidFill>
                <a:srgbClr val="333399"/>
              </a:solidFill>
              <a:miter lim="800000"/>
              <a:headEnd type="none" w="sm" len="sm"/>
              <a:tailEnd type="none" w="sm" len="sm"/>
            </a:ln>
            <a:effectLst/>
          </p:spPr>
          <p:txBody>
            <a:bodyPr rot="10800000" vert="eaVert"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15" name="Rectangle 14"/>
            <p:cNvSpPr>
              <a:spLocks noChangeArrowheads="1"/>
            </p:cNvSpPr>
            <p:nvPr/>
          </p:nvSpPr>
          <p:spPr bwMode="auto">
            <a:xfrm>
              <a:off x="7174125" y="2618267"/>
              <a:ext cx="800219" cy="5478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1600" b="1" dirty="0">
                  <a:latin typeface="微软雅黑" panose="020B0503020204020204" pitchFamily="34" charset="-122"/>
                  <a:ea typeface="微软雅黑" panose="020B0503020204020204" pitchFamily="34" charset="-122"/>
                </a:rPr>
                <a:t>传感器</a:t>
              </a:r>
              <a:endParaRPr lang="zh-CN" altLang="en-US" sz="1600" b="1" dirty="0">
                <a:latin typeface="微软雅黑" panose="020B0503020204020204" pitchFamily="34" charset="-122"/>
                <a:ea typeface="微软雅黑" panose="020B0503020204020204" pitchFamily="34" charset="-122"/>
              </a:endParaRP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硬件</a:t>
              </a:r>
              <a:endParaRPr lang="zh-CN" altLang="en-US" sz="1600" b="1" dirty="0">
                <a:latin typeface="微软雅黑" panose="020B0503020204020204" pitchFamily="34" charset="-122"/>
                <a:ea typeface="微软雅黑" panose="020B0503020204020204" pitchFamily="34" charset="-122"/>
              </a:endParaRPr>
            </a:p>
          </p:txBody>
        </p:sp>
        <p:sp>
          <p:nvSpPr>
            <p:cNvPr id="16" name="Oval 15"/>
            <p:cNvSpPr>
              <a:spLocks noChangeArrowheads="1"/>
            </p:cNvSpPr>
            <p:nvPr/>
          </p:nvSpPr>
          <p:spPr bwMode="auto">
            <a:xfrm>
              <a:off x="5059598" y="1587273"/>
              <a:ext cx="664752" cy="629727"/>
            </a:xfrm>
            <a:prstGeom prst="ellipse">
              <a:avLst/>
            </a:prstGeom>
            <a:solidFill>
              <a:srgbClr val="CC00FF"/>
            </a:solidFill>
            <a:ln w="9525">
              <a:solidFill>
                <a:srgbClr val="333399"/>
              </a:solidFill>
              <a:round/>
            </a:ln>
            <a:effectLst/>
          </p:spPr>
          <p:txBody>
            <a:bodyPr wrap="none" anchor="ctr"/>
            <a:lstStyle/>
            <a:p>
              <a:pPr algn="ctr"/>
              <a:r>
                <a:rPr lang="zh-CN" altLang="en-US" b="1">
                  <a:solidFill>
                    <a:schemeClr val="bg1"/>
                  </a:solidFill>
                  <a:latin typeface="微软雅黑" panose="020B0503020204020204" pitchFamily="34" charset="-122"/>
                  <a:ea typeface="微软雅黑" panose="020B0503020204020204" pitchFamily="34" charset="-122"/>
                </a:rPr>
                <a:t>电池</a:t>
              </a:r>
              <a:endParaRPr lang="zh-CN" altLang="en-US" b="1">
                <a:solidFill>
                  <a:schemeClr val="bg1"/>
                </a:solidFill>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7458113" y="1622795"/>
              <a:ext cx="800219" cy="5109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无线</a:t>
              </a:r>
              <a:endParaRPr lang="zh-CN" altLang="en-US" sz="1600" b="1" dirty="0">
                <a:latin typeface="微软雅黑" panose="020B0503020204020204" pitchFamily="34" charset="-122"/>
                <a:ea typeface="微软雅黑" panose="020B0503020204020204" pitchFamily="34" charset="-122"/>
              </a:endParaRP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收发器</a:t>
              </a:r>
              <a:endParaRPr lang="zh-CN" altLang="en-US" sz="1600" b="1" dirty="0">
                <a:latin typeface="微软雅黑" panose="020B0503020204020204" pitchFamily="34" charset="-122"/>
                <a:ea typeface="微软雅黑" panose="020B0503020204020204" pitchFamily="34" charset="-122"/>
              </a:endParaRPr>
            </a:p>
          </p:txBody>
        </p:sp>
        <p:pic>
          <p:nvPicPr>
            <p:cNvPr id="18" name="Picture 17" descr="UCB-sensor-dots"/>
            <p:cNvPicPr>
              <a:picLocks noChangeAspect="1" noChangeArrowheads="1"/>
            </p:cNvPicPr>
            <p:nvPr/>
          </p:nvPicPr>
          <p:blipFill>
            <a:blip r:embed="rId1" cstate="print">
              <a:extLst>
                <a:ext uri="{28A0092B-C50C-407E-A947-70E740481C1C}">
                  <a14:useLocalDpi xmlns:a14="http://schemas.microsoft.com/office/drawing/2010/main" val="0"/>
                </a:ext>
              </a:extLst>
            </a:blip>
            <a:srcRect l="2850" t="11598" r="7932" b="12183"/>
            <a:stretch>
              <a:fillRect/>
            </a:stretch>
          </p:blipFill>
          <p:spPr bwMode="auto">
            <a:xfrm>
              <a:off x="758424" y="1408605"/>
              <a:ext cx="3693423" cy="2243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21"/>
            <p:cNvSpPr txBox="1">
              <a:spLocks noChangeArrowheads="1"/>
            </p:cNvSpPr>
            <p:nvPr/>
          </p:nvSpPr>
          <p:spPr bwMode="auto">
            <a:xfrm>
              <a:off x="2176050" y="3725415"/>
              <a:ext cx="102784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(a</a:t>
              </a:r>
              <a:r>
                <a:rPr lang="en-US" altLang="zh-CN" b="1" dirty="0" smtClean="0">
                  <a:solidFill>
                    <a:srgbClr val="0000FF"/>
                  </a:solidFill>
                  <a:latin typeface="微软雅黑" panose="020B0503020204020204" pitchFamily="34" charset="-122"/>
                  <a:ea typeface="微软雅黑" panose="020B0503020204020204" pitchFamily="34" charset="-122"/>
                </a:rPr>
                <a:t>) </a:t>
              </a:r>
              <a:r>
                <a:rPr lang="zh-CN" altLang="en-US" b="1" dirty="0" smtClean="0">
                  <a:solidFill>
                    <a:srgbClr val="0000FF"/>
                  </a:solidFill>
                  <a:latin typeface="微软雅黑" panose="020B0503020204020204" pitchFamily="34" charset="-122"/>
                  <a:ea typeface="微软雅黑" panose="020B0503020204020204" pitchFamily="34" charset="-122"/>
                </a:rPr>
                <a:t>形状</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20" name="Text Box 22"/>
            <p:cNvSpPr txBox="1">
              <a:spLocks noChangeArrowheads="1"/>
            </p:cNvSpPr>
            <p:nvPr/>
          </p:nvSpPr>
          <p:spPr bwMode="auto">
            <a:xfrm>
              <a:off x="6109152" y="3732739"/>
              <a:ext cx="104868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(b</a:t>
              </a:r>
              <a:r>
                <a:rPr lang="en-US" altLang="zh-CN" b="1" dirty="0" smtClean="0">
                  <a:solidFill>
                    <a:srgbClr val="0000FF"/>
                  </a:solidFill>
                  <a:latin typeface="微软雅黑" panose="020B0503020204020204" pitchFamily="34" charset="-122"/>
                  <a:ea typeface="微软雅黑" panose="020B0503020204020204" pitchFamily="34" charset="-122"/>
                </a:rPr>
                <a:t>) </a:t>
              </a:r>
              <a:r>
                <a:rPr lang="zh-CN" altLang="en-US" b="1" dirty="0" smtClean="0">
                  <a:solidFill>
                    <a:srgbClr val="0000FF"/>
                  </a:solidFill>
                  <a:latin typeface="微软雅黑" panose="020B0503020204020204" pitchFamily="34" charset="-122"/>
                  <a:ea typeface="微软雅黑" panose="020B0503020204020204" pitchFamily="34" charset="-122"/>
                </a:rPr>
                <a:t>组成</a:t>
              </a:r>
              <a:endParaRPr lang="en-US" altLang="zh-CN" b="1" dirty="0">
                <a:solidFill>
                  <a:srgbClr val="0000FF"/>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348"/>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520"/>
            <a:ext cx="38523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无线传感器网络主要的应用领域 </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38741"/>
            <a:ext cx="81338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组成各种</a:t>
            </a:r>
            <a:r>
              <a:rPr lang="zh-CN" altLang="en-US" sz="2000" b="1" dirty="0" smtClean="0">
                <a:solidFill>
                  <a:srgbClr val="C00000"/>
                </a:solidFill>
                <a:latin typeface="微软雅黑" panose="020B0503020204020204" pitchFamily="34" charset="-122"/>
                <a:ea typeface="微软雅黑" panose="020B0503020204020204" pitchFamily="34" charset="-122"/>
              </a:rPr>
              <a:t>物联网 </a:t>
            </a:r>
            <a:r>
              <a:rPr lang="en-US" altLang="zh-CN" sz="2000" b="1" dirty="0" err="1" smtClean="0">
                <a:solidFill>
                  <a:srgbClr val="C00000"/>
                </a:solidFill>
                <a:latin typeface="微软雅黑" panose="020B0503020204020204" pitchFamily="34" charset="-122"/>
                <a:ea typeface="微软雅黑" panose="020B0503020204020204" pitchFamily="34" charset="-122"/>
              </a:rPr>
              <a:t>IoT</a:t>
            </a:r>
            <a:r>
              <a:rPr lang="en-US" altLang="zh-CN" sz="2000" b="1" dirty="0" smtClean="0">
                <a:solidFill>
                  <a:srgbClr val="C00000"/>
                </a:solidFill>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(Internet of Things) </a:t>
            </a:r>
            <a:r>
              <a:rPr lang="zh-CN" altLang="en-US" sz="2000" b="1" dirty="0">
                <a:latin typeface="微软雅黑" panose="020B0503020204020204" pitchFamily="34" charset="-122"/>
                <a:ea typeface="微软雅黑" panose="020B0503020204020204" pitchFamily="34" charset="-122"/>
              </a:rPr>
              <a:t>，例如：</a:t>
            </a:r>
            <a:endParaRPr lang="zh-CN" altLang="en-US" sz="2000" b="1" dirty="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环境监测与</a:t>
            </a:r>
            <a:r>
              <a:rPr lang="zh-CN" altLang="en-US" sz="2000" b="1" dirty="0" smtClean="0">
                <a:latin typeface="微软雅黑" panose="020B0503020204020204" pitchFamily="34" charset="-122"/>
                <a:ea typeface="微软雅黑" panose="020B0503020204020204" pitchFamily="34" charset="-122"/>
              </a:rPr>
              <a:t>保护；</a:t>
            </a:r>
            <a:endParaRPr lang="zh-CN" altLang="en-US" sz="2000" b="1" dirty="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战争中对敌情的侦查和对兵力、装备、物资等的监控；</a:t>
            </a:r>
            <a:endParaRPr lang="zh-CN" altLang="en-US" sz="2000" b="1" dirty="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医疗中对病房的监测和对患者的护理；</a:t>
            </a:r>
            <a:endParaRPr lang="zh-CN" altLang="en-US" sz="2000" b="1" dirty="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在危险的工业</a:t>
            </a:r>
            <a:r>
              <a:rPr lang="zh-CN" altLang="en-US" sz="2000" b="1" dirty="0" smtClean="0">
                <a:latin typeface="微软雅黑" panose="020B0503020204020204" pitchFamily="34" charset="-122"/>
                <a:ea typeface="微软雅黑" panose="020B0503020204020204" pitchFamily="34" charset="-122"/>
              </a:rPr>
              <a:t>环境中</a:t>
            </a:r>
            <a:r>
              <a:rPr lang="zh-CN" altLang="en-US" sz="2000" b="1" dirty="0">
                <a:latin typeface="微软雅黑" panose="020B0503020204020204" pitchFamily="34" charset="-122"/>
                <a:ea typeface="微软雅黑" panose="020B0503020204020204" pitchFamily="34" charset="-122"/>
              </a:rPr>
              <a:t>的安全监测；</a:t>
            </a:r>
            <a:endParaRPr lang="zh-CN" altLang="en-US" sz="2000" b="1" dirty="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城市交通管理、建筑内的温度</a:t>
            </a:r>
            <a:r>
              <a:rPr lang="en-US" altLang="zh-CN" sz="2000" b="1" dirty="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照明</a:t>
            </a:r>
            <a:r>
              <a:rPr lang="en-US" altLang="zh-CN" sz="2000" b="1" dirty="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安全控制等。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262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2795"/>
            <a:ext cx="33377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anose="020B0503020204020204" pitchFamily="34" charset="-122"/>
                <a:ea typeface="微软雅黑" panose="020B0503020204020204" pitchFamily="34" charset="-122"/>
              </a:rPr>
              <a:t>移动自组网络</a:t>
            </a:r>
            <a:r>
              <a:rPr lang="zh-CN" altLang="en-US" sz="2000" b="1" dirty="0">
                <a:solidFill>
                  <a:srgbClr val="C00000"/>
                </a:solidFill>
                <a:latin typeface="微软雅黑" panose="020B0503020204020204" pitchFamily="34" charset="-122"/>
                <a:ea typeface="微软雅黑" panose="020B0503020204020204" pitchFamily="34" charset="-122"/>
              </a:rPr>
              <a:t>不同于</a:t>
            </a:r>
            <a:r>
              <a:rPr lang="zh-CN" altLang="en-US" sz="2000" b="1" dirty="0">
                <a:solidFill>
                  <a:srgbClr val="0000FF"/>
                </a:solidFill>
                <a:latin typeface="微软雅黑" panose="020B0503020204020204" pitchFamily="34" charset="-122"/>
                <a:ea typeface="微软雅黑" panose="020B0503020204020204" pitchFamily="34" charset="-122"/>
              </a:rPr>
              <a:t>移动 </a:t>
            </a:r>
            <a:r>
              <a:rPr lang="en-US" altLang="zh-CN" sz="2000" b="1" dirty="0">
                <a:solidFill>
                  <a:srgbClr val="0000FF"/>
                </a:solidFill>
                <a:latin typeface="微软雅黑" panose="020B0503020204020204" pitchFamily="34" charset="-122"/>
                <a:ea typeface="微软雅黑" panose="020B0503020204020204" pitchFamily="34" charset="-122"/>
              </a:rPr>
              <a:t>IP</a:t>
            </a:r>
            <a:endParaRPr lang="en-US" altLang="zh-CN" sz="2000" b="1" dirty="0">
              <a:solidFill>
                <a:srgbClr val="0000FF"/>
              </a:solidFill>
              <a:latin typeface="微软雅黑" panose="020B0503020204020204" pitchFamily="34" charset="-122"/>
              <a:ea typeface="微软雅黑" panose="020B0503020204020204" pitchFamily="34" charset="-122"/>
            </a:endParaRPr>
          </a:p>
        </p:txBody>
      </p:sp>
      <p:graphicFrame>
        <p:nvGraphicFramePr>
          <p:cNvPr id="5" name="图示 4"/>
          <p:cNvGraphicFramePr/>
          <p:nvPr/>
        </p:nvGraphicFramePr>
        <p:xfrm>
          <a:off x="1089410" y="991844"/>
          <a:ext cx="7071363" cy="3589987"/>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889"/>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几种不同的接入</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21278"/>
            <a:ext cx="8133857"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固定</a:t>
            </a:r>
            <a:r>
              <a:rPr lang="zh-CN" altLang="en-US" sz="2000" b="1" dirty="0" smtClean="0">
                <a:solidFill>
                  <a:srgbClr val="0000FF"/>
                </a:solidFill>
                <a:latin typeface="微软雅黑" panose="020B0503020204020204" pitchFamily="34" charset="-122"/>
                <a:ea typeface="微软雅黑" panose="020B0503020204020204" pitchFamily="34" charset="-122"/>
              </a:rPr>
              <a:t>接入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fixed access</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作为网络用户期间，用户设置的地理位置保持不变。</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移动</a:t>
            </a:r>
            <a:r>
              <a:rPr lang="zh-CN" altLang="en-US" sz="2000" b="1" dirty="0" smtClean="0">
                <a:solidFill>
                  <a:srgbClr val="0000FF"/>
                </a:solidFill>
                <a:latin typeface="微软雅黑" panose="020B0503020204020204" pitchFamily="34" charset="-122"/>
                <a:ea typeface="微软雅黑" panose="020B0503020204020204" pitchFamily="34" charset="-122"/>
              </a:rPr>
              <a:t>接入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mobility access</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：用户</a:t>
            </a:r>
            <a:r>
              <a:rPr lang="zh-CN" altLang="en-US" sz="2000" b="1" dirty="0">
                <a:latin typeface="微软雅黑" panose="020B0503020204020204" pitchFamily="34" charset="-122"/>
                <a:ea typeface="微软雅黑" panose="020B0503020204020204" pitchFamily="34" charset="-122"/>
              </a:rPr>
              <a:t>设置能够以车辆速度移动时进行网络通信。当发生切换时，通信仍然是连续的。</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便携</a:t>
            </a:r>
            <a:r>
              <a:rPr lang="zh-CN" altLang="en-US" sz="2000" b="1" dirty="0" smtClean="0">
                <a:solidFill>
                  <a:srgbClr val="0000FF"/>
                </a:solidFill>
                <a:latin typeface="微软雅黑" panose="020B0503020204020204" pitchFamily="34" charset="-122"/>
                <a:ea typeface="微软雅黑" panose="020B0503020204020204" pitchFamily="34" charset="-122"/>
              </a:rPr>
              <a:t>接入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portable access</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受限的网络覆盖面积中，用户设备能够在以步行速度移动时进行网络通信，提供有限的切换能力。</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游牧</a:t>
            </a:r>
            <a:r>
              <a:rPr lang="zh-CN" altLang="en-US" sz="2000" b="1" dirty="0" smtClean="0">
                <a:solidFill>
                  <a:srgbClr val="0000FF"/>
                </a:solidFill>
                <a:latin typeface="微软雅黑" panose="020B0503020204020204" pitchFamily="34" charset="-122"/>
                <a:ea typeface="微软雅黑" panose="020B0503020204020204" pitchFamily="34" charset="-122"/>
              </a:rPr>
              <a:t>接入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nomadic access</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：用户</a:t>
            </a:r>
            <a:r>
              <a:rPr lang="zh-CN" altLang="en-US" sz="2000" b="1" dirty="0">
                <a:latin typeface="微软雅黑" panose="020B0503020204020204" pitchFamily="34" charset="-122"/>
                <a:ea typeface="微软雅黑" panose="020B0503020204020204" pitchFamily="34" charset="-122"/>
              </a:rPr>
              <a:t>设备的地理位置至少在进行网络通信时保持不变。如用户设备移动了位置，则再次进行通信时可能还要寻找最佳的基</a:t>
            </a:r>
            <a:r>
              <a:rPr lang="zh-CN" altLang="en-US" sz="2000" b="1" dirty="0" smtClean="0">
                <a:latin typeface="微软雅黑" panose="020B0503020204020204" pitchFamily="34" charset="-122"/>
                <a:ea typeface="微软雅黑" panose="020B0503020204020204" pitchFamily="34" charset="-122"/>
              </a:rPr>
              <a:t>站。</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84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2335246" y="590381"/>
            <a:ext cx="448231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9.1.2   802.11 </a:t>
            </a:r>
            <a:r>
              <a:rPr lang="zh-CN" altLang="en-US" sz="2400" b="1" dirty="0">
                <a:solidFill>
                  <a:schemeClr val="bg1"/>
                </a:solidFill>
                <a:latin typeface="微软雅黑" panose="020B0503020204020204" pitchFamily="34" charset="-122"/>
                <a:ea typeface="微软雅黑" panose="020B0503020204020204" pitchFamily="34" charset="-122"/>
              </a:rPr>
              <a:t>局域网的物理层</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040821"/>
            <a:ext cx="8129016"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802.11 </a:t>
            </a:r>
            <a:r>
              <a:rPr lang="zh-CN" altLang="en-US" sz="2000" b="1" dirty="0" smtClean="0">
                <a:latin typeface="微软雅黑" panose="020B0503020204020204" pitchFamily="34" charset="-122"/>
                <a:ea typeface="微软雅黑" panose="020B0503020204020204" pitchFamily="34" charset="-122"/>
              </a:rPr>
              <a:t>标准</a:t>
            </a:r>
            <a:r>
              <a:rPr lang="zh-CN" altLang="en-US" sz="2000" b="1" dirty="0">
                <a:latin typeface="微软雅黑" panose="020B0503020204020204" pitchFamily="34" charset="-122"/>
                <a:ea typeface="微软雅黑" panose="020B0503020204020204" pitchFamily="34" charset="-122"/>
              </a:rPr>
              <a:t>中物理层相当复杂。根据物理层的不同（如工作频段、数据率、调制方法等），对应的标准也不同</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6" name="表格 5"/>
          <p:cNvGraphicFramePr>
            <a:graphicFrameLocks noGrp="1"/>
          </p:cNvGraphicFramePr>
          <p:nvPr/>
        </p:nvGraphicFramePr>
        <p:xfrm>
          <a:off x="668595" y="1857626"/>
          <a:ext cx="7649494" cy="2655146"/>
        </p:xfrm>
        <a:graphic>
          <a:graphicData uri="http://schemas.openxmlformats.org/drawingml/2006/table">
            <a:tbl>
              <a:tblPr firstRow="1" firstCol="1" bandRow="1">
                <a:tableStyleId>{7DF18680-E054-41AD-8BC1-D1AEF772440D}</a:tableStyleId>
              </a:tblPr>
              <a:tblGrid>
                <a:gridCol w="824619"/>
                <a:gridCol w="747340"/>
                <a:gridCol w="1043420"/>
                <a:gridCol w="1022555"/>
                <a:gridCol w="786580"/>
                <a:gridCol w="3224980"/>
              </a:tblGrid>
              <a:tr h="285806">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标准</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别名</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频段</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最高数据率</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物理层</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优缺点</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802.11b</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1</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11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200" b="1" kern="500">
                          <a:effectLst/>
                          <a:latin typeface="微软雅黑" panose="020B0503020204020204" pitchFamily="34" charset="-122"/>
                          <a:ea typeface="微软雅黑" panose="020B0503020204020204" pitchFamily="34" charset="-122"/>
                        </a:rPr>
                        <a:t>扩频</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最高数据率较低，价格最低，信号传播距离最远，且不易受阻碍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2</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54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OFDM</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最高数据率较高，支持更多用户同时上网，价格最高，信号传播距离较短，且易受阻碍。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802.11g</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(2003</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3</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54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OFDM</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最高数据率较高，支持更多用户同时上网，信号传播距离最远，且不易受阻碍，价格</a:t>
                      </a:r>
                      <a:r>
                        <a:rPr lang="zh-CN" sz="1100" b="1" kern="500" dirty="0" smtClean="0">
                          <a:effectLst/>
                          <a:latin typeface="微软雅黑" panose="020B0503020204020204" pitchFamily="34" charset="-122"/>
                          <a:ea typeface="微软雅黑" panose="020B0503020204020204" pitchFamily="34" charset="-122"/>
                        </a:rPr>
                        <a:t>比</a:t>
                      </a:r>
                      <a:r>
                        <a:rPr lang="en-US" altLang="zh-CN" sz="1100" b="1" kern="500" dirty="0" smtClean="0">
                          <a:effectLst/>
                          <a:latin typeface="微软雅黑" panose="020B0503020204020204" pitchFamily="34" charset="-122"/>
                          <a:ea typeface="微软雅黑" panose="020B0503020204020204" pitchFamily="34" charset="-122"/>
                        </a:rPr>
                        <a:t> </a:t>
                      </a:r>
                      <a:r>
                        <a:rPr lang="en-US" sz="1100" b="1" kern="500" dirty="0" smtClean="0">
                          <a:effectLst/>
                          <a:latin typeface="微软雅黑" panose="020B0503020204020204" pitchFamily="34" charset="-122"/>
                          <a:ea typeface="微软雅黑" panose="020B0503020204020204" pitchFamily="34" charset="-122"/>
                        </a:rPr>
                        <a:t>802.11b </a:t>
                      </a:r>
                      <a:r>
                        <a:rPr lang="zh-CN" sz="1100" b="1" kern="500" dirty="0" smtClean="0">
                          <a:effectLst/>
                          <a:latin typeface="微软雅黑" panose="020B0503020204020204" pitchFamily="34" charset="-122"/>
                          <a:ea typeface="微软雅黑" panose="020B0503020204020204" pitchFamily="34" charset="-122"/>
                        </a:rPr>
                        <a:t>贵</a:t>
                      </a:r>
                      <a:r>
                        <a:rPr lang="zh-CN"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802.11n</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4</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a:t>
                      </a:r>
                      <a:r>
                        <a:rPr lang="en-US" sz="1200" b="1" kern="0" dirty="0" smtClean="0">
                          <a:effectLst/>
                          <a:latin typeface="微软雅黑" panose="020B0503020204020204" pitchFamily="34" charset="-122"/>
                          <a:ea typeface="微软雅黑" panose="020B0503020204020204" pitchFamily="34" charset="-122"/>
                        </a:rPr>
                        <a:t>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dirty="0">
                          <a:effectLst/>
                          <a:latin typeface="微软雅黑" panose="020B0503020204020204" pitchFamily="34" charset="-122"/>
                          <a:ea typeface="微软雅黑" panose="020B0503020204020204" pitchFamily="34" charset="-122"/>
                        </a:rPr>
                        <a:t>600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使用多个发射和接收天线达到更高的数据传输率，</a:t>
                      </a:r>
                      <a:endParaRPr lang="zh-CN" sz="11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当使用双倍</a:t>
                      </a:r>
                      <a:r>
                        <a:rPr lang="zh-CN" sz="1100" b="1" kern="500" dirty="0" smtClean="0">
                          <a:effectLst/>
                          <a:latin typeface="微软雅黑" panose="020B0503020204020204" pitchFamily="34" charset="-122"/>
                          <a:ea typeface="微软雅黑" panose="020B0503020204020204" pitchFamily="34" charset="-122"/>
                        </a:rPr>
                        <a:t>带宽</a:t>
                      </a:r>
                      <a:r>
                        <a:rPr lang="en-US" altLang="zh-CN" sz="1100" b="1" kern="500" dirty="0" smtClean="0">
                          <a:effectLst/>
                          <a:latin typeface="微软雅黑" panose="020B0503020204020204" pitchFamily="34" charset="-122"/>
                          <a:ea typeface="微软雅黑" panose="020B0503020204020204" pitchFamily="34" charset="-122"/>
                        </a:rPr>
                        <a:t> </a:t>
                      </a:r>
                      <a:r>
                        <a:rPr lang="en-US" sz="1100" b="1" kern="500" dirty="0" smtClean="0">
                          <a:effectLst/>
                          <a:latin typeface="微软雅黑" panose="020B0503020204020204" pitchFamily="34" charset="-122"/>
                          <a:ea typeface="微软雅黑" panose="020B0503020204020204" pitchFamily="34" charset="-122"/>
                        </a:rPr>
                        <a:t>(</a:t>
                      </a:r>
                      <a:r>
                        <a:rPr lang="en-US" sz="1100" b="1" kern="500" dirty="0">
                          <a:effectLst/>
                          <a:latin typeface="微软雅黑" panose="020B0503020204020204" pitchFamily="34" charset="-122"/>
                          <a:ea typeface="微软雅黑" panose="020B0503020204020204" pitchFamily="34" charset="-122"/>
                        </a:rPr>
                        <a:t>40 MHz</a:t>
                      </a:r>
                      <a:r>
                        <a:rPr lang="en-US" sz="1100" b="1" kern="500" dirty="0" smtClean="0">
                          <a:effectLst/>
                          <a:latin typeface="微软雅黑" panose="020B0503020204020204" pitchFamily="34" charset="-122"/>
                          <a:ea typeface="微软雅黑" panose="020B0503020204020204" pitchFamily="34" charset="-122"/>
                        </a:rPr>
                        <a:t>) </a:t>
                      </a:r>
                      <a:r>
                        <a:rPr lang="zh-CN" sz="1100" b="1" kern="500" dirty="0" smtClean="0">
                          <a:effectLst/>
                          <a:latin typeface="微软雅黑" panose="020B0503020204020204" pitchFamily="34" charset="-122"/>
                          <a:ea typeface="微软雅黑" panose="020B0503020204020204" pitchFamily="34" charset="-122"/>
                        </a:rPr>
                        <a:t>时</a:t>
                      </a:r>
                      <a:r>
                        <a:rPr lang="zh-CN" sz="1100" b="1" kern="500" dirty="0">
                          <a:effectLst/>
                          <a:latin typeface="微软雅黑" panose="020B0503020204020204" pitchFamily="34" charset="-122"/>
                          <a:ea typeface="微软雅黑" panose="020B0503020204020204" pitchFamily="34" charset="-122"/>
                        </a:rPr>
                        <a:t>速率可</a:t>
                      </a:r>
                      <a:r>
                        <a:rPr lang="zh-CN" sz="1100" b="1" kern="500" dirty="0" smtClean="0">
                          <a:effectLst/>
                          <a:latin typeface="微软雅黑" panose="020B0503020204020204" pitchFamily="34" charset="-122"/>
                          <a:ea typeface="微软雅黑" panose="020B0503020204020204" pitchFamily="34" charset="-122"/>
                        </a:rPr>
                        <a:t>达</a:t>
                      </a:r>
                      <a:r>
                        <a:rPr lang="en-US" altLang="zh-CN" sz="1100" b="1" kern="500" dirty="0" smtClean="0">
                          <a:effectLst/>
                          <a:latin typeface="微软雅黑" panose="020B0503020204020204" pitchFamily="34" charset="-122"/>
                          <a:ea typeface="微软雅黑" panose="020B0503020204020204" pitchFamily="34" charset="-122"/>
                        </a:rPr>
                        <a:t> </a:t>
                      </a:r>
                      <a:r>
                        <a:rPr lang="en-US" sz="1100" b="1" kern="500" dirty="0" smtClean="0">
                          <a:effectLst/>
                          <a:latin typeface="微软雅黑" panose="020B0503020204020204" pitchFamily="34" charset="-122"/>
                          <a:ea typeface="微软雅黑" panose="020B0503020204020204" pitchFamily="34" charset="-122"/>
                        </a:rPr>
                        <a:t>600 </a:t>
                      </a:r>
                      <a:r>
                        <a:rPr lang="en-US" sz="1100" b="1" kern="500" dirty="0">
                          <a:effectLst/>
                          <a:latin typeface="微软雅黑" panose="020B0503020204020204" pitchFamily="34" charset="-122"/>
                          <a:ea typeface="微软雅黑" panose="020B0503020204020204" pitchFamily="34" charset="-122"/>
                        </a:rPr>
                        <a:t>Mbit/s</a:t>
                      </a:r>
                      <a:r>
                        <a:rPr lang="zh-CN"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802.11ac</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(2014</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5</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a:effectLst/>
                          <a:latin typeface="微软雅黑" panose="020B0503020204020204" pitchFamily="34" charset="-122"/>
                          <a:ea typeface="微软雅黑" panose="020B0503020204020204" pitchFamily="34" charset="-122"/>
                        </a:rPr>
                        <a:t>5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7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完全</a:t>
                      </a:r>
                      <a:r>
                        <a:rPr lang="zh-CN" sz="1100" b="1" kern="500" dirty="0" smtClean="0">
                          <a:effectLst/>
                          <a:latin typeface="微软雅黑" panose="020B0503020204020204" pitchFamily="34" charset="-122"/>
                          <a:ea typeface="微软雅黑" panose="020B0503020204020204" pitchFamily="34" charset="-122"/>
                        </a:rPr>
                        <a:t>遵循</a:t>
                      </a:r>
                      <a:r>
                        <a:rPr lang="en-US" altLang="zh-CN" sz="1100" b="1" kern="500" dirty="0" smtClean="0">
                          <a:effectLst/>
                          <a:latin typeface="微软雅黑" panose="020B0503020204020204" pitchFamily="34" charset="-122"/>
                          <a:ea typeface="微软雅黑" panose="020B0503020204020204" pitchFamily="34" charset="-122"/>
                        </a:rPr>
                        <a:t> </a:t>
                      </a:r>
                      <a:r>
                        <a:rPr lang="en-US" sz="1100" b="1" kern="500" dirty="0" smtClean="0">
                          <a:effectLst/>
                          <a:latin typeface="微软雅黑" panose="020B0503020204020204" pitchFamily="34" charset="-122"/>
                          <a:ea typeface="微软雅黑" panose="020B0503020204020204" pitchFamily="34" charset="-122"/>
                        </a:rPr>
                        <a:t>802.11i </a:t>
                      </a:r>
                      <a:r>
                        <a:rPr lang="zh-CN" sz="1100" b="1" kern="500" dirty="0" smtClean="0">
                          <a:effectLst/>
                          <a:latin typeface="微软雅黑" panose="020B0503020204020204" pitchFamily="34" charset="-122"/>
                          <a:ea typeface="微软雅黑" panose="020B0503020204020204" pitchFamily="34" charset="-122"/>
                        </a:rPr>
                        <a:t>安全标准</a:t>
                      </a:r>
                      <a:r>
                        <a:rPr lang="zh-CN" sz="1100" b="1" kern="500" dirty="0">
                          <a:effectLst/>
                          <a:latin typeface="微软雅黑" panose="020B0503020204020204" pitchFamily="34" charset="-122"/>
                          <a:ea typeface="微软雅黑" panose="020B0503020204020204" pitchFamily="34" charset="-122"/>
                        </a:rPr>
                        <a:t>的所有内容，使得无线连接能够在安全性方面达到企业级用户的需求。</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802.11ax</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6</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a:t>
                      </a:r>
                      <a:r>
                        <a:rPr lang="en-US" sz="1200" b="1" kern="0" dirty="0" smtClean="0">
                          <a:effectLst/>
                          <a:latin typeface="微软雅黑" panose="020B0503020204020204" pitchFamily="34" charset="-122"/>
                          <a:ea typeface="微软雅黑" panose="020B0503020204020204" pitchFamily="34" charset="-122"/>
                        </a:rPr>
                        <a:t>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9.6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侧重解决密集环境下（如火车站、机场）提高吞吐量密度（即单位面积的吞吐量）</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r>
            </a:tbl>
          </a:graphicData>
        </a:graphic>
      </p:graphicFrame>
      <p:sp>
        <p:nvSpPr>
          <p:cNvPr id="7" name="Rectangle 1"/>
          <p:cNvSpPr>
            <a:spLocks noChangeArrowheads="1"/>
          </p:cNvSpPr>
          <p:nvPr/>
        </p:nvSpPr>
        <p:spPr bwMode="auto">
          <a:xfrm>
            <a:off x="1866900" y="19986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pPr marL="0" marR="0" lvl="0" indent="0" algn="l" defTabSz="914400" rtl="0" eaLnBrk="0" fontAlgn="base" latinLnBrk="0" hangingPunct="0">
              <a:lnSpc>
                <a:spcPct val="100000"/>
              </a:lnSpc>
              <a:spcBef>
                <a:spcPct val="0"/>
              </a:spcBef>
              <a:spcAft>
                <a:spcPct val="0"/>
              </a:spcAft>
              <a:buClrTx/>
              <a:buSzTx/>
              <a:buFontTx/>
              <a:buNone/>
            </a:pPr>
            <a:br>
              <a:rPr kumimoji="0" lang="zh-CN" altLang="zh-CN" sz="1800" b="0" i="0" u="none" strike="noStrike" cap="none" normalizeH="0" baseline="0" smtClean="0">
                <a:ln>
                  <a:noFill/>
                </a:ln>
                <a:solidFill>
                  <a:schemeClr val="tx1"/>
                </a:solidFill>
                <a:effectLst/>
                <a:latin typeface="Arial" panose="020B0604020202020204" pitchFamily="34" charset="0"/>
              </a:rPr>
            </a:br>
            <a:endParaRPr kumimoji="0" lang="zh-CN" altLang="zh-CN" sz="1800" b="0" i="0" u="none" strike="noStrike" cap="none" normalizeH="0" baseline="0" smtClean="0">
              <a:ln>
                <a:noFill/>
              </a:ln>
              <a:solidFill>
                <a:schemeClr val="tx1"/>
              </a:solidFill>
              <a:effectLst/>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25279"/>
            <a:ext cx="8277262"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802.11 </a:t>
            </a:r>
            <a:r>
              <a:rPr lang="zh-CN" altLang="en-US" sz="2000" b="1" dirty="0">
                <a:latin typeface="微软雅黑" panose="020B0503020204020204" pitchFamily="34" charset="-122"/>
                <a:ea typeface="微软雅黑" panose="020B0503020204020204" pitchFamily="34" charset="-122"/>
              </a:rPr>
              <a:t>的物理层有以下几种实现方法：</a:t>
            </a:r>
            <a:endParaRPr lang="zh-CN" altLang="en-US" sz="2000" b="1" dirty="0">
              <a:latin typeface="微软雅黑" panose="020B0503020204020204" pitchFamily="34" charset="-122"/>
              <a:ea typeface="微软雅黑" panose="020B0503020204020204" pitchFamily="34" charset="-122"/>
            </a:endParaRPr>
          </a:p>
          <a:p>
            <a:pPr marL="714375" indent="-342900" eaLnBrk="0" hangingPunct="0">
              <a:lnSpc>
                <a:spcPts val="32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扩频</a:t>
            </a:r>
            <a:endParaRPr lang="en-US" altLang="zh-CN" sz="2000" b="1" dirty="0" smtClean="0">
              <a:latin typeface="微软雅黑" panose="020B0503020204020204" pitchFamily="34" charset="-122"/>
              <a:ea typeface="微软雅黑" panose="020B0503020204020204"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多入多</a:t>
            </a:r>
            <a:r>
              <a:rPr lang="zh-CN" altLang="en-US" sz="2000" b="1" dirty="0" smtClean="0">
                <a:latin typeface="微软雅黑" panose="020B0503020204020204" pitchFamily="34" charset="-122"/>
                <a:ea typeface="微软雅黑" panose="020B0503020204020204" pitchFamily="34" charset="-122"/>
              </a:rPr>
              <a:t>出 </a:t>
            </a:r>
            <a:r>
              <a:rPr lang="en-US" altLang="zh-CN" sz="2000" b="1" dirty="0" smtClean="0">
                <a:latin typeface="微软雅黑" panose="020B0503020204020204" pitchFamily="34" charset="-122"/>
                <a:ea typeface="微软雅黑" panose="020B0503020204020204" pitchFamily="34" charset="-122"/>
              </a:rPr>
              <a:t>MIMO (Multiple </a:t>
            </a:r>
            <a:r>
              <a:rPr lang="en-US" altLang="zh-CN" sz="2000" b="1" dirty="0">
                <a:latin typeface="微软雅黑" panose="020B0503020204020204" pitchFamily="34" charset="-122"/>
                <a:ea typeface="微软雅黑" panose="020B0503020204020204" pitchFamily="34" charset="-122"/>
              </a:rPr>
              <a:t>Input Multiple </a:t>
            </a:r>
            <a:r>
              <a:rPr lang="en-US" altLang="zh-CN" sz="2000" b="1" dirty="0" smtClean="0">
                <a:latin typeface="微软雅黑" panose="020B0503020204020204" pitchFamily="34" charset="-122"/>
                <a:ea typeface="微软雅黑" panose="020B0503020204020204" pitchFamily="34" charset="-122"/>
              </a:rPr>
              <a:t>Output)</a:t>
            </a:r>
            <a:endParaRPr lang="en-US" altLang="zh-CN" sz="2000" b="1" dirty="0">
              <a:latin typeface="微软雅黑" panose="020B0503020204020204" pitchFamily="34" charset="-122"/>
              <a:ea typeface="微软雅黑" panose="020B0503020204020204"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正交频分复用 </a:t>
            </a:r>
            <a:r>
              <a:rPr lang="en-US" altLang="zh-CN" sz="2000" b="1" dirty="0">
                <a:latin typeface="微软雅黑" panose="020B0503020204020204" pitchFamily="34" charset="-122"/>
                <a:ea typeface="微软雅黑" panose="020B0503020204020204" pitchFamily="34" charset="-122"/>
              </a:rPr>
              <a:t>OFDM (</a:t>
            </a:r>
            <a:r>
              <a:rPr lang="en-US" altLang="zh-CN" sz="2000" b="1" dirty="0" smtClean="0">
                <a:latin typeface="微软雅黑" panose="020B0503020204020204" pitchFamily="34" charset="-122"/>
                <a:ea typeface="微软雅黑" panose="020B0503020204020204" pitchFamily="34" charset="-122"/>
              </a:rPr>
              <a:t>Orthogonal </a:t>
            </a:r>
            <a:r>
              <a:rPr lang="en-US" altLang="zh-CN" sz="2000" b="1" dirty="0">
                <a:latin typeface="微软雅黑" panose="020B0503020204020204" pitchFamily="34" charset="-122"/>
                <a:ea typeface="微软雅黑" panose="020B0503020204020204" pitchFamily="34" charset="-122"/>
              </a:rPr>
              <a:t>Frequency Division </a:t>
            </a:r>
            <a:r>
              <a:rPr lang="en-US" altLang="zh-CN" sz="2000" b="1" dirty="0" smtClean="0">
                <a:latin typeface="微软雅黑" panose="020B0503020204020204" pitchFamily="34" charset="-122"/>
                <a:ea typeface="微软雅黑" panose="020B0503020204020204" pitchFamily="34" charset="-122"/>
              </a:rPr>
              <a:t>Multiplexing)</a:t>
            </a:r>
            <a:endParaRPr lang="en-US" altLang="zh-CN" sz="2000" b="1" dirty="0">
              <a:latin typeface="微软雅黑" panose="020B0503020204020204" pitchFamily="34" charset="-122"/>
              <a:ea typeface="微软雅黑" panose="020B0503020204020204"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跳频扩频 </a:t>
            </a:r>
            <a:r>
              <a:rPr lang="en-US" altLang="zh-CN" sz="2000" b="1" dirty="0">
                <a:latin typeface="微软雅黑" panose="020B0503020204020204" pitchFamily="34" charset="-122"/>
                <a:ea typeface="微软雅黑" panose="020B0503020204020204" pitchFamily="34" charset="-122"/>
              </a:rPr>
              <a:t>FHSS </a:t>
            </a:r>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已很少用</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红外线 </a:t>
            </a:r>
            <a:r>
              <a:rPr lang="en-US" altLang="zh-CN" sz="2000" b="1" dirty="0">
                <a:latin typeface="微软雅黑" panose="020B0503020204020204" pitchFamily="34" charset="-122"/>
                <a:ea typeface="微软雅黑" panose="020B0503020204020204" pitchFamily="34" charset="-122"/>
              </a:rPr>
              <a:t>IR </a:t>
            </a:r>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已很少用</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5889"/>
            <a:ext cx="4012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802.11 </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物理层</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几种</a:t>
            </a:r>
            <a:r>
              <a:rPr lang="zh-CN" altLang="en-US" sz="2000" b="1" dirty="0">
                <a:latin typeface="微软雅黑" panose="020B0503020204020204" pitchFamily="34" charset="-122"/>
                <a:ea typeface="微软雅黑" panose="020B0503020204020204" pitchFamily="34" charset="-122"/>
              </a:rPr>
              <a:t>实现方法</a:t>
            </a:r>
            <a:endParaRPr lang="en-US" altLang="zh-CN"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1229031" y="3579066"/>
            <a:ext cx="6882581" cy="400110"/>
          </a:xfrm>
          <a:prstGeom prst="rect">
            <a:avLst/>
          </a:prstGeom>
        </p:spPr>
        <p:txBody>
          <a:bodyPr wrap="square">
            <a:spAutoFit/>
          </a:bodyPr>
          <a:lstStyle/>
          <a:p>
            <a:pPr algn="ctr"/>
            <a:r>
              <a:rPr lang="zh-CN" altLang="en-US" sz="2000" b="1" dirty="0">
                <a:latin typeface="微软雅黑" panose="020B0503020204020204" pitchFamily="34" charset="-122"/>
                <a:ea typeface="微软雅黑" panose="020B0503020204020204" pitchFamily="34" charset="-122"/>
              </a:rPr>
              <a:t>必须解决共享</a:t>
            </a:r>
            <a:r>
              <a:rPr lang="zh-CN" altLang="en-US" sz="2000" b="1" dirty="0" smtClean="0">
                <a:latin typeface="微软雅黑" panose="020B0503020204020204" pitchFamily="34" charset="-122"/>
                <a:ea typeface="微软雅黑" panose="020B0503020204020204" pitchFamily="34" charset="-122"/>
              </a:rPr>
              <a:t>信道</a:t>
            </a:r>
            <a:r>
              <a:rPr lang="zh-CN" altLang="en-US" sz="2000" b="1" dirty="0">
                <a:latin typeface="微软雅黑" panose="020B0503020204020204" pitchFamily="34" charset="-122"/>
                <a:ea typeface="微软雅黑" panose="020B0503020204020204" pitchFamily="34" charset="-122"/>
              </a:rPr>
              <a:t>上的</a:t>
            </a:r>
            <a:r>
              <a:rPr lang="zh-CN" altLang="en-US" sz="2000" b="1" dirty="0" smtClean="0">
                <a:solidFill>
                  <a:srgbClr val="C00000"/>
                </a:solidFill>
                <a:latin typeface="微软雅黑" panose="020B0503020204020204" pitchFamily="34" charset="-122"/>
                <a:ea typeface="微软雅黑" panose="020B0503020204020204" pitchFamily="34" charset="-122"/>
              </a:rPr>
              <a:t>碰撞问题</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
        <p:nvSpPr>
          <p:cNvPr id="5" name="AutoShape 12"/>
          <p:cNvSpPr>
            <a:spLocks noChangeArrowheads="1"/>
          </p:cNvSpPr>
          <p:nvPr/>
        </p:nvSpPr>
        <p:spPr bwMode="auto">
          <a:xfrm>
            <a:off x="511896" y="623733"/>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9" name="Rectangle 13"/>
          <p:cNvSpPr>
            <a:spLocks noChangeArrowheads="1"/>
          </p:cNvSpPr>
          <p:nvPr/>
        </p:nvSpPr>
        <p:spPr bwMode="auto">
          <a:xfrm>
            <a:off x="1915323" y="598269"/>
            <a:ext cx="5322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9.1.3  </a:t>
            </a:r>
            <a:r>
              <a:rPr lang="en-US" altLang="zh-CN" sz="2400" b="1" dirty="0" smtClean="0">
                <a:solidFill>
                  <a:schemeClr val="bg1"/>
                </a:solidFill>
                <a:latin typeface="微软雅黑" panose="020B0503020204020204" pitchFamily="34" charset="-122"/>
                <a:ea typeface="微软雅黑" panose="020B0503020204020204" pitchFamily="34" charset="-122"/>
              </a:rPr>
              <a:t>802.11 </a:t>
            </a:r>
            <a:r>
              <a:rPr lang="zh-CN" altLang="en-US" sz="2400" b="1" dirty="0" smtClean="0">
                <a:solidFill>
                  <a:schemeClr val="bg1"/>
                </a:solidFill>
                <a:latin typeface="微软雅黑" panose="020B0503020204020204" pitchFamily="34" charset="-122"/>
                <a:ea typeface="微软雅黑" panose="020B0503020204020204" pitchFamily="34" charset="-122"/>
              </a:rPr>
              <a:t>局域网</a:t>
            </a:r>
            <a:r>
              <a:rPr lang="zh-CN" altLang="en-US" sz="2400" b="1" dirty="0">
                <a:solidFill>
                  <a:schemeClr val="bg1"/>
                </a:solidFill>
                <a:latin typeface="微软雅黑" panose="020B0503020204020204" pitchFamily="34" charset="-122"/>
                <a:ea typeface="微软雅黑" panose="020B0503020204020204" pitchFamily="34" charset="-122"/>
              </a:rPr>
              <a:t>的 </a:t>
            </a:r>
            <a:r>
              <a:rPr lang="en-US" altLang="zh-CN" sz="2400" b="1" dirty="0">
                <a:solidFill>
                  <a:schemeClr val="bg1"/>
                </a:solidFill>
                <a:latin typeface="微软雅黑" panose="020B0503020204020204" pitchFamily="34" charset="-122"/>
                <a:ea typeface="微软雅黑" panose="020B0503020204020204" pitchFamily="34" charset="-122"/>
              </a:rPr>
              <a:t>MAC </a:t>
            </a:r>
            <a:r>
              <a:rPr lang="zh-CN" altLang="en-US" sz="2400" b="1" dirty="0">
                <a:solidFill>
                  <a:schemeClr val="bg1"/>
                </a:solidFill>
                <a:latin typeface="微软雅黑" panose="020B0503020204020204" pitchFamily="34" charset="-122"/>
                <a:ea typeface="微软雅黑" panose="020B0503020204020204" pitchFamily="34" charset="-122"/>
              </a:rPr>
              <a:t>层协议</a:t>
            </a:r>
            <a:endParaRPr lang="en-US" altLang="zh-CN" sz="2400" b="1" dirty="0">
              <a:solidFill>
                <a:schemeClr val="bg1"/>
              </a:solidFill>
              <a:latin typeface="微软雅黑" panose="020B0503020204020204" pitchFamily="34" charset="-122"/>
              <a:ea typeface="微软雅黑" panose="020B0503020204020204" pitchFamily="34" charset="-122"/>
            </a:endParaRPr>
          </a:p>
        </p:txBody>
      </p:sp>
      <p:sp>
        <p:nvSpPr>
          <p:cNvPr id="10" name="圆角矩形 9"/>
          <p:cNvSpPr/>
          <p:nvPr/>
        </p:nvSpPr>
        <p:spPr>
          <a:xfrm>
            <a:off x="569293" y="1086643"/>
            <a:ext cx="8133857" cy="251196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组合 2"/>
          <p:cNvGrpSpPr/>
          <p:nvPr/>
        </p:nvGrpSpPr>
        <p:grpSpPr>
          <a:xfrm>
            <a:off x="2614076" y="1126696"/>
            <a:ext cx="3472216" cy="2280689"/>
            <a:chOff x="2394395" y="1432607"/>
            <a:chExt cx="3472216" cy="2280689"/>
          </a:xfrm>
        </p:grpSpPr>
        <p:grpSp>
          <p:nvGrpSpPr>
            <p:cNvPr id="11" name="组合 10"/>
            <p:cNvGrpSpPr/>
            <p:nvPr/>
          </p:nvGrpSpPr>
          <p:grpSpPr>
            <a:xfrm>
              <a:off x="2394395" y="1432607"/>
              <a:ext cx="3472216" cy="2280689"/>
              <a:chOff x="4116438" y="2064574"/>
              <a:chExt cx="4113022" cy="3260496"/>
            </a:xfrm>
          </p:grpSpPr>
          <p:sp>
            <p:nvSpPr>
              <p:cNvPr id="12"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Text Box 89"/>
              <p:cNvSpPr txBox="1">
                <a:spLocks noChangeArrowheads="1"/>
              </p:cNvSpPr>
              <p:nvPr/>
            </p:nvSpPr>
            <p:spPr bwMode="auto">
              <a:xfrm>
                <a:off x="4116438" y="2064574"/>
                <a:ext cx="1312481" cy="528001"/>
              </a:xfrm>
              <a:prstGeom prst="rect">
                <a:avLst/>
              </a:prstGeom>
              <a:noFill/>
              <a:ln w="12700">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b="1" dirty="0" smtClean="0">
                    <a:latin typeface="微软雅黑" panose="020B0503020204020204" pitchFamily="34" charset="-122"/>
                    <a:ea typeface="微软雅黑" panose="020B0503020204020204" pitchFamily="34" charset="-122"/>
                  </a:rPr>
                  <a:t>共享信道</a:t>
                </a:r>
                <a:endParaRPr kumimoji="1" lang="zh-CN" altLang="en-US" b="1" dirty="0">
                  <a:latin typeface="微软雅黑" panose="020B0503020204020204" pitchFamily="34" charset="-122"/>
                  <a:ea typeface="微软雅黑" panose="020B0503020204020204" pitchFamily="34" charset="-122"/>
                </a:endParaRPr>
              </a:p>
            </p:txBody>
          </p:sp>
          <p:sp>
            <p:nvSpPr>
              <p:cNvPr id="14" name="Line 139"/>
              <p:cNvSpPr>
                <a:spLocks noChangeShapeType="1"/>
              </p:cNvSpPr>
              <p:nvPr/>
            </p:nvSpPr>
            <p:spPr bwMode="auto">
              <a:xfrm>
                <a:off x="5152289" y="2496073"/>
                <a:ext cx="747000" cy="96130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组合 34"/>
            <p:cNvGrpSpPr/>
            <p:nvPr/>
          </p:nvGrpSpPr>
          <p:grpSpPr>
            <a:xfrm>
              <a:off x="3268486" y="2874919"/>
              <a:ext cx="547291" cy="482329"/>
              <a:chOff x="2565534" y="4101618"/>
              <a:chExt cx="360485" cy="386301"/>
            </a:xfrm>
          </p:grpSpPr>
          <p:sp>
            <p:nvSpPr>
              <p:cNvPr id="3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424"/>
              <p:cNvGrpSpPr/>
              <p:nvPr/>
            </p:nvGrpSpPr>
            <p:grpSpPr bwMode="auto">
              <a:xfrm>
                <a:off x="2565534" y="4101618"/>
                <a:ext cx="360485" cy="119330"/>
                <a:chOff x="748" y="2251"/>
                <a:chExt cx="306" cy="90"/>
              </a:xfrm>
            </p:grpSpPr>
            <p:sp>
              <p:nvSpPr>
                <p:cNvPr id="3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38"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5" name="组合 44"/>
            <p:cNvGrpSpPr/>
            <p:nvPr/>
          </p:nvGrpSpPr>
          <p:grpSpPr>
            <a:xfrm>
              <a:off x="4117785" y="2874919"/>
              <a:ext cx="547291" cy="482329"/>
              <a:chOff x="2565534" y="4101618"/>
              <a:chExt cx="360485" cy="386301"/>
            </a:xfrm>
          </p:grpSpPr>
          <p:sp>
            <p:nvSpPr>
              <p:cNvPr id="4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7" name="Group 424"/>
              <p:cNvGrpSpPr/>
              <p:nvPr/>
            </p:nvGrpSpPr>
            <p:grpSpPr bwMode="auto">
              <a:xfrm>
                <a:off x="2565534" y="4101618"/>
                <a:ext cx="360485" cy="119330"/>
                <a:chOff x="748" y="2251"/>
                <a:chExt cx="306" cy="90"/>
              </a:xfrm>
            </p:grpSpPr>
            <p:sp>
              <p:nvSpPr>
                <p:cNvPr id="4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48"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5" name="组合 54"/>
            <p:cNvGrpSpPr/>
            <p:nvPr/>
          </p:nvGrpSpPr>
          <p:grpSpPr>
            <a:xfrm>
              <a:off x="4978437" y="2892725"/>
              <a:ext cx="547291" cy="482329"/>
              <a:chOff x="2565534" y="4101618"/>
              <a:chExt cx="360485" cy="386301"/>
            </a:xfrm>
          </p:grpSpPr>
          <p:sp>
            <p:nvSpPr>
              <p:cNvPr id="5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7" name="Group 424"/>
              <p:cNvGrpSpPr/>
              <p:nvPr/>
            </p:nvGrpSpPr>
            <p:grpSpPr bwMode="auto">
              <a:xfrm>
                <a:off x="2565534" y="4101618"/>
                <a:ext cx="360485" cy="119330"/>
                <a:chOff x="748" y="2251"/>
                <a:chExt cx="306" cy="90"/>
              </a:xfrm>
            </p:grpSpPr>
            <p:sp>
              <p:nvSpPr>
                <p:cNvPr id="5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58"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66" name="Text Box 34"/>
            <p:cNvSpPr txBox="1">
              <a:spLocks noChangeArrowheads="1"/>
            </p:cNvSpPr>
            <p:nvPr/>
          </p:nvSpPr>
          <p:spPr bwMode="auto">
            <a:xfrm>
              <a:off x="4509021" y="1917571"/>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omic Sans MS" panose="030F0702030302020204" pitchFamily="66" charset="0"/>
                </a:defRPr>
              </a:lvl1pPr>
              <a:lvl2pPr marL="742950" indent="-285750">
                <a:defRPr>
                  <a:solidFill>
                    <a:schemeClr val="tx1"/>
                  </a:solidFill>
                  <a:latin typeface="Comic Sans MS" panose="030F0702030302020204" pitchFamily="66" charset="0"/>
                </a:defRPr>
              </a:lvl2pPr>
              <a:lvl3pPr marL="1143000" indent="-228600">
                <a:defRPr>
                  <a:solidFill>
                    <a:schemeClr val="tx1"/>
                  </a:solidFill>
                  <a:latin typeface="Comic Sans MS" panose="030F0702030302020204" pitchFamily="66" charset="0"/>
                </a:defRPr>
              </a:lvl3pPr>
              <a:lvl4pPr marL="1600200" indent="-228600">
                <a:defRPr>
                  <a:solidFill>
                    <a:schemeClr val="tx1"/>
                  </a:solidFill>
                  <a:latin typeface="Comic Sans MS" panose="030F0702030302020204" pitchFamily="66" charset="0"/>
                </a:defRPr>
              </a:lvl4pPr>
              <a:lvl5pPr marL="2057400" indent="-228600">
                <a:defRPr>
                  <a:solidFill>
                    <a:schemeClr val="tx1"/>
                  </a:solidFill>
                  <a:latin typeface="Comic Sans MS" panose="030F0702030302020204" pitchFamily="66" charset="0"/>
                </a:defRPr>
              </a:lvl5pPr>
              <a:lvl6pPr marL="2514600" indent="-228600" eaLnBrk="0" fontAlgn="base" hangingPunct="0">
                <a:spcBef>
                  <a:spcPct val="0"/>
                </a:spcBef>
                <a:spcAft>
                  <a:spcPct val="0"/>
                </a:spcAft>
                <a:defRPr>
                  <a:solidFill>
                    <a:schemeClr val="tx1"/>
                  </a:solidFill>
                  <a:latin typeface="Comic Sans MS" panose="030F0702030302020204" pitchFamily="66" charset="0"/>
                </a:defRPr>
              </a:lvl6pPr>
              <a:lvl7pPr marL="2971800" indent="-228600" eaLnBrk="0" fontAlgn="base" hangingPunct="0">
                <a:spcBef>
                  <a:spcPct val="0"/>
                </a:spcBef>
                <a:spcAft>
                  <a:spcPct val="0"/>
                </a:spcAft>
                <a:defRPr>
                  <a:solidFill>
                    <a:schemeClr val="tx1"/>
                  </a:solidFill>
                  <a:latin typeface="Comic Sans MS" panose="030F0702030302020204" pitchFamily="66" charset="0"/>
                </a:defRPr>
              </a:lvl7pPr>
              <a:lvl8pPr marL="3429000" indent="-228600" eaLnBrk="0" fontAlgn="base" hangingPunct="0">
                <a:spcBef>
                  <a:spcPct val="0"/>
                </a:spcBef>
                <a:spcAft>
                  <a:spcPct val="0"/>
                </a:spcAft>
                <a:defRPr>
                  <a:solidFill>
                    <a:schemeClr val="tx1"/>
                  </a:solidFill>
                  <a:latin typeface="Comic Sans MS" panose="030F0702030302020204" pitchFamily="66" charset="0"/>
                </a:defRPr>
              </a:lvl8pPr>
              <a:lvl9pPr marL="3886200" indent="-228600" eaLnBrk="0" fontAlgn="base" hangingPunct="0">
                <a:spcBef>
                  <a:spcPct val="0"/>
                </a:spcBef>
                <a:spcAft>
                  <a:spcPct val="0"/>
                </a:spcAft>
                <a:defRPr>
                  <a:solidFill>
                    <a:schemeClr val="tx1"/>
                  </a:solidFill>
                  <a:latin typeface="Comic Sans MS" panose="030F0702030302020204" pitchFamily="66" charset="0"/>
                </a:defRPr>
              </a:lvl9pPr>
            </a:lstStyle>
            <a:p>
              <a:pPr eaLnBrk="1" hangingPunct="1"/>
              <a:r>
                <a:rPr lang="en-US" altLang="zh-CN" b="1" dirty="0">
                  <a:latin typeface="微软雅黑" panose="020B0503020204020204" pitchFamily="34" charset="-122"/>
                  <a:ea typeface="微软雅黑" panose="020B0503020204020204" pitchFamily="34" charset="-122"/>
                </a:rPr>
                <a:t>AP</a:t>
              </a:r>
              <a:endParaRPr lang="en-US" altLang="zh-CN" b="1" dirty="0">
                <a:latin typeface="微软雅黑" panose="020B0503020204020204" pitchFamily="34" charset="-122"/>
                <a:ea typeface="微软雅黑" panose="020B0503020204020204" pitchFamily="34" charset="-122"/>
              </a:endParaRPr>
            </a:p>
          </p:txBody>
        </p:sp>
        <p:grpSp>
          <p:nvGrpSpPr>
            <p:cNvPr id="2" name="组合 1"/>
            <p:cNvGrpSpPr/>
            <p:nvPr/>
          </p:nvGrpSpPr>
          <p:grpSpPr>
            <a:xfrm>
              <a:off x="4189495" y="1724606"/>
              <a:ext cx="501231" cy="520389"/>
              <a:chOff x="4061675" y="1960580"/>
              <a:chExt cx="501231" cy="520389"/>
            </a:xfrm>
          </p:grpSpPr>
          <p:pic>
            <p:nvPicPr>
              <p:cNvPr id="68" name="Picture 36" descr="31u_bnrz[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6200000">
                <a:off x="4153354" y="2237163"/>
                <a:ext cx="295337" cy="19227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grpSp>
            <p:nvGrpSpPr>
              <p:cNvPr id="88" name="Group 463"/>
              <p:cNvGrpSpPr/>
              <p:nvPr/>
            </p:nvGrpSpPr>
            <p:grpSpPr bwMode="auto">
              <a:xfrm>
                <a:off x="4061675" y="1960580"/>
                <a:ext cx="501231" cy="202502"/>
                <a:chOff x="748" y="2251"/>
                <a:chExt cx="306" cy="90"/>
              </a:xfrm>
              <a:solidFill>
                <a:srgbClr val="0066FF"/>
              </a:solidFill>
            </p:grpSpPr>
            <p:sp>
              <p:nvSpPr>
                <p:cNvPr id="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97" name="Freeform 293"/>
            <p:cNvSpPr/>
            <p:nvPr/>
          </p:nvSpPr>
          <p:spPr bwMode="auto">
            <a:xfrm>
              <a:off x="3781110" y="2350626"/>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Freeform 293"/>
            <p:cNvSpPr/>
            <p:nvPr/>
          </p:nvSpPr>
          <p:spPr bwMode="auto">
            <a:xfrm flipH="1">
              <a:off x="4793538" y="2397028"/>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Freeform 293"/>
            <p:cNvSpPr/>
            <p:nvPr/>
          </p:nvSpPr>
          <p:spPr bwMode="auto">
            <a:xfrm rot="2515369" flipH="1">
              <a:off x="4304612" y="2384373"/>
              <a:ext cx="259952" cy="377144"/>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无线局域网</a:t>
            </a:r>
            <a:r>
              <a:rPr lang="zh-CN" altLang="en-US" sz="2000" b="1" dirty="0">
                <a:solidFill>
                  <a:srgbClr val="C00000"/>
                </a:solidFill>
                <a:latin typeface="微软雅黑" panose="020B0503020204020204" pitchFamily="34" charset="-122"/>
                <a:ea typeface="微软雅黑" panose="020B0503020204020204" pitchFamily="34" charset="-122"/>
              </a:rPr>
              <a:t>不能</a:t>
            </a:r>
            <a:r>
              <a:rPr lang="zh-CN" altLang="en-US" sz="2000" b="1" dirty="0">
                <a:latin typeface="微软雅黑" panose="020B0503020204020204" pitchFamily="34" charset="-122"/>
                <a:ea typeface="微软雅黑" panose="020B0503020204020204" pitchFamily="34" charset="-122"/>
              </a:rPr>
              <a:t>简单地搬用 </a:t>
            </a:r>
            <a:r>
              <a:rPr lang="en-US" altLang="zh-CN" sz="2000" b="1" dirty="0">
                <a:latin typeface="微软雅黑" panose="020B0503020204020204" pitchFamily="34" charset="-122"/>
                <a:ea typeface="微软雅黑" panose="020B0503020204020204" pitchFamily="34" charset="-122"/>
              </a:rPr>
              <a:t>CSMA/CD </a:t>
            </a:r>
            <a:r>
              <a:rPr lang="zh-CN" altLang="en-US" sz="2000" b="1" dirty="0">
                <a:latin typeface="微软雅黑" panose="020B0503020204020204" pitchFamily="34" charset="-122"/>
                <a:ea typeface="微软雅黑" panose="020B0503020204020204" pitchFamily="34" charset="-122"/>
              </a:rPr>
              <a:t>协议</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因为</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smtClean="0">
                <a:solidFill>
                  <a:srgbClr val="C00000"/>
                </a:solidFill>
                <a:latin typeface="微软雅黑" panose="020B0503020204020204" pitchFamily="34" charset="-122"/>
                <a:ea typeface="微软雅黑" panose="020B0503020204020204" pitchFamily="34" charset="-122"/>
              </a:rPr>
              <a:t>碰撞检测（</a:t>
            </a:r>
            <a:r>
              <a:rPr lang="en-US" altLang="zh-CN" sz="2000" b="1" dirty="0" smtClean="0">
                <a:solidFill>
                  <a:srgbClr val="C00000"/>
                </a:solidFill>
                <a:latin typeface="微软雅黑" panose="020B0503020204020204" pitchFamily="34" charset="-122"/>
                <a:ea typeface="微软雅黑" panose="020B0503020204020204" pitchFamily="34" charset="-122"/>
              </a:rPr>
              <a:t>CD</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要求：一</a:t>
            </a:r>
            <a:r>
              <a:rPr lang="zh-CN" altLang="en-US" sz="2000" b="1" dirty="0">
                <a:latin typeface="微软雅黑" panose="020B0503020204020204" pitchFamily="34" charset="-122"/>
                <a:ea typeface="微软雅黑" panose="020B0503020204020204" pitchFamily="34" charset="-122"/>
              </a:rPr>
              <a:t>个站点在发送本站数据的同时，还必须不间断地检测信道，但接收到的信号强度往往会远远小于发送信号的强度，在无线局域网的设备中要实现这种功能就</a:t>
            </a:r>
            <a:r>
              <a:rPr lang="zh-CN" altLang="en-US" sz="2000" b="1" dirty="0">
                <a:solidFill>
                  <a:srgbClr val="0000FF"/>
                </a:solidFill>
                <a:latin typeface="微软雅黑" panose="020B0503020204020204" pitchFamily="34" charset="-122"/>
                <a:ea typeface="微软雅黑" panose="020B0503020204020204" pitchFamily="34" charset="-122"/>
              </a:rPr>
              <a:t>花费过大</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683895"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即使能够实现碰撞检测的功能，并且在发送数据时检测到信道是空闲的时候，在接收端仍然有</a:t>
            </a:r>
            <a:r>
              <a:rPr lang="zh-CN" altLang="en-US" sz="2000" b="1" dirty="0">
                <a:solidFill>
                  <a:srgbClr val="0000FF"/>
                </a:solidFill>
                <a:latin typeface="微软雅黑" panose="020B0503020204020204" pitchFamily="34" charset="-122"/>
                <a:ea typeface="微软雅黑" panose="020B0503020204020204" pitchFamily="34" charset="-122"/>
              </a:rPr>
              <a:t>可能发生碰撞</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334567" y="582249"/>
            <a:ext cx="24320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CSMA/CA </a:t>
            </a:r>
            <a:r>
              <a:rPr lang="zh-CN" altLang="en-US" sz="2000" b="1" dirty="0" smtClean="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68216"/>
            <a:ext cx="2826415" cy="400110"/>
          </a:xfrm>
          <a:prstGeom prst="rect">
            <a:avLst/>
          </a:prstGeom>
        </p:spPr>
        <p:txBody>
          <a:bodyPr wrap="none">
            <a:spAutoFit/>
          </a:bodyPr>
          <a:lstStyle/>
          <a:p>
            <a:r>
              <a:rPr lang="zh-CN" altLang="en-US" sz="2000" b="1" dirty="0">
                <a:latin typeface="微软雅黑" panose="020B0503020204020204" pitchFamily="34" charset="-122"/>
                <a:ea typeface="微软雅黑" panose="020B0503020204020204" pitchFamily="34" charset="-122"/>
              </a:rPr>
              <a:t>无线局域网的特殊问题 </a:t>
            </a:r>
            <a:endParaRPr lang="zh-CN" altLang="en-US" sz="2000" b="1" dirty="0">
              <a:latin typeface="微软雅黑" panose="020B0503020204020204" pitchFamily="34" charset="-122"/>
              <a:ea typeface="微软雅黑" panose="020B0503020204020204" pitchFamily="34" charset="-122"/>
            </a:endParaRPr>
          </a:p>
        </p:txBody>
      </p:sp>
      <p:sp>
        <p:nvSpPr>
          <p:cNvPr id="4" name="圆角矩形 3"/>
          <p:cNvSpPr/>
          <p:nvPr/>
        </p:nvSpPr>
        <p:spPr>
          <a:xfrm>
            <a:off x="517852" y="967849"/>
            <a:ext cx="8133857" cy="26012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5" name="组合 4"/>
          <p:cNvGrpSpPr/>
          <p:nvPr/>
        </p:nvGrpSpPr>
        <p:grpSpPr>
          <a:xfrm>
            <a:off x="3058554" y="1176953"/>
            <a:ext cx="1881866" cy="2146352"/>
            <a:chOff x="4691515" y="1628800"/>
            <a:chExt cx="3537945" cy="3696270"/>
          </a:xfrm>
        </p:grpSpPr>
        <p:sp>
          <p:nvSpPr>
            <p:cNvPr id="6"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Text Box 89"/>
            <p:cNvSpPr txBox="1">
              <a:spLocks noChangeArrowheads="1"/>
            </p:cNvSpPr>
            <p:nvPr/>
          </p:nvSpPr>
          <p:spPr bwMode="auto">
            <a:xfrm>
              <a:off x="4691515" y="1628800"/>
              <a:ext cx="1945749" cy="484000"/>
            </a:xfrm>
            <a:prstGeom prst="rect">
              <a:avLst/>
            </a:prstGeom>
            <a:noFill/>
            <a:ln w="12700">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C </a:t>
              </a:r>
              <a:r>
                <a:rPr kumimoji="1" lang="zh-CN" altLang="en-US" sz="1600" b="1" dirty="0">
                  <a:latin typeface="微软雅黑" panose="020B0503020204020204" pitchFamily="34" charset="-122"/>
                  <a:ea typeface="微软雅黑" panose="020B0503020204020204" pitchFamily="34" charset="-122"/>
                </a:rPr>
                <a:t>的作用范围</a:t>
              </a:r>
              <a:endParaRPr kumimoji="1" lang="zh-CN" altLang="en-US" sz="1600" b="1" dirty="0">
                <a:latin typeface="微软雅黑" panose="020B0503020204020204" pitchFamily="34" charset="-122"/>
                <a:ea typeface="微软雅黑" panose="020B0503020204020204" pitchFamily="34" charset="-122"/>
              </a:endParaRPr>
            </a:p>
          </p:txBody>
        </p:sp>
        <p:sp>
          <p:nvSpPr>
            <p:cNvPr id="8" name="Line 139"/>
            <p:cNvSpPr>
              <a:spLocks noChangeShapeType="1"/>
            </p:cNvSpPr>
            <p:nvPr/>
          </p:nvSpPr>
          <p:spPr bwMode="auto">
            <a:xfrm>
              <a:off x="5169023" y="2179371"/>
              <a:ext cx="424789" cy="390525"/>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9" name="Text Box 92"/>
          <p:cNvSpPr txBox="1">
            <a:spLocks noChangeArrowheads="1"/>
          </p:cNvSpPr>
          <p:nvPr/>
        </p:nvSpPr>
        <p:spPr bwMode="auto">
          <a:xfrm>
            <a:off x="3866763" y="2634591"/>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endParaRPr kumimoji="1" lang="en-US" altLang="zh-CN" sz="1600" b="1" dirty="0">
              <a:latin typeface="微软雅黑" panose="020B0503020204020204" pitchFamily="34" charset="-122"/>
              <a:ea typeface="微软雅黑" panose="020B0503020204020204" pitchFamily="34" charset="-122"/>
            </a:endParaRPr>
          </a:p>
        </p:txBody>
      </p:sp>
      <p:grpSp>
        <p:nvGrpSpPr>
          <p:cNvPr id="33" name="组合 32"/>
          <p:cNvGrpSpPr/>
          <p:nvPr/>
        </p:nvGrpSpPr>
        <p:grpSpPr>
          <a:xfrm>
            <a:off x="1541455" y="1176953"/>
            <a:ext cx="1970389" cy="2146352"/>
            <a:chOff x="1476798" y="1628800"/>
            <a:chExt cx="3835897" cy="3696270"/>
          </a:xfrm>
        </p:grpSpPr>
        <p:sp>
          <p:nvSpPr>
            <p:cNvPr id="34" name="Text Box 87"/>
            <p:cNvSpPr txBox="1">
              <a:spLocks noChangeArrowheads="1"/>
            </p:cNvSpPr>
            <p:nvPr/>
          </p:nvSpPr>
          <p:spPr bwMode="auto">
            <a:xfrm>
              <a:off x="1476798" y="1628800"/>
              <a:ext cx="2037752" cy="484000"/>
            </a:xfrm>
            <a:prstGeom prst="rect">
              <a:avLst/>
            </a:prstGeom>
            <a:noFill/>
            <a:ln w="12700">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endParaRPr kumimoji="1" lang="zh-CN" altLang="en-US" sz="1600" b="1" dirty="0">
                <a:latin typeface="微软雅黑" panose="020B0503020204020204" pitchFamily="34" charset="-122"/>
                <a:ea typeface="微软雅黑" panose="020B0503020204020204" pitchFamily="34" charset="-122"/>
              </a:endParaRPr>
            </a:p>
          </p:txBody>
        </p:sp>
        <p:sp>
          <p:nvSpPr>
            <p:cNvPr id="35"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6" name="Line 138"/>
            <p:cNvSpPr>
              <a:spLocks noChangeShapeType="1"/>
            </p:cNvSpPr>
            <p:nvPr/>
          </p:nvSpPr>
          <p:spPr bwMode="auto">
            <a:xfrm>
              <a:off x="2010704" y="2196303"/>
              <a:ext cx="498739" cy="436562"/>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7" name="Text Box 90"/>
          <p:cNvSpPr txBox="1">
            <a:spLocks noChangeArrowheads="1"/>
          </p:cNvSpPr>
          <p:nvPr/>
        </p:nvSpPr>
        <p:spPr bwMode="auto">
          <a:xfrm>
            <a:off x="2356147" y="267071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endParaRPr kumimoji="1" lang="en-US" altLang="zh-CN" sz="1600" b="1" dirty="0">
              <a:latin typeface="微软雅黑" panose="020B0503020204020204" pitchFamily="34" charset="-122"/>
              <a:ea typeface="微软雅黑" panose="020B0503020204020204" pitchFamily="34" charset="-122"/>
            </a:endParaRPr>
          </a:p>
        </p:txBody>
      </p:sp>
      <p:sp>
        <p:nvSpPr>
          <p:cNvPr id="38" name="Text Box 91"/>
          <p:cNvSpPr txBox="1">
            <a:spLocks noChangeArrowheads="1"/>
          </p:cNvSpPr>
          <p:nvPr/>
        </p:nvSpPr>
        <p:spPr bwMode="auto">
          <a:xfrm>
            <a:off x="3161549" y="2659955"/>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endParaRPr kumimoji="1" lang="en-US" altLang="zh-CN" sz="1600" b="1" dirty="0">
              <a:latin typeface="微软雅黑" panose="020B0503020204020204" pitchFamily="34" charset="-122"/>
              <a:ea typeface="微软雅黑" panose="020B0503020204020204" pitchFamily="34" charset="-122"/>
            </a:endParaRPr>
          </a:p>
        </p:txBody>
      </p:sp>
      <p:grpSp>
        <p:nvGrpSpPr>
          <p:cNvPr id="64" name="组合 63"/>
          <p:cNvGrpSpPr/>
          <p:nvPr/>
        </p:nvGrpSpPr>
        <p:grpSpPr>
          <a:xfrm>
            <a:off x="2259505" y="2154213"/>
            <a:ext cx="565079" cy="519500"/>
            <a:chOff x="2565534" y="4101618"/>
            <a:chExt cx="360485" cy="386301"/>
          </a:xfrm>
        </p:grpSpPr>
        <p:sp>
          <p:nvSpPr>
            <p:cNvPr id="6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6" name="Group 424"/>
            <p:cNvGrpSpPr/>
            <p:nvPr/>
          </p:nvGrpSpPr>
          <p:grpSpPr bwMode="auto">
            <a:xfrm>
              <a:off x="2565534" y="4101618"/>
              <a:ext cx="360485" cy="119330"/>
              <a:chOff x="748" y="2251"/>
              <a:chExt cx="306" cy="90"/>
            </a:xfrm>
          </p:grpSpPr>
          <p:sp>
            <p:nvSpPr>
              <p:cNvPr id="6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67"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4" name="组合 73"/>
          <p:cNvGrpSpPr/>
          <p:nvPr/>
        </p:nvGrpSpPr>
        <p:grpSpPr>
          <a:xfrm>
            <a:off x="3042584" y="2154213"/>
            <a:ext cx="565079" cy="519500"/>
            <a:chOff x="2565534" y="4101618"/>
            <a:chExt cx="360485" cy="386301"/>
          </a:xfrm>
        </p:grpSpPr>
        <p:sp>
          <p:nvSpPr>
            <p:cNvPr id="7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76" name="Group 424"/>
            <p:cNvGrpSpPr/>
            <p:nvPr/>
          </p:nvGrpSpPr>
          <p:grpSpPr bwMode="auto">
            <a:xfrm>
              <a:off x="2565534" y="4101618"/>
              <a:ext cx="360485" cy="119330"/>
              <a:chOff x="748" y="2251"/>
              <a:chExt cx="306" cy="90"/>
            </a:xfrm>
          </p:grpSpPr>
          <p:sp>
            <p:nvSpPr>
              <p:cNvPr id="7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77"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4" name="组合 83"/>
          <p:cNvGrpSpPr/>
          <p:nvPr/>
        </p:nvGrpSpPr>
        <p:grpSpPr>
          <a:xfrm>
            <a:off x="3753819" y="2154213"/>
            <a:ext cx="565079" cy="519500"/>
            <a:chOff x="2565534" y="4101618"/>
            <a:chExt cx="360485" cy="386301"/>
          </a:xfrm>
        </p:grpSpPr>
        <p:sp>
          <p:nvSpPr>
            <p:cNvPr id="8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6" name="Group 424"/>
            <p:cNvGrpSpPr/>
            <p:nvPr/>
          </p:nvGrpSpPr>
          <p:grpSpPr bwMode="auto">
            <a:xfrm>
              <a:off x="2565534" y="4101618"/>
              <a:ext cx="360485" cy="119330"/>
              <a:chOff x="748" y="2251"/>
              <a:chExt cx="306" cy="90"/>
            </a:xfrm>
          </p:grpSpPr>
          <p:sp>
            <p:nvSpPr>
              <p:cNvPr id="8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87"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9" name="组合 58"/>
          <p:cNvGrpSpPr/>
          <p:nvPr/>
        </p:nvGrpSpPr>
        <p:grpSpPr>
          <a:xfrm>
            <a:off x="5687758" y="1176953"/>
            <a:ext cx="1970389" cy="2146352"/>
            <a:chOff x="1476798" y="1628800"/>
            <a:chExt cx="3835897" cy="3696270"/>
          </a:xfrm>
        </p:grpSpPr>
        <p:sp>
          <p:nvSpPr>
            <p:cNvPr id="60" name="Text Box 87"/>
            <p:cNvSpPr txBox="1">
              <a:spLocks noChangeArrowheads="1"/>
            </p:cNvSpPr>
            <p:nvPr/>
          </p:nvSpPr>
          <p:spPr bwMode="auto">
            <a:xfrm>
              <a:off x="1476798" y="1628800"/>
              <a:ext cx="2037752" cy="484000"/>
            </a:xfrm>
            <a:prstGeom prst="rect">
              <a:avLst/>
            </a:prstGeom>
            <a:noFill/>
            <a:ln w="12700">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endParaRPr kumimoji="1" lang="zh-CN" altLang="en-US" sz="1600" b="1" dirty="0">
                <a:latin typeface="微软雅黑" panose="020B0503020204020204" pitchFamily="34" charset="-122"/>
                <a:ea typeface="微软雅黑" panose="020B0503020204020204" pitchFamily="34" charset="-122"/>
              </a:endParaRPr>
            </a:p>
          </p:txBody>
        </p:sp>
        <p:sp>
          <p:nvSpPr>
            <p:cNvPr id="61"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Line 138"/>
            <p:cNvSpPr>
              <a:spLocks noChangeShapeType="1"/>
            </p:cNvSpPr>
            <p:nvPr/>
          </p:nvSpPr>
          <p:spPr bwMode="auto">
            <a:xfrm>
              <a:off x="2010704" y="2196303"/>
              <a:ext cx="498739" cy="436562"/>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5" name="Text Box 90"/>
          <p:cNvSpPr txBox="1">
            <a:spLocks noChangeArrowheads="1"/>
          </p:cNvSpPr>
          <p:nvPr/>
        </p:nvSpPr>
        <p:spPr bwMode="auto">
          <a:xfrm>
            <a:off x="6522114" y="262155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endParaRPr kumimoji="1" lang="en-US" altLang="zh-CN" sz="1600" b="1" dirty="0">
              <a:latin typeface="微软雅黑" panose="020B0503020204020204" pitchFamily="34" charset="-122"/>
              <a:ea typeface="微软雅黑" panose="020B0503020204020204" pitchFamily="34" charset="-122"/>
            </a:endParaRPr>
          </a:p>
        </p:txBody>
      </p:sp>
      <p:grpSp>
        <p:nvGrpSpPr>
          <p:cNvPr id="106" name="组合 105"/>
          <p:cNvGrpSpPr/>
          <p:nvPr/>
        </p:nvGrpSpPr>
        <p:grpSpPr>
          <a:xfrm>
            <a:off x="6405808" y="2154213"/>
            <a:ext cx="565079" cy="519500"/>
            <a:chOff x="2565534" y="4101618"/>
            <a:chExt cx="360485" cy="386301"/>
          </a:xfrm>
        </p:grpSpPr>
        <p:sp>
          <p:nvSpPr>
            <p:cNvPr id="10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8" name="Group 424"/>
            <p:cNvGrpSpPr/>
            <p:nvPr/>
          </p:nvGrpSpPr>
          <p:grpSpPr bwMode="auto">
            <a:xfrm>
              <a:off x="2565534" y="4101618"/>
              <a:ext cx="360485" cy="119330"/>
              <a:chOff x="748" y="2251"/>
              <a:chExt cx="306" cy="90"/>
            </a:xfrm>
          </p:grpSpPr>
          <p:sp>
            <p:nvSpPr>
              <p:cNvPr id="11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109"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18" name="Text Box 91"/>
          <p:cNvSpPr txBox="1">
            <a:spLocks noChangeArrowheads="1"/>
          </p:cNvSpPr>
          <p:nvPr/>
        </p:nvSpPr>
        <p:spPr bwMode="auto">
          <a:xfrm>
            <a:off x="7316099" y="2669787"/>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endParaRPr kumimoji="1" lang="en-US" altLang="zh-CN" sz="1600" b="1" dirty="0">
              <a:latin typeface="微软雅黑" panose="020B0503020204020204" pitchFamily="34" charset="-122"/>
              <a:ea typeface="微软雅黑" panose="020B0503020204020204" pitchFamily="34" charset="-122"/>
            </a:endParaRPr>
          </a:p>
        </p:txBody>
      </p:sp>
      <p:grpSp>
        <p:nvGrpSpPr>
          <p:cNvPr id="119" name="组合 118"/>
          <p:cNvGrpSpPr/>
          <p:nvPr/>
        </p:nvGrpSpPr>
        <p:grpSpPr>
          <a:xfrm>
            <a:off x="7197134" y="2164045"/>
            <a:ext cx="565079" cy="519500"/>
            <a:chOff x="2565534" y="4101618"/>
            <a:chExt cx="360485" cy="386301"/>
          </a:xfrm>
        </p:grpSpPr>
        <p:sp>
          <p:nvSpPr>
            <p:cNvPr id="120"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Group 424"/>
            <p:cNvGrpSpPr/>
            <p:nvPr/>
          </p:nvGrpSpPr>
          <p:grpSpPr bwMode="auto">
            <a:xfrm>
              <a:off x="2565534" y="4101618"/>
              <a:ext cx="360485" cy="119330"/>
              <a:chOff x="748" y="2251"/>
              <a:chExt cx="306" cy="90"/>
            </a:xfrm>
          </p:grpSpPr>
          <p:sp>
            <p:nvSpPr>
              <p:cNvPr id="123"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4"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5"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6"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7"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8"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122"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29" name="Text Box 92"/>
          <p:cNvSpPr txBox="1">
            <a:spLocks noChangeArrowheads="1"/>
          </p:cNvSpPr>
          <p:nvPr/>
        </p:nvSpPr>
        <p:spPr bwMode="auto">
          <a:xfrm>
            <a:off x="7291951" y="1526547"/>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endParaRPr kumimoji="1" lang="en-US" altLang="zh-CN" sz="1600" b="1" dirty="0">
              <a:latin typeface="微软雅黑" panose="020B0503020204020204" pitchFamily="34" charset="-122"/>
              <a:ea typeface="微软雅黑" panose="020B0503020204020204" pitchFamily="34" charset="-122"/>
            </a:endParaRPr>
          </a:p>
        </p:txBody>
      </p:sp>
      <p:grpSp>
        <p:nvGrpSpPr>
          <p:cNvPr id="130" name="组合 129"/>
          <p:cNvGrpSpPr/>
          <p:nvPr/>
        </p:nvGrpSpPr>
        <p:grpSpPr>
          <a:xfrm>
            <a:off x="6887081" y="1450108"/>
            <a:ext cx="565079" cy="519500"/>
            <a:chOff x="2565534" y="4101618"/>
            <a:chExt cx="360485" cy="386301"/>
          </a:xfrm>
        </p:grpSpPr>
        <p:sp>
          <p:nvSpPr>
            <p:cNvPr id="131"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2" name="Group 424"/>
            <p:cNvGrpSpPr/>
            <p:nvPr/>
          </p:nvGrpSpPr>
          <p:grpSpPr bwMode="auto">
            <a:xfrm>
              <a:off x="2565534" y="4101618"/>
              <a:ext cx="360485" cy="119330"/>
              <a:chOff x="748" y="2251"/>
              <a:chExt cx="306" cy="90"/>
            </a:xfrm>
          </p:grpSpPr>
          <p:sp>
            <p:nvSpPr>
              <p:cNvPr id="134"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5"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6"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7"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8"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9"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133"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40" name="右箭头 139"/>
          <p:cNvSpPr/>
          <p:nvPr/>
        </p:nvSpPr>
        <p:spPr bwMode="auto">
          <a:xfrm rot="10800000" flipH="1">
            <a:off x="6891030" y="2395742"/>
            <a:ext cx="383596"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1" name="右箭头 140"/>
          <p:cNvSpPr/>
          <p:nvPr/>
        </p:nvSpPr>
        <p:spPr bwMode="auto">
          <a:xfrm rot="14218024" flipH="1">
            <a:off x="7227909" y="2041707"/>
            <a:ext cx="223787" cy="101722"/>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r>
              <a:rPr lang="en-US" altLang="zh-CN" dirty="0"/>
              <a:t>                        </a:t>
            </a:r>
            <a:endParaRPr lang="zh-CN" altLang="en-US" dirty="0"/>
          </a:p>
        </p:txBody>
      </p:sp>
      <p:sp>
        <p:nvSpPr>
          <p:cNvPr id="142" name="右箭头 141"/>
          <p:cNvSpPr/>
          <p:nvPr/>
        </p:nvSpPr>
        <p:spPr bwMode="auto">
          <a:xfrm rot="10800000" flipH="1">
            <a:off x="2752916"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3" name="右箭头 142"/>
          <p:cNvSpPr/>
          <p:nvPr/>
        </p:nvSpPr>
        <p:spPr bwMode="auto">
          <a:xfrm rot="10800000">
            <a:off x="3498879"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1" name="矩形 10"/>
          <p:cNvSpPr/>
          <p:nvPr/>
        </p:nvSpPr>
        <p:spPr>
          <a:xfrm>
            <a:off x="1038414" y="3583369"/>
            <a:ext cx="7122360" cy="1015663"/>
          </a:xfrm>
          <a:prstGeom prst="rect">
            <a:avLst/>
          </a:prstGeom>
        </p:spPr>
        <p:txBody>
          <a:bodyPr wrap="square">
            <a:spAutoFit/>
          </a:bodyPr>
          <a:lstStyle/>
          <a:p>
            <a:pPr>
              <a:lnSpc>
                <a:spcPts val="2400"/>
              </a:lnSpc>
            </a:pPr>
            <a:r>
              <a:rPr lang="zh-CN" altLang="en-US" b="1" dirty="0">
                <a:solidFill>
                  <a:srgbClr val="CC0000"/>
                </a:solidFill>
                <a:latin typeface="微软雅黑" panose="020B0503020204020204" pitchFamily="34" charset="-122"/>
                <a:ea typeface="微软雅黑" panose="020B0503020204020204" pitchFamily="34" charset="-122"/>
              </a:rPr>
              <a:t>隐蔽站问题 </a:t>
            </a:r>
            <a:r>
              <a:rPr lang="en-US" altLang="zh-CN" b="1" dirty="0">
                <a:latin typeface="微软雅黑" panose="020B0503020204020204" pitchFamily="34" charset="-122"/>
                <a:ea typeface="微软雅黑" panose="020B0503020204020204" pitchFamily="34" charset="-122"/>
              </a:rPr>
              <a:t>(hidden station problem)</a:t>
            </a:r>
            <a:r>
              <a:rPr lang="zh-CN" altLang="en-US" b="1" dirty="0">
                <a:latin typeface="微软雅黑" panose="020B0503020204020204" pitchFamily="34" charset="-122"/>
                <a:ea typeface="微软雅黑" panose="020B0503020204020204" pitchFamily="34" charset="-122"/>
              </a:rPr>
              <a:t>：由于无线信号覆盖范围和穿透能力有限，</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C </a:t>
            </a:r>
            <a:r>
              <a:rPr lang="zh-CN" altLang="en-US" b="1" dirty="0">
                <a:latin typeface="微软雅黑" panose="020B0503020204020204" pitchFamily="34" charset="-122"/>
                <a:ea typeface="微软雅黑" panose="020B0503020204020204" pitchFamily="34" charset="-122"/>
              </a:rPr>
              <a:t>检测不到彼此的无线信号，都以为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是空闲的，因而都向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发送数据，结果发生碰撞。</a:t>
            </a:r>
            <a:endParaRPr lang="zh-CN" altLang="en-US" b="1" dirty="0">
              <a:latin typeface="微软雅黑" panose="020B0503020204020204" pitchFamily="34" charset="-122"/>
              <a:ea typeface="微软雅黑" panose="020B0503020204020204" pitchFamily="34" charset="-122"/>
            </a:endParaRPr>
          </a:p>
        </p:txBody>
      </p:sp>
      <p:grpSp>
        <p:nvGrpSpPr>
          <p:cNvPr id="12" name="组合 11"/>
          <p:cNvGrpSpPr/>
          <p:nvPr/>
        </p:nvGrpSpPr>
        <p:grpSpPr>
          <a:xfrm>
            <a:off x="6601007" y="1671839"/>
            <a:ext cx="653110" cy="627973"/>
            <a:chOff x="6620671" y="1830536"/>
            <a:chExt cx="520462" cy="479108"/>
          </a:xfrm>
        </p:grpSpPr>
        <p:pic>
          <p:nvPicPr>
            <p:cNvPr id="116" name="Picture 1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20535" y="1919327"/>
              <a:ext cx="320598" cy="390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7" name="Picture 1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20671" y="1830536"/>
              <a:ext cx="280083" cy="339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nodeType="withEffect">
                                  <p:stCondLst>
                                    <p:cond delay="0"/>
                                  </p:stCondLst>
                                  <p:childTnLst>
                                    <p:anim calcmode="discrete" valueType="str">
                                      <p:cBhvr>
                                        <p:cTn id="10"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0425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必须</a:t>
            </a:r>
            <a:r>
              <a:rPr lang="zh-CN" altLang="en-US" sz="2000" b="1" dirty="0" smtClean="0">
                <a:latin typeface="微软雅黑" panose="020B0503020204020204" pitchFamily="34" charset="-122"/>
                <a:ea typeface="微软雅黑" panose="020B0503020204020204" pitchFamily="34" charset="-122"/>
              </a:rPr>
              <a:t>考虑</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特点</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46465"/>
            <a:ext cx="813385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4330" indent="-35433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无线</a:t>
            </a:r>
            <a:r>
              <a:rPr lang="zh-CN" altLang="en-US" sz="2000" b="1" dirty="0">
                <a:latin typeface="微软雅黑" panose="020B0503020204020204" pitchFamily="34" charset="-122"/>
                <a:ea typeface="微软雅黑" panose="020B0503020204020204" pitchFamily="34" charset="-122"/>
              </a:rPr>
              <a:t>局域网的适配器</a:t>
            </a:r>
            <a:r>
              <a:rPr lang="zh-CN" altLang="en-US" sz="2000" b="1" dirty="0">
                <a:solidFill>
                  <a:srgbClr val="0000FF"/>
                </a:solidFill>
                <a:latin typeface="微软雅黑" panose="020B0503020204020204" pitchFamily="34" charset="-122"/>
                <a:ea typeface="微软雅黑" panose="020B0503020204020204" pitchFamily="34" charset="-122"/>
              </a:rPr>
              <a:t>无法实现</a:t>
            </a:r>
            <a:r>
              <a:rPr lang="zh-CN" altLang="en-US" sz="2000" b="1" dirty="0">
                <a:latin typeface="微软雅黑" panose="020B0503020204020204" pitchFamily="34" charset="-122"/>
                <a:ea typeface="微软雅黑" panose="020B0503020204020204" pitchFamily="34" charset="-122"/>
              </a:rPr>
              <a:t>碰撞检测；</a:t>
            </a:r>
            <a:endParaRPr lang="zh-CN" altLang="en-US" sz="2000" b="1" dirty="0">
              <a:latin typeface="微软雅黑" panose="020B0503020204020204" pitchFamily="34" charset="-122"/>
              <a:ea typeface="微软雅黑" panose="020B0503020204020204" pitchFamily="34" charset="-122"/>
            </a:endParaRPr>
          </a:p>
          <a:p>
            <a:pPr marL="354330" indent="-35433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检测</a:t>
            </a:r>
            <a:r>
              <a:rPr lang="zh-CN" altLang="en-US" sz="2000" b="1" dirty="0">
                <a:latin typeface="微软雅黑" panose="020B0503020204020204" pitchFamily="34" charset="-122"/>
                <a:ea typeface="微软雅黑" panose="020B0503020204020204" pitchFamily="34" charset="-122"/>
              </a:rPr>
              <a:t>到信道空闲，其实信道</a:t>
            </a:r>
            <a:r>
              <a:rPr lang="zh-CN" altLang="en-US" sz="2000" b="1" dirty="0">
                <a:solidFill>
                  <a:srgbClr val="0000FF"/>
                </a:solidFill>
                <a:latin typeface="微软雅黑" panose="020B0503020204020204" pitchFamily="34" charset="-122"/>
                <a:ea typeface="微软雅黑" panose="020B0503020204020204" pitchFamily="34" charset="-122"/>
              </a:rPr>
              <a:t>可能并不空闲；</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354330" indent="-35433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即使能够</a:t>
            </a:r>
            <a:r>
              <a:rPr lang="zh-CN" altLang="en-US" sz="2000" b="1" dirty="0">
                <a:latin typeface="微软雅黑" panose="020B0503020204020204" pitchFamily="34" charset="-122"/>
                <a:ea typeface="微软雅黑" panose="020B0503020204020204" pitchFamily="34" charset="-122"/>
              </a:rPr>
              <a:t>在硬件上实现无线局域网的碰撞检测功能，也无法检测出</a:t>
            </a:r>
            <a:r>
              <a:rPr lang="zh-CN" altLang="en-US" sz="2000" b="1" dirty="0">
                <a:solidFill>
                  <a:srgbClr val="0000FF"/>
                </a:solidFill>
                <a:latin typeface="微软雅黑" panose="020B0503020204020204" pitchFamily="34" charset="-122"/>
                <a:ea typeface="微软雅黑" panose="020B0503020204020204" pitchFamily="34" charset="-122"/>
              </a:rPr>
              <a:t>隐蔽站问题</a:t>
            </a:r>
            <a:r>
              <a:rPr lang="zh-CN" altLang="en-US" sz="2000" b="1" dirty="0">
                <a:latin typeface="微软雅黑" panose="020B0503020204020204" pitchFamily="34" charset="-122"/>
                <a:ea typeface="微软雅黑" panose="020B0503020204020204" pitchFamily="34" charset="-122"/>
              </a:rPr>
              <a:t>带来的碰撞</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1226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CSMA/CA </a:t>
            </a:r>
            <a:r>
              <a:rPr lang="zh-CN" altLang="en-US" sz="2000" b="1" dirty="0">
                <a:latin typeface="微软雅黑" panose="020B0503020204020204" pitchFamily="34" charset="-122"/>
                <a:ea typeface="微软雅黑" panose="020B0503020204020204" pitchFamily="34" charset="-122"/>
              </a:rPr>
              <a:t>协议 </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46465"/>
            <a:ext cx="813385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无线</a:t>
            </a:r>
            <a:r>
              <a:rPr lang="zh-CN" altLang="en-US" sz="2000" b="1" dirty="0" smtClean="0">
                <a:latin typeface="微软雅黑" panose="020B0503020204020204" pitchFamily="34" charset="-122"/>
                <a:ea typeface="微软雅黑" panose="020B0503020204020204" pitchFamily="34" charset="-122"/>
              </a:rPr>
              <a:t>局域网不能使用 </a:t>
            </a:r>
            <a:r>
              <a:rPr lang="en-US" altLang="zh-CN" sz="2000" b="1" dirty="0" smtClean="0">
                <a:latin typeface="微软雅黑" panose="020B0503020204020204" pitchFamily="34" charset="-122"/>
                <a:ea typeface="微软雅黑" panose="020B0503020204020204" pitchFamily="34" charset="-122"/>
              </a:rPr>
              <a:t>CSMA/CD</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但可以使用 </a:t>
            </a:r>
            <a:r>
              <a:rPr lang="en-US" altLang="zh-CN" sz="2000" b="1" dirty="0">
                <a:latin typeface="微软雅黑" panose="020B0503020204020204" pitchFamily="34" charset="-122"/>
                <a:ea typeface="微软雅黑" panose="020B0503020204020204" pitchFamily="34" charset="-122"/>
              </a:rPr>
              <a:t>CSMA </a:t>
            </a:r>
            <a:r>
              <a:rPr lang="zh-CN" altLang="en-US" sz="2000" b="1" dirty="0">
                <a:latin typeface="微软雅黑" panose="020B0503020204020204" pitchFamily="34" charset="-122"/>
                <a:ea typeface="微软雅黑" panose="020B0503020204020204" pitchFamily="34" charset="-122"/>
              </a:rPr>
              <a:t>协议。</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C0000"/>
                </a:solidFill>
                <a:latin typeface="微软雅黑" panose="020B0503020204020204" pitchFamily="34" charset="-122"/>
                <a:ea typeface="微软雅黑" panose="020B0503020204020204" pitchFamily="34" charset="-122"/>
              </a:rPr>
              <a:t>改进：</a:t>
            </a:r>
            <a:endParaRPr lang="en-US" altLang="zh-CN" sz="2000" b="1" dirty="0" smtClean="0">
              <a:solidFill>
                <a:srgbClr val="CC0000"/>
              </a:solidFill>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增加</a:t>
            </a:r>
            <a:r>
              <a:rPr lang="zh-CN" altLang="en-US" sz="2000" b="1" dirty="0">
                <a:solidFill>
                  <a:srgbClr val="C00000"/>
                </a:solidFill>
                <a:latin typeface="微软雅黑" panose="020B0503020204020204" pitchFamily="34" charset="-122"/>
                <a:ea typeface="微软雅黑" panose="020B0503020204020204" pitchFamily="34" charset="-122"/>
              </a:rPr>
              <a:t>碰撞避免 </a:t>
            </a:r>
            <a:r>
              <a:rPr lang="en-US" altLang="zh-CN" sz="2000" b="1" dirty="0">
                <a:solidFill>
                  <a:srgbClr val="C00000"/>
                </a:solidFill>
                <a:latin typeface="微软雅黑" panose="020B0503020204020204" pitchFamily="34" charset="-122"/>
                <a:ea typeface="微软雅黑" panose="020B0503020204020204" pitchFamily="34" charset="-122"/>
              </a:rPr>
              <a:t>CA </a:t>
            </a:r>
            <a:r>
              <a:rPr lang="en-US" altLang="zh-CN" sz="2000" b="1" dirty="0">
                <a:latin typeface="微软雅黑" panose="020B0503020204020204" pitchFamily="34" charset="-122"/>
                <a:ea typeface="微软雅黑" panose="020B0503020204020204" pitchFamily="34" charset="-122"/>
              </a:rPr>
              <a:t>(Collision Avoidance) </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尽量减少碰撞发生的概率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CSMA/CA </a:t>
            </a:r>
            <a:r>
              <a:rPr lang="zh-CN" altLang="en-US" sz="2000" b="1" dirty="0" smtClean="0">
                <a:latin typeface="微软雅黑" panose="020B0503020204020204" pitchFamily="34" charset="-122"/>
                <a:ea typeface="微软雅黑" panose="020B0503020204020204" pitchFamily="34" charset="-122"/>
              </a:rPr>
              <a:t>的同时，使用</a:t>
            </a:r>
            <a:r>
              <a:rPr lang="zh-CN" altLang="en-US" sz="2000" b="1" dirty="0">
                <a:solidFill>
                  <a:srgbClr val="C00000"/>
                </a:solidFill>
                <a:latin typeface="微软雅黑" panose="020B0503020204020204" pitchFamily="34" charset="-122"/>
                <a:ea typeface="微软雅黑" panose="020B0503020204020204" pitchFamily="34" charset="-122"/>
              </a:rPr>
              <a:t>停止等待</a:t>
            </a:r>
            <a:r>
              <a:rPr lang="zh-CN" altLang="en-US" sz="2000" b="1" dirty="0" smtClean="0">
                <a:solidFill>
                  <a:srgbClr val="C00000"/>
                </a:solidFill>
                <a:latin typeface="微软雅黑" panose="020B0503020204020204" pitchFamily="34" charset="-122"/>
                <a:ea typeface="微软雅黑" panose="020B0503020204020204" pitchFamily="34" charset="-122"/>
              </a:rPr>
              <a:t>协议：</a:t>
            </a:r>
            <a:r>
              <a:rPr lang="zh-CN" altLang="en-US" sz="2000" b="1" dirty="0" smtClean="0">
                <a:latin typeface="微软雅黑" panose="020B0503020204020204" pitchFamily="34" charset="-122"/>
                <a:ea typeface="微软雅黑" panose="020B0503020204020204" pitchFamily="34" charset="-122"/>
              </a:rPr>
              <a:t>链路</a:t>
            </a:r>
            <a:r>
              <a:rPr lang="zh-CN" altLang="en-US" sz="2000" b="1" dirty="0">
                <a:latin typeface="微软雅黑" panose="020B0503020204020204" pitchFamily="34" charset="-122"/>
                <a:ea typeface="微软雅黑" panose="020B0503020204020204" pitchFamily="34" charset="-122"/>
              </a:rPr>
              <a:t>层确认，解决碰撞后重传。</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2498504" cy="400110"/>
          </a:xfrm>
          <a:prstGeom prst="rect">
            <a:avLst/>
          </a:prstGeom>
        </p:spPr>
        <p:txBody>
          <a:bodyPr wrap="none">
            <a:spAutoFit/>
          </a:bodyPr>
          <a:lstStyle/>
          <a:p>
            <a:r>
              <a:rPr lang="en-US" altLang="zh-CN" sz="2000" b="1" dirty="0">
                <a:latin typeface="微软雅黑" panose="020B0503020204020204" pitchFamily="34" charset="-122"/>
                <a:ea typeface="微软雅黑" panose="020B0503020204020204" pitchFamily="34" charset="-122"/>
              </a:rPr>
              <a:t>802.11 </a:t>
            </a:r>
            <a:r>
              <a:rPr lang="zh-CN" altLang="en-US" sz="2000" b="1" dirty="0">
                <a:latin typeface="微软雅黑" panose="020B0503020204020204" pitchFamily="34" charset="-122"/>
                <a:ea typeface="微软雅黑" panose="020B0503020204020204" pitchFamily="34" charset="-122"/>
              </a:rPr>
              <a:t>的 </a:t>
            </a:r>
            <a:r>
              <a:rPr lang="en-US" altLang="zh-CN" sz="2000" b="1" dirty="0">
                <a:latin typeface="微软雅黑" panose="020B0503020204020204" pitchFamily="34" charset="-122"/>
                <a:ea typeface="微软雅黑" panose="020B0503020204020204" pitchFamily="34" charset="-122"/>
              </a:rPr>
              <a:t>MAC </a:t>
            </a:r>
            <a:r>
              <a:rPr lang="zh-CN" altLang="en-US" sz="2000" b="1" dirty="0">
                <a:latin typeface="微软雅黑" panose="020B0503020204020204" pitchFamily="34" charset="-122"/>
                <a:ea typeface="微软雅黑" panose="020B0503020204020204" pitchFamily="34" charset="-122"/>
              </a:rPr>
              <a:t>层 </a:t>
            </a:r>
            <a:endParaRPr lang="zh-CN" altLang="en-US" sz="2000" b="1" dirty="0">
              <a:latin typeface="微软雅黑" panose="020B0503020204020204" pitchFamily="34" charset="-122"/>
              <a:ea typeface="微软雅黑" panose="020B0503020204020204" pitchFamily="34" charset="-122"/>
            </a:endParaRPr>
          </a:p>
        </p:txBody>
      </p:sp>
      <p:sp>
        <p:nvSpPr>
          <p:cNvPr id="5" name="矩形 4"/>
          <p:cNvSpPr/>
          <p:nvPr/>
        </p:nvSpPr>
        <p:spPr>
          <a:xfrm>
            <a:off x="1501546" y="3923701"/>
            <a:ext cx="6364260" cy="759182"/>
          </a:xfrm>
          <a:prstGeom prst="rect">
            <a:avLst/>
          </a:prstGeom>
        </p:spPr>
        <p:txBody>
          <a:bodyPr wrap="square">
            <a:spAutoFit/>
          </a:bodyPr>
          <a:lstStyle/>
          <a:p>
            <a:pPr>
              <a:lnSpc>
                <a:spcPts val="2600"/>
              </a:lnSpc>
            </a:pPr>
            <a:r>
              <a:rPr lang="en-US" altLang="zh-CN" b="1" dirty="0">
                <a:latin typeface="微软雅黑" panose="020B0503020204020204" pitchFamily="34" charset="-122"/>
                <a:ea typeface="微软雅黑" panose="020B0503020204020204" pitchFamily="34" charset="-122"/>
              </a:rPr>
              <a:t>MAC </a:t>
            </a:r>
            <a:r>
              <a:rPr lang="zh-CN" altLang="en-US" b="1" dirty="0">
                <a:latin typeface="微软雅黑" panose="020B0503020204020204" pitchFamily="34" charset="-122"/>
                <a:ea typeface="微软雅黑" panose="020B0503020204020204" pitchFamily="34" charset="-122"/>
              </a:rPr>
              <a:t>层通过</a:t>
            </a:r>
            <a:r>
              <a:rPr lang="zh-CN" altLang="en-US" b="1" dirty="0">
                <a:solidFill>
                  <a:srgbClr val="C00000"/>
                </a:solidFill>
                <a:latin typeface="微软雅黑" panose="020B0503020204020204" pitchFamily="34" charset="-122"/>
                <a:ea typeface="微软雅黑" panose="020B0503020204020204" pitchFamily="34" charset="-122"/>
              </a:rPr>
              <a:t>协调功能</a:t>
            </a:r>
            <a:r>
              <a:rPr lang="zh-CN" altLang="en-US" b="1" dirty="0">
                <a:latin typeface="微软雅黑" panose="020B0503020204020204" pitchFamily="34" charset="-122"/>
                <a:ea typeface="微软雅黑" panose="020B0503020204020204" pitchFamily="34" charset="-122"/>
              </a:rPr>
              <a:t>来确定在基本服务集 </a:t>
            </a:r>
            <a:r>
              <a:rPr lang="en-US" altLang="zh-CN" b="1" dirty="0">
                <a:latin typeface="微软雅黑" panose="020B0503020204020204" pitchFamily="34" charset="-122"/>
                <a:ea typeface="微软雅黑" panose="020B0503020204020204" pitchFamily="34" charset="-122"/>
              </a:rPr>
              <a:t>BSS </a:t>
            </a:r>
            <a:r>
              <a:rPr lang="zh-CN" altLang="en-US" b="1" dirty="0">
                <a:latin typeface="微软雅黑" panose="020B0503020204020204" pitchFamily="34" charset="-122"/>
                <a:ea typeface="微软雅黑" panose="020B0503020204020204" pitchFamily="34" charset="-122"/>
              </a:rPr>
              <a:t>中的</a:t>
            </a:r>
            <a:r>
              <a:rPr lang="zh-CN" altLang="en-US" b="1" dirty="0" smtClean="0">
                <a:latin typeface="微软雅黑" panose="020B0503020204020204" pitchFamily="34" charset="-122"/>
                <a:ea typeface="微软雅黑" panose="020B0503020204020204" pitchFamily="34" charset="-122"/>
              </a:rPr>
              <a:t>移动站何时可以发送或</a:t>
            </a:r>
            <a:r>
              <a:rPr lang="zh-CN" altLang="en-US" b="1" dirty="0">
                <a:latin typeface="微软雅黑" panose="020B0503020204020204" pitchFamily="34" charset="-122"/>
                <a:ea typeface="微软雅黑" panose="020B0503020204020204" pitchFamily="34" charset="-122"/>
              </a:rPr>
              <a:t>接收数据。包括</a:t>
            </a:r>
            <a:r>
              <a:rPr lang="zh-CN" altLang="en-US" b="1" dirty="0">
                <a:solidFill>
                  <a:srgbClr val="C00000"/>
                </a:solidFill>
                <a:latin typeface="微软雅黑" panose="020B0503020204020204" pitchFamily="34" charset="-122"/>
                <a:ea typeface="微软雅黑" panose="020B0503020204020204" pitchFamily="34" charset="-122"/>
              </a:rPr>
              <a:t>两个</a:t>
            </a:r>
            <a:r>
              <a:rPr lang="zh-CN" altLang="en-US" b="1" dirty="0" smtClean="0">
                <a:solidFill>
                  <a:srgbClr val="C00000"/>
                </a:solidFill>
                <a:latin typeface="微软雅黑" panose="020B0503020204020204" pitchFamily="34" charset="-122"/>
                <a:ea typeface="微软雅黑" panose="020B0503020204020204" pitchFamily="34" charset="-122"/>
              </a:rPr>
              <a:t>子层：</a:t>
            </a:r>
            <a:r>
              <a:rPr lang="en-US" altLang="zh-CN" b="1" dirty="0" smtClean="0">
                <a:latin typeface="微软雅黑" panose="020B0503020204020204" pitchFamily="34" charset="-122"/>
                <a:ea typeface="微软雅黑" panose="020B0503020204020204" pitchFamily="34" charset="-122"/>
              </a:rPr>
              <a:t>DCF </a:t>
            </a:r>
            <a:r>
              <a:rPr lang="zh-CN" altLang="en-US" b="1" dirty="0" smtClean="0">
                <a:latin typeface="微软雅黑" panose="020B0503020204020204" pitchFamily="34" charset="-122"/>
                <a:ea typeface="微软雅黑" panose="020B0503020204020204" pitchFamily="34" charset="-122"/>
              </a:rPr>
              <a:t>和 </a:t>
            </a:r>
            <a:r>
              <a:rPr lang="en-US" altLang="zh-CN" b="1" dirty="0" smtClean="0">
                <a:latin typeface="微软雅黑" panose="020B0503020204020204" pitchFamily="34" charset="-122"/>
                <a:ea typeface="微软雅黑" panose="020B0503020204020204" pitchFamily="34" charset="-122"/>
              </a:rPr>
              <a:t>PCF</a:t>
            </a:r>
            <a:r>
              <a:rPr lang="zh-CN" altLang="en-US" b="1" dirty="0" smtClean="0">
                <a:latin typeface="微软雅黑" panose="020B0503020204020204" pitchFamily="34" charset="-122"/>
                <a:ea typeface="微软雅黑" panose="020B0503020204020204" pitchFamily="34" charset="-122"/>
              </a:rPr>
              <a:t>。 </a:t>
            </a:r>
            <a:endParaRPr lang="zh-CN" altLang="en-US" b="1" dirty="0">
              <a:latin typeface="微软雅黑" panose="020B0503020204020204" pitchFamily="34" charset="-122"/>
              <a:ea typeface="微软雅黑" panose="020B0503020204020204"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anose="020B0503020204020204" pitchFamily="34" charset="-122"/>
                  <a:ea typeface="微软雅黑" panose="020B0503020204020204" pitchFamily="34" charset="-122"/>
                </a:defRPr>
              </a:lvl1pPr>
            </a:lstStyle>
            <a:p>
              <a:pPr algn="ctr"/>
              <a:r>
                <a:rPr lang="en-US" altLang="zh-CN" sz="1400" dirty="0" smtClean="0"/>
                <a:t>MAC  </a:t>
              </a:r>
              <a:r>
                <a:rPr lang="zh-CN" altLang="en-US" sz="1400" dirty="0"/>
                <a:t>层</a:t>
              </a:r>
              <a:endParaRPr lang="zh-CN" altLang="en-US" sz="1400" dirty="0"/>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endParaRPr kumimoji="1" lang="zh-CN" altLang="en-US" sz="1600" b="1" dirty="0">
                <a:solidFill>
                  <a:srgbClr val="CC00CC"/>
                </a:solidFill>
                <a:latin typeface="微软雅黑" panose="020B0503020204020204" pitchFamily="34" charset="-122"/>
                <a:ea typeface="微软雅黑" panose="020B0503020204020204" pitchFamily="34" charset="-122"/>
              </a:endParaRP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endParaRPr kumimoji="1" lang="zh-CN" altLang="en-US" sz="16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endParaRPr kumimoji="1"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a:latin typeface="微软雅黑" panose="020B0503020204020204" pitchFamily="34" charset="-122"/>
                  <a:ea typeface="微软雅黑" panose="020B0503020204020204" pitchFamily="34" charset="-122"/>
                </a:rPr>
                <a:t>(CSMA/CA)</a:t>
              </a:r>
              <a:endParaRPr kumimoji="1" lang="en-US" altLang="zh-CN" sz="1600" b="1" dirty="0">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endParaRPr kumimoji="1" lang="en-US" altLang="zh-CN" sz="1600" b="1" dirty="0">
                <a:solidFill>
                  <a:schemeClr val="bg1"/>
                </a:solidFill>
                <a:latin typeface="微软雅黑" panose="020B0503020204020204" pitchFamily="34" charset="-122"/>
                <a:ea typeface="微软雅黑" panose="020B0503020204020204" pitchFamily="34" charset="-122"/>
              </a:endParaRP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endParaRPr kumimoji="1" lang="zh-CN" altLang="en-US" sz="1600" b="1" dirty="0">
                <a:latin typeface="微软雅黑" panose="020B0503020204020204" pitchFamily="34" charset="-122"/>
                <a:ea typeface="微软雅黑" panose="020B0503020204020204" pitchFamily="34" charset="-122"/>
              </a:endParaRP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890185" cy="400110"/>
          </a:xfrm>
          <a:prstGeom prst="rect">
            <a:avLst/>
          </a:prstGeom>
        </p:spPr>
        <p:txBody>
          <a:bodyPr wrap="none">
            <a:spAutoFit/>
          </a:bodyPr>
          <a:lstStyle/>
          <a:p>
            <a:r>
              <a:rPr lang="en-US" altLang="zh-CN" sz="2000" b="1" dirty="0">
                <a:latin typeface="微软雅黑" panose="020B0503020204020204" pitchFamily="34" charset="-122"/>
                <a:ea typeface="微软雅黑" panose="020B0503020204020204" pitchFamily="34" charset="-122"/>
              </a:rPr>
              <a:t>802.11 </a:t>
            </a:r>
            <a:r>
              <a:rPr lang="zh-CN" altLang="en-US" sz="2000" b="1" dirty="0">
                <a:latin typeface="微软雅黑" panose="020B0503020204020204" pitchFamily="34" charset="-122"/>
                <a:ea typeface="微软雅黑" panose="020B0503020204020204" pitchFamily="34" charset="-122"/>
              </a:rPr>
              <a:t>的 </a:t>
            </a:r>
            <a:r>
              <a:rPr lang="en-US" altLang="zh-CN" sz="2000" b="1" dirty="0">
                <a:latin typeface="微软雅黑" panose="020B0503020204020204" pitchFamily="34" charset="-122"/>
                <a:ea typeface="微软雅黑" panose="020B0503020204020204" pitchFamily="34" charset="-122"/>
              </a:rPr>
              <a:t>MAC </a:t>
            </a:r>
            <a:r>
              <a:rPr lang="zh-CN" altLang="en-US" sz="2000" b="1" dirty="0">
                <a:latin typeface="微软雅黑" panose="020B0503020204020204" pitchFamily="34" charset="-122"/>
                <a:ea typeface="微软雅黑" panose="020B0503020204020204" pitchFamily="34" charset="-122"/>
              </a:rPr>
              <a:t>层：</a:t>
            </a:r>
            <a:r>
              <a:rPr lang="zh-CN" altLang="en-US" sz="2000" b="1" dirty="0">
                <a:solidFill>
                  <a:srgbClr val="0000FF"/>
                </a:solidFill>
                <a:latin typeface="微软雅黑" panose="020B0503020204020204" pitchFamily="34" charset="-122"/>
                <a:ea typeface="微软雅黑" panose="020B0503020204020204" pitchFamily="34" charset="-122"/>
              </a:rPr>
              <a:t>分布协调功能 </a:t>
            </a:r>
            <a:r>
              <a:rPr lang="en-US" altLang="zh-CN" sz="2000" b="1" dirty="0" smtClean="0">
                <a:solidFill>
                  <a:srgbClr val="0000FF"/>
                </a:solidFill>
                <a:latin typeface="微软雅黑" panose="020B0503020204020204" pitchFamily="34" charset="-122"/>
                <a:ea typeface="微软雅黑" panose="020B0503020204020204" pitchFamily="34" charset="-122"/>
              </a:rPr>
              <a:t>DCF</a:t>
            </a:r>
            <a:r>
              <a:rPr lang="zh-CN" altLang="en-US" sz="2000" b="1" dirty="0" smtClean="0">
                <a:solidFill>
                  <a:srgbClr val="0000FF"/>
                </a:solidFill>
                <a:latin typeface="微软雅黑" panose="020B0503020204020204" pitchFamily="34" charset="-122"/>
                <a:ea typeface="微软雅黑" panose="020B0503020204020204" pitchFamily="34" charset="-122"/>
              </a:rPr>
              <a:t> </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smtClean="0">
                <a:solidFill>
                  <a:srgbClr val="C00000"/>
                </a:solidFill>
                <a:latin typeface="微软雅黑" panose="020B0503020204020204" pitchFamily="34" charset="-122"/>
                <a:ea typeface="微软雅黑" panose="020B0503020204020204" pitchFamily="34" charset="-122"/>
              </a:rPr>
              <a:t>DCF </a:t>
            </a:r>
            <a:r>
              <a:rPr lang="zh-CN" altLang="en-US" sz="1600" b="1" dirty="0" smtClean="0">
                <a:solidFill>
                  <a:srgbClr val="C00000"/>
                </a:solidFill>
                <a:latin typeface="微软雅黑" panose="020B0503020204020204" pitchFamily="34" charset="-122"/>
                <a:ea typeface="微软雅黑" panose="020B0503020204020204" pitchFamily="34" charset="-122"/>
              </a:rPr>
              <a:t>子层：</a:t>
            </a:r>
            <a:r>
              <a:rPr lang="zh-CN" altLang="en-US" sz="1600" b="1" dirty="0" smtClean="0">
                <a:latin typeface="微软雅黑" panose="020B0503020204020204" pitchFamily="34" charset="-122"/>
                <a:ea typeface="微软雅黑" panose="020B0503020204020204" pitchFamily="34" charset="-122"/>
              </a:rPr>
              <a:t>不</a:t>
            </a:r>
            <a:r>
              <a:rPr lang="zh-CN" altLang="en-US" sz="1600" b="1" dirty="0">
                <a:latin typeface="微软雅黑" panose="020B0503020204020204" pitchFamily="34" charset="-122"/>
                <a:ea typeface="微软雅黑" panose="020B0503020204020204" pitchFamily="34" charset="-122"/>
              </a:rPr>
              <a:t>采用任何</a:t>
            </a:r>
            <a:r>
              <a:rPr lang="zh-CN" altLang="en-US" sz="1600" b="1" dirty="0" smtClean="0">
                <a:latin typeface="微软雅黑" panose="020B0503020204020204" pitchFamily="34" charset="-122"/>
                <a:ea typeface="微软雅黑" panose="020B0503020204020204" pitchFamily="34" charset="-122"/>
              </a:rPr>
              <a:t>中心控制。每个</a:t>
            </a:r>
            <a:r>
              <a:rPr lang="zh-CN" altLang="en-US" sz="1600" b="1" dirty="0">
                <a:latin typeface="微软雅黑" panose="020B0503020204020204" pitchFamily="34" charset="-122"/>
                <a:ea typeface="微软雅黑" panose="020B0503020204020204" pitchFamily="34" charset="-122"/>
              </a:rPr>
              <a:t>节点</a:t>
            </a:r>
            <a:r>
              <a:rPr lang="zh-CN" altLang="en-US" sz="1600" b="1" dirty="0" smtClean="0">
                <a:latin typeface="微软雅黑" panose="020B0503020204020204" pitchFamily="34" charset="-122"/>
                <a:ea typeface="微软雅黑" panose="020B0503020204020204" pitchFamily="34" charset="-122"/>
              </a:rPr>
              <a:t>使用 </a:t>
            </a:r>
            <a:r>
              <a:rPr lang="en-US" altLang="zh-CN" sz="1600" b="1" dirty="0" smtClean="0">
                <a:latin typeface="微软雅黑" panose="020B0503020204020204" pitchFamily="34" charset="-122"/>
                <a:ea typeface="微软雅黑" panose="020B0503020204020204" pitchFamily="34" charset="-122"/>
              </a:rPr>
              <a:t>CSMA/CA </a:t>
            </a:r>
            <a:r>
              <a:rPr lang="zh-CN" altLang="en-US" sz="1600" b="1" dirty="0" smtClean="0">
                <a:latin typeface="微软雅黑" panose="020B0503020204020204" pitchFamily="34" charset="-122"/>
                <a:ea typeface="微软雅黑" panose="020B0503020204020204" pitchFamily="34" charset="-122"/>
              </a:rPr>
              <a:t>机制</a:t>
            </a:r>
            <a:r>
              <a:rPr lang="zh-CN" altLang="en-US" sz="1600" b="1" dirty="0">
                <a:latin typeface="微软雅黑" panose="020B0503020204020204" pitchFamily="34" charset="-122"/>
                <a:ea typeface="微软雅黑" panose="020B0503020204020204" pitchFamily="34" charset="-122"/>
              </a:rPr>
              <a:t>的分布式接入算法</a:t>
            </a:r>
            <a:r>
              <a:rPr lang="zh-CN" altLang="en-US" sz="1600" b="1" dirty="0" smtClean="0">
                <a:latin typeface="微软雅黑" panose="020B0503020204020204" pitchFamily="34" charset="-122"/>
                <a:ea typeface="微软雅黑" panose="020B0503020204020204" pitchFamily="34" charset="-122"/>
              </a:rPr>
              <a:t>，让</a:t>
            </a:r>
            <a:r>
              <a:rPr lang="zh-CN" altLang="en-US" sz="1600" b="1" dirty="0">
                <a:latin typeface="微软雅黑" panose="020B0503020204020204" pitchFamily="34" charset="-122"/>
                <a:ea typeface="微软雅黑" panose="020B0503020204020204" pitchFamily="34" charset="-122"/>
              </a:rPr>
              <a:t>各个站通过争用信道来获取发送权。因此 </a:t>
            </a:r>
            <a:r>
              <a:rPr lang="en-US" altLang="zh-CN" sz="1600" b="1" dirty="0">
                <a:latin typeface="微软雅黑" panose="020B0503020204020204" pitchFamily="34" charset="-122"/>
                <a:ea typeface="微软雅黑" panose="020B0503020204020204" pitchFamily="34" charset="-122"/>
              </a:rPr>
              <a:t>DCF </a:t>
            </a:r>
            <a:r>
              <a:rPr lang="zh-CN" altLang="en-US" sz="1600" b="1" dirty="0">
                <a:latin typeface="微软雅黑" panose="020B0503020204020204" pitchFamily="34" charset="-122"/>
                <a:ea typeface="微软雅黑" panose="020B0503020204020204" pitchFamily="34" charset="-122"/>
              </a:rPr>
              <a:t>向上提供</a:t>
            </a:r>
            <a:r>
              <a:rPr lang="zh-CN" altLang="en-US" sz="1600" b="1" dirty="0">
                <a:solidFill>
                  <a:srgbClr val="C00000"/>
                </a:solidFill>
                <a:latin typeface="微软雅黑" panose="020B0503020204020204" pitchFamily="34" charset="-122"/>
                <a:ea typeface="微软雅黑" panose="020B0503020204020204" pitchFamily="34" charset="-122"/>
              </a:rPr>
              <a:t>争用服务。</a:t>
            </a:r>
            <a:r>
              <a:rPr lang="zh-CN" altLang="en-US" sz="1600" b="1" dirty="0" smtClean="0">
                <a:solidFill>
                  <a:srgbClr val="0000FF"/>
                </a:solidFill>
                <a:latin typeface="微软雅黑" panose="020B0503020204020204" pitchFamily="34" charset="-122"/>
                <a:ea typeface="微软雅黑" panose="020B0503020204020204" pitchFamily="34" charset="-122"/>
              </a:rPr>
              <a:t>所有实现</a:t>
            </a:r>
            <a:r>
              <a:rPr lang="zh-CN" altLang="en-US" sz="1600" b="1" dirty="0">
                <a:solidFill>
                  <a:srgbClr val="0000FF"/>
                </a:solidFill>
                <a:latin typeface="微软雅黑" panose="020B0503020204020204" pitchFamily="34" charset="-122"/>
                <a:ea typeface="微软雅黑" panose="020B0503020204020204" pitchFamily="34" charset="-122"/>
              </a:rPr>
              <a:t>都必须</a:t>
            </a:r>
            <a:r>
              <a:rPr lang="zh-CN" altLang="en-US" sz="1600" b="1" dirty="0" smtClean="0">
                <a:solidFill>
                  <a:srgbClr val="0000FF"/>
                </a:solidFill>
                <a:latin typeface="微软雅黑" panose="020B0503020204020204" pitchFamily="34" charset="-122"/>
                <a:ea typeface="微软雅黑" panose="020B0503020204020204" pitchFamily="34" charset="-122"/>
              </a:rPr>
              <a:t>有 </a:t>
            </a:r>
            <a:r>
              <a:rPr lang="en-US" altLang="zh-CN" sz="1600" b="1" dirty="0" smtClean="0">
                <a:solidFill>
                  <a:srgbClr val="0000FF"/>
                </a:solidFill>
                <a:latin typeface="微软雅黑" panose="020B0503020204020204" pitchFamily="34" charset="-122"/>
                <a:ea typeface="微软雅黑" panose="020B0503020204020204" pitchFamily="34" charset="-122"/>
              </a:rPr>
              <a:t>DCF </a:t>
            </a:r>
            <a:r>
              <a:rPr lang="zh-CN" altLang="en-US" sz="1600" b="1" dirty="0" smtClean="0">
                <a:solidFill>
                  <a:srgbClr val="0000FF"/>
                </a:solidFill>
                <a:latin typeface="微软雅黑" panose="020B0503020204020204" pitchFamily="34" charset="-122"/>
                <a:ea typeface="微软雅黑" panose="020B0503020204020204" pitchFamily="34" charset="-122"/>
              </a:rPr>
              <a:t>功能</a:t>
            </a:r>
            <a:r>
              <a:rPr lang="zh-CN" altLang="en-US" sz="1600" b="1" dirty="0">
                <a:solidFill>
                  <a:srgbClr val="0000FF"/>
                </a:solidFill>
                <a:latin typeface="微软雅黑" panose="020B0503020204020204" pitchFamily="34" charset="-122"/>
                <a:ea typeface="微软雅黑" panose="020B0503020204020204" pitchFamily="34" charset="-122"/>
              </a:rPr>
              <a:t>。</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anose="020B0503020204020204" pitchFamily="34" charset="-122"/>
                  <a:ea typeface="微软雅黑" panose="020B0503020204020204" pitchFamily="34" charset="-122"/>
                </a:defRPr>
              </a:lvl1pPr>
            </a:lstStyle>
            <a:p>
              <a:pPr algn="ctr"/>
              <a:r>
                <a:rPr lang="en-US" altLang="zh-CN" sz="1400" dirty="0" smtClean="0"/>
                <a:t>MAC  </a:t>
              </a:r>
              <a:r>
                <a:rPr lang="zh-CN" altLang="en-US" sz="1400" dirty="0"/>
                <a:t>层</a:t>
              </a:r>
              <a:endParaRPr lang="zh-CN" altLang="en-US" sz="1400" dirty="0"/>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endParaRPr kumimoji="1" lang="zh-CN" altLang="en-US" sz="1600" b="1" dirty="0">
                <a:solidFill>
                  <a:srgbClr val="CC00CC"/>
                </a:solidFill>
                <a:latin typeface="微软雅黑" panose="020B0503020204020204" pitchFamily="34" charset="-122"/>
                <a:ea typeface="微软雅黑" panose="020B0503020204020204" pitchFamily="34" charset="-122"/>
              </a:endParaRP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endParaRPr kumimoji="1" lang="zh-CN" altLang="en-US" sz="16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endParaRPr kumimoji="1"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a:latin typeface="微软雅黑" panose="020B0503020204020204" pitchFamily="34" charset="-122"/>
                  <a:ea typeface="微软雅黑" panose="020B0503020204020204" pitchFamily="34" charset="-122"/>
                </a:rPr>
                <a:t>(CSMA/CA)</a:t>
              </a:r>
              <a:endParaRPr kumimoji="1" lang="en-US" altLang="zh-CN" sz="1600" b="1" dirty="0">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endParaRPr kumimoji="1" lang="en-US" altLang="zh-CN" sz="1600" b="1" dirty="0">
                <a:solidFill>
                  <a:schemeClr val="bg1"/>
                </a:solidFill>
                <a:latin typeface="微软雅黑" panose="020B0503020204020204" pitchFamily="34" charset="-122"/>
                <a:ea typeface="微软雅黑" panose="020B0503020204020204" pitchFamily="34" charset="-122"/>
              </a:endParaRP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endParaRPr kumimoji="1" lang="zh-CN" altLang="en-US" sz="1600" b="1" dirty="0">
                <a:latin typeface="微软雅黑" panose="020B0503020204020204" pitchFamily="34" charset="-122"/>
                <a:ea typeface="微软雅黑" panose="020B0503020204020204" pitchFamily="34" charset="-122"/>
              </a:endParaRP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521494" cy="707886"/>
          </a:xfrm>
          <a:prstGeom prst="rect">
            <a:avLst/>
          </a:prstGeom>
        </p:spPr>
        <p:txBody>
          <a:bodyPr wrap="none">
            <a:spAutoFit/>
          </a:bodyPr>
          <a:lstStyle/>
          <a:p>
            <a:r>
              <a:rPr lang="en-US" altLang="zh-CN" sz="2000" b="1" dirty="0">
                <a:latin typeface="微软雅黑" panose="020B0503020204020204" pitchFamily="34" charset="-122"/>
                <a:ea typeface="微软雅黑" panose="020B0503020204020204" pitchFamily="34" charset="-122"/>
              </a:rPr>
              <a:t>802.11 </a:t>
            </a:r>
            <a:r>
              <a:rPr lang="zh-CN" altLang="en-US" sz="2000" b="1" dirty="0">
                <a:latin typeface="微软雅黑" panose="020B0503020204020204" pitchFamily="34" charset="-122"/>
                <a:ea typeface="微软雅黑" panose="020B0503020204020204" pitchFamily="34" charset="-122"/>
              </a:rPr>
              <a:t>的 </a:t>
            </a:r>
            <a:r>
              <a:rPr lang="en-US" altLang="zh-CN" sz="2000" b="1" dirty="0">
                <a:latin typeface="微软雅黑" panose="020B0503020204020204" pitchFamily="34" charset="-122"/>
                <a:ea typeface="微软雅黑" panose="020B0503020204020204" pitchFamily="34" charset="-122"/>
              </a:rPr>
              <a:t>MAC </a:t>
            </a:r>
            <a:r>
              <a:rPr lang="zh-CN" altLang="en-US" sz="2000" b="1" dirty="0">
                <a:latin typeface="微软雅黑" panose="020B0503020204020204" pitchFamily="34" charset="-122"/>
                <a:ea typeface="微软雅黑" panose="020B0503020204020204" pitchFamily="34" charset="-122"/>
              </a:rPr>
              <a:t>层</a:t>
            </a:r>
            <a:r>
              <a:rPr lang="zh-CN" altLang="en-US" sz="2000" b="1" dirty="0" smtClean="0">
                <a:latin typeface="微软雅黑" panose="020B0503020204020204" pitchFamily="34" charset="-122"/>
                <a:ea typeface="微软雅黑" panose="020B0503020204020204" pitchFamily="34" charset="-122"/>
              </a:rPr>
              <a:t>：</a:t>
            </a:r>
            <a:r>
              <a:rPr lang="zh-CN" altLang="en-US" sz="2000" b="1" dirty="0" smtClean="0">
                <a:solidFill>
                  <a:srgbClr val="0000FF"/>
                </a:solidFill>
                <a:latin typeface="微软雅黑" panose="020B0503020204020204" pitchFamily="34" charset="-122"/>
                <a:ea typeface="微软雅黑" panose="020B0503020204020204" pitchFamily="34" charset="-122"/>
              </a:rPr>
              <a:t>点</a:t>
            </a:r>
            <a:r>
              <a:rPr lang="zh-CN" altLang="en-US" sz="2000" b="1" dirty="0">
                <a:solidFill>
                  <a:srgbClr val="0000FF"/>
                </a:solidFill>
                <a:latin typeface="微软雅黑" panose="020B0503020204020204" pitchFamily="34" charset="-122"/>
                <a:ea typeface="微软雅黑" panose="020B0503020204020204" pitchFamily="34" charset="-122"/>
              </a:rPr>
              <a:t>协调功能 </a:t>
            </a:r>
            <a:r>
              <a:rPr lang="en-US" altLang="zh-CN" sz="2000" b="1" dirty="0">
                <a:solidFill>
                  <a:srgbClr val="0000FF"/>
                </a:solidFill>
                <a:latin typeface="微软雅黑" panose="020B0503020204020204" pitchFamily="34" charset="-122"/>
                <a:ea typeface="微软雅黑" panose="020B0503020204020204" pitchFamily="34" charset="-122"/>
              </a:rPr>
              <a:t>PCF</a:t>
            </a:r>
            <a:endParaRPr lang="en-US" altLang="zh-CN" sz="2000" b="1" dirty="0">
              <a:solidFill>
                <a:srgbClr val="0000FF"/>
              </a:solidFill>
              <a:latin typeface="微软雅黑" panose="020B0503020204020204" pitchFamily="34" charset="-122"/>
              <a:ea typeface="微软雅黑" panose="020B0503020204020204" pitchFamily="34" charset="-122"/>
            </a:endParaRPr>
          </a:p>
          <a:p>
            <a:r>
              <a:rPr lang="zh-CN" altLang="en-US" sz="2000" b="1" dirty="0" smtClean="0">
                <a:solidFill>
                  <a:srgbClr val="0000FF"/>
                </a:solidFill>
                <a:latin typeface="微软雅黑" panose="020B0503020204020204" pitchFamily="34" charset="-122"/>
                <a:ea typeface="微软雅黑" panose="020B0503020204020204" pitchFamily="34" charset="-122"/>
              </a:rPr>
              <a:t> </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anose="020B0503020204020204" pitchFamily="34" charset="-122"/>
                <a:ea typeface="微软雅黑" panose="020B0503020204020204" pitchFamily="34" charset="-122"/>
              </a:rPr>
              <a:t>P</a:t>
            </a:r>
            <a:r>
              <a:rPr lang="en-US" altLang="zh-CN" sz="1600" b="1" dirty="0" smtClean="0">
                <a:solidFill>
                  <a:srgbClr val="C00000"/>
                </a:solidFill>
                <a:latin typeface="微软雅黑" panose="020B0503020204020204" pitchFamily="34" charset="-122"/>
                <a:ea typeface="微软雅黑" panose="020B0503020204020204" pitchFamily="34" charset="-122"/>
              </a:rPr>
              <a:t>CF </a:t>
            </a:r>
            <a:r>
              <a:rPr lang="zh-CN" altLang="en-US" sz="1600" b="1" dirty="0">
                <a:solidFill>
                  <a:srgbClr val="C00000"/>
                </a:solidFill>
                <a:latin typeface="微软雅黑" panose="020B0503020204020204" pitchFamily="34" charset="-122"/>
                <a:ea typeface="微软雅黑" panose="020B0503020204020204" pitchFamily="34" charset="-122"/>
              </a:rPr>
              <a:t>子层</a:t>
            </a:r>
            <a:r>
              <a:rPr lang="zh-CN" altLang="en-US" sz="1600" b="1" dirty="0" smtClean="0">
                <a:solidFill>
                  <a:srgbClr val="C00000"/>
                </a:solidFill>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可选。使用</a:t>
            </a:r>
            <a:r>
              <a:rPr lang="zh-CN" altLang="en-US" sz="1600" b="1" dirty="0">
                <a:latin typeface="微软雅黑" panose="020B0503020204020204" pitchFamily="34" charset="-122"/>
                <a:ea typeface="微软雅黑" panose="020B0503020204020204" pitchFamily="34" charset="-122"/>
              </a:rPr>
              <a:t>集中控制的接入算法，用类似于探询的方法把发送数据权轮流交给各个</a:t>
            </a:r>
            <a:r>
              <a:rPr lang="zh-CN" altLang="en-US" sz="1600" b="1" dirty="0" smtClean="0">
                <a:latin typeface="微软雅黑" panose="020B0503020204020204" pitchFamily="34" charset="-122"/>
                <a:ea typeface="微软雅黑" panose="020B0503020204020204" pitchFamily="34" charset="-122"/>
              </a:rPr>
              <a:t>站，从而避免碰撞。</a:t>
            </a:r>
            <a:r>
              <a:rPr lang="zh-CN" altLang="en-US" sz="1600" b="1" dirty="0">
                <a:latin typeface="微软雅黑" panose="020B0503020204020204" pitchFamily="34" charset="-122"/>
                <a:ea typeface="微软雅黑" panose="020B0503020204020204" pitchFamily="34" charset="-122"/>
              </a:rPr>
              <a:t>自组</a:t>
            </a:r>
            <a:r>
              <a:rPr lang="zh-CN" altLang="en-US" sz="1600" b="1" dirty="0" smtClean="0">
                <a:latin typeface="微软雅黑" panose="020B0503020204020204" pitchFamily="34" charset="-122"/>
                <a:ea typeface="微软雅黑" panose="020B0503020204020204" pitchFamily="34" charset="-122"/>
              </a:rPr>
              <a:t>网络没有 </a:t>
            </a:r>
            <a:r>
              <a:rPr lang="en-US" altLang="zh-CN" sz="1600" b="1" dirty="0">
                <a:latin typeface="微软雅黑" panose="020B0503020204020204" pitchFamily="34" charset="-122"/>
                <a:ea typeface="微软雅黑" panose="020B0503020204020204" pitchFamily="34" charset="-122"/>
              </a:rPr>
              <a:t>PCF </a:t>
            </a:r>
            <a:r>
              <a:rPr lang="zh-CN" altLang="en-US" sz="1600" b="1" dirty="0">
                <a:latin typeface="微软雅黑" panose="020B0503020204020204" pitchFamily="34" charset="-122"/>
                <a:ea typeface="微软雅黑" panose="020B0503020204020204" pitchFamily="34" charset="-122"/>
              </a:rPr>
              <a:t>子层</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a:lnSpc>
                <a:spcPts val="2000"/>
              </a:lnSpc>
            </a:pPr>
            <a:r>
              <a:rPr lang="zh-CN" altLang="en-US" sz="1600" b="1" dirty="0" smtClean="0">
                <a:latin typeface="微软雅黑" panose="020B0503020204020204" pitchFamily="34" charset="-122"/>
                <a:ea typeface="微软雅黑" panose="020B0503020204020204" pitchFamily="34" charset="-122"/>
              </a:rPr>
              <a:t>对时间</a:t>
            </a:r>
            <a:r>
              <a:rPr lang="zh-CN" altLang="en-US" sz="1600" b="1" dirty="0">
                <a:latin typeface="微软雅黑" panose="020B0503020204020204" pitchFamily="34" charset="-122"/>
                <a:ea typeface="微软雅黑" panose="020B0503020204020204" pitchFamily="34" charset="-122"/>
              </a:rPr>
              <a:t>敏感的业务，如分组话音</a:t>
            </a:r>
            <a:r>
              <a:rPr lang="zh-CN" altLang="en-US" sz="1600" b="1" dirty="0" smtClean="0">
                <a:latin typeface="微软雅黑" panose="020B0503020204020204" pitchFamily="34" charset="-122"/>
                <a:ea typeface="微软雅黑" panose="020B0503020204020204" pitchFamily="34" charset="-122"/>
              </a:rPr>
              <a:t>，应</a:t>
            </a:r>
            <a:r>
              <a:rPr lang="zh-CN" altLang="en-US" sz="1600" b="1" dirty="0">
                <a:latin typeface="微软雅黑" panose="020B0503020204020204" pitchFamily="34" charset="-122"/>
                <a:ea typeface="微软雅黑" panose="020B0503020204020204" pitchFamily="34" charset="-122"/>
              </a:rPr>
              <a:t>使用提供无争用服务</a:t>
            </a:r>
            <a:r>
              <a:rPr lang="zh-CN" altLang="en-US" sz="1600" b="1" dirty="0" smtClean="0">
                <a:latin typeface="微软雅黑" panose="020B0503020204020204" pitchFamily="34" charset="-122"/>
                <a:ea typeface="微软雅黑" panose="020B0503020204020204" pitchFamily="34" charset="-122"/>
              </a:rPr>
              <a:t>的 </a:t>
            </a:r>
            <a:r>
              <a:rPr lang="en-US" altLang="zh-CN" sz="1600" b="1" dirty="0" smtClean="0">
                <a:latin typeface="微软雅黑" panose="020B0503020204020204" pitchFamily="34" charset="-122"/>
                <a:ea typeface="微软雅黑" panose="020B0503020204020204" pitchFamily="34" charset="-122"/>
              </a:rPr>
              <a:t>PCF</a:t>
            </a:r>
            <a:r>
              <a:rPr lang="zh-CN" altLang="en-US" sz="1600" b="1" dirty="0">
                <a:latin typeface="微软雅黑" panose="020B0503020204020204" pitchFamily="34" charset="-122"/>
                <a:ea typeface="微软雅黑" panose="020B0503020204020204" pitchFamily="34" charset="-122"/>
              </a:rPr>
              <a:t>。</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anose="020B0503020204020204" pitchFamily="34" charset="-122"/>
                  <a:ea typeface="微软雅黑" panose="020B0503020204020204" pitchFamily="34" charset="-122"/>
                </a:defRPr>
              </a:lvl1pPr>
            </a:lstStyle>
            <a:p>
              <a:pPr algn="ctr"/>
              <a:r>
                <a:rPr lang="en-US" altLang="zh-CN" sz="1400" dirty="0" smtClean="0"/>
                <a:t>MAC  </a:t>
              </a:r>
              <a:r>
                <a:rPr lang="zh-CN" altLang="en-US" sz="1400" dirty="0"/>
                <a:t>层</a:t>
              </a:r>
              <a:endParaRPr lang="zh-CN" altLang="en-US" sz="1400" dirty="0"/>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endParaRPr kumimoji="1" lang="zh-CN" altLang="en-US" sz="1600" b="1" dirty="0">
                <a:solidFill>
                  <a:srgbClr val="CC00CC"/>
                </a:solidFill>
                <a:latin typeface="微软雅黑" panose="020B0503020204020204" pitchFamily="34" charset="-122"/>
                <a:ea typeface="微软雅黑" panose="020B0503020204020204" pitchFamily="34" charset="-122"/>
              </a:endParaRP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endParaRPr kumimoji="1" lang="zh-CN" altLang="en-US" sz="16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endParaRPr kumimoji="1"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a:latin typeface="微软雅黑" panose="020B0503020204020204" pitchFamily="34" charset="-122"/>
                  <a:ea typeface="微软雅黑" panose="020B0503020204020204" pitchFamily="34" charset="-122"/>
                </a:rPr>
                <a:t>(CSMA/CA)</a:t>
              </a:r>
              <a:endParaRPr kumimoji="1" lang="en-US" altLang="zh-CN" sz="1600" b="1" dirty="0">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endParaRPr kumimoji="1" lang="en-US" altLang="zh-CN" sz="1600" b="1" dirty="0">
                <a:solidFill>
                  <a:schemeClr val="bg1"/>
                </a:solidFill>
                <a:latin typeface="微软雅黑" panose="020B0503020204020204" pitchFamily="34" charset="-122"/>
                <a:ea typeface="微软雅黑" panose="020B0503020204020204" pitchFamily="34" charset="-122"/>
              </a:endParaRP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endParaRPr kumimoji="1" lang="zh-CN" altLang="en-US" sz="1600" b="1" dirty="0">
                <a:latin typeface="微软雅黑" panose="020B0503020204020204" pitchFamily="34" charset="-122"/>
                <a:ea typeface="微软雅黑" panose="020B0503020204020204" pitchFamily="34" charset="-122"/>
              </a:endParaRP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p:cNvSpPr/>
          <p:nvPr/>
        </p:nvSpPr>
        <p:spPr>
          <a:xfrm>
            <a:off x="4037870" y="1269096"/>
            <a:ext cx="3985253" cy="2899781"/>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矩形 127"/>
          <p:cNvSpPr/>
          <p:nvPr/>
        </p:nvSpPr>
        <p:spPr>
          <a:xfrm>
            <a:off x="432619" y="2475296"/>
            <a:ext cx="3417939" cy="202792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矩形 126"/>
          <p:cNvSpPr/>
          <p:nvPr/>
        </p:nvSpPr>
        <p:spPr>
          <a:xfrm>
            <a:off x="432619" y="1018031"/>
            <a:ext cx="3417939" cy="132765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17853" y="61792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093"/>
            <a:ext cx="281519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CSMA/CA </a:t>
            </a:r>
            <a:r>
              <a:rPr lang="zh-CN" altLang="en-US" sz="2000" b="1" dirty="0" smtClean="0">
                <a:latin typeface="微软雅黑" panose="020B0503020204020204" pitchFamily="34" charset="-122"/>
                <a:ea typeface="微软雅黑" panose="020B0503020204020204" pitchFamily="34" charset="-122"/>
              </a:rPr>
              <a:t>协议</a:t>
            </a:r>
            <a:r>
              <a:rPr lang="zh-CN" altLang="en-US" sz="2000" b="1" dirty="0">
                <a:latin typeface="微软雅黑" panose="020B0503020204020204" pitchFamily="34" charset="-122"/>
                <a:ea typeface="微软雅黑" panose="020B0503020204020204" pitchFamily="34" charset="-122"/>
              </a:rPr>
              <a:t>的要点</a:t>
            </a:r>
            <a:endParaRPr lang="en-US" altLang="zh-CN" sz="2000" b="1" dirty="0">
              <a:latin typeface="微软雅黑" panose="020B0503020204020204" pitchFamily="34" charset="-122"/>
              <a:ea typeface="微软雅黑" panose="020B0503020204020204" pitchFamily="34" charset="-122"/>
            </a:endParaRPr>
          </a:p>
        </p:txBody>
      </p:sp>
      <p:sp>
        <p:nvSpPr>
          <p:cNvPr id="10" name="矩形 9"/>
          <p:cNvSpPr/>
          <p:nvPr/>
        </p:nvSpPr>
        <p:spPr>
          <a:xfrm>
            <a:off x="381719" y="100112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1" name="矩形 10"/>
          <p:cNvSpPr/>
          <p:nvPr/>
        </p:nvSpPr>
        <p:spPr>
          <a:xfrm>
            <a:off x="374893" y="4067591"/>
            <a:ext cx="458780" cy="461665"/>
          </a:xfrm>
          <a:prstGeom prst="rect">
            <a:avLst/>
          </a:prstGeom>
        </p:spPr>
        <p:txBody>
          <a:bodyPr wrap="none">
            <a:spAutoFit/>
          </a:bodyPr>
          <a:lstStyle/>
          <a:p>
            <a:r>
              <a:rPr lang="zh-CN" altLang="en-US" sz="2400" b="1" dirty="0" smtClean="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2" name="矩形 11"/>
          <p:cNvSpPr/>
          <p:nvPr/>
        </p:nvSpPr>
        <p:spPr>
          <a:xfrm>
            <a:off x="4030241" y="1218431"/>
            <a:ext cx="458780" cy="461665"/>
          </a:xfrm>
          <a:prstGeom prst="rect">
            <a:avLst/>
          </a:prstGeom>
        </p:spPr>
        <p:txBody>
          <a:bodyPr wrap="none">
            <a:spAutoFit/>
          </a:bodyPr>
          <a:lstStyle/>
          <a:p>
            <a:r>
              <a:rPr lang="zh-CN" altLang="en-US" sz="2400" b="1" dirty="0" smtClean="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grpSp>
        <p:nvGrpSpPr>
          <p:cNvPr id="126" name="组合 125"/>
          <p:cNvGrpSpPr/>
          <p:nvPr/>
        </p:nvGrpSpPr>
        <p:grpSpPr>
          <a:xfrm>
            <a:off x="864046" y="1093509"/>
            <a:ext cx="6748962" cy="3349015"/>
            <a:chOff x="814885" y="1142670"/>
            <a:chExt cx="6748962" cy="3349015"/>
          </a:xfrm>
        </p:grpSpPr>
        <p:sp>
          <p:nvSpPr>
            <p:cNvPr id="5" name="矩形 4"/>
            <p:cNvSpPr/>
            <p:nvPr/>
          </p:nvSpPr>
          <p:spPr>
            <a:xfrm>
              <a:off x="1116205" y="1142670"/>
              <a:ext cx="2361518" cy="5344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rPr>
                <a:t>监听</a:t>
              </a:r>
              <a:r>
                <a:rPr lang="zh-CN" altLang="en-US" sz="1400" b="1" dirty="0">
                  <a:solidFill>
                    <a:schemeClr val="tx1"/>
                  </a:solidFill>
                  <a:latin typeface="微软雅黑" panose="020B0503020204020204" pitchFamily="34" charset="-122"/>
                  <a:ea typeface="微软雅黑" panose="020B0503020204020204" pitchFamily="34" charset="-122"/>
                </a:rPr>
                <a:t>信道</a:t>
              </a:r>
              <a:r>
                <a:rPr lang="zh-CN" altLang="en-US" sz="1400" b="1" dirty="0" smtClean="0">
                  <a:solidFill>
                    <a:schemeClr val="tx1"/>
                  </a:solidFill>
                  <a:latin typeface="微软雅黑" panose="020B0503020204020204" pitchFamily="34" charset="-122"/>
                  <a:ea typeface="微软雅黑" panose="020B0503020204020204" pitchFamily="34" charset="-122"/>
                </a:rPr>
                <a:t>。检测信道</a:t>
              </a:r>
              <a:r>
                <a:rPr lang="zh-CN" altLang="en-US" sz="1400" b="1" dirty="0">
                  <a:solidFill>
                    <a:schemeClr val="tx1"/>
                  </a:solidFill>
                  <a:latin typeface="微软雅黑" panose="020B0503020204020204" pitchFamily="34" charset="-122"/>
                  <a:ea typeface="微软雅黑" panose="020B0503020204020204" pitchFamily="34" charset="-122"/>
                </a:rPr>
                <a:t>在</a:t>
              </a:r>
              <a:r>
                <a:rPr lang="zh-CN" altLang="en-US" sz="1400" b="1" dirty="0" smtClean="0">
                  <a:solidFill>
                    <a:schemeClr val="tx1"/>
                  </a:solidFill>
                  <a:latin typeface="微软雅黑" panose="020B0503020204020204" pitchFamily="34" charset="-122"/>
                  <a:ea typeface="微软雅黑" panose="020B0503020204020204" pitchFamily="34" charset="-122"/>
                </a:rPr>
                <a:t>时间间隔 </a:t>
              </a:r>
              <a:r>
                <a:rPr lang="en-US" altLang="zh-CN" sz="1400" b="1" dirty="0" smtClean="0">
                  <a:solidFill>
                    <a:schemeClr val="tx1"/>
                  </a:solidFill>
                  <a:latin typeface="微软雅黑" panose="020B0503020204020204" pitchFamily="34" charset="-122"/>
                  <a:ea typeface="微软雅黑" panose="020B0503020204020204" pitchFamily="34" charset="-122"/>
                </a:rPr>
                <a:t>DIFS </a:t>
              </a:r>
              <a:r>
                <a:rPr lang="zh-CN" altLang="en-US" sz="1400" b="1" dirty="0" smtClean="0">
                  <a:solidFill>
                    <a:schemeClr val="tx1"/>
                  </a:solidFill>
                  <a:latin typeface="微软雅黑" panose="020B0503020204020204" pitchFamily="34" charset="-122"/>
                  <a:ea typeface="微软雅黑" panose="020B0503020204020204" pitchFamily="34" charset="-122"/>
                </a:rPr>
                <a:t>内是否空闲。</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6" name="菱形 5"/>
            <p:cNvSpPr/>
            <p:nvPr/>
          </p:nvSpPr>
          <p:spPr>
            <a:xfrm>
              <a:off x="1190835" y="18861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rPr>
                <a:t>空闲？</a:t>
              </a:r>
              <a:endParaRPr lang="zh-CN" altLang="en-US" sz="1400" dirty="0"/>
            </a:p>
          </p:txBody>
        </p:sp>
        <p:sp>
          <p:nvSpPr>
            <p:cNvPr id="7" name="矩形 6"/>
            <p:cNvSpPr/>
            <p:nvPr/>
          </p:nvSpPr>
          <p:spPr>
            <a:xfrm>
              <a:off x="1116205" y="2585058"/>
              <a:ext cx="2361518" cy="561086"/>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rPr>
                <a:t>选择</a:t>
              </a:r>
              <a:r>
                <a:rPr lang="zh-CN" altLang="en-US" sz="1400" b="1" dirty="0">
                  <a:solidFill>
                    <a:schemeClr val="tx1"/>
                  </a:solidFill>
                  <a:latin typeface="微软雅黑" panose="020B0503020204020204" pitchFamily="34" charset="-122"/>
                  <a:ea typeface="微软雅黑" panose="020B0503020204020204" pitchFamily="34" charset="-122"/>
                </a:rPr>
                <a:t>一随机数</a:t>
              </a:r>
              <a:r>
                <a:rPr lang="zh-CN" altLang="en-US" sz="1400" b="1" dirty="0" smtClean="0">
                  <a:solidFill>
                    <a:schemeClr val="tx1"/>
                  </a:solidFill>
                  <a:latin typeface="微软雅黑" panose="020B0503020204020204" pitchFamily="34" charset="-122"/>
                  <a:ea typeface="微软雅黑" panose="020B0503020204020204" pitchFamily="34" charset="-122"/>
                </a:rPr>
                <a:t>，</a:t>
              </a:r>
              <a:endParaRPr lang="en-US" altLang="zh-CN" sz="1400" b="1" dirty="0" smtClean="0">
                <a:solidFill>
                  <a:schemeClr val="tx1"/>
                </a:solidFill>
                <a:latin typeface="微软雅黑" panose="020B0503020204020204" pitchFamily="34" charset="-122"/>
                <a:ea typeface="微软雅黑" panose="020B0503020204020204" pitchFamily="34" charset="-122"/>
              </a:endParaRPr>
            </a:p>
            <a:p>
              <a:pPr algn="ctr"/>
              <a:r>
                <a:rPr lang="zh-CN" altLang="en-US" sz="1400" b="1" dirty="0" smtClean="0">
                  <a:solidFill>
                    <a:schemeClr val="tx1"/>
                  </a:solidFill>
                  <a:latin typeface="微软雅黑" panose="020B0503020204020204" pitchFamily="34" charset="-122"/>
                  <a:ea typeface="微软雅黑" panose="020B0503020204020204" pitchFamily="34" charset="-122"/>
                </a:rPr>
                <a:t>设置</a:t>
              </a:r>
              <a:r>
                <a:rPr lang="zh-CN" altLang="en-US" sz="1400" b="1" dirty="0">
                  <a:solidFill>
                    <a:schemeClr val="tx1"/>
                  </a:solidFill>
                  <a:latin typeface="微软雅黑" panose="020B0503020204020204" pitchFamily="34" charset="-122"/>
                  <a:ea typeface="微软雅黑" panose="020B0503020204020204" pitchFamily="34" charset="-122"/>
                </a:rPr>
                <a:t>退避计时器</a:t>
              </a:r>
              <a:r>
                <a:rPr lang="zh-CN" altLang="en-US" sz="1400" b="1" dirty="0" smtClean="0">
                  <a:solidFill>
                    <a:schemeClr val="tx1"/>
                  </a:solidFill>
                  <a:latin typeface="微软雅黑" panose="020B0503020204020204" pitchFamily="34" charset="-122"/>
                  <a:ea typeface="微软雅黑" panose="020B0503020204020204" pitchFamily="34" charset="-122"/>
                </a:rPr>
                <a:t>。</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8" name="矩形 7"/>
            <p:cNvSpPr/>
            <p:nvPr/>
          </p:nvSpPr>
          <p:spPr>
            <a:xfrm>
              <a:off x="5351589" y="1455977"/>
              <a:ext cx="2212258" cy="5406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rPr>
                <a:t>等待确认帧。</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14" name="矩形 13"/>
            <p:cNvSpPr/>
            <p:nvPr/>
          </p:nvSpPr>
          <p:spPr>
            <a:xfrm>
              <a:off x="1116205" y="4112117"/>
              <a:ext cx="2361518" cy="37956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发送</a:t>
              </a:r>
              <a:r>
                <a:rPr lang="zh-CN" altLang="en-US" sz="1400" b="1" dirty="0" smtClean="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数据帧</a:t>
              </a:r>
              <a:r>
                <a:rPr lang="zh-CN" altLang="en-US" sz="1400" b="1" dirty="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15" name="菱形 14"/>
            <p:cNvSpPr/>
            <p:nvPr/>
          </p:nvSpPr>
          <p:spPr>
            <a:xfrm>
              <a:off x="1190835" y="34279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时间减到零？</a:t>
              </a:r>
              <a:endParaRPr lang="zh-CN" altLang="en-US" sz="1400" dirty="0"/>
            </a:p>
          </p:txBody>
        </p:sp>
        <p:cxnSp>
          <p:nvCxnSpPr>
            <p:cNvPr id="17" name="直接箭头连接符 16"/>
            <p:cNvCxnSpPr>
              <a:stCxn id="5" idx="2"/>
              <a:endCxn id="6" idx="0"/>
            </p:cNvCxnSpPr>
            <p:nvPr/>
          </p:nvCxnSpPr>
          <p:spPr>
            <a:xfrm>
              <a:off x="2296964" y="1677164"/>
              <a:ext cx="0" cy="20898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18" name="直接箭头连接符 17"/>
            <p:cNvCxnSpPr>
              <a:stCxn id="6" idx="2"/>
              <a:endCxn id="7" idx="0"/>
            </p:cNvCxnSpPr>
            <p:nvPr/>
          </p:nvCxnSpPr>
          <p:spPr>
            <a:xfrm>
              <a:off x="2296964" y="2336744"/>
              <a:ext cx="0" cy="24831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1" name="直接箭头连接符 20"/>
            <p:cNvCxnSpPr>
              <a:stCxn id="7" idx="2"/>
              <a:endCxn id="15" idx="0"/>
            </p:cNvCxnSpPr>
            <p:nvPr/>
          </p:nvCxnSpPr>
          <p:spPr>
            <a:xfrm>
              <a:off x="2296964" y="3146144"/>
              <a:ext cx="0" cy="28180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4" name="直接箭头连接符 23"/>
            <p:cNvCxnSpPr>
              <a:stCxn id="15" idx="2"/>
              <a:endCxn id="14" idx="0"/>
            </p:cNvCxnSpPr>
            <p:nvPr/>
          </p:nvCxnSpPr>
          <p:spPr>
            <a:xfrm>
              <a:off x="2296964" y="3878544"/>
              <a:ext cx="0" cy="233573"/>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sp>
          <p:nvSpPr>
            <p:cNvPr id="27" name="菱形 26"/>
            <p:cNvSpPr/>
            <p:nvPr/>
          </p:nvSpPr>
          <p:spPr>
            <a:xfrm>
              <a:off x="5351589" y="2284313"/>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收到确认帧？</a:t>
              </a:r>
              <a:endParaRPr lang="zh-CN" altLang="en-US" sz="1400" dirty="0"/>
            </a:p>
          </p:txBody>
        </p:sp>
        <p:sp>
          <p:nvSpPr>
            <p:cNvPr id="28" name="菱形 27"/>
            <p:cNvSpPr/>
            <p:nvPr/>
          </p:nvSpPr>
          <p:spPr>
            <a:xfrm>
              <a:off x="5351589" y="2976287"/>
              <a:ext cx="2212258" cy="501786"/>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还有后续帧要发送？</a:t>
              </a:r>
              <a:endParaRPr lang="zh-CN" altLang="en-US" sz="1400" dirty="0"/>
            </a:p>
          </p:txBody>
        </p:sp>
        <p:sp>
          <p:nvSpPr>
            <p:cNvPr id="30" name="矩形 29"/>
            <p:cNvSpPr/>
            <p:nvPr/>
          </p:nvSpPr>
          <p:spPr>
            <a:xfrm>
              <a:off x="5920972" y="3741858"/>
              <a:ext cx="1073492" cy="317473"/>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结束</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cxnSp>
          <p:nvCxnSpPr>
            <p:cNvPr id="43" name="直接箭头连接符 42"/>
            <p:cNvCxnSpPr>
              <a:stCxn id="8" idx="2"/>
              <a:endCxn id="27" idx="0"/>
            </p:cNvCxnSpPr>
            <p:nvPr/>
          </p:nvCxnSpPr>
          <p:spPr>
            <a:xfrm>
              <a:off x="6457718" y="1996671"/>
              <a:ext cx="0" cy="287642"/>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27" idx="2"/>
              <a:endCxn id="28" idx="0"/>
            </p:cNvCxnSpPr>
            <p:nvPr/>
          </p:nvCxnSpPr>
          <p:spPr>
            <a:xfrm>
              <a:off x="6457718" y="2734907"/>
              <a:ext cx="0" cy="24138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50" name="肘形连接符 49"/>
            <p:cNvCxnSpPr>
              <a:stCxn id="14" idx="2"/>
              <a:endCxn id="8" idx="0"/>
            </p:cNvCxnSpPr>
            <p:nvPr/>
          </p:nvCxnSpPr>
          <p:spPr>
            <a:xfrm rot="5400000" flipH="1" flipV="1">
              <a:off x="2859487" y="893454"/>
              <a:ext cx="3035708" cy="4160754"/>
            </a:xfrm>
            <a:prstGeom prst="bentConnector5">
              <a:avLst>
                <a:gd name="adj1" fmla="val -7530"/>
                <a:gd name="adj2" fmla="val 139040"/>
                <a:gd name="adj3" fmla="val 107530"/>
              </a:avLst>
            </a:prstGeom>
            <a:ln w="12700">
              <a:tailEnd type="triangle"/>
            </a:ln>
          </p:spPr>
          <p:style>
            <a:lnRef idx="1">
              <a:schemeClr val="dk1"/>
            </a:lnRef>
            <a:fillRef idx="0">
              <a:schemeClr val="dk1"/>
            </a:fillRef>
            <a:effectRef idx="0">
              <a:schemeClr val="dk1"/>
            </a:effectRef>
            <a:fontRef idx="minor">
              <a:schemeClr val="tx1"/>
            </a:fontRef>
          </p:style>
        </p:cxnSp>
        <p:cxnSp>
          <p:nvCxnSpPr>
            <p:cNvPr id="55" name="肘形连接符 54"/>
            <p:cNvCxnSpPr>
              <a:stCxn id="28" idx="1"/>
            </p:cNvCxnSpPr>
            <p:nvPr/>
          </p:nvCxnSpPr>
          <p:spPr>
            <a:xfrm rot="10800000">
              <a:off x="2335499" y="2455540"/>
              <a:ext cx="3016091" cy="771640"/>
            </a:xfrm>
            <a:prstGeom prst="bentConnector3">
              <a:avLst>
                <a:gd name="adj1" fmla="val 50000"/>
              </a:avLst>
            </a:prstGeom>
            <a:ln w="12700">
              <a:tailEnd type="triangle"/>
            </a:ln>
          </p:spPr>
          <p:style>
            <a:lnRef idx="1">
              <a:schemeClr val="dk1"/>
            </a:lnRef>
            <a:fillRef idx="0">
              <a:schemeClr val="dk1"/>
            </a:fillRef>
            <a:effectRef idx="0">
              <a:schemeClr val="dk1"/>
            </a:effectRef>
            <a:fontRef idx="minor">
              <a:schemeClr val="tx1"/>
            </a:fontRef>
          </p:style>
        </p:cxnSp>
        <p:sp>
          <p:nvSpPr>
            <p:cNvPr id="66" name="矩形 65"/>
            <p:cNvSpPr/>
            <p:nvPr/>
          </p:nvSpPr>
          <p:spPr>
            <a:xfrm>
              <a:off x="4090216" y="2239263"/>
              <a:ext cx="1025376" cy="540694"/>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准备重传。</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cxnSp>
          <p:nvCxnSpPr>
            <p:cNvPr id="72" name="直接箭头连接符 71"/>
            <p:cNvCxnSpPr>
              <a:stCxn id="27" idx="1"/>
              <a:endCxn id="66" idx="3"/>
            </p:cNvCxnSpPr>
            <p:nvPr/>
          </p:nvCxnSpPr>
          <p:spPr>
            <a:xfrm flipH="1">
              <a:off x="5115592" y="2509610"/>
              <a:ext cx="235997" cy="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76" name="直接箭头连接符 75"/>
            <p:cNvCxnSpPr>
              <a:stCxn id="28" idx="2"/>
              <a:endCxn id="30" idx="0"/>
            </p:cNvCxnSpPr>
            <p:nvPr/>
          </p:nvCxnSpPr>
          <p:spPr>
            <a:xfrm>
              <a:off x="6457718" y="3478073"/>
              <a:ext cx="0" cy="263785"/>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85" name="直接箭头连接符 84"/>
            <p:cNvCxnSpPr>
              <a:stCxn id="66" idx="2"/>
            </p:cNvCxnSpPr>
            <p:nvPr/>
          </p:nvCxnSpPr>
          <p:spPr>
            <a:xfrm>
              <a:off x="4602904" y="2779957"/>
              <a:ext cx="0" cy="44722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94" name="肘形连接符 93"/>
            <p:cNvCxnSpPr>
              <a:stCxn id="15" idx="1"/>
            </p:cNvCxnSpPr>
            <p:nvPr/>
          </p:nvCxnSpPr>
          <p:spPr>
            <a:xfrm rot="10800000" flipH="1">
              <a:off x="1190835" y="3267383"/>
              <a:ext cx="1106128" cy="385864"/>
            </a:xfrm>
            <a:prstGeom prst="bentConnector3">
              <a:avLst>
                <a:gd name="adj1" fmla="val -20667"/>
              </a:avLst>
            </a:prstGeom>
            <a:ln w="12700">
              <a:tailEnd type="triangle"/>
            </a:ln>
          </p:spPr>
          <p:style>
            <a:lnRef idx="1">
              <a:schemeClr val="dk1"/>
            </a:lnRef>
            <a:fillRef idx="0">
              <a:schemeClr val="dk1"/>
            </a:fillRef>
            <a:effectRef idx="0">
              <a:schemeClr val="dk1"/>
            </a:effectRef>
            <a:fontRef idx="minor">
              <a:schemeClr val="tx1"/>
            </a:fontRef>
          </p:style>
        </p:cxnSp>
        <p:sp>
          <p:nvSpPr>
            <p:cNvPr id="108" name="矩形 107"/>
            <p:cNvSpPr/>
            <p:nvPr/>
          </p:nvSpPr>
          <p:spPr>
            <a:xfrm>
              <a:off x="6450857" y="2707795"/>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09" name="矩形 108"/>
            <p:cNvSpPr/>
            <p:nvPr/>
          </p:nvSpPr>
          <p:spPr>
            <a:xfrm>
              <a:off x="6450857" y="3454972"/>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10" name="矩形 109"/>
            <p:cNvSpPr/>
            <p:nvPr/>
          </p:nvSpPr>
          <p:spPr>
            <a:xfrm>
              <a:off x="814885" y="1870418"/>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cxnSp>
          <p:nvCxnSpPr>
            <p:cNvPr id="112" name="肘形连接符 111"/>
            <p:cNvCxnSpPr>
              <a:stCxn id="6" idx="1"/>
            </p:cNvCxnSpPr>
            <p:nvPr/>
          </p:nvCxnSpPr>
          <p:spPr>
            <a:xfrm rot="10800000" flipH="1" flipV="1">
              <a:off x="1190835" y="2111446"/>
              <a:ext cx="1049546" cy="1883883"/>
            </a:xfrm>
            <a:prstGeom prst="bentConnector4">
              <a:avLst>
                <a:gd name="adj1" fmla="val -53633"/>
                <a:gd name="adj2" fmla="val 99821"/>
              </a:avLst>
            </a:prstGeom>
            <a:ln w="12700">
              <a:tailEnd type="triangle"/>
            </a:ln>
          </p:spPr>
          <p:style>
            <a:lnRef idx="1">
              <a:schemeClr val="dk1"/>
            </a:lnRef>
            <a:fillRef idx="0">
              <a:schemeClr val="dk1"/>
            </a:fillRef>
            <a:effectRef idx="0">
              <a:schemeClr val="dk1"/>
            </a:effectRef>
            <a:fontRef idx="minor">
              <a:schemeClr val="tx1"/>
            </a:fontRef>
          </p:style>
        </p:cxnSp>
        <p:sp>
          <p:nvSpPr>
            <p:cNvPr id="122" name="矩形 121"/>
            <p:cNvSpPr/>
            <p:nvPr/>
          </p:nvSpPr>
          <p:spPr>
            <a:xfrm>
              <a:off x="984162" y="3405744"/>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3" name="矩形 122"/>
            <p:cNvSpPr/>
            <p:nvPr/>
          </p:nvSpPr>
          <p:spPr>
            <a:xfrm>
              <a:off x="1990765" y="2335408"/>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4" name="矩形 123"/>
            <p:cNvSpPr/>
            <p:nvPr/>
          </p:nvSpPr>
          <p:spPr>
            <a:xfrm>
              <a:off x="5125729" y="2256346"/>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在完成发送后，必须再等待一段很短的时间（继续监听）才能发送下一帧。这段时间的通称是</a:t>
            </a:r>
            <a:r>
              <a:rPr lang="zh-CN" altLang="en-US" sz="2000" b="1" dirty="0">
                <a:solidFill>
                  <a:srgbClr val="C00000"/>
                </a:solidFill>
                <a:latin typeface="微软雅黑" panose="020B0503020204020204" pitchFamily="34" charset="-122"/>
                <a:ea typeface="微软雅黑" panose="020B0503020204020204" pitchFamily="34" charset="-122"/>
              </a:rPr>
              <a:t>帧间间隔 </a:t>
            </a:r>
            <a:r>
              <a:rPr lang="en-US" altLang="zh-CN" sz="2000" b="1" dirty="0">
                <a:solidFill>
                  <a:srgbClr val="C00000"/>
                </a:solidFill>
                <a:latin typeface="微软雅黑" panose="020B0503020204020204" pitchFamily="34" charset="-122"/>
                <a:ea typeface="微软雅黑" panose="020B0503020204020204" pitchFamily="34" charset="-122"/>
              </a:rPr>
              <a:t>IFS </a:t>
            </a:r>
            <a:r>
              <a:rPr lang="en-US" altLang="zh-CN" sz="2000" b="1" dirty="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InterFrame</a:t>
            </a:r>
            <a:r>
              <a:rPr lang="en-US" altLang="zh-CN" sz="2000" b="1" dirty="0">
                <a:latin typeface="微软雅黑" panose="020B0503020204020204" pitchFamily="34" charset="-122"/>
                <a:ea typeface="微软雅黑" panose="020B0503020204020204" pitchFamily="34" charset="-122"/>
              </a:rPr>
              <a:t> Space)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两种常用的帧间</a:t>
            </a:r>
            <a:r>
              <a:rPr lang="zh-CN" altLang="en-US" sz="2000" b="1" dirty="0" smtClean="0">
                <a:latin typeface="微软雅黑" panose="020B0503020204020204" pitchFamily="34" charset="-122"/>
                <a:ea typeface="微软雅黑" panose="020B0503020204020204" pitchFamily="34" charset="-122"/>
              </a:rPr>
              <a:t>间隔</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分布协调功能帧间间隔 </a:t>
            </a:r>
            <a:r>
              <a:rPr lang="en-US" altLang="zh-CN" sz="2000" b="1" dirty="0">
                <a:solidFill>
                  <a:srgbClr val="C00000"/>
                </a:solidFill>
                <a:latin typeface="微软雅黑" panose="020B0503020204020204" pitchFamily="34" charset="-122"/>
                <a:ea typeface="微软雅黑" panose="020B0503020204020204" pitchFamily="34" charset="-122"/>
              </a:rPr>
              <a:t>DIFS</a:t>
            </a:r>
            <a:r>
              <a:rPr lang="zh-CN" altLang="en-US" sz="2000" b="1" dirty="0">
                <a:solidFill>
                  <a:srgbClr val="C00000"/>
                </a:solidFill>
                <a:latin typeface="微软雅黑" panose="020B0503020204020204" pitchFamily="34" charset="-122"/>
                <a:ea typeface="微软雅黑" panose="020B0503020204020204" pitchFamily="34" charset="-122"/>
              </a:rPr>
              <a:t>。</a:t>
            </a:r>
            <a:endParaRPr lang="en-US" altLang="zh-CN" sz="2000" b="1" dirty="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短 </a:t>
            </a:r>
            <a:r>
              <a:rPr lang="en-US" altLang="zh-CN" sz="2000" b="1" dirty="0">
                <a:latin typeface="微软雅黑" panose="020B0503020204020204" pitchFamily="34" charset="-122"/>
                <a:ea typeface="微软雅黑" panose="020B0503020204020204" pitchFamily="34" charset="-122"/>
              </a:rPr>
              <a:t>(Short) </a:t>
            </a:r>
            <a:r>
              <a:rPr lang="zh-CN" altLang="en-US" sz="2000" b="1" dirty="0">
                <a:latin typeface="微软雅黑" panose="020B0503020204020204" pitchFamily="34" charset="-122"/>
                <a:ea typeface="微软雅黑" panose="020B0503020204020204" pitchFamily="34" charset="-122"/>
              </a:rPr>
              <a:t>帧间间隔 </a:t>
            </a:r>
            <a:r>
              <a:rPr lang="en-US" altLang="zh-CN" sz="2000" b="1" dirty="0" smtClean="0">
                <a:solidFill>
                  <a:srgbClr val="C00000"/>
                </a:solidFill>
                <a:latin typeface="微软雅黑" panose="020B0503020204020204" pitchFamily="34" charset="-122"/>
                <a:ea typeface="微软雅黑" panose="020B0503020204020204" pitchFamily="34" charset="-122"/>
              </a:rPr>
              <a:t>SIFS</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a:solidFill>
                <a:srgbClr val="C00000"/>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908874" y="582249"/>
            <a:ext cx="328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smtClean="0">
                <a:solidFill>
                  <a:schemeClr val="bg1"/>
                </a:solidFill>
                <a:latin typeface="微软雅黑" panose="020B0503020204020204" pitchFamily="34" charset="-122"/>
                <a:ea typeface="微软雅黑" panose="020B0503020204020204" pitchFamily="34" charset="-122"/>
              </a:rPr>
              <a:t>时间间隔 </a:t>
            </a:r>
            <a:r>
              <a:rPr lang="en-US" altLang="zh-CN" sz="2000" b="1" dirty="0" smtClean="0">
                <a:solidFill>
                  <a:schemeClr val="bg1"/>
                </a:solidFill>
                <a:latin typeface="微软雅黑" panose="020B0503020204020204" pitchFamily="34" charset="-122"/>
                <a:ea typeface="微软雅黑" panose="020B0503020204020204" pitchFamily="34" charset="-122"/>
              </a:rPr>
              <a:t>DIFS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重要性</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718658" cy="400110"/>
          </a:xfrm>
          <a:prstGeom prst="rect">
            <a:avLst/>
          </a:prstGeom>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SIFS</a:t>
            </a:r>
            <a:endParaRPr lang="zh-CN" altLang="en-US" sz="2000" b="1" dirty="0">
              <a:latin typeface="微软雅黑" panose="020B0503020204020204" pitchFamily="34" charset="-122"/>
              <a:ea typeface="微软雅黑" panose="020B0503020204020204" pitchFamily="34" charset="-122"/>
            </a:endParaRPr>
          </a:p>
        </p:txBody>
      </p:sp>
      <p:sp>
        <p:nvSpPr>
          <p:cNvPr id="68" name="矩形 67"/>
          <p:cNvSpPr/>
          <p:nvPr/>
        </p:nvSpPr>
        <p:spPr>
          <a:xfrm>
            <a:off x="1038242" y="1120172"/>
            <a:ext cx="3433173" cy="954107"/>
          </a:xfrm>
          <a:prstGeom prst="rect">
            <a:avLst/>
          </a:prstGeom>
          <a:solidFill>
            <a:srgbClr val="00FFFF"/>
          </a:solidFill>
          <a:ln>
            <a:solidFill>
              <a:schemeClr val="tx1"/>
            </a:solidFill>
          </a:ln>
          <a:effectLst/>
        </p:spPr>
        <p:txBody>
          <a:bodyPr wrap="square">
            <a:spAutoFit/>
          </a:bodyPr>
          <a:lstStyle/>
          <a:p>
            <a:r>
              <a:rPr lang="zh-CN" altLang="en-US" sz="1400" b="1" dirty="0" smtClean="0">
                <a:latin typeface="微软雅黑" panose="020B0503020204020204" pitchFamily="34" charset="-122"/>
                <a:ea typeface="微软雅黑" panose="020B0503020204020204" pitchFamily="34" charset="-122"/>
              </a:rPr>
              <a:t>是</a:t>
            </a:r>
            <a:r>
              <a:rPr lang="zh-CN" altLang="en-US" sz="1400" b="1" dirty="0">
                <a:latin typeface="微软雅黑" panose="020B0503020204020204" pitchFamily="34" charset="-122"/>
                <a:ea typeface="微软雅黑" panose="020B0503020204020204" pitchFamily="34" charset="-122"/>
              </a:rPr>
              <a:t>最短的帧间间隔，用来</a:t>
            </a:r>
            <a:r>
              <a:rPr lang="zh-CN" altLang="en-US" sz="1400" b="1" dirty="0" smtClean="0">
                <a:latin typeface="微软雅黑" panose="020B0503020204020204" pitchFamily="34" charset="-122"/>
                <a:ea typeface="微软雅黑" panose="020B0503020204020204" pitchFamily="34" charset="-122"/>
              </a:rPr>
              <a:t>分隔属于</a:t>
            </a:r>
            <a:r>
              <a:rPr lang="zh-CN" altLang="en-US" sz="1400" b="1" dirty="0">
                <a:latin typeface="微软雅黑" panose="020B0503020204020204" pitchFamily="34" charset="-122"/>
                <a:ea typeface="微软雅黑" panose="020B0503020204020204" pitchFamily="34" charset="-122"/>
              </a:rPr>
              <a:t>一次对话的各帧</a:t>
            </a:r>
            <a:r>
              <a:rPr lang="zh-CN" altLang="en-US" sz="1400" b="1" dirty="0" smtClean="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r>
              <a:rPr lang="zh-CN" altLang="en-US" sz="1400" b="1" dirty="0" smtClean="0">
                <a:latin typeface="微软雅黑" panose="020B0503020204020204" pitchFamily="34" charset="-122"/>
                <a:ea typeface="微软雅黑" panose="020B0503020204020204" pitchFamily="34" charset="-122"/>
              </a:rPr>
              <a:t>一</a:t>
            </a:r>
            <a:r>
              <a:rPr lang="zh-CN" altLang="en-US" sz="1400" b="1" dirty="0">
                <a:latin typeface="微软雅黑" panose="020B0503020204020204" pitchFamily="34" charset="-122"/>
                <a:ea typeface="微软雅黑" panose="020B0503020204020204" pitchFamily="34" charset="-122"/>
              </a:rPr>
              <a:t>个站应当能够在这段时间内从发送方式切换到接收方式。</a:t>
            </a:r>
            <a:endParaRPr lang="zh-CN" altLang="en-US" sz="1400" b="1" dirty="0">
              <a:latin typeface="微软雅黑" panose="020B0503020204020204" pitchFamily="34" charset="-122"/>
              <a:ea typeface="微软雅黑" panose="020B0503020204020204" pitchFamily="34" charset="-122"/>
            </a:endParaRPr>
          </a:p>
        </p:txBody>
      </p:sp>
      <p:sp>
        <p:nvSpPr>
          <p:cNvPr id="69" name="矩形 68"/>
          <p:cNvSpPr/>
          <p:nvPr/>
        </p:nvSpPr>
        <p:spPr>
          <a:xfrm>
            <a:off x="4697649" y="1120172"/>
            <a:ext cx="3512096" cy="954107"/>
          </a:xfrm>
          <a:prstGeom prst="rect">
            <a:avLst/>
          </a:prstGeom>
          <a:solidFill>
            <a:schemeClr val="bg1"/>
          </a:solidFill>
          <a:ln>
            <a:noFill/>
          </a:ln>
        </p:spPr>
        <p:txBody>
          <a:bodyPr wrap="square">
            <a:spAutoFit/>
          </a:bodyPr>
          <a:lstStyle/>
          <a:p>
            <a:r>
              <a:rPr lang="zh-CN" altLang="en-US" sz="1400" b="1" dirty="0">
                <a:latin typeface="微软雅黑" panose="020B0503020204020204" pitchFamily="34" charset="-122"/>
                <a:ea typeface="微软雅黑" panose="020B0503020204020204" pitchFamily="34" charset="-122"/>
              </a:rPr>
              <a:t>使用 </a:t>
            </a:r>
            <a:r>
              <a:rPr lang="en-US" altLang="zh-CN" sz="1400" b="1" dirty="0">
                <a:latin typeface="微软雅黑" panose="020B0503020204020204" pitchFamily="34" charset="-122"/>
                <a:ea typeface="微软雅黑" panose="020B0503020204020204" pitchFamily="34" charset="-122"/>
              </a:rPr>
              <a:t>SIFS </a:t>
            </a:r>
            <a:r>
              <a:rPr lang="zh-CN" altLang="en-US" sz="1400" b="1" dirty="0">
                <a:latin typeface="微软雅黑" panose="020B0503020204020204" pitchFamily="34" charset="-122"/>
                <a:ea typeface="微软雅黑" panose="020B0503020204020204" pitchFamily="34" charset="-122"/>
              </a:rPr>
              <a:t>的帧类型有：</a:t>
            </a:r>
            <a:r>
              <a:rPr lang="en-US" altLang="zh-CN" sz="1400" b="1" dirty="0">
                <a:latin typeface="微软雅黑" panose="020B0503020204020204" pitchFamily="34" charset="-122"/>
                <a:ea typeface="微软雅黑" panose="020B0503020204020204" pitchFamily="34" charset="-122"/>
              </a:rPr>
              <a:t>ACK </a:t>
            </a:r>
            <a:r>
              <a:rPr lang="zh-CN" altLang="en-US" sz="1400" b="1" dirty="0">
                <a:latin typeface="微软雅黑" panose="020B0503020204020204" pitchFamily="34" charset="-122"/>
                <a:ea typeface="微软雅黑" panose="020B0503020204020204" pitchFamily="34" charset="-122"/>
              </a:rPr>
              <a:t>帧、</a:t>
            </a:r>
            <a:r>
              <a:rPr lang="en-US" altLang="zh-CN" sz="1400" b="1" dirty="0">
                <a:latin typeface="微软雅黑" panose="020B0503020204020204" pitchFamily="34" charset="-122"/>
                <a:ea typeface="微软雅黑" panose="020B0503020204020204" pitchFamily="34" charset="-122"/>
              </a:rPr>
              <a:t>CTS </a:t>
            </a:r>
            <a:r>
              <a:rPr lang="zh-CN" altLang="en-US" sz="1400" b="1" dirty="0">
                <a:latin typeface="微软雅黑" panose="020B0503020204020204" pitchFamily="34" charset="-122"/>
                <a:ea typeface="微软雅黑" panose="020B0503020204020204" pitchFamily="34" charset="-122"/>
              </a:rPr>
              <a:t>帧、由过长的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帧分片后的数据帧，以及所有回答 </a:t>
            </a:r>
            <a:r>
              <a:rPr lang="en-US" altLang="zh-CN" sz="1400" b="1" dirty="0" smtClean="0">
                <a:latin typeface="微软雅黑" panose="020B0503020204020204" pitchFamily="34" charset="-122"/>
                <a:ea typeface="微软雅黑" panose="020B0503020204020204" pitchFamily="34" charset="-122"/>
              </a:rPr>
              <a:t>AP </a:t>
            </a:r>
            <a:r>
              <a:rPr lang="zh-CN" altLang="en-US" sz="1400" b="1" dirty="0" smtClean="0">
                <a:latin typeface="微软雅黑" panose="020B0503020204020204" pitchFamily="34" charset="-122"/>
                <a:ea typeface="微软雅黑" panose="020B0503020204020204" pitchFamily="34" charset="-122"/>
              </a:rPr>
              <a:t>探测</a:t>
            </a:r>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帧和</a:t>
            </a:r>
            <a:r>
              <a:rPr lang="zh-CN" altLang="en-US" sz="1400" b="1" dirty="0">
                <a:latin typeface="微软雅黑" panose="020B0503020204020204" pitchFamily="34" charset="-122"/>
                <a:ea typeface="微软雅黑" panose="020B0503020204020204" pitchFamily="34" charset="-122"/>
              </a:rPr>
              <a:t>在 </a:t>
            </a:r>
            <a:r>
              <a:rPr lang="en-US" altLang="zh-CN" sz="1400" b="1" dirty="0">
                <a:latin typeface="微软雅黑" panose="020B0503020204020204" pitchFamily="34" charset="-122"/>
                <a:ea typeface="微软雅黑" panose="020B0503020204020204" pitchFamily="34" charset="-122"/>
              </a:rPr>
              <a:t>PCF </a:t>
            </a:r>
            <a:r>
              <a:rPr lang="zh-CN" altLang="en-US" sz="1400" b="1" dirty="0">
                <a:latin typeface="微软雅黑" panose="020B0503020204020204" pitchFamily="34" charset="-122"/>
                <a:ea typeface="微软雅黑" panose="020B0503020204020204" pitchFamily="34" charset="-122"/>
              </a:rPr>
              <a:t>方式中接入点 </a:t>
            </a:r>
            <a:r>
              <a:rPr lang="en-US" altLang="zh-CN" sz="1400" b="1" dirty="0">
                <a:latin typeface="微软雅黑" panose="020B0503020204020204" pitchFamily="34" charset="-122"/>
                <a:ea typeface="微软雅黑" panose="020B0503020204020204" pitchFamily="34" charset="-122"/>
              </a:rPr>
              <a:t>AP </a:t>
            </a:r>
            <a:r>
              <a:rPr lang="zh-CN" altLang="en-US" sz="1400" b="1" dirty="0">
                <a:latin typeface="微软雅黑" panose="020B0503020204020204" pitchFamily="34" charset="-122"/>
                <a:ea typeface="微软雅黑" panose="020B0503020204020204" pitchFamily="34" charset="-122"/>
              </a:rPr>
              <a:t>发送出的任何帧。</a:t>
            </a:r>
            <a:endParaRPr lang="zh-CN" altLang="en-US" sz="1400" b="1" dirty="0">
              <a:latin typeface="微软雅黑" panose="020B0503020204020204" pitchFamily="34" charset="-122"/>
              <a:ea typeface="微软雅黑" panose="020B0503020204020204" pitchFamily="34" charset="-122"/>
            </a:endParaRPr>
          </a:p>
        </p:txBody>
      </p:sp>
      <p:grpSp>
        <p:nvGrpSpPr>
          <p:cNvPr id="34" name="组合 33"/>
          <p:cNvGrpSpPr/>
          <p:nvPr/>
        </p:nvGrpSpPr>
        <p:grpSpPr>
          <a:xfrm>
            <a:off x="1716487" y="2233999"/>
            <a:ext cx="5509855" cy="1949958"/>
            <a:chOff x="1716487" y="2181745"/>
            <a:chExt cx="5509855" cy="1949958"/>
          </a:xfrm>
        </p:grpSpPr>
        <p:sp>
          <p:nvSpPr>
            <p:cNvPr id="74" name="Freeform 13"/>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endParaRPr lang="en-US" altLang="zh-CN" sz="1200" b="1" dirty="0">
                <a:solidFill>
                  <a:srgbClr val="CC00FF"/>
                </a:solidFill>
                <a:latin typeface="微软雅黑" panose="020B0503020204020204" pitchFamily="34" charset="-122"/>
                <a:ea typeface="微软雅黑" panose="020B0503020204020204" pitchFamily="34" charset="-122"/>
              </a:endParaRP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endParaRPr lang="en-US" altLang="zh-CN" sz="1200" b="1" dirty="0">
                <a:latin typeface="微软雅黑" panose="020B0503020204020204" pitchFamily="34" charset="-122"/>
                <a:ea typeface="微软雅黑" panose="020B0503020204020204" pitchFamily="34" charset="-122"/>
              </a:endParaRP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653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endParaRPr lang="en-US" altLang="zh-CN" sz="1200" b="1" dirty="0">
                <a:latin typeface="微软雅黑" panose="020B0503020204020204" pitchFamily="34" charset="-122"/>
                <a:ea typeface="微软雅黑" panose="020B0503020204020204" pitchFamily="34" charset="-122"/>
              </a:endParaRP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12" name="Freeform 13"/>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endParaRPr lang="en-US" altLang="zh-CN" sz="1200" b="1" dirty="0">
                  <a:latin typeface="微软雅黑" panose="020B0503020204020204" pitchFamily="34" charset="-122"/>
                  <a:ea typeface="微软雅黑" panose="020B0503020204020204" pitchFamily="34" charset="-122"/>
                </a:endParaRP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endParaRPr lang="en-US" altLang="zh-CN" sz="1200" b="1" dirty="0">
                <a:latin typeface="微软雅黑" panose="020B0503020204020204" pitchFamily="34" charset="-122"/>
                <a:ea typeface="微软雅黑" panose="020B0503020204020204" pitchFamily="34" charset="-122"/>
              </a:endParaRP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endParaRP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endParaRPr lang="en-US" altLang="zh-CN" sz="1200" b="1" baseline="-25000" dirty="0">
                <a:latin typeface="微软雅黑" panose="020B0503020204020204" pitchFamily="34" charset="-122"/>
                <a:ea typeface="微软雅黑" panose="020B0503020204020204" pitchFamily="34" charset="-122"/>
              </a:endParaRP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endParaRP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768352" cy="400110"/>
          </a:xfrm>
          <a:prstGeom prst="rect">
            <a:avLst/>
          </a:prstGeom>
        </p:spPr>
        <p:txBody>
          <a:bodyPr wrap="none">
            <a:spAutoFit/>
          </a:bodyPr>
          <a:lstStyle/>
          <a:p>
            <a:r>
              <a:rPr lang="en-US" altLang="zh-CN" sz="2000" b="1" dirty="0">
                <a:latin typeface="微软雅黑" panose="020B0503020204020204" pitchFamily="34" charset="-122"/>
                <a:ea typeface="微软雅黑" panose="020B0503020204020204" pitchFamily="34" charset="-122"/>
              </a:rPr>
              <a:t>D</a:t>
            </a:r>
            <a:r>
              <a:rPr lang="en-US" altLang="zh-CN" sz="2000" b="1" dirty="0" smtClean="0">
                <a:latin typeface="微软雅黑" panose="020B0503020204020204" pitchFamily="34" charset="-122"/>
                <a:ea typeface="微软雅黑" panose="020B0503020204020204" pitchFamily="34" charset="-122"/>
              </a:rPr>
              <a:t>IFS</a:t>
            </a:r>
            <a:endParaRPr lang="zh-CN" altLang="en-US" sz="2000" b="1" dirty="0">
              <a:latin typeface="微软雅黑" panose="020B0503020204020204" pitchFamily="34" charset="-122"/>
              <a:ea typeface="微软雅黑" panose="020B0503020204020204" pitchFamily="34" charset="-122"/>
            </a:endParaRPr>
          </a:p>
        </p:txBody>
      </p:sp>
      <p:sp>
        <p:nvSpPr>
          <p:cNvPr id="68" name="矩形 67"/>
          <p:cNvSpPr/>
          <p:nvPr/>
        </p:nvSpPr>
        <p:spPr>
          <a:xfrm>
            <a:off x="1306287" y="1120172"/>
            <a:ext cx="6540136" cy="861774"/>
          </a:xfrm>
          <a:prstGeom prst="rect">
            <a:avLst/>
          </a:prstGeom>
          <a:solidFill>
            <a:srgbClr val="00FFFF"/>
          </a:solidFill>
          <a:ln>
            <a:solidFill>
              <a:schemeClr val="tx1"/>
            </a:solidFill>
          </a:ln>
          <a:effectLst/>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比 </a:t>
            </a:r>
            <a:r>
              <a:rPr lang="en-US" altLang="zh-CN" sz="1400" b="1" dirty="0">
                <a:latin typeface="微软雅黑" panose="020B0503020204020204" pitchFamily="34" charset="-122"/>
                <a:ea typeface="微软雅黑" panose="020B0503020204020204" pitchFamily="34" charset="-122"/>
              </a:rPr>
              <a:t>SIFS </a:t>
            </a:r>
            <a:r>
              <a:rPr lang="zh-CN" altLang="en-US" sz="1400" b="1" dirty="0">
                <a:latin typeface="微软雅黑" panose="020B0503020204020204" pitchFamily="34" charset="-122"/>
                <a:ea typeface="微软雅黑" panose="020B0503020204020204" pitchFamily="34" charset="-122"/>
              </a:rPr>
              <a:t>的帧间间隔要长得</a:t>
            </a:r>
            <a:r>
              <a:rPr lang="zh-CN" altLang="en-US" sz="1400" b="1" dirty="0" smtClean="0">
                <a:latin typeface="微软雅黑" panose="020B0503020204020204" pitchFamily="34" charset="-122"/>
                <a:ea typeface="微软雅黑" panose="020B0503020204020204" pitchFamily="34" charset="-122"/>
              </a:rPr>
              <a:t>多。在 </a:t>
            </a:r>
            <a:r>
              <a:rPr lang="en-US" altLang="zh-CN" sz="1400" b="1" dirty="0">
                <a:latin typeface="微软雅黑" panose="020B0503020204020204" pitchFamily="34" charset="-122"/>
                <a:ea typeface="微软雅黑" panose="020B0503020204020204" pitchFamily="34" charset="-122"/>
              </a:rPr>
              <a:t>DCF </a:t>
            </a:r>
            <a:r>
              <a:rPr lang="zh-CN" altLang="en-US" sz="1400" b="1" dirty="0">
                <a:latin typeface="微软雅黑" panose="020B0503020204020204" pitchFamily="34" charset="-122"/>
                <a:ea typeface="微软雅黑" panose="020B0503020204020204" pitchFamily="34" charset="-122"/>
              </a:rPr>
              <a:t>方式中，</a:t>
            </a:r>
            <a:r>
              <a:rPr lang="en-US" altLang="zh-CN" sz="1400" b="1" dirty="0">
                <a:latin typeface="微软雅黑" panose="020B0503020204020204" pitchFamily="34" charset="-122"/>
                <a:ea typeface="微软雅黑" panose="020B0503020204020204" pitchFamily="34" charset="-122"/>
              </a:rPr>
              <a:t>DIFS </a:t>
            </a:r>
            <a:r>
              <a:rPr lang="zh-CN" altLang="en-US" sz="1400" b="1" dirty="0">
                <a:latin typeface="微软雅黑" panose="020B0503020204020204" pitchFamily="34" charset="-122"/>
                <a:ea typeface="微软雅黑" panose="020B0503020204020204" pitchFamily="34" charset="-122"/>
              </a:rPr>
              <a:t>用来发送数据帧和管理帧</a:t>
            </a:r>
            <a:r>
              <a:rPr lang="zh-CN" altLang="en-US" sz="1400" b="1" dirty="0" smtClean="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solidFill>
                  <a:srgbClr val="C00000"/>
                </a:solidFill>
                <a:latin typeface="微软雅黑" panose="020B0503020204020204" pitchFamily="34" charset="-122"/>
                <a:ea typeface="微软雅黑" panose="020B0503020204020204" pitchFamily="34" charset="-122"/>
              </a:rPr>
              <a:t>802.11 </a:t>
            </a:r>
            <a:r>
              <a:rPr lang="zh-CN" altLang="en-US" sz="1400" b="1" dirty="0">
                <a:solidFill>
                  <a:srgbClr val="C00000"/>
                </a:solidFill>
                <a:latin typeface="微软雅黑" panose="020B0503020204020204" pitchFamily="34" charset="-122"/>
                <a:ea typeface="微软雅黑" panose="020B0503020204020204" pitchFamily="34" charset="-122"/>
              </a:rPr>
              <a:t>标准</a:t>
            </a:r>
            <a:r>
              <a:rPr lang="zh-CN" altLang="en-US" sz="1400" b="1" dirty="0" smtClean="0">
                <a:solidFill>
                  <a:srgbClr val="C00000"/>
                </a:solidFill>
                <a:latin typeface="微软雅黑" panose="020B0503020204020204" pitchFamily="34" charset="-122"/>
                <a:ea typeface="微软雅黑" panose="020B0503020204020204" pitchFamily="34" charset="-122"/>
              </a:rPr>
              <a:t>规定：</a:t>
            </a:r>
            <a:r>
              <a:rPr lang="zh-CN" altLang="en-US" sz="1400" b="1" dirty="0" smtClean="0">
                <a:latin typeface="微软雅黑" panose="020B0503020204020204" pitchFamily="34" charset="-122"/>
                <a:ea typeface="微软雅黑" panose="020B0503020204020204" pitchFamily="34" charset="-122"/>
              </a:rPr>
              <a:t>凡</a:t>
            </a:r>
            <a:r>
              <a:rPr lang="zh-CN" altLang="en-US" sz="1400" b="1" dirty="0">
                <a:latin typeface="微软雅黑" panose="020B0503020204020204" pitchFamily="34" charset="-122"/>
                <a:ea typeface="微软雅黑" panose="020B0503020204020204" pitchFamily="34" charset="-122"/>
              </a:rPr>
              <a:t>在空闲时间想发送数据的站点，必须</a:t>
            </a:r>
            <a:r>
              <a:rPr lang="zh-CN" altLang="en-US" sz="1400" b="1" dirty="0" smtClean="0">
                <a:latin typeface="微软雅黑" panose="020B0503020204020204" pitchFamily="34" charset="-122"/>
                <a:ea typeface="微软雅黑" panose="020B0503020204020204" pitchFamily="34" charset="-122"/>
              </a:rPr>
              <a:t>等待时间 </a:t>
            </a:r>
            <a:r>
              <a:rPr lang="en-US" altLang="zh-CN" sz="1400" b="1" dirty="0" smtClean="0">
                <a:latin typeface="微软雅黑" panose="020B0503020204020204" pitchFamily="34" charset="-122"/>
                <a:ea typeface="微软雅黑" panose="020B0503020204020204" pitchFamily="34" charset="-122"/>
              </a:rPr>
              <a:t>DIFS </a:t>
            </a:r>
            <a:r>
              <a:rPr lang="zh-CN" altLang="en-US" sz="1400" b="1" dirty="0" smtClean="0">
                <a:latin typeface="微软雅黑" panose="020B0503020204020204" pitchFamily="34" charset="-122"/>
                <a:ea typeface="微软雅黑" panose="020B0503020204020204" pitchFamily="34" charset="-122"/>
              </a:rPr>
              <a:t>后</a:t>
            </a:r>
            <a:r>
              <a:rPr lang="zh-CN" altLang="en-US" sz="1400" b="1" dirty="0">
                <a:latin typeface="微软雅黑" panose="020B0503020204020204" pitchFamily="34" charset="-122"/>
                <a:ea typeface="微软雅黑" panose="020B0503020204020204" pitchFamily="34" charset="-122"/>
              </a:rPr>
              <a:t>才能发送</a:t>
            </a:r>
            <a:r>
              <a:rPr lang="zh-CN" altLang="en-US" sz="1400" b="1" dirty="0" smtClean="0">
                <a:latin typeface="微软雅黑" panose="020B0503020204020204" pitchFamily="34" charset="-122"/>
                <a:ea typeface="微软雅黑" panose="020B0503020204020204" pitchFamily="34" charset="-122"/>
              </a:rPr>
              <a:t>。保证</a:t>
            </a:r>
            <a:r>
              <a:rPr lang="zh-CN" altLang="en-US" sz="1400" b="1" dirty="0">
                <a:latin typeface="微软雅黑" panose="020B0503020204020204" pitchFamily="34" charset="-122"/>
                <a:ea typeface="微软雅黑" panose="020B0503020204020204" pitchFamily="34" charset="-122"/>
              </a:rPr>
              <a:t>了确认</a:t>
            </a:r>
            <a:r>
              <a:rPr lang="zh-CN" altLang="en-US" sz="1400" b="1" dirty="0" smtClean="0">
                <a:latin typeface="微软雅黑" panose="020B0503020204020204" pitchFamily="34" charset="-122"/>
                <a:ea typeface="微软雅黑" panose="020B0503020204020204" pitchFamily="34" charset="-122"/>
              </a:rPr>
              <a:t>帧 </a:t>
            </a:r>
            <a:r>
              <a:rPr lang="en-US" altLang="zh-CN" sz="1400" b="1" dirty="0" smtClean="0">
                <a:latin typeface="微软雅黑" panose="020B0503020204020204" pitchFamily="34" charset="-122"/>
                <a:ea typeface="微软雅黑" panose="020B0503020204020204" pitchFamily="34" charset="-122"/>
              </a:rPr>
              <a:t>ACK </a:t>
            </a:r>
            <a:r>
              <a:rPr lang="zh-CN" altLang="en-US" sz="1400" b="1" dirty="0" smtClean="0">
                <a:latin typeface="微软雅黑" panose="020B0503020204020204" pitchFamily="34" charset="-122"/>
                <a:ea typeface="微软雅黑" panose="020B0503020204020204" pitchFamily="34" charset="-122"/>
              </a:rPr>
              <a:t>得以</a:t>
            </a:r>
            <a:r>
              <a:rPr lang="zh-CN" altLang="en-US" sz="1400" b="1" dirty="0">
                <a:latin typeface="微软雅黑" panose="020B0503020204020204" pitchFamily="34" charset="-122"/>
                <a:ea typeface="微软雅黑" panose="020B0503020204020204" pitchFamily="34" charset="-122"/>
              </a:rPr>
              <a:t>优先发送。</a:t>
            </a:r>
            <a:endParaRPr lang="zh-CN" altLang="en-US" sz="1400" b="1" dirty="0">
              <a:latin typeface="微软雅黑" panose="020B0503020204020204" pitchFamily="34" charset="-122"/>
              <a:ea typeface="微软雅黑" panose="020B0503020204020204" pitchFamily="34" charset="-122"/>
            </a:endParaRPr>
          </a:p>
        </p:txBody>
      </p:sp>
      <p:grpSp>
        <p:nvGrpSpPr>
          <p:cNvPr id="34" name="组合 33"/>
          <p:cNvGrpSpPr/>
          <p:nvPr/>
        </p:nvGrpSpPr>
        <p:grpSpPr>
          <a:xfrm>
            <a:off x="1716487" y="2233999"/>
            <a:ext cx="5509855" cy="1949958"/>
            <a:chOff x="1716487" y="2181745"/>
            <a:chExt cx="5509855" cy="1949958"/>
          </a:xfrm>
        </p:grpSpPr>
        <p:sp>
          <p:nvSpPr>
            <p:cNvPr id="74" name="Freeform 13"/>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endParaRPr lang="en-US" altLang="zh-CN" sz="1200" b="1" dirty="0">
                <a:latin typeface="微软雅黑" panose="020B0503020204020204" pitchFamily="34" charset="-122"/>
                <a:ea typeface="微软雅黑" panose="020B0503020204020204" pitchFamily="34" charset="-122"/>
              </a:endParaRP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endParaRPr lang="en-US" altLang="zh-CN" sz="1200" b="1" dirty="0">
                <a:latin typeface="微软雅黑" panose="020B0503020204020204" pitchFamily="34" charset="-122"/>
                <a:ea typeface="微软雅黑" panose="020B0503020204020204" pitchFamily="34" charset="-122"/>
              </a:endParaRP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endParaRPr lang="en-US" altLang="zh-CN" sz="1200" b="1" dirty="0">
                <a:solidFill>
                  <a:srgbClr val="CC00FF"/>
                </a:solidFill>
                <a:latin typeface="微软雅黑" panose="020B0503020204020204" pitchFamily="34" charset="-122"/>
                <a:ea typeface="微软雅黑" panose="020B0503020204020204" pitchFamily="34" charset="-122"/>
              </a:endParaRP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12" name="Freeform 13"/>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endParaRPr lang="en-US" altLang="zh-CN" sz="1200" b="1" dirty="0">
                  <a:latin typeface="微软雅黑" panose="020B0503020204020204" pitchFamily="34" charset="-122"/>
                  <a:ea typeface="微软雅黑" panose="020B0503020204020204" pitchFamily="34" charset="-122"/>
                </a:endParaRP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endParaRPr lang="en-US" altLang="zh-CN" sz="1200" b="1" dirty="0">
                <a:solidFill>
                  <a:srgbClr val="CC00FF"/>
                </a:solidFill>
                <a:latin typeface="微软雅黑" panose="020B0503020204020204" pitchFamily="34" charset="-122"/>
                <a:ea typeface="微软雅黑" panose="020B0503020204020204" pitchFamily="34" charset="-122"/>
              </a:endParaRP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endParaRP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endParaRPr lang="en-US" altLang="zh-CN" sz="1200" b="1" baseline="-25000" dirty="0">
                <a:latin typeface="微软雅黑" panose="020B0503020204020204" pitchFamily="34" charset="-122"/>
                <a:ea typeface="微软雅黑" panose="020B0503020204020204" pitchFamily="34" charset="-122"/>
              </a:endParaRP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endParaRP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anose="020B0503020204020204" pitchFamily="34" charset="-122"/>
                <a:ea typeface="微软雅黑" panose="020B0503020204020204" pitchFamily="34" charset="-122"/>
              </a:rPr>
              <a:t>DIFS </a:t>
            </a:r>
            <a:r>
              <a:rPr lang="zh-CN" altLang="en-US" sz="2000" b="1" dirty="0">
                <a:latin typeface="微软雅黑" panose="020B0503020204020204" pitchFamily="34" charset="-122"/>
                <a:ea typeface="微软雅黑" panose="020B0503020204020204" pitchFamily="34" charset="-122"/>
              </a:rPr>
              <a:t>很重要</a:t>
            </a:r>
            <a:endParaRPr lang="zh-CN" altLang="en-US" sz="2000" b="1" dirty="0">
              <a:latin typeface="微软雅黑" panose="020B0503020204020204" pitchFamily="34" charset="-122"/>
              <a:ea typeface="微软雅黑" panose="020B0503020204020204" pitchFamily="34" charset="-122"/>
            </a:endParaRPr>
          </a:p>
        </p:txBody>
      </p:sp>
      <p:sp>
        <p:nvSpPr>
          <p:cNvPr id="68" name="矩形 67"/>
          <p:cNvSpPr/>
          <p:nvPr/>
        </p:nvSpPr>
        <p:spPr>
          <a:xfrm>
            <a:off x="1262743" y="1120172"/>
            <a:ext cx="6618514" cy="605294"/>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smtClean="0">
                <a:latin typeface="微软雅黑" panose="020B0503020204020204" pitchFamily="34" charset="-122"/>
                <a:ea typeface="微软雅黑" panose="020B0503020204020204" pitchFamily="34" charset="-122"/>
              </a:rPr>
              <a:t>A </a:t>
            </a:r>
            <a:r>
              <a:rPr lang="zh-CN" altLang="en-US" sz="1400" b="1" dirty="0" smtClean="0">
                <a:latin typeface="微软雅黑" panose="020B0503020204020204" pitchFamily="34" charset="-122"/>
                <a:ea typeface="微软雅黑" panose="020B0503020204020204" pitchFamily="34" charset="-122"/>
              </a:rPr>
              <a:t>监听</a:t>
            </a:r>
            <a:r>
              <a:rPr lang="zh-CN" altLang="en-US" sz="1400" b="1" dirty="0">
                <a:latin typeface="微软雅黑" panose="020B0503020204020204" pitchFamily="34" charset="-122"/>
                <a:ea typeface="微软雅黑" panose="020B0503020204020204" pitchFamily="34" charset="-122"/>
              </a:rPr>
              <a:t>信道。若信道在</a:t>
            </a:r>
            <a:r>
              <a:rPr lang="zh-CN" altLang="en-US" sz="1400" b="1" dirty="0" smtClean="0">
                <a:latin typeface="微软雅黑" panose="020B0503020204020204" pitchFamily="34" charset="-122"/>
                <a:ea typeface="微软雅黑" panose="020B0503020204020204" pitchFamily="34" charset="-122"/>
              </a:rPr>
              <a:t>时间间隔 </a:t>
            </a:r>
            <a:r>
              <a:rPr lang="en-US" altLang="zh-CN" sz="1400" b="1" dirty="0" smtClean="0">
                <a:latin typeface="微软雅黑" panose="020B0503020204020204" pitchFamily="34" charset="-122"/>
                <a:ea typeface="微软雅黑" panose="020B0503020204020204" pitchFamily="34" charset="-122"/>
              </a:rPr>
              <a:t>DIFS </a:t>
            </a:r>
            <a:r>
              <a:rPr lang="zh-CN" altLang="en-US" sz="1400" b="1" dirty="0" smtClean="0">
                <a:latin typeface="微软雅黑" panose="020B0503020204020204" pitchFamily="34" charset="-122"/>
                <a:ea typeface="微软雅黑" panose="020B0503020204020204" pitchFamily="34" charset="-122"/>
              </a:rPr>
              <a:t>一直</a:t>
            </a:r>
            <a:r>
              <a:rPr lang="zh-CN" altLang="en-US" sz="1400" b="1" dirty="0">
                <a:latin typeface="微软雅黑" panose="020B0503020204020204" pitchFamily="34" charset="-122"/>
                <a:ea typeface="微软雅黑" panose="020B0503020204020204" pitchFamily="34" charset="-122"/>
              </a:rPr>
              <a:t>都是空闲</a:t>
            </a:r>
            <a:r>
              <a:rPr lang="zh-CN" altLang="en-US" sz="1400" b="1" dirty="0" smtClean="0">
                <a:latin typeface="微软雅黑" panose="020B0503020204020204" pitchFamily="34" charset="-122"/>
                <a:ea typeface="微软雅黑" panose="020B0503020204020204" pitchFamily="34" charset="-122"/>
              </a:rPr>
              <a:t>的，</a:t>
            </a:r>
            <a:r>
              <a:rPr lang="en-US" altLang="zh-CN" sz="1400" b="1" dirty="0" smtClean="0">
                <a:latin typeface="微软雅黑" panose="020B0503020204020204" pitchFamily="34" charset="-122"/>
                <a:ea typeface="微软雅黑" panose="020B0503020204020204" pitchFamily="34" charset="-122"/>
              </a:rPr>
              <a:t>A </a:t>
            </a:r>
            <a:r>
              <a:rPr lang="zh-CN" altLang="en-US" sz="1400" b="1" dirty="0" smtClean="0">
                <a:latin typeface="微软雅黑" panose="020B0503020204020204" pitchFamily="34" charset="-122"/>
                <a:ea typeface="微软雅黑" panose="020B0503020204020204" pitchFamily="34" charset="-122"/>
              </a:rPr>
              <a:t>就</a:t>
            </a:r>
            <a:r>
              <a:rPr lang="zh-CN" altLang="en-US" sz="1400" b="1" dirty="0">
                <a:latin typeface="微软雅黑" panose="020B0503020204020204" pitchFamily="34" charset="-122"/>
                <a:ea typeface="微软雅黑" panose="020B0503020204020204" pitchFamily="34" charset="-122"/>
              </a:rPr>
              <a:t>可以</a:t>
            </a:r>
            <a:r>
              <a:rPr lang="zh-CN" altLang="en-US" sz="1400" b="1" dirty="0" smtClean="0">
                <a:latin typeface="微软雅黑" panose="020B0503020204020204" pitchFamily="34" charset="-122"/>
                <a:ea typeface="微软雅黑" panose="020B0503020204020204" pitchFamily="34" charset="-122"/>
              </a:rPr>
              <a:t>在 </a:t>
            </a:r>
            <a:r>
              <a:rPr lang="en-US" altLang="zh-CN" sz="1400" b="1" dirty="0" smtClean="0">
                <a:latin typeface="微软雅黑" panose="020B0503020204020204" pitchFamily="34" charset="-122"/>
                <a:ea typeface="微软雅黑" panose="020B0503020204020204" pitchFamily="34" charset="-122"/>
              </a:rPr>
              <a:t>t</a:t>
            </a:r>
            <a:r>
              <a:rPr lang="en-US" altLang="zh-CN" sz="1400" b="1" baseline="-25000" dirty="0" smtClean="0">
                <a:latin typeface="微软雅黑" panose="020B0503020204020204" pitchFamily="34" charset="-122"/>
                <a:ea typeface="微软雅黑" panose="020B0503020204020204" pitchFamily="34" charset="-122"/>
              </a:rPr>
              <a:t>0</a:t>
            </a: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时间</a:t>
            </a:r>
            <a:r>
              <a:rPr lang="zh-CN" altLang="en-US" sz="1400" b="1" dirty="0">
                <a:latin typeface="微软雅黑" panose="020B0503020204020204" pitchFamily="34" charset="-122"/>
                <a:ea typeface="微软雅黑" panose="020B0503020204020204" pitchFamily="34" charset="-122"/>
              </a:rPr>
              <a:t>发送</a:t>
            </a:r>
            <a:r>
              <a:rPr lang="zh-CN" altLang="en-US" sz="1400" b="1" dirty="0" smtClean="0">
                <a:latin typeface="微软雅黑" panose="020B0503020204020204" pitchFamily="34" charset="-122"/>
                <a:ea typeface="微软雅黑" panose="020B0503020204020204" pitchFamily="34" charset="-122"/>
              </a:rPr>
              <a:t>数据帧 </a:t>
            </a:r>
            <a:r>
              <a:rPr lang="en-US" altLang="zh-CN" sz="1400" b="1" dirty="0" smtClean="0">
                <a:latin typeface="微软雅黑" panose="020B0503020204020204" pitchFamily="34" charset="-122"/>
                <a:ea typeface="微软雅黑" panose="020B0503020204020204" pitchFamily="34" charset="-122"/>
              </a:rPr>
              <a:t>DATA</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endParaRPr lang="en-US" altLang="zh-CN" sz="1200" b="1" dirty="0">
              <a:solidFill>
                <a:srgbClr val="CC00FF"/>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716487" y="2233999"/>
            <a:ext cx="5509855" cy="1949958"/>
            <a:chOff x="1716487" y="2181745"/>
            <a:chExt cx="5509855" cy="1949958"/>
          </a:xfrm>
        </p:grpSpPr>
        <p:sp>
          <p:nvSpPr>
            <p:cNvPr id="74" name="Freeform 13"/>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endParaRPr lang="en-US" altLang="zh-CN" sz="1200" b="1" dirty="0">
                <a:latin typeface="微软雅黑" panose="020B0503020204020204" pitchFamily="34" charset="-122"/>
                <a:ea typeface="微软雅黑" panose="020B0503020204020204" pitchFamily="34" charset="-122"/>
              </a:endParaRP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endParaRPr lang="en-US" altLang="zh-CN" sz="1200" b="1" dirty="0">
                <a:latin typeface="微软雅黑" panose="020B0503020204020204" pitchFamily="34" charset="-122"/>
                <a:ea typeface="微软雅黑" panose="020B0503020204020204" pitchFamily="34" charset="-122"/>
              </a:endParaRP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endParaRPr lang="en-US" altLang="zh-CN" sz="1200" b="1" dirty="0">
                <a:latin typeface="微软雅黑" panose="020B0503020204020204" pitchFamily="34" charset="-122"/>
                <a:ea typeface="微软雅黑" panose="020B0503020204020204" pitchFamily="34" charset="-122"/>
              </a:endParaRP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12" name="Freeform 13"/>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endParaRPr lang="en-US" altLang="zh-CN" sz="1200" b="1" dirty="0">
                  <a:latin typeface="微软雅黑" panose="020B0503020204020204" pitchFamily="34" charset="-122"/>
                  <a:ea typeface="微软雅黑" panose="020B0503020204020204" pitchFamily="34" charset="-122"/>
                </a:endParaRP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endParaRP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endParaRPr lang="en-US" altLang="zh-CN" sz="1200" b="1" baseline="-25000" dirty="0">
                <a:latin typeface="微软雅黑" panose="020B0503020204020204" pitchFamily="34" charset="-122"/>
                <a:ea typeface="微软雅黑" panose="020B0503020204020204" pitchFamily="34" charset="-122"/>
              </a:endParaRP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endParaRP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2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anose="020B0503020204020204" pitchFamily="34" charset="-122"/>
                <a:ea typeface="微软雅黑" panose="020B0503020204020204" pitchFamily="34" charset="-122"/>
              </a:rPr>
              <a:t>DIFS </a:t>
            </a:r>
            <a:r>
              <a:rPr lang="zh-CN" altLang="en-US" sz="2000" b="1" dirty="0">
                <a:latin typeface="微软雅黑" panose="020B0503020204020204" pitchFamily="34" charset="-122"/>
                <a:ea typeface="微软雅黑" panose="020B0503020204020204" pitchFamily="34" charset="-122"/>
              </a:rPr>
              <a:t>很重要</a:t>
            </a:r>
            <a:endParaRPr lang="zh-CN" altLang="en-US" sz="2000" b="1" dirty="0">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endParaRPr lang="en-US" altLang="zh-CN" sz="1200" b="1" dirty="0">
              <a:solidFill>
                <a:srgbClr val="CC00FF"/>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716487" y="2253228"/>
            <a:ext cx="5509855" cy="1930729"/>
            <a:chOff x="1716487" y="2253228"/>
            <a:chExt cx="5509855" cy="1930729"/>
          </a:xfrm>
        </p:grpSpPr>
        <p:sp>
          <p:nvSpPr>
            <p:cNvPr id="74" name="Freeform 13"/>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8" name="Line 110"/>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endParaRPr lang="en-US" altLang="zh-CN" sz="1200" b="1" dirty="0">
                <a:latin typeface="微软雅黑" panose="020B0503020204020204" pitchFamily="34" charset="-122"/>
                <a:ea typeface="微软雅黑" panose="020B0503020204020204" pitchFamily="34" charset="-122"/>
              </a:endParaRPr>
            </a:p>
          </p:txBody>
        </p:sp>
        <p:sp>
          <p:nvSpPr>
            <p:cNvPr id="81" name="Line 106"/>
            <p:cNvSpPr>
              <a:spLocks noChangeShapeType="1"/>
            </p:cNvSpPr>
            <p:nvPr/>
          </p:nvSpPr>
          <p:spPr bwMode="auto">
            <a:xfrm flipH="1">
              <a:off x="4780027" y="2464826"/>
              <a:ext cx="1676" cy="25703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64826"/>
              <a:ext cx="0" cy="102938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451232"/>
              <a:ext cx="3319" cy="47947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5322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endParaRPr lang="en-US" altLang="zh-CN" sz="1200" b="1" dirty="0">
                <a:latin typeface="微软雅黑" panose="020B0503020204020204" pitchFamily="34" charset="-122"/>
                <a:ea typeface="微软雅黑" panose="020B0503020204020204" pitchFamily="34" charset="-122"/>
              </a:endParaRPr>
            </a:p>
          </p:txBody>
        </p:sp>
        <p:sp>
          <p:nvSpPr>
            <p:cNvPr id="87" name="Text Box 9"/>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88" name="Text Box 9"/>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cxnSp>
          <p:nvCxnSpPr>
            <p:cNvPr id="89" name="直接箭头连接符 87"/>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77570"/>
              <a:ext cx="0" cy="111341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cxnSp>
          <p:nvCxnSpPr>
            <p:cNvPr id="92" name="直接箭头连接符 87"/>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906958"/>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94" name="矩形 131"/>
            <p:cNvSpPr>
              <a:spLocks noChangeArrowheads="1"/>
            </p:cNvSpPr>
            <p:nvPr/>
          </p:nvSpPr>
          <p:spPr bwMode="auto">
            <a:xfrm>
              <a:off x="5671597" y="2546386"/>
              <a:ext cx="1129546" cy="173006"/>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546386"/>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547621"/>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547621"/>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546386"/>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547621"/>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53800"/>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550093"/>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550093"/>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542678"/>
              <a:ext cx="0" cy="16929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cxnSp>
          <p:nvCxnSpPr>
            <p:cNvPr id="105" name="直接连接符 143"/>
            <p:cNvCxnSpPr>
              <a:cxnSpLocks noChangeShapeType="1"/>
            </p:cNvCxnSpPr>
            <p:nvPr/>
          </p:nvCxnSpPr>
          <p:spPr bwMode="auto">
            <a:xfrm>
              <a:off x="6338599" y="2552564"/>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545150"/>
              <a:ext cx="0" cy="16929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541443"/>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551329"/>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547621"/>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548857"/>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550093"/>
              <a:ext cx="0" cy="16806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12" name="Freeform 13"/>
            <p:cNvSpPr/>
            <p:nvPr/>
          </p:nvSpPr>
          <p:spPr bwMode="auto">
            <a:xfrm>
              <a:off x="2631543" y="3510278"/>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p:nvPr/>
          </p:nvGrpSpPr>
          <p:grpSpPr bwMode="auto">
            <a:xfrm>
              <a:off x="1902534" y="2714449"/>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522730"/>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744107"/>
              <a:ext cx="3352" cy="1594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p:nvPr/>
          </p:nvGrpSpPr>
          <p:grpSpPr bwMode="auto">
            <a:xfrm>
              <a:off x="5996750" y="2688780"/>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endParaRPr lang="en-US" altLang="zh-CN" sz="1200" b="1" dirty="0">
                  <a:latin typeface="微软雅黑" panose="020B0503020204020204" pitchFamily="34" charset="-122"/>
                  <a:ea typeface="微软雅黑" panose="020B0503020204020204" pitchFamily="34" charset="-122"/>
                </a:endParaRPr>
              </a:p>
            </p:txBody>
          </p:sp>
        </p:grpSp>
        <p:sp>
          <p:nvSpPr>
            <p:cNvPr id="124" name="Line 110"/>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428988"/>
              <a:ext cx="1676" cy="289168"/>
            </a:xfrm>
            <a:prstGeom prst="line">
              <a:avLst/>
            </a:prstGeom>
            <a:noFill/>
            <a:ln w="28575">
              <a:solidFill>
                <a:schemeClr val="tx1"/>
              </a:solidFill>
              <a:round/>
              <a:head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endParaRPr lang="en-US" altLang="zh-CN" sz="1200" b="1" dirty="0">
                <a:latin typeface="微软雅黑" panose="020B0503020204020204" pitchFamily="34" charset="-122"/>
                <a:ea typeface="微软雅黑" panose="020B0503020204020204" pitchFamily="34" charset="-122"/>
              </a:endParaRPr>
            </a:p>
          </p:txBody>
        </p:sp>
        <p:sp>
          <p:nvSpPr>
            <p:cNvPr id="127" name="Text Box 9"/>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endParaRPr>
            </a:p>
          </p:txBody>
        </p:sp>
        <p:sp>
          <p:nvSpPr>
            <p:cNvPr id="128" name="Text Box 9"/>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endParaRPr lang="en-US" altLang="zh-CN" sz="1200" b="1" baseline="-25000" dirty="0">
                <a:latin typeface="微软雅黑" panose="020B0503020204020204" pitchFamily="34" charset="-122"/>
                <a:ea typeface="微软雅黑" panose="020B0503020204020204" pitchFamily="34" charset="-122"/>
              </a:endParaRPr>
            </a:p>
          </p:txBody>
        </p:sp>
        <p:sp>
          <p:nvSpPr>
            <p:cNvPr id="129" name="Text Box 9"/>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endParaRPr>
            </a:p>
          </p:txBody>
        </p:sp>
        <p:sp>
          <p:nvSpPr>
            <p:cNvPr id="130" name="Line 106"/>
            <p:cNvSpPr>
              <a:spLocks noChangeShapeType="1"/>
            </p:cNvSpPr>
            <p:nvPr/>
          </p:nvSpPr>
          <p:spPr bwMode="auto">
            <a:xfrm flipH="1">
              <a:off x="5232516" y="3820454"/>
              <a:ext cx="3352" cy="1594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64" name="矩形 63"/>
          <p:cNvSpPr/>
          <p:nvPr/>
        </p:nvSpPr>
        <p:spPr>
          <a:xfrm>
            <a:off x="1132108" y="1120172"/>
            <a:ext cx="6984274" cy="1118255"/>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收到数据帧后，必须</a:t>
            </a:r>
            <a:r>
              <a:rPr lang="zh-CN" altLang="en-US" sz="1400" b="1" dirty="0" smtClean="0">
                <a:latin typeface="微软雅黑" panose="020B0503020204020204" pitchFamily="34" charset="-122"/>
                <a:ea typeface="微软雅黑" panose="020B0503020204020204" pitchFamily="34" charset="-122"/>
              </a:rPr>
              <a:t>进行 </a:t>
            </a:r>
            <a:r>
              <a:rPr lang="en-US" altLang="zh-CN" sz="1400" b="1" dirty="0" smtClean="0">
                <a:latin typeface="微软雅黑" panose="020B0503020204020204" pitchFamily="34" charset="-122"/>
                <a:ea typeface="微软雅黑" panose="020B0503020204020204" pitchFamily="34" charset="-122"/>
              </a:rPr>
              <a:t>CRC </a:t>
            </a:r>
            <a:r>
              <a:rPr lang="zh-CN" altLang="en-US" sz="1400" b="1" dirty="0" smtClean="0">
                <a:latin typeface="微软雅黑" panose="020B0503020204020204" pitchFamily="34" charset="-122"/>
                <a:ea typeface="微软雅黑" panose="020B0503020204020204" pitchFamily="34" charset="-122"/>
              </a:rPr>
              <a:t>检验</a:t>
            </a:r>
            <a:r>
              <a:rPr lang="zh-CN" altLang="en-US" sz="1400" b="1" dirty="0">
                <a:latin typeface="微软雅黑" panose="020B0503020204020204" pitchFamily="34" charset="-122"/>
                <a:ea typeface="微软雅黑" panose="020B0503020204020204" pitchFamily="34" charset="-122"/>
              </a:rPr>
              <a:t>。若检验无差错，再从接收状态转为发送状态。经过时间间隔 </a:t>
            </a:r>
            <a:r>
              <a:rPr lang="en-US" altLang="zh-CN" sz="1400" b="1" dirty="0">
                <a:latin typeface="微软雅黑" panose="020B0503020204020204" pitchFamily="34" charset="-122"/>
                <a:ea typeface="微软雅黑" panose="020B0503020204020204" pitchFamily="34" charset="-122"/>
              </a:rPr>
              <a:t>SIFS </a:t>
            </a:r>
            <a:r>
              <a:rPr lang="zh-CN" altLang="en-US" sz="1400" b="1" dirty="0">
                <a:latin typeface="微软雅黑" panose="020B0503020204020204" pitchFamily="34" charset="-122"/>
                <a:ea typeface="微软雅黑" panose="020B0503020204020204" pitchFamily="34" charset="-122"/>
              </a:rPr>
              <a:t>后，向 </a:t>
            </a:r>
            <a:r>
              <a:rPr lang="en-US" altLang="zh-CN"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发送确认帧 </a:t>
            </a:r>
            <a:r>
              <a:rPr lang="en-US" altLang="zh-CN" sz="1400" b="1" dirty="0">
                <a:latin typeface="微软雅黑" panose="020B0503020204020204" pitchFamily="34" charset="-122"/>
                <a:ea typeface="微软雅黑" panose="020B0503020204020204" pitchFamily="34" charset="-122"/>
              </a:rPr>
              <a:t>ACK</a:t>
            </a:r>
            <a:r>
              <a:rPr lang="zh-CN" altLang="en-US" sz="1400" b="1" dirty="0" smtClean="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zh-CN" altLang="en-US" sz="1400" b="1" dirty="0" smtClean="0">
                <a:latin typeface="微软雅黑" panose="020B0503020204020204" pitchFamily="34" charset="-122"/>
                <a:ea typeface="微软雅黑" panose="020B0503020204020204" pitchFamily="34" charset="-122"/>
              </a:rPr>
              <a:t>从 </a:t>
            </a:r>
            <a:r>
              <a:rPr lang="en-US" altLang="zh-CN" sz="1400" b="1" dirty="0" smtClean="0">
                <a:latin typeface="微软雅黑" panose="020B0503020204020204" pitchFamily="34" charset="-122"/>
                <a:ea typeface="微软雅黑" panose="020B0503020204020204" pitchFamily="34" charset="-122"/>
              </a:rPr>
              <a:t>A </a:t>
            </a:r>
            <a:r>
              <a:rPr lang="zh-CN" altLang="en-US" sz="1400" b="1" dirty="0" smtClean="0">
                <a:latin typeface="微软雅黑" panose="020B0503020204020204" pitchFamily="34" charset="-122"/>
                <a:ea typeface="微软雅黑" panose="020B0503020204020204" pitchFamily="34" charset="-122"/>
              </a:rPr>
              <a:t>发送数据帧 </a:t>
            </a:r>
            <a:r>
              <a:rPr lang="en-US" altLang="zh-CN" sz="1400" b="1" dirty="0" smtClean="0">
                <a:latin typeface="微软雅黑" panose="020B0503020204020204" pitchFamily="34" charset="-122"/>
                <a:ea typeface="微软雅黑" panose="020B0503020204020204" pitchFamily="34" charset="-122"/>
              </a:rPr>
              <a:t>DATA </a:t>
            </a:r>
            <a:r>
              <a:rPr lang="zh-CN" altLang="en-US" sz="1400" b="1" dirty="0" smtClean="0">
                <a:latin typeface="微软雅黑" panose="020B0503020204020204" pitchFamily="34" charset="-122"/>
                <a:ea typeface="微软雅黑" panose="020B0503020204020204" pitchFamily="34" charset="-122"/>
              </a:rPr>
              <a:t>开始</a:t>
            </a:r>
            <a:r>
              <a:rPr lang="zh-CN" altLang="en-US" sz="1400" b="1" dirty="0">
                <a:latin typeface="微软雅黑" panose="020B0503020204020204" pitchFamily="34" charset="-122"/>
                <a:ea typeface="微软雅黑" panose="020B0503020204020204" pitchFamily="34" charset="-122"/>
              </a:rPr>
              <a:t>，到收到</a:t>
            </a:r>
            <a:r>
              <a:rPr lang="zh-CN" altLang="en-US" sz="1400" b="1" dirty="0" smtClean="0">
                <a:latin typeface="微软雅黑" panose="020B0503020204020204" pitchFamily="34" charset="-122"/>
                <a:ea typeface="微软雅黑" panose="020B0503020204020204" pitchFamily="34" charset="-122"/>
              </a:rPr>
              <a:t>确认 </a:t>
            </a:r>
            <a:r>
              <a:rPr lang="en-US" altLang="zh-CN" sz="1400" b="1" dirty="0" smtClean="0">
                <a:latin typeface="微软雅黑" panose="020B0503020204020204" pitchFamily="34" charset="-122"/>
                <a:ea typeface="微软雅黑" panose="020B0503020204020204" pitchFamily="34" charset="-122"/>
              </a:rPr>
              <a:t>ACK </a:t>
            </a:r>
            <a:r>
              <a:rPr lang="zh-CN" altLang="en-US" sz="1400" b="1" dirty="0" smtClean="0">
                <a:latin typeface="微软雅黑" panose="020B0503020204020204" pitchFamily="34" charset="-122"/>
                <a:ea typeface="微软雅黑" panose="020B0503020204020204" pitchFamily="34" charset="-122"/>
              </a:rPr>
              <a:t>为止</a:t>
            </a:r>
            <a:r>
              <a:rPr lang="zh-CN" altLang="en-US" sz="1400" b="1" dirty="0">
                <a:latin typeface="微软雅黑" panose="020B0503020204020204" pitchFamily="34" charset="-122"/>
                <a:ea typeface="微软雅黑" panose="020B0503020204020204" pitchFamily="34" charset="-122"/>
              </a:rPr>
              <a:t>的这段</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smtClean="0">
                <a:latin typeface="微软雅黑" panose="020B0503020204020204" pitchFamily="34" charset="-122"/>
                <a:ea typeface="微软雅黑" panose="020B0503020204020204" pitchFamily="34" charset="-122"/>
              </a:rPr>
              <a:t>(</a:t>
            </a:r>
            <a:r>
              <a:rPr lang="en-US" altLang="zh-CN" sz="1400" b="1" dirty="0">
                <a:latin typeface="微软雅黑" panose="020B0503020204020204" pitchFamily="34" charset="-122"/>
                <a:ea typeface="微软雅黑" panose="020B0503020204020204" pitchFamily="34" charset="-122"/>
              </a:rPr>
              <a:t>DATA + SIFS + </a:t>
            </a:r>
            <a:r>
              <a:rPr lang="en-US" altLang="zh-CN" sz="1400" b="1" dirty="0" smtClean="0">
                <a:latin typeface="微软雅黑" panose="020B0503020204020204" pitchFamily="34" charset="-122"/>
                <a:ea typeface="微软雅黑" panose="020B0503020204020204" pitchFamily="34" charset="-122"/>
              </a:rPr>
              <a:t>ACK) </a:t>
            </a:r>
            <a:r>
              <a:rPr lang="zh-CN" altLang="en-US" sz="1400" b="1" dirty="0" smtClean="0">
                <a:latin typeface="微软雅黑" panose="020B0503020204020204" pitchFamily="34" charset="-122"/>
                <a:ea typeface="微软雅黑" panose="020B0503020204020204" pitchFamily="34" charset="-122"/>
              </a:rPr>
              <a:t>内，</a:t>
            </a:r>
            <a:r>
              <a:rPr lang="zh-CN" altLang="en-US" sz="1400" b="1" dirty="0">
                <a:latin typeface="微软雅黑" panose="020B0503020204020204" pitchFamily="34" charset="-122"/>
                <a:ea typeface="微软雅黑" panose="020B0503020204020204" pitchFamily="34" charset="-122"/>
              </a:rPr>
              <a:t>必须不允许任何其他站发送数据，这样才不会发生碰撞。</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7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17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345"/>
            <a:ext cx="30957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避免</a:t>
            </a:r>
            <a:r>
              <a:rPr lang="zh-CN" altLang="en-US" sz="2000" b="1" dirty="0" smtClean="0">
                <a:latin typeface="微软雅黑" panose="020B0503020204020204" pitchFamily="34" charset="-122"/>
                <a:ea typeface="微软雅黑" panose="020B0503020204020204" pitchFamily="34" charset="-122"/>
              </a:rPr>
              <a:t>发生碰撞的两种机制</a:t>
            </a:r>
            <a:endParaRPr lang="en-US" altLang="zh-CN" sz="2000" b="1" dirty="0">
              <a:latin typeface="微软雅黑" panose="020B0503020204020204" pitchFamily="34" charset="-122"/>
              <a:ea typeface="微软雅黑" panose="020B0503020204020204" pitchFamily="34" charset="-122"/>
            </a:endParaRPr>
          </a:p>
        </p:txBody>
      </p:sp>
      <p:graphicFrame>
        <p:nvGraphicFramePr>
          <p:cNvPr id="5" name="图示 4"/>
          <p:cNvGraphicFramePr/>
          <p:nvPr/>
        </p:nvGraphicFramePr>
        <p:xfrm>
          <a:off x="723650" y="959146"/>
          <a:ext cx="7653996" cy="350835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争用信道的过程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103" name="组合 10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endParaRPr lang="en-US" altLang="zh-CN" sz="1100" b="1">
                <a:latin typeface="微软雅黑" panose="020B0503020204020204" pitchFamily="34" charset="-122"/>
                <a:ea typeface="微软雅黑" panose="020B0503020204020204" pitchFamily="34" charset="-122"/>
              </a:endParaRP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争用期</a:t>
              </a:r>
              <a:endParaRPr lang="zh-CN" altLang="en-US" sz="1100" b="1">
                <a:latin typeface="微软雅黑" panose="020B0503020204020204" pitchFamily="34" charset="-122"/>
                <a:ea typeface="微软雅黑" panose="020B0503020204020204" pitchFamily="34" charset="-122"/>
              </a:endParaRPr>
            </a:p>
          </p:txBody>
        </p: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endParaRPr lang="en-US" altLang="zh-CN" sz="1200" b="1">
                <a:latin typeface="微软雅黑" panose="020B0503020204020204" pitchFamily="34" charset="-122"/>
                <a:ea typeface="微软雅黑" panose="020B0503020204020204" pitchFamily="34" charset="-122"/>
              </a:endParaRP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endParaRPr lang="en-US" altLang="zh-CN" sz="1200" b="1">
                <a:latin typeface="微软雅黑" panose="020B0503020204020204" pitchFamily="34" charset="-122"/>
                <a:ea typeface="微软雅黑" panose="020B0503020204020204" pitchFamily="34" charset="-122"/>
              </a:endParaRPr>
            </a:p>
          </p:txBody>
        </p:sp>
        <p:sp>
          <p:nvSpPr>
            <p:cNvPr id="167" name="Freeform 13"/>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endParaRPr lang="zh-CN" altLang="en-US" sz="1100" b="1" dirty="0">
                <a:latin typeface="微软雅黑" panose="020B0503020204020204" pitchFamily="34" charset="-122"/>
                <a:ea typeface="微软雅黑" panose="020B0503020204020204" pitchFamily="34" charset="-122"/>
              </a:endParaRP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grpSp>
          <p:nvGrpSpPr>
            <p:cNvPr id="191" name="组合 99"/>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CW</a:t>
                </a:r>
                <a:endParaRPr lang="en-US" altLang="zh-CN" sz="1100" b="1" dirty="0">
                  <a:latin typeface="微软雅黑" panose="020B0503020204020204" pitchFamily="34" charset="-122"/>
                  <a:ea typeface="微软雅黑" panose="020B0503020204020204" pitchFamily="34" charset="-122"/>
                </a:endParaRP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endParaRPr lang="zh-CN" altLang="en-US" sz="1100" b="1">
                <a:latin typeface="微软雅黑" panose="020B0503020204020204" pitchFamily="34" charset="-122"/>
                <a:ea typeface="微软雅黑" panose="020B0503020204020204" pitchFamily="34" charset="-122"/>
              </a:endParaRP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endParaRPr lang="en-US" altLang="zh-CN" sz="1100" b="1">
                <a:latin typeface="微软雅黑" panose="020B0503020204020204" pitchFamily="34" charset="-122"/>
                <a:ea typeface="微软雅黑" panose="020B0503020204020204" pitchFamily="34" charset="-122"/>
              </a:endParaRP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endParaRPr lang="zh-CN" altLang="en-US" sz="1100" b="1" dirty="0">
                <a:solidFill>
                  <a:srgbClr val="990000"/>
                </a:solidFill>
                <a:latin typeface="微软雅黑" panose="020B0503020204020204" pitchFamily="34" charset="-122"/>
                <a:ea typeface="微软雅黑" panose="020B0503020204020204" pitchFamily="34" charset="-122"/>
              </a:endParaRP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endParaRPr lang="zh-CN" altLang="en-US" sz="1100" b="1">
                <a:latin typeface="微软雅黑" panose="020B0503020204020204" pitchFamily="34" charset="-122"/>
                <a:ea typeface="微软雅黑" panose="020B0503020204020204" pitchFamily="34" charset="-122"/>
              </a:endParaRP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endParaRPr lang="zh-CN" altLang="en-US" sz="1100" b="1">
                <a:solidFill>
                  <a:srgbClr val="CC00FF"/>
                </a:solidFill>
                <a:latin typeface="微软雅黑" panose="020B0503020204020204" pitchFamily="34" charset="-122"/>
                <a:ea typeface="微软雅黑" panose="020B0503020204020204" pitchFamily="34" charset="-122"/>
              </a:endParaRP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endParaRPr lang="zh-CN" altLang="en-US" sz="1100" b="1" dirty="0">
                <a:solidFill>
                  <a:srgbClr val="CC00FF"/>
                </a:solidFill>
                <a:latin typeface="微软雅黑" panose="020B0503020204020204" pitchFamily="34" charset="-122"/>
                <a:ea typeface="微软雅黑" panose="020B0503020204020204" pitchFamily="34" charset="-122"/>
              </a:endParaRP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endParaRPr lang="zh-CN" altLang="en-US" sz="1100" b="1" dirty="0">
                <a:solidFill>
                  <a:srgbClr val="CC00FF"/>
                </a:solidFill>
                <a:latin typeface="微软雅黑" panose="020B0503020204020204" pitchFamily="34" charset="-122"/>
                <a:ea typeface="微软雅黑" panose="020B0503020204020204" pitchFamily="34" charset="-122"/>
              </a:endParaRP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endParaRPr lang="en-US" altLang="zh-CN" sz="1100" b="1" dirty="0">
                <a:latin typeface="微软雅黑" panose="020B0503020204020204" pitchFamily="34" charset="-122"/>
                <a:ea typeface="微软雅黑" panose="020B0503020204020204" pitchFamily="34" charset="-122"/>
              </a:endParaRP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endParaRPr lang="zh-CN" altLang="en-US" sz="1100" b="1" dirty="0">
                <a:latin typeface="微软雅黑" panose="020B0503020204020204" pitchFamily="34" charset="-122"/>
                <a:ea typeface="微软雅黑" panose="020B0503020204020204" pitchFamily="34" charset="-122"/>
              </a:endParaRP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endParaRPr lang="zh-CN" altLang="en-US" sz="1100" b="1" dirty="0">
                <a:solidFill>
                  <a:srgbClr val="006600"/>
                </a:solidFill>
                <a:latin typeface="微软雅黑" panose="020B0503020204020204" pitchFamily="34" charset="-122"/>
                <a:ea typeface="微软雅黑" panose="020B0503020204020204" pitchFamily="34" charset="-122"/>
              </a:endParaRP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ln>
          </p:spPr>
        </p:cxnSp>
        <p:grpSp>
          <p:nvGrpSpPr>
            <p:cNvPr id="235" name="组合 151"/>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endParaRPr lang="zh-CN" altLang="en-US" sz="1200" b="1" dirty="0">
                <a:latin typeface="微软雅黑" panose="020B0503020204020204" pitchFamily="34" charset="-122"/>
                <a:ea typeface="微软雅黑" panose="020B0503020204020204" pitchFamily="34" charset="-122"/>
              </a:endParaRP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endParaRPr lang="zh-CN" altLang="en-US" sz="1200" b="1" dirty="0">
                <a:latin typeface="微软雅黑" panose="020B0503020204020204" pitchFamily="34" charset="-122"/>
                <a:ea typeface="微软雅黑" panose="020B0503020204020204" pitchFamily="34" charset="-122"/>
              </a:endParaRP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endParaRPr lang="zh-CN" altLang="en-US" sz="1200" b="1">
                <a:latin typeface="微软雅黑" panose="020B0503020204020204" pitchFamily="34" charset="-122"/>
                <a:ea typeface="微软雅黑" panose="020B0503020204020204" pitchFamily="34" charset="-122"/>
              </a:endParaRP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endParaRPr lang="zh-CN" altLang="en-US" sz="1200" b="1">
                <a:latin typeface="微软雅黑" panose="020B0503020204020204" pitchFamily="34" charset="-122"/>
                <a:ea typeface="微软雅黑" panose="020B0503020204020204" pitchFamily="34" charset="-122"/>
              </a:endParaRPr>
            </a:p>
          </p:txBody>
        </p:sp>
      </p:grpSp>
      <p:sp>
        <p:nvSpPr>
          <p:cNvPr id="80" name="矩形 79"/>
          <p:cNvSpPr/>
          <p:nvPr/>
        </p:nvSpPr>
        <p:spPr>
          <a:xfrm>
            <a:off x="1262743" y="3987657"/>
            <a:ext cx="6872128" cy="656590"/>
          </a:xfrm>
          <a:prstGeom prst="rect">
            <a:avLst/>
          </a:prstGeom>
        </p:spPr>
        <p:txBody>
          <a:bodyPr wrap="square">
            <a:spAutoFit/>
          </a:bodyPr>
          <a:lstStyle/>
          <a:p>
            <a:pPr>
              <a:lnSpc>
                <a:spcPts val="2200"/>
              </a:lnSpc>
            </a:pPr>
            <a:r>
              <a:rPr lang="zh-CN" altLang="zh-CN" sz="1600" b="1" dirty="0">
                <a:latin typeface="微软雅黑" panose="020B0503020204020204" pitchFamily="34" charset="-122"/>
                <a:ea typeface="微软雅黑" panose="020B0503020204020204" pitchFamily="34" charset="-122"/>
              </a:rPr>
              <a:t>在</a:t>
            </a:r>
            <a:r>
              <a:rPr lang="zh-CN" altLang="zh-CN" sz="1600" b="1" dirty="0" smtClean="0">
                <a:latin typeface="微软雅黑" panose="020B0503020204020204" pitchFamily="34" charset="-122"/>
                <a:ea typeface="微软雅黑" panose="020B0503020204020204" pitchFamily="34" charset="-122"/>
              </a:rPr>
              <a:t>站点</a:t>
            </a:r>
            <a:r>
              <a:rPr lang="en-US" altLang="zh-CN" sz="1600" b="1" dirty="0" smtClean="0">
                <a:latin typeface="微软雅黑" panose="020B0503020204020204" pitchFamily="34" charset="-122"/>
                <a:ea typeface="微软雅黑" panose="020B0503020204020204" pitchFamily="34" charset="-122"/>
              </a:rPr>
              <a:t> A </a:t>
            </a:r>
            <a:r>
              <a:rPr lang="zh-CN" altLang="zh-CN" sz="1600" b="1" dirty="0" smtClean="0">
                <a:latin typeface="微软雅黑" panose="020B0503020204020204" pitchFamily="34" charset="-122"/>
                <a:ea typeface="微软雅黑" panose="020B0503020204020204" pitchFamily="34" charset="-122"/>
              </a:rPr>
              <a:t>和</a:t>
            </a:r>
            <a:r>
              <a:rPr lang="en-US" altLang="zh-CN" sz="1600" b="1" dirty="0" smtClean="0">
                <a:latin typeface="微软雅黑" panose="020B0503020204020204" pitchFamily="34" charset="-122"/>
                <a:ea typeface="微软雅黑" panose="020B0503020204020204" pitchFamily="34" charset="-122"/>
              </a:rPr>
              <a:t> B </a:t>
            </a:r>
            <a:r>
              <a:rPr lang="zh-CN" altLang="zh-CN" sz="1600" b="1" dirty="0" smtClean="0">
                <a:latin typeface="微软雅黑" panose="020B0503020204020204" pitchFamily="34" charset="-122"/>
                <a:ea typeface="微软雅黑" panose="020B0503020204020204" pitchFamily="34" charset="-122"/>
              </a:rPr>
              <a:t>通信</a:t>
            </a:r>
            <a:r>
              <a:rPr lang="zh-CN" altLang="zh-CN" sz="1600" b="1" dirty="0">
                <a:latin typeface="微软雅黑" panose="020B0503020204020204" pitchFamily="34" charset="-122"/>
                <a:ea typeface="微软雅黑" panose="020B0503020204020204" pitchFamily="34" charset="-122"/>
              </a:rPr>
              <a:t>的过程中，</a:t>
            </a:r>
            <a:r>
              <a:rPr lang="zh-CN" altLang="zh-CN" sz="1600" b="1" dirty="0" smtClean="0">
                <a:latin typeface="微软雅黑" panose="020B0503020204020204" pitchFamily="34" charset="-122"/>
                <a:ea typeface="微软雅黑" panose="020B0503020204020204" pitchFamily="34" charset="-122"/>
              </a:rPr>
              <a:t>站点</a:t>
            </a:r>
            <a:r>
              <a:rPr lang="en-US" altLang="zh-CN" sz="1600" b="1" dirty="0" smtClean="0">
                <a:latin typeface="微软雅黑" panose="020B0503020204020204" pitchFamily="34" charset="-122"/>
                <a:ea typeface="微软雅黑" panose="020B0503020204020204" pitchFamily="34" charset="-122"/>
              </a:rPr>
              <a:t> C </a:t>
            </a:r>
            <a:r>
              <a:rPr lang="zh-CN" altLang="zh-CN" sz="1600" b="1" dirty="0" smtClean="0">
                <a:latin typeface="微软雅黑" panose="020B0503020204020204" pitchFamily="34" charset="-122"/>
                <a:ea typeface="微软雅黑" panose="020B0503020204020204" pitchFamily="34" charset="-122"/>
              </a:rPr>
              <a:t>和</a:t>
            </a:r>
            <a:r>
              <a:rPr lang="en-US" altLang="zh-CN" sz="1600" b="1" dirty="0" smtClean="0">
                <a:latin typeface="微软雅黑" panose="020B0503020204020204" pitchFamily="34" charset="-122"/>
                <a:ea typeface="微软雅黑" panose="020B0503020204020204" pitchFamily="34" charset="-122"/>
              </a:rPr>
              <a:t> D </a:t>
            </a:r>
            <a:r>
              <a:rPr lang="zh-CN" altLang="zh-CN" sz="1600" b="1" dirty="0" smtClean="0">
                <a:latin typeface="微软雅黑" panose="020B0503020204020204" pitchFamily="34" charset="-122"/>
                <a:ea typeface="微软雅黑" panose="020B0503020204020204" pitchFamily="34" charset="-122"/>
              </a:rPr>
              <a:t>也</a:t>
            </a:r>
            <a:r>
              <a:rPr lang="zh-CN" altLang="zh-CN" sz="1600" b="1" dirty="0">
                <a:latin typeface="微软雅黑" panose="020B0503020204020204" pitchFamily="34" charset="-122"/>
                <a:ea typeface="微软雅黑" panose="020B0503020204020204" pitchFamily="34" charset="-122"/>
              </a:rPr>
              <a:t>要发送</a:t>
            </a:r>
            <a:r>
              <a:rPr lang="zh-CN" altLang="zh-CN" sz="1600" b="1" dirty="0" smtClean="0">
                <a:latin typeface="微软雅黑" panose="020B0503020204020204" pitchFamily="34" charset="-122"/>
                <a:ea typeface="微软雅黑" panose="020B0503020204020204" pitchFamily="34" charset="-122"/>
              </a:rPr>
              <a:t>数据。但</a:t>
            </a:r>
            <a:r>
              <a:rPr lang="en-US" altLang="zh-CN" sz="1600" b="1" dirty="0" smtClean="0">
                <a:latin typeface="微软雅黑" panose="020B0503020204020204" pitchFamily="34" charset="-122"/>
                <a:ea typeface="微软雅黑" panose="020B0503020204020204" pitchFamily="34" charset="-122"/>
              </a:rPr>
              <a:t> C </a:t>
            </a:r>
            <a:r>
              <a:rPr lang="zh-CN" altLang="zh-CN" sz="1600" b="1" dirty="0" smtClean="0">
                <a:latin typeface="微软雅黑" panose="020B0503020204020204" pitchFamily="34" charset="-122"/>
                <a:ea typeface="微软雅黑" panose="020B0503020204020204" pitchFamily="34" charset="-122"/>
              </a:rPr>
              <a:t>和</a:t>
            </a:r>
            <a:r>
              <a:rPr lang="en-US" altLang="zh-CN" sz="1600" b="1" dirty="0" smtClean="0">
                <a:latin typeface="微软雅黑" panose="020B0503020204020204" pitchFamily="34" charset="-122"/>
                <a:ea typeface="微软雅黑" panose="020B0503020204020204" pitchFamily="34" charset="-122"/>
              </a:rPr>
              <a:t> D </a:t>
            </a:r>
            <a:r>
              <a:rPr lang="zh-CN" altLang="zh-CN" sz="1600" b="1" dirty="0" smtClean="0">
                <a:latin typeface="微软雅黑" panose="020B0503020204020204" pitchFamily="34" charset="-122"/>
                <a:ea typeface="微软雅黑" panose="020B0503020204020204" pitchFamily="34" charset="-122"/>
              </a:rPr>
              <a:t>检测</a:t>
            </a:r>
            <a:r>
              <a:rPr lang="zh-CN" altLang="zh-CN" sz="1600" b="1" dirty="0">
                <a:latin typeface="微软雅黑" panose="020B0503020204020204" pitchFamily="34" charset="-122"/>
                <a:ea typeface="微软雅黑" panose="020B0503020204020204" pitchFamily="34" charset="-122"/>
              </a:rPr>
              <a:t>到信道忙，因此必须</a:t>
            </a:r>
            <a:r>
              <a:rPr lang="zh-CN" altLang="zh-CN" sz="1600" b="1" dirty="0">
                <a:solidFill>
                  <a:srgbClr val="C00000"/>
                </a:solidFill>
                <a:latin typeface="微软雅黑" panose="020B0503020204020204" pitchFamily="34" charset="-122"/>
                <a:ea typeface="微软雅黑" panose="020B0503020204020204" pitchFamily="34" charset="-122"/>
              </a:rPr>
              <a:t>推迟接入</a:t>
            </a:r>
            <a:r>
              <a:rPr lang="en-US" altLang="zh-CN" sz="1600" b="1" dirty="0">
                <a:latin typeface="微软雅黑" panose="020B0503020204020204" pitchFamily="34" charset="-122"/>
                <a:ea typeface="微软雅黑" panose="020B0503020204020204" pitchFamily="34" charset="-122"/>
              </a:rPr>
              <a:t>(defer access)</a:t>
            </a:r>
            <a:r>
              <a:rPr lang="zh-CN" altLang="zh-CN" sz="1600" b="1" dirty="0">
                <a:latin typeface="微软雅黑" panose="020B0503020204020204" pitchFamily="34" charset="-122"/>
                <a:ea typeface="微软雅黑" panose="020B0503020204020204" pitchFamily="34" charset="-122"/>
              </a:rPr>
              <a:t>，以免发生碰撞。</a:t>
            </a:r>
            <a:endParaRPr lang="zh-CN" altLang="en-US" sz="1600" b="1" dirty="0">
              <a:latin typeface="微软雅黑" panose="020B0503020204020204" pitchFamily="34" charset="-122"/>
              <a:ea typeface="微软雅黑" panose="020B0503020204020204" pitchFamily="34" charset="-122"/>
            </a:endParaRPr>
          </a:p>
        </p:txBody>
      </p:sp>
      <p:grpSp>
        <p:nvGrpSpPr>
          <p:cNvPr id="147" name="组合 139"/>
          <p:cNvGrpSpPr/>
          <p:nvPr/>
        </p:nvGrpSpPr>
        <p:grpSpPr bwMode="auto">
          <a:xfrm>
            <a:off x="2724215" y="3146369"/>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grpSp>
        <p:nvGrpSpPr>
          <p:cNvPr id="150" name="组合 131"/>
          <p:cNvGrpSpPr/>
          <p:nvPr/>
        </p:nvGrpSpPr>
        <p:grpSpPr bwMode="auto">
          <a:xfrm>
            <a:off x="3133322" y="2534751"/>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15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争用信道的过程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endParaRPr lang="zh-CN" altLang="en-US" sz="1100" b="1" dirty="0">
              <a:solidFill>
                <a:srgbClr val="990000"/>
              </a:solidFill>
              <a:latin typeface="微软雅黑" panose="020B0503020204020204" pitchFamily="34" charset="-122"/>
              <a:ea typeface="微软雅黑" panose="020B0503020204020204" pitchFamily="34" charset="-122"/>
            </a:endParaRP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endParaRPr lang="en-US" altLang="zh-CN" sz="1100" b="1">
                <a:latin typeface="微软雅黑" panose="020B0503020204020204" pitchFamily="34" charset="-122"/>
                <a:ea typeface="微软雅黑" panose="020B0503020204020204" pitchFamily="34" charset="-122"/>
              </a:endParaRP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grpSp>
          <p:nvGrpSpPr>
            <p:cNvPr id="147" name="组合 139"/>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grpSp>
          <p:nvGrpSpPr>
            <p:cNvPr id="150" name="组合 131"/>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endParaRPr lang="en-US" altLang="zh-CN" sz="1200" b="1">
                <a:latin typeface="微软雅黑" panose="020B0503020204020204" pitchFamily="34" charset="-122"/>
                <a:ea typeface="微软雅黑" panose="020B0503020204020204" pitchFamily="34" charset="-122"/>
              </a:endParaRP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endParaRPr lang="en-US" altLang="zh-CN" sz="1200" b="1">
                <a:latin typeface="微软雅黑" panose="020B0503020204020204" pitchFamily="34" charset="-122"/>
                <a:ea typeface="微软雅黑" panose="020B0503020204020204" pitchFamily="34" charset="-122"/>
              </a:endParaRPr>
            </a:p>
          </p:txBody>
        </p:sp>
        <p:sp>
          <p:nvSpPr>
            <p:cNvPr id="167" name="Freeform 13"/>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endParaRPr lang="zh-CN" altLang="en-US" sz="1100" b="1" dirty="0">
                <a:latin typeface="微软雅黑" panose="020B0503020204020204" pitchFamily="34" charset="-122"/>
                <a:ea typeface="微软雅黑" panose="020B0503020204020204" pitchFamily="34" charset="-122"/>
              </a:endParaRP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grpSp>
          <p:nvGrpSpPr>
            <p:cNvPr id="191" name="组合 99"/>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endParaRPr lang="en-US" altLang="zh-CN" sz="1100" b="1" dirty="0">
                  <a:solidFill>
                    <a:srgbClr val="990000"/>
                  </a:solidFill>
                  <a:latin typeface="微软雅黑" panose="020B0503020204020204" pitchFamily="34" charset="-122"/>
                  <a:ea typeface="微软雅黑" panose="020B0503020204020204" pitchFamily="34" charset="-122"/>
                </a:endParaRP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endParaRPr lang="zh-CN" altLang="en-US" sz="1100" b="1">
                <a:latin typeface="微软雅黑" panose="020B0503020204020204" pitchFamily="34" charset="-122"/>
                <a:ea typeface="微软雅黑" panose="020B0503020204020204" pitchFamily="34" charset="-122"/>
              </a:endParaRP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endParaRPr lang="en-US" altLang="zh-CN" sz="1100" b="1">
                <a:latin typeface="微软雅黑" panose="020B0503020204020204" pitchFamily="34" charset="-122"/>
                <a:ea typeface="微软雅黑" panose="020B0503020204020204" pitchFamily="34" charset="-122"/>
              </a:endParaRP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endParaRPr lang="zh-CN" altLang="en-US" sz="1100" b="1" dirty="0">
                <a:solidFill>
                  <a:srgbClr val="990000"/>
                </a:solidFill>
                <a:latin typeface="微软雅黑" panose="020B0503020204020204" pitchFamily="34" charset="-122"/>
                <a:ea typeface="微软雅黑" panose="020B0503020204020204" pitchFamily="34" charset="-122"/>
              </a:endParaRP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endParaRPr lang="zh-CN" altLang="en-US" sz="1100" b="1">
                <a:latin typeface="微软雅黑" panose="020B0503020204020204" pitchFamily="34" charset="-122"/>
                <a:ea typeface="微软雅黑" panose="020B0503020204020204" pitchFamily="34" charset="-122"/>
              </a:endParaRP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endParaRPr lang="zh-CN" altLang="en-US" sz="1100" b="1">
                <a:solidFill>
                  <a:srgbClr val="CC00FF"/>
                </a:solidFill>
                <a:latin typeface="微软雅黑" panose="020B0503020204020204" pitchFamily="34" charset="-122"/>
                <a:ea typeface="微软雅黑" panose="020B0503020204020204" pitchFamily="34" charset="-122"/>
              </a:endParaRP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endParaRPr lang="zh-CN" altLang="en-US" sz="1100" b="1" dirty="0">
                <a:solidFill>
                  <a:srgbClr val="CC00FF"/>
                </a:solidFill>
                <a:latin typeface="微软雅黑" panose="020B0503020204020204" pitchFamily="34" charset="-122"/>
                <a:ea typeface="微软雅黑" panose="020B0503020204020204" pitchFamily="34" charset="-122"/>
              </a:endParaRP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endParaRPr lang="zh-CN" altLang="en-US" sz="1100" b="1" dirty="0">
                <a:solidFill>
                  <a:srgbClr val="CC00FF"/>
                </a:solidFill>
                <a:latin typeface="微软雅黑" panose="020B0503020204020204" pitchFamily="34" charset="-122"/>
                <a:ea typeface="微软雅黑" panose="020B0503020204020204" pitchFamily="34" charset="-122"/>
              </a:endParaRP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endParaRPr lang="en-US" altLang="zh-CN" sz="1100" b="1" dirty="0">
                <a:latin typeface="微软雅黑" panose="020B0503020204020204" pitchFamily="34" charset="-122"/>
                <a:ea typeface="微软雅黑" panose="020B0503020204020204" pitchFamily="34" charset="-122"/>
              </a:endParaRP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endParaRPr lang="zh-CN" altLang="en-US" sz="1100" b="1" dirty="0">
                <a:latin typeface="微软雅黑" panose="020B0503020204020204" pitchFamily="34" charset="-122"/>
                <a:ea typeface="微软雅黑" panose="020B0503020204020204" pitchFamily="34" charset="-122"/>
              </a:endParaRP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endParaRPr lang="zh-CN" altLang="en-US" sz="1100" b="1" dirty="0">
                <a:solidFill>
                  <a:srgbClr val="006600"/>
                </a:solidFill>
                <a:latin typeface="微软雅黑" panose="020B0503020204020204" pitchFamily="34" charset="-122"/>
                <a:ea typeface="微软雅黑" panose="020B0503020204020204" pitchFamily="34" charset="-122"/>
              </a:endParaRP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ln>
          </p:spPr>
        </p:cxnSp>
        <p:grpSp>
          <p:nvGrpSpPr>
            <p:cNvPr id="235" name="组合 151"/>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endParaRPr lang="zh-CN" altLang="en-US" sz="1200" b="1" dirty="0">
                <a:latin typeface="微软雅黑" panose="020B0503020204020204" pitchFamily="34" charset="-122"/>
                <a:ea typeface="微软雅黑" panose="020B0503020204020204" pitchFamily="34" charset="-122"/>
              </a:endParaRP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endParaRPr lang="zh-CN" altLang="en-US" sz="1200" b="1" dirty="0">
                <a:latin typeface="微软雅黑" panose="020B0503020204020204" pitchFamily="34" charset="-122"/>
                <a:ea typeface="微软雅黑" panose="020B0503020204020204" pitchFamily="34" charset="-122"/>
              </a:endParaRP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endParaRPr lang="zh-CN" altLang="en-US" sz="1200" b="1">
                <a:latin typeface="微软雅黑" panose="020B0503020204020204" pitchFamily="34" charset="-122"/>
                <a:ea typeface="微软雅黑" panose="020B0503020204020204" pitchFamily="34" charset="-122"/>
              </a:endParaRP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endParaRPr lang="zh-CN" altLang="en-US" sz="1200" b="1">
                <a:latin typeface="微软雅黑" panose="020B0503020204020204" pitchFamily="34" charset="-122"/>
                <a:ea typeface="微软雅黑" panose="020B0503020204020204" pitchFamily="34" charset="-122"/>
              </a:endParaRPr>
            </a:p>
          </p:txBody>
        </p:sp>
      </p:grpSp>
      <p:sp>
        <p:nvSpPr>
          <p:cNvPr id="80" name="矩形 79"/>
          <p:cNvSpPr/>
          <p:nvPr/>
        </p:nvSpPr>
        <p:spPr>
          <a:xfrm>
            <a:off x="1201783" y="3987657"/>
            <a:ext cx="6933087" cy="861774"/>
          </a:xfrm>
          <a:prstGeom prst="rect">
            <a:avLst/>
          </a:prstGeom>
        </p:spPr>
        <p:txBody>
          <a:bodyPr wrap="square">
            <a:spAutoFit/>
          </a:bodyPr>
          <a:lstStyle/>
          <a:p>
            <a:pPr>
              <a:lnSpc>
                <a:spcPts val="2000"/>
              </a:lnSpc>
            </a:pPr>
            <a:r>
              <a:rPr lang="zh-CN" altLang="en-US" sz="1600" b="1" dirty="0">
                <a:latin typeface="微软雅黑" panose="020B0503020204020204" pitchFamily="34" charset="-122"/>
                <a:ea typeface="微软雅黑" panose="020B0503020204020204" pitchFamily="34" charset="-122"/>
              </a:rPr>
              <a:t>在等待信道进入空闲状态后</a:t>
            </a:r>
            <a:r>
              <a:rPr lang="zh-CN" altLang="en-US" sz="1600" b="1" dirty="0" smtClean="0">
                <a:latin typeface="微软雅黑" panose="020B0503020204020204" pitchFamily="34" charset="-122"/>
                <a:ea typeface="微软雅黑" panose="020B0503020204020204" pitchFamily="34" charset="-122"/>
              </a:rPr>
              <a:t>，都经过</a:t>
            </a:r>
            <a:r>
              <a:rPr lang="zh-CN" altLang="en-US" sz="1600" b="1" dirty="0">
                <a:latin typeface="微软雅黑" panose="020B0503020204020204" pitchFamily="34" charset="-122"/>
                <a:ea typeface="微软雅黑" panose="020B0503020204020204" pitchFamily="34" charset="-122"/>
              </a:rPr>
              <a:t>规定的</a:t>
            </a:r>
            <a:r>
              <a:rPr lang="zh-CN" altLang="en-US" sz="1600" b="1" dirty="0" smtClean="0">
                <a:latin typeface="微软雅黑" panose="020B0503020204020204" pitchFamily="34" charset="-122"/>
                <a:ea typeface="微软雅黑" panose="020B0503020204020204" pitchFamily="34" charset="-122"/>
              </a:rPr>
              <a:t>时间间隔 </a:t>
            </a:r>
            <a:r>
              <a:rPr lang="en-US" altLang="zh-CN" sz="1600" b="1" dirty="0" smtClean="0">
                <a:latin typeface="微软雅黑" panose="020B0503020204020204" pitchFamily="34" charset="-122"/>
                <a:ea typeface="微软雅黑" panose="020B0503020204020204" pitchFamily="34" charset="-122"/>
              </a:rPr>
              <a:t>DIFS </a:t>
            </a:r>
            <a:r>
              <a:rPr lang="zh-CN" altLang="en-US" sz="1600" b="1" dirty="0" smtClean="0">
                <a:latin typeface="微软雅黑" panose="020B0503020204020204" pitchFamily="34" charset="-122"/>
                <a:ea typeface="微软雅黑" panose="020B0503020204020204" pitchFamily="34" charset="-122"/>
              </a:rPr>
              <a:t>再</a:t>
            </a:r>
            <a:r>
              <a:rPr lang="zh-CN" altLang="en-US" sz="1600" b="1" dirty="0">
                <a:latin typeface="微软雅黑" panose="020B0503020204020204" pitchFamily="34" charset="-122"/>
                <a:ea typeface="微软雅黑" panose="020B0503020204020204" pitchFamily="34" charset="-122"/>
              </a:rPr>
              <a:t>同时发送</a:t>
            </a:r>
            <a:r>
              <a:rPr lang="zh-CN" altLang="en-US" sz="1600" b="1" dirty="0" smtClean="0">
                <a:latin typeface="微软雅黑" panose="020B0503020204020204" pitchFamily="34" charset="-122"/>
                <a:ea typeface="微软雅黑" panose="020B0503020204020204" pitchFamily="34" charset="-122"/>
              </a:rPr>
              <a:t>数据必然</a:t>
            </a:r>
            <a:r>
              <a:rPr lang="zh-CN" altLang="en-US" sz="1600" b="1" dirty="0">
                <a:latin typeface="微软雅黑" panose="020B0503020204020204" pitchFamily="34" charset="-122"/>
                <a:ea typeface="微软雅黑" panose="020B0503020204020204" pitchFamily="34" charset="-122"/>
              </a:rPr>
              <a:t>产生碰撞。因此</a:t>
            </a:r>
            <a:r>
              <a:rPr lang="zh-CN" altLang="en-US" sz="1600" b="1" dirty="0" smtClean="0">
                <a:latin typeface="微软雅黑" panose="020B0503020204020204" pitchFamily="34" charset="-122"/>
                <a:ea typeface="微软雅黑" panose="020B0503020204020204" pitchFamily="34" charset="-122"/>
              </a:rPr>
              <a:t>，</a:t>
            </a:r>
            <a:r>
              <a:rPr lang="en-US" altLang="zh-CN" sz="1600" b="1" dirty="0" smtClean="0">
                <a:latin typeface="微软雅黑" panose="020B0503020204020204" pitchFamily="34" charset="-122"/>
                <a:ea typeface="微软雅黑" panose="020B0503020204020204" pitchFamily="34" charset="-122"/>
              </a:rPr>
              <a:t>CSMA/CA </a:t>
            </a:r>
            <a:r>
              <a:rPr lang="zh-CN" altLang="en-US" sz="1600" b="1" dirty="0" smtClean="0">
                <a:latin typeface="微软雅黑" panose="020B0503020204020204" pitchFamily="34" charset="-122"/>
                <a:ea typeface="微软雅黑" panose="020B0503020204020204" pitchFamily="34" charset="-122"/>
              </a:rPr>
              <a:t>规定：所有</a:t>
            </a:r>
            <a:r>
              <a:rPr lang="zh-CN" altLang="en-US" sz="1600" b="1" dirty="0">
                <a:latin typeface="微软雅黑" panose="020B0503020204020204" pitchFamily="34" charset="-122"/>
                <a:ea typeface="微软雅黑" panose="020B0503020204020204" pitchFamily="34" charset="-122"/>
              </a:rPr>
              <a:t>推迟接入的</a:t>
            </a:r>
            <a:r>
              <a:rPr lang="zh-CN" altLang="en-US" sz="1600" b="1" dirty="0" smtClean="0">
                <a:latin typeface="微软雅黑" panose="020B0503020204020204" pitchFamily="34" charset="-122"/>
                <a:ea typeface="微软雅黑" panose="020B0503020204020204" pitchFamily="34" charset="-122"/>
              </a:rPr>
              <a:t>站都</a:t>
            </a:r>
            <a:r>
              <a:rPr lang="zh-CN" altLang="en-US" sz="1600" b="1" dirty="0">
                <a:latin typeface="微软雅黑" panose="020B0503020204020204" pitchFamily="34" charset="-122"/>
                <a:ea typeface="微软雅黑" panose="020B0503020204020204" pitchFamily="34" charset="-122"/>
              </a:rPr>
              <a:t>必须在</a:t>
            </a:r>
            <a:r>
              <a:rPr lang="zh-CN" altLang="en-US" sz="1600" b="1" dirty="0">
                <a:solidFill>
                  <a:srgbClr val="C00000"/>
                </a:solidFill>
                <a:latin typeface="微软雅黑" panose="020B0503020204020204" pitchFamily="34" charset="-122"/>
                <a:ea typeface="微软雅黑" panose="020B0503020204020204" pitchFamily="34" charset="-122"/>
              </a:rPr>
              <a:t>争用期</a:t>
            </a:r>
            <a:r>
              <a:rPr lang="zh-CN" altLang="en-US" sz="1600" b="1" dirty="0">
                <a:latin typeface="微软雅黑" panose="020B0503020204020204" pitchFamily="34" charset="-122"/>
                <a:ea typeface="微软雅黑" panose="020B0503020204020204" pitchFamily="34" charset="-122"/>
              </a:rPr>
              <a:t>执行统一的</a:t>
            </a:r>
            <a:r>
              <a:rPr lang="zh-CN" altLang="en-US" sz="1600" b="1" dirty="0">
                <a:solidFill>
                  <a:srgbClr val="C00000"/>
                </a:solidFill>
                <a:latin typeface="微软雅黑" panose="020B0503020204020204" pitchFamily="34" charset="-122"/>
                <a:ea typeface="微软雅黑" panose="020B0503020204020204" pitchFamily="34" charset="-122"/>
              </a:rPr>
              <a:t>退避算法</a:t>
            </a:r>
            <a:r>
              <a:rPr lang="zh-CN" altLang="en-US" sz="1600" b="1" dirty="0">
                <a:latin typeface="微软雅黑" panose="020B0503020204020204" pitchFamily="34" charset="-122"/>
                <a:ea typeface="微软雅黑" panose="020B0503020204020204" pitchFamily="34" charset="-122"/>
              </a:rPr>
              <a:t>开始</a:t>
            </a:r>
            <a:r>
              <a:rPr lang="zh-CN" altLang="en-US" sz="1600" b="1" dirty="0">
                <a:solidFill>
                  <a:srgbClr val="0000CC"/>
                </a:solidFill>
                <a:latin typeface="微软雅黑" panose="020B0503020204020204" pitchFamily="34" charset="-122"/>
                <a:ea typeface="微软雅黑" panose="020B0503020204020204" pitchFamily="34" charset="-122"/>
              </a:rPr>
              <a:t>公平地</a:t>
            </a:r>
            <a:r>
              <a:rPr lang="zh-CN" altLang="en-US" sz="1600" b="1" dirty="0">
                <a:solidFill>
                  <a:srgbClr val="C00000"/>
                </a:solidFill>
                <a:latin typeface="微软雅黑" panose="020B0503020204020204" pitchFamily="34" charset="-122"/>
                <a:ea typeface="微软雅黑" panose="020B0503020204020204" pitchFamily="34" charset="-122"/>
              </a:rPr>
              <a:t>争用信道</a:t>
            </a:r>
            <a:r>
              <a:rPr lang="zh-CN" altLang="en-US" sz="1600" b="1" dirty="0" smtClean="0">
                <a:solidFill>
                  <a:srgbClr val="C00000"/>
                </a:solidFill>
                <a:latin typeface="微软雅黑" panose="020B0503020204020204" pitchFamily="34" charset="-122"/>
                <a:ea typeface="微软雅黑" panose="020B0503020204020204" pitchFamily="34" charset="-12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8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89" grpId="0"/>
      <p:bldP spid="18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争用信道的过程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endParaRPr lang="zh-CN" altLang="en-US" sz="1100" b="1" dirty="0">
              <a:solidFill>
                <a:srgbClr val="990000"/>
              </a:solidFill>
              <a:latin typeface="微软雅黑" panose="020B0503020204020204" pitchFamily="34" charset="-122"/>
              <a:ea typeface="微软雅黑" panose="020B0503020204020204" pitchFamily="34" charset="-122"/>
            </a:endParaRP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grpSp>
        <p:nvGrpSpPr>
          <p:cNvPr id="3" name="组合 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endParaRPr lang="en-US" altLang="zh-CN" sz="1100" b="1">
                <a:latin typeface="微软雅黑" panose="020B0503020204020204" pitchFamily="34" charset="-122"/>
                <a:ea typeface="微软雅黑" panose="020B0503020204020204" pitchFamily="34" charset="-122"/>
              </a:endParaRP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grpSp>
          <p:nvGrpSpPr>
            <p:cNvPr id="147" name="组合 139"/>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grpSp>
          <p:nvGrpSpPr>
            <p:cNvPr id="150" name="组合 131"/>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endParaRPr lang="en-US" altLang="zh-CN" sz="1200" b="1">
                <a:latin typeface="微软雅黑" panose="020B0503020204020204" pitchFamily="34" charset="-122"/>
                <a:ea typeface="微软雅黑" panose="020B0503020204020204" pitchFamily="34" charset="-122"/>
              </a:endParaRP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endParaRPr lang="en-US" altLang="zh-CN" sz="1200" b="1">
                <a:latin typeface="微软雅黑" panose="020B0503020204020204" pitchFamily="34" charset="-122"/>
                <a:ea typeface="微软雅黑" panose="020B0503020204020204" pitchFamily="34" charset="-122"/>
              </a:endParaRPr>
            </a:p>
          </p:txBody>
        </p:sp>
        <p:sp>
          <p:nvSpPr>
            <p:cNvPr id="167" name="Freeform 13"/>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endParaRPr lang="zh-CN" altLang="en-US" sz="1100" b="1" dirty="0">
                <a:latin typeface="微软雅黑" panose="020B0503020204020204" pitchFamily="34" charset="-122"/>
                <a:ea typeface="微软雅黑" panose="020B0503020204020204" pitchFamily="34" charset="-122"/>
              </a:endParaRP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endParaRPr lang="zh-CN" altLang="en-US" sz="1100" b="1" dirty="0">
                <a:solidFill>
                  <a:srgbClr val="0000CC"/>
                </a:solidFill>
                <a:latin typeface="微软雅黑" panose="020B0503020204020204" pitchFamily="34" charset="-122"/>
                <a:ea typeface="微软雅黑" panose="020B0503020204020204" pitchFamily="34" charset="-122"/>
              </a:endParaRP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endParaRPr lang="zh-CN" altLang="en-US" sz="1100" b="1">
                <a:latin typeface="微软雅黑" panose="020B0503020204020204" pitchFamily="34" charset="-122"/>
                <a:ea typeface="微软雅黑" panose="020B0503020204020204" pitchFamily="34" charset="-122"/>
              </a:endParaRP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endParaRPr lang="en-US" altLang="zh-CN" sz="1100" b="1">
                <a:latin typeface="微软雅黑" panose="020B0503020204020204" pitchFamily="34" charset="-122"/>
                <a:ea typeface="微软雅黑" panose="020B0503020204020204" pitchFamily="34" charset="-122"/>
              </a:endParaRP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endParaRPr lang="zh-CN" altLang="en-US" sz="1100" b="1" dirty="0">
                <a:solidFill>
                  <a:srgbClr val="990000"/>
                </a:solidFill>
                <a:latin typeface="微软雅黑" panose="020B0503020204020204" pitchFamily="34" charset="-122"/>
                <a:ea typeface="微软雅黑" panose="020B0503020204020204" pitchFamily="34" charset="-122"/>
              </a:endParaRP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endParaRPr lang="zh-CN" altLang="en-US" sz="1100" b="1">
                <a:latin typeface="微软雅黑" panose="020B0503020204020204" pitchFamily="34" charset="-122"/>
                <a:ea typeface="微软雅黑" panose="020B0503020204020204" pitchFamily="34" charset="-122"/>
              </a:endParaRP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endParaRPr lang="zh-CN" altLang="en-US" sz="1100" b="1">
                <a:solidFill>
                  <a:srgbClr val="CC00FF"/>
                </a:solidFill>
                <a:latin typeface="微软雅黑" panose="020B0503020204020204" pitchFamily="34" charset="-122"/>
                <a:ea typeface="微软雅黑" panose="020B0503020204020204" pitchFamily="34" charset="-122"/>
              </a:endParaRP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endParaRPr lang="zh-CN" altLang="en-US" sz="1100" b="1" dirty="0">
                <a:solidFill>
                  <a:srgbClr val="CC00FF"/>
                </a:solidFill>
                <a:latin typeface="微软雅黑" panose="020B0503020204020204" pitchFamily="34" charset="-122"/>
                <a:ea typeface="微软雅黑" panose="020B0503020204020204" pitchFamily="34" charset="-122"/>
              </a:endParaRP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endParaRPr lang="zh-CN" altLang="en-US" sz="1100" b="1" dirty="0">
                <a:solidFill>
                  <a:srgbClr val="CC00FF"/>
                </a:solidFill>
                <a:latin typeface="微软雅黑" panose="020B0503020204020204" pitchFamily="34" charset="-122"/>
                <a:ea typeface="微软雅黑" panose="020B0503020204020204" pitchFamily="34" charset="-122"/>
              </a:endParaRP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endParaRPr lang="en-US" altLang="zh-CN" sz="1100" b="1" dirty="0">
                <a:latin typeface="微软雅黑" panose="020B0503020204020204" pitchFamily="34" charset="-122"/>
                <a:ea typeface="微软雅黑" panose="020B0503020204020204" pitchFamily="34" charset="-122"/>
              </a:endParaRP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endParaRPr lang="zh-CN" altLang="en-US" sz="1100" b="1" dirty="0">
                <a:latin typeface="微软雅黑" panose="020B0503020204020204" pitchFamily="34" charset="-122"/>
                <a:ea typeface="微软雅黑" panose="020B0503020204020204" pitchFamily="34" charset="-122"/>
              </a:endParaRP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endParaRPr lang="zh-CN" altLang="en-US" sz="1100" b="1" dirty="0">
                <a:solidFill>
                  <a:srgbClr val="006600"/>
                </a:solidFill>
                <a:latin typeface="微软雅黑" panose="020B0503020204020204" pitchFamily="34" charset="-122"/>
                <a:ea typeface="微软雅黑" panose="020B0503020204020204" pitchFamily="34" charset="-122"/>
              </a:endParaRP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ln>
          </p:spPr>
        </p:cxnSp>
        <p:grpSp>
          <p:nvGrpSpPr>
            <p:cNvPr id="235" name="组合 151"/>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endParaRPr lang="zh-CN" altLang="en-US" sz="1100" b="1" dirty="0">
                  <a:solidFill>
                    <a:srgbClr val="C00000"/>
                  </a:solidFill>
                  <a:latin typeface="微软雅黑" panose="020B0503020204020204" pitchFamily="34" charset="-122"/>
                  <a:ea typeface="微软雅黑" panose="020B0503020204020204" pitchFamily="34" charset="-122"/>
                </a:endParaRP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endParaRPr lang="en-US" altLang="zh-CN" sz="1100" b="1" i="1">
                <a:latin typeface="微软雅黑" panose="020B0503020204020204" pitchFamily="34" charset="-122"/>
                <a:ea typeface="微软雅黑" panose="020B0503020204020204" pitchFamily="34" charset="-122"/>
              </a:endParaRP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endParaRPr lang="zh-CN" altLang="en-US" sz="1200" b="1" dirty="0">
                <a:latin typeface="微软雅黑" panose="020B0503020204020204" pitchFamily="34" charset="-122"/>
                <a:ea typeface="微软雅黑" panose="020B0503020204020204" pitchFamily="34" charset="-122"/>
              </a:endParaRP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endParaRPr lang="zh-CN" altLang="en-US" sz="1200" b="1" dirty="0">
                <a:latin typeface="微软雅黑" panose="020B0503020204020204" pitchFamily="34" charset="-122"/>
                <a:ea typeface="微软雅黑" panose="020B0503020204020204" pitchFamily="34" charset="-122"/>
              </a:endParaRP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endParaRPr lang="zh-CN" altLang="en-US" sz="1200" b="1">
                <a:latin typeface="微软雅黑" panose="020B0503020204020204" pitchFamily="34" charset="-122"/>
                <a:ea typeface="微软雅黑" panose="020B0503020204020204" pitchFamily="34" charset="-122"/>
              </a:endParaRP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endParaRPr lang="zh-CN" altLang="en-US" sz="1200" b="1">
                <a:latin typeface="微软雅黑" panose="020B0503020204020204" pitchFamily="34" charset="-122"/>
                <a:ea typeface="微软雅黑" panose="020B0503020204020204" pitchFamily="34" charset="-122"/>
              </a:endParaRPr>
            </a:p>
          </p:txBody>
        </p:sp>
      </p:grpSp>
      <p:sp>
        <p:nvSpPr>
          <p:cNvPr id="80" name="矩形 79"/>
          <p:cNvSpPr/>
          <p:nvPr/>
        </p:nvSpPr>
        <p:spPr>
          <a:xfrm>
            <a:off x="1201783" y="3987657"/>
            <a:ext cx="6933087" cy="605294"/>
          </a:xfrm>
          <a:prstGeom prst="rect">
            <a:avLst/>
          </a:prstGeom>
        </p:spPr>
        <p:txBody>
          <a:bodyPr wrap="square">
            <a:spAutoFit/>
          </a:bodyPr>
          <a:lstStyle/>
          <a:p>
            <a:pPr>
              <a:lnSpc>
                <a:spcPts val="2000"/>
              </a:lnSpc>
            </a:pPr>
            <a:r>
              <a:rPr lang="zh-CN" altLang="en-US" sz="1600" b="1" dirty="0">
                <a:latin typeface="微软雅黑" panose="020B0503020204020204" pitchFamily="34" charset="-122"/>
                <a:ea typeface="微软雅黑" panose="020B0503020204020204" pitchFamily="34" charset="-122"/>
              </a:rPr>
              <a:t>争用期也叫做</a:t>
            </a:r>
            <a:r>
              <a:rPr lang="zh-CN" altLang="en-US" sz="1600" b="1" dirty="0">
                <a:solidFill>
                  <a:srgbClr val="C00000"/>
                </a:solidFill>
                <a:latin typeface="微软雅黑" panose="020B0503020204020204" pitchFamily="34" charset="-122"/>
                <a:ea typeface="微软雅黑" panose="020B0503020204020204" pitchFamily="34" charset="-122"/>
              </a:rPr>
              <a:t>争用</a:t>
            </a:r>
            <a:r>
              <a:rPr lang="zh-CN" altLang="en-US" sz="1600" b="1" dirty="0" smtClean="0">
                <a:solidFill>
                  <a:srgbClr val="C00000"/>
                </a:solidFill>
                <a:latin typeface="微软雅黑" panose="020B0503020204020204" pitchFamily="34" charset="-122"/>
                <a:ea typeface="微软雅黑" panose="020B0503020204020204" pitchFamily="34" charset="-122"/>
              </a:rPr>
              <a:t>窗口 </a:t>
            </a:r>
            <a:r>
              <a:rPr lang="en-US" altLang="zh-CN" sz="1600" b="1" dirty="0" smtClean="0">
                <a:solidFill>
                  <a:srgbClr val="C00000"/>
                </a:solidFill>
                <a:latin typeface="微软雅黑" panose="020B0503020204020204" pitchFamily="34" charset="-122"/>
                <a:ea typeface="微软雅黑" panose="020B0503020204020204" pitchFamily="34" charset="-122"/>
              </a:rPr>
              <a:t>CW</a:t>
            </a:r>
            <a:r>
              <a:rPr lang="en-US" altLang="zh-CN" sz="1600" b="1" dirty="0" smtClean="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(Contention Window)</a:t>
            </a:r>
            <a:r>
              <a:rPr lang="zh-CN" altLang="en-US" sz="1600" b="1" dirty="0">
                <a:latin typeface="微软雅黑" panose="020B0503020204020204" pitchFamily="34" charset="-122"/>
                <a:ea typeface="微软雅黑" panose="020B0503020204020204" pitchFamily="34" charset="-122"/>
              </a:rPr>
              <a:t>。争用窗口由许多</a:t>
            </a:r>
            <a:r>
              <a:rPr lang="zh-CN" altLang="en-US" sz="1600" b="1" dirty="0" smtClean="0">
                <a:latin typeface="微软雅黑" panose="020B0503020204020204" pitchFamily="34" charset="-122"/>
                <a:ea typeface="微软雅黑" panose="020B0503020204020204" pitchFamily="34" charset="-122"/>
              </a:rPr>
              <a:t>时隙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time slot</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组成</a:t>
            </a:r>
            <a:r>
              <a:rPr lang="zh-CN" altLang="en-US" sz="1600" b="1" dirty="0">
                <a:latin typeface="微软雅黑" panose="020B0503020204020204" pitchFamily="34" charset="-122"/>
                <a:ea typeface="微软雅黑" panose="020B0503020204020204" pitchFamily="34" charset="-122"/>
              </a:rPr>
              <a:t>。例如，争用</a:t>
            </a:r>
            <a:r>
              <a:rPr lang="zh-CN" altLang="en-US" sz="1600" b="1" dirty="0" smtClean="0">
                <a:latin typeface="微软雅黑" panose="020B0503020204020204" pitchFamily="34" charset="-122"/>
                <a:ea typeface="微软雅黑" panose="020B0503020204020204" pitchFamily="34" charset="-122"/>
              </a:rPr>
              <a:t>窗口 </a:t>
            </a:r>
            <a:r>
              <a:rPr lang="en-US" altLang="zh-CN" sz="1600" b="1" dirty="0" smtClean="0">
                <a:latin typeface="微软雅黑" panose="020B0503020204020204" pitchFamily="34" charset="-122"/>
                <a:ea typeface="微软雅黑" panose="020B0503020204020204" pitchFamily="34" charset="-122"/>
              </a:rPr>
              <a:t>CW </a:t>
            </a:r>
            <a:r>
              <a:rPr lang="en-US" altLang="zh-CN" sz="1600" b="1" dirty="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15 </a:t>
            </a:r>
            <a:r>
              <a:rPr lang="zh-CN" altLang="en-US" sz="1600" b="1" dirty="0" smtClean="0">
                <a:latin typeface="微软雅黑" panose="020B0503020204020204" pitchFamily="34" charset="-122"/>
                <a:ea typeface="微软雅黑" panose="020B0503020204020204" pitchFamily="34" charset="-122"/>
              </a:rPr>
              <a:t>即</a:t>
            </a:r>
            <a:r>
              <a:rPr lang="zh-CN" altLang="en-US" sz="1600" b="1" dirty="0">
                <a:latin typeface="微软雅黑" panose="020B0503020204020204" pitchFamily="34" charset="-122"/>
                <a:ea typeface="微软雅黑" panose="020B0503020204020204" pitchFamily="34" charset="-122"/>
              </a:rPr>
              <a:t>窗口大小</a:t>
            </a:r>
            <a:r>
              <a:rPr lang="zh-CN" altLang="en-US" sz="1600" b="1" dirty="0" smtClean="0">
                <a:latin typeface="微软雅黑" panose="020B0503020204020204" pitchFamily="34" charset="-122"/>
                <a:ea typeface="微软雅黑" panose="020B0503020204020204" pitchFamily="34" charset="-122"/>
              </a:rPr>
              <a:t>是 </a:t>
            </a:r>
            <a:r>
              <a:rPr lang="en-US" altLang="zh-CN" sz="1600" b="1" dirty="0" smtClean="0">
                <a:latin typeface="微软雅黑" panose="020B0503020204020204" pitchFamily="34" charset="-122"/>
                <a:ea typeface="微软雅黑" panose="020B0503020204020204" pitchFamily="34" charset="-122"/>
              </a:rPr>
              <a:t>15 </a:t>
            </a:r>
            <a:r>
              <a:rPr lang="zh-CN" altLang="en-US" sz="1600" b="1" dirty="0" smtClean="0">
                <a:latin typeface="微软雅黑" panose="020B0503020204020204" pitchFamily="34" charset="-122"/>
                <a:ea typeface="微软雅黑" panose="020B0503020204020204" pitchFamily="34" charset="-122"/>
              </a:rPr>
              <a:t>个</a:t>
            </a:r>
            <a:r>
              <a:rPr lang="zh-CN" altLang="en-US" sz="1600" b="1" dirty="0">
                <a:latin typeface="微软雅黑" panose="020B0503020204020204" pitchFamily="34" charset="-122"/>
                <a:ea typeface="微软雅黑" panose="020B0503020204020204" pitchFamily="34" charset="-122"/>
              </a:rPr>
              <a:t>时隙</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grpSp>
        <p:nvGrpSpPr>
          <p:cNvPr id="191" name="组合 99"/>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endParaRPr lang="en-US" altLang="zh-CN" sz="1100" b="1" dirty="0">
                <a:solidFill>
                  <a:srgbClr val="990000"/>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9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时隙长度的确定</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方法：</a:t>
            </a:r>
            <a:r>
              <a:rPr lang="zh-CN" altLang="en-US" sz="2000" b="1" dirty="0">
                <a:latin typeface="微软雅黑" panose="020B0503020204020204" pitchFamily="34" charset="-122"/>
                <a:ea typeface="微软雅黑" panose="020B0503020204020204" pitchFamily="34" charset="-122"/>
              </a:rPr>
              <a:t>在下一个时隙开始时，每个站点都能检测出在前一个时隙开始时信道是否忙（这样就可采取适当对策）。</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时隙长短</a:t>
            </a:r>
            <a:r>
              <a:rPr lang="zh-CN" altLang="en-US" sz="2000" b="1" dirty="0">
                <a:solidFill>
                  <a:srgbClr val="0000CC"/>
                </a:solidFill>
                <a:latin typeface="微软雅黑" panose="020B0503020204020204" pitchFamily="34" charset="-122"/>
                <a:ea typeface="微软雅黑" panose="020B0503020204020204" pitchFamily="34" charset="-122"/>
              </a:rPr>
              <a:t>在</a:t>
            </a:r>
            <a:r>
              <a:rPr lang="zh-CN" altLang="en-US" sz="2000" b="1" dirty="0" smtClean="0">
                <a:solidFill>
                  <a:srgbClr val="0000CC"/>
                </a:solidFill>
                <a:latin typeface="微软雅黑" panose="020B0503020204020204" pitchFamily="34" charset="-122"/>
                <a:ea typeface="微软雅黑" panose="020B0503020204020204" pitchFamily="34" charset="-122"/>
              </a:rPr>
              <a:t>不同 </a:t>
            </a:r>
            <a:r>
              <a:rPr lang="en-US" altLang="zh-CN" sz="2000" b="1" dirty="0" smtClean="0">
                <a:solidFill>
                  <a:srgbClr val="0000CC"/>
                </a:solidFill>
                <a:latin typeface="微软雅黑" panose="020B0503020204020204" pitchFamily="34" charset="-122"/>
                <a:ea typeface="微软雅黑" panose="020B0503020204020204" pitchFamily="34" charset="-122"/>
              </a:rPr>
              <a:t>802.11 </a:t>
            </a:r>
            <a:r>
              <a:rPr lang="zh-CN" altLang="en-US" sz="2000" b="1" dirty="0" smtClean="0">
                <a:solidFill>
                  <a:srgbClr val="0000CC"/>
                </a:solidFill>
                <a:latin typeface="微软雅黑" panose="020B0503020204020204" pitchFamily="34" charset="-122"/>
                <a:ea typeface="微软雅黑" panose="020B0503020204020204" pitchFamily="34" charset="-122"/>
              </a:rPr>
              <a:t>标准</a:t>
            </a:r>
            <a:r>
              <a:rPr lang="zh-CN" altLang="en-US" sz="2000" b="1" dirty="0">
                <a:solidFill>
                  <a:srgbClr val="0000CC"/>
                </a:solidFill>
                <a:latin typeface="微软雅黑" panose="020B0503020204020204" pitchFamily="34" charset="-122"/>
                <a:ea typeface="微软雅黑" panose="020B0503020204020204" pitchFamily="34" charset="-122"/>
              </a:rPr>
              <a:t>中可以有不同数值</a:t>
            </a:r>
            <a:r>
              <a:rPr lang="zh-CN" altLang="en-US" sz="2000" b="1" dirty="0" smtClean="0">
                <a:solidFill>
                  <a:srgbClr val="0000CC"/>
                </a:solidFill>
                <a:latin typeface="微软雅黑" panose="020B0503020204020204" pitchFamily="34" charset="-122"/>
                <a:ea typeface="微软雅黑" panose="020B0503020204020204" pitchFamily="34" charset="-122"/>
              </a:rPr>
              <a:t>。</a:t>
            </a:r>
            <a:endParaRPr lang="en-US" altLang="zh-CN" sz="2000" b="1" dirty="0" smtClean="0">
              <a:solidFill>
                <a:srgbClr val="0000CC"/>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例如：</a:t>
            </a:r>
            <a:r>
              <a:rPr lang="en-US" altLang="zh-CN" sz="2000" b="1" dirty="0" smtClean="0">
                <a:latin typeface="微软雅黑" panose="020B0503020204020204" pitchFamily="34" charset="-122"/>
                <a:ea typeface="微软雅黑" panose="020B0503020204020204" pitchFamily="34" charset="-122"/>
              </a:rPr>
              <a:t>802.11g </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一个时隙时间为 </a:t>
            </a:r>
            <a:r>
              <a:rPr lang="en-US" altLang="zh-CN" sz="2000" b="1" dirty="0">
                <a:latin typeface="微软雅黑" panose="020B0503020204020204" pitchFamily="34" charset="-122"/>
                <a:ea typeface="微软雅黑" panose="020B0503020204020204" pitchFamily="34" charset="-122"/>
              </a:rPr>
              <a:t>9us</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SIFS = 10 us</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DIFS = SIFS + (2 * Slot time)</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 28us</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875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退避</a:t>
            </a:r>
            <a:r>
              <a:rPr lang="zh-CN" altLang="en-US" sz="2000" b="1" dirty="0">
                <a:latin typeface="微软雅黑" panose="020B0503020204020204" pitchFamily="34" charset="-122"/>
                <a:ea typeface="微软雅黑" panose="020B0503020204020204" pitchFamily="34" charset="-122"/>
              </a:rPr>
              <a:t>算法 </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37475"/>
            <a:ext cx="8133857" cy="2631490"/>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站点在</a:t>
            </a:r>
            <a:r>
              <a:rPr lang="zh-CN" altLang="en-US" sz="2000" b="1" dirty="0">
                <a:solidFill>
                  <a:srgbClr val="C00000"/>
                </a:solidFill>
                <a:latin typeface="微软雅黑" panose="020B0503020204020204" pitchFamily="34" charset="-122"/>
                <a:ea typeface="微软雅黑" panose="020B0503020204020204" pitchFamily="34" charset="-122"/>
              </a:rPr>
              <a:t>进入争用期</a:t>
            </a:r>
            <a:r>
              <a:rPr lang="zh-CN" altLang="en-US" sz="2000" b="1" dirty="0">
                <a:latin typeface="微软雅黑" panose="020B0503020204020204" pitchFamily="34" charset="-122"/>
                <a:ea typeface="微软雅黑" panose="020B0503020204020204" pitchFamily="34" charset="-122"/>
              </a:rPr>
              <a:t>时，应</a:t>
            </a:r>
            <a:r>
              <a:rPr lang="zh-CN" altLang="en-US" sz="2000" b="1" dirty="0" smtClean="0">
                <a:latin typeface="微软雅黑" panose="020B0503020204020204" pitchFamily="34" charset="-122"/>
                <a:ea typeface="微软雅黑" panose="020B0503020204020204" pitchFamily="34" charset="-122"/>
              </a:rPr>
              <a:t>在 </a:t>
            </a:r>
            <a:r>
              <a:rPr lang="en-US" altLang="zh-CN" sz="2000" b="1" dirty="0" smtClean="0">
                <a:latin typeface="微软雅黑" panose="020B0503020204020204" pitchFamily="34" charset="-122"/>
                <a:ea typeface="微软雅黑" panose="020B0503020204020204" pitchFamily="34" charset="-122"/>
              </a:rPr>
              <a:t>0 </a:t>
            </a:r>
            <a:r>
              <a:rPr lang="en-US" altLang="zh-CN" sz="2000" b="1"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CW </a:t>
            </a:r>
            <a:r>
              <a:rPr lang="zh-CN" altLang="en-US" sz="2000" b="1" dirty="0" smtClean="0">
                <a:latin typeface="微软雅黑" panose="020B0503020204020204" pitchFamily="34" charset="-122"/>
                <a:ea typeface="微软雅黑" panose="020B0503020204020204" pitchFamily="34" charset="-122"/>
              </a:rPr>
              <a:t>个</a:t>
            </a:r>
            <a:r>
              <a:rPr lang="zh-CN" altLang="en-US" sz="2000" b="1" dirty="0">
                <a:latin typeface="微软雅黑" panose="020B0503020204020204" pitchFamily="34" charset="-122"/>
                <a:ea typeface="微软雅黑" panose="020B0503020204020204" pitchFamily="34" charset="-122"/>
              </a:rPr>
              <a:t>时隙中</a:t>
            </a:r>
            <a:r>
              <a:rPr lang="zh-CN" altLang="en-US" sz="2000" b="1" dirty="0">
                <a:solidFill>
                  <a:srgbClr val="C00000"/>
                </a:solidFill>
                <a:latin typeface="微软雅黑" panose="020B0503020204020204" pitchFamily="34" charset="-122"/>
                <a:ea typeface="微软雅黑" panose="020B0503020204020204" pitchFamily="34" charset="-122"/>
              </a:rPr>
              <a:t>随机</a:t>
            </a:r>
            <a:r>
              <a:rPr lang="zh-CN" altLang="en-US" sz="2000" b="1" dirty="0">
                <a:latin typeface="微软雅黑" panose="020B0503020204020204" pitchFamily="34" charset="-122"/>
                <a:ea typeface="微软雅黑" panose="020B0503020204020204" pitchFamily="34" charset="-122"/>
              </a:rPr>
              <a:t>生成一个退避时隙数，并设置</a:t>
            </a:r>
            <a:r>
              <a:rPr lang="zh-CN" altLang="en-US" sz="2000" b="1" dirty="0">
                <a:solidFill>
                  <a:srgbClr val="C00000"/>
                </a:solidFill>
                <a:latin typeface="微软雅黑" panose="020B0503020204020204" pitchFamily="34" charset="-122"/>
                <a:ea typeface="微软雅黑" panose="020B0503020204020204" pitchFamily="34" charset="-122"/>
              </a:rPr>
              <a:t>退避</a:t>
            </a:r>
            <a:r>
              <a:rPr lang="zh-CN" altLang="en-US" sz="2000" b="1" dirty="0" smtClean="0">
                <a:solidFill>
                  <a:srgbClr val="C00000"/>
                </a:solidFill>
                <a:latin typeface="微软雅黑" panose="020B0503020204020204" pitchFamily="34" charset="-122"/>
                <a:ea typeface="微软雅黑" panose="020B0503020204020204" pitchFamily="34" charset="-122"/>
              </a:rPr>
              <a:t>计时器 </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backoff</a:t>
            </a:r>
            <a:r>
              <a:rPr lang="en-US" altLang="zh-CN" sz="2000" b="1" dirty="0">
                <a:latin typeface="微软雅黑" panose="020B0503020204020204" pitchFamily="34" charset="-122"/>
                <a:ea typeface="微软雅黑" panose="020B0503020204020204" pitchFamily="34" charset="-122"/>
              </a:rPr>
              <a:t> timer)</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a:t>
            </a:r>
            <a:r>
              <a:rPr lang="zh-CN" altLang="en-US" sz="2000" b="1" dirty="0">
                <a:latin typeface="微软雅黑" panose="020B0503020204020204" pitchFamily="34" charset="-122"/>
                <a:ea typeface="微软雅黑" panose="020B0503020204020204" pitchFamily="34" charset="-122"/>
              </a:rPr>
              <a:t>几个站同时争用信道时，计时器</a:t>
            </a:r>
            <a:r>
              <a:rPr lang="zh-CN" altLang="en-US" sz="2000" b="1" dirty="0">
                <a:solidFill>
                  <a:srgbClr val="C00000"/>
                </a:solidFill>
                <a:latin typeface="微软雅黑" panose="020B0503020204020204" pitchFamily="34" charset="-122"/>
                <a:ea typeface="微软雅黑" panose="020B0503020204020204" pitchFamily="34" charset="-122"/>
              </a:rPr>
              <a:t>最先降为零</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站首先</a:t>
            </a:r>
            <a:r>
              <a:rPr lang="zh-CN" altLang="en-US" sz="2000" b="1" dirty="0">
                <a:latin typeface="微软雅黑" panose="020B0503020204020204" pitchFamily="34" charset="-122"/>
                <a:ea typeface="微软雅黑" panose="020B0503020204020204" pitchFamily="34" charset="-122"/>
              </a:rPr>
              <a:t>接入媒体，发送数据帧。这时信道转为忙，而其他正在退避的站则</a:t>
            </a:r>
            <a:r>
              <a:rPr lang="zh-CN" altLang="en-US" sz="2000" b="1" dirty="0">
                <a:solidFill>
                  <a:srgbClr val="C00000"/>
                </a:solidFill>
                <a:latin typeface="微软雅黑" panose="020B0503020204020204" pitchFamily="34" charset="-122"/>
                <a:ea typeface="微软雅黑" panose="020B0503020204020204" pitchFamily="34" charset="-122"/>
              </a:rPr>
              <a:t>冻结</a:t>
            </a:r>
            <a:r>
              <a:rPr lang="zh-CN" altLang="en-US" sz="2000" b="1" dirty="0">
                <a:latin typeface="微软雅黑" panose="020B0503020204020204" pitchFamily="34" charset="-122"/>
                <a:ea typeface="微软雅黑" panose="020B0503020204020204" pitchFamily="34" charset="-122"/>
              </a:rPr>
              <a:t>其计时器，保留计时器的数值不变，推迟</a:t>
            </a:r>
            <a:r>
              <a:rPr lang="zh-CN" altLang="en-US" sz="2000" b="1" dirty="0" smtClean="0">
                <a:latin typeface="微软雅黑" panose="020B0503020204020204" pitchFamily="34" charset="-122"/>
                <a:ea typeface="微软雅黑" panose="020B0503020204020204" pitchFamily="34" charset="-122"/>
              </a:rPr>
              <a:t>到下次</a:t>
            </a:r>
            <a:r>
              <a:rPr lang="zh-CN" altLang="en-US" sz="2000" b="1" dirty="0">
                <a:latin typeface="微软雅黑" panose="020B0503020204020204" pitchFamily="34" charset="-122"/>
                <a:ea typeface="微软雅黑" panose="020B0503020204020204" pitchFamily="34" charset="-122"/>
              </a:rPr>
              <a:t>争用信道时</a:t>
            </a:r>
            <a:r>
              <a:rPr lang="zh-CN" altLang="en-US" sz="2000" b="1" dirty="0">
                <a:solidFill>
                  <a:srgbClr val="C00000"/>
                </a:solidFill>
                <a:latin typeface="微软雅黑" panose="020B0503020204020204" pitchFamily="34" charset="-122"/>
                <a:ea typeface="微软雅黑" panose="020B0503020204020204" pitchFamily="34" charset="-122"/>
              </a:rPr>
              <a:t>接着倒计时</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这样</a:t>
            </a:r>
            <a:r>
              <a:rPr lang="zh-CN" altLang="en-US" sz="2000" b="1" dirty="0">
                <a:latin typeface="微软雅黑" panose="020B0503020204020204" pitchFamily="34" charset="-122"/>
                <a:ea typeface="微软雅黑" panose="020B0503020204020204" pitchFamily="34" charset="-122"/>
              </a:rPr>
              <a:t>的规定对所有的站是</a:t>
            </a:r>
            <a:r>
              <a:rPr lang="zh-CN" altLang="en-US" sz="2000" b="1" dirty="0">
                <a:solidFill>
                  <a:srgbClr val="0000CC"/>
                </a:solidFill>
                <a:latin typeface="微软雅黑" panose="020B0503020204020204" pitchFamily="34" charset="-122"/>
                <a:ea typeface="微软雅黑" panose="020B0503020204020204" pitchFamily="34" charset="-122"/>
              </a:rPr>
              <a:t>公平的</a:t>
            </a:r>
            <a:r>
              <a:rPr lang="zh-CN" altLang="en-US" sz="2000" b="1" dirty="0" smtClean="0">
                <a:solidFill>
                  <a:srgbClr val="0000CC"/>
                </a:solidFill>
                <a:latin typeface="微软雅黑" panose="020B0503020204020204" pitchFamily="34" charset="-122"/>
                <a:ea typeface="微软雅黑" panose="020B0503020204020204" pitchFamily="34" charset="-122"/>
              </a:rPr>
              <a:t>。</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50324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0000CC"/>
                </a:solidFill>
                <a:latin typeface="微软雅黑" panose="020B0503020204020204" pitchFamily="34" charset="-122"/>
                <a:ea typeface="微软雅黑" panose="020B0503020204020204" pitchFamily="34" charset="-122"/>
              </a:rPr>
              <a:t>推迟接入</a:t>
            </a:r>
            <a:r>
              <a:rPr lang="zh-CN" altLang="en-US" sz="2000" b="1" dirty="0">
                <a:latin typeface="微软雅黑" panose="020B0503020204020204" pitchFamily="34" charset="-122"/>
                <a:ea typeface="微软雅黑" panose="020B0503020204020204" pitchFamily="34" charset="-122"/>
              </a:rPr>
              <a:t>”和“</a:t>
            </a:r>
            <a:r>
              <a:rPr lang="zh-CN" altLang="en-US" sz="2000" b="1" dirty="0" smtClean="0">
                <a:solidFill>
                  <a:srgbClr val="0000CC"/>
                </a:solidFill>
                <a:latin typeface="微软雅黑" panose="020B0503020204020204" pitchFamily="34" charset="-122"/>
                <a:ea typeface="微软雅黑" panose="020B0503020204020204" pitchFamily="34" charset="-122"/>
              </a:rPr>
              <a:t>退避 </a:t>
            </a:r>
            <a:r>
              <a:rPr lang="en-US" altLang="zh-CN" sz="2000" b="1" dirty="0" smtClean="0">
                <a:solidFill>
                  <a:srgbClr val="0000CC"/>
                </a:solidFill>
                <a:latin typeface="微软雅黑" panose="020B0503020204020204" pitchFamily="34" charset="-122"/>
                <a:ea typeface="微软雅黑" panose="020B0503020204020204" pitchFamily="34" charset="-122"/>
              </a:rPr>
              <a:t>(</a:t>
            </a:r>
            <a:r>
              <a:rPr lang="en-US" altLang="zh-CN" sz="2000" b="1" dirty="0" err="1">
                <a:solidFill>
                  <a:srgbClr val="0000CC"/>
                </a:solidFill>
                <a:latin typeface="微软雅黑" panose="020B0503020204020204" pitchFamily="34" charset="-122"/>
                <a:ea typeface="微软雅黑" panose="020B0503020204020204" pitchFamily="34" charset="-122"/>
              </a:rPr>
              <a:t>backoff</a:t>
            </a:r>
            <a:r>
              <a:rPr lang="en-US" altLang="zh-CN" sz="2000" b="1" dirty="0">
                <a:solidFill>
                  <a:srgbClr val="0000CC"/>
                </a:solidFill>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区别</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推迟</a:t>
            </a:r>
            <a:r>
              <a:rPr lang="zh-CN" altLang="en-US" sz="2000" b="1" dirty="0" smtClean="0">
                <a:solidFill>
                  <a:srgbClr val="C00000"/>
                </a:solidFill>
                <a:latin typeface="微软雅黑" panose="020B0503020204020204" pitchFamily="34" charset="-122"/>
                <a:ea typeface="微软雅黑" panose="020B0503020204020204" pitchFamily="34" charset="-122"/>
              </a:rPr>
              <a:t>接入：</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发生在信道处于忙的状态，为的是等待争用期的到来，以便执行退避算法来争用信道。</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这时退避计时器处于冻结状态。</a:t>
            </a:r>
            <a:endParaRPr lang="en-US" altLang="zh-CN"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退避：</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是争用期各站点执行的算法，退避计时器进行倒计时。</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这时信道是空闲的，并且总是出现在时间间隔 </a:t>
            </a:r>
            <a:r>
              <a:rPr lang="en-US" altLang="zh-CN" sz="2000" b="1" dirty="0">
                <a:latin typeface="微软雅黑" panose="020B0503020204020204" pitchFamily="34" charset="-122"/>
                <a:ea typeface="微软雅黑" panose="020B0503020204020204" pitchFamily="34" charset="-122"/>
              </a:rPr>
              <a:t>DIFS </a:t>
            </a:r>
            <a:r>
              <a:rPr lang="zh-CN" altLang="en-US" sz="2000" b="1" dirty="0">
                <a:latin typeface="微软雅黑" panose="020B0503020204020204" pitchFamily="34" charset="-122"/>
                <a:ea typeface="微软雅黑" panose="020B0503020204020204" pitchFamily="34" charset="-122"/>
              </a:rPr>
              <a:t>的后面。</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争用窗口</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37475"/>
            <a:ext cx="8196243" cy="3885807"/>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建议值： </a:t>
            </a:r>
            <a:r>
              <a:rPr lang="en-US" altLang="zh-CN" b="1" dirty="0" smtClean="0">
                <a:solidFill>
                  <a:srgbClr val="0000CC"/>
                </a:solidFill>
                <a:latin typeface="微软雅黑" panose="020B0503020204020204" pitchFamily="34" charset="-122"/>
                <a:ea typeface="微软雅黑" panose="020B0503020204020204" pitchFamily="34" charset="-122"/>
              </a:rPr>
              <a:t>15 (</a:t>
            </a:r>
            <a:r>
              <a:rPr lang="zh-CN" altLang="en-US" b="1" dirty="0" smtClean="0">
                <a:solidFill>
                  <a:srgbClr val="0000CC"/>
                </a:solidFill>
                <a:latin typeface="微软雅黑" panose="020B0503020204020204" pitchFamily="34" charset="-122"/>
                <a:ea typeface="微软雅黑" panose="020B0503020204020204" pitchFamily="34" charset="-122"/>
              </a:rPr>
              <a:t>最小</a:t>
            </a:r>
            <a:r>
              <a:rPr lang="en-US" altLang="zh-CN" b="1" dirty="0" smtClean="0">
                <a:solidFill>
                  <a:srgbClr val="0000CC"/>
                </a:solidFill>
                <a:latin typeface="微软雅黑" panose="020B0503020204020204" pitchFamily="34" charset="-122"/>
                <a:ea typeface="微软雅黑" panose="020B0503020204020204" pitchFamily="34" charset="-122"/>
              </a:rPr>
              <a:t>) ≤ </a:t>
            </a:r>
            <a:r>
              <a:rPr lang="zh-CN" altLang="en-US" b="1" dirty="0" smtClean="0">
                <a:solidFill>
                  <a:srgbClr val="0000CC"/>
                </a:solidFill>
                <a:latin typeface="微软雅黑" panose="020B0503020204020204" pitchFamily="34" charset="-122"/>
                <a:ea typeface="微软雅黑" panose="020B0503020204020204" pitchFamily="34" charset="-122"/>
              </a:rPr>
              <a:t>争用</a:t>
            </a:r>
            <a:r>
              <a:rPr lang="zh-CN" altLang="en-US" b="1" dirty="0">
                <a:solidFill>
                  <a:srgbClr val="0000CC"/>
                </a:solidFill>
                <a:latin typeface="微软雅黑" panose="020B0503020204020204" pitchFamily="34" charset="-122"/>
                <a:ea typeface="微软雅黑" panose="020B0503020204020204" pitchFamily="34" charset="-122"/>
              </a:rPr>
              <a:t>窗口 </a:t>
            </a:r>
            <a:r>
              <a:rPr lang="en-US" altLang="zh-CN" b="1" dirty="0" smtClean="0">
                <a:solidFill>
                  <a:srgbClr val="0000CC"/>
                </a:solidFill>
                <a:latin typeface="微软雅黑" panose="020B0503020204020204" pitchFamily="34" charset="-122"/>
                <a:ea typeface="微软雅黑" panose="020B0503020204020204" pitchFamily="34" charset="-122"/>
              </a:rPr>
              <a:t>CW </a:t>
            </a:r>
            <a:r>
              <a:rPr lang="en-US" altLang="zh-CN" b="1" dirty="0">
                <a:solidFill>
                  <a:srgbClr val="0000CC"/>
                </a:solidFill>
                <a:latin typeface="微软雅黑" panose="020B0503020204020204" pitchFamily="34" charset="-122"/>
                <a:ea typeface="微软雅黑" panose="020B0503020204020204" pitchFamily="34" charset="-122"/>
              </a:rPr>
              <a:t>≤ </a:t>
            </a:r>
            <a:r>
              <a:rPr lang="en-US" altLang="zh-CN" b="1" dirty="0" smtClean="0">
                <a:solidFill>
                  <a:srgbClr val="0000CC"/>
                </a:solidFill>
                <a:latin typeface="微软雅黑" panose="020B0503020204020204" pitchFamily="34" charset="-122"/>
                <a:ea typeface="微软雅黑" panose="020B0503020204020204" pitchFamily="34" charset="-122"/>
              </a:rPr>
              <a:t>1023 (</a:t>
            </a:r>
            <a:r>
              <a:rPr lang="zh-CN" altLang="en-US" b="1" dirty="0" smtClean="0">
                <a:solidFill>
                  <a:srgbClr val="0000CC"/>
                </a:solidFill>
                <a:latin typeface="微软雅黑" panose="020B0503020204020204" pitchFamily="34" charset="-122"/>
                <a:ea typeface="微软雅黑" panose="020B0503020204020204" pitchFamily="34" charset="-122"/>
              </a:rPr>
              <a:t>最大</a:t>
            </a:r>
            <a:r>
              <a:rPr lang="en-US" altLang="zh-CN" b="1" dirty="0" smtClean="0">
                <a:solidFill>
                  <a:srgbClr val="0000CC"/>
                </a:solidFill>
                <a:latin typeface="微软雅黑" panose="020B0503020204020204" pitchFamily="34" charset="-122"/>
                <a:ea typeface="微软雅黑" panose="020B0503020204020204" pitchFamily="34" charset="-122"/>
              </a:rPr>
              <a:t>)</a:t>
            </a:r>
            <a:r>
              <a:rPr lang="zh-CN" altLang="en-US" b="1" dirty="0" smtClean="0">
                <a:solidFill>
                  <a:srgbClr val="0000CC"/>
                </a:solidFill>
                <a:latin typeface="微软雅黑" panose="020B0503020204020204" pitchFamily="34" charset="-122"/>
                <a:ea typeface="微软雅黑" panose="020B0503020204020204" pitchFamily="34" charset="-122"/>
              </a:rPr>
              <a:t>。</a:t>
            </a:r>
            <a:endParaRPr lang="en-US" altLang="zh-CN" b="1" dirty="0" smtClean="0">
              <a:solidFill>
                <a:srgbClr val="0000CC"/>
              </a:solidFill>
              <a:latin typeface="微软雅黑" panose="020B0503020204020204" pitchFamily="34" charset="-122"/>
              <a:ea typeface="微软雅黑" panose="020B0503020204020204" pitchFamily="34" charset="-122"/>
            </a:endParaRPr>
          </a:p>
          <a:p>
            <a:pPr marL="342900" indent="-342900" eaLnBrk="0" hangingPunct="0">
              <a:lnSpc>
                <a:spcPts val="2600"/>
              </a:lnSpc>
              <a:buClr>
                <a:srgbClr val="0070C0"/>
              </a:buClr>
              <a:buFont typeface="Wingdings" panose="05000000000000000000" pitchFamily="2" charset="2"/>
              <a:buChar char="l"/>
            </a:pPr>
            <a:r>
              <a:rPr lang="en-US" altLang="zh-CN" b="1" dirty="0">
                <a:solidFill>
                  <a:srgbClr val="C00000"/>
                </a:solidFill>
                <a:latin typeface="微软雅黑" panose="020B0503020204020204" pitchFamily="34" charset="-122"/>
                <a:ea typeface="微软雅黑" panose="020B0503020204020204" pitchFamily="34" charset="-122"/>
              </a:rPr>
              <a:t>CSMA/CA</a:t>
            </a:r>
            <a:r>
              <a:rPr lang="zh-CN" altLang="en-US" b="1" dirty="0" smtClean="0">
                <a:solidFill>
                  <a:srgbClr val="C00000"/>
                </a:solidFill>
                <a:latin typeface="微软雅黑" panose="020B0503020204020204" pitchFamily="34" charset="-122"/>
                <a:ea typeface="微软雅黑" panose="020B0503020204020204" pitchFamily="34" charset="-122"/>
              </a:rPr>
              <a:t>规定：</a:t>
            </a:r>
            <a:r>
              <a:rPr lang="zh-CN" altLang="en-US" b="1" dirty="0" smtClean="0">
                <a:latin typeface="微软雅黑" panose="020B0503020204020204" pitchFamily="34" charset="-122"/>
                <a:ea typeface="微软雅黑" panose="020B0503020204020204" pitchFamily="34" charset="-122"/>
              </a:rPr>
              <a:t>如果</a:t>
            </a:r>
            <a:r>
              <a:rPr lang="zh-CN" altLang="en-US" b="1" dirty="0">
                <a:latin typeface="微软雅黑" panose="020B0503020204020204" pitchFamily="34" charset="-122"/>
                <a:ea typeface="微软雅黑" panose="020B0503020204020204" pitchFamily="34" charset="-122"/>
              </a:rPr>
              <a:t>未收到确认</a:t>
            </a:r>
            <a:r>
              <a:rPr lang="zh-CN" altLang="en-US" b="1" dirty="0" smtClean="0">
                <a:latin typeface="微软雅黑" panose="020B0503020204020204" pitchFamily="34" charset="-122"/>
                <a:ea typeface="微软雅黑" panose="020B0503020204020204" pitchFamily="34" charset="-122"/>
              </a:rPr>
              <a:t>帧，</a:t>
            </a:r>
            <a:r>
              <a:rPr lang="zh-CN" altLang="en-US" b="1" dirty="0">
                <a:latin typeface="微软雅黑" panose="020B0503020204020204" pitchFamily="34" charset="-122"/>
                <a:ea typeface="微软雅黑" panose="020B0503020204020204" pitchFamily="34" charset="-122"/>
              </a:rPr>
              <a:t>则必须重传。但每重传一次，争用窗口的数值就近似加倍</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342900" indent="-342900" eaLnBrk="0" hangingPunct="0">
              <a:lnSpc>
                <a:spcPts val="2600"/>
              </a:lnSpc>
              <a:buClr>
                <a:srgbClr val="0070C0"/>
              </a:buClr>
              <a:buFont typeface="Wingdings" panose="05000000000000000000" pitchFamily="2" charset="2"/>
              <a:buChar char="l"/>
            </a:pPr>
            <a:r>
              <a:rPr lang="zh-CN" altLang="en-US" b="1" dirty="0" smtClean="0">
                <a:solidFill>
                  <a:srgbClr val="0000CC"/>
                </a:solidFill>
                <a:latin typeface="微软雅黑" panose="020B0503020204020204" pitchFamily="34" charset="-122"/>
                <a:ea typeface="微软雅黑" panose="020B0503020204020204" pitchFamily="34" charset="-122"/>
              </a:rPr>
              <a:t>假定：</a:t>
            </a:r>
            <a:r>
              <a:rPr lang="zh-CN" altLang="en-US" b="1" dirty="0" smtClean="0">
                <a:latin typeface="微软雅黑" panose="020B0503020204020204" pitchFamily="34" charset="-122"/>
                <a:ea typeface="微软雅黑" panose="020B0503020204020204" pitchFamily="34" charset="-122"/>
              </a:rPr>
              <a:t>选择</a:t>
            </a:r>
            <a:r>
              <a:rPr lang="zh-CN" altLang="en-US" b="1" dirty="0">
                <a:latin typeface="微软雅黑" panose="020B0503020204020204" pitchFamily="34" charset="-122"/>
                <a:ea typeface="微软雅黑" panose="020B0503020204020204" pitchFamily="34" charset="-122"/>
              </a:rPr>
              <a:t>初始争用</a:t>
            </a:r>
            <a:r>
              <a:rPr lang="zh-CN" altLang="en-US" b="1" dirty="0" smtClean="0">
                <a:latin typeface="微软雅黑" panose="020B0503020204020204" pitchFamily="34" charset="-122"/>
                <a:ea typeface="微软雅黑" panose="020B0503020204020204" pitchFamily="34" charset="-122"/>
              </a:rPr>
              <a:t>窗口 </a:t>
            </a:r>
            <a:r>
              <a:rPr lang="en-US" altLang="zh-CN" b="1" dirty="0" smtClean="0">
                <a:latin typeface="微软雅黑" panose="020B0503020204020204" pitchFamily="34" charset="-122"/>
                <a:ea typeface="微软雅黑" panose="020B0503020204020204" pitchFamily="34" charset="-122"/>
              </a:rPr>
              <a:t>CW </a:t>
            </a:r>
            <a:r>
              <a:rPr lang="en-US" altLang="zh-CN" b="1" dirty="0">
                <a:latin typeface="微软雅黑" panose="020B0503020204020204" pitchFamily="34" charset="-122"/>
                <a:ea typeface="微软雅黑" panose="020B0503020204020204" pitchFamily="34" charset="-122"/>
              </a:rPr>
              <a:t>= 2</a:t>
            </a:r>
            <a:r>
              <a:rPr lang="en-US" altLang="zh-CN" b="1" baseline="30000" dirty="0">
                <a:latin typeface="微软雅黑" panose="020B0503020204020204" pitchFamily="34" charset="-122"/>
                <a:ea typeface="微软雅黑" panose="020B0503020204020204" pitchFamily="34" charset="-122"/>
              </a:rPr>
              <a:t>4</a:t>
            </a:r>
            <a:r>
              <a:rPr lang="en-US" altLang="zh-CN" b="1" dirty="0">
                <a:latin typeface="微软雅黑" panose="020B0503020204020204" pitchFamily="34" charset="-122"/>
                <a:ea typeface="微软雅黑" panose="020B0503020204020204" pitchFamily="34" charset="-122"/>
              </a:rPr>
              <a:t> – 1= 15</a:t>
            </a:r>
            <a:r>
              <a:rPr lang="zh-CN" altLang="en-US" b="1" dirty="0">
                <a:latin typeface="微软雅黑" panose="020B0503020204020204" pitchFamily="34" charset="-122"/>
                <a:ea typeface="微软雅黑" panose="020B0503020204020204" pitchFamily="34" charset="-122"/>
              </a:rPr>
              <a:t>，第 </a:t>
            </a:r>
            <a:r>
              <a:rPr lang="en-US" altLang="zh-CN" b="1" i="1" dirty="0" err="1">
                <a:latin typeface="Times New Roman" panose="02020603050405020304" pitchFamily="18" charset="0"/>
              </a:rPr>
              <a:t>i</a:t>
            </a:r>
            <a:r>
              <a:rPr lang="en-US" altLang="zh-CN" b="1" dirty="0" smtClean="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次退避就在 </a:t>
            </a:r>
            <a:r>
              <a:rPr lang="en-US" altLang="zh-CN" b="1" dirty="0" smtClean="0">
                <a:latin typeface="微软雅黑" panose="020B0503020204020204" pitchFamily="34" charset="-122"/>
                <a:ea typeface="微软雅黑" panose="020B0503020204020204" pitchFamily="34" charset="-122"/>
              </a:rPr>
              <a:t>2</a:t>
            </a:r>
            <a:r>
              <a:rPr lang="en-US" altLang="zh-CN" b="1" baseline="30000" dirty="0" smtClean="0">
                <a:latin typeface="微软雅黑" panose="020B0503020204020204" pitchFamily="34" charset="-122"/>
                <a:ea typeface="微软雅黑" panose="020B0503020204020204" pitchFamily="34" charset="-122"/>
              </a:rPr>
              <a:t>4+</a:t>
            </a:r>
            <a:r>
              <a:rPr lang="en-US" altLang="zh-CN" b="1" i="1" baseline="30000" dirty="0" smtClean="0">
                <a:latin typeface="Times New Roman" panose="02020603050405020304" pitchFamily="18" charset="0"/>
              </a:rPr>
              <a:t>i</a:t>
            </a:r>
            <a:r>
              <a:rPr lang="en-US" altLang="zh-CN" b="1" dirty="0">
                <a:latin typeface="微软雅黑" panose="020B0503020204020204" pitchFamily="34" charset="-122"/>
                <a:ea typeface="微软雅黑" panose="020B0503020204020204" pitchFamily="34" charset="-122"/>
              </a:rPr>
              <a:t> – </a:t>
            </a:r>
            <a:r>
              <a:rPr lang="en-US" altLang="zh-CN" b="1" dirty="0" smtClean="0">
                <a:latin typeface="微软雅黑" panose="020B0503020204020204" pitchFamily="34" charset="-122"/>
                <a:ea typeface="微软雅黑" panose="020B0503020204020204" pitchFamily="34" charset="-122"/>
              </a:rPr>
              <a:t>1 </a:t>
            </a:r>
            <a:r>
              <a:rPr lang="zh-CN" altLang="en-US" b="1" dirty="0" smtClean="0">
                <a:latin typeface="微软雅黑" panose="020B0503020204020204" pitchFamily="34" charset="-122"/>
                <a:ea typeface="微软雅黑" panose="020B0503020204020204" pitchFamily="34" charset="-122"/>
              </a:rPr>
              <a:t>个</a:t>
            </a:r>
            <a:r>
              <a:rPr lang="zh-CN" altLang="en-US" b="1" dirty="0">
                <a:latin typeface="微软雅黑" panose="020B0503020204020204" pitchFamily="34" charset="-122"/>
                <a:ea typeface="微软雅黑" panose="020B0503020204020204" pitchFamily="34" charset="-122"/>
              </a:rPr>
              <a:t>时隙中</a:t>
            </a:r>
            <a:r>
              <a:rPr lang="zh-CN" altLang="en-US" b="1" dirty="0">
                <a:solidFill>
                  <a:srgbClr val="C00000"/>
                </a:solidFill>
                <a:latin typeface="微软雅黑" panose="020B0503020204020204" pitchFamily="34" charset="-122"/>
                <a:ea typeface="微软雅黑" panose="020B0503020204020204" pitchFamily="34" charset="-122"/>
              </a:rPr>
              <a:t>随机</a:t>
            </a:r>
            <a:r>
              <a:rPr lang="zh-CN" altLang="en-US" b="1" dirty="0">
                <a:latin typeface="微软雅黑" panose="020B0503020204020204" pitchFamily="34" charset="-122"/>
                <a:ea typeface="微软雅黑" panose="020B0503020204020204" pitchFamily="34" charset="-122"/>
              </a:rPr>
              <a:t>地选择一个，即</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第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次重传时，随机退避的时隙数应在 </a:t>
            </a:r>
            <a:r>
              <a:rPr lang="en-US" altLang="zh-CN" sz="1600" b="1" dirty="0">
                <a:latin typeface="微软雅黑" panose="020B0503020204020204" pitchFamily="34" charset="-122"/>
                <a:ea typeface="微软雅黑" panose="020B0503020204020204" pitchFamily="34" charset="-122"/>
              </a:rPr>
              <a:t>0 ~ 31 </a:t>
            </a:r>
            <a:r>
              <a:rPr lang="zh-CN" altLang="en-US" sz="1600" b="1" dirty="0">
                <a:latin typeface="微软雅黑" panose="020B0503020204020204" pitchFamily="34" charset="-122"/>
                <a:ea typeface="微软雅黑" panose="020B0503020204020204" pitchFamily="34" charset="-122"/>
              </a:rPr>
              <a:t>之间生成。</a:t>
            </a:r>
            <a:endParaRPr lang="zh-CN" altLang="en-US" sz="1600" b="1" dirty="0">
              <a:latin typeface="微软雅黑" panose="020B0503020204020204" pitchFamily="34" charset="-122"/>
              <a:ea typeface="微软雅黑" panose="020B0503020204020204"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第 </a:t>
            </a:r>
            <a:r>
              <a:rPr lang="en-US" altLang="zh-CN" sz="1600" b="1" dirty="0">
                <a:latin typeface="微软雅黑" panose="020B0503020204020204" pitchFamily="34" charset="-122"/>
                <a:ea typeface="微软雅黑" panose="020B0503020204020204" pitchFamily="34" charset="-122"/>
              </a:rPr>
              <a:t>2 </a:t>
            </a:r>
            <a:r>
              <a:rPr lang="zh-CN" altLang="en-US" sz="1600" b="1" dirty="0">
                <a:latin typeface="微软雅黑" panose="020B0503020204020204" pitchFamily="34" charset="-122"/>
                <a:ea typeface="微软雅黑" panose="020B0503020204020204" pitchFamily="34" charset="-122"/>
              </a:rPr>
              <a:t>次重传时，随机退避的时隙数应在 </a:t>
            </a:r>
            <a:r>
              <a:rPr lang="en-US" altLang="zh-CN" sz="1600" b="1" dirty="0">
                <a:latin typeface="微软雅黑" panose="020B0503020204020204" pitchFamily="34" charset="-122"/>
                <a:ea typeface="微软雅黑" panose="020B0503020204020204" pitchFamily="34" charset="-122"/>
              </a:rPr>
              <a:t>0 ~ 63 </a:t>
            </a:r>
            <a:r>
              <a:rPr lang="zh-CN" altLang="en-US" sz="1600" b="1" dirty="0">
                <a:latin typeface="微软雅黑" panose="020B0503020204020204" pitchFamily="34" charset="-122"/>
                <a:ea typeface="微软雅黑" panose="020B0503020204020204" pitchFamily="34" charset="-122"/>
              </a:rPr>
              <a:t>之间生成。</a:t>
            </a:r>
            <a:endParaRPr lang="zh-CN" altLang="en-US" sz="1600" b="1" dirty="0">
              <a:latin typeface="微软雅黑" panose="020B0503020204020204" pitchFamily="34" charset="-122"/>
              <a:ea typeface="微软雅黑" panose="020B0503020204020204"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第 </a:t>
            </a:r>
            <a:r>
              <a:rPr lang="en-US" altLang="zh-CN" sz="1600" b="1" dirty="0">
                <a:latin typeface="微软雅黑" panose="020B0503020204020204" pitchFamily="34" charset="-122"/>
                <a:ea typeface="微软雅黑" panose="020B0503020204020204" pitchFamily="34" charset="-122"/>
              </a:rPr>
              <a:t>3 </a:t>
            </a:r>
            <a:r>
              <a:rPr lang="zh-CN" altLang="en-US" sz="1600" b="1" dirty="0">
                <a:latin typeface="微软雅黑" panose="020B0503020204020204" pitchFamily="34" charset="-122"/>
                <a:ea typeface="微软雅黑" panose="020B0503020204020204" pitchFamily="34" charset="-122"/>
              </a:rPr>
              <a:t>次重传时，随机退避的时隙数应在 </a:t>
            </a:r>
            <a:r>
              <a:rPr lang="en-US" altLang="zh-CN" sz="1600" b="1" dirty="0">
                <a:latin typeface="微软雅黑" panose="020B0503020204020204" pitchFamily="34" charset="-122"/>
                <a:ea typeface="微软雅黑" panose="020B0503020204020204" pitchFamily="34" charset="-122"/>
              </a:rPr>
              <a:t>0 ~ 127 </a:t>
            </a:r>
            <a:r>
              <a:rPr lang="zh-CN" altLang="en-US" sz="1600" b="1" dirty="0">
                <a:latin typeface="微软雅黑" panose="020B0503020204020204" pitchFamily="34" charset="-122"/>
                <a:ea typeface="微软雅黑" panose="020B0503020204020204" pitchFamily="34" charset="-122"/>
              </a:rPr>
              <a:t>之间生成。</a:t>
            </a:r>
            <a:endParaRPr lang="zh-CN" altLang="en-US" sz="1600" b="1" dirty="0">
              <a:latin typeface="微软雅黑" panose="020B0503020204020204" pitchFamily="34" charset="-122"/>
              <a:ea typeface="微软雅黑" panose="020B0503020204020204"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第 </a:t>
            </a:r>
            <a:r>
              <a:rPr lang="en-US" altLang="zh-CN" sz="1600" b="1" dirty="0">
                <a:latin typeface="微软雅黑" panose="020B0503020204020204" pitchFamily="34" charset="-122"/>
                <a:ea typeface="微软雅黑" panose="020B0503020204020204" pitchFamily="34" charset="-122"/>
              </a:rPr>
              <a:t>4 </a:t>
            </a:r>
            <a:r>
              <a:rPr lang="zh-CN" altLang="en-US" sz="1600" b="1" dirty="0">
                <a:latin typeface="微软雅黑" panose="020B0503020204020204" pitchFamily="34" charset="-122"/>
                <a:ea typeface="微软雅黑" panose="020B0503020204020204" pitchFamily="34" charset="-122"/>
              </a:rPr>
              <a:t>次重传时，随机退避的时隙数应在 </a:t>
            </a:r>
            <a:r>
              <a:rPr lang="en-US" altLang="zh-CN" sz="1600" b="1" dirty="0">
                <a:latin typeface="微软雅黑" panose="020B0503020204020204" pitchFamily="34" charset="-122"/>
                <a:ea typeface="微软雅黑" panose="020B0503020204020204" pitchFamily="34" charset="-122"/>
              </a:rPr>
              <a:t>0 ~ </a:t>
            </a:r>
            <a:r>
              <a:rPr lang="en-US" altLang="zh-CN" sz="1600" b="1" dirty="0" smtClean="0">
                <a:latin typeface="微软雅黑" panose="020B0503020204020204" pitchFamily="34" charset="-122"/>
                <a:ea typeface="微软雅黑" panose="020B0503020204020204" pitchFamily="34" charset="-122"/>
              </a:rPr>
              <a:t>255 </a:t>
            </a:r>
            <a:r>
              <a:rPr lang="zh-CN" altLang="en-US" sz="1600" b="1" dirty="0">
                <a:latin typeface="微软雅黑" panose="020B0503020204020204" pitchFamily="34" charset="-122"/>
                <a:ea typeface="微软雅黑" panose="020B0503020204020204" pitchFamily="34" charset="-122"/>
              </a:rPr>
              <a:t>之间生成</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第 </a:t>
            </a:r>
            <a:r>
              <a:rPr lang="en-US" altLang="zh-CN" sz="1600" b="1" dirty="0" smtClean="0">
                <a:latin typeface="微软雅黑" panose="020B0503020204020204" pitchFamily="34" charset="-122"/>
                <a:ea typeface="微软雅黑" panose="020B0503020204020204" pitchFamily="34" charset="-122"/>
              </a:rPr>
              <a:t>5 </a:t>
            </a:r>
            <a:r>
              <a:rPr lang="zh-CN" altLang="en-US" sz="1600" b="1" dirty="0">
                <a:latin typeface="微软雅黑" panose="020B0503020204020204" pitchFamily="34" charset="-122"/>
                <a:ea typeface="微软雅黑" panose="020B0503020204020204" pitchFamily="34" charset="-122"/>
              </a:rPr>
              <a:t>次重传时，随机退避的时隙数应在 </a:t>
            </a:r>
            <a:r>
              <a:rPr lang="en-US" altLang="zh-CN" sz="1600" b="1" dirty="0">
                <a:latin typeface="微软雅黑" panose="020B0503020204020204" pitchFamily="34" charset="-122"/>
                <a:ea typeface="微软雅黑" panose="020B0503020204020204" pitchFamily="34" charset="-122"/>
              </a:rPr>
              <a:t>0 ~ 511 </a:t>
            </a:r>
            <a:r>
              <a:rPr lang="zh-CN" altLang="en-US" sz="1600" b="1" dirty="0">
                <a:latin typeface="微软雅黑" panose="020B0503020204020204" pitchFamily="34" charset="-122"/>
                <a:ea typeface="微软雅黑" panose="020B0503020204020204" pitchFamily="34" charset="-122"/>
              </a:rPr>
              <a:t>之间生成。</a:t>
            </a:r>
            <a:endParaRPr lang="zh-CN" altLang="en-US" sz="1600" b="1" dirty="0">
              <a:latin typeface="微软雅黑" panose="020B0503020204020204" pitchFamily="34" charset="-122"/>
              <a:ea typeface="微软雅黑" panose="020B0503020204020204"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smtClean="0">
                <a:solidFill>
                  <a:srgbClr val="C00000"/>
                </a:solidFill>
                <a:latin typeface="微软雅黑" panose="020B0503020204020204" pitchFamily="34" charset="-122"/>
                <a:ea typeface="微软雅黑" panose="020B0503020204020204" pitchFamily="34" charset="-122"/>
              </a:rPr>
              <a:t>第 </a:t>
            </a:r>
            <a:r>
              <a:rPr lang="en-US" altLang="zh-CN" sz="1600" b="1" dirty="0" smtClean="0">
                <a:solidFill>
                  <a:srgbClr val="C00000"/>
                </a:solidFill>
                <a:latin typeface="微软雅黑" panose="020B0503020204020204" pitchFamily="34" charset="-122"/>
                <a:ea typeface="微软雅黑" panose="020B0503020204020204" pitchFamily="34" charset="-122"/>
              </a:rPr>
              <a:t>6 </a:t>
            </a:r>
            <a:r>
              <a:rPr lang="zh-CN" altLang="en-US" sz="1600" b="1" dirty="0">
                <a:solidFill>
                  <a:srgbClr val="C00000"/>
                </a:solidFill>
                <a:latin typeface="微软雅黑" panose="020B0503020204020204" pitchFamily="34" charset="-122"/>
                <a:ea typeface="微软雅黑" panose="020B0503020204020204" pitchFamily="34" charset="-122"/>
              </a:rPr>
              <a:t>次以及 </a:t>
            </a:r>
            <a:r>
              <a:rPr lang="en-US" altLang="zh-CN" sz="1600" b="1" dirty="0" smtClean="0">
                <a:solidFill>
                  <a:srgbClr val="C00000"/>
                </a:solidFill>
                <a:latin typeface="微软雅黑" panose="020B0503020204020204" pitchFamily="34" charset="-122"/>
                <a:ea typeface="微软雅黑" panose="020B0503020204020204" pitchFamily="34" charset="-122"/>
              </a:rPr>
              <a:t>6 </a:t>
            </a:r>
            <a:r>
              <a:rPr lang="zh-CN" altLang="en-US" sz="1600" b="1" dirty="0">
                <a:solidFill>
                  <a:srgbClr val="C00000"/>
                </a:solidFill>
                <a:latin typeface="微软雅黑" panose="020B0503020204020204" pitchFamily="34" charset="-122"/>
                <a:ea typeface="微软雅黑" panose="020B0503020204020204" pitchFamily="34" charset="-122"/>
              </a:rPr>
              <a:t>次以上重传时，</a:t>
            </a:r>
            <a:r>
              <a:rPr lang="zh-CN" altLang="en-US" sz="1600" b="1" dirty="0">
                <a:latin typeface="微软雅黑" panose="020B0503020204020204" pitchFamily="34" charset="-122"/>
                <a:ea typeface="微软雅黑" panose="020B0503020204020204" pitchFamily="34" charset="-122"/>
              </a:rPr>
              <a:t>随机退避的时隙数应在 </a:t>
            </a:r>
            <a:r>
              <a:rPr lang="en-US" altLang="zh-CN" sz="1600" b="1" dirty="0">
                <a:latin typeface="微软雅黑" panose="020B0503020204020204" pitchFamily="34" charset="-122"/>
                <a:ea typeface="微软雅黑" panose="020B0503020204020204" pitchFamily="34" charset="-122"/>
              </a:rPr>
              <a:t>0 ~ 1023 </a:t>
            </a:r>
            <a:r>
              <a:rPr lang="zh-CN" altLang="en-US" sz="1600" b="1" dirty="0">
                <a:latin typeface="微软雅黑" panose="020B0503020204020204" pitchFamily="34" charset="-122"/>
                <a:ea typeface="微软雅黑" panose="020B0503020204020204" pitchFamily="34" charset="-122"/>
              </a:rPr>
              <a:t>之间生成，争用</a:t>
            </a:r>
            <a:r>
              <a:rPr lang="zh-CN" altLang="en-US" sz="1600" b="1" dirty="0" smtClean="0">
                <a:latin typeface="微软雅黑" panose="020B0503020204020204" pitchFamily="34" charset="-122"/>
                <a:ea typeface="微软雅黑" panose="020B0503020204020204" pitchFamily="34" charset="-122"/>
              </a:rPr>
              <a:t>窗口 </a:t>
            </a:r>
            <a:r>
              <a:rPr lang="en-US" altLang="zh-CN" sz="1600" b="1" dirty="0" smtClean="0">
                <a:latin typeface="微软雅黑" panose="020B0503020204020204" pitchFamily="34" charset="-122"/>
                <a:ea typeface="微软雅黑" panose="020B0503020204020204" pitchFamily="34" charset="-122"/>
              </a:rPr>
              <a:t>CW </a:t>
            </a:r>
            <a:r>
              <a:rPr lang="zh-CN" altLang="en-US" sz="1600" b="1" dirty="0" smtClean="0">
                <a:solidFill>
                  <a:srgbClr val="C00000"/>
                </a:solidFill>
                <a:latin typeface="微软雅黑" panose="020B0503020204020204" pitchFamily="34" charset="-122"/>
                <a:ea typeface="微软雅黑" panose="020B0503020204020204" pitchFamily="34" charset="-122"/>
              </a:rPr>
              <a:t>不再</a:t>
            </a:r>
            <a:r>
              <a:rPr lang="zh-CN" altLang="en-US" sz="1600" b="1" dirty="0">
                <a:solidFill>
                  <a:srgbClr val="C00000"/>
                </a:solidFill>
                <a:latin typeface="微软雅黑" panose="020B0503020204020204" pitchFamily="34" charset="-122"/>
                <a:ea typeface="微软雅黑" panose="020B0503020204020204" pitchFamily="34" charset="-122"/>
              </a:rPr>
              <a:t>增大</a:t>
            </a:r>
            <a:r>
              <a:rPr lang="zh-CN" altLang="en-US" sz="1600" b="1" dirty="0">
                <a:latin typeface="微软雅黑" panose="020B0503020204020204" pitchFamily="34" charset="-122"/>
                <a:ea typeface="微软雅黑" panose="020B0503020204020204" pitchFamily="34" charset="-122"/>
              </a:rPr>
              <a:t>了。</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ldLvl="2" uiExpand="1" build="p"/>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17853" y="2174050"/>
            <a:ext cx="8133857" cy="124417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2"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754"/>
            <a:ext cx="25699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退避算法的</a:t>
            </a:r>
            <a:r>
              <a:rPr lang="zh-CN" altLang="en-US" sz="2000" b="1" dirty="0" smtClean="0">
                <a:latin typeface="微软雅黑" panose="020B0503020204020204" pitchFamily="34" charset="-122"/>
                <a:ea typeface="微软雅黑" panose="020B0503020204020204" pitchFamily="34" charset="-122"/>
              </a:rPr>
              <a:t>使用场景 </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27635"/>
            <a:ext cx="8133857" cy="1246495"/>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505" indent="-357505" eaLnBrk="0" hangingPunct="0">
              <a:lnSpc>
                <a:spcPts val="30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要</a:t>
            </a:r>
            <a:r>
              <a:rPr lang="zh-CN" altLang="en-US" sz="2000" b="1" dirty="0">
                <a:latin typeface="微软雅黑" panose="020B0503020204020204" pitchFamily="34" charset="-122"/>
                <a:ea typeface="微软雅黑" panose="020B0503020204020204" pitchFamily="34" charset="-122"/>
              </a:rPr>
              <a:t>发送数据时检测到信道忙。</a:t>
            </a:r>
            <a:endParaRPr lang="zh-CN" altLang="en-US" sz="2000" b="1" dirty="0">
              <a:latin typeface="微软雅黑" panose="020B0503020204020204" pitchFamily="34" charset="-122"/>
              <a:ea typeface="微软雅黑" panose="020B0503020204020204" pitchFamily="34" charset="-122"/>
            </a:endParaRPr>
          </a:p>
          <a:p>
            <a:pPr marL="357505" indent="-357505" eaLnBrk="0" hangingPunct="0">
              <a:lnSpc>
                <a:spcPts val="30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已</a:t>
            </a:r>
            <a:r>
              <a:rPr lang="zh-CN" altLang="en-US" sz="2000" b="1" dirty="0">
                <a:latin typeface="微软雅黑" panose="020B0503020204020204" pitchFamily="34" charset="-122"/>
                <a:ea typeface="微软雅黑" panose="020B0503020204020204" pitchFamily="34" charset="-122"/>
              </a:rPr>
              <a:t>发出的数据帧未收到确认，重传数据帧。</a:t>
            </a:r>
            <a:endParaRPr lang="zh-CN" altLang="en-US" sz="2000" b="1" dirty="0">
              <a:latin typeface="微软雅黑" panose="020B0503020204020204" pitchFamily="34" charset="-122"/>
              <a:ea typeface="微软雅黑" panose="020B0503020204020204" pitchFamily="34" charset="-122"/>
            </a:endParaRPr>
          </a:p>
          <a:p>
            <a:pPr marL="357505" indent="-357505" eaLnBrk="0" hangingPunct="0">
              <a:lnSpc>
                <a:spcPts val="30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接着</a:t>
            </a:r>
            <a:r>
              <a:rPr lang="zh-CN" altLang="en-US" sz="2000" b="1" dirty="0">
                <a:latin typeface="微软雅黑" panose="020B0503020204020204" pitchFamily="34" charset="-122"/>
                <a:ea typeface="微软雅黑" panose="020B0503020204020204" pitchFamily="34" charset="-122"/>
              </a:rPr>
              <a:t>发送后续的数据帧（为了防止一个站长期垄断发送</a:t>
            </a:r>
            <a:r>
              <a:rPr lang="zh-CN" altLang="en-US" sz="2000" b="1" dirty="0" smtClean="0">
                <a:latin typeface="微软雅黑" panose="020B0503020204020204" pitchFamily="34" charset="-122"/>
                <a:ea typeface="微软雅黑" panose="020B0503020204020204" pitchFamily="34" charset="-122"/>
              </a:rPr>
              <a:t>权）</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grpSp>
        <p:nvGrpSpPr>
          <p:cNvPr id="52" name="组合 51"/>
          <p:cNvGrpSpPr/>
          <p:nvPr/>
        </p:nvGrpSpPr>
        <p:grpSpPr>
          <a:xfrm>
            <a:off x="1100250" y="2226872"/>
            <a:ext cx="6969061" cy="1153444"/>
            <a:chOff x="677568" y="2108991"/>
            <a:chExt cx="7656591" cy="1543143"/>
          </a:xfrm>
        </p:grpSpPr>
        <p:sp>
          <p:nvSpPr>
            <p:cNvPr id="9" name="Freeform 13"/>
            <p:cNvSpPr/>
            <p:nvPr/>
          </p:nvSpPr>
          <p:spPr bwMode="auto">
            <a:xfrm>
              <a:off x="1954090" y="2439840"/>
              <a:ext cx="1223963"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 name="Line 110"/>
            <p:cNvSpPr>
              <a:spLocks noChangeShapeType="1"/>
            </p:cNvSpPr>
            <p:nvPr/>
          </p:nvSpPr>
          <p:spPr bwMode="auto">
            <a:xfrm>
              <a:off x="15080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Text Box 24"/>
            <p:cNvSpPr txBox="1">
              <a:spLocks noChangeArrowheads="1"/>
            </p:cNvSpPr>
            <p:nvPr/>
          </p:nvSpPr>
          <p:spPr bwMode="auto">
            <a:xfrm>
              <a:off x="1455884" y="2108991"/>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endParaRPr lang="en-US" altLang="zh-CN" sz="1200" b="1" dirty="0">
                <a:latin typeface="微软雅黑" panose="020B0503020204020204" pitchFamily="34" charset="-122"/>
                <a:ea typeface="微软雅黑" panose="020B0503020204020204" pitchFamily="34" charset="-122"/>
              </a:endParaRPr>
            </a:p>
          </p:txBody>
        </p:sp>
        <p:sp>
          <p:nvSpPr>
            <p:cNvPr id="12" name="Text Box 9"/>
            <p:cNvSpPr txBox="1">
              <a:spLocks noChangeArrowheads="1"/>
            </p:cNvSpPr>
            <p:nvPr/>
          </p:nvSpPr>
          <p:spPr bwMode="auto">
            <a:xfrm>
              <a:off x="8050262" y="2447778"/>
              <a:ext cx="283897"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endParaRPr lang="en-US" altLang="zh-CN" sz="1400" b="1" i="1" dirty="0">
                <a:latin typeface="微软雅黑" panose="020B0503020204020204" pitchFamily="34" charset="-122"/>
                <a:ea typeface="微软雅黑" panose="020B0503020204020204" pitchFamily="34" charset="-122"/>
              </a:endParaRPr>
            </a:p>
          </p:txBody>
        </p:sp>
        <p:sp>
          <p:nvSpPr>
            <p:cNvPr id="13" name="矩形 131"/>
            <p:cNvSpPr>
              <a:spLocks noChangeArrowheads="1"/>
            </p:cNvSpPr>
            <p:nvPr/>
          </p:nvSpPr>
          <p:spPr bwMode="auto">
            <a:xfrm>
              <a:off x="3617790" y="2520803"/>
              <a:ext cx="574675" cy="22225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14" name="直接连接符 133"/>
            <p:cNvCxnSpPr>
              <a:cxnSpLocks noChangeShapeType="1"/>
            </p:cNvCxnSpPr>
            <p:nvPr/>
          </p:nvCxnSpPr>
          <p:spPr bwMode="auto">
            <a:xfrm>
              <a:off x="3690815" y="2520803"/>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5" name="直接连接符 134"/>
            <p:cNvCxnSpPr>
              <a:cxnSpLocks noChangeShapeType="1"/>
            </p:cNvCxnSpPr>
            <p:nvPr/>
          </p:nvCxnSpPr>
          <p:spPr bwMode="auto">
            <a:xfrm>
              <a:off x="3752728" y="252239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6" name="直接连接符 135"/>
            <p:cNvCxnSpPr>
              <a:cxnSpLocks noChangeShapeType="1"/>
            </p:cNvCxnSpPr>
            <p:nvPr/>
          </p:nvCxnSpPr>
          <p:spPr bwMode="auto">
            <a:xfrm>
              <a:off x="3876553" y="252239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7" name="直接连接符 136"/>
            <p:cNvCxnSpPr>
              <a:cxnSpLocks noChangeShapeType="1"/>
            </p:cNvCxnSpPr>
            <p:nvPr/>
          </p:nvCxnSpPr>
          <p:spPr bwMode="auto">
            <a:xfrm>
              <a:off x="3938465" y="2520803"/>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8" name="直接连接符 137"/>
            <p:cNvCxnSpPr>
              <a:cxnSpLocks noChangeShapeType="1"/>
            </p:cNvCxnSpPr>
            <p:nvPr/>
          </p:nvCxnSpPr>
          <p:spPr bwMode="auto">
            <a:xfrm>
              <a:off x="4000378" y="252239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9" name="直接连接符 138"/>
            <p:cNvCxnSpPr>
              <a:cxnSpLocks noChangeShapeType="1"/>
            </p:cNvCxnSpPr>
            <p:nvPr/>
          </p:nvCxnSpPr>
          <p:spPr bwMode="auto">
            <a:xfrm>
              <a:off x="4062290" y="2530328"/>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0" name="直接连接符 139"/>
            <p:cNvCxnSpPr>
              <a:cxnSpLocks noChangeShapeType="1"/>
            </p:cNvCxnSpPr>
            <p:nvPr/>
          </p:nvCxnSpPr>
          <p:spPr bwMode="auto">
            <a:xfrm>
              <a:off x="4124203" y="2525565"/>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1" name="直接连接符 141"/>
            <p:cNvCxnSpPr>
              <a:cxnSpLocks noChangeShapeType="1"/>
            </p:cNvCxnSpPr>
            <p:nvPr/>
          </p:nvCxnSpPr>
          <p:spPr bwMode="auto">
            <a:xfrm>
              <a:off x="3814640" y="2516040"/>
              <a:ext cx="0" cy="21748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22" name="直接箭头连接符 53"/>
            <p:cNvCxnSpPr>
              <a:cxnSpLocks noChangeShapeType="1"/>
            </p:cNvCxnSpPr>
            <p:nvPr/>
          </p:nvCxnSpPr>
          <p:spPr bwMode="auto">
            <a:xfrm flipV="1">
              <a:off x="1508003" y="2460478"/>
              <a:ext cx="0" cy="285750"/>
            </a:xfrm>
            <a:prstGeom prst="straightConnector1">
              <a:avLst/>
            </a:prstGeom>
            <a:noFill/>
            <a:ln w="28575" algn="ctr">
              <a:solidFill>
                <a:schemeClr val="tx1"/>
              </a:solidFill>
              <a:round/>
              <a:tailEnd type="triangle" w="med" len="med"/>
            </a:ln>
            <a:extLst>
              <a:ext uri="{909E8E84-426E-40DD-AFC4-6F175D3DCCD1}">
                <a14:hiddenFill xmlns:a14="http://schemas.microsoft.com/office/drawing/2010/main">
                  <a:noFill/>
                </a14:hiddenFill>
              </a:ext>
            </a:extLst>
          </p:spPr>
        </p:cxnSp>
        <p:sp>
          <p:nvSpPr>
            <p:cNvPr id="23" name="Text Box 24"/>
            <p:cNvSpPr txBox="1">
              <a:spLocks noChangeArrowheads="1"/>
            </p:cNvSpPr>
            <p:nvPr/>
          </p:nvSpPr>
          <p:spPr bwMode="auto">
            <a:xfrm>
              <a:off x="994551" y="2409678"/>
              <a:ext cx="350820"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endParaRPr lang="en-US" altLang="zh-CN" sz="1400" b="1" dirty="0">
                <a:latin typeface="微软雅黑" panose="020B0503020204020204" pitchFamily="34" charset="-122"/>
                <a:ea typeface="微软雅黑" panose="020B0503020204020204" pitchFamily="34" charset="-122"/>
              </a:endParaRPr>
            </a:p>
          </p:txBody>
        </p:sp>
        <p:sp>
          <p:nvSpPr>
            <p:cNvPr id="24" name="Text Box 109"/>
            <p:cNvSpPr txBox="1">
              <a:spLocks noChangeArrowheads="1"/>
            </p:cNvSpPr>
            <p:nvPr/>
          </p:nvSpPr>
          <p:spPr bwMode="auto">
            <a:xfrm>
              <a:off x="2151755" y="2412203"/>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endParaRPr lang="zh-CN" altLang="en-US" sz="1200" b="1" dirty="0">
                <a:latin typeface="微软雅黑" panose="020B0503020204020204" pitchFamily="34" charset="-122"/>
                <a:ea typeface="微软雅黑" panose="020B0503020204020204" pitchFamily="34" charset="-122"/>
              </a:endParaRPr>
            </a:p>
          </p:txBody>
        </p:sp>
        <p:sp>
          <p:nvSpPr>
            <p:cNvPr id="25" name="Line 110"/>
            <p:cNvSpPr>
              <a:spLocks noChangeShapeType="1"/>
            </p:cNvSpPr>
            <p:nvPr/>
          </p:nvSpPr>
          <p:spPr bwMode="auto">
            <a:xfrm>
              <a:off x="31844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3105297" y="211692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27" name="Text Box 24"/>
            <p:cNvSpPr txBox="1">
              <a:spLocks noChangeArrowheads="1"/>
            </p:cNvSpPr>
            <p:nvPr/>
          </p:nvSpPr>
          <p:spPr bwMode="auto">
            <a:xfrm>
              <a:off x="3634985" y="2224878"/>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endParaRPr lang="en-US" altLang="zh-CN" sz="1200" b="1">
                <a:latin typeface="微软雅黑" panose="020B0503020204020204" pitchFamily="34" charset="-122"/>
                <a:ea typeface="微软雅黑" panose="020B0503020204020204" pitchFamily="34" charset="-122"/>
              </a:endParaRPr>
            </a:p>
          </p:txBody>
        </p:sp>
        <p:sp>
          <p:nvSpPr>
            <p:cNvPr id="28" name="Freeform 13"/>
            <p:cNvSpPr/>
            <p:nvPr/>
          </p:nvSpPr>
          <p:spPr bwMode="auto">
            <a:xfrm>
              <a:off x="4194053" y="2449365"/>
              <a:ext cx="16986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Text Box 109"/>
            <p:cNvSpPr txBox="1">
              <a:spLocks noChangeArrowheads="1"/>
            </p:cNvSpPr>
            <p:nvPr/>
          </p:nvSpPr>
          <p:spPr bwMode="auto">
            <a:xfrm>
              <a:off x="4588567" y="2420140"/>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endParaRPr lang="zh-CN" altLang="en-US" sz="1200" b="1">
                <a:latin typeface="微软雅黑" panose="020B0503020204020204" pitchFamily="34" charset="-122"/>
                <a:ea typeface="微软雅黑" panose="020B0503020204020204" pitchFamily="34" charset="-122"/>
              </a:endParaRPr>
            </a:p>
          </p:txBody>
        </p:sp>
        <p:sp>
          <p:nvSpPr>
            <p:cNvPr id="30" name="Line 106"/>
            <p:cNvSpPr>
              <a:spLocks noChangeShapeType="1"/>
            </p:cNvSpPr>
            <p:nvPr/>
          </p:nvSpPr>
          <p:spPr bwMode="auto">
            <a:xfrm flipH="1">
              <a:off x="3616203" y="2414440"/>
              <a:ext cx="0" cy="33178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10"/>
            <p:cNvSpPr>
              <a:spLocks noChangeShapeType="1"/>
            </p:cNvSpPr>
            <p:nvPr/>
          </p:nvSpPr>
          <p:spPr bwMode="auto">
            <a:xfrm>
              <a:off x="5900615" y="2458890"/>
              <a:ext cx="442913" cy="1588"/>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5818332" y="214708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cxnSp>
          <p:nvCxnSpPr>
            <p:cNvPr id="33" name="直接连接符 41"/>
            <p:cNvCxnSpPr>
              <a:cxnSpLocks noChangeShapeType="1"/>
            </p:cNvCxnSpPr>
            <p:nvPr/>
          </p:nvCxnSpPr>
          <p:spPr bwMode="auto">
            <a:xfrm>
              <a:off x="3616203" y="2771628"/>
              <a:ext cx="0" cy="263525"/>
            </a:xfrm>
            <a:prstGeom prst="line">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34" name="Text Box 24"/>
            <p:cNvSpPr txBox="1">
              <a:spLocks noChangeArrowheads="1"/>
            </p:cNvSpPr>
            <p:nvPr/>
          </p:nvSpPr>
          <p:spPr bwMode="auto">
            <a:xfrm>
              <a:off x="3322515" y="2963715"/>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a:t>
              </a:r>
              <a:endParaRPr lang="en-US" altLang="zh-CN" sz="1400" b="1" dirty="0">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35" name="矩形 131"/>
            <p:cNvSpPr>
              <a:spLocks noChangeArrowheads="1"/>
            </p:cNvSpPr>
            <p:nvPr/>
          </p:nvSpPr>
          <p:spPr bwMode="auto">
            <a:xfrm>
              <a:off x="6343528" y="2522390"/>
              <a:ext cx="447675" cy="222250"/>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36" name="直接连接符 133"/>
            <p:cNvCxnSpPr>
              <a:cxnSpLocks noChangeShapeType="1"/>
            </p:cNvCxnSpPr>
            <p:nvPr/>
          </p:nvCxnSpPr>
          <p:spPr bwMode="auto">
            <a:xfrm>
              <a:off x="6416553" y="252239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7" name="直接连接符 134"/>
            <p:cNvCxnSpPr>
              <a:cxnSpLocks noChangeShapeType="1"/>
            </p:cNvCxnSpPr>
            <p:nvPr/>
          </p:nvCxnSpPr>
          <p:spPr bwMode="auto">
            <a:xfrm>
              <a:off x="6478465" y="2523978"/>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8" name="直接连接符 135"/>
            <p:cNvCxnSpPr>
              <a:cxnSpLocks noChangeShapeType="1"/>
            </p:cNvCxnSpPr>
            <p:nvPr/>
          </p:nvCxnSpPr>
          <p:spPr bwMode="auto">
            <a:xfrm>
              <a:off x="6602290" y="2523978"/>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9" name="直接连接符 136"/>
            <p:cNvCxnSpPr>
              <a:cxnSpLocks noChangeShapeType="1"/>
            </p:cNvCxnSpPr>
            <p:nvPr/>
          </p:nvCxnSpPr>
          <p:spPr bwMode="auto">
            <a:xfrm>
              <a:off x="6664203" y="2522390"/>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40" name="直接连接符 137"/>
            <p:cNvCxnSpPr>
              <a:cxnSpLocks noChangeShapeType="1"/>
            </p:cNvCxnSpPr>
            <p:nvPr/>
          </p:nvCxnSpPr>
          <p:spPr bwMode="auto">
            <a:xfrm>
              <a:off x="6726115" y="2523978"/>
              <a:ext cx="0" cy="21590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41" name="直接连接符 141"/>
            <p:cNvCxnSpPr>
              <a:cxnSpLocks noChangeShapeType="1"/>
            </p:cNvCxnSpPr>
            <p:nvPr/>
          </p:nvCxnSpPr>
          <p:spPr bwMode="auto">
            <a:xfrm>
              <a:off x="6540378" y="2517628"/>
              <a:ext cx="0" cy="217487"/>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42" name="Text Box 24"/>
            <p:cNvSpPr txBox="1">
              <a:spLocks noChangeArrowheads="1"/>
            </p:cNvSpPr>
            <p:nvPr/>
          </p:nvSpPr>
          <p:spPr bwMode="auto">
            <a:xfrm>
              <a:off x="6360721" y="2226466"/>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endParaRPr lang="en-US" altLang="zh-CN" sz="1200" b="1" dirty="0">
                <a:latin typeface="微软雅黑" panose="020B0503020204020204" pitchFamily="34" charset="-122"/>
                <a:ea typeface="微软雅黑" panose="020B0503020204020204" pitchFamily="34" charset="-122"/>
              </a:endParaRPr>
            </a:p>
          </p:txBody>
        </p:sp>
        <p:sp>
          <p:nvSpPr>
            <p:cNvPr id="43" name="Line 106"/>
            <p:cNvSpPr>
              <a:spLocks noChangeShapeType="1"/>
            </p:cNvSpPr>
            <p:nvPr/>
          </p:nvSpPr>
          <p:spPr bwMode="auto">
            <a:xfrm flipH="1">
              <a:off x="6341940" y="2416028"/>
              <a:ext cx="0" cy="33178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44" name="直接连接符 41"/>
            <p:cNvCxnSpPr>
              <a:cxnSpLocks noChangeShapeType="1"/>
            </p:cNvCxnSpPr>
            <p:nvPr/>
          </p:nvCxnSpPr>
          <p:spPr bwMode="auto">
            <a:xfrm>
              <a:off x="6337178" y="2762103"/>
              <a:ext cx="0" cy="263525"/>
            </a:xfrm>
            <a:prstGeom prst="line">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45" name="Text Box 24"/>
            <p:cNvSpPr txBox="1">
              <a:spLocks noChangeArrowheads="1"/>
            </p:cNvSpPr>
            <p:nvPr/>
          </p:nvSpPr>
          <p:spPr bwMode="auto">
            <a:xfrm>
              <a:off x="6037141" y="2979590"/>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争用</a:t>
              </a:r>
              <a:endParaRPr lang="en-US" altLang="zh-CN" sz="1400" b="1">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信道                        </a:t>
              </a:r>
              <a:endParaRPr lang="en-US" altLang="zh-CN" sz="1400" b="1">
                <a:solidFill>
                  <a:srgbClr val="C00000"/>
                </a:solidFill>
                <a:latin typeface="微软雅黑" panose="020B0503020204020204" pitchFamily="34" charset="-122"/>
                <a:ea typeface="微软雅黑" panose="020B0503020204020204" pitchFamily="34" charset="-122"/>
              </a:endParaRPr>
            </a:p>
          </p:txBody>
        </p:sp>
        <p:sp>
          <p:nvSpPr>
            <p:cNvPr id="46" name="Freeform 13"/>
            <p:cNvSpPr/>
            <p:nvPr/>
          </p:nvSpPr>
          <p:spPr bwMode="auto">
            <a:xfrm>
              <a:off x="6799140" y="2433490"/>
              <a:ext cx="11525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Line 2"/>
            <p:cNvSpPr>
              <a:spLocks noChangeShapeType="1"/>
            </p:cNvSpPr>
            <p:nvPr/>
          </p:nvSpPr>
          <p:spPr bwMode="auto">
            <a:xfrm flipV="1">
              <a:off x="1292103" y="2746228"/>
              <a:ext cx="6856412" cy="1587"/>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Text Box 109"/>
            <p:cNvSpPr txBox="1">
              <a:spLocks noChangeArrowheads="1"/>
            </p:cNvSpPr>
            <p:nvPr/>
          </p:nvSpPr>
          <p:spPr bwMode="auto">
            <a:xfrm>
              <a:off x="6917431" y="2418552"/>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endParaRPr lang="zh-CN" altLang="en-US" sz="1200" b="1">
                <a:latin typeface="微软雅黑" panose="020B0503020204020204" pitchFamily="34" charset="-122"/>
                <a:ea typeface="微软雅黑" panose="020B0503020204020204" pitchFamily="34" charset="-122"/>
              </a:endParaRPr>
            </a:p>
          </p:txBody>
        </p:sp>
        <p:sp>
          <p:nvSpPr>
            <p:cNvPr id="49" name="Text Box 24"/>
            <p:cNvSpPr txBox="1">
              <a:spLocks noChangeArrowheads="1"/>
            </p:cNvSpPr>
            <p:nvPr/>
          </p:nvSpPr>
          <p:spPr bwMode="auto">
            <a:xfrm>
              <a:off x="677568" y="2752578"/>
              <a:ext cx="982663" cy="6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50" name="直接连接符 41"/>
            <p:cNvCxnSpPr>
              <a:cxnSpLocks noChangeShapeType="1"/>
            </p:cNvCxnSpPr>
            <p:nvPr/>
          </p:nvCxnSpPr>
          <p:spPr bwMode="auto">
            <a:xfrm>
              <a:off x="1946153" y="2747815"/>
              <a:ext cx="0" cy="263525"/>
            </a:xfrm>
            <a:prstGeom prst="line">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51" name="Text Box 24"/>
            <p:cNvSpPr txBox="1">
              <a:spLocks noChangeArrowheads="1"/>
            </p:cNvSpPr>
            <p:nvPr/>
          </p:nvSpPr>
          <p:spPr bwMode="auto">
            <a:xfrm>
              <a:off x="1504828" y="2966889"/>
              <a:ext cx="8636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grpSp>
      <p:sp>
        <p:nvSpPr>
          <p:cNvPr id="54" name="矩形 53"/>
          <p:cNvSpPr/>
          <p:nvPr/>
        </p:nvSpPr>
        <p:spPr>
          <a:xfrm>
            <a:off x="1540085" y="3561806"/>
            <a:ext cx="6479768" cy="759182"/>
          </a:xfrm>
          <a:prstGeom prst="rect">
            <a:avLst/>
          </a:prstGeom>
        </p:spPr>
        <p:txBody>
          <a:bodyPr wrap="square">
            <a:spAutoFit/>
          </a:bodyPr>
          <a:lstStyle/>
          <a:p>
            <a:pPr>
              <a:lnSpc>
                <a:spcPts val="2600"/>
              </a:lnSpc>
              <a:spcBef>
                <a:spcPts val="600"/>
              </a:spcBef>
            </a:pPr>
            <a:r>
              <a:rPr lang="zh-CN" altLang="en-US" b="1" dirty="0">
                <a:latin typeface="微软雅黑" panose="020B0503020204020204" pitchFamily="34" charset="-122"/>
                <a:ea typeface="微软雅黑" panose="020B0503020204020204" pitchFamily="34" charset="-122"/>
              </a:rPr>
              <a:t>当站点想发送数据，并检测信道</a:t>
            </a:r>
            <a:r>
              <a:rPr lang="zh-CN" altLang="en-US" b="1" dirty="0">
                <a:solidFill>
                  <a:srgbClr val="0000CC"/>
                </a:solidFill>
                <a:latin typeface="微软雅黑" panose="020B0503020204020204" pitchFamily="34" charset="-122"/>
                <a:ea typeface="微软雅黑" panose="020B0503020204020204" pitchFamily="34" charset="-122"/>
              </a:rPr>
              <a:t>连续空闲时间超过 </a:t>
            </a:r>
            <a:r>
              <a:rPr lang="en-US" altLang="zh-CN" b="1" dirty="0">
                <a:solidFill>
                  <a:srgbClr val="0000CC"/>
                </a:solidFill>
                <a:latin typeface="微软雅黑" panose="020B0503020204020204" pitchFamily="34" charset="-122"/>
                <a:ea typeface="微软雅黑" panose="020B0503020204020204" pitchFamily="34" charset="-122"/>
              </a:rPr>
              <a:t>DIFS </a:t>
            </a:r>
            <a:r>
              <a:rPr lang="zh-CN" altLang="en-US" b="1" dirty="0">
                <a:solidFill>
                  <a:srgbClr val="0000CC"/>
                </a:solidFill>
                <a:latin typeface="微软雅黑" panose="020B0503020204020204" pitchFamily="34" charset="-122"/>
                <a:ea typeface="微软雅黑" panose="020B0503020204020204" pitchFamily="34" charset="-122"/>
              </a:rPr>
              <a:t>时，</a:t>
            </a:r>
            <a:r>
              <a:rPr lang="zh-CN" altLang="en-US" b="1" dirty="0">
                <a:latin typeface="微软雅黑" panose="020B0503020204020204" pitchFamily="34" charset="-122"/>
                <a:ea typeface="微软雅黑" panose="020B0503020204020204" pitchFamily="34" charset="-122"/>
              </a:rPr>
              <a:t>即可立即发送数据，而</a:t>
            </a:r>
            <a:r>
              <a:rPr lang="zh-CN" altLang="en-US" b="1" dirty="0">
                <a:solidFill>
                  <a:srgbClr val="0000CC"/>
                </a:solidFill>
                <a:latin typeface="微软雅黑" panose="020B0503020204020204" pitchFamily="34" charset="-122"/>
                <a:ea typeface="微软雅黑" panose="020B0503020204020204" pitchFamily="34" charset="-122"/>
              </a:rPr>
              <a:t>不必经过争用期。</a:t>
            </a:r>
            <a:endParaRPr lang="zh-CN" altLang="en-US" b="1" dirty="0">
              <a:solidFill>
                <a:srgbClr val="00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62966"/>
            <a:ext cx="8185110" cy="1477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anose="05000000000000000000" pitchFamily="2" charset="2"/>
              <a:buChar char="l"/>
            </a:pPr>
            <a:r>
              <a:rPr lang="zh-CN" altLang="en-US" sz="1900" b="1" dirty="0" smtClean="0">
                <a:solidFill>
                  <a:srgbClr val="0000FF"/>
                </a:solidFill>
                <a:latin typeface="微软雅黑" panose="020B0503020204020204" pitchFamily="34" charset="-122"/>
                <a:ea typeface="微软雅黑" panose="020B0503020204020204" pitchFamily="34" charset="-122"/>
              </a:rPr>
              <a:t>假设：</a:t>
            </a:r>
            <a:r>
              <a:rPr lang="en-US" altLang="zh-CN" sz="1900" b="1" dirty="0" smtClean="0">
                <a:latin typeface="微软雅黑" panose="020B0503020204020204" pitchFamily="34" charset="-122"/>
                <a:ea typeface="微软雅黑" panose="020B0503020204020204" pitchFamily="34" charset="-122"/>
              </a:rPr>
              <a:t>B </a:t>
            </a:r>
            <a:r>
              <a:rPr lang="zh-CN" altLang="en-US" sz="1900" b="1" dirty="0" smtClean="0">
                <a:latin typeface="微软雅黑" panose="020B0503020204020204" pitchFamily="34" charset="-122"/>
                <a:ea typeface="微软雅黑" panose="020B0503020204020204" pitchFamily="34" charset="-122"/>
              </a:rPr>
              <a:t>站</a:t>
            </a:r>
            <a:r>
              <a:rPr lang="zh-CN" altLang="en-US" sz="1900" b="1" dirty="0">
                <a:latin typeface="微软雅黑" panose="020B0503020204020204" pitchFamily="34" charset="-122"/>
                <a:ea typeface="微软雅黑" panose="020B0503020204020204" pitchFamily="34" charset="-122"/>
              </a:rPr>
              <a:t>正好</a:t>
            </a:r>
            <a:r>
              <a:rPr lang="zh-CN" altLang="en-US" sz="1900" b="1" dirty="0" smtClean="0">
                <a:latin typeface="微软雅黑" panose="020B0503020204020204" pitchFamily="34" charset="-122"/>
                <a:ea typeface="微软雅黑" panose="020B0503020204020204" pitchFamily="34" charset="-122"/>
              </a:rPr>
              <a:t>在</a:t>
            </a:r>
            <a:r>
              <a:rPr lang="en-US" altLang="zh-CN" sz="1900" b="1" dirty="0" smtClean="0">
                <a:latin typeface="微软雅黑" panose="020B0503020204020204" pitchFamily="34" charset="-122"/>
                <a:ea typeface="微软雅黑" panose="020B0503020204020204" pitchFamily="34" charset="-122"/>
              </a:rPr>
              <a:t> A </a:t>
            </a:r>
            <a:r>
              <a:rPr lang="zh-CN" altLang="en-US" sz="1900" b="1" dirty="0" smtClean="0">
                <a:latin typeface="微软雅黑" panose="020B0503020204020204" pitchFamily="34" charset="-122"/>
                <a:ea typeface="微软雅黑" panose="020B0503020204020204" pitchFamily="34" charset="-122"/>
              </a:rPr>
              <a:t>占用</a:t>
            </a:r>
            <a:r>
              <a:rPr lang="zh-CN" altLang="en-US" sz="1900" b="1" dirty="0">
                <a:latin typeface="微软雅黑" panose="020B0503020204020204" pitchFamily="34" charset="-122"/>
                <a:ea typeface="微软雅黑" panose="020B0503020204020204" pitchFamily="34" charset="-122"/>
              </a:rPr>
              <a:t>信道时要发送数据。</a:t>
            </a:r>
            <a:r>
              <a:rPr lang="en-US" altLang="zh-CN" sz="1900" b="1" dirty="0" smtClean="0">
                <a:latin typeface="微软雅黑" panose="020B0503020204020204" pitchFamily="34" charset="-122"/>
                <a:ea typeface="微软雅黑" panose="020B0503020204020204" pitchFamily="34" charset="-122"/>
              </a:rPr>
              <a:t>B </a:t>
            </a:r>
            <a:r>
              <a:rPr lang="zh-CN" altLang="en-US" sz="1900" b="1" dirty="0" smtClean="0">
                <a:latin typeface="微软雅黑" panose="020B0503020204020204" pitchFamily="34" charset="-122"/>
                <a:ea typeface="微软雅黑" panose="020B0503020204020204" pitchFamily="34" charset="-122"/>
              </a:rPr>
              <a:t>检测</a:t>
            </a:r>
            <a:r>
              <a:rPr lang="zh-CN" altLang="en-US" sz="1900" b="1" dirty="0">
                <a:latin typeface="微软雅黑" panose="020B0503020204020204" pitchFamily="34" charset="-122"/>
                <a:ea typeface="微软雅黑" panose="020B0503020204020204" pitchFamily="34" charset="-122"/>
              </a:rPr>
              <a:t>到信道忙，于是推迟到争用信道时</a:t>
            </a:r>
            <a:r>
              <a:rPr lang="zh-CN" altLang="en-US" sz="1900" b="1" dirty="0" smtClean="0">
                <a:latin typeface="微软雅黑" panose="020B0503020204020204" pitchFamily="34" charset="-122"/>
                <a:ea typeface="微软雅黑" panose="020B0503020204020204" pitchFamily="34" charset="-122"/>
              </a:rPr>
              <a:t>与 </a:t>
            </a:r>
            <a:r>
              <a:rPr lang="en-US" altLang="zh-CN" sz="1900" b="1" dirty="0" smtClean="0">
                <a:latin typeface="微软雅黑" panose="020B0503020204020204" pitchFamily="34" charset="-122"/>
                <a:ea typeface="微软雅黑" panose="020B0503020204020204" pitchFamily="34" charset="-122"/>
              </a:rPr>
              <a:t>A </a:t>
            </a:r>
            <a:r>
              <a:rPr lang="zh-CN" altLang="en-US" sz="1900" b="1" dirty="0" smtClean="0">
                <a:latin typeface="微软雅黑" panose="020B0503020204020204" pitchFamily="34" charset="-122"/>
                <a:ea typeface="微软雅黑" panose="020B0503020204020204" pitchFamily="34" charset="-122"/>
              </a:rPr>
              <a:t>一起</a:t>
            </a:r>
            <a:r>
              <a:rPr lang="zh-CN" altLang="en-US" sz="1900" b="1" dirty="0">
                <a:latin typeface="微软雅黑" panose="020B0503020204020204" pitchFamily="34" charset="-122"/>
                <a:ea typeface="微软雅黑" panose="020B0503020204020204" pitchFamily="34" charset="-122"/>
              </a:rPr>
              <a:t>争用信道。但</a:t>
            </a:r>
            <a:r>
              <a:rPr lang="zh-CN" altLang="en-US" sz="1900" b="1" dirty="0" smtClean="0">
                <a:latin typeface="微软雅黑" panose="020B0503020204020204" pitchFamily="34" charset="-122"/>
                <a:ea typeface="微软雅黑" panose="020B0503020204020204" pitchFamily="34" charset="-122"/>
              </a:rPr>
              <a:t>正巧 </a:t>
            </a:r>
            <a:r>
              <a:rPr lang="en-US" altLang="zh-CN" sz="1900" b="1" dirty="0" smtClean="0">
                <a:latin typeface="微软雅黑" panose="020B0503020204020204" pitchFamily="34" charset="-122"/>
                <a:ea typeface="微软雅黑" panose="020B0503020204020204" pitchFamily="34" charset="-122"/>
              </a:rPr>
              <a:t>A </a:t>
            </a:r>
            <a:r>
              <a:rPr lang="zh-CN" altLang="en-US" sz="1900" b="1" dirty="0" smtClean="0">
                <a:latin typeface="微软雅黑" panose="020B0503020204020204" pitchFamily="34" charset="-122"/>
                <a:ea typeface="微软雅黑" panose="020B0503020204020204" pitchFamily="34" charset="-122"/>
              </a:rPr>
              <a:t>和 </a:t>
            </a:r>
            <a:r>
              <a:rPr lang="en-US" altLang="zh-CN" sz="1900" b="1" dirty="0" smtClean="0">
                <a:latin typeface="微软雅黑" panose="020B0503020204020204" pitchFamily="34" charset="-122"/>
                <a:ea typeface="微软雅黑" panose="020B0503020204020204" pitchFamily="34" charset="-122"/>
              </a:rPr>
              <a:t>B </a:t>
            </a:r>
            <a:r>
              <a:rPr lang="zh-CN" altLang="en-US" sz="1900" b="1" dirty="0" smtClean="0">
                <a:latin typeface="微软雅黑" panose="020B0503020204020204" pitchFamily="34" charset="-122"/>
                <a:ea typeface="微软雅黑" panose="020B0503020204020204" pitchFamily="34" charset="-122"/>
              </a:rPr>
              <a:t>又</a:t>
            </a:r>
            <a:r>
              <a:rPr lang="zh-CN" altLang="en-US" sz="1900" b="1" dirty="0">
                <a:latin typeface="微软雅黑" panose="020B0503020204020204" pitchFamily="34" charset="-122"/>
                <a:ea typeface="微软雅黑" panose="020B0503020204020204" pitchFamily="34" charset="-122"/>
              </a:rPr>
              <a:t>生成了同样大小的随机退避时隙数。结果就发生了碰撞，</a:t>
            </a:r>
            <a:r>
              <a:rPr lang="en-US" altLang="zh-CN" sz="1900" b="1" dirty="0" smtClean="0">
                <a:latin typeface="微软雅黑" panose="020B0503020204020204" pitchFamily="34" charset="-122"/>
                <a:ea typeface="微软雅黑" panose="020B0503020204020204" pitchFamily="34" charset="-122"/>
              </a:rPr>
              <a:t>A </a:t>
            </a:r>
            <a:r>
              <a:rPr lang="zh-CN" altLang="en-US" sz="1900" b="1" dirty="0" smtClean="0">
                <a:latin typeface="微软雅黑" panose="020B0503020204020204" pitchFamily="34" charset="-122"/>
                <a:ea typeface="微软雅黑" panose="020B0503020204020204" pitchFamily="34" charset="-122"/>
              </a:rPr>
              <a:t>和 </a:t>
            </a:r>
            <a:r>
              <a:rPr lang="en-US" altLang="zh-CN" sz="1900" b="1" dirty="0" smtClean="0">
                <a:latin typeface="微软雅黑" panose="020B0503020204020204" pitchFamily="34" charset="-122"/>
                <a:ea typeface="微软雅黑" panose="020B0503020204020204" pitchFamily="34" charset="-122"/>
              </a:rPr>
              <a:t>B </a:t>
            </a:r>
            <a:r>
              <a:rPr lang="zh-CN" altLang="en-US" sz="1900" b="1" dirty="0" smtClean="0">
                <a:latin typeface="微软雅黑" panose="020B0503020204020204" pitchFamily="34" charset="-122"/>
                <a:ea typeface="微软雅黑" panose="020B0503020204020204" pitchFamily="34" charset="-122"/>
              </a:rPr>
              <a:t>都</a:t>
            </a:r>
            <a:r>
              <a:rPr lang="zh-CN" altLang="en-US" sz="1900" b="1" dirty="0">
                <a:latin typeface="微软雅黑" panose="020B0503020204020204" pitchFamily="34" charset="-122"/>
                <a:ea typeface="微软雅黑" panose="020B0503020204020204" pitchFamily="34" charset="-122"/>
              </a:rPr>
              <a:t>必须再重传</a:t>
            </a:r>
            <a:r>
              <a:rPr lang="zh-CN" altLang="en-US" sz="1900" b="1" dirty="0" smtClean="0">
                <a:latin typeface="微软雅黑" panose="020B0503020204020204" pitchFamily="34" charset="-122"/>
                <a:ea typeface="微软雅黑" panose="020B0503020204020204" pitchFamily="34" charset="-122"/>
              </a:rPr>
              <a:t>。</a:t>
            </a:r>
            <a:endParaRPr lang="en-US" altLang="zh-CN" sz="1900" b="1" dirty="0" smtClean="0">
              <a:latin typeface="微软雅黑" panose="020B0503020204020204" pitchFamily="34" charset="-122"/>
              <a:ea typeface="微软雅黑" panose="020B0503020204020204" pitchFamily="34" charset="-122"/>
            </a:endParaRPr>
          </a:p>
          <a:p>
            <a:pPr marL="342900" indent="-342900" eaLnBrk="0" hangingPunct="0">
              <a:lnSpc>
                <a:spcPts val="2700"/>
              </a:lnSpc>
              <a:buClr>
                <a:srgbClr val="0070C0"/>
              </a:buClr>
              <a:buFont typeface="Wingdings" panose="05000000000000000000" pitchFamily="2" charset="2"/>
              <a:buChar char="l"/>
            </a:pPr>
            <a:r>
              <a:rPr lang="zh-CN" altLang="en-US" sz="1900" b="1" dirty="0" smtClean="0">
                <a:latin typeface="微软雅黑" panose="020B0503020204020204" pitchFamily="34" charset="-122"/>
                <a:ea typeface="微软雅黑" panose="020B0503020204020204" pitchFamily="34" charset="-122"/>
              </a:rPr>
              <a:t>为进一步</a:t>
            </a:r>
            <a:r>
              <a:rPr lang="zh-CN" altLang="en-US" sz="1900" b="1" dirty="0">
                <a:latin typeface="微软雅黑" panose="020B0503020204020204" pitchFamily="34" charset="-122"/>
                <a:ea typeface="微软雅黑" panose="020B0503020204020204" pitchFamily="34" charset="-122"/>
              </a:rPr>
              <a:t>减少</a:t>
            </a:r>
            <a:r>
              <a:rPr lang="zh-CN" altLang="en-US" sz="1900" b="1" dirty="0" smtClean="0">
                <a:latin typeface="微软雅黑" panose="020B0503020204020204" pitchFamily="34" charset="-122"/>
                <a:ea typeface="微软雅黑" panose="020B0503020204020204" pitchFamily="34" charset="-122"/>
              </a:rPr>
              <a:t>碰撞，</a:t>
            </a:r>
            <a:r>
              <a:rPr lang="zh-CN" altLang="en-US" sz="1900" b="1" dirty="0">
                <a:latin typeface="微软雅黑" panose="020B0503020204020204" pitchFamily="34" charset="-122"/>
                <a:ea typeface="微软雅黑" panose="020B0503020204020204" pitchFamily="34" charset="-122"/>
              </a:rPr>
              <a:t>还需要再采用一些</a:t>
            </a:r>
            <a:r>
              <a:rPr lang="zh-CN" altLang="en-US" sz="1900" b="1" dirty="0" smtClean="0">
                <a:latin typeface="微软雅黑" panose="020B0503020204020204" pitchFamily="34" charset="-122"/>
                <a:ea typeface="微软雅黑" panose="020B0503020204020204" pitchFamily="34" charset="-122"/>
              </a:rPr>
              <a:t>措施：</a:t>
            </a:r>
            <a:r>
              <a:rPr lang="zh-CN" altLang="en-US" sz="1900" b="1" dirty="0" smtClean="0">
                <a:solidFill>
                  <a:srgbClr val="C00000"/>
                </a:solidFill>
                <a:latin typeface="微软雅黑" panose="020B0503020204020204" pitchFamily="34" charset="-122"/>
                <a:ea typeface="微软雅黑" panose="020B0503020204020204" pitchFamily="34" charset="-122"/>
              </a:rPr>
              <a:t>信道</a:t>
            </a:r>
            <a:r>
              <a:rPr lang="zh-CN" altLang="en-US" sz="1900" b="1" dirty="0">
                <a:solidFill>
                  <a:srgbClr val="C00000"/>
                </a:solidFill>
                <a:latin typeface="微软雅黑" panose="020B0503020204020204" pitchFamily="34" charset="-122"/>
                <a:ea typeface="微软雅黑" panose="020B0503020204020204" pitchFamily="34" charset="-122"/>
              </a:rPr>
              <a:t>预约。</a:t>
            </a:r>
            <a:endParaRPr lang="zh-CN" altLang="en-US" sz="1900" b="1" dirty="0">
              <a:solidFill>
                <a:srgbClr val="C00000"/>
              </a:solidFill>
              <a:latin typeface="微软雅黑" panose="020B0503020204020204" pitchFamily="34" charset="-122"/>
              <a:ea typeface="微软雅黑" panose="020B0503020204020204" pitchFamily="34" charset="-122"/>
            </a:endParaRP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4. </a:t>
            </a:r>
            <a:r>
              <a:rPr lang="zh-CN" altLang="en-US" sz="2000" b="1" dirty="0">
                <a:solidFill>
                  <a:schemeClr val="bg1"/>
                </a:solidFill>
                <a:latin typeface="微软雅黑" panose="020B0503020204020204" pitchFamily="34" charset="-122"/>
                <a:ea typeface="微软雅黑" panose="020B0503020204020204" pitchFamily="34" charset="-122"/>
              </a:rPr>
              <a:t>对信道进行预约</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5" name="圆角矩形 44"/>
          <p:cNvSpPr/>
          <p:nvPr/>
        </p:nvSpPr>
        <p:spPr>
          <a:xfrm>
            <a:off x="966650" y="2424522"/>
            <a:ext cx="7280367" cy="20516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grpSp>
        <p:nvGrpSpPr>
          <p:cNvPr id="3" name="组合 2"/>
          <p:cNvGrpSpPr/>
          <p:nvPr/>
        </p:nvGrpSpPr>
        <p:grpSpPr>
          <a:xfrm>
            <a:off x="1789364" y="3504488"/>
            <a:ext cx="5816186" cy="908165"/>
            <a:chOff x="1388769" y="3556742"/>
            <a:chExt cx="5816186" cy="908165"/>
          </a:xfrm>
        </p:grpSpPr>
        <p:sp>
          <p:nvSpPr>
            <p:cNvPr id="94" name="Text Box 9"/>
            <p:cNvSpPr txBox="1">
              <a:spLocks noChangeArrowheads="1"/>
            </p:cNvSpPr>
            <p:nvPr/>
          </p:nvSpPr>
          <p:spPr bwMode="auto">
            <a:xfrm>
              <a:off x="6946551" y="3723352"/>
              <a:ext cx="258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endParaRPr lang="en-US" altLang="zh-CN" sz="1400" b="1" i="1" dirty="0">
                <a:latin typeface="微软雅黑" panose="020B0503020204020204" pitchFamily="34" charset="-122"/>
                <a:ea typeface="微软雅黑" panose="020B0503020204020204" pitchFamily="34" charset="-122"/>
              </a:endParaRPr>
            </a:p>
          </p:txBody>
        </p:sp>
        <p:sp>
          <p:nvSpPr>
            <p:cNvPr id="95" name="矩形 131"/>
            <p:cNvSpPr>
              <a:spLocks noChangeArrowheads="1"/>
            </p:cNvSpPr>
            <p:nvPr/>
          </p:nvSpPr>
          <p:spPr bwMode="auto">
            <a:xfrm>
              <a:off x="3776452" y="3777936"/>
              <a:ext cx="523072" cy="166124"/>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96" name="直接连接符 133"/>
            <p:cNvCxnSpPr>
              <a:cxnSpLocks noChangeShapeType="1"/>
            </p:cNvCxnSpPr>
            <p:nvPr/>
          </p:nvCxnSpPr>
          <p:spPr bwMode="auto">
            <a:xfrm>
              <a:off x="3842920" y="3777936"/>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7" name="直接连接符 134"/>
            <p:cNvCxnSpPr>
              <a:cxnSpLocks noChangeShapeType="1"/>
            </p:cNvCxnSpPr>
            <p:nvPr/>
          </p:nvCxnSpPr>
          <p:spPr bwMode="auto">
            <a:xfrm>
              <a:off x="3899273" y="3779122"/>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8" name="直接连接符 135"/>
            <p:cNvCxnSpPr>
              <a:cxnSpLocks noChangeShapeType="1"/>
            </p:cNvCxnSpPr>
            <p:nvPr/>
          </p:nvCxnSpPr>
          <p:spPr bwMode="auto">
            <a:xfrm>
              <a:off x="4011979" y="3779122"/>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99" name="直接连接符 136"/>
            <p:cNvCxnSpPr>
              <a:cxnSpLocks noChangeShapeType="1"/>
            </p:cNvCxnSpPr>
            <p:nvPr/>
          </p:nvCxnSpPr>
          <p:spPr bwMode="auto">
            <a:xfrm>
              <a:off x="4068332" y="3777936"/>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0" name="直接连接符 137"/>
            <p:cNvCxnSpPr>
              <a:cxnSpLocks noChangeShapeType="1"/>
            </p:cNvCxnSpPr>
            <p:nvPr/>
          </p:nvCxnSpPr>
          <p:spPr bwMode="auto">
            <a:xfrm>
              <a:off x="4124685" y="3779122"/>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1" name="直接连接符 138"/>
            <p:cNvCxnSpPr>
              <a:cxnSpLocks noChangeShapeType="1"/>
            </p:cNvCxnSpPr>
            <p:nvPr/>
          </p:nvCxnSpPr>
          <p:spPr bwMode="auto">
            <a:xfrm>
              <a:off x="4181038" y="3785055"/>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2" name="直接连接符 139"/>
            <p:cNvCxnSpPr>
              <a:cxnSpLocks noChangeShapeType="1"/>
            </p:cNvCxnSpPr>
            <p:nvPr/>
          </p:nvCxnSpPr>
          <p:spPr bwMode="auto">
            <a:xfrm>
              <a:off x="4237392" y="3781495"/>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3957561" y="3792577"/>
              <a:ext cx="0" cy="162564"/>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04" name="直接箭头连接符 53"/>
            <p:cNvCxnSpPr>
              <a:cxnSpLocks noChangeShapeType="1"/>
            </p:cNvCxnSpPr>
            <p:nvPr/>
          </p:nvCxnSpPr>
          <p:spPr bwMode="auto">
            <a:xfrm flipV="1">
              <a:off x="2561510" y="3732845"/>
              <a:ext cx="0" cy="213588"/>
            </a:xfrm>
            <a:prstGeom prst="straightConnector1">
              <a:avLst/>
            </a:prstGeom>
            <a:noFill/>
            <a:ln w="28575" algn="ctr">
              <a:solidFill>
                <a:schemeClr val="tx1"/>
              </a:solidFill>
              <a:round/>
              <a:tailEnd type="triangle" w="med" len="med"/>
            </a:ln>
            <a:extLst>
              <a:ext uri="{909E8E84-426E-40DD-AFC4-6F175D3DCCD1}">
                <a14:hiddenFill xmlns:a14="http://schemas.microsoft.com/office/drawing/2010/main">
                  <a:noFill/>
                </a14:hiddenFill>
              </a:ext>
            </a:extLst>
          </p:spPr>
        </p:cxnSp>
        <p:sp>
          <p:nvSpPr>
            <p:cNvPr id="105" name="Text Box 24"/>
            <p:cNvSpPr txBox="1">
              <a:spLocks noChangeArrowheads="1"/>
            </p:cNvSpPr>
            <p:nvPr/>
          </p:nvSpPr>
          <p:spPr bwMode="auto">
            <a:xfrm>
              <a:off x="1388769" y="3694874"/>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smtClean="0">
                  <a:latin typeface="微软雅黑" panose="020B0503020204020204" pitchFamily="34" charset="-122"/>
                  <a:ea typeface="微软雅黑" panose="020B0503020204020204" pitchFamily="34" charset="-122"/>
                </a:rPr>
                <a:t>B</a:t>
              </a:r>
              <a:endParaRPr lang="en-US" altLang="zh-CN" sz="1400" b="1" dirty="0">
                <a:latin typeface="微软雅黑" panose="020B0503020204020204" pitchFamily="34" charset="-122"/>
                <a:ea typeface="微软雅黑" panose="020B0503020204020204" pitchFamily="34" charset="-122"/>
              </a:endParaRPr>
            </a:p>
          </p:txBody>
        </p:sp>
        <p:sp>
          <p:nvSpPr>
            <p:cNvPr id="109" name="Text Box 24"/>
            <p:cNvSpPr txBox="1">
              <a:spLocks noChangeArrowheads="1"/>
            </p:cNvSpPr>
            <p:nvPr/>
          </p:nvSpPr>
          <p:spPr bwMode="auto">
            <a:xfrm>
              <a:off x="3792103" y="3556742"/>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endParaRPr lang="en-US" altLang="zh-CN" sz="1200" b="1">
                <a:latin typeface="微软雅黑" panose="020B0503020204020204" pitchFamily="34" charset="-122"/>
                <a:ea typeface="微软雅黑" panose="020B0503020204020204" pitchFamily="34" charset="-122"/>
              </a:endParaRPr>
            </a:p>
          </p:txBody>
        </p:sp>
        <p:sp>
          <p:nvSpPr>
            <p:cNvPr id="110" name="Freeform 13"/>
            <p:cNvSpPr/>
            <p:nvPr/>
          </p:nvSpPr>
          <p:spPr bwMode="auto">
            <a:xfrm>
              <a:off x="4303622" y="3724538"/>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Text Box 109"/>
            <p:cNvSpPr txBox="1">
              <a:spLocks noChangeArrowheads="1"/>
            </p:cNvSpPr>
            <p:nvPr/>
          </p:nvSpPr>
          <p:spPr bwMode="auto">
            <a:xfrm>
              <a:off x="4354933" y="3702694"/>
              <a:ext cx="14157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endParaRPr lang="zh-CN" altLang="en-US" sz="1200" b="1" dirty="0">
                <a:latin typeface="微软雅黑" panose="020B0503020204020204" pitchFamily="34" charset="-122"/>
                <a:ea typeface="微软雅黑" panose="020B0503020204020204" pitchFamily="34" charset="-122"/>
              </a:endParaRPr>
            </a:p>
          </p:txBody>
        </p:sp>
        <p:sp>
          <p:nvSpPr>
            <p:cNvPr id="112" name="Line 106"/>
            <p:cNvSpPr>
              <a:spLocks noChangeShapeType="1"/>
            </p:cNvSpPr>
            <p:nvPr/>
          </p:nvSpPr>
          <p:spPr bwMode="auto">
            <a:xfrm flipH="1">
              <a:off x="3775008" y="3698433"/>
              <a:ext cx="0" cy="24800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115" name="直接连接符 41"/>
            <p:cNvCxnSpPr>
              <a:cxnSpLocks noChangeShapeType="1"/>
            </p:cNvCxnSpPr>
            <p:nvPr/>
          </p:nvCxnSpPr>
          <p:spPr bwMode="auto">
            <a:xfrm>
              <a:off x="3775008" y="3965418"/>
              <a:ext cx="0" cy="196975"/>
            </a:xfrm>
            <a:prstGeom prst="line">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116" name="Text Box 24"/>
            <p:cNvSpPr txBox="1">
              <a:spLocks noChangeArrowheads="1"/>
            </p:cNvSpPr>
            <p:nvPr/>
          </p:nvSpPr>
          <p:spPr bwMode="auto">
            <a:xfrm>
              <a:off x="3310535" y="4117650"/>
              <a:ext cx="1038182"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smtClean="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29" name="Line 2"/>
            <p:cNvSpPr>
              <a:spLocks noChangeShapeType="1"/>
            </p:cNvSpPr>
            <p:nvPr/>
          </p:nvSpPr>
          <p:spPr bwMode="auto">
            <a:xfrm flipV="1">
              <a:off x="1659602" y="3947619"/>
              <a:ext cx="5342089"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Text Box 24"/>
            <p:cNvSpPr txBox="1">
              <a:spLocks noChangeArrowheads="1"/>
            </p:cNvSpPr>
            <p:nvPr/>
          </p:nvSpPr>
          <p:spPr bwMode="auto">
            <a:xfrm>
              <a:off x="1922278" y="3941687"/>
              <a:ext cx="894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1500845" y="2477345"/>
            <a:ext cx="6104705" cy="1143950"/>
            <a:chOff x="1100250" y="2477345"/>
            <a:chExt cx="6104705" cy="1143950"/>
          </a:xfrm>
        </p:grpSpPr>
        <p:sp>
          <p:nvSpPr>
            <p:cNvPr id="47" name="Freeform 13"/>
            <p:cNvSpPr/>
            <p:nvPr/>
          </p:nvSpPr>
          <p:spPr bwMode="auto">
            <a:xfrm>
              <a:off x="2262146" y="2724643"/>
              <a:ext cx="111405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Line 110"/>
            <p:cNvSpPr>
              <a:spLocks noChangeShapeType="1"/>
            </p:cNvSpPr>
            <p:nvPr/>
          </p:nvSpPr>
          <p:spPr bwMode="auto">
            <a:xfrm>
              <a:off x="1856115" y="2723457"/>
              <a:ext cx="403140" cy="118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Text Box 24"/>
            <p:cNvSpPr txBox="1">
              <a:spLocks noChangeArrowheads="1"/>
            </p:cNvSpPr>
            <p:nvPr/>
          </p:nvSpPr>
          <p:spPr bwMode="auto">
            <a:xfrm>
              <a:off x="1808676" y="2477345"/>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endParaRPr lang="en-US" altLang="zh-CN" sz="1200" b="1" dirty="0">
                <a:latin typeface="微软雅黑" panose="020B0503020204020204" pitchFamily="34" charset="-122"/>
                <a:ea typeface="微软雅黑" panose="020B0503020204020204" pitchFamily="34" charset="-122"/>
              </a:endParaRPr>
            </a:p>
          </p:txBody>
        </p:sp>
        <p:sp>
          <p:nvSpPr>
            <p:cNvPr id="50" name="Text Box 9"/>
            <p:cNvSpPr txBox="1">
              <a:spLocks noChangeArrowheads="1"/>
            </p:cNvSpPr>
            <p:nvPr/>
          </p:nvSpPr>
          <p:spPr bwMode="auto">
            <a:xfrm>
              <a:off x="6946551" y="2730576"/>
              <a:ext cx="258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endParaRPr lang="en-US" altLang="zh-CN" sz="1400" b="1" i="1" dirty="0">
                <a:latin typeface="微软雅黑" panose="020B0503020204020204" pitchFamily="34" charset="-122"/>
                <a:ea typeface="微软雅黑" panose="020B0503020204020204" pitchFamily="34" charset="-122"/>
              </a:endParaRPr>
            </a:p>
          </p:txBody>
        </p:sp>
        <p:sp>
          <p:nvSpPr>
            <p:cNvPr id="51" name="矩形 131"/>
            <p:cNvSpPr>
              <a:spLocks noChangeArrowheads="1"/>
            </p:cNvSpPr>
            <p:nvPr/>
          </p:nvSpPr>
          <p:spPr bwMode="auto">
            <a:xfrm>
              <a:off x="3776452" y="2785160"/>
              <a:ext cx="523072" cy="166124"/>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52" name="直接连接符 133"/>
            <p:cNvCxnSpPr>
              <a:cxnSpLocks noChangeShapeType="1"/>
            </p:cNvCxnSpPr>
            <p:nvPr/>
          </p:nvCxnSpPr>
          <p:spPr bwMode="auto">
            <a:xfrm>
              <a:off x="3842920" y="2785160"/>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53" name="直接连接符 134"/>
            <p:cNvCxnSpPr>
              <a:cxnSpLocks noChangeShapeType="1"/>
            </p:cNvCxnSpPr>
            <p:nvPr/>
          </p:nvCxnSpPr>
          <p:spPr bwMode="auto">
            <a:xfrm>
              <a:off x="3899273" y="2786346"/>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54" name="直接连接符 135"/>
            <p:cNvCxnSpPr>
              <a:cxnSpLocks noChangeShapeType="1"/>
            </p:cNvCxnSpPr>
            <p:nvPr/>
          </p:nvCxnSpPr>
          <p:spPr bwMode="auto">
            <a:xfrm>
              <a:off x="4011979" y="2786346"/>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55" name="直接连接符 136"/>
            <p:cNvCxnSpPr>
              <a:cxnSpLocks noChangeShapeType="1"/>
            </p:cNvCxnSpPr>
            <p:nvPr/>
          </p:nvCxnSpPr>
          <p:spPr bwMode="auto">
            <a:xfrm>
              <a:off x="4068332" y="2785160"/>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56" name="直接连接符 137"/>
            <p:cNvCxnSpPr>
              <a:cxnSpLocks noChangeShapeType="1"/>
            </p:cNvCxnSpPr>
            <p:nvPr/>
          </p:nvCxnSpPr>
          <p:spPr bwMode="auto">
            <a:xfrm>
              <a:off x="4124685" y="2786346"/>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57" name="直接连接符 138"/>
            <p:cNvCxnSpPr>
              <a:cxnSpLocks noChangeShapeType="1"/>
            </p:cNvCxnSpPr>
            <p:nvPr/>
          </p:nvCxnSpPr>
          <p:spPr bwMode="auto">
            <a:xfrm>
              <a:off x="4181038" y="2792279"/>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58" name="直接连接符 139"/>
            <p:cNvCxnSpPr>
              <a:cxnSpLocks noChangeShapeType="1"/>
            </p:cNvCxnSpPr>
            <p:nvPr/>
          </p:nvCxnSpPr>
          <p:spPr bwMode="auto">
            <a:xfrm>
              <a:off x="4237392" y="2788719"/>
              <a:ext cx="0" cy="16137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59" name="直接连接符 141"/>
            <p:cNvCxnSpPr>
              <a:cxnSpLocks noChangeShapeType="1"/>
            </p:cNvCxnSpPr>
            <p:nvPr/>
          </p:nvCxnSpPr>
          <p:spPr bwMode="auto">
            <a:xfrm>
              <a:off x="3955626" y="2790309"/>
              <a:ext cx="0" cy="162564"/>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60" name="直接箭头连接符 53"/>
            <p:cNvCxnSpPr>
              <a:cxnSpLocks noChangeShapeType="1"/>
            </p:cNvCxnSpPr>
            <p:nvPr/>
          </p:nvCxnSpPr>
          <p:spPr bwMode="auto">
            <a:xfrm flipV="1">
              <a:off x="1856115" y="2740069"/>
              <a:ext cx="0" cy="213588"/>
            </a:xfrm>
            <a:prstGeom prst="straightConnector1">
              <a:avLst/>
            </a:prstGeom>
            <a:noFill/>
            <a:ln w="28575" algn="ctr">
              <a:solidFill>
                <a:schemeClr val="tx1"/>
              </a:solidFill>
              <a:round/>
              <a:tailEnd type="triangle" w="med" len="med"/>
            </a:ln>
            <a:extLst>
              <a:ext uri="{909E8E84-426E-40DD-AFC4-6F175D3DCCD1}">
                <a14:hiddenFill xmlns:a14="http://schemas.microsoft.com/office/drawing/2010/main">
                  <a:noFill/>
                </a14:hiddenFill>
              </a:ext>
            </a:extLst>
          </p:spPr>
        </p:cxnSp>
        <p:sp>
          <p:nvSpPr>
            <p:cNvPr id="61" name="Text Box 24"/>
            <p:cNvSpPr txBox="1">
              <a:spLocks noChangeArrowheads="1"/>
            </p:cNvSpPr>
            <p:nvPr/>
          </p:nvSpPr>
          <p:spPr bwMode="auto">
            <a:xfrm>
              <a:off x="1388769" y="2702098"/>
              <a:ext cx="3193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endParaRPr lang="en-US" altLang="zh-CN" sz="1400" b="1" dirty="0">
                <a:latin typeface="微软雅黑" panose="020B0503020204020204" pitchFamily="34" charset="-122"/>
                <a:ea typeface="微软雅黑" panose="020B0503020204020204" pitchFamily="34" charset="-122"/>
              </a:endParaRPr>
            </a:p>
          </p:txBody>
        </p:sp>
        <p:sp>
          <p:nvSpPr>
            <p:cNvPr id="62" name="Text Box 109"/>
            <p:cNvSpPr txBox="1">
              <a:spLocks noChangeArrowheads="1"/>
            </p:cNvSpPr>
            <p:nvPr/>
          </p:nvSpPr>
          <p:spPr bwMode="auto">
            <a:xfrm>
              <a:off x="2442061" y="2703985"/>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endParaRPr lang="zh-CN" altLang="en-US" sz="1200" b="1" dirty="0">
                <a:latin typeface="微软雅黑" panose="020B0503020204020204" pitchFamily="34" charset="-122"/>
                <a:ea typeface="微软雅黑" panose="020B0503020204020204" pitchFamily="34" charset="-122"/>
              </a:endParaRPr>
            </a:p>
          </p:txBody>
        </p:sp>
        <p:sp>
          <p:nvSpPr>
            <p:cNvPr id="63" name="Line 110"/>
            <p:cNvSpPr>
              <a:spLocks noChangeShapeType="1"/>
            </p:cNvSpPr>
            <p:nvPr/>
          </p:nvSpPr>
          <p:spPr bwMode="auto">
            <a:xfrm>
              <a:off x="3381982" y="2723457"/>
              <a:ext cx="403140" cy="118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Text Box 24"/>
            <p:cNvSpPr txBox="1">
              <a:spLocks noChangeArrowheads="1"/>
            </p:cNvSpPr>
            <p:nvPr/>
          </p:nvSpPr>
          <p:spPr bwMode="auto">
            <a:xfrm>
              <a:off x="3309979" y="248327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65" name="Text Box 24"/>
            <p:cNvSpPr txBox="1">
              <a:spLocks noChangeArrowheads="1"/>
            </p:cNvSpPr>
            <p:nvPr/>
          </p:nvSpPr>
          <p:spPr bwMode="auto">
            <a:xfrm>
              <a:off x="3792103" y="2563966"/>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endParaRPr lang="en-US" altLang="zh-CN" sz="1200" b="1">
                <a:latin typeface="微软雅黑" panose="020B0503020204020204" pitchFamily="34" charset="-122"/>
                <a:ea typeface="微软雅黑" panose="020B0503020204020204" pitchFamily="34" charset="-122"/>
              </a:endParaRPr>
            </a:p>
          </p:txBody>
        </p:sp>
        <p:sp>
          <p:nvSpPr>
            <p:cNvPr id="68" name="Line 106"/>
            <p:cNvSpPr>
              <a:spLocks noChangeShapeType="1"/>
            </p:cNvSpPr>
            <p:nvPr/>
          </p:nvSpPr>
          <p:spPr bwMode="auto">
            <a:xfrm flipH="1">
              <a:off x="3775008" y="2705657"/>
              <a:ext cx="0" cy="248000"/>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71" name="直接连接符 41"/>
            <p:cNvCxnSpPr>
              <a:cxnSpLocks noChangeShapeType="1"/>
            </p:cNvCxnSpPr>
            <p:nvPr/>
          </p:nvCxnSpPr>
          <p:spPr bwMode="auto">
            <a:xfrm>
              <a:off x="3775008" y="2972642"/>
              <a:ext cx="0" cy="196975"/>
            </a:xfrm>
            <a:prstGeom prst="line">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72" name="Text Box 24"/>
            <p:cNvSpPr txBox="1">
              <a:spLocks noChangeArrowheads="1"/>
            </p:cNvSpPr>
            <p:nvPr/>
          </p:nvSpPr>
          <p:spPr bwMode="auto">
            <a:xfrm>
              <a:off x="3313593" y="3124903"/>
              <a:ext cx="985931"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smtClean="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5" name="Line 2"/>
            <p:cNvSpPr>
              <a:spLocks noChangeShapeType="1"/>
            </p:cNvSpPr>
            <p:nvPr/>
          </p:nvSpPr>
          <p:spPr bwMode="auto">
            <a:xfrm flipV="1">
              <a:off x="1659602" y="2954843"/>
              <a:ext cx="5342089"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Text Box 24"/>
            <p:cNvSpPr txBox="1">
              <a:spLocks noChangeArrowheads="1"/>
            </p:cNvSpPr>
            <p:nvPr/>
          </p:nvSpPr>
          <p:spPr bwMode="auto">
            <a:xfrm>
              <a:off x="1100250" y="2958403"/>
              <a:ext cx="894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88" name="直接连接符 41"/>
            <p:cNvCxnSpPr>
              <a:cxnSpLocks noChangeShapeType="1"/>
            </p:cNvCxnSpPr>
            <p:nvPr/>
          </p:nvCxnSpPr>
          <p:spPr bwMode="auto">
            <a:xfrm>
              <a:off x="2254921" y="2954843"/>
              <a:ext cx="0" cy="196975"/>
            </a:xfrm>
            <a:prstGeom prst="line">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89" name="Text Box 24"/>
            <p:cNvSpPr txBox="1">
              <a:spLocks noChangeArrowheads="1"/>
            </p:cNvSpPr>
            <p:nvPr/>
          </p:nvSpPr>
          <p:spPr bwMode="auto">
            <a:xfrm>
              <a:off x="1853225" y="3118593"/>
              <a:ext cx="786052"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134" name="Freeform 13"/>
            <p:cNvSpPr/>
            <p:nvPr/>
          </p:nvSpPr>
          <p:spPr bwMode="auto">
            <a:xfrm>
              <a:off x="4303622" y="2731776"/>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accent6">
                <a:lumMod val="60000"/>
                <a:lumOff val="40000"/>
              </a:schemeClr>
            </a:solidFill>
            <a:ln w="9525">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Text Box 109"/>
            <p:cNvSpPr txBox="1">
              <a:spLocks noChangeArrowheads="1"/>
            </p:cNvSpPr>
            <p:nvPr/>
          </p:nvSpPr>
          <p:spPr bwMode="auto">
            <a:xfrm>
              <a:off x="4354934" y="2709932"/>
              <a:ext cx="14157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endParaRPr lang="zh-CN" altLang="en-US" sz="12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4. </a:t>
            </a:r>
            <a:r>
              <a:rPr lang="zh-CN" altLang="en-US" sz="2000" b="1" dirty="0">
                <a:solidFill>
                  <a:schemeClr val="bg1"/>
                </a:solidFill>
                <a:latin typeface="微软雅黑" panose="020B0503020204020204" pitchFamily="34" charset="-122"/>
                <a:ea typeface="微软雅黑" panose="020B0503020204020204" pitchFamily="34" charset="-122"/>
              </a:rPr>
              <a:t>对信道进行预约</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73" name="Text Box 94"/>
          <p:cNvSpPr txBox="1">
            <a:spLocks noChangeArrowheads="1"/>
          </p:cNvSpPr>
          <p:nvPr/>
        </p:nvSpPr>
        <p:spPr bwMode="auto">
          <a:xfrm>
            <a:off x="1212475"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endParaRPr lang="en-US" altLang="zh-CN" sz="1200" b="1" dirty="0">
              <a:latin typeface="微软雅黑" panose="020B0503020204020204" pitchFamily="34" charset="-122"/>
              <a:ea typeface="微软雅黑" panose="020B0503020204020204" pitchFamily="34" charset="-122"/>
            </a:endParaRP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endParaRPr lang="en-US" altLang="zh-CN" sz="1200" b="1" dirty="0">
              <a:latin typeface="微软雅黑" panose="020B0503020204020204" pitchFamily="34" charset="-122"/>
              <a:ea typeface="微软雅黑" panose="020B0503020204020204" pitchFamily="34" charset="-122"/>
            </a:endParaRP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endParaRPr lang="en-US" altLang="zh-CN" sz="1200" b="1" dirty="0">
              <a:latin typeface="微软雅黑" panose="020B0503020204020204" pitchFamily="34" charset="-122"/>
              <a:ea typeface="微软雅黑" panose="020B0503020204020204" pitchFamily="34" charset="-122"/>
            </a:endParaRP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122" name="Text Box 94"/>
          <p:cNvSpPr txBox="1">
            <a:spLocks noChangeArrowheads="1"/>
          </p:cNvSpPr>
          <p:nvPr/>
        </p:nvSpPr>
        <p:spPr bwMode="auto">
          <a:xfrm>
            <a:off x="1071466" y="2942525"/>
            <a:ext cx="13402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endParaRPr lang="zh-CN" altLang="en-US" sz="1200" b="1">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1734220" y="3206562"/>
            <a:ext cx="13404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endParaRPr lang="zh-CN" altLang="en-US" sz="1200" b="1">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endParaRPr lang="en-US" altLang="zh-CN" sz="1200" b="1">
              <a:latin typeface="微软雅黑" panose="020B0503020204020204" pitchFamily="34" charset="-122"/>
              <a:ea typeface="微软雅黑" panose="020B0503020204020204" pitchFamily="34" charset="-122"/>
            </a:endParaRP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endParaRPr lang="zh-CN" altLang="en-US" sz="1200" b="1">
              <a:latin typeface="微软雅黑" panose="020B0503020204020204" pitchFamily="34" charset="-122"/>
              <a:ea typeface="微软雅黑" panose="020B0503020204020204" pitchFamily="34" charset="-122"/>
            </a:endParaRP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10364" y="3425200"/>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DATA </a:t>
            </a:r>
            <a:r>
              <a:rPr lang="zh-CN" altLang="en-US" sz="1200" b="1">
                <a:latin typeface="微软雅黑" panose="020B0503020204020204" pitchFamily="34" charset="-122"/>
                <a:ea typeface="微软雅黑" panose="020B0503020204020204" pitchFamily="34" charset="-122"/>
              </a:rPr>
              <a:t>帧的站</a:t>
            </a:r>
            <a:endParaRPr lang="zh-CN" altLang="en-US" sz="1200" b="1">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9" name="矩形 8"/>
          <p:cNvSpPr/>
          <p:nvPr/>
        </p:nvSpPr>
        <p:spPr>
          <a:xfrm>
            <a:off x="1314994" y="4202648"/>
            <a:ext cx="6845503" cy="656590"/>
          </a:xfrm>
          <a:prstGeom prst="rect">
            <a:avLst/>
          </a:prstGeom>
        </p:spPr>
        <p:txBody>
          <a:bodyPr wrap="square">
            <a:spAutoFit/>
          </a:bodyPr>
          <a:lstStyle/>
          <a:p>
            <a:pPr>
              <a:lnSpc>
                <a:spcPts val="2200"/>
              </a:lnSpc>
            </a:pPr>
            <a:r>
              <a:rPr lang="zh-CN" altLang="en-US" sz="1600" b="1" dirty="0">
                <a:solidFill>
                  <a:srgbClr val="C00000"/>
                </a:solidFill>
                <a:latin typeface="微软雅黑" panose="020B0503020204020204" pitchFamily="34" charset="-122"/>
                <a:ea typeface="微软雅黑" panose="020B0503020204020204" pitchFamily="34" charset="-122"/>
              </a:rPr>
              <a:t>隐蔽</a:t>
            </a:r>
            <a:r>
              <a:rPr lang="zh-CN" altLang="en-US" sz="1600" b="1" dirty="0" smtClean="0">
                <a:solidFill>
                  <a:srgbClr val="C00000"/>
                </a:solidFill>
                <a:latin typeface="微软雅黑" panose="020B0503020204020204" pitchFamily="34" charset="-122"/>
                <a:ea typeface="微软雅黑" panose="020B0503020204020204" pitchFamily="34" charset="-122"/>
              </a:rPr>
              <a:t>站问题：</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站</a:t>
            </a:r>
            <a:r>
              <a:rPr lang="zh-CN" altLang="en-US" sz="1600" b="1" dirty="0">
                <a:latin typeface="微软雅黑" panose="020B0503020204020204" pitchFamily="34" charset="-122"/>
                <a:ea typeface="微软雅黑" panose="020B0503020204020204" pitchFamily="34" charset="-122"/>
              </a:rPr>
              <a:t>或 </a:t>
            </a:r>
            <a:r>
              <a:rPr lang="en-US" altLang="zh-CN" sz="1600" b="1" dirty="0" smtClean="0">
                <a:latin typeface="微软雅黑" panose="020B0503020204020204" pitchFamily="34" charset="-122"/>
                <a:ea typeface="微软雅黑" panose="020B0503020204020204" pitchFamily="34" charset="-122"/>
              </a:rPr>
              <a:t>B </a:t>
            </a:r>
            <a:r>
              <a:rPr lang="zh-CN" altLang="en-US" sz="1600" b="1" dirty="0" smtClean="0">
                <a:latin typeface="微软雅黑" panose="020B0503020204020204" pitchFamily="34" charset="-122"/>
                <a:ea typeface="微软雅黑" panose="020B0503020204020204" pitchFamily="34" charset="-122"/>
              </a:rPr>
              <a:t>站</a:t>
            </a:r>
            <a:r>
              <a:rPr lang="zh-CN" altLang="en-US" sz="1600" b="1" dirty="0">
                <a:latin typeface="微软雅黑" panose="020B0503020204020204" pitchFamily="34" charset="-122"/>
                <a:ea typeface="微软雅黑" panose="020B0503020204020204" pitchFamily="34" charset="-122"/>
              </a:rPr>
              <a:t>向</a:t>
            </a:r>
            <a:r>
              <a:rPr lang="zh-CN" altLang="en-US" sz="1600" b="1" dirty="0" smtClean="0">
                <a:latin typeface="微软雅黑" panose="020B0503020204020204" pitchFamily="34" charset="-122"/>
                <a:ea typeface="微软雅黑" panose="020B0503020204020204" pitchFamily="34" charset="-122"/>
              </a:rPr>
              <a:t>接入点 </a:t>
            </a:r>
            <a:r>
              <a:rPr lang="en-US" altLang="zh-CN" sz="1600" b="1" dirty="0" smtClean="0">
                <a:latin typeface="微软雅黑" panose="020B0503020204020204" pitchFamily="34" charset="-122"/>
                <a:ea typeface="微软雅黑" panose="020B0503020204020204" pitchFamily="34" charset="-122"/>
              </a:rPr>
              <a:t>AP </a:t>
            </a:r>
            <a:r>
              <a:rPr lang="zh-CN" altLang="en-US" sz="1600" b="1" dirty="0" smtClean="0">
                <a:latin typeface="微软雅黑" panose="020B0503020204020204" pitchFamily="34" charset="-122"/>
                <a:ea typeface="微软雅黑" panose="020B0503020204020204" pitchFamily="34" charset="-122"/>
              </a:rPr>
              <a:t>发送</a:t>
            </a:r>
            <a:r>
              <a:rPr lang="zh-CN" altLang="en-US" sz="1600" b="1" dirty="0">
                <a:latin typeface="微软雅黑" panose="020B0503020204020204" pitchFamily="34" charset="-122"/>
                <a:ea typeface="微软雅黑" panose="020B0503020204020204" pitchFamily="34" charset="-122"/>
              </a:rPr>
              <a:t>数据时</a:t>
            </a:r>
            <a:r>
              <a:rPr lang="zh-CN" altLang="en-US" sz="1600" b="1" dirty="0" smtClean="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C </a:t>
            </a:r>
            <a:r>
              <a:rPr lang="zh-CN" altLang="en-US" sz="1600" b="1" dirty="0" smtClean="0">
                <a:latin typeface="微软雅黑" panose="020B0503020204020204" pitchFamily="34" charset="-122"/>
                <a:ea typeface="微软雅黑" panose="020B0503020204020204" pitchFamily="34" charset="-122"/>
              </a:rPr>
              <a:t>站</a:t>
            </a:r>
            <a:r>
              <a:rPr lang="zh-CN" altLang="en-US" sz="1600" b="1" dirty="0">
                <a:latin typeface="微软雅黑" panose="020B0503020204020204" pitchFamily="34" charset="-122"/>
                <a:ea typeface="微软雅黑" panose="020B0503020204020204" pitchFamily="34" charset="-122"/>
              </a:rPr>
              <a:t>接收不到这些</a:t>
            </a:r>
            <a:r>
              <a:rPr lang="zh-CN" altLang="en-US" sz="1600" b="1" dirty="0" smtClean="0">
                <a:latin typeface="微软雅黑" panose="020B0503020204020204" pitchFamily="34" charset="-122"/>
                <a:ea typeface="微软雅黑" panose="020B0503020204020204" pitchFamily="34" charset="-122"/>
              </a:rPr>
              <a:t>信号。</a:t>
            </a:r>
            <a:r>
              <a:rPr lang="en-US" altLang="zh-CN" sz="1600" b="1" dirty="0" smtClean="0">
                <a:latin typeface="微软雅黑" panose="020B0503020204020204" pitchFamily="34" charset="-122"/>
                <a:ea typeface="微软雅黑" panose="020B0503020204020204" pitchFamily="34" charset="-122"/>
              </a:rPr>
              <a:t>C </a:t>
            </a:r>
            <a:r>
              <a:rPr lang="zh-CN" altLang="en-US" sz="1600" b="1" dirty="0" smtClean="0">
                <a:latin typeface="微软雅黑" panose="020B0503020204020204" pitchFamily="34" charset="-122"/>
                <a:ea typeface="微软雅黑" panose="020B0503020204020204" pitchFamily="34" charset="-122"/>
              </a:rPr>
              <a:t>站向 </a:t>
            </a:r>
            <a:r>
              <a:rPr lang="en-US" altLang="zh-CN" sz="1600" b="1" dirty="0" smtClean="0">
                <a:latin typeface="微软雅黑" panose="020B0503020204020204" pitchFamily="34" charset="-122"/>
                <a:ea typeface="微软雅黑" panose="020B0503020204020204" pitchFamily="34" charset="-122"/>
              </a:rPr>
              <a:t>AP </a:t>
            </a:r>
            <a:r>
              <a:rPr lang="zh-CN" altLang="en-US" sz="1600" b="1" dirty="0" smtClean="0">
                <a:latin typeface="微软雅黑" panose="020B0503020204020204" pitchFamily="34" charset="-122"/>
                <a:ea typeface="微软雅黑" panose="020B0503020204020204" pitchFamily="34" charset="-122"/>
              </a:rPr>
              <a:t>发送</a:t>
            </a:r>
            <a:r>
              <a:rPr lang="zh-CN" altLang="en-US" sz="1600" b="1" dirty="0">
                <a:latin typeface="微软雅黑" panose="020B0503020204020204" pitchFamily="34" charset="-122"/>
                <a:ea typeface="微软雅黑" panose="020B0503020204020204" pitchFamily="34" charset="-122"/>
              </a:rPr>
              <a:t>的信号也传播不到远处</a:t>
            </a:r>
            <a:r>
              <a:rPr lang="zh-CN" altLang="en-US" sz="1600" b="1" dirty="0" smtClean="0">
                <a:latin typeface="微软雅黑" panose="020B0503020204020204" pitchFamily="34" charset="-122"/>
                <a:ea typeface="微软雅黑" panose="020B0503020204020204" pitchFamily="34" charset="-122"/>
              </a:rPr>
              <a:t>的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站或 </a:t>
            </a:r>
            <a:r>
              <a:rPr lang="en-US" altLang="zh-CN" sz="1600" b="1" dirty="0" smtClean="0">
                <a:latin typeface="微软雅黑" panose="020B0503020204020204" pitchFamily="34" charset="-122"/>
                <a:ea typeface="微软雅黑" panose="020B0503020204020204" pitchFamily="34" charset="-122"/>
              </a:rPr>
              <a:t>B </a:t>
            </a:r>
            <a:r>
              <a:rPr lang="zh-CN" altLang="en-US" sz="1600" b="1" dirty="0" smtClean="0">
                <a:latin typeface="微软雅黑" panose="020B0503020204020204" pitchFamily="34" charset="-122"/>
                <a:ea typeface="微软雅黑" panose="020B0503020204020204" pitchFamily="34" charset="-122"/>
              </a:rPr>
              <a:t>站</a:t>
            </a:r>
            <a:r>
              <a:rPr lang="zh-CN" altLang="en-US"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4. </a:t>
            </a:r>
            <a:r>
              <a:rPr lang="zh-CN" altLang="en-US" sz="2000" b="1" dirty="0">
                <a:solidFill>
                  <a:schemeClr val="bg1"/>
                </a:solidFill>
                <a:latin typeface="微软雅黑" panose="020B0503020204020204" pitchFamily="34" charset="-122"/>
                <a:ea typeface="微软雅黑" panose="020B0503020204020204" pitchFamily="34" charset="-122"/>
              </a:rPr>
              <a:t>对信道进行预约</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endParaRPr lang="en-US" altLang="zh-CN" sz="1200" b="1" dirty="0">
              <a:latin typeface="微软雅黑" panose="020B0503020204020204" pitchFamily="34" charset="-122"/>
              <a:ea typeface="微软雅黑" panose="020B0503020204020204" pitchFamily="34" charset="-122"/>
            </a:endParaRP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endParaRPr lang="en-US" altLang="zh-CN" sz="1200" b="1" dirty="0">
              <a:latin typeface="微软雅黑" panose="020B0503020204020204" pitchFamily="34" charset="-122"/>
              <a:ea typeface="微软雅黑" panose="020B0503020204020204" pitchFamily="34" charset="-122"/>
            </a:endParaRP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endParaRPr lang="en-US" altLang="zh-CN" sz="1200" b="1" dirty="0">
              <a:latin typeface="微软雅黑" panose="020B0503020204020204" pitchFamily="34" charset="-122"/>
              <a:ea typeface="微软雅黑" panose="020B0503020204020204" pitchFamily="34" charset="-122"/>
            </a:endParaRP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 </a:t>
            </a:r>
            <a:r>
              <a:rPr lang="en-US" altLang="zh-CN" sz="1200" b="1" dirty="0" smtClean="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r>
              <a:rPr lang="en-US" altLang="zh-CN" sz="1200" b="1" dirty="0" smtClean="0">
                <a:latin typeface="微软雅黑" panose="020B0503020204020204" pitchFamily="34" charset="-122"/>
                <a:ea typeface="微软雅黑" panose="020B0503020204020204" pitchFamily="34" charset="-122"/>
              </a:rPr>
              <a:t>(A</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B</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endParaRPr lang="en-US" altLang="zh-CN" sz="1200" b="1">
              <a:latin typeface="微软雅黑" panose="020B0503020204020204" pitchFamily="34" charset="-122"/>
              <a:ea typeface="微软雅黑" panose="020B0503020204020204" pitchFamily="34" charset="-122"/>
            </a:endParaRP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endParaRPr lang="zh-CN" altLang="en-US" sz="1200" b="1">
              <a:latin typeface="微软雅黑" panose="020B0503020204020204" pitchFamily="34" charset="-122"/>
              <a:ea typeface="微软雅黑" panose="020B0503020204020204" pitchFamily="34" charset="-122"/>
            </a:endParaRP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endParaRPr lang="zh-CN" altLang="en-US" sz="1200" b="1" dirty="0">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8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20"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4. </a:t>
            </a:r>
            <a:r>
              <a:rPr lang="zh-CN" altLang="en-US" sz="2000" b="1" dirty="0">
                <a:solidFill>
                  <a:schemeClr val="bg1"/>
                </a:solidFill>
                <a:latin typeface="微软雅黑" panose="020B0503020204020204" pitchFamily="34" charset="-122"/>
                <a:ea typeface="微软雅黑" panose="020B0503020204020204" pitchFamily="34" charset="-122"/>
              </a:rPr>
              <a:t>对信道进行预约</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endParaRPr lang="en-US" altLang="zh-CN" sz="1200" b="1" dirty="0">
              <a:latin typeface="微软雅黑" panose="020B0503020204020204" pitchFamily="34" charset="-122"/>
              <a:ea typeface="微软雅黑" panose="020B0503020204020204" pitchFamily="34" charset="-122"/>
            </a:endParaRP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endParaRPr lang="en-US" altLang="zh-CN" sz="1200" b="1" dirty="0">
              <a:latin typeface="微软雅黑" panose="020B0503020204020204" pitchFamily="34" charset="-122"/>
              <a:ea typeface="微软雅黑" panose="020B0503020204020204" pitchFamily="34" charset="-122"/>
            </a:endParaRP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endParaRPr lang="en-US" altLang="zh-CN" sz="1200" b="1" dirty="0">
              <a:latin typeface="微软雅黑" panose="020B0503020204020204" pitchFamily="34" charset="-122"/>
              <a:ea typeface="微软雅黑" panose="020B0503020204020204" pitchFamily="34" charset="-122"/>
            </a:endParaRP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 </a:t>
            </a:r>
            <a:r>
              <a:rPr lang="en-US" altLang="zh-CN" sz="1200" b="1" dirty="0" smtClean="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r>
              <a:rPr lang="en-US" altLang="zh-CN" sz="1200" b="1" dirty="0" smtClean="0">
                <a:latin typeface="微软雅黑" panose="020B0503020204020204" pitchFamily="34" charset="-122"/>
                <a:ea typeface="微软雅黑" panose="020B0503020204020204" pitchFamily="34" charset="-122"/>
              </a:rPr>
              <a:t>(A</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B</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endParaRPr lang="en-US" altLang="zh-CN" sz="1200" b="1">
              <a:latin typeface="微软雅黑" panose="020B0503020204020204" pitchFamily="34" charset="-122"/>
              <a:ea typeface="微软雅黑" panose="020B0503020204020204" pitchFamily="34" charset="-122"/>
            </a:endParaRP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endParaRPr lang="zh-CN" altLang="en-US" sz="1200" b="1">
              <a:latin typeface="微软雅黑" panose="020B0503020204020204" pitchFamily="34" charset="-122"/>
              <a:ea typeface="微软雅黑" panose="020B0503020204020204" pitchFamily="34" charset="-122"/>
            </a:endParaRP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endParaRPr lang="zh-CN" altLang="en-US" sz="1200" b="1" dirty="0">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0"/>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12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4. </a:t>
            </a:r>
            <a:r>
              <a:rPr lang="zh-CN" altLang="en-US" sz="2000" b="1" dirty="0">
                <a:solidFill>
                  <a:schemeClr val="bg1"/>
                </a:solidFill>
                <a:latin typeface="微软雅黑" panose="020B0503020204020204" pitchFamily="34" charset="-122"/>
                <a:ea typeface="微软雅黑" panose="020B0503020204020204" pitchFamily="34" charset="-122"/>
              </a:rPr>
              <a:t>对信道进行预约</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endParaRPr lang="en-US" altLang="zh-CN" sz="1200" b="1">
              <a:latin typeface="微软雅黑" panose="020B0503020204020204" pitchFamily="34" charset="-122"/>
              <a:ea typeface="微软雅黑" panose="020B0503020204020204" pitchFamily="34" charset="-122"/>
            </a:endParaRP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endParaRPr lang="en-US" altLang="zh-CN" sz="1200" b="1" dirty="0">
              <a:latin typeface="微软雅黑" panose="020B0503020204020204" pitchFamily="34" charset="-122"/>
              <a:ea typeface="微软雅黑" panose="020B0503020204020204" pitchFamily="34" charset="-122"/>
            </a:endParaRP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endParaRPr lang="en-US" altLang="zh-CN" sz="1200" b="1" dirty="0">
              <a:latin typeface="微软雅黑" panose="020B0503020204020204" pitchFamily="34" charset="-122"/>
              <a:ea typeface="微软雅黑" panose="020B0503020204020204" pitchFamily="34" charset="-122"/>
            </a:endParaRP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endParaRPr lang="en-US" altLang="zh-CN" sz="1200" b="1" dirty="0">
              <a:latin typeface="微软雅黑" panose="020B0503020204020204" pitchFamily="34" charset="-122"/>
              <a:ea typeface="微软雅黑" panose="020B0503020204020204" pitchFamily="34" charset="-122"/>
            </a:endParaRP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 </a:t>
            </a:r>
            <a:r>
              <a:rPr lang="en-US" altLang="zh-CN" sz="1200" b="1" dirty="0" smtClean="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r>
              <a:rPr lang="en-US" altLang="zh-CN" sz="1200" b="1" dirty="0" smtClean="0">
                <a:latin typeface="微软雅黑" panose="020B0503020204020204" pitchFamily="34" charset="-122"/>
                <a:ea typeface="微软雅黑" panose="020B0503020204020204" pitchFamily="34" charset="-122"/>
              </a:rPr>
              <a:t>(A</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B</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endParaRPr lang="en-US" altLang="zh-CN" sz="1200" b="1">
              <a:latin typeface="微软雅黑" panose="020B0503020204020204" pitchFamily="34" charset="-122"/>
              <a:ea typeface="微软雅黑" panose="020B0503020204020204" pitchFamily="34" charset="-122"/>
            </a:endParaRP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endParaRPr lang="en-US" altLang="zh-CN" sz="1200" b="1">
              <a:latin typeface="微软雅黑" panose="020B0503020204020204" pitchFamily="34" charset="-122"/>
              <a:ea typeface="微软雅黑" panose="020B0503020204020204" pitchFamily="34" charset="-122"/>
            </a:endParaRP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endParaRPr lang="zh-CN" altLang="en-US" sz="1200" b="1">
              <a:latin typeface="微软雅黑" panose="020B0503020204020204" pitchFamily="34" charset="-122"/>
              <a:ea typeface="微软雅黑" panose="020B0503020204020204" pitchFamily="34" charset="-122"/>
            </a:endParaRP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endParaRPr lang="en-US" altLang="zh-CN" sz="1200" b="1" i="1">
              <a:latin typeface="微软雅黑" panose="020B0503020204020204" pitchFamily="34" charset="-122"/>
              <a:ea typeface="微软雅黑" panose="020B0503020204020204" pitchFamily="34" charset="-122"/>
            </a:endParaRP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endParaRPr lang="zh-CN" altLang="en-US" sz="1200" b="1" dirty="0">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endParaRPr lang="zh-CN" altLang="en-US" sz="1200" b="1" dirty="0">
              <a:latin typeface="微软雅黑" panose="020B0503020204020204" pitchFamily="34" charset="-122"/>
              <a:ea typeface="微软雅黑" panose="020B0503020204020204" pitchFamily="34" charset="-122"/>
            </a:endParaRPr>
          </a:p>
        </p:txBody>
      </p:sp>
      <p:sp>
        <p:nvSpPr>
          <p:cNvPr id="2" name="矩形 1"/>
          <p:cNvSpPr/>
          <p:nvPr/>
        </p:nvSpPr>
        <p:spPr>
          <a:xfrm>
            <a:off x="1288869" y="4217595"/>
            <a:ext cx="6819346" cy="605294"/>
          </a:xfrm>
          <a:prstGeom prst="rect">
            <a:avLst/>
          </a:prstGeom>
        </p:spPr>
        <p:txBody>
          <a:bodyPr wrap="square">
            <a:spAutoFit/>
          </a:bodyPr>
          <a:lstStyle/>
          <a:p>
            <a:pPr>
              <a:lnSpc>
                <a:spcPts val="2000"/>
              </a:lnSpc>
            </a:pPr>
            <a:r>
              <a:rPr lang="zh-CN" altLang="en-US" sz="1600" b="1" dirty="0">
                <a:latin typeface="微软雅黑" panose="020B0503020204020204" pitchFamily="34" charset="-122"/>
                <a:ea typeface="微软雅黑" panose="020B0503020204020204" pitchFamily="34" charset="-122"/>
              </a:rPr>
              <a:t>以上</a:t>
            </a:r>
            <a:r>
              <a:rPr lang="zh-CN" altLang="en-US" sz="1600" b="1" dirty="0" smtClean="0">
                <a:latin typeface="微软雅黑" panose="020B0503020204020204" pitchFamily="34" charset="-122"/>
                <a:ea typeface="微软雅黑" panose="020B0503020204020204" pitchFamily="34" charset="-122"/>
              </a:rPr>
              <a:t>措施使得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站</a:t>
            </a:r>
            <a:r>
              <a:rPr lang="zh-CN" altLang="en-US" sz="1600" b="1" dirty="0">
                <a:latin typeface="微软雅黑" panose="020B0503020204020204" pitchFamily="34" charset="-122"/>
                <a:ea typeface="微软雅黑" panose="020B0503020204020204" pitchFamily="34" charset="-122"/>
              </a:rPr>
              <a:t>和</a:t>
            </a:r>
            <a:r>
              <a:rPr lang="zh-CN" altLang="en-US" sz="1600" b="1" dirty="0" smtClean="0">
                <a:latin typeface="微软雅黑" panose="020B0503020204020204" pitchFamily="34" charset="-122"/>
                <a:ea typeface="微软雅黑" panose="020B0503020204020204" pitchFamily="34" charset="-122"/>
              </a:rPr>
              <a:t>接入点 </a:t>
            </a:r>
            <a:r>
              <a:rPr lang="en-US" altLang="zh-CN" sz="1600" b="1" dirty="0" smtClean="0">
                <a:latin typeface="微软雅黑" panose="020B0503020204020204" pitchFamily="34" charset="-122"/>
                <a:ea typeface="微软雅黑" panose="020B0503020204020204" pitchFamily="34" charset="-122"/>
              </a:rPr>
              <a:t>AP</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以及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站和 </a:t>
            </a:r>
            <a:r>
              <a:rPr lang="en-US" altLang="zh-CN" sz="1600" b="1" dirty="0" smtClean="0">
                <a:latin typeface="微软雅黑" panose="020B0503020204020204" pitchFamily="34" charset="-122"/>
                <a:ea typeface="微软雅黑" panose="020B0503020204020204" pitchFamily="34" charset="-122"/>
              </a:rPr>
              <a:t>B </a:t>
            </a:r>
            <a:r>
              <a:rPr lang="zh-CN" altLang="en-US" sz="1600" b="1" dirty="0" smtClean="0">
                <a:latin typeface="微软雅黑" panose="020B0503020204020204" pitchFamily="34" charset="-122"/>
                <a:ea typeface="微软雅黑" panose="020B0503020204020204" pitchFamily="34" charset="-122"/>
              </a:rPr>
              <a:t>站</a:t>
            </a:r>
            <a:r>
              <a:rPr lang="zh-CN" altLang="en-US" sz="1600" b="1" dirty="0">
                <a:latin typeface="微软雅黑" panose="020B0503020204020204" pitchFamily="34" charset="-122"/>
                <a:ea typeface="微软雅黑" panose="020B0503020204020204" pitchFamily="34" charset="-122"/>
              </a:rPr>
              <a:t>）的通信过程中，发生碰撞的概率大大降低，特别是减少了隐蔽站的干扰问题。</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9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195" grpId="0"/>
      <p:bldP spid="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85110"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RTS </a:t>
            </a:r>
            <a:r>
              <a:rPr lang="zh-CN" altLang="en-US" sz="2000" b="1" dirty="0" smtClean="0">
                <a:latin typeface="微软雅黑" panose="020B0503020204020204" pitchFamily="34" charset="-122"/>
                <a:ea typeface="微软雅黑" panose="020B0503020204020204" pitchFamily="34" charset="-122"/>
              </a:rPr>
              <a:t>帧和 </a:t>
            </a:r>
            <a:r>
              <a:rPr lang="en-US" altLang="zh-CN" sz="2000" b="1" dirty="0" smtClean="0">
                <a:latin typeface="微软雅黑" panose="020B0503020204020204" pitchFamily="34" charset="-122"/>
                <a:ea typeface="微软雅黑" panose="020B0503020204020204" pitchFamily="34" charset="-122"/>
              </a:rPr>
              <a:t>CTS </a:t>
            </a:r>
            <a:r>
              <a:rPr lang="zh-CN" altLang="en-US" sz="2000" b="1" dirty="0" smtClean="0">
                <a:latin typeface="微软雅黑" panose="020B0503020204020204" pitchFamily="34" charset="-122"/>
                <a:ea typeface="微软雅黑" panose="020B0503020204020204" pitchFamily="34" charset="-122"/>
              </a:rPr>
              <a:t>帧</a:t>
            </a:r>
            <a:r>
              <a:rPr lang="zh-CN" altLang="en-US" sz="2000" b="1" dirty="0">
                <a:latin typeface="微软雅黑" panose="020B0503020204020204" pitchFamily="34" charset="-122"/>
                <a:ea typeface="微软雅黑" panose="020B0503020204020204" pitchFamily="34" charset="-122"/>
              </a:rPr>
              <a:t>会使整个网络的通信效率有所下降</a:t>
            </a:r>
            <a:r>
              <a:rPr lang="zh-CN" altLang="en-US" sz="2000" b="1" dirty="0" smtClean="0">
                <a:latin typeface="微软雅黑" panose="020B0503020204020204" pitchFamily="34" charset="-122"/>
                <a:ea typeface="微软雅黑" panose="020B0503020204020204" pitchFamily="34" charset="-122"/>
              </a:rPr>
              <a:t>，多</a:t>
            </a:r>
            <a:r>
              <a:rPr lang="zh-CN" altLang="en-US" sz="2000" b="1" dirty="0">
                <a:latin typeface="微软雅黑" panose="020B0503020204020204" pitchFamily="34" charset="-122"/>
                <a:ea typeface="微软雅黑" panose="020B0503020204020204" pitchFamily="34" charset="-122"/>
              </a:rPr>
              <a:t>浪费信道的</a:t>
            </a:r>
            <a:r>
              <a:rPr lang="zh-CN" altLang="en-US" sz="2000" b="1" dirty="0" smtClean="0">
                <a:latin typeface="微软雅黑" panose="020B0503020204020204" pitchFamily="34" charset="-122"/>
                <a:ea typeface="微软雅黑" panose="020B0503020204020204" pitchFamily="34" charset="-122"/>
              </a:rPr>
              <a:t>时间 </a:t>
            </a:r>
            <a:r>
              <a:rPr lang="en-US" altLang="zh-CN" sz="2000" b="1" dirty="0" smtClean="0">
                <a:solidFill>
                  <a:srgbClr val="C00000"/>
                </a:solidFill>
                <a:latin typeface="微软雅黑" panose="020B0503020204020204" pitchFamily="34" charset="-122"/>
                <a:ea typeface="微软雅黑" panose="020B0503020204020204" pitchFamily="34" charset="-122"/>
              </a:rPr>
              <a:t>[</a:t>
            </a:r>
            <a:r>
              <a:rPr lang="en-US" altLang="zh-CN" sz="2000" b="1" dirty="0">
                <a:solidFill>
                  <a:srgbClr val="C00000"/>
                </a:solidFill>
                <a:latin typeface="微软雅黑" panose="020B0503020204020204" pitchFamily="34" charset="-122"/>
                <a:ea typeface="微软雅黑" panose="020B0503020204020204" pitchFamily="34" charset="-122"/>
              </a:rPr>
              <a:t>RTS + SIFS + CTS + SIFS]</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但与数据帧相比，开销不算大</a:t>
            </a:r>
            <a:r>
              <a:rPr lang="zh-CN" altLang="en-US" sz="2000" b="1" dirty="0" smtClean="0">
                <a:latin typeface="微软雅黑" panose="020B0503020204020204" pitchFamily="34" charset="-122"/>
                <a:ea typeface="微软雅黑" panose="020B0503020204020204" pitchFamily="34" charset="-122"/>
              </a:rPr>
              <a:t>。这</a:t>
            </a:r>
            <a:r>
              <a:rPr lang="zh-CN" altLang="en-US" sz="2000" b="1" dirty="0">
                <a:latin typeface="微软雅黑" panose="020B0503020204020204" pitchFamily="34" charset="-122"/>
                <a:ea typeface="微软雅黑" panose="020B0503020204020204" pitchFamily="34" charset="-122"/>
              </a:rPr>
              <a:t>两种控制帧都很短，其长度分别</a:t>
            </a:r>
            <a:r>
              <a:rPr lang="zh-CN" altLang="en-US" sz="2000" b="1" dirty="0" smtClean="0">
                <a:latin typeface="微软雅黑" panose="020B0503020204020204" pitchFamily="34" charset="-122"/>
                <a:ea typeface="微软雅黑" panose="020B0503020204020204" pitchFamily="34" charset="-122"/>
              </a:rPr>
              <a:t>为 </a:t>
            </a:r>
            <a:r>
              <a:rPr lang="en-US" altLang="zh-CN" sz="2000" b="1" dirty="0" smtClean="0">
                <a:latin typeface="微软雅黑" panose="020B0503020204020204" pitchFamily="34" charset="-122"/>
                <a:ea typeface="微软雅黑" panose="020B0503020204020204" pitchFamily="34" charset="-122"/>
              </a:rPr>
              <a:t>20 </a:t>
            </a:r>
            <a:r>
              <a:rPr lang="zh-CN" altLang="en-US" sz="2000" b="1" dirty="0" smtClean="0">
                <a:latin typeface="微软雅黑" panose="020B0503020204020204" pitchFamily="34" charset="-122"/>
                <a:ea typeface="微软雅黑" panose="020B0503020204020204" pitchFamily="34" charset="-122"/>
              </a:rPr>
              <a:t>字节和 </a:t>
            </a:r>
            <a:r>
              <a:rPr lang="en-US" altLang="zh-CN" sz="2000" b="1" dirty="0" smtClean="0">
                <a:latin typeface="微软雅黑" panose="020B0503020204020204" pitchFamily="34" charset="-122"/>
                <a:ea typeface="微软雅黑" panose="020B0503020204020204" pitchFamily="34" charset="-122"/>
              </a:rPr>
              <a:t>14 </a:t>
            </a:r>
            <a:r>
              <a:rPr lang="zh-CN" altLang="en-US" sz="2000" b="1" dirty="0" smtClean="0">
                <a:latin typeface="微软雅黑" panose="020B0503020204020204" pitchFamily="34" charset="-122"/>
                <a:ea typeface="微软雅黑" panose="020B0503020204020204" pitchFamily="34" charset="-122"/>
              </a:rPr>
              <a:t>字节。而数据帧最</a:t>
            </a:r>
            <a:r>
              <a:rPr lang="zh-CN" altLang="en-US" sz="2000" b="1" dirty="0">
                <a:latin typeface="微软雅黑" panose="020B0503020204020204" pitchFamily="34" charset="-122"/>
                <a:ea typeface="微软雅黑" panose="020B0503020204020204" pitchFamily="34" charset="-122"/>
              </a:rPr>
              <a:t>长可</a:t>
            </a:r>
            <a:r>
              <a:rPr lang="zh-CN" altLang="en-US" sz="2000" b="1" dirty="0" smtClean="0">
                <a:latin typeface="微软雅黑" panose="020B0503020204020204" pitchFamily="34" charset="-122"/>
                <a:ea typeface="微软雅黑" panose="020B0503020204020204" pitchFamily="34" charset="-122"/>
              </a:rPr>
              <a:t>达 </a:t>
            </a:r>
            <a:r>
              <a:rPr lang="en-US" altLang="zh-CN" sz="2000" b="1" dirty="0" smtClean="0">
                <a:latin typeface="微软雅黑" panose="020B0503020204020204" pitchFamily="34" charset="-122"/>
                <a:ea typeface="微软雅黑" panose="020B0503020204020204" pitchFamily="34" charset="-122"/>
              </a:rPr>
              <a:t>2346 </a:t>
            </a:r>
            <a:r>
              <a:rPr lang="zh-CN" altLang="en-US" sz="2000" b="1" dirty="0" smtClean="0">
                <a:latin typeface="微软雅黑" panose="020B0503020204020204" pitchFamily="34" charset="-122"/>
                <a:ea typeface="微软雅黑" panose="020B0503020204020204" pitchFamily="34" charset="-122"/>
              </a:rPr>
              <a:t>字节。</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若</a:t>
            </a:r>
            <a:r>
              <a:rPr lang="zh-CN" altLang="en-US" sz="2000" b="1" dirty="0">
                <a:latin typeface="微软雅黑" panose="020B0503020204020204" pitchFamily="34" charset="-122"/>
                <a:ea typeface="微软雅黑" panose="020B0503020204020204" pitchFamily="34" charset="-122"/>
              </a:rPr>
              <a:t>不使用这种控制帧</a:t>
            </a:r>
            <a:r>
              <a:rPr lang="zh-CN" altLang="en-US" sz="2000" b="1" dirty="0" smtClean="0">
                <a:latin typeface="微软雅黑" panose="020B0503020204020204" pitchFamily="34" charset="-122"/>
                <a:ea typeface="微软雅黑" panose="020B0503020204020204" pitchFamily="34" charset="-122"/>
              </a:rPr>
              <a:t>，一旦</a:t>
            </a:r>
            <a:r>
              <a:rPr lang="zh-CN" altLang="en-US" sz="2000" b="1" dirty="0">
                <a:latin typeface="微软雅黑" panose="020B0503020204020204" pitchFamily="34" charset="-122"/>
                <a:ea typeface="微软雅黑" panose="020B0503020204020204" pitchFamily="34" charset="-122"/>
              </a:rPr>
              <a:t>发生碰撞而导致数据帧重发，浪费的时间就</a:t>
            </a:r>
            <a:r>
              <a:rPr lang="zh-CN" altLang="en-US" sz="2000" b="1" dirty="0" smtClean="0">
                <a:latin typeface="微软雅黑" panose="020B0503020204020204" pitchFamily="34" charset="-122"/>
                <a:ea typeface="微软雅黑" panose="020B0503020204020204" pitchFamily="34" charset="-122"/>
              </a:rPr>
              <a:t>更多。</a:t>
            </a:r>
            <a:endParaRPr lang="en-US" altLang="zh-CN" sz="2000" b="1" dirty="0" smtClean="0">
              <a:latin typeface="微软雅黑" panose="020B0503020204020204" pitchFamily="34" charset="-122"/>
              <a:ea typeface="微软雅黑" panose="020B0503020204020204"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信道预约</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15514"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即使使用了 </a:t>
            </a:r>
            <a:r>
              <a:rPr lang="en-US" altLang="zh-CN" sz="2000" b="1" dirty="0" smtClean="0">
                <a:latin typeface="微软雅黑" panose="020B0503020204020204" pitchFamily="34" charset="-122"/>
                <a:ea typeface="微软雅黑" panose="020B0503020204020204" pitchFamily="34" charset="-122"/>
              </a:rPr>
              <a:t>RTS </a:t>
            </a:r>
            <a:r>
              <a:rPr lang="zh-CN" altLang="en-US" sz="2000" b="1" dirty="0" smtClean="0">
                <a:latin typeface="微软雅黑" panose="020B0503020204020204" pitchFamily="34" charset="-122"/>
                <a:ea typeface="微软雅黑" panose="020B0503020204020204" pitchFamily="34" charset="-122"/>
              </a:rPr>
              <a:t>和 </a:t>
            </a:r>
            <a:r>
              <a:rPr lang="en-US" altLang="zh-CN" sz="2000" b="1" dirty="0" smtClean="0">
                <a:latin typeface="微软雅黑" panose="020B0503020204020204" pitchFamily="34" charset="-122"/>
                <a:ea typeface="微软雅黑" panose="020B0503020204020204" pitchFamily="34" charset="-122"/>
              </a:rPr>
              <a:t>CTS </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信道</a:t>
            </a:r>
            <a:r>
              <a:rPr lang="zh-CN" altLang="en-US" sz="2000" b="1" dirty="0" smtClean="0">
                <a:latin typeface="微软雅黑" panose="020B0503020204020204" pitchFamily="34" charset="-122"/>
                <a:ea typeface="微软雅黑" panose="020B0503020204020204" pitchFamily="34" charset="-122"/>
              </a:rPr>
              <a:t>进行预约</a:t>
            </a:r>
            <a:r>
              <a:rPr lang="zh-CN" altLang="en-US" sz="2000" b="1" dirty="0">
                <a:latin typeface="微软雅黑" panose="020B0503020204020204" pitchFamily="34" charset="-122"/>
                <a:ea typeface="微软雅黑" panose="020B0503020204020204" pitchFamily="34" charset="-122"/>
              </a:rPr>
              <a:t>，但碰撞也有可能发生</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例如：有</a:t>
            </a:r>
            <a:r>
              <a:rPr lang="zh-CN" altLang="en-US" sz="2000" b="1" dirty="0">
                <a:latin typeface="微软雅黑" panose="020B0503020204020204" pitchFamily="34" charset="-122"/>
                <a:ea typeface="微软雅黑" panose="020B0503020204020204" pitchFamily="34" charset="-122"/>
              </a:rPr>
              <a:t>的站可能在</a:t>
            </a:r>
            <a:r>
              <a:rPr lang="zh-CN" altLang="en-US" sz="2000" b="1" dirty="0" smtClean="0">
                <a:latin typeface="微软雅黑" panose="020B0503020204020204" pitchFamily="34" charset="-122"/>
                <a:ea typeface="微软雅黑" panose="020B0503020204020204" pitchFamily="34" charset="-122"/>
              </a:rPr>
              <a:t>时间 </a:t>
            </a:r>
            <a:r>
              <a:rPr lang="en-US" altLang="zh-CN" sz="2000" b="1" dirty="0" smtClean="0">
                <a:latin typeface="微软雅黑" panose="020B0503020204020204" pitchFamily="34" charset="-122"/>
                <a:ea typeface="微软雅黑" panose="020B0503020204020204" pitchFamily="34" charset="-122"/>
              </a:rPr>
              <a:t>t</a:t>
            </a:r>
            <a:r>
              <a:rPr lang="en-US" altLang="zh-CN" sz="2000" b="1" baseline="-25000" dirty="0" smtClean="0">
                <a:latin typeface="微软雅黑" panose="020B0503020204020204" pitchFamily="34" charset="-122"/>
                <a:ea typeface="微软雅黑" panose="020B0503020204020204" pitchFamily="34" charset="-122"/>
              </a:rPr>
              <a:t>1</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或 </a:t>
            </a:r>
            <a:r>
              <a:rPr lang="en-US" altLang="zh-CN" sz="2000" b="1" dirty="0" smtClean="0">
                <a:latin typeface="微软雅黑" panose="020B0503020204020204" pitchFamily="34" charset="-122"/>
                <a:ea typeface="微软雅黑" panose="020B0503020204020204" pitchFamily="34" charset="-122"/>
              </a:rPr>
              <a:t>t</a:t>
            </a:r>
            <a:r>
              <a:rPr lang="en-US" altLang="zh-CN" sz="2000" b="1" baseline="-25000" dirty="0">
                <a:latin typeface="微软雅黑" panose="020B0503020204020204" pitchFamily="34" charset="-122"/>
                <a:ea typeface="微软雅黑" panose="020B0503020204020204" pitchFamily="34" charset="-122"/>
              </a:rPr>
              <a:t>2</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就</a:t>
            </a:r>
            <a:r>
              <a:rPr lang="zh-CN" altLang="en-US" sz="2000" b="1" dirty="0">
                <a:latin typeface="微软雅黑" panose="020B0503020204020204" pitchFamily="34" charset="-122"/>
                <a:ea typeface="微软雅黑" panose="020B0503020204020204" pitchFamily="34" charset="-122"/>
              </a:rPr>
              <a:t>发送了数据（这些站可能是没有</a:t>
            </a:r>
            <a:r>
              <a:rPr lang="zh-CN" altLang="en-US" sz="2000" b="1" dirty="0" smtClean="0">
                <a:latin typeface="微软雅黑" panose="020B0503020204020204" pitchFamily="34" charset="-122"/>
                <a:ea typeface="微软雅黑" panose="020B0503020204020204" pitchFamily="34" charset="-122"/>
              </a:rPr>
              <a:t>收到 </a:t>
            </a:r>
            <a:r>
              <a:rPr lang="en-US" altLang="zh-CN" sz="2000" b="1" dirty="0" smtClean="0">
                <a:latin typeface="微软雅黑" panose="020B0503020204020204" pitchFamily="34" charset="-122"/>
                <a:ea typeface="微软雅黑" panose="020B0503020204020204" pitchFamily="34" charset="-122"/>
              </a:rPr>
              <a:t>RTS </a:t>
            </a:r>
            <a:r>
              <a:rPr lang="zh-CN" altLang="en-US" sz="2000" b="1" dirty="0" smtClean="0">
                <a:latin typeface="微软雅黑" panose="020B0503020204020204" pitchFamily="34" charset="-122"/>
                <a:ea typeface="微软雅黑" panose="020B0503020204020204" pitchFamily="34" charset="-122"/>
              </a:rPr>
              <a:t>帧或 </a:t>
            </a:r>
            <a:r>
              <a:rPr lang="en-US" altLang="zh-CN" sz="2000" b="1" dirty="0" smtClean="0">
                <a:latin typeface="微软雅黑" panose="020B0503020204020204" pitchFamily="34" charset="-122"/>
                <a:ea typeface="微软雅黑" panose="020B0503020204020204" pitchFamily="34" charset="-122"/>
              </a:rPr>
              <a:t>CTS </a:t>
            </a:r>
            <a:r>
              <a:rPr lang="zh-CN" altLang="en-US" sz="2000" b="1" dirty="0" smtClean="0">
                <a:latin typeface="微软雅黑" panose="020B0503020204020204" pitchFamily="34" charset="-122"/>
                <a:ea typeface="微软雅黑" panose="020B0503020204020204" pitchFamily="34" charset="-122"/>
              </a:rPr>
              <a:t>帧或 </a:t>
            </a:r>
            <a:r>
              <a:rPr lang="en-US" altLang="zh-CN" sz="2000" b="1" dirty="0" smtClean="0">
                <a:latin typeface="微软雅黑" panose="020B0503020204020204" pitchFamily="34" charset="-122"/>
                <a:ea typeface="微软雅黑" panose="020B0503020204020204" pitchFamily="34" charset="-122"/>
              </a:rPr>
              <a:t>NAV</a:t>
            </a:r>
            <a:r>
              <a:rPr lang="zh-CN" altLang="en-US" sz="2000" b="1" dirty="0">
                <a:latin typeface="微软雅黑" panose="020B0503020204020204" pitchFamily="34" charset="-122"/>
                <a:ea typeface="微软雅黑" panose="020B0503020204020204" pitchFamily="34" charset="-122"/>
              </a:rPr>
              <a:t>），结果必定</a:t>
            </a:r>
            <a:r>
              <a:rPr lang="zh-CN" altLang="en-US" sz="2000" b="1" dirty="0" smtClean="0">
                <a:latin typeface="微软雅黑" panose="020B0503020204020204" pitchFamily="34" charset="-122"/>
                <a:ea typeface="微软雅黑" panose="020B0503020204020204" pitchFamily="34" charset="-122"/>
              </a:rPr>
              <a:t>与 </a:t>
            </a:r>
            <a:r>
              <a:rPr lang="en-US" altLang="zh-CN" sz="2000" b="1" dirty="0" smtClean="0">
                <a:latin typeface="微软雅黑" panose="020B0503020204020204" pitchFamily="34" charset="-122"/>
                <a:ea typeface="微软雅黑" panose="020B0503020204020204" pitchFamily="34" charset="-122"/>
              </a:rPr>
              <a:t>RTS </a:t>
            </a:r>
            <a:r>
              <a:rPr lang="zh-CN" altLang="en-US" sz="2000" b="1" dirty="0" smtClean="0">
                <a:latin typeface="微软雅黑" panose="020B0503020204020204" pitchFamily="34" charset="-122"/>
                <a:ea typeface="微软雅黑" panose="020B0503020204020204" pitchFamily="34" charset="-122"/>
              </a:rPr>
              <a:t>帧或 </a:t>
            </a:r>
            <a:r>
              <a:rPr lang="en-US" altLang="zh-CN" sz="2000" b="1" dirty="0" smtClean="0">
                <a:latin typeface="微软雅黑" panose="020B0503020204020204" pitchFamily="34" charset="-122"/>
                <a:ea typeface="微软雅黑" panose="020B0503020204020204" pitchFamily="34" charset="-122"/>
              </a:rPr>
              <a:t>CTS </a:t>
            </a:r>
            <a:r>
              <a:rPr lang="zh-CN" altLang="en-US" sz="2000" b="1" dirty="0" smtClean="0">
                <a:latin typeface="微软雅黑" panose="020B0503020204020204" pitchFamily="34" charset="-122"/>
                <a:ea typeface="微软雅黑" panose="020B0503020204020204" pitchFamily="34" charset="-122"/>
              </a:rPr>
              <a:t>帧</a:t>
            </a:r>
            <a:r>
              <a:rPr lang="zh-CN" altLang="en-US" sz="2000" b="1" dirty="0">
                <a:latin typeface="微软雅黑" panose="020B0503020204020204" pitchFamily="34" charset="-122"/>
                <a:ea typeface="微软雅黑" panose="020B0503020204020204" pitchFamily="34" charset="-122"/>
              </a:rPr>
              <a:t>发生碰撞。</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A </a:t>
            </a:r>
            <a:r>
              <a:rPr lang="zh-CN" altLang="en-US" sz="2000" b="1" dirty="0" smtClean="0">
                <a:latin typeface="微软雅黑" panose="020B0503020204020204" pitchFamily="34" charset="-122"/>
                <a:ea typeface="微软雅黑" panose="020B0503020204020204" pitchFamily="34" charset="-122"/>
              </a:rPr>
              <a:t>站</a:t>
            </a:r>
            <a:r>
              <a:rPr lang="zh-CN" altLang="en-US" sz="2000" b="1" dirty="0">
                <a:latin typeface="微软雅黑" panose="020B0503020204020204" pitchFamily="34" charset="-122"/>
                <a:ea typeface="微软雅黑" panose="020B0503020204020204" pitchFamily="34" charset="-122"/>
              </a:rPr>
              <a:t>若</a:t>
            </a:r>
            <a:r>
              <a:rPr lang="zh-CN" altLang="en-US" sz="2000" b="1" dirty="0" smtClean="0">
                <a:latin typeface="微软雅黑" panose="020B0503020204020204" pitchFamily="34" charset="-122"/>
                <a:ea typeface="微软雅黑" panose="020B0503020204020204" pitchFamily="34" charset="-122"/>
              </a:rPr>
              <a:t>收不到 </a:t>
            </a:r>
            <a:r>
              <a:rPr lang="en-US" altLang="zh-CN" sz="2000" b="1" dirty="0" smtClean="0">
                <a:latin typeface="微软雅黑" panose="020B0503020204020204" pitchFamily="34" charset="-122"/>
                <a:ea typeface="微软雅黑" panose="020B0503020204020204" pitchFamily="34" charset="-122"/>
              </a:rPr>
              <a:t>CTS </a:t>
            </a:r>
            <a:r>
              <a:rPr lang="zh-CN" altLang="en-US" sz="2000" b="1" dirty="0" smtClean="0">
                <a:latin typeface="微软雅黑" panose="020B0503020204020204" pitchFamily="34" charset="-122"/>
                <a:ea typeface="微软雅黑" panose="020B0503020204020204" pitchFamily="34" charset="-122"/>
              </a:rPr>
              <a:t>帧</a:t>
            </a:r>
            <a:r>
              <a:rPr lang="zh-CN" altLang="en-US" sz="2000" b="1" dirty="0">
                <a:latin typeface="微软雅黑" panose="020B0503020204020204" pitchFamily="34" charset="-122"/>
                <a:ea typeface="微软雅黑" panose="020B0503020204020204" pitchFamily="34" charset="-122"/>
              </a:rPr>
              <a:t>，就不能发送数据帧，而必须</a:t>
            </a:r>
            <a:r>
              <a:rPr lang="zh-CN" altLang="en-US" sz="2000" b="1" dirty="0" smtClean="0">
                <a:latin typeface="微软雅黑" panose="020B0503020204020204" pitchFamily="34" charset="-122"/>
                <a:ea typeface="微软雅黑" panose="020B0503020204020204" pitchFamily="34" charset="-122"/>
              </a:rPr>
              <a:t>重传 </a:t>
            </a:r>
            <a:r>
              <a:rPr lang="en-US" altLang="zh-CN" sz="2000" b="1" dirty="0" smtClean="0">
                <a:latin typeface="微软雅黑" panose="020B0503020204020204" pitchFamily="34" charset="-122"/>
                <a:ea typeface="微软雅黑" panose="020B0503020204020204" pitchFamily="34" charset="-122"/>
              </a:rPr>
              <a:t>RTS </a:t>
            </a:r>
            <a:r>
              <a:rPr lang="zh-CN" altLang="en-US" sz="2000" b="1" dirty="0" smtClean="0">
                <a:latin typeface="微软雅黑" panose="020B0503020204020204" pitchFamily="34" charset="-122"/>
                <a:ea typeface="微软雅黑" panose="020B0503020204020204" pitchFamily="34" charset="-122"/>
              </a:rPr>
              <a:t>帧。</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en-US" altLang="zh-CN" sz="2000" b="1" dirty="0" smtClean="0">
                <a:solidFill>
                  <a:srgbClr val="0000CC"/>
                </a:solidFill>
                <a:latin typeface="微软雅黑" panose="020B0503020204020204" pitchFamily="34" charset="-122"/>
                <a:ea typeface="微软雅黑" panose="020B0503020204020204" pitchFamily="34" charset="-122"/>
              </a:rPr>
              <a:t>A </a:t>
            </a:r>
            <a:r>
              <a:rPr lang="zh-CN" altLang="en-US" sz="2000" b="1" dirty="0" smtClean="0">
                <a:solidFill>
                  <a:srgbClr val="0000CC"/>
                </a:solidFill>
                <a:latin typeface="微软雅黑" panose="020B0503020204020204" pitchFamily="34" charset="-122"/>
                <a:ea typeface="微软雅黑" panose="020B0503020204020204" pitchFamily="34" charset="-122"/>
              </a:rPr>
              <a:t>站</a:t>
            </a:r>
            <a:r>
              <a:rPr lang="zh-CN" altLang="en-US" sz="2000" b="1" dirty="0">
                <a:solidFill>
                  <a:srgbClr val="0000CC"/>
                </a:solidFill>
                <a:latin typeface="微软雅黑" panose="020B0503020204020204" pitchFamily="34" charset="-122"/>
                <a:ea typeface="微软雅黑" panose="020B0503020204020204" pitchFamily="34" charset="-122"/>
              </a:rPr>
              <a:t>只有正确</a:t>
            </a:r>
            <a:r>
              <a:rPr lang="zh-CN" altLang="en-US" sz="2000" b="1" dirty="0" smtClean="0">
                <a:solidFill>
                  <a:srgbClr val="0000CC"/>
                </a:solidFill>
                <a:latin typeface="微软雅黑" panose="020B0503020204020204" pitchFamily="34" charset="-122"/>
                <a:ea typeface="微软雅黑" panose="020B0503020204020204" pitchFamily="34" charset="-122"/>
              </a:rPr>
              <a:t>收到 </a:t>
            </a:r>
            <a:r>
              <a:rPr lang="en-US" altLang="zh-CN" sz="2000" b="1" dirty="0" smtClean="0">
                <a:solidFill>
                  <a:srgbClr val="0000CC"/>
                </a:solidFill>
                <a:latin typeface="微软雅黑" panose="020B0503020204020204" pitchFamily="34" charset="-122"/>
                <a:ea typeface="微软雅黑" panose="020B0503020204020204" pitchFamily="34" charset="-122"/>
              </a:rPr>
              <a:t>CTS </a:t>
            </a:r>
            <a:r>
              <a:rPr lang="zh-CN" altLang="en-US" sz="2000" b="1" dirty="0" smtClean="0">
                <a:solidFill>
                  <a:srgbClr val="0000CC"/>
                </a:solidFill>
                <a:latin typeface="微软雅黑" panose="020B0503020204020204" pitchFamily="34" charset="-122"/>
                <a:ea typeface="微软雅黑" panose="020B0503020204020204" pitchFamily="34" charset="-122"/>
              </a:rPr>
              <a:t>帧</a:t>
            </a:r>
            <a:r>
              <a:rPr lang="zh-CN" altLang="en-US" sz="2000" b="1" dirty="0">
                <a:solidFill>
                  <a:srgbClr val="0000CC"/>
                </a:solidFill>
                <a:latin typeface="微软雅黑" panose="020B0503020204020204" pitchFamily="34" charset="-122"/>
                <a:ea typeface="微软雅黑" panose="020B0503020204020204" pitchFamily="34" charset="-122"/>
              </a:rPr>
              <a:t>后才能发送数据帧</a:t>
            </a:r>
            <a:r>
              <a:rPr lang="zh-CN" altLang="en-US" sz="2000" b="1" dirty="0" smtClean="0">
                <a:solidFill>
                  <a:srgbClr val="0000CC"/>
                </a:solidFill>
                <a:latin typeface="微软雅黑" panose="020B0503020204020204" pitchFamily="34" charset="-122"/>
                <a:ea typeface="微软雅黑" panose="020B0503020204020204" pitchFamily="34" charset="-122"/>
              </a:rPr>
              <a:t>。</a:t>
            </a:r>
            <a:endParaRPr lang="en-US" altLang="zh-CN" sz="2000" b="1" dirty="0" smtClean="0">
              <a:solidFill>
                <a:srgbClr val="0000CC"/>
              </a:solidFill>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32624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solidFill>
                  <a:srgbClr val="C00000"/>
                </a:solidFill>
                <a:latin typeface="微软雅黑" panose="020B0503020204020204" pitchFamily="34" charset="-122"/>
                <a:ea typeface="微软雅黑" panose="020B0503020204020204" pitchFamily="34" charset="-122"/>
              </a:rPr>
              <a:t>信道预约不能</a:t>
            </a:r>
            <a:r>
              <a:rPr lang="zh-CN" altLang="en-US" sz="2000" b="1" dirty="0">
                <a:solidFill>
                  <a:srgbClr val="C00000"/>
                </a:solidFill>
                <a:latin typeface="微软雅黑" panose="020B0503020204020204" pitchFamily="34" charset="-122"/>
                <a:ea typeface="微软雅黑" panose="020B0503020204020204" pitchFamily="34" charset="-122"/>
              </a:rPr>
              <a:t>完全避免碰撞</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17853" y="928130"/>
            <a:ext cx="8133857"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信道预约</a:t>
            </a:r>
            <a:r>
              <a:rPr lang="zh-CN" altLang="en-US" sz="2000" b="1" dirty="0">
                <a:solidFill>
                  <a:srgbClr val="C00000"/>
                </a:solidFill>
                <a:latin typeface="微软雅黑" panose="020B0503020204020204" pitchFamily="34" charset="-122"/>
                <a:ea typeface="微软雅黑" panose="020B0503020204020204" pitchFamily="34" charset="-122"/>
              </a:rPr>
              <a:t>不是强制性</a:t>
            </a:r>
            <a:r>
              <a:rPr lang="zh-CN" altLang="en-US" sz="2000" b="1" dirty="0">
                <a:latin typeface="微软雅黑" panose="020B0503020204020204" pitchFamily="34" charset="-122"/>
                <a:ea typeface="微软雅黑" panose="020B0503020204020204" pitchFamily="34" charset="-122"/>
              </a:rPr>
              <a:t>规定</a:t>
            </a:r>
            <a:r>
              <a:rPr lang="zh-CN" altLang="en-US" sz="2000" b="1" dirty="0" smtClean="0">
                <a:latin typeface="微软雅黑" panose="020B0503020204020204" pitchFamily="34" charset="-122"/>
                <a:ea typeface="微软雅黑" panose="020B0503020204020204" pitchFamily="34" charset="-122"/>
              </a:rPr>
              <a:t>。各</a:t>
            </a:r>
            <a:r>
              <a:rPr lang="zh-CN" altLang="en-US" sz="2000" b="1" dirty="0">
                <a:latin typeface="微软雅黑" panose="020B0503020204020204" pitchFamily="34" charset="-122"/>
                <a:ea typeface="微软雅黑" panose="020B0503020204020204" pitchFamily="34" charset="-122"/>
              </a:rPr>
              <a:t>站可以自己决定使用或不使用信道预约</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只有</a:t>
            </a:r>
            <a:r>
              <a:rPr lang="zh-CN" altLang="en-US" sz="2000" b="1" dirty="0">
                <a:latin typeface="微软雅黑" panose="020B0503020204020204" pitchFamily="34" charset="-122"/>
                <a:ea typeface="微软雅黑" panose="020B0503020204020204" pitchFamily="34" charset="-122"/>
              </a:rPr>
              <a:t>当数据帧的长度</a:t>
            </a:r>
            <a:r>
              <a:rPr lang="zh-CN" altLang="en-US" sz="2000" b="1" dirty="0">
                <a:solidFill>
                  <a:srgbClr val="C00000"/>
                </a:solidFill>
                <a:latin typeface="微软雅黑" panose="020B0503020204020204" pitchFamily="34" charset="-122"/>
                <a:ea typeface="微软雅黑" panose="020B0503020204020204" pitchFamily="34" charset="-122"/>
              </a:rPr>
              <a:t>超过</a:t>
            </a:r>
            <a:r>
              <a:rPr lang="zh-CN" altLang="en-US" sz="2000" b="1" dirty="0">
                <a:latin typeface="微软雅黑" panose="020B0503020204020204" pitchFamily="34" charset="-122"/>
                <a:ea typeface="微软雅黑" panose="020B0503020204020204" pitchFamily="34" charset="-122"/>
              </a:rPr>
              <a:t>某一数值时，</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RTS </a:t>
            </a:r>
            <a:r>
              <a:rPr lang="zh-CN" altLang="en-US" sz="2000" b="1" dirty="0" smtClean="0">
                <a:latin typeface="微软雅黑" panose="020B0503020204020204" pitchFamily="34" charset="-122"/>
                <a:ea typeface="微软雅黑" panose="020B0503020204020204" pitchFamily="34" charset="-122"/>
              </a:rPr>
              <a:t>帧和 </a:t>
            </a:r>
            <a:r>
              <a:rPr lang="en-US" altLang="zh-CN" sz="2000" b="1" dirty="0" smtClean="0">
                <a:latin typeface="微软雅黑" panose="020B0503020204020204" pitchFamily="34" charset="-122"/>
                <a:ea typeface="微软雅黑" panose="020B0503020204020204" pitchFamily="34" charset="-122"/>
              </a:rPr>
              <a:t>CTS </a:t>
            </a:r>
            <a:r>
              <a:rPr lang="zh-CN" altLang="en-US" sz="2000" b="1" dirty="0" smtClean="0">
                <a:latin typeface="微软雅黑" panose="020B0503020204020204" pitchFamily="34" charset="-122"/>
                <a:ea typeface="微软雅黑" panose="020B0503020204020204" pitchFamily="34" charset="-122"/>
              </a:rPr>
              <a:t>帧</a:t>
            </a:r>
            <a:r>
              <a:rPr lang="zh-CN" altLang="en-US" sz="2000" b="1" dirty="0">
                <a:latin typeface="微软雅黑" panose="020B0503020204020204" pitchFamily="34" charset="-122"/>
                <a:ea typeface="微软雅黑" panose="020B0503020204020204" pitchFamily="34" charset="-122"/>
              </a:rPr>
              <a:t>才比较合适</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因为无线信道的误码率比有线信道的高得多，所以，无线局域网</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MAC </a:t>
            </a:r>
            <a:r>
              <a:rPr lang="zh-CN" altLang="en-US" sz="2000" b="1" dirty="0" smtClean="0">
                <a:latin typeface="微软雅黑" panose="020B0503020204020204" pitchFamily="34" charset="-122"/>
                <a:ea typeface="微软雅黑" panose="020B0503020204020204" pitchFamily="34" charset="-122"/>
              </a:rPr>
              <a:t>帧</a:t>
            </a:r>
            <a:r>
              <a:rPr lang="zh-CN" altLang="en-US" sz="2000" b="1" dirty="0">
                <a:latin typeface="微软雅黑" panose="020B0503020204020204" pitchFamily="34" charset="-122"/>
                <a:ea typeface="微软雅黑" panose="020B0503020204020204" pitchFamily="34" charset="-122"/>
              </a:rPr>
              <a:t>长一般应当短些，以便在出错重传时减小开销。</a:t>
            </a:r>
            <a:endParaRPr lang="en-US" altLang="zh-CN" sz="2000" b="1" dirty="0" smtClean="0">
              <a:latin typeface="微软雅黑" panose="020B0503020204020204" pitchFamily="34" charset="-122"/>
              <a:ea typeface="微软雅黑" panose="020B0503020204020204"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25555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信道预约不是强制的</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9.1.4  802.11 </a:t>
            </a:r>
            <a:r>
              <a:rPr lang="zh-CN" altLang="en-US" sz="2400" b="1" dirty="0">
                <a:solidFill>
                  <a:schemeClr val="bg1"/>
                </a:solidFill>
                <a:latin typeface="微软雅黑" panose="020B0503020204020204" pitchFamily="34" charset="-122"/>
                <a:ea typeface="微软雅黑" panose="020B0503020204020204" pitchFamily="34" charset="-122"/>
              </a:rPr>
              <a:t>局域网的 </a:t>
            </a:r>
            <a:r>
              <a:rPr lang="en-US" altLang="zh-CN" sz="2400" b="1" dirty="0">
                <a:solidFill>
                  <a:schemeClr val="bg1"/>
                </a:solidFill>
                <a:latin typeface="微软雅黑" panose="020B0503020204020204" pitchFamily="34" charset="-122"/>
                <a:ea typeface="微软雅黑" panose="020B0503020204020204" pitchFamily="34" charset="-122"/>
              </a:rPr>
              <a:t>MAC </a:t>
            </a:r>
            <a:r>
              <a:rPr lang="zh-CN" altLang="en-US" sz="2400" b="1" dirty="0">
                <a:solidFill>
                  <a:schemeClr val="bg1"/>
                </a:solidFill>
                <a:latin typeface="微软雅黑" panose="020B0503020204020204" pitchFamily="34" charset="-122"/>
                <a:ea typeface="微软雅黑" panose="020B0503020204020204" pitchFamily="34" charset="-122"/>
              </a:rPr>
              <a:t>帧</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anose="05000000000000000000" pitchFamily="2" charset="2"/>
              <a:buChar char="l"/>
            </a:pPr>
            <a:r>
              <a:rPr lang="en-US" altLang="zh-CN" b="1" dirty="0">
                <a:latin typeface="微软雅黑" panose="020B0503020204020204" pitchFamily="34" charset="-122"/>
                <a:ea typeface="微软雅黑" panose="020B0503020204020204" pitchFamily="34" charset="-122"/>
              </a:rPr>
              <a:t>802.11 </a:t>
            </a:r>
            <a:r>
              <a:rPr lang="zh-CN" altLang="en-US" b="1" dirty="0">
                <a:latin typeface="微软雅黑" panose="020B0503020204020204" pitchFamily="34" charset="-122"/>
                <a:ea typeface="微软雅黑" panose="020B0503020204020204" pitchFamily="34" charset="-122"/>
              </a:rPr>
              <a:t>帧共有三种类型：</a:t>
            </a:r>
            <a:r>
              <a:rPr lang="zh-CN" altLang="en-US" b="1" dirty="0">
                <a:solidFill>
                  <a:srgbClr val="0000FF"/>
                </a:solidFill>
                <a:latin typeface="微软雅黑" panose="020B0503020204020204" pitchFamily="34" charset="-122"/>
                <a:ea typeface="微软雅黑" panose="020B0503020204020204" pitchFamily="34" charset="-122"/>
              </a:rPr>
              <a:t>控制帧</a:t>
            </a:r>
            <a:r>
              <a:rPr lang="zh-CN" altLang="en-US" b="1" dirty="0">
                <a:latin typeface="微软雅黑" panose="020B0503020204020204" pitchFamily="34" charset="-122"/>
                <a:ea typeface="微软雅黑" panose="020B0503020204020204" pitchFamily="34" charset="-122"/>
              </a:rPr>
              <a:t>、</a:t>
            </a:r>
            <a:r>
              <a:rPr lang="zh-CN" altLang="en-US" b="1" dirty="0">
                <a:solidFill>
                  <a:srgbClr val="0000FF"/>
                </a:solidFill>
                <a:latin typeface="微软雅黑" panose="020B0503020204020204" pitchFamily="34" charset="-122"/>
                <a:ea typeface="微软雅黑" panose="020B0503020204020204" pitchFamily="34" charset="-122"/>
              </a:rPr>
              <a:t>数据帧</a:t>
            </a:r>
            <a:r>
              <a:rPr lang="zh-CN" altLang="en-US" b="1" dirty="0">
                <a:latin typeface="微软雅黑" panose="020B0503020204020204" pitchFamily="34" charset="-122"/>
                <a:ea typeface="微软雅黑" panose="020B0503020204020204" pitchFamily="34" charset="-122"/>
              </a:rPr>
              <a:t>和</a:t>
            </a:r>
            <a:r>
              <a:rPr lang="zh-CN" altLang="en-US" b="1" dirty="0">
                <a:solidFill>
                  <a:srgbClr val="0000FF"/>
                </a:solidFill>
                <a:latin typeface="微软雅黑" panose="020B0503020204020204" pitchFamily="34" charset="-122"/>
                <a:ea typeface="微软雅黑" panose="020B0503020204020204" pitchFamily="34" charset="-122"/>
              </a:rPr>
              <a:t>管理帧</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4073072" y="1503075"/>
            <a:ext cx="1338828" cy="369332"/>
          </a:xfrm>
          <a:prstGeom prst="rect">
            <a:avLst/>
          </a:prstGeom>
        </p:spPr>
        <p:txBody>
          <a:bodyPr wrap="none">
            <a:spAutoFit/>
          </a:bodyPr>
          <a:lstStyle/>
          <a:p>
            <a:r>
              <a:rPr lang="zh-CN" altLang="en-US" b="1" dirty="0">
                <a:solidFill>
                  <a:srgbClr val="C00000"/>
                </a:solidFill>
                <a:latin typeface="微软雅黑" panose="020B0503020204020204" pitchFamily="34" charset="-122"/>
                <a:ea typeface="微软雅黑" panose="020B0503020204020204" pitchFamily="34" charset="-122"/>
              </a:rPr>
              <a:t>数据帧格式</a:t>
            </a:r>
            <a:endParaRPr lang="zh-CN" altLang="en-US" b="1" dirty="0">
              <a:solidFill>
                <a:srgbClr val="C00000"/>
              </a:solidFill>
              <a:latin typeface="微软雅黑" panose="020B0503020204020204" pitchFamily="34" charset="-122"/>
              <a:ea typeface="微软雅黑" panose="020B0503020204020204" pitchFamily="34" charset="-122"/>
            </a:endParaRPr>
          </a:p>
        </p:txBody>
      </p:sp>
      <p:sp>
        <p:nvSpPr>
          <p:cNvPr id="8" name="Freeform 4"/>
          <p:cNvSpPr/>
          <p:nvPr/>
        </p:nvSpPr>
        <p:spPr bwMode="auto">
          <a:xfrm>
            <a:off x="897989" y="2931202"/>
            <a:ext cx="7012438" cy="462541"/>
          </a:xfrm>
          <a:custGeom>
            <a:avLst/>
            <a:gdLst>
              <a:gd name="T0" fmla="*/ 0 w 5080"/>
              <a:gd name="T1" fmla="*/ 363 h 363"/>
              <a:gd name="T2" fmla="*/ 181 w 5080"/>
              <a:gd name="T3" fmla="*/ 0 h 363"/>
              <a:gd name="T4" fmla="*/ 725 w 5080"/>
              <a:gd name="T5" fmla="*/ 0 h 363"/>
              <a:gd name="T6" fmla="*/ 5080 w 5080"/>
              <a:gd name="T7" fmla="*/ 363 h 363"/>
              <a:gd name="T8" fmla="*/ 0 w 5080"/>
              <a:gd name="T9" fmla="*/ 363 h 363"/>
            </a:gdLst>
            <a:ahLst/>
            <a:cxnLst>
              <a:cxn ang="0">
                <a:pos x="T0" y="T1"/>
              </a:cxn>
              <a:cxn ang="0">
                <a:pos x="T2" y="T3"/>
              </a:cxn>
              <a:cxn ang="0">
                <a:pos x="T4" y="T5"/>
              </a:cxn>
              <a:cxn ang="0">
                <a:pos x="T6" y="T7"/>
              </a:cxn>
              <a:cxn ang="0">
                <a:pos x="T8" y="T9"/>
              </a:cxn>
            </a:cxnLst>
            <a:rect l="0" t="0" r="r" b="b"/>
            <a:pathLst>
              <a:path w="5080" h="363">
                <a:moveTo>
                  <a:pt x="0" y="363"/>
                </a:moveTo>
                <a:lnTo>
                  <a:pt x="181" y="0"/>
                </a:lnTo>
                <a:lnTo>
                  <a:pt x="725" y="0"/>
                </a:lnTo>
                <a:lnTo>
                  <a:pt x="5080" y="363"/>
                </a:lnTo>
                <a:lnTo>
                  <a:pt x="0" y="363"/>
                </a:lnTo>
                <a:close/>
              </a:path>
            </a:pathLst>
          </a:custGeom>
          <a:gradFill rotWithShape="1">
            <a:gsLst>
              <a:gs pos="0">
                <a:srgbClr val="0066FF"/>
              </a:gs>
              <a:gs pos="100000">
                <a:srgbClr val="66FFFF"/>
              </a:gs>
            </a:gsLst>
            <a:lin ang="5400000" scaled="1"/>
          </a:gradFill>
          <a:ln>
            <a:noFill/>
          </a:ln>
          <a:effec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737862" y="2369391"/>
            <a:ext cx="74174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字节     </a:t>
            </a:r>
            <a:r>
              <a:rPr lang="zh-CN" altLang="en-US" sz="1200" b="1" dirty="0" smtClean="0">
                <a:latin typeface="微软雅黑" panose="020B0503020204020204" pitchFamily="34" charset="-122"/>
                <a:ea typeface="微软雅黑" panose="020B0503020204020204" pitchFamily="34" charset="-122"/>
              </a:rPr>
              <a:t>   </a:t>
            </a:r>
            <a:r>
              <a:rPr lang="en-US" altLang="zh-CN" sz="1200" b="1" dirty="0" smtClean="0">
                <a:latin typeface="微软雅黑" panose="020B0503020204020204" pitchFamily="34" charset="-122"/>
                <a:ea typeface="微软雅黑" panose="020B0503020204020204" pitchFamily="34" charset="-122"/>
              </a:rPr>
              <a:t>2              </a:t>
            </a:r>
            <a:r>
              <a:rPr lang="en-US" altLang="zh-CN" sz="1200" b="1" dirty="0">
                <a:latin typeface="微软雅黑" panose="020B0503020204020204" pitchFamily="34" charset="-122"/>
                <a:ea typeface="微软雅黑" panose="020B0503020204020204" pitchFamily="34" charset="-122"/>
              </a:rPr>
              <a:t>2            </a:t>
            </a:r>
            <a:r>
              <a:rPr lang="en-US" altLang="zh-CN" sz="1200" b="1" dirty="0" smtClean="0">
                <a:latin typeface="微软雅黑" panose="020B0503020204020204" pitchFamily="34" charset="-122"/>
                <a:ea typeface="微软雅黑" panose="020B0503020204020204" pitchFamily="34" charset="-122"/>
              </a:rPr>
              <a:t>  6              </a:t>
            </a:r>
            <a:r>
              <a:rPr lang="en-US" altLang="zh-CN" sz="1200" b="1" dirty="0">
                <a:latin typeface="微软雅黑" panose="020B0503020204020204" pitchFamily="34" charset="-122"/>
                <a:ea typeface="微软雅黑" panose="020B0503020204020204" pitchFamily="34" charset="-122"/>
              </a:rPr>
              <a:t>6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6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2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6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0 ~ 2312             4</a:t>
            </a:r>
            <a:endParaRPr lang="en-US" altLang="zh-CN" sz="1200" b="1" dirty="0">
              <a:latin typeface="微软雅黑" panose="020B0503020204020204" pitchFamily="34" charset="-122"/>
              <a:ea typeface="微软雅黑" panose="020B0503020204020204" pitchFamily="34" charset="-122"/>
            </a:endParaRPr>
          </a:p>
        </p:txBody>
      </p:sp>
      <p:sp>
        <p:nvSpPr>
          <p:cNvPr id="10" name="Rectangle 6"/>
          <p:cNvSpPr>
            <a:spLocks noChangeArrowheads="1"/>
          </p:cNvSpPr>
          <p:nvPr/>
        </p:nvSpPr>
        <p:spPr bwMode="auto">
          <a:xfrm>
            <a:off x="1149222" y="2648444"/>
            <a:ext cx="745417" cy="275231"/>
          </a:xfrm>
          <a:prstGeom prst="rect">
            <a:avLst/>
          </a:prstGeom>
          <a:solidFill>
            <a:srgbClr val="0070C0"/>
          </a:solidFill>
          <a:ln w="9525">
            <a:solidFill>
              <a:schemeClr val="tx2"/>
            </a:solidFill>
            <a:miter lim="800000"/>
          </a:ln>
          <a:effec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 name="Rectangle 8"/>
          <p:cNvSpPr>
            <a:spLocks noChangeArrowheads="1"/>
          </p:cNvSpPr>
          <p:nvPr/>
        </p:nvSpPr>
        <p:spPr bwMode="auto">
          <a:xfrm>
            <a:off x="1898780" y="2640799"/>
            <a:ext cx="752318" cy="289247"/>
          </a:xfrm>
          <a:prstGeom prst="rect">
            <a:avLst/>
          </a:prstGeom>
          <a:solidFill>
            <a:srgbClr val="99FF66"/>
          </a:solidFill>
          <a:ln w="9525">
            <a:solidFill>
              <a:schemeClr val="tx2"/>
            </a:solidFill>
            <a:miter lim="800000"/>
          </a:ln>
          <a:effectLst/>
        </p:spPr>
        <p:txBody>
          <a:bodyPr wrap="none" anchor="ctr"/>
          <a:lstStyle/>
          <a:p>
            <a:pPr algn="ctr"/>
            <a:r>
              <a:rPr lang="zh-CN" altLang="en-US" sz="1200" b="1" dirty="0">
                <a:latin typeface="微软雅黑" panose="020B0503020204020204" pitchFamily="34" charset="-122"/>
                <a:ea typeface="微软雅黑" panose="020B0503020204020204" pitchFamily="34" charset="-122"/>
              </a:rPr>
              <a:t>持续期</a:t>
            </a:r>
            <a:endParaRPr lang="zh-CN" altLang="en-US" sz="1200" b="1" dirty="0">
              <a:latin typeface="微软雅黑" panose="020B0503020204020204" pitchFamily="34" charset="-122"/>
              <a:ea typeface="微软雅黑" panose="020B0503020204020204" pitchFamily="34" charset="-122"/>
            </a:endParaRPr>
          </a:p>
        </p:txBody>
      </p:sp>
      <p:sp>
        <p:nvSpPr>
          <p:cNvPr id="13" name="Rectangle 9"/>
          <p:cNvSpPr>
            <a:spLocks noChangeArrowheads="1"/>
          </p:cNvSpPr>
          <p:nvPr/>
        </p:nvSpPr>
        <p:spPr bwMode="auto">
          <a:xfrm>
            <a:off x="2651098" y="2640799"/>
            <a:ext cx="752319" cy="289247"/>
          </a:xfrm>
          <a:prstGeom prst="rect">
            <a:avLst/>
          </a:prstGeom>
          <a:solidFill>
            <a:srgbClr val="99FF66"/>
          </a:solidFill>
          <a:ln w="9525">
            <a:solidFill>
              <a:schemeClr val="tx2"/>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1</a:t>
            </a:r>
            <a:endParaRPr lang="en-US" altLang="zh-CN" sz="1200" b="1">
              <a:latin typeface="微软雅黑" panose="020B0503020204020204" pitchFamily="34" charset="-122"/>
              <a:ea typeface="微软雅黑" panose="020B0503020204020204" pitchFamily="34" charset="-122"/>
            </a:endParaRPr>
          </a:p>
        </p:txBody>
      </p:sp>
      <p:sp>
        <p:nvSpPr>
          <p:cNvPr id="14" name="Rectangle 10"/>
          <p:cNvSpPr>
            <a:spLocks noChangeArrowheads="1"/>
          </p:cNvSpPr>
          <p:nvPr/>
        </p:nvSpPr>
        <p:spPr bwMode="auto">
          <a:xfrm>
            <a:off x="3403418" y="2640799"/>
            <a:ext cx="752318" cy="289247"/>
          </a:xfrm>
          <a:prstGeom prst="rect">
            <a:avLst/>
          </a:prstGeom>
          <a:solidFill>
            <a:srgbClr val="99FF66"/>
          </a:solidFill>
          <a:ln w="9525">
            <a:solidFill>
              <a:schemeClr val="tx2"/>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2</a:t>
            </a:r>
            <a:endParaRPr lang="en-US" altLang="zh-CN" sz="1200" b="1">
              <a:latin typeface="微软雅黑" panose="020B0503020204020204" pitchFamily="34" charset="-122"/>
              <a:ea typeface="微软雅黑" panose="020B0503020204020204" pitchFamily="34" charset="-122"/>
            </a:endParaRPr>
          </a:p>
        </p:txBody>
      </p:sp>
      <p:sp>
        <p:nvSpPr>
          <p:cNvPr id="15" name="Rectangle 11"/>
          <p:cNvSpPr>
            <a:spLocks noChangeArrowheads="1"/>
          </p:cNvSpPr>
          <p:nvPr/>
        </p:nvSpPr>
        <p:spPr bwMode="auto">
          <a:xfrm>
            <a:off x="4155735" y="2640799"/>
            <a:ext cx="752319" cy="289247"/>
          </a:xfrm>
          <a:prstGeom prst="rect">
            <a:avLst/>
          </a:prstGeom>
          <a:solidFill>
            <a:srgbClr val="99FF66"/>
          </a:solidFill>
          <a:ln w="9525">
            <a:solidFill>
              <a:schemeClr val="tx2"/>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3</a:t>
            </a:r>
            <a:endParaRPr lang="en-US" altLang="zh-CN" sz="1200" b="1">
              <a:latin typeface="微软雅黑" panose="020B0503020204020204" pitchFamily="34" charset="-122"/>
              <a:ea typeface="微软雅黑" panose="020B0503020204020204" pitchFamily="34" charset="-122"/>
            </a:endParaRPr>
          </a:p>
        </p:txBody>
      </p:sp>
      <p:sp>
        <p:nvSpPr>
          <p:cNvPr id="16" name="Rectangle 12"/>
          <p:cNvSpPr>
            <a:spLocks noChangeArrowheads="1"/>
          </p:cNvSpPr>
          <p:nvPr/>
        </p:nvSpPr>
        <p:spPr bwMode="auto">
          <a:xfrm>
            <a:off x="4908055" y="2640799"/>
            <a:ext cx="752318" cy="289247"/>
          </a:xfrm>
          <a:prstGeom prst="rect">
            <a:avLst/>
          </a:prstGeom>
          <a:solidFill>
            <a:srgbClr val="99FF66"/>
          </a:solidFill>
          <a:ln w="9525">
            <a:solidFill>
              <a:schemeClr val="tx2"/>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序号控制</a:t>
            </a:r>
            <a:endParaRPr lang="zh-CN" altLang="en-US" sz="1200" b="1">
              <a:latin typeface="微软雅黑" panose="020B0503020204020204" pitchFamily="34" charset="-122"/>
              <a:ea typeface="微软雅黑" panose="020B0503020204020204" pitchFamily="34" charset="-122"/>
            </a:endParaRPr>
          </a:p>
        </p:txBody>
      </p:sp>
      <p:sp>
        <p:nvSpPr>
          <p:cNvPr id="17" name="Rectangle 13"/>
          <p:cNvSpPr>
            <a:spLocks noChangeArrowheads="1"/>
          </p:cNvSpPr>
          <p:nvPr/>
        </p:nvSpPr>
        <p:spPr bwMode="auto">
          <a:xfrm>
            <a:off x="5660372" y="2640799"/>
            <a:ext cx="752319" cy="289247"/>
          </a:xfrm>
          <a:prstGeom prst="rect">
            <a:avLst/>
          </a:prstGeom>
          <a:solidFill>
            <a:srgbClr val="99FF66"/>
          </a:solidFill>
          <a:ln w="9525">
            <a:solidFill>
              <a:schemeClr val="tx2"/>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4</a:t>
            </a:r>
            <a:endParaRPr lang="en-US" altLang="zh-CN" sz="1200" b="1">
              <a:latin typeface="微软雅黑" panose="020B0503020204020204" pitchFamily="34" charset="-122"/>
              <a:ea typeface="微软雅黑" panose="020B0503020204020204" pitchFamily="34" charset="-122"/>
            </a:endParaRPr>
          </a:p>
        </p:txBody>
      </p:sp>
      <p:sp>
        <p:nvSpPr>
          <p:cNvPr id="18" name="Rectangle 14"/>
          <p:cNvSpPr>
            <a:spLocks noChangeArrowheads="1"/>
          </p:cNvSpPr>
          <p:nvPr/>
        </p:nvSpPr>
        <p:spPr bwMode="auto">
          <a:xfrm>
            <a:off x="6412692" y="2640799"/>
            <a:ext cx="1184384" cy="289247"/>
          </a:xfrm>
          <a:prstGeom prst="rect">
            <a:avLst/>
          </a:prstGeom>
          <a:solidFill>
            <a:srgbClr val="66FFFF"/>
          </a:solidFill>
          <a:ln w="9525">
            <a:solidFill>
              <a:schemeClr val="tx2"/>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帧主体</a:t>
            </a:r>
            <a:endParaRPr lang="zh-CN" altLang="en-US" sz="1200" b="1">
              <a:latin typeface="微软雅黑" panose="020B0503020204020204" pitchFamily="34" charset="-122"/>
              <a:ea typeface="微软雅黑" panose="020B0503020204020204" pitchFamily="34" charset="-122"/>
            </a:endParaRPr>
          </a:p>
        </p:txBody>
      </p:sp>
      <p:sp>
        <p:nvSpPr>
          <p:cNvPr id="19" name="Rectangle 15"/>
          <p:cNvSpPr>
            <a:spLocks noChangeArrowheads="1"/>
          </p:cNvSpPr>
          <p:nvPr/>
        </p:nvSpPr>
        <p:spPr bwMode="auto">
          <a:xfrm>
            <a:off x="7595695" y="2640799"/>
            <a:ext cx="752319" cy="289247"/>
          </a:xfrm>
          <a:prstGeom prst="rect">
            <a:avLst/>
          </a:prstGeom>
          <a:solidFill>
            <a:schemeClr val="accent6">
              <a:lumMod val="40000"/>
              <a:lumOff val="60000"/>
            </a:schemeClr>
          </a:solidFill>
          <a:ln w="9525">
            <a:solidFill>
              <a:schemeClr val="tx2"/>
            </a:solidFill>
            <a:miter lim="800000"/>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FCS</a:t>
            </a:r>
            <a:endParaRPr lang="en-US" altLang="zh-CN" sz="1200" b="1" dirty="0">
              <a:latin typeface="微软雅黑" panose="020B0503020204020204" pitchFamily="34" charset="-122"/>
              <a:ea typeface="微软雅黑" panose="020B0503020204020204" pitchFamily="34" charset="-122"/>
            </a:endParaRPr>
          </a:p>
        </p:txBody>
      </p:sp>
      <p:sp>
        <p:nvSpPr>
          <p:cNvPr id="20" name="Rectangle 16"/>
          <p:cNvSpPr>
            <a:spLocks noChangeArrowheads="1"/>
          </p:cNvSpPr>
          <p:nvPr/>
        </p:nvSpPr>
        <p:spPr bwMode="auto">
          <a:xfrm>
            <a:off x="896609" y="3392587"/>
            <a:ext cx="752318"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协议</a:t>
            </a:r>
            <a:endParaRPr lang="zh-CN" altLang="en-US" sz="1200" b="1">
              <a:solidFill>
                <a:schemeClr val="bg1"/>
              </a:solidFill>
              <a:latin typeface="微软雅黑" panose="020B0503020204020204" pitchFamily="34" charset="-122"/>
              <a:ea typeface="微软雅黑" panose="020B0503020204020204" pitchFamily="34" charset="-122"/>
            </a:endParaRPr>
          </a:p>
          <a:p>
            <a:pPr algn="ctr"/>
            <a:r>
              <a:rPr lang="zh-CN" altLang="en-US" sz="1200" b="1">
                <a:solidFill>
                  <a:schemeClr val="bg1"/>
                </a:solidFill>
                <a:latin typeface="微软雅黑" panose="020B0503020204020204" pitchFamily="34" charset="-122"/>
                <a:ea typeface="微软雅黑" panose="020B0503020204020204" pitchFamily="34" charset="-122"/>
              </a:rPr>
              <a:t>版本</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21" name="Rectangle 17"/>
          <p:cNvSpPr>
            <a:spLocks noChangeArrowheads="1"/>
          </p:cNvSpPr>
          <p:nvPr/>
        </p:nvSpPr>
        <p:spPr bwMode="auto">
          <a:xfrm>
            <a:off x="1648926" y="3392587"/>
            <a:ext cx="752319"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类型</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22" name="Rectangle 18"/>
          <p:cNvSpPr>
            <a:spLocks noChangeArrowheads="1"/>
          </p:cNvSpPr>
          <p:nvPr/>
        </p:nvSpPr>
        <p:spPr bwMode="auto">
          <a:xfrm>
            <a:off x="2401246" y="3392587"/>
            <a:ext cx="1501876"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子类型</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23" name="Rectangle 19"/>
          <p:cNvSpPr>
            <a:spLocks noChangeArrowheads="1"/>
          </p:cNvSpPr>
          <p:nvPr/>
        </p:nvSpPr>
        <p:spPr bwMode="auto">
          <a:xfrm>
            <a:off x="3900362" y="3392587"/>
            <a:ext cx="503846"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去往</a:t>
            </a:r>
            <a:endParaRPr lang="zh-CN" altLang="en-US" sz="1200" b="1">
              <a:solidFill>
                <a:schemeClr val="bg1"/>
              </a:solidFill>
              <a:latin typeface="微软雅黑" panose="020B0503020204020204" pitchFamily="34" charset="-122"/>
              <a:ea typeface="微软雅黑" panose="020B0503020204020204" pitchFamily="34" charset="-122"/>
            </a:endParaRPr>
          </a:p>
          <a:p>
            <a:pPr algn="ctr"/>
            <a:r>
              <a:rPr lang="en-US" altLang="zh-CN" sz="1200" b="1">
                <a:solidFill>
                  <a:schemeClr val="bg1"/>
                </a:solidFill>
                <a:latin typeface="微软雅黑" panose="020B0503020204020204" pitchFamily="34" charset="-122"/>
                <a:ea typeface="微软雅黑" panose="020B0503020204020204" pitchFamily="34" charset="-122"/>
              </a:rPr>
              <a:t>AP</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24" name="Rectangle 20"/>
          <p:cNvSpPr>
            <a:spLocks noChangeArrowheads="1"/>
          </p:cNvSpPr>
          <p:nvPr/>
        </p:nvSpPr>
        <p:spPr bwMode="auto">
          <a:xfrm>
            <a:off x="4404207" y="3392587"/>
            <a:ext cx="503847"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来自</a:t>
            </a:r>
            <a:endParaRPr lang="zh-CN" altLang="en-US" sz="1200" b="1">
              <a:solidFill>
                <a:schemeClr val="bg1"/>
              </a:solidFill>
              <a:latin typeface="微软雅黑" panose="020B0503020204020204" pitchFamily="34" charset="-122"/>
              <a:ea typeface="微软雅黑" panose="020B0503020204020204" pitchFamily="34" charset="-122"/>
            </a:endParaRPr>
          </a:p>
          <a:p>
            <a:pPr algn="ctr"/>
            <a:r>
              <a:rPr lang="en-US" altLang="zh-CN" sz="1200" b="1">
                <a:solidFill>
                  <a:schemeClr val="bg1"/>
                </a:solidFill>
                <a:latin typeface="微软雅黑" panose="020B0503020204020204" pitchFamily="34" charset="-122"/>
                <a:ea typeface="微软雅黑" panose="020B0503020204020204" pitchFamily="34" charset="-122"/>
              </a:rPr>
              <a:t>AP</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25" name="Rectangle 21"/>
          <p:cNvSpPr>
            <a:spLocks noChangeArrowheads="1"/>
          </p:cNvSpPr>
          <p:nvPr/>
        </p:nvSpPr>
        <p:spPr bwMode="auto">
          <a:xfrm>
            <a:off x="4908055" y="3392587"/>
            <a:ext cx="503846"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endParaRPr lang="zh-CN" altLang="en-US" sz="1200" b="1">
              <a:solidFill>
                <a:schemeClr val="bg1"/>
              </a:solidFill>
              <a:latin typeface="微软雅黑" panose="020B0503020204020204" pitchFamily="34" charset="-122"/>
              <a:ea typeface="微软雅黑" panose="020B0503020204020204" pitchFamily="34" charset="-122"/>
            </a:endParaRPr>
          </a:p>
          <a:p>
            <a:pPr algn="ctr"/>
            <a:r>
              <a:rPr lang="zh-CN" altLang="en-US" sz="1200" b="1">
                <a:solidFill>
                  <a:schemeClr val="bg1"/>
                </a:solidFill>
                <a:latin typeface="微软雅黑" panose="020B0503020204020204" pitchFamily="34" charset="-122"/>
                <a:ea typeface="微软雅黑" panose="020B0503020204020204" pitchFamily="34" charset="-122"/>
              </a:rPr>
              <a:t>分片</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26" name="Rectangle 22"/>
          <p:cNvSpPr>
            <a:spLocks noChangeArrowheads="1"/>
          </p:cNvSpPr>
          <p:nvPr/>
        </p:nvSpPr>
        <p:spPr bwMode="auto">
          <a:xfrm>
            <a:off x="5411900" y="3392587"/>
            <a:ext cx="503847"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重试</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27" name="Rectangle 23"/>
          <p:cNvSpPr>
            <a:spLocks noChangeArrowheads="1"/>
          </p:cNvSpPr>
          <p:nvPr/>
        </p:nvSpPr>
        <p:spPr bwMode="auto">
          <a:xfrm>
            <a:off x="5915748" y="3392587"/>
            <a:ext cx="503846"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功率</a:t>
            </a:r>
            <a:endParaRPr lang="zh-CN" altLang="en-US" sz="1200" b="1">
              <a:solidFill>
                <a:schemeClr val="bg1"/>
              </a:solidFill>
              <a:latin typeface="微软雅黑" panose="020B0503020204020204" pitchFamily="34" charset="-122"/>
              <a:ea typeface="微软雅黑" panose="020B0503020204020204" pitchFamily="34" charset="-122"/>
            </a:endParaRPr>
          </a:p>
          <a:p>
            <a:pPr algn="ctr"/>
            <a:r>
              <a:rPr lang="zh-CN" altLang="en-US" sz="1200" b="1">
                <a:solidFill>
                  <a:schemeClr val="bg1"/>
                </a:solidFill>
                <a:latin typeface="微软雅黑" panose="020B0503020204020204" pitchFamily="34" charset="-122"/>
                <a:ea typeface="微软雅黑" panose="020B0503020204020204" pitchFamily="34" charset="-122"/>
              </a:rPr>
              <a:t>管理</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28" name="Rectangle 24"/>
          <p:cNvSpPr>
            <a:spLocks noChangeArrowheads="1"/>
          </p:cNvSpPr>
          <p:nvPr/>
        </p:nvSpPr>
        <p:spPr bwMode="auto">
          <a:xfrm>
            <a:off x="6419593" y="3392587"/>
            <a:ext cx="503847"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endParaRPr lang="zh-CN" altLang="en-US" sz="1200" b="1">
              <a:solidFill>
                <a:schemeClr val="bg1"/>
              </a:solidFill>
              <a:latin typeface="微软雅黑" panose="020B0503020204020204" pitchFamily="34" charset="-122"/>
              <a:ea typeface="微软雅黑" panose="020B0503020204020204" pitchFamily="34" charset="-122"/>
            </a:endParaRPr>
          </a:p>
          <a:p>
            <a:pPr algn="ctr"/>
            <a:r>
              <a:rPr lang="zh-CN" altLang="en-US" sz="1200" b="1">
                <a:solidFill>
                  <a:schemeClr val="bg1"/>
                </a:solidFill>
                <a:latin typeface="微软雅黑" panose="020B0503020204020204" pitchFamily="34" charset="-122"/>
                <a:ea typeface="微软雅黑" panose="020B0503020204020204" pitchFamily="34" charset="-122"/>
              </a:rPr>
              <a:t>数据</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29" name="Rectangle 25"/>
          <p:cNvSpPr>
            <a:spLocks noChangeArrowheads="1"/>
          </p:cNvSpPr>
          <p:nvPr/>
        </p:nvSpPr>
        <p:spPr bwMode="auto">
          <a:xfrm>
            <a:off x="6923441" y="3392587"/>
            <a:ext cx="503846" cy="462540"/>
          </a:xfrm>
          <a:prstGeom prst="rect">
            <a:avLst/>
          </a:prstGeom>
          <a:solidFill>
            <a:srgbClr val="0066FF"/>
          </a:solidFill>
          <a:ln w="9525">
            <a:solidFill>
              <a:schemeClr val="tx1"/>
            </a:solidFill>
            <a:miter lim="800000"/>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WEP</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30" name="Rectangle 26"/>
          <p:cNvSpPr>
            <a:spLocks noChangeArrowheads="1"/>
          </p:cNvSpPr>
          <p:nvPr/>
        </p:nvSpPr>
        <p:spPr bwMode="auto">
          <a:xfrm>
            <a:off x="7427286" y="3392587"/>
            <a:ext cx="503847" cy="462540"/>
          </a:xfrm>
          <a:prstGeom prst="rect">
            <a:avLst/>
          </a:prstGeom>
          <a:solidFill>
            <a:srgbClr val="0066FF"/>
          </a:solidFill>
          <a:ln w="9525">
            <a:solidFill>
              <a:schemeClr val="tx1"/>
            </a:solidFill>
            <a:miter lim="800000"/>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顺序</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1" name="Text Box 27"/>
          <p:cNvSpPr txBox="1">
            <a:spLocks noChangeArrowheads="1"/>
          </p:cNvSpPr>
          <p:nvPr/>
        </p:nvSpPr>
        <p:spPr bwMode="auto">
          <a:xfrm>
            <a:off x="638473" y="3121178"/>
            <a:ext cx="723627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位        </a:t>
            </a:r>
            <a:r>
              <a:rPr lang="en-US" altLang="zh-CN" sz="1200" b="1" dirty="0">
                <a:latin typeface="微软雅黑" panose="020B0503020204020204" pitchFamily="34" charset="-122"/>
                <a:ea typeface="微软雅黑" panose="020B0503020204020204" pitchFamily="34" charset="-122"/>
              </a:rPr>
              <a:t>2              2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4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1         1         </a:t>
            </a:r>
            <a:r>
              <a:rPr lang="en-US" altLang="zh-CN" sz="1200" b="1" dirty="0" smtClean="0">
                <a:latin typeface="微软雅黑" panose="020B0503020204020204" pitchFamily="34" charset="-122"/>
                <a:ea typeface="微软雅黑" panose="020B0503020204020204" pitchFamily="34" charset="-122"/>
              </a:rPr>
              <a:t>1         </a:t>
            </a:r>
            <a:r>
              <a:rPr lang="en-US" altLang="zh-CN" sz="1200" b="1" dirty="0">
                <a:latin typeface="微软雅黑" panose="020B0503020204020204" pitchFamily="34" charset="-122"/>
                <a:ea typeface="微软雅黑" panose="020B0503020204020204" pitchFamily="34" charset="-122"/>
              </a:rPr>
              <a:t>1         1         1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1         1</a:t>
            </a:r>
            <a:endParaRPr lang="en-US" altLang="zh-CN" sz="1200" b="1" dirty="0">
              <a:latin typeface="微软雅黑" panose="020B0503020204020204" pitchFamily="34" charset="-122"/>
              <a:ea typeface="微软雅黑" panose="020B0503020204020204" pitchFamily="34" charset="-122"/>
            </a:endParaRPr>
          </a:p>
        </p:txBody>
      </p:sp>
      <p:sp>
        <p:nvSpPr>
          <p:cNvPr id="32" name="AutoShape 28"/>
          <p:cNvSpPr/>
          <p:nvPr/>
        </p:nvSpPr>
        <p:spPr bwMode="auto">
          <a:xfrm rot="16200000">
            <a:off x="3677639" y="-333700"/>
            <a:ext cx="203875" cy="5263469"/>
          </a:xfrm>
          <a:prstGeom prst="rightBrace">
            <a:avLst>
              <a:gd name="adj1" fmla="val 198594"/>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Text Box 29"/>
          <p:cNvSpPr txBox="1">
            <a:spLocks noChangeArrowheads="1"/>
          </p:cNvSpPr>
          <p:nvPr/>
        </p:nvSpPr>
        <p:spPr bwMode="auto">
          <a:xfrm>
            <a:off x="3278474" y="1930690"/>
            <a:ext cx="10329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 </a:t>
            </a:r>
            <a:r>
              <a:rPr lang="zh-CN" altLang="en-US" sz="1400" b="1" dirty="0">
                <a:solidFill>
                  <a:srgbClr val="0000FF"/>
                </a:solidFill>
                <a:latin typeface="微软雅黑" panose="020B0503020204020204" pitchFamily="34" charset="-122"/>
                <a:ea typeface="微软雅黑" panose="020B0503020204020204" pitchFamily="34" charset="-122"/>
              </a:rPr>
              <a:t>首部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34" name="Text Box 30"/>
          <p:cNvSpPr txBox="1">
            <a:spLocks noChangeArrowheads="1"/>
          </p:cNvSpPr>
          <p:nvPr/>
        </p:nvSpPr>
        <p:spPr bwMode="auto">
          <a:xfrm>
            <a:off x="7608397" y="1890823"/>
            <a:ext cx="62100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a:t>
            </a:r>
            <a:endParaRPr lang="en-US" altLang="zh-CN" sz="1400" b="1" dirty="0">
              <a:solidFill>
                <a:srgbClr val="0000FF"/>
              </a:solidFill>
              <a:latin typeface="微软雅黑" panose="020B0503020204020204" pitchFamily="34" charset="-122"/>
              <a:ea typeface="微软雅黑" panose="020B0503020204020204" pitchFamily="34" charset="-122"/>
            </a:endParaRPr>
          </a:p>
          <a:p>
            <a:r>
              <a:rPr lang="zh-CN" altLang="en-US" sz="1400" b="1" dirty="0" smtClean="0">
                <a:solidFill>
                  <a:srgbClr val="0000FF"/>
                </a:solidFill>
                <a:latin typeface="微软雅黑" panose="020B0503020204020204" pitchFamily="34" charset="-122"/>
                <a:ea typeface="微软雅黑" panose="020B0503020204020204" pitchFamily="34" charset="-122"/>
              </a:rPr>
              <a:t> 尾部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11" name="Rectangle 7"/>
          <p:cNvSpPr>
            <a:spLocks noChangeArrowheads="1"/>
          </p:cNvSpPr>
          <p:nvPr/>
        </p:nvSpPr>
        <p:spPr bwMode="auto">
          <a:xfrm>
            <a:off x="1146460" y="2640799"/>
            <a:ext cx="752319" cy="289247"/>
          </a:xfrm>
          <a:prstGeom prst="rect">
            <a:avLst/>
          </a:prstGeom>
          <a:solidFill>
            <a:srgbClr val="0066FF"/>
          </a:solidFill>
          <a:ln w="9525">
            <a:solidFill>
              <a:schemeClr val="tx1"/>
            </a:solidFill>
            <a:miter lim="800000"/>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帧控制</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9.1.4  802.11 </a:t>
            </a:r>
            <a:r>
              <a:rPr lang="zh-CN" altLang="en-US" sz="2400" b="1" dirty="0">
                <a:solidFill>
                  <a:schemeClr val="bg1"/>
                </a:solidFill>
                <a:latin typeface="微软雅黑" panose="020B0503020204020204" pitchFamily="34" charset="-122"/>
                <a:ea typeface="微软雅黑" panose="020B0503020204020204" pitchFamily="34" charset="-122"/>
              </a:rPr>
              <a:t>局域网的 </a:t>
            </a:r>
            <a:r>
              <a:rPr lang="en-US" altLang="zh-CN" sz="2400" b="1" dirty="0">
                <a:solidFill>
                  <a:schemeClr val="bg1"/>
                </a:solidFill>
                <a:latin typeface="微软雅黑" panose="020B0503020204020204" pitchFamily="34" charset="-122"/>
                <a:ea typeface="微软雅黑" panose="020B0503020204020204" pitchFamily="34" charset="-122"/>
              </a:rPr>
              <a:t>MAC </a:t>
            </a:r>
            <a:r>
              <a:rPr lang="zh-CN" altLang="en-US" sz="2400" b="1" dirty="0">
                <a:solidFill>
                  <a:schemeClr val="bg1"/>
                </a:solidFill>
                <a:latin typeface="微软雅黑" panose="020B0503020204020204" pitchFamily="34" charset="-122"/>
                <a:ea typeface="微软雅黑" panose="020B0503020204020204" pitchFamily="34" charset="-122"/>
              </a:rPr>
              <a:t>帧</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anose="05000000000000000000" pitchFamily="2" charset="2"/>
              <a:buChar char="l"/>
            </a:pPr>
            <a:r>
              <a:rPr lang="en-US" altLang="zh-CN" b="1" dirty="0">
                <a:latin typeface="微软雅黑" panose="020B0503020204020204" pitchFamily="34" charset="-122"/>
                <a:ea typeface="微软雅黑" panose="020B0503020204020204" pitchFamily="34" charset="-122"/>
              </a:rPr>
              <a:t>802.11 </a:t>
            </a:r>
            <a:r>
              <a:rPr lang="zh-CN" altLang="en-US" b="1" dirty="0">
                <a:latin typeface="微软雅黑" panose="020B0503020204020204" pitchFamily="34" charset="-122"/>
                <a:ea typeface="微软雅黑" panose="020B0503020204020204" pitchFamily="34" charset="-122"/>
              </a:rPr>
              <a:t>帧共有三种类型：</a:t>
            </a:r>
            <a:r>
              <a:rPr lang="zh-CN" altLang="en-US" b="1" dirty="0">
                <a:solidFill>
                  <a:srgbClr val="0000FF"/>
                </a:solidFill>
                <a:latin typeface="微软雅黑" panose="020B0503020204020204" pitchFamily="34" charset="-122"/>
                <a:ea typeface="微软雅黑" panose="020B0503020204020204" pitchFamily="34" charset="-122"/>
              </a:rPr>
              <a:t>控制帧</a:t>
            </a:r>
            <a:r>
              <a:rPr lang="zh-CN" altLang="en-US" b="1" dirty="0">
                <a:latin typeface="微软雅黑" panose="020B0503020204020204" pitchFamily="34" charset="-122"/>
                <a:ea typeface="微软雅黑" panose="020B0503020204020204" pitchFamily="34" charset="-122"/>
              </a:rPr>
              <a:t>、</a:t>
            </a:r>
            <a:r>
              <a:rPr lang="zh-CN" altLang="en-US" b="1" dirty="0">
                <a:solidFill>
                  <a:srgbClr val="0000FF"/>
                </a:solidFill>
                <a:latin typeface="微软雅黑" panose="020B0503020204020204" pitchFamily="34" charset="-122"/>
                <a:ea typeface="微软雅黑" panose="020B0503020204020204" pitchFamily="34" charset="-122"/>
              </a:rPr>
              <a:t>数据帧</a:t>
            </a:r>
            <a:r>
              <a:rPr lang="zh-CN" altLang="en-US" b="1" dirty="0">
                <a:latin typeface="微软雅黑" panose="020B0503020204020204" pitchFamily="34" charset="-122"/>
                <a:ea typeface="微软雅黑" panose="020B0503020204020204" pitchFamily="34" charset="-122"/>
              </a:rPr>
              <a:t>和</a:t>
            </a:r>
            <a:r>
              <a:rPr lang="zh-CN" altLang="en-US" b="1" dirty="0">
                <a:solidFill>
                  <a:srgbClr val="0000FF"/>
                </a:solidFill>
                <a:latin typeface="微软雅黑" panose="020B0503020204020204" pitchFamily="34" charset="-122"/>
                <a:ea typeface="微软雅黑" panose="020B0503020204020204" pitchFamily="34" charset="-122"/>
              </a:rPr>
              <a:t>管理帧</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5" name="组合 34"/>
          <p:cNvGrpSpPr/>
          <p:nvPr/>
        </p:nvGrpSpPr>
        <p:grpSpPr>
          <a:xfrm>
            <a:off x="1504950" y="1528911"/>
            <a:ext cx="5720151" cy="1034350"/>
            <a:chOff x="1137742" y="2138278"/>
            <a:chExt cx="7482878" cy="1353094"/>
          </a:xfrm>
        </p:grpSpPr>
        <p:sp>
          <p:nvSpPr>
            <p:cNvPr id="36" name="矩形 35"/>
            <p:cNvSpPr/>
            <p:nvPr/>
          </p:nvSpPr>
          <p:spPr>
            <a:xfrm>
              <a:off x="2077199" y="2138278"/>
              <a:ext cx="6260008" cy="483145"/>
            </a:xfrm>
            <a:prstGeom prst="rect">
              <a:avLst/>
            </a:prstGeom>
            <a:noFill/>
            <a:ln>
              <a:noFill/>
            </a:ln>
          </p:spPr>
          <p:txBody>
            <a:bodyPr wrap="square">
              <a:spAutoFit/>
            </a:bodyPr>
            <a:lstStyle/>
            <a:p>
              <a:r>
                <a:rPr lang="en-US" altLang="zh-CN" b="1" dirty="0" smtClean="0">
                  <a:solidFill>
                    <a:srgbClr val="C00000"/>
                  </a:solidFill>
                  <a:latin typeface="微软雅黑" panose="020B0503020204020204" pitchFamily="34" charset="-122"/>
                  <a:ea typeface="微软雅黑" panose="020B0503020204020204" pitchFamily="34" charset="-122"/>
                </a:rPr>
                <a:t>RTS </a:t>
              </a:r>
              <a:r>
                <a:rPr lang="zh-CN" altLang="en-US" b="1" dirty="0" smtClean="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a:t>
              </a:r>
              <a:r>
                <a:rPr lang="zh-CN" altLang="en-US" b="1" dirty="0" smtClean="0">
                  <a:latin typeface="微软雅黑" panose="020B0503020204020204" pitchFamily="34" charset="-122"/>
                  <a:ea typeface="微软雅黑" panose="020B0503020204020204" pitchFamily="34" charset="-122"/>
                </a:rPr>
                <a:t>为 </a:t>
              </a:r>
              <a:r>
                <a:rPr lang="en-US" altLang="zh-CN" b="1" dirty="0" smtClean="0">
                  <a:latin typeface="微软雅黑" panose="020B0503020204020204" pitchFamily="34" charset="-122"/>
                  <a:ea typeface="微软雅黑" panose="020B0503020204020204" pitchFamily="34" charset="-122"/>
                </a:rPr>
                <a:t>1011</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1137742" y="2602293"/>
              <a:ext cx="7482878" cy="889079"/>
              <a:chOff x="2095672" y="3238115"/>
              <a:chExt cx="4781378" cy="623255"/>
            </a:xfrm>
          </p:grpSpPr>
          <p:sp>
            <p:nvSpPr>
              <p:cNvPr id="38" name="Rectangle 56"/>
              <p:cNvSpPr>
                <a:spLocks noChangeArrowheads="1"/>
              </p:cNvSpPr>
              <p:nvPr/>
            </p:nvSpPr>
            <p:spPr bwMode="auto">
              <a:xfrm>
                <a:off x="2554288" y="3510533"/>
                <a:ext cx="857250" cy="342900"/>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39" name="Rectangle 17"/>
              <p:cNvSpPr>
                <a:spLocks noChangeArrowheads="1"/>
              </p:cNvSpPr>
              <p:nvPr/>
            </p:nvSpPr>
            <p:spPr bwMode="auto">
              <a:xfrm>
                <a:off x="2551113" y="3501008"/>
                <a:ext cx="865187" cy="360362"/>
              </a:xfrm>
              <a:prstGeom prst="rect">
                <a:avLst/>
              </a:prstGeom>
              <a:solidFill>
                <a:srgbClr val="0066FF"/>
              </a:solidFill>
              <a:ln w="6350">
                <a:solidFill>
                  <a:schemeClr val="tx1"/>
                </a:solidFill>
                <a:miter lim="800000"/>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40" name="Rectangle 18"/>
              <p:cNvSpPr>
                <a:spLocks noChangeArrowheads="1"/>
              </p:cNvSpPr>
              <p:nvPr/>
            </p:nvSpPr>
            <p:spPr bwMode="auto">
              <a:xfrm>
                <a:off x="3416300" y="3501008"/>
                <a:ext cx="865188" cy="360362"/>
              </a:xfrm>
              <a:prstGeom prst="rect">
                <a:avLst/>
              </a:prstGeom>
              <a:solidFill>
                <a:srgbClr val="99FF66"/>
              </a:solidFill>
              <a:ln w="6350">
                <a:solidFill>
                  <a:schemeClr val="tx1"/>
                </a:solidFill>
                <a:miter lim="800000"/>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endParaRPr lang="zh-CN" altLang="en-US" sz="1400" b="1" dirty="0">
                  <a:latin typeface="微软雅黑" panose="020B0503020204020204" pitchFamily="34" charset="-122"/>
                  <a:ea typeface="微软雅黑" panose="020B0503020204020204" pitchFamily="34" charset="-122"/>
                </a:endParaRPr>
              </a:p>
            </p:txBody>
          </p:sp>
          <p:sp>
            <p:nvSpPr>
              <p:cNvPr id="41" name="Rectangle 19"/>
              <p:cNvSpPr>
                <a:spLocks noChangeArrowheads="1"/>
              </p:cNvSpPr>
              <p:nvPr/>
            </p:nvSpPr>
            <p:spPr bwMode="auto">
              <a:xfrm>
                <a:off x="4281488" y="3501008"/>
                <a:ext cx="865187" cy="360362"/>
              </a:xfrm>
              <a:prstGeom prst="rect">
                <a:avLst/>
              </a:prstGeom>
              <a:solidFill>
                <a:srgbClr val="99FF66"/>
              </a:solidFill>
              <a:ln w="6350">
                <a:solidFill>
                  <a:schemeClr val="tx1"/>
                </a:solidFill>
                <a:miter lim="800000"/>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42" name="Rectangle 20"/>
              <p:cNvSpPr>
                <a:spLocks noChangeArrowheads="1"/>
              </p:cNvSpPr>
              <p:nvPr/>
            </p:nvSpPr>
            <p:spPr bwMode="auto">
              <a:xfrm>
                <a:off x="5146675" y="3501008"/>
                <a:ext cx="865188" cy="360362"/>
              </a:xfrm>
              <a:prstGeom prst="rect">
                <a:avLst/>
              </a:prstGeom>
              <a:solidFill>
                <a:srgbClr val="99FF66"/>
              </a:solidFill>
              <a:ln w="6350">
                <a:solidFill>
                  <a:schemeClr val="tx1"/>
                </a:solidFill>
                <a:miter lim="800000"/>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发送地址</a:t>
                </a:r>
                <a:endParaRPr lang="en-US" altLang="zh-CN" sz="1400" b="1">
                  <a:latin typeface="微软雅黑" panose="020B0503020204020204" pitchFamily="34" charset="-122"/>
                  <a:ea typeface="微软雅黑" panose="020B0503020204020204" pitchFamily="34" charset="-122"/>
                </a:endParaRPr>
              </a:p>
            </p:txBody>
          </p:sp>
          <p:sp>
            <p:nvSpPr>
              <p:cNvPr id="43" name="Rectangle 21"/>
              <p:cNvSpPr>
                <a:spLocks noChangeArrowheads="1"/>
              </p:cNvSpPr>
              <p:nvPr/>
            </p:nvSpPr>
            <p:spPr bwMode="auto">
              <a:xfrm>
                <a:off x="6011863" y="3501008"/>
                <a:ext cx="865187" cy="360362"/>
              </a:xfrm>
              <a:prstGeom prst="rect">
                <a:avLst/>
              </a:prstGeom>
              <a:solidFill>
                <a:srgbClr val="99FF66"/>
              </a:solidFill>
              <a:ln w="6350">
                <a:solidFill>
                  <a:schemeClr val="tx1"/>
                </a:solidFill>
                <a:miter lim="800000"/>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endParaRPr lang="en-US" altLang="zh-CN" sz="1400" b="1" dirty="0">
                  <a:latin typeface="微软雅黑" panose="020B0503020204020204" pitchFamily="34" charset="-122"/>
                  <a:ea typeface="微软雅黑" panose="020B0503020204020204" pitchFamily="34" charset="-122"/>
                </a:endParaRPr>
              </a:p>
            </p:txBody>
          </p:sp>
          <p:sp>
            <p:nvSpPr>
              <p:cNvPr id="44" name="Text Box 14"/>
              <p:cNvSpPr txBox="1">
                <a:spLocks noChangeArrowheads="1"/>
              </p:cNvSpPr>
              <p:nvPr/>
            </p:nvSpPr>
            <p:spPr bwMode="auto">
              <a:xfrm>
                <a:off x="2095672" y="3238115"/>
                <a:ext cx="4781378" cy="28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dirty="0" smtClean="0">
                    <a:latin typeface="微软雅黑" panose="020B0503020204020204" pitchFamily="34" charset="-122"/>
                    <a:ea typeface="微软雅黑" panose="020B0503020204020204" pitchFamily="34" charset="-122"/>
                  </a:rPr>
                  <a:t>字节           </a:t>
                </a:r>
                <a:r>
                  <a:rPr lang="en-US" altLang="zh-CN" sz="1400" b="1" dirty="0" smtClean="0">
                    <a:latin typeface="微软雅黑" panose="020B0503020204020204" pitchFamily="34" charset="-122"/>
                    <a:ea typeface="微软雅黑" panose="020B0503020204020204" pitchFamily="34" charset="-122"/>
                  </a:rPr>
                  <a:t>2                  </a:t>
                </a:r>
                <a:r>
                  <a:rPr lang="en-US" altLang="zh-CN" sz="1400" b="1" dirty="0">
                    <a:latin typeface="微软雅黑" panose="020B0503020204020204" pitchFamily="34" charset="-122"/>
                    <a:ea typeface="微软雅黑" panose="020B0503020204020204" pitchFamily="34" charset="-122"/>
                  </a:rPr>
                  <a:t>2            </a:t>
                </a:r>
                <a:r>
                  <a:rPr lang="en-US" altLang="zh-CN" sz="1400" b="1" dirty="0" smtClean="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6          </a:t>
                </a:r>
                <a:r>
                  <a:rPr lang="en-US" altLang="zh-CN" sz="1400" b="1" dirty="0" smtClean="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6             </a:t>
                </a:r>
                <a:r>
                  <a:rPr lang="en-US" altLang="zh-CN" sz="1400" b="1" dirty="0" smtClean="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4</a:t>
                </a:r>
                <a:endParaRPr lang="en-US" altLang="zh-CN" sz="1400" b="1" dirty="0">
                  <a:latin typeface="微软雅黑" panose="020B0503020204020204" pitchFamily="34" charset="-122"/>
                  <a:ea typeface="微软雅黑" panose="020B0503020204020204" pitchFamily="34" charset="-122"/>
                </a:endParaRPr>
              </a:p>
            </p:txBody>
          </p:sp>
        </p:grpSp>
      </p:grpSp>
      <p:grpSp>
        <p:nvGrpSpPr>
          <p:cNvPr id="45" name="组合 44"/>
          <p:cNvGrpSpPr/>
          <p:nvPr/>
        </p:nvGrpSpPr>
        <p:grpSpPr>
          <a:xfrm>
            <a:off x="1236617" y="2862624"/>
            <a:ext cx="7123611" cy="1062407"/>
            <a:chOff x="836559" y="3802392"/>
            <a:chExt cx="9318833" cy="1228156"/>
          </a:xfrm>
        </p:grpSpPr>
        <p:sp>
          <p:nvSpPr>
            <p:cNvPr id="46" name="Rectangle 56"/>
            <p:cNvSpPr>
              <a:spLocks noChangeArrowheads="1"/>
            </p:cNvSpPr>
            <p:nvPr/>
          </p:nvSpPr>
          <p:spPr bwMode="auto">
            <a:xfrm>
              <a:off x="1905305" y="4587443"/>
              <a:ext cx="1328441" cy="43307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47" name="Rectangle 17"/>
            <p:cNvSpPr>
              <a:spLocks noChangeArrowheads="1"/>
            </p:cNvSpPr>
            <p:nvPr/>
          </p:nvSpPr>
          <p:spPr bwMode="auto">
            <a:xfrm>
              <a:off x="1900385" y="4575413"/>
              <a:ext cx="1340741" cy="455135"/>
            </a:xfrm>
            <a:prstGeom prst="rect">
              <a:avLst/>
            </a:prstGeom>
            <a:solidFill>
              <a:srgbClr val="0066FF"/>
            </a:solidFill>
            <a:ln w="6350">
              <a:solidFill>
                <a:schemeClr val="tx1"/>
              </a:solidFill>
              <a:miter lim="800000"/>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48" name="Rectangle 18"/>
            <p:cNvSpPr>
              <a:spLocks noChangeArrowheads="1"/>
            </p:cNvSpPr>
            <p:nvPr/>
          </p:nvSpPr>
          <p:spPr bwMode="auto">
            <a:xfrm>
              <a:off x="3241126" y="4575413"/>
              <a:ext cx="1340742" cy="455135"/>
            </a:xfrm>
            <a:prstGeom prst="rect">
              <a:avLst/>
            </a:prstGeom>
            <a:solidFill>
              <a:srgbClr val="99FF66"/>
            </a:solidFill>
            <a:ln w="6350">
              <a:solidFill>
                <a:schemeClr val="tx1"/>
              </a:solidFill>
              <a:miter lim="800000"/>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endParaRPr lang="zh-CN" altLang="en-US" sz="1400" b="1" dirty="0">
                <a:latin typeface="微软雅黑" panose="020B0503020204020204" pitchFamily="34" charset="-122"/>
                <a:ea typeface="微软雅黑" panose="020B0503020204020204" pitchFamily="34" charset="-122"/>
              </a:endParaRPr>
            </a:p>
          </p:txBody>
        </p:sp>
        <p:sp>
          <p:nvSpPr>
            <p:cNvPr id="49" name="Rectangle 19"/>
            <p:cNvSpPr>
              <a:spLocks noChangeArrowheads="1"/>
            </p:cNvSpPr>
            <p:nvPr/>
          </p:nvSpPr>
          <p:spPr bwMode="auto">
            <a:xfrm>
              <a:off x="4581868" y="4575413"/>
              <a:ext cx="1340741" cy="455135"/>
            </a:xfrm>
            <a:prstGeom prst="rect">
              <a:avLst/>
            </a:prstGeom>
            <a:solidFill>
              <a:srgbClr val="99FF66"/>
            </a:solidFill>
            <a:ln w="6350">
              <a:solidFill>
                <a:schemeClr val="tx1"/>
              </a:solidFill>
              <a:miter lim="800000"/>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50" name="Rectangle 21"/>
            <p:cNvSpPr>
              <a:spLocks noChangeArrowheads="1"/>
            </p:cNvSpPr>
            <p:nvPr/>
          </p:nvSpPr>
          <p:spPr bwMode="auto">
            <a:xfrm>
              <a:off x="5888168" y="4575413"/>
              <a:ext cx="1340742" cy="455135"/>
            </a:xfrm>
            <a:prstGeom prst="rect">
              <a:avLst/>
            </a:prstGeom>
            <a:solidFill>
              <a:srgbClr val="99FF66"/>
            </a:solidFill>
            <a:ln w="6350">
              <a:solidFill>
                <a:schemeClr val="tx1"/>
              </a:solidFill>
              <a:miter lim="800000"/>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endParaRPr lang="en-US" altLang="zh-CN" sz="1400" b="1" dirty="0">
                <a:latin typeface="微软雅黑" panose="020B0503020204020204" pitchFamily="34" charset="-122"/>
                <a:ea typeface="微软雅黑" panose="020B0503020204020204" pitchFamily="34" charset="-122"/>
              </a:endParaRPr>
            </a:p>
          </p:txBody>
        </p:sp>
        <p:sp>
          <p:nvSpPr>
            <p:cNvPr id="51" name="Text Box 14"/>
            <p:cNvSpPr txBox="1">
              <a:spLocks noChangeArrowheads="1"/>
            </p:cNvSpPr>
            <p:nvPr/>
          </p:nvSpPr>
          <p:spPr bwMode="auto">
            <a:xfrm>
              <a:off x="1187582" y="4256555"/>
              <a:ext cx="5666301" cy="355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zh-CN" altLang="en-US" sz="1400" b="1" dirty="0" smtClean="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2                  2                6                 </a:t>
              </a:r>
              <a:r>
                <a:rPr lang="en-US" altLang="zh-CN" sz="1400" b="1" dirty="0">
                  <a:latin typeface="微软雅黑" panose="020B0503020204020204" pitchFamily="34" charset="-122"/>
                  <a:ea typeface="微软雅黑" panose="020B0503020204020204" pitchFamily="34" charset="-122"/>
                </a:rPr>
                <a:t>4</a:t>
              </a:r>
              <a:endParaRPr lang="en-US" altLang="zh-CN" sz="1400" b="1" dirty="0">
                <a:latin typeface="微软雅黑" panose="020B0503020204020204" pitchFamily="34" charset="-122"/>
                <a:ea typeface="微软雅黑" panose="020B0503020204020204" pitchFamily="34" charset="-122"/>
              </a:endParaRPr>
            </a:p>
          </p:txBody>
        </p:sp>
        <p:sp>
          <p:nvSpPr>
            <p:cNvPr id="52" name="Text Box 58"/>
            <p:cNvSpPr txBox="1">
              <a:spLocks noChangeArrowheads="1"/>
            </p:cNvSpPr>
            <p:nvPr/>
          </p:nvSpPr>
          <p:spPr bwMode="auto">
            <a:xfrm>
              <a:off x="836559" y="3802392"/>
              <a:ext cx="9318833" cy="426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smtClean="0">
                  <a:solidFill>
                    <a:srgbClr val="C00000"/>
                  </a:solidFill>
                  <a:latin typeface="微软雅黑" panose="020B0503020204020204" pitchFamily="34" charset="-122"/>
                  <a:ea typeface="微软雅黑" panose="020B0503020204020204" pitchFamily="34" charset="-122"/>
                </a:rPr>
                <a:t>CTS </a:t>
              </a:r>
              <a:r>
                <a:rPr lang="zh-CN" altLang="en-US" b="1" dirty="0">
                  <a:solidFill>
                    <a:srgbClr val="C00000"/>
                  </a:solidFill>
                  <a:latin typeface="微软雅黑" panose="020B0503020204020204" pitchFamily="34" charset="-122"/>
                  <a:ea typeface="微软雅黑" panose="020B0503020204020204" pitchFamily="34" charset="-122"/>
                </a:rPr>
                <a:t>和 </a:t>
              </a:r>
              <a:r>
                <a:rPr lang="en-US" altLang="zh-CN" b="1" dirty="0">
                  <a:solidFill>
                    <a:srgbClr val="C00000"/>
                  </a:solidFill>
                  <a:latin typeface="微软雅黑" panose="020B0503020204020204" pitchFamily="34" charset="-122"/>
                  <a:ea typeface="微软雅黑" panose="020B0503020204020204" pitchFamily="34" charset="-122"/>
                </a:rPr>
                <a:t>ACK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（帧控制字段中的子类型分别</a:t>
              </a:r>
              <a:r>
                <a:rPr lang="zh-CN" altLang="en-US" b="1" dirty="0" smtClean="0">
                  <a:latin typeface="微软雅黑" panose="020B0503020204020204" pitchFamily="34" charset="-122"/>
                  <a:ea typeface="微软雅黑" panose="020B0503020204020204" pitchFamily="34" charset="-122"/>
                </a:rPr>
                <a:t>为 </a:t>
              </a:r>
              <a:r>
                <a:rPr lang="en-US" altLang="zh-CN" b="1" dirty="0" smtClean="0">
                  <a:latin typeface="微软雅黑" panose="020B0503020204020204" pitchFamily="34" charset="-122"/>
                  <a:ea typeface="微软雅黑" panose="020B0503020204020204" pitchFamily="34" charset="-122"/>
                </a:rPr>
                <a:t>1100 </a:t>
              </a:r>
              <a:r>
                <a:rPr lang="zh-CN" altLang="en-US" b="1" dirty="0" smtClean="0">
                  <a:latin typeface="微软雅黑" panose="020B0503020204020204" pitchFamily="34" charset="-122"/>
                  <a:ea typeface="微软雅黑" panose="020B0503020204020204" pitchFamily="34" charset="-122"/>
                </a:rPr>
                <a:t>和 </a:t>
              </a:r>
              <a:r>
                <a:rPr lang="en-US" altLang="zh-CN" b="1" dirty="0" smtClean="0">
                  <a:latin typeface="微软雅黑" panose="020B0503020204020204" pitchFamily="34" charset="-122"/>
                  <a:ea typeface="微软雅黑" panose="020B0503020204020204" pitchFamily="34" charset="-122"/>
                </a:rPr>
                <a:t>1101</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18435"/>
            <a:ext cx="810471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MAC </a:t>
            </a:r>
            <a:r>
              <a:rPr lang="zh-CN" altLang="en-US" sz="2000" b="1" dirty="0" smtClean="0">
                <a:solidFill>
                  <a:srgbClr val="0000FF"/>
                </a:solidFill>
                <a:latin typeface="微软雅黑" panose="020B0503020204020204" pitchFamily="34" charset="-122"/>
                <a:ea typeface="微软雅黑" panose="020B0503020204020204" pitchFamily="34" charset="-122"/>
              </a:rPr>
              <a:t>首部</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共 </a:t>
            </a:r>
            <a:r>
              <a:rPr lang="en-US" altLang="zh-CN" sz="2000" b="1" dirty="0">
                <a:latin typeface="微软雅黑" panose="020B0503020204020204" pitchFamily="34" charset="-122"/>
                <a:ea typeface="微软雅黑" panose="020B0503020204020204" pitchFamily="34" charset="-122"/>
              </a:rPr>
              <a:t>30 </a:t>
            </a:r>
            <a:r>
              <a:rPr lang="zh-CN" altLang="en-US" sz="2000" b="1" dirty="0">
                <a:latin typeface="微软雅黑" panose="020B0503020204020204" pitchFamily="34" charset="-122"/>
                <a:ea typeface="微软雅黑" panose="020B0503020204020204" pitchFamily="34" charset="-122"/>
              </a:rPr>
              <a:t>字节</a:t>
            </a:r>
            <a:r>
              <a:rPr lang="zh-CN" altLang="en-US" sz="2000" b="1" dirty="0" smtClean="0">
                <a:latin typeface="微软雅黑" panose="020B0503020204020204" pitchFamily="34" charset="-122"/>
                <a:ea typeface="微软雅黑" panose="020B0503020204020204" pitchFamily="34" charset="-122"/>
              </a:rPr>
              <a:t>。复杂。</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帧</a:t>
            </a:r>
            <a:r>
              <a:rPr lang="zh-CN" altLang="en-US" sz="2000" b="1" dirty="0" smtClean="0">
                <a:solidFill>
                  <a:srgbClr val="0000FF"/>
                </a:solidFill>
                <a:latin typeface="微软雅黑" panose="020B0503020204020204" pitchFamily="34" charset="-122"/>
                <a:ea typeface="微软雅黑" panose="020B0503020204020204" pitchFamily="34" charset="-122"/>
              </a:rPr>
              <a:t>主体</a:t>
            </a:r>
            <a:r>
              <a:rPr lang="zh-CN" altLang="en-US" sz="2000" b="1" dirty="0" smtClean="0">
                <a:latin typeface="微软雅黑" panose="020B0503020204020204" pitchFamily="34" charset="-122"/>
                <a:ea typeface="微软雅黑" panose="020B0503020204020204" pitchFamily="34" charset="-122"/>
              </a:rPr>
              <a:t>：数据部分</a:t>
            </a:r>
            <a:r>
              <a:rPr lang="zh-CN" altLang="en-US" sz="2000" b="1" dirty="0">
                <a:latin typeface="微软雅黑" panose="020B0503020204020204" pitchFamily="34" charset="-122"/>
                <a:ea typeface="微软雅黑" panose="020B0503020204020204" pitchFamily="34" charset="-122"/>
              </a:rPr>
              <a:t>，不</a:t>
            </a:r>
            <a:r>
              <a:rPr lang="zh-CN" altLang="en-US" sz="2000" b="1" dirty="0" smtClean="0">
                <a:latin typeface="微软雅黑" panose="020B0503020204020204" pitchFamily="34" charset="-122"/>
                <a:ea typeface="微软雅黑" panose="020B0503020204020204" pitchFamily="34" charset="-122"/>
              </a:rPr>
              <a:t>超过 </a:t>
            </a:r>
            <a:r>
              <a:rPr lang="en-US" altLang="zh-CN" sz="2000" b="1" dirty="0" smtClean="0">
                <a:latin typeface="微软雅黑" panose="020B0503020204020204" pitchFamily="34" charset="-122"/>
                <a:ea typeface="微软雅黑" panose="020B0503020204020204" pitchFamily="34" charset="-122"/>
              </a:rPr>
              <a:t>2312 </a:t>
            </a:r>
            <a:r>
              <a:rPr lang="zh-CN" altLang="en-US" sz="2000" b="1" dirty="0">
                <a:latin typeface="微软雅黑" panose="020B0503020204020204" pitchFamily="34" charset="-122"/>
                <a:ea typeface="微软雅黑" panose="020B0503020204020204" pitchFamily="34" charset="-122"/>
              </a:rPr>
              <a:t>字节</a:t>
            </a:r>
            <a:r>
              <a:rPr lang="zh-CN" altLang="en-US" sz="2000" b="1" dirty="0" smtClean="0">
                <a:latin typeface="微软雅黑" panose="020B0503020204020204" pitchFamily="34" charset="-122"/>
                <a:ea typeface="微软雅黑" panose="020B0503020204020204" pitchFamily="34" charset="-122"/>
              </a:rPr>
              <a:t>。</a:t>
            </a:r>
            <a:r>
              <a:rPr lang="en-US" altLang="zh-CN" sz="2000" b="1" dirty="0" smtClean="0">
                <a:latin typeface="微软雅黑" panose="020B0503020204020204" pitchFamily="34" charset="-122"/>
                <a:ea typeface="微软雅黑" panose="020B0503020204020204" pitchFamily="34" charset="-122"/>
              </a:rPr>
              <a:t>802.11 </a:t>
            </a:r>
            <a:r>
              <a:rPr lang="zh-CN" altLang="en-US" sz="2000" b="1" dirty="0">
                <a:latin typeface="微软雅黑" panose="020B0503020204020204" pitchFamily="34" charset="-122"/>
                <a:ea typeface="微软雅黑" panose="020B0503020204020204" pitchFamily="34" charset="-122"/>
              </a:rPr>
              <a:t>帧的长度通常</a:t>
            </a:r>
            <a:r>
              <a:rPr lang="zh-CN" altLang="en-US" sz="2000" b="1" dirty="0" smtClean="0">
                <a:latin typeface="微软雅黑" panose="020B0503020204020204" pitchFamily="34" charset="-122"/>
                <a:ea typeface="微软雅黑" panose="020B0503020204020204" pitchFamily="34" charset="-122"/>
              </a:rPr>
              <a:t>都小于 </a:t>
            </a:r>
            <a:r>
              <a:rPr lang="en-US" altLang="zh-CN" sz="2000" b="1" dirty="0">
                <a:latin typeface="微软雅黑" panose="020B0503020204020204" pitchFamily="34" charset="-122"/>
                <a:ea typeface="微软雅黑" panose="020B0503020204020204" pitchFamily="34" charset="-122"/>
              </a:rPr>
              <a:t>1500 </a:t>
            </a:r>
            <a:r>
              <a:rPr lang="zh-CN" altLang="en-US" sz="2000" b="1" dirty="0">
                <a:latin typeface="微软雅黑" panose="020B0503020204020204" pitchFamily="34" charset="-122"/>
                <a:ea typeface="微软雅黑" panose="020B0503020204020204" pitchFamily="34" charset="-122"/>
              </a:rPr>
              <a:t>字节。</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帧检验序列 </a:t>
            </a:r>
            <a:r>
              <a:rPr lang="en-US" altLang="zh-CN" sz="2000" b="1" dirty="0" smtClean="0">
                <a:solidFill>
                  <a:srgbClr val="0000FF"/>
                </a:solidFill>
                <a:latin typeface="微软雅黑" panose="020B0503020204020204" pitchFamily="34" charset="-122"/>
                <a:ea typeface="微软雅黑" panose="020B0503020204020204" pitchFamily="34" charset="-122"/>
              </a:rPr>
              <a:t>FCS</a:t>
            </a:r>
            <a:r>
              <a:rPr lang="zh-CN" altLang="en-US" sz="2000" b="1" dirty="0" smtClean="0">
                <a:solidFill>
                  <a:srgbClr val="0000FF"/>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尾部</a:t>
            </a:r>
            <a:r>
              <a:rPr lang="zh-CN" altLang="en-US" sz="2000" b="1" dirty="0">
                <a:latin typeface="微软雅黑" panose="020B0503020204020204" pitchFamily="34" charset="-122"/>
                <a:ea typeface="微软雅黑" panose="020B0503020204020204" pitchFamily="34" charset="-122"/>
              </a:rPr>
              <a:t>，共 </a:t>
            </a:r>
            <a:r>
              <a:rPr lang="en-US" altLang="zh-CN" sz="2000" b="1" dirty="0">
                <a:latin typeface="微软雅黑" panose="020B0503020204020204" pitchFamily="34" charset="-122"/>
                <a:ea typeface="微软雅黑" panose="020B0503020204020204" pitchFamily="34" charset="-122"/>
              </a:rPr>
              <a:t>4 </a:t>
            </a:r>
            <a:r>
              <a:rPr lang="zh-CN" altLang="en-US" sz="2000" b="1" dirty="0">
                <a:latin typeface="微软雅黑" panose="020B0503020204020204" pitchFamily="34" charset="-122"/>
                <a:ea typeface="微软雅黑" panose="020B0503020204020204" pitchFamily="34" charset="-122"/>
              </a:rPr>
              <a:t>字节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7754"/>
            <a:ext cx="32576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802.11 </a:t>
            </a:r>
            <a:r>
              <a:rPr lang="zh-CN" altLang="en-US" sz="2000" b="1" dirty="0">
                <a:latin typeface="微软雅黑" panose="020B0503020204020204" pitchFamily="34" charset="-122"/>
                <a:ea typeface="微软雅黑" panose="020B0503020204020204" pitchFamily="34" charset="-122"/>
              </a:rPr>
              <a:t>数据帧的三大部分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70028"/>
            <a:ext cx="8270547" cy="477054"/>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数据帧有</a:t>
            </a:r>
            <a:r>
              <a:rPr lang="zh-CN" altLang="en-US" sz="2000" b="1" dirty="0">
                <a:solidFill>
                  <a:srgbClr val="C00000"/>
                </a:solidFill>
                <a:latin typeface="微软雅黑" panose="020B0503020204020204" pitchFamily="34" charset="-122"/>
                <a:ea typeface="微软雅黑" panose="020B0503020204020204" pitchFamily="34" charset="-122"/>
              </a:rPr>
              <a:t>四个</a:t>
            </a:r>
            <a:r>
              <a:rPr lang="zh-CN" altLang="en-US" sz="2000" b="1" dirty="0">
                <a:latin typeface="微软雅黑" panose="020B0503020204020204" pitchFamily="34" charset="-122"/>
                <a:ea typeface="微软雅黑" panose="020B0503020204020204" pitchFamily="34" charset="-122"/>
              </a:rPr>
              <a:t>地址字段</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7" name="Group 179"/>
          <p:cNvGraphicFramePr/>
          <p:nvPr/>
        </p:nvGraphicFramePr>
        <p:xfrm>
          <a:off x="515825" y="1495697"/>
          <a:ext cx="8121600" cy="1080000"/>
        </p:xfrm>
        <a:graphic>
          <a:graphicData uri="http://schemas.openxmlformats.org/drawingml/2006/table">
            <a:tbl>
              <a:tblPr/>
              <a:tblGrid>
                <a:gridCol w="1353600"/>
                <a:gridCol w="1353600"/>
                <a:gridCol w="1353600"/>
                <a:gridCol w="1353600"/>
                <a:gridCol w="1353600"/>
                <a:gridCol w="1353600"/>
              </a:tblGrid>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去往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AP</a:t>
                      </a:r>
                      <a:endPar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来自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AP</a:t>
                      </a:r>
                      <a:endPar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1</a:t>
                      </a:r>
                      <a:endPar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2</a:t>
                      </a:r>
                      <a:endPar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3</a:t>
                      </a:r>
                      <a:endPar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4</a:t>
                      </a:r>
                      <a:endPar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r>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zh-CN" altLang="en-US" sz="1400" b="1" i="0" u="none" strike="noStrike" cap="none" normalizeH="0" baseline="0" dirty="0" smtClean="0">
                          <a:ln>
                            <a:noFill/>
                          </a:ln>
                          <a:solidFill>
                            <a:srgbClr val="0000CC"/>
                          </a:solidFill>
                          <a:effectLst/>
                          <a:latin typeface="微软雅黑" panose="020B0503020204020204" pitchFamily="34" charset="-122"/>
                          <a:ea typeface="微软雅黑" panose="020B0503020204020204" pitchFamily="34" charset="-122"/>
                        </a:rPr>
                        <a:t>接收地址</a:t>
                      </a:r>
                      <a:endParaRPr kumimoji="0" lang="zh-CN" altLang="en-US" sz="1400" b="1" i="0" u="none" strike="noStrike" cap="none" normalizeH="0" baseline="0" dirty="0" smtClean="0">
                        <a:ln>
                          <a:noFill/>
                        </a:ln>
                        <a:solidFill>
                          <a:srgbClr val="0000CC"/>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zh-CN" altLang="en-US" sz="1400" b="1" i="0" u="none" strike="noStrike" cap="none" normalizeH="0" baseline="0" dirty="0" smtClean="0">
                          <a:ln>
                            <a:noFill/>
                          </a:ln>
                          <a:solidFill>
                            <a:srgbClr val="0000CC"/>
                          </a:solidFill>
                          <a:effectLst/>
                          <a:latin typeface="微软雅黑" panose="020B0503020204020204" pitchFamily="34" charset="-122"/>
                          <a:ea typeface="微软雅黑" panose="020B0503020204020204" pitchFamily="34" charset="-122"/>
                        </a:rPr>
                        <a:t>发送地址</a:t>
                      </a:r>
                      <a:endParaRPr kumimoji="0" lang="zh-CN" altLang="en-US" sz="1400" b="1" i="0" u="none" strike="noStrike" cap="none" normalizeH="0" baseline="0" dirty="0" smtClean="0">
                        <a:ln>
                          <a:noFill/>
                        </a:ln>
                        <a:solidFill>
                          <a:srgbClr val="0000CC"/>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781618" y="582887"/>
            <a:ext cx="35670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关于 </a:t>
            </a:r>
            <a:r>
              <a:rPr lang="en-US" altLang="zh-CN" sz="2000" b="1" dirty="0">
                <a:solidFill>
                  <a:schemeClr val="bg1"/>
                </a:solidFill>
                <a:latin typeface="微软雅黑" panose="020B0503020204020204" pitchFamily="34" charset="-122"/>
                <a:ea typeface="微软雅黑" panose="020B0503020204020204" pitchFamily="34" charset="-122"/>
              </a:rPr>
              <a:t>802.11 </a:t>
            </a:r>
            <a:r>
              <a:rPr lang="zh-CN" altLang="en-US" sz="2000" b="1" dirty="0">
                <a:solidFill>
                  <a:schemeClr val="bg1"/>
                </a:solidFill>
                <a:latin typeface="微软雅黑" panose="020B0503020204020204" pitchFamily="34" charset="-122"/>
                <a:ea typeface="微软雅黑" panose="020B0503020204020204" pitchFamily="34" charset="-122"/>
              </a:rPr>
              <a:t>数据帧的地址</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矩形 4"/>
          <p:cNvSpPr/>
          <p:nvPr/>
        </p:nvSpPr>
        <p:spPr>
          <a:xfrm>
            <a:off x="514874" y="2575697"/>
            <a:ext cx="8276503" cy="1528624"/>
          </a:xfrm>
          <a:prstGeom prst="rect">
            <a:avLst/>
          </a:prstGeom>
        </p:spPr>
        <p:txBody>
          <a:bodyPr wrap="square">
            <a:spAutoFit/>
          </a:bodyPr>
          <a:lstStyle/>
          <a:p>
            <a:pPr>
              <a:lnSpc>
                <a:spcPts val="2800"/>
              </a:lnSpc>
            </a:pPr>
            <a:r>
              <a:rPr lang="zh-CN" altLang="zh-CN" b="1" dirty="0" smtClean="0">
                <a:latin typeface="微软雅黑" panose="020B0503020204020204" pitchFamily="34" charset="-122"/>
                <a:ea typeface="微软雅黑" panose="020B0503020204020204" pitchFamily="34" charset="-122"/>
              </a:rPr>
              <a:t>地址</a:t>
            </a:r>
            <a:r>
              <a:rPr lang="en-US" altLang="zh-CN" b="1" dirty="0" smtClean="0">
                <a:latin typeface="微软雅黑" panose="020B0503020204020204" pitchFamily="34" charset="-122"/>
                <a:ea typeface="微软雅黑" panose="020B0503020204020204" pitchFamily="34" charset="-122"/>
              </a:rPr>
              <a:t> 1 </a:t>
            </a:r>
            <a:r>
              <a:rPr lang="zh-CN" altLang="zh-CN" b="1" dirty="0" smtClean="0">
                <a:latin typeface="微软雅黑" panose="020B0503020204020204" pitchFamily="34" charset="-122"/>
                <a:ea typeface="微软雅黑" panose="020B0503020204020204" pitchFamily="34" charset="-122"/>
              </a:rPr>
              <a:t>永远</a:t>
            </a:r>
            <a:r>
              <a:rPr lang="zh-CN" altLang="zh-CN" b="1" dirty="0">
                <a:latin typeface="微软雅黑" panose="020B0503020204020204" pitchFamily="34" charset="-122"/>
                <a:ea typeface="微软雅黑" panose="020B0503020204020204" pitchFamily="34" charset="-122"/>
              </a:rPr>
              <a:t>是接收地址（即直接接收数据帧的节点地址）。</a:t>
            </a:r>
            <a:endParaRPr lang="zh-CN" altLang="zh-CN" b="1" dirty="0">
              <a:latin typeface="微软雅黑" panose="020B0503020204020204" pitchFamily="34" charset="-122"/>
              <a:ea typeface="微软雅黑" panose="020B0503020204020204" pitchFamily="34" charset="-122"/>
            </a:endParaRPr>
          </a:p>
          <a:p>
            <a:pPr>
              <a:lnSpc>
                <a:spcPts val="2800"/>
              </a:lnSpc>
            </a:pPr>
            <a:r>
              <a:rPr lang="zh-CN" altLang="zh-CN" b="1" dirty="0" smtClean="0">
                <a:latin typeface="微软雅黑" panose="020B0503020204020204" pitchFamily="34" charset="-122"/>
                <a:ea typeface="微软雅黑" panose="020B0503020204020204" pitchFamily="34" charset="-122"/>
              </a:rPr>
              <a:t>地址</a:t>
            </a:r>
            <a:r>
              <a:rPr lang="en-US" altLang="zh-CN" b="1" dirty="0" smtClean="0">
                <a:latin typeface="微软雅黑" panose="020B0503020204020204" pitchFamily="34" charset="-122"/>
                <a:ea typeface="微软雅黑" panose="020B0503020204020204" pitchFamily="34" charset="-122"/>
              </a:rPr>
              <a:t> 2 </a:t>
            </a:r>
            <a:r>
              <a:rPr lang="zh-CN" altLang="zh-CN" b="1" dirty="0" smtClean="0">
                <a:latin typeface="微软雅黑" panose="020B0503020204020204" pitchFamily="34" charset="-122"/>
                <a:ea typeface="微软雅黑" panose="020B0503020204020204" pitchFamily="34" charset="-122"/>
              </a:rPr>
              <a:t>永远</a:t>
            </a:r>
            <a:r>
              <a:rPr lang="zh-CN" altLang="zh-CN" b="1" dirty="0">
                <a:latin typeface="微软雅黑" panose="020B0503020204020204" pitchFamily="34" charset="-122"/>
                <a:ea typeface="微软雅黑" panose="020B0503020204020204" pitchFamily="34" charset="-122"/>
              </a:rPr>
              <a:t>是发送地址（即实际发送数据帧的节点地址）。</a:t>
            </a:r>
            <a:endParaRPr lang="zh-CN" altLang="zh-CN" b="1" dirty="0">
              <a:latin typeface="微软雅黑" panose="020B0503020204020204" pitchFamily="34" charset="-122"/>
              <a:ea typeface="微软雅黑" panose="020B0503020204020204" pitchFamily="34" charset="-122"/>
            </a:endParaRPr>
          </a:p>
          <a:p>
            <a:pPr>
              <a:lnSpc>
                <a:spcPts val="2800"/>
              </a:lnSpc>
            </a:pPr>
            <a:r>
              <a:rPr lang="zh-CN" altLang="zh-CN" b="1" dirty="0" smtClean="0">
                <a:latin typeface="微软雅黑" panose="020B0503020204020204" pitchFamily="34" charset="-122"/>
                <a:ea typeface="微软雅黑" panose="020B0503020204020204" pitchFamily="34" charset="-122"/>
              </a:rPr>
              <a:t>地址</a:t>
            </a:r>
            <a:r>
              <a:rPr lang="en-US" altLang="zh-CN" b="1" dirty="0" smtClean="0">
                <a:latin typeface="微软雅黑" panose="020B0503020204020204" pitchFamily="34" charset="-122"/>
                <a:ea typeface="微软雅黑" panose="020B0503020204020204" pitchFamily="34" charset="-122"/>
              </a:rPr>
              <a:t> 3 </a:t>
            </a:r>
            <a:r>
              <a:rPr lang="zh-CN" altLang="zh-CN" b="1" dirty="0" smtClean="0">
                <a:latin typeface="微软雅黑" panose="020B0503020204020204" pitchFamily="34" charset="-122"/>
                <a:ea typeface="微软雅黑" panose="020B0503020204020204" pitchFamily="34" charset="-122"/>
              </a:rPr>
              <a:t>和地址</a:t>
            </a:r>
            <a:r>
              <a:rPr lang="en-US" altLang="zh-CN" b="1" dirty="0" smtClean="0">
                <a:latin typeface="微软雅黑" panose="020B0503020204020204" pitchFamily="34" charset="-122"/>
                <a:ea typeface="微软雅黑" panose="020B0503020204020204" pitchFamily="34" charset="-122"/>
              </a:rPr>
              <a:t> 4 </a:t>
            </a:r>
            <a:r>
              <a:rPr lang="zh-CN" altLang="zh-CN" b="1" dirty="0" smtClean="0">
                <a:solidFill>
                  <a:srgbClr val="C00000"/>
                </a:solidFill>
                <a:latin typeface="微软雅黑" panose="020B0503020204020204" pitchFamily="34" charset="-122"/>
                <a:ea typeface="微软雅黑" panose="020B0503020204020204" pitchFamily="34" charset="-122"/>
              </a:rPr>
              <a:t>取决于</a:t>
            </a:r>
            <a:r>
              <a:rPr lang="zh-CN" altLang="zh-CN" b="1" dirty="0">
                <a:latin typeface="微软雅黑" panose="020B0503020204020204" pitchFamily="34" charset="-122"/>
                <a:ea typeface="微软雅黑" panose="020B0503020204020204" pitchFamily="34" charset="-122"/>
              </a:rPr>
              <a:t>数据帧中的“来自</a:t>
            </a:r>
            <a:r>
              <a:rPr lang="en-US" altLang="zh-CN" b="1" dirty="0">
                <a:latin typeface="微软雅黑" panose="020B0503020204020204" pitchFamily="34" charset="-122"/>
                <a:ea typeface="微软雅黑" panose="020B0503020204020204" pitchFamily="34" charset="-122"/>
              </a:rPr>
              <a:t>AP</a:t>
            </a:r>
            <a:r>
              <a:rPr lang="zh-CN" altLang="zh-CN" b="1" dirty="0">
                <a:latin typeface="微软雅黑" panose="020B0503020204020204" pitchFamily="34" charset="-122"/>
                <a:ea typeface="微软雅黑" panose="020B0503020204020204" pitchFamily="34" charset="-122"/>
              </a:rPr>
              <a:t>”和“去往</a:t>
            </a:r>
            <a:r>
              <a:rPr lang="en-US" altLang="zh-CN" b="1" dirty="0">
                <a:latin typeface="微软雅黑" panose="020B0503020204020204" pitchFamily="34" charset="-122"/>
                <a:ea typeface="微软雅黑" panose="020B0503020204020204" pitchFamily="34" charset="-122"/>
              </a:rPr>
              <a:t>AP</a:t>
            </a:r>
            <a:r>
              <a:rPr lang="zh-CN" altLang="zh-CN" b="1" dirty="0">
                <a:latin typeface="微软雅黑" panose="020B0503020204020204" pitchFamily="34" charset="-122"/>
                <a:ea typeface="微软雅黑" panose="020B0503020204020204" pitchFamily="34" charset="-122"/>
              </a:rPr>
              <a:t>”这两个字段的数值。</a:t>
            </a:r>
            <a:endParaRPr lang="zh-CN" altLang="zh-CN" b="1" dirty="0">
              <a:latin typeface="微软雅黑" panose="020B0503020204020204" pitchFamily="34" charset="-122"/>
              <a:ea typeface="微软雅黑" panose="020B0503020204020204" pitchFamily="34" charset="-122"/>
            </a:endParaRPr>
          </a:p>
          <a:p>
            <a:pPr>
              <a:lnSpc>
                <a:spcPts val="2800"/>
              </a:lnSpc>
            </a:pPr>
            <a:r>
              <a:rPr lang="zh-CN" altLang="en-US" b="1" dirty="0" smtClean="0">
                <a:solidFill>
                  <a:srgbClr val="C00000"/>
                </a:solidFill>
                <a:latin typeface="微软雅黑" panose="020B0503020204020204" pitchFamily="34" charset="-122"/>
                <a:ea typeface="微软雅黑" panose="020B0503020204020204" pitchFamily="34" charset="-122"/>
              </a:rPr>
              <a:t>注意：</a:t>
            </a:r>
            <a:r>
              <a:rPr lang="zh-CN" altLang="zh-CN" b="1" dirty="0" smtClean="0">
                <a:latin typeface="微软雅黑" panose="020B0503020204020204" pitchFamily="34" charset="-122"/>
                <a:ea typeface="微软雅黑" panose="020B0503020204020204" pitchFamily="34" charset="-122"/>
              </a:rPr>
              <a:t>上述</a:t>
            </a:r>
            <a:r>
              <a:rPr lang="zh-CN" altLang="zh-CN" b="1" dirty="0">
                <a:latin typeface="微软雅黑" panose="020B0503020204020204" pitchFamily="34" charset="-122"/>
                <a:ea typeface="微软雅黑" panose="020B0503020204020204" pitchFamily="34" charset="-122"/>
              </a:rPr>
              <a:t>地址</a:t>
            </a:r>
            <a:r>
              <a:rPr lang="zh-CN" altLang="zh-CN" b="1" dirty="0" smtClean="0">
                <a:latin typeface="微软雅黑" panose="020B0503020204020204" pitchFamily="34" charset="-122"/>
                <a:ea typeface="微软雅黑" panose="020B0503020204020204" pitchFamily="34" charset="-122"/>
              </a:rPr>
              <a:t>都是</a:t>
            </a:r>
            <a:r>
              <a:rPr lang="en-US" altLang="zh-CN" b="1" dirty="0" smtClean="0">
                <a:latin typeface="微软雅黑" panose="020B0503020204020204" pitchFamily="34" charset="-122"/>
                <a:ea typeface="微软雅黑" panose="020B0503020204020204" pitchFamily="34" charset="-122"/>
              </a:rPr>
              <a:t> MAC </a:t>
            </a:r>
            <a:r>
              <a:rPr lang="zh-CN" altLang="zh-CN" b="1" dirty="0" smtClean="0">
                <a:latin typeface="微软雅黑" panose="020B0503020204020204" pitchFamily="34" charset="-122"/>
                <a:ea typeface="微软雅黑" panose="020B0503020204020204" pitchFamily="34" charset="-122"/>
              </a:rPr>
              <a:t>地址</a:t>
            </a:r>
            <a:r>
              <a:rPr lang="zh-CN" altLang="zh-CN" b="1" dirty="0">
                <a:latin typeface="微软雅黑" panose="020B0503020204020204" pitchFamily="34" charset="-122"/>
                <a:ea typeface="微软雅黑" panose="020B0503020204020204" pitchFamily="34" charset="-122"/>
              </a:rPr>
              <a:t>，即硬件</a:t>
            </a:r>
            <a:r>
              <a:rPr lang="zh-CN" altLang="zh-CN" b="1" dirty="0" smtClean="0">
                <a:latin typeface="微软雅黑" panose="020B0503020204020204" pitchFamily="34" charset="-122"/>
                <a:ea typeface="微软雅黑" panose="020B0503020204020204" pitchFamily="34" charset="-122"/>
              </a:rPr>
              <a:t>地址，而</a:t>
            </a:r>
            <a:r>
              <a:rPr lang="en-US" altLang="zh-CN" b="1" dirty="0" smtClean="0">
                <a:latin typeface="微软雅黑" panose="020B0503020204020204" pitchFamily="34" charset="-122"/>
                <a:ea typeface="微软雅黑" panose="020B0503020204020204" pitchFamily="34" charset="-122"/>
              </a:rPr>
              <a:t> </a:t>
            </a:r>
            <a:r>
              <a:rPr lang="en-US" altLang="zh-CN" b="1" dirty="0" smtClean="0">
                <a:solidFill>
                  <a:srgbClr val="0000CC"/>
                </a:solidFill>
                <a:latin typeface="微软雅黑" panose="020B0503020204020204" pitchFamily="34" charset="-122"/>
                <a:ea typeface="微软雅黑" panose="020B0503020204020204" pitchFamily="34" charset="-122"/>
              </a:rPr>
              <a:t>AP </a:t>
            </a:r>
            <a:r>
              <a:rPr lang="zh-CN" altLang="zh-CN" b="1" dirty="0" smtClean="0">
                <a:solidFill>
                  <a:srgbClr val="0000CC"/>
                </a:solidFill>
                <a:latin typeface="微软雅黑" panose="020B0503020204020204" pitchFamily="34" charset="-122"/>
                <a:ea typeface="微软雅黑" panose="020B0503020204020204" pitchFamily="34" charset="-122"/>
              </a:rPr>
              <a:t>的</a:t>
            </a:r>
            <a:r>
              <a:rPr lang="en-US" altLang="zh-CN" b="1" dirty="0" smtClean="0">
                <a:solidFill>
                  <a:srgbClr val="0000CC"/>
                </a:solidFill>
                <a:latin typeface="微软雅黑" panose="020B0503020204020204" pitchFamily="34" charset="-122"/>
                <a:ea typeface="微软雅黑" panose="020B0503020204020204" pitchFamily="34" charset="-122"/>
              </a:rPr>
              <a:t> MAC </a:t>
            </a:r>
            <a:r>
              <a:rPr lang="zh-CN" altLang="zh-CN" b="1" dirty="0" smtClean="0">
                <a:solidFill>
                  <a:srgbClr val="0000CC"/>
                </a:solidFill>
                <a:latin typeface="微软雅黑" panose="020B0503020204020204" pitchFamily="34" charset="-122"/>
                <a:ea typeface="微软雅黑" panose="020B0503020204020204" pitchFamily="34" charset="-122"/>
              </a:rPr>
              <a:t>地址是</a:t>
            </a:r>
            <a:r>
              <a:rPr lang="en-US" altLang="zh-CN" b="1" dirty="0" smtClean="0">
                <a:solidFill>
                  <a:srgbClr val="0000CC"/>
                </a:solidFill>
                <a:latin typeface="微软雅黑" panose="020B0503020204020204" pitchFamily="34" charset="-122"/>
                <a:ea typeface="微软雅黑" panose="020B0503020204020204" pitchFamily="34" charset="-122"/>
              </a:rPr>
              <a:t> BSSID</a:t>
            </a:r>
            <a:r>
              <a:rPr lang="zh-CN" altLang="zh-CN"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3"/>
            <a:ext cx="8128800" cy="23409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9" y="1017564"/>
            <a:ext cx="5784860" cy="338554"/>
          </a:xfrm>
          <a:prstGeom prst="rect">
            <a:avLst/>
          </a:prstGeom>
          <a:noFill/>
          <a:ln>
            <a:noFill/>
          </a:ln>
        </p:spPr>
        <p:txBody>
          <a:bodyPr wrap="square">
            <a:spAutoFit/>
          </a:bodyPr>
          <a:lstStyle/>
          <a:p>
            <a:pPr algn="ctr"/>
            <a:r>
              <a:rPr lang="zh-CN" altLang="en-US" sz="1600" b="1" dirty="0">
                <a:solidFill>
                  <a:srgbClr val="0000CC"/>
                </a:solidFill>
                <a:latin typeface="微软雅黑" panose="020B0503020204020204" pitchFamily="34" charset="-122"/>
                <a:ea typeface="微软雅黑" panose="020B0503020204020204" pitchFamily="34" charset="-122"/>
              </a:rPr>
              <a:t>站点 </a:t>
            </a:r>
            <a:r>
              <a:rPr lang="en-US" altLang="zh-CN" sz="1600" b="1" dirty="0">
                <a:solidFill>
                  <a:srgbClr val="0000CC"/>
                </a:solidFill>
                <a:latin typeface="微软雅黑" panose="020B0503020204020204" pitchFamily="34" charset="-122"/>
                <a:ea typeface="微软雅黑" panose="020B0503020204020204" pitchFamily="34" charset="-122"/>
              </a:rPr>
              <a:t>A </a:t>
            </a:r>
            <a:r>
              <a:rPr lang="zh-CN" altLang="en-US" sz="1600" b="1" dirty="0">
                <a:solidFill>
                  <a:srgbClr val="0000CC"/>
                </a:solidFill>
                <a:latin typeface="微软雅黑" panose="020B0503020204020204" pitchFamily="34" charset="-122"/>
                <a:ea typeface="微软雅黑" panose="020B0503020204020204" pitchFamily="34" charset="-122"/>
              </a:rPr>
              <a:t>向 </a:t>
            </a:r>
            <a:r>
              <a:rPr lang="en-US" altLang="zh-CN" sz="1600" b="1" dirty="0">
                <a:solidFill>
                  <a:srgbClr val="0000CC"/>
                </a:solidFill>
                <a:latin typeface="微软雅黑" panose="020B0503020204020204" pitchFamily="34" charset="-122"/>
                <a:ea typeface="微软雅黑" panose="020B0503020204020204" pitchFamily="34" charset="-122"/>
              </a:rPr>
              <a:t>B </a:t>
            </a:r>
            <a:r>
              <a:rPr lang="zh-CN" altLang="en-US" sz="1600" b="1" dirty="0">
                <a:solidFill>
                  <a:srgbClr val="0000CC"/>
                </a:solidFill>
                <a:latin typeface="微软雅黑" panose="020B0503020204020204" pitchFamily="34" charset="-122"/>
                <a:ea typeface="微软雅黑" panose="020B0503020204020204" pitchFamily="34" charset="-122"/>
              </a:rPr>
              <a:t>发送</a:t>
            </a:r>
            <a:r>
              <a:rPr lang="zh-CN" altLang="en-US" sz="1600" b="1" dirty="0" smtClean="0">
                <a:solidFill>
                  <a:srgbClr val="0000CC"/>
                </a:solidFill>
                <a:latin typeface="微软雅黑" panose="020B0503020204020204" pitchFamily="34" charset="-122"/>
                <a:ea typeface="微软雅黑" panose="020B0503020204020204" pitchFamily="34" charset="-122"/>
              </a:rPr>
              <a:t>数据帧，数据帧</a:t>
            </a:r>
            <a:r>
              <a:rPr lang="zh-CN" altLang="en-US" sz="1600" b="1" dirty="0">
                <a:solidFill>
                  <a:srgbClr val="0000CC"/>
                </a:solidFill>
                <a:latin typeface="微软雅黑" panose="020B0503020204020204" pitchFamily="34" charset="-122"/>
                <a:ea typeface="微软雅黑" panose="020B0503020204020204" pitchFamily="34" charset="-122"/>
              </a:rPr>
              <a:t>必须经过 </a:t>
            </a:r>
            <a:r>
              <a:rPr lang="en-US" altLang="zh-CN" sz="1600" b="1" dirty="0" smtClean="0">
                <a:solidFill>
                  <a:srgbClr val="0000CC"/>
                </a:solidFill>
                <a:latin typeface="微软雅黑" panose="020B0503020204020204" pitchFamily="34" charset="-122"/>
                <a:ea typeface="微软雅黑" panose="020B0503020204020204" pitchFamily="34" charset="-122"/>
              </a:rPr>
              <a:t>AP</a:t>
            </a:r>
            <a:r>
              <a:rPr lang="en-US" altLang="zh-CN" sz="1600" b="1" baseline="-25000" dirty="0" smtClean="0">
                <a:solidFill>
                  <a:srgbClr val="0000CC"/>
                </a:solidFill>
                <a:latin typeface="微软雅黑" panose="020B0503020204020204" pitchFamily="34" charset="-122"/>
                <a:ea typeface="微软雅黑" panose="020B0503020204020204" pitchFamily="34" charset="-122"/>
              </a:rPr>
              <a:t>1</a:t>
            </a:r>
            <a:r>
              <a:rPr lang="en-US" altLang="zh-CN" sz="1600" b="1" dirty="0" smtClean="0">
                <a:solidFill>
                  <a:srgbClr val="0000CC"/>
                </a:solidFill>
                <a:latin typeface="微软雅黑" panose="020B0503020204020204" pitchFamily="34" charset="-122"/>
                <a:ea typeface="微软雅黑" panose="020B0503020204020204" pitchFamily="34" charset="-122"/>
              </a:rPr>
              <a:t> </a:t>
            </a:r>
            <a:r>
              <a:rPr lang="zh-CN" altLang="en-US" sz="1600" b="1" dirty="0" smtClean="0">
                <a:solidFill>
                  <a:srgbClr val="0000CC"/>
                </a:solidFill>
                <a:latin typeface="微软雅黑" panose="020B0503020204020204" pitchFamily="34" charset="-122"/>
                <a:ea typeface="微软雅黑" panose="020B0503020204020204" pitchFamily="34" charset="-122"/>
              </a:rPr>
              <a:t>转发。</a:t>
            </a:r>
            <a:endParaRPr lang="zh-CN" altLang="en-US" sz="1600" b="1" dirty="0">
              <a:solidFill>
                <a:srgbClr val="0000CC"/>
              </a:solidFill>
              <a:latin typeface="微软雅黑" panose="020B0503020204020204" pitchFamily="34" charset="-122"/>
              <a:ea typeface="微软雅黑" panose="020B0503020204020204" pitchFamily="34" charset="-122"/>
            </a:endParaRPr>
          </a:p>
        </p:txBody>
      </p:sp>
      <p:sp>
        <p:nvSpPr>
          <p:cNvPr id="61" name="Oval 132"/>
          <p:cNvSpPr>
            <a:spLocks noChangeArrowheads="1"/>
          </p:cNvSpPr>
          <p:nvPr/>
        </p:nvSpPr>
        <p:spPr bwMode="auto">
          <a:xfrm>
            <a:off x="1108890" y="1904583"/>
            <a:ext cx="1777953" cy="1040299"/>
          </a:xfrm>
          <a:prstGeom prst="ellipse">
            <a:avLst/>
          </a:prstGeom>
          <a:solidFill>
            <a:schemeClr val="bg1"/>
          </a:solidFill>
          <a:ln w="6350">
            <a:solidFill>
              <a:schemeClr val="tx1"/>
            </a:solidFill>
            <a:prstDash val="dash"/>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 name="Line 76"/>
          <p:cNvSpPr>
            <a:spLocks noChangeShapeType="1"/>
          </p:cNvSpPr>
          <p:nvPr/>
        </p:nvSpPr>
        <p:spPr bwMode="auto">
          <a:xfrm>
            <a:off x="3574268" y="2152377"/>
            <a:ext cx="56864" cy="39625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77"/>
          <p:cNvSpPr>
            <a:spLocks noChangeArrowheads="1"/>
          </p:cNvSpPr>
          <p:nvPr/>
        </p:nvSpPr>
        <p:spPr bwMode="auto">
          <a:xfrm>
            <a:off x="4376684" y="1379819"/>
            <a:ext cx="3668372" cy="1744812"/>
          </a:xfrm>
          <a:prstGeom prst="ellipse">
            <a:avLst/>
          </a:prstGeom>
          <a:solidFill>
            <a:schemeClr val="bg1"/>
          </a:solidFill>
          <a:ln w="6350">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7" name="Picture 78" descr="D-Link%20DI-713P%20Wireless%20Broadband%20router"/>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725633" y="1800326"/>
            <a:ext cx="596442" cy="429001"/>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79"/>
          <p:cNvSpPr txBox="1">
            <a:spLocks noChangeArrowheads="1"/>
          </p:cNvSpPr>
          <p:nvPr/>
        </p:nvSpPr>
        <p:spPr bwMode="auto">
          <a:xfrm>
            <a:off x="5015028" y="1725340"/>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endParaRPr kumimoji="1" lang="en-US" altLang="zh-CN" sz="1200" b="1" baseline="-25000" dirty="0">
              <a:solidFill>
                <a:srgbClr val="9900CC"/>
              </a:solidFill>
              <a:latin typeface="微软雅黑" panose="020B0503020204020204" pitchFamily="34" charset="-122"/>
              <a:ea typeface="微软雅黑" panose="020B0503020204020204" pitchFamily="34" charset="-122"/>
            </a:endParaRPr>
          </a:p>
        </p:txBody>
      </p:sp>
      <p:sp>
        <p:nvSpPr>
          <p:cNvPr id="47" name="Text Box 118"/>
          <p:cNvSpPr txBox="1">
            <a:spLocks noChangeArrowheads="1"/>
          </p:cNvSpPr>
          <p:nvPr/>
        </p:nvSpPr>
        <p:spPr bwMode="auto">
          <a:xfrm>
            <a:off x="6268365" y="1508330"/>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48" name="Text Box 119"/>
          <p:cNvSpPr txBox="1">
            <a:spLocks noChangeArrowheads="1"/>
          </p:cNvSpPr>
          <p:nvPr/>
        </p:nvSpPr>
        <p:spPr bwMode="auto">
          <a:xfrm>
            <a:off x="7610361" y="184428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A</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9" name="Text Box 120"/>
          <p:cNvSpPr txBox="1">
            <a:spLocks noChangeArrowheads="1"/>
          </p:cNvSpPr>
          <p:nvPr/>
        </p:nvSpPr>
        <p:spPr bwMode="auto">
          <a:xfrm>
            <a:off x="7058211" y="2574273"/>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B</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50" name="Line 121"/>
          <p:cNvSpPr>
            <a:spLocks noChangeShapeType="1"/>
          </p:cNvSpPr>
          <p:nvPr/>
        </p:nvSpPr>
        <p:spPr bwMode="auto">
          <a:xfrm flipH="1">
            <a:off x="5294092" y="1961346"/>
            <a:ext cx="2087978" cy="17465"/>
          </a:xfrm>
          <a:prstGeom prst="line">
            <a:avLst/>
          </a:prstGeom>
          <a:noFill/>
          <a:ln w="28575">
            <a:solidFill>
              <a:srgbClr val="0066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Rectangle 122"/>
          <p:cNvSpPr>
            <a:spLocks noChangeArrowheads="1"/>
          </p:cNvSpPr>
          <p:nvPr/>
        </p:nvSpPr>
        <p:spPr bwMode="auto">
          <a:xfrm>
            <a:off x="6039645" y="1805247"/>
            <a:ext cx="859280" cy="347130"/>
          </a:xfrm>
          <a:prstGeom prst="rect">
            <a:avLst/>
          </a:prstGeom>
          <a:solidFill>
            <a:srgbClr val="0070C0"/>
          </a:solidFill>
          <a:ln w="6350">
            <a:solidFill>
              <a:schemeClr val="tx1"/>
            </a:solidFill>
            <a:miter lim="800000"/>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1</a:t>
            </a:r>
            <a:endParaRPr lang="en-US" altLang="zh-CN" sz="1100" b="1" dirty="0">
              <a:solidFill>
                <a:schemeClr val="bg1"/>
              </a:solidFill>
              <a:latin typeface="微软雅黑" panose="020B0503020204020204" pitchFamily="34" charset="-122"/>
              <a:ea typeface="微软雅黑" panose="020B0503020204020204" pitchFamily="34" charset="-122"/>
            </a:endParaRP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0</a:t>
            </a:r>
            <a:endParaRPr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52" name="Line 123"/>
          <p:cNvSpPr>
            <a:spLocks noChangeShapeType="1"/>
          </p:cNvSpPr>
          <p:nvPr/>
        </p:nvSpPr>
        <p:spPr bwMode="auto">
          <a:xfrm flipV="1">
            <a:off x="3689259" y="2054132"/>
            <a:ext cx="1088001" cy="49123"/>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 name="Line 124"/>
          <p:cNvSpPr>
            <a:spLocks noChangeShapeType="1"/>
          </p:cNvSpPr>
          <p:nvPr/>
        </p:nvSpPr>
        <p:spPr bwMode="auto">
          <a:xfrm>
            <a:off x="5122236" y="2152377"/>
            <a:ext cx="1719826" cy="544711"/>
          </a:xfrm>
          <a:prstGeom prst="line">
            <a:avLst/>
          </a:prstGeom>
          <a:noFill/>
          <a:ln w="28575">
            <a:solidFill>
              <a:srgbClr val="0066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4" name="Rectangle 125"/>
          <p:cNvSpPr>
            <a:spLocks noChangeArrowheads="1"/>
          </p:cNvSpPr>
          <p:nvPr/>
        </p:nvSpPr>
        <p:spPr bwMode="auto">
          <a:xfrm rot="1192993">
            <a:off x="5580940" y="2251713"/>
            <a:ext cx="859280" cy="347130"/>
          </a:xfrm>
          <a:prstGeom prst="rect">
            <a:avLst/>
          </a:prstGeom>
          <a:solidFill>
            <a:srgbClr val="0070C0"/>
          </a:solidFill>
          <a:ln w="6350">
            <a:solidFill>
              <a:schemeClr val="tx1"/>
            </a:solidFill>
            <a:miter lim="800000"/>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0</a:t>
            </a:r>
            <a:endParaRPr lang="en-US" altLang="zh-CN" sz="1100" b="1" dirty="0">
              <a:solidFill>
                <a:schemeClr val="bg1"/>
              </a:solidFill>
              <a:latin typeface="微软雅黑" panose="020B0503020204020204" pitchFamily="34" charset="-122"/>
              <a:ea typeface="微软雅黑" panose="020B0503020204020204" pitchFamily="34" charset="-122"/>
            </a:endParaRP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1</a:t>
            </a:r>
            <a:endParaRPr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55" name="Line 126"/>
          <p:cNvSpPr>
            <a:spLocks noChangeShapeType="1"/>
          </p:cNvSpPr>
          <p:nvPr/>
        </p:nvSpPr>
        <p:spPr bwMode="auto">
          <a:xfrm flipV="1">
            <a:off x="2543131" y="2103255"/>
            <a:ext cx="916144" cy="198672"/>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56" name="Picture 127" descr="D-Link%20DI-713P%20Wireless%20Broadband%20router"/>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969435" y="2054132"/>
            <a:ext cx="596442" cy="429001"/>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13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45547" y="2003918"/>
            <a:ext cx="477659" cy="187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0" name="Text Box 131"/>
          <p:cNvSpPr txBox="1">
            <a:spLocks noChangeArrowheads="1"/>
          </p:cNvSpPr>
          <p:nvPr/>
        </p:nvSpPr>
        <p:spPr bwMode="auto">
          <a:xfrm>
            <a:off x="3402411" y="1805246"/>
            <a:ext cx="292350"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R</a:t>
            </a:r>
            <a:endParaRPr kumimoji="1" lang="en-US" altLang="zh-CN" sz="1100" b="1" baseline="-25000">
              <a:latin typeface="微软雅黑" panose="020B0503020204020204" pitchFamily="34" charset="-122"/>
              <a:ea typeface="微软雅黑" panose="020B0503020204020204" pitchFamily="34" charset="-122"/>
            </a:endParaRPr>
          </a:p>
        </p:txBody>
      </p:sp>
      <p:sp>
        <p:nvSpPr>
          <p:cNvPr id="62" name="Text Box 133"/>
          <p:cNvSpPr txBox="1">
            <a:spLocks noChangeArrowheads="1"/>
          </p:cNvSpPr>
          <p:nvPr/>
        </p:nvSpPr>
        <p:spPr bwMode="auto">
          <a:xfrm>
            <a:off x="1338874" y="2053042"/>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63" name="Text Box 134"/>
          <p:cNvSpPr txBox="1">
            <a:spLocks noChangeArrowheads="1"/>
          </p:cNvSpPr>
          <p:nvPr/>
        </p:nvSpPr>
        <p:spPr bwMode="auto">
          <a:xfrm>
            <a:off x="2256282" y="1985408"/>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endParaRPr kumimoji="1" lang="en-US" altLang="zh-CN" sz="1200" b="1" baseline="-25000" dirty="0">
              <a:solidFill>
                <a:srgbClr val="9900CC"/>
              </a:solidFill>
              <a:latin typeface="微软雅黑" panose="020B0503020204020204" pitchFamily="34" charset="-122"/>
              <a:ea typeface="微软雅黑" panose="020B0503020204020204" pitchFamily="34" charset="-122"/>
            </a:endParaRPr>
          </a:p>
        </p:txBody>
      </p:sp>
      <p:sp>
        <p:nvSpPr>
          <p:cNvPr id="75" name="Text Box 146"/>
          <p:cNvSpPr txBox="1">
            <a:spLocks noChangeArrowheads="1"/>
          </p:cNvSpPr>
          <p:nvPr/>
        </p:nvSpPr>
        <p:spPr bwMode="auto">
          <a:xfrm>
            <a:off x="1625721" y="2519139"/>
            <a:ext cx="289032"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anose="020B0503020204020204" pitchFamily="34" charset="-122"/>
                <a:ea typeface="微软雅黑" panose="020B0503020204020204" pitchFamily="34" charset="-122"/>
              </a:rPr>
              <a:t>C</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76" name="Text Box 147"/>
          <p:cNvSpPr txBox="1">
            <a:spLocks noChangeArrowheads="1"/>
          </p:cNvSpPr>
          <p:nvPr/>
        </p:nvSpPr>
        <p:spPr bwMode="auto">
          <a:xfrm>
            <a:off x="3575531" y="2151285"/>
            <a:ext cx="280735" cy="292472"/>
          </a:xfrm>
          <a:prstGeom prst="rect">
            <a:avLst/>
          </a:prstGeom>
          <a:noFill/>
          <a:ln w="28575">
            <a:noFill/>
            <a:miter lim="800000"/>
          </a:ln>
          <a:effec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0</a:t>
            </a:r>
            <a:endParaRPr kumimoji="1" lang="en-US" altLang="zh-CN" sz="1100" b="1" baseline="-25000">
              <a:latin typeface="微软雅黑" panose="020B0503020204020204" pitchFamily="34" charset="-122"/>
              <a:ea typeface="微软雅黑" panose="020B0503020204020204" pitchFamily="34" charset="-122"/>
            </a:endParaRPr>
          </a:p>
        </p:txBody>
      </p:sp>
      <p:sp>
        <p:nvSpPr>
          <p:cNvPr id="77" name="Text Box 148"/>
          <p:cNvSpPr txBox="1">
            <a:spLocks noChangeArrowheads="1"/>
          </p:cNvSpPr>
          <p:nvPr/>
        </p:nvSpPr>
        <p:spPr bwMode="auto">
          <a:xfrm>
            <a:off x="3746125" y="1854368"/>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1</a:t>
            </a:r>
            <a:endParaRPr kumimoji="1" lang="en-US" altLang="zh-CN" sz="1100" b="1" baseline="-25000">
              <a:latin typeface="微软雅黑" panose="020B0503020204020204" pitchFamily="34" charset="-122"/>
              <a:ea typeface="微软雅黑" panose="020B0503020204020204" pitchFamily="34" charset="-122"/>
            </a:endParaRPr>
          </a:p>
        </p:txBody>
      </p:sp>
      <p:sp>
        <p:nvSpPr>
          <p:cNvPr id="78" name="Text Box 149"/>
          <p:cNvSpPr txBox="1">
            <a:spLocks noChangeArrowheads="1"/>
          </p:cNvSpPr>
          <p:nvPr/>
        </p:nvSpPr>
        <p:spPr bwMode="auto">
          <a:xfrm>
            <a:off x="3115563" y="1919864"/>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2</a:t>
            </a:r>
            <a:endParaRPr kumimoji="1" lang="en-US" altLang="zh-CN" sz="1100" b="1" baseline="-25000">
              <a:latin typeface="微软雅黑" panose="020B0503020204020204" pitchFamily="34" charset="-122"/>
              <a:ea typeface="微软雅黑" panose="020B0503020204020204" pitchFamily="34" charset="-122"/>
            </a:endParaRPr>
          </a:p>
        </p:txBody>
      </p:sp>
      <p:grpSp>
        <p:nvGrpSpPr>
          <p:cNvPr id="90" name="Group 107"/>
          <p:cNvGrpSpPr/>
          <p:nvPr/>
        </p:nvGrpSpPr>
        <p:grpSpPr bwMode="auto">
          <a:xfrm>
            <a:off x="2910251" y="2377303"/>
            <a:ext cx="1420171" cy="791649"/>
            <a:chOff x="2248" y="820"/>
            <a:chExt cx="2248" cy="883"/>
          </a:xfrm>
        </p:grpSpPr>
        <p:grpSp>
          <p:nvGrpSpPr>
            <p:cNvPr id="91" name="Group 108"/>
            <p:cNvGrpSpPr/>
            <p:nvPr/>
          </p:nvGrpSpPr>
          <p:grpSpPr bwMode="auto">
            <a:xfrm>
              <a:off x="3567" y="902"/>
              <a:ext cx="929" cy="759"/>
              <a:chOff x="3567" y="902"/>
              <a:chExt cx="929" cy="759"/>
            </a:xfrm>
          </p:grpSpPr>
          <p:grpSp>
            <p:nvGrpSpPr>
              <p:cNvPr id="121" name="Group 109"/>
              <p:cNvGrpSpPr/>
              <p:nvPr/>
            </p:nvGrpSpPr>
            <p:grpSpPr bwMode="auto">
              <a:xfrm>
                <a:off x="3926" y="902"/>
                <a:ext cx="570" cy="611"/>
                <a:chOff x="3926" y="902"/>
                <a:chExt cx="570" cy="611"/>
              </a:xfrm>
            </p:grpSpPr>
            <p:grpSp>
              <p:nvGrpSpPr>
                <p:cNvPr id="126" name="Group 110"/>
                <p:cNvGrpSpPr/>
                <p:nvPr/>
              </p:nvGrpSpPr>
              <p:grpSpPr bwMode="auto">
                <a:xfrm>
                  <a:off x="4071" y="982"/>
                  <a:ext cx="425" cy="448"/>
                  <a:chOff x="4071" y="982"/>
                  <a:chExt cx="425" cy="448"/>
                </a:xfrm>
              </p:grpSpPr>
              <p:grpSp>
                <p:nvGrpSpPr>
                  <p:cNvPr id="136" name="Group 111"/>
                  <p:cNvGrpSpPr/>
                  <p:nvPr/>
                </p:nvGrpSpPr>
                <p:grpSpPr bwMode="auto">
                  <a:xfrm>
                    <a:off x="4071" y="982"/>
                    <a:ext cx="425" cy="448"/>
                    <a:chOff x="4071" y="982"/>
                    <a:chExt cx="425" cy="448"/>
                  </a:xfrm>
                </p:grpSpPr>
                <p:grpSp>
                  <p:nvGrpSpPr>
                    <p:cNvPr id="138" name="Group 112"/>
                    <p:cNvGrpSpPr/>
                    <p:nvPr/>
                  </p:nvGrpSpPr>
                  <p:grpSpPr bwMode="auto">
                    <a:xfrm>
                      <a:off x="4182" y="1010"/>
                      <a:ext cx="314" cy="366"/>
                      <a:chOff x="4182" y="1010"/>
                      <a:chExt cx="314" cy="366"/>
                    </a:xfrm>
                  </p:grpSpPr>
                  <p:grpSp>
                    <p:nvGrpSpPr>
                      <p:cNvPr id="142" name="Group 113"/>
                      <p:cNvGrpSpPr/>
                      <p:nvPr/>
                    </p:nvGrpSpPr>
                    <p:grpSpPr bwMode="auto">
                      <a:xfrm>
                        <a:off x="4220" y="1010"/>
                        <a:ext cx="276" cy="366"/>
                        <a:chOff x="4220" y="1010"/>
                        <a:chExt cx="276" cy="366"/>
                      </a:xfrm>
                    </p:grpSpPr>
                    <p:sp>
                      <p:nvSpPr>
                        <p:cNvPr id="146" name="Oval 114"/>
                        <p:cNvSpPr>
                          <a:spLocks noChangeArrowheads="1"/>
                        </p:cNvSpPr>
                        <p:nvPr/>
                      </p:nvSpPr>
                      <p:spPr bwMode="auto">
                        <a:xfrm>
                          <a:off x="4365" y="1228"/>
                          <a:ext cx="131" cy="93"/>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47" name="Oval 115"/>
                        <p:cNvSpPr>
                          <a:spLocks noChangeArrowheads="1"/>
                        </p:cNvSpPr>
                        <p:nvPr/>
                      </p:nvSpPr>
                      <p:spPr bwMode="auto">
                        <a:xfrm>
                          <a:off x="4254" y="1254"/>
                          <a:ext cx="167" cy="122"/>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48" name="Oval 116"/>
                        <p:cNvSpPr>
                          <a:spLocks noChangeArrowheads="1"/>
                        </p:cNvSpPr>
                        <p:nvPr/>
                      </p:nvSpPr>
                      <p:spPr bwMode="auto">
                        <a:xfrm>
                          <a:off x="4329" y="1091"/>
                          <a:ext cx="131" cy="96"/>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49" name="Oval 117"/>
                        <p:cNvSpPr>
                          <a:spLocks noChangeArrowheads="1"/>
                        </p:cNvSpPr>
                        <p:nvPr/>
                      </p:nvSpPr>
                      <p:spPr bwMode="auto">
                        <a:xfrm>
                          <a:off x="4220" y="1010"/>
                          <a:ext cx="166" cy="122"/>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50" name="Freeform 118"/>
                        <p:cNvSpPr/>
                        <p:nvPr/>
                      </p:nvSpPr>
                      <p:spPr bwMode="auto">
                        <a:xfrm>
                          <a:off x="4332" y="1092"/>
                          <a:ext cx="113" cy="208"/>
                        </a:xfrm>
                        <a:custGeom>
                          <a:avLst/>
                          <a:gdLst>
                            <a:gd name="T0" fmla="*/ 112 w 113"/>
                            <a:gd name="T1" fmla="*/ 205 h 208"/>
                            <a:gd name="T2" fmla="*/ 63 w 113"/>
                            <a:gd name="T3" fmla="*/ 207 h 208"/>
                            <a:gd name="T4" fmla="*/ 0 w 113"/>
                            <a:gd name="T5" fmla="*/ 0 h 208"/>
                            <a:gd name="T6" fmla="*/ 70 w 113"/>
                            <a:gd name="T7" fmla="*/ 15 h 208"/>
                            <a:gd name="T8" fmla="*/ 71 w 113"/>
                            <a:gd name="T9" fmla="*/ 117 h 208"/>
                            <a:gd name="T10" fmla="*/ 112 w 113"/>
                            <a:gd name="T11" fmla="*/ 205 h 208"/>
                          </a:gdLst>
                          <a:ahLst/>
                          <a:cxnLst>
                            <a:cxn ang="0">
                              <a:pos x="T0" y="T1"/>
                            </a:cxn>
                            <a:cxn ang="0">
                              <a:pos x="T2" y="T3"/>
                            </a:cxn>
                            <a:cxn ang="0">
                              <a:pos x="T4" y="T5"/>
                            </a:cxn>
                            <a:cxn ang="0">
                              <a:pos x="T6" y="T7"/>
                            </a:cxn>
                            <a:cxn ang="0">
                              <a:pos x="T8" y="T9"/>
                            </a:cxn>
                            <a:cxn ang="0">
                              <a:pos x="T10" y="T11"/>
                            </a:cxn>
                          </a:cxnLst>
                          <a:rect l="0" t="0" r="r" b="b"/>
                          <a:pathLst>
                            <a:path w="113" h="208">
                              <a:moveTo>
                                <a:pt x="112" y="205"/>
                              </a:moveTo>
                              <a:lnTo>
                                <a:pt x="63" y="207"/>
                              </a:lnTo>
                              <a:lnTo>
                                <a:pt x="0" y="0"/>
                              </a:lnTo>
                              <a:lnTo>
                                <a:pt x="70" y="15"/>
                              </a:lnTo>
                              <a:lnTo>
                                <a:pt x="71" y="117"/>
                              </a:lnTo>
                              <a:lnTo>
                                <a:pt x="112" y="205"/>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43" name="Oval 119"/>
                      <p:cNvSpPr>
                        <a:spLocks noChangeArrowheads="1"/>
                      </p:cNvSpPr>
                      <p:nvPr/>
                    </p:nvSpPr>
                    <p:spPr bwMode="auto">
                      <a:xfrm>
                        <a:off x="4182" y="1119"/>
                        <a:ext cx="240" cy="177"/>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44" name="Oval 120"/>
                      <p:cNvSpPr>
                        <a:spLocks noChangeArrowheads="1"/>
                      </p:cNvSpPr>
                      <p:nvPr/>
                    </p:nvSpPr>
                    <p:spPr bwMode="auto">
                      <a:xfrm>
                        <a:off x="4182" y="1228"/>
                        <a:ext cx="167" cy="122"/>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45" name="Freeform 121"/>
                      <p:cNvSpPr/>
                      <p:nvPr/>
                    </p:nvSpPr>
                    <p:spPr bwMode="auto">
                      <a:xfrm>
                        <a:off x="4235" y="1068"/>
                        <a:ext cx="121" cy="224"/>
                      </a:xfrm>
                      <a:custGeom>
                        <a:avLst/>
                        <a:gdLst>
                          <a:gd name="T0" fmla="*/ 110 w 121"/>
                          <a:gd name="T1" fmla="*/ 38 h 224"/>
                          <a:gd name="T2" fmla="*/ 97 w 121"/>
                          <a:gd name="T3" fmla="*/ 85 h 224"/>
                          <a:gd name="T4" fmla="*/ 120 w 121"/>
                          <a:gd name="T5" fmla="*/ 192 h 224"/>
                          <a:gd name="T6" fmla="*/ 72 w 121"/>
                          <a:gd name="T7" fmla="*/ 223 h 224"/>
                          <a:gd name="T8" fmla="*/ 0 w 121"/>
                          <a:gd name="T9" fmla="*/ 95 h 224"/>
                          <a:gd name="T10" fmla="*/ 57 w 121"/>
                          <a:gd name="T11" fmla="*/ 0 h 224"/>
                          <a:gd name="T12" fmla="*/ 110 w 121"/>
                          <a:gd name="T13" fmla="*/ 38 h 224"/>
                        </a:gdLst>
                        <a:ahLst/>
                        <a:cxnLst>
                          <a:cxn ang="0">
                            <a:pos x="T0" y="T1"/>
                          </a:cxn>
                          <a:cxn ang="0">
                            <a:pos x="T2" y="T3"/>
                          </a:cxn>
                          <a:cxn ang="0">
                            <a:pos x="T4" y="T5"/>
                          </a:cxn>
                          <a:cxn ang="0">
                            <a:pos x="T6" y="T7"/>
                          </a:cxn>
                          <a:cxn ang="0">
                            <a:pos x="T8" y="T9"/>
                          </a:cxn>
                          <a:cxn ang="0">
                            <a:pos x="T10" y="T11"/>
                          </a:cxn>
                          <a:cxn ang="0">
                            <a:pos x="T12" y="T13"/>
                          </a:cxn>
                        </a:cxnLst>
                        <a:rect l="0" t="0" r="r" b="b"/>
                        <a:pathLst>
                          <a:path w="121" h="224">
                            <a:moveTo>
                              <a:pt x="110" y="38"/>
                            </a:moveTo>
                            <a:lnTo>
                              <a:pt x="97" y="85"/>
                            </a:lnTo>
                            <a:lnTo>
                              <a:pt x="120" y="192"/>
                            </a:lnTo>
                            <a:lnTo>
                              <a:pt x="72" y="223"/>
                            </a:lnTo>
                            <a:lnTo>
                              <a:pt x="0" y="95"/>
                            </a:lnTo>
                            <a:lnTo>
                              <a:pt x="57" y="0"/>
                            </a:lnTo>
                            <a:lnTo>
                              <a:pt x="110" y="3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39" name="Oval 122"/>
                    <p:cNvSpPr>
                      <a:spLocks noChangeArrowheads="1"/>
                    </p:cNvSpPr>
                    <p:nvPr/>
                  </p:nvSpPr>
                  <p:spPr bwMode="auto">
                    <a:xfrm>
                      <a:off x="4182" y="1336"/>
                      <a:ext cx="129" cy="94"/>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40" name="Oval 123"/>
                    <p:cNvSpPr>
                      <a:spLocks noChangeArrowheads="1"/>
                    </p:cNvSpPr>
                    <p:nvPr/>
                  </p:nvSpPr>
                  <p:spPr bwMode="auto">
                    <a:xfrm>
                      <a:off x="4071" y="982"/>
                      <a:ext cx="168" cy="124"/>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41" name="Freeform 124"/>
                    <p:cNvSpPr/>
                    <p:nvPr/>
                  </p:nvSpPr>
                  <p:spPr bwMode="auto">
                    <a:xfrm>
                      <a:off x="4224" y="1313"/>
                      <a:ext cx="85" cy="39"/>
                    </a:xfrm>
                    <a:custGeom>
                      <a:avLst/>
                      <a:gdLst>
                        <a:gd name="T0" fmla="*/ 84 w 85"/>
                        <a:gd name="T1" fmla="*/ 24 h 39"/>
                        <a:gd name="T2" fmla="*/ 58 w 85"/>
                        <a:gd name="T3" fmla="*/ 38 h 39"/>
                        <a:gd name="T4" fmla="*/ 0 w 85"/>
                        <a:gd name="T5" fmla="*/ 18 h 39"/>
                        <a:gd name="T6" fmla="*/ 58 w 85"/>
                        <a:gd name="T7" fmla="*/ 0 h 39"/>
                        <a:gd name="T8" fmla="*/ 84 w 85"/>
                        <a:gd name="T9" fmla="*/ 24 h 39"/>
                      </a:gdLst>
                      <a:ahLst/>
                      <a:cxnLst>
                        <a:cxn ang="0">
                          <a:pos x="T0" y="T1"/>
                        </a:cxn>
                        <a:cxn ang="0">
                          <a:pos x="T2" y="T3"/>
                        </a:cxn>
                        <a:cxn ang="0">
                          <a:pos x="T4" y="T5"/>
                        </a:cxn>
                        <a:cxn ang="0">
                          <a:pos x="T6" y="T7"/>
                        </a:cxn>
                        <a:cxn ang="0">
                          <a:pos x="T8" y="T9"/>
                        </a:cxn>
                      </a:cxnLst>
                      <a:rect l="0" t="0" r="r" b="b"/>
                      <a:pathLst>
                        <a:path w="85" h="39">
                          <a:moveTo>
                            <a:pt x="84" y="24"/>
                          </a:moveTo>
                          <a:lnTo>
                            <a:pt x="58" y="38"/>
                          </a:lnTo>
                          <a:lnTo>
                            <a:pt x="0" y="18"/>
                          </a:lnTo>
                          <a:lnTo>
                            <a:pt x="58" y="0"/>
                          </a:lnTo>
                          <a:lnTo>
                            <a:pt x="84" y="2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37" name="Freeform 125"/>
                  <p:cNvSpPr/>
                  <p:nvPr/>
                </p:nvSpPr>
                <p:spPr bwMode="auto">
                  <a:xfrm>
                    <a:off x="4209" y="1042"/>
                    <a:ext cx="47" cy="68"/>
                  </a:xfrm>
                  <a:custGeom>
                    <a:avLst/>
                    <a:gdLst>
                      <a:gd name="T0" fmla="*/ 23 w 47"/>
                      <a:gd name="T1" fmla="*/ 0 h 68"/>
                      <a:gd name="T2" fmla="*/ 46 w 47"/>
                      <a:gd name="T3" fmla="*/ 1 h 68"/>
                      <a:gd name="T4" fmla="*/ 38 w 47"/>
                      <a:gd name="T5" fmla="*/ 67 h 68"/>
                      <a:gd name="T6" fmla="*/ 0 w 47"/>
                      <a:gd name="T7" fmla="*/ 54 h 68"/>
                      <a:gd name="T8" fmla="*/ 23 w 47"/>
                      <a:gd name="T9" fmla="*/ 0 h 68"/>
                    </a:gdLst>
                    <a:ahLst/>
                    <a:cxnLst>
                      <a:cxn ang="0">
                        <a:pos x="T0" y="T1"/>
                      </a:cxn>
                      <a:cxn ang="0">
                        <a:pos x="T2" y="T3"/>
                      </a:cxn>
                      <a:cxn ang="0">
                        <a:pos x="T4" y="T5"/>
                      </a:cxn>
                      <a:cxn ang="0">
                        <a:pos x="T6" y="T7"/>
                      </a:cxn>
                      <a:cxn ang="0">
                        <a:pos x="T8" y="T9"/>
                      </a:cxn>
                    </a:cxnLst>
                    <a:rect l="0" t="0" r="r" b="b"/>
                    <a:pathLst>
                      <a:path w="47" h="68">
                        <a:moveTo>
                          <a:pt x="23" y="0"/>
                        </a:moveTo>
                        <a:lnTo>
                          <a:pt x="46" y="1"/>
                        </a:lnTo>
                        <a:lnTo>
                          <a:pt x="38" y="67"/>
                        </a:lnTo>
                        <a:lnTo>
                          <a:pt x="0" y="54"/>
                        </a:lnTo>
                        <a:lnTo>
                          <a:pt x="23"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127" name="Group 126"/>
                <p:cNvGrpSpPr/>
                <p:nvPr/>
              </p:nvGrpSpPr>
              <p:grpSpPr bwMode="auto">
                <a:xfrm>
                  <a:off x="3926" y="902"/>
                  <a:ext cx="385" cy="556"/>
                  <a:chOff x="3926" y="902"/>
                  <a:chExt cx="385" cy="556"/>
                </a:xfrm>
              </p:grpSpPr>
              <p:sp>
                <p:nvSpPr>
                  <p:cNvPr id="130" name="Oval 127"/>
                  <p:cNvSpPr>
                    <a:spLocks noChangeArrowheads="1"/>
                  </p:cNvSpPr>
                  <p:nvPr/>
                </p:nvSpPr>
                <p:spPr bwMode="auto">
                  <a:xfrm>
                    <a:off x="3961" y="1228"/>
                    <a:ext cx="314" cy="230"/>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31" name="Oval 128"/>
                  <p:cNvSpPr>
                    <a:spLocks noChangeArrowheads="1"/>
                  </p:cNvSpPr>
                  <p:nvPr/>
                </p:nvSpPr>
                <p:spPr bwMode="auto">
                  <a:xfrm>
                    <a:off x="3997" y="1065"/>
                    <a:ext cx="314" cy="231"/>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32" name="Oval 129"/>
                  <p:cNvSpPr>
                    <a:spLocks noChangeArrowheads="1"/>
                  </p:cNvSpPr>
                  <p:nvPr/>
                </p:nvSpPr>
                <p:spPr bwMode="auto">
                  <a:xfrm>
                    <a:off x="3926" y="902"/>
                    <a:ext cx="241" cy="177"/>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33" name="Oval 130"/>
                  <p:cNvSpPr>
                    <a:spLocks noChangeArrowheads="1"/>
                  </p:cNvSpPr>
                  <p:nvPr/>
                </p:nvSpPr>
                <p:spPr bwMode="auto">
                  <a:xfrm>
                    <a:off x="4071" y="1010"/>
                    <a:ext cx="131" cy="94"/>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34" name="Freeform 131"/>
                  <p:cNvSpPr/>
                  <p:nvPr/>
                </p:nvSpPr>
                <p:spPr bwMode="auto">
                  <a:xfrm>
                    <a:off x="4000" y="990"/>
                    <a:ext cx="208" cy="202"/>
                  </a:xfrm>
                  <a:custGeom>
                    <a:avLst/>
                    <a:gdLst>
                      <a:gd name="T0" fmla="*/ 146 w 208"/>
                      <a:gd name="T1" fmla="*/ 8 h 202"/>
                      <a:gd name="T2" fmla="*/ 145 w 208"/>
                      <a:gd name="T3" fmla="*/ 32 h 202"/>
                      <a:gd name="T4" fmla="*/ 194 w 208"/>
                      <a:gd name="T5" fmla="*/ 77 h 202"/>
                      <a:gd name="T6" fmla="*/ 207 w 208"/>
                      <a:gd name="T7" fmla="*/ 82 h 202"/>
                      <a:gd name="T8" fmla="*/ 133 w 208"/>
                      <a:gd name="T9" fmla="*/ 201 h 202"/>
                      <a:gd name="T10" fmla="*/ 0 w 208"/>
                      <a:gd name="T11" fmla="*/ 0 h 202"/>
                      <a:gd name="T12" fmla="*/ 146 w 208"/>
                      <a:gd name="T13" fmla="*/ 8 h 202"/>
                    </a:gdLst>
                    <a:ahLst/>
                    <a:cxnLst>
                      <a:cxn ang="0">
                        <a:pos x="T0" y="T1"/>
                      </a:cxn>
                      <a:cxn ang="0">
                        <a:pos x="T2" y="T3"/>
                      </a:cxn>
                      <a:cxn ang="0">
                        <a:pos x="T4" y="T5"/>
                      </a:cxn>
                      <a:cxn ang="0">
                        <a:pos x="T6" y="T7"/>
                      </a:cxn>
                      <a:cxn ang="0">
                        <a:pos x="T8" y="T9"/>
                      </a:cxn>
                      <a:cxn ang="0">
                        <a:pos x="T10" y="T11"/>
                      </a:cxn>
                      <a:cxn ang="0">
                        <a:pos x="T12" y="T13"/>
                      </a:cxn>
                    </a:cxnLst>
                    <a:rect l="0" t="0" r="r" b="b"/>
                    <a:pathLst>
                      <a:path w="208" h="202">
                        <a:moveTo>
                          <a:pt x="146" y="8"/>
                        </a:moveTo>
                        <a:lnTo>
                          <a:pt x="145" y="32"/>
                        </a:lnTo>
                        <a:lnTo>
                          <a:pt x="194" y="77"/>
                        </a:lnTo>
                        <a:lnTo>
                          <a:pt x="207" y="82"/>
                        </a:lnTo>
                        <a:lnTo>
                          <a:pt x="133" y="201"/>
                        </a:lnTo>
                        <a:lnTo>
                          <a:pt x="0" y="0"/>
                        </a:lnTo>
                        <a:lnTo>
                          <a:pt x="146"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35" name="Freeform 132"/>
                  <p:cNvSpPr/>
                  <p:nvPr/>
                </p:nvSpPr>
                <p:spPr bwMode="auto">
                  <a:xfrm>
                    <a:off x="4103" y="1271"/>
                    <a:ext cx="133" cy="54"/>
                  </a:xfrm>
                  <a:custGeom>
                    <a:avLst/>
                    <a:gdLst>
                      <a:gd name="T0" fmla="*/ 117 w 133"/>
                      <a:gd name="T1" fmla="*/ 8 h 54"/>
                      <a:gd name="T2" fmla="*/ 132 w 133"/>
                      <a:gd name="T3" fmla="*/ 25 h 54"/>
                      <a:gd name="T4" fmla="*/ 0 w 133"/>
                      <a:gd name="T5" fmla="*/ 53 h 54"/>
                      <a:gd name="T6" fmla="*/ 4 w 133"/>
                      <a:gd name="T7" fmla="*/ 0 h 54"/>
                      <a:gd name="T8" fmla="*/ 117 w 133"/>
                      <a:gd name="T9" fmla="*/ 8 h 54"/>
                    </a:gdLst>
                    <a:ahLst/>
                    <a:cxnLst>
                      <a:cxn ang="0">
                        <a:pos x="T0" y="T1"/>
                      </a:cxn>
                      <a:cxn ang="0">
                        <a:pos x="T2" y="T3"/>
                      </a:cxn>
                      <a:cxn ang="0">
                        <a:pos x="T4" y="T5"/>
                      </a:cxn>
                      <a:cxn ang="0">
                        <a:pos x="T6" y="T7"/>
                      </a:cxn>
                      <a:cxn ang="0">
                        <a:pos x="T8" y="T9"/>
                      </a:cxn>
                    </a:cxnLst>
                    <a:rect l="0" t="0" r="r" b="b"/>
                    <a:pathLst>
                      <a:path w="133" h="54">
                        <a:moveTo>
                          <a:pt x="117" y="8"/>
                        </a:moveTo>
                        <a:lnTo>
                          <a:pt x="132" y="25"/>
                        </a:lnTo>
                        <a:lnTo>
                          <a:pt x="0" y="53"/>
                        </a:lnTo>
                        <a:lnTo>
                          <a:pt x="4" y="0"/>
                        </a:lnTo>
                        <a:lnTo>
                          <a:pt x="117"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28" name="Oval 133"/>
                <p:cNvSpPr>
                  <a:spLocks noChangeArrowheads="1"/>
                </p:cNvSpPr>
                <p:nvPr/>
              </p:nvSpPr>
              <p:spPr bwMode="auto">
                <a:xfrm>
                  <a:off x="3926" y="1391"/>
                  <a:ext cx="167" cy="122"/>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29" name="Freeform 134"/>
                <p:cNvSpPr/>
                <p:nvPr/>
              </p:nvSpPr>
              <p:spPr bwMode="auto">
                <a:xfrm>
                  <a:off x="4041" y="1378"/>
                  <a:ext cx="87" cy="65"/>
                </a:xfrm>
                <a:custGeom>
                  <a:avLst/>
                  <a:gdLst>
                    <a:gd name="T0" fmla="*/ 34 w 87"/>
                    <a:gd name="T1" fmla="*/ 64 h 65"/>
                    <a:gd name="T2" fmla="*/ 86 w 87"/>
                    <a:gd name="T3" fmla="*/ 41 h 65"/>
                    <a:gd name="T4" fmla="*/ 27 w 87"/>
                    <a:gd name="T5" fmla="*/ 0 h 65"/>
                    <a:gd name="T6" fmla="*/ 0 w 87"/>
                    <a:gd name="T7" fmla="*/ 23 h 65"/>
                    <a:gd name="T8" fmla="*/ 34 w 87"/>
                    <a:gd name="T9" fmla="*/ 64 h 65"/>
                  </a:gdLst>
                  <a:ahLst/>
                  <a:cxnLst>
                    <a:cxn ang="0">
                      <a:pos x="T0" y="T1"/>
                    </a:cxn>
                    <a:cxn ang="0">
                      <a:pos x="T2" y="T3"/>
                    </a:cxn>
                    <a:cxn ang="0">
                      <a:pos x="T4" y="T5"/>
                    </a:cxn>
                    <a:cxn ang="0">
                      <a:pos x="T6" y="T7"/>
                    </a:cxn>
                    <a:cxn ang="0">
                      <a:pos x="T8" y="T9"/>
                    </a:cxn>
                  </a:cxnLst>
                  <a:rect l="0" t="0" r="r" b="b"/>
                  <a:pathLst>
                    <a:path w="87" h="65">
                      <a:moveTo>
                        <a:pt x="34" y="64"/>
                      </a:moveTo>
                      <a:lnTo>
                        <a:pt x="86" y="41"/>
                      </a:lnTo>
                      <a:lnTo>
                        <a:pt x="27" y="0"/>
                      </a:lnTo>
                      <a:lnTo>
                        <a:pt x="0" y="23"/>
                      </a:lnTo>
                      <a:lnTo>
                        <a:pt x="34" y="6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22" name="Oval 135"/>
              <p:cNvSpPr>
                <a:spLocks noChangeArrowheads="1"/>
              </p:cNvSpPr>
              <p:nvPr/>
            </p:nvSpPr>
            <p:spPr bwMode="auto">
              <a:xfrm>
                <a:off x="3567" y="1513"/>
                <a:ext cx="204" cy="148"/>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23" name="Oval 136"/>
              <p:cNvSpPr>
                <a:spLocks noChangeArrowheads="1"/>
              </p:cNvSpPr>
              <p:nvPr/>
            </p:nvSpPr>
            <p:spPr bwMode="auto">
              <a:xfrm>
                <a:off x="3742" y="1513"/>
                <a:ext cx="168" cy="123"/>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24" name="Oval 137"/>
              <p:cNvSpPr>
                <a:spLocks noChangeArrowheads="1"/>
              </p:cNvSpPr>
              <p:nvPr/>
            </p:nvSpPr>
            <p:spPr bwMode="auto">
              <a:xfrm>
                <a:off x="3843" y="1469"/>
                <a:ext cx="166" cy="123"/>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25" name="Freeform 138"/>
              <p:cNvSpPr/>
              <p:nvPr/>
            </p:nvSpPr>
            <p:spPr bwMode="auto">
              <a:xfrm>
                <a:off x="3696" y="1448"/>
                <a:ext cx="345" cy="171"/>
              </a:xfrm>
              <a:custGeom>
                <a:avLst/>
                <a:gdLst>
                  <a:gd name="T0" fmla="*/ 321 w 345"/>
                  <a:gd name="T1" fmla="*/ 49 h 171"/>
                  <a:gd name="T2" fmla="*/ 288 w 345"/>
                  <a:gd name="T3" fmla="*/ 60 h 171"/>
                  <a:gd name="T4" fmla="*/ 195 w 345"/>
                  <a:gd name="T5" fmla="*/ 129 h 171"/>
                  <a:gd name="T6" fmla="*/ 174 w 345"/>
                  <a:gd name="T7" fmla="*/ 158 h 171"/>
                  <a:gd name="T8" fmla="*/ 73 w 345"/>
                  <a:gd name="T9" fmla="*/ 158 h 171"/>
                  <a:gd name="T10" fmla="*/ 52 w 345"/>
                  <a:gd name="T11" fmla="*/ 170 h 171"/>
                  <a:gd name="T12" fmla="*/ 0 w 345"/>
                  <a:gd name="T13" fmla="*/ 119 h 171"/>
                  <a:gd name="T14" fmla="*/ 233 w 345"/>
                  <a:gd name="T15" fmla="*/ 0 h 171"/>
                  <a:gd name="T16" fmla="*/ 344 w 345"/>
                  <a:gd name="T17" fmla="*/ 27 h 171"/>
                  <a:gd name="T18" fmla="*/ 321 w 345"/>
                  <a:gd name="T19" fmla="*/ 4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5" h="171">
                    <a:moveTo>
                      <a:pt x="321" y="49"/>
                    </a:moveTo>
                    <a:lnTo>
                      <a:pt x="288" y="60"/>
                    </a:lnTo>
                    <a:lnTo>
                      <a:pt x="195" y="129"/>
                    </a:lnTo>
                    <a:lnTo>
                      <a:pt x="174" y="158"/>
                    </a:lnTo>
                    <a:lnTo>
                      <a:pt x="73" y="158"/>
                    </a:lnTo>
                    <a:lnTo>
                      <a:pt x="52" y="170"/>
                    </a:lnTo>
                    <a:lnTo>
                      <a:pt x="0" y="119"/>
                    </a:lnTo>
                    <a:lnTo>
                      <a:pt x="233" y="0"/>
                    </a:lnTo>
                    <a:lnTo>
                      <a:pt x="344" y="27"/>
                    </a:lnTo>
                    <a:lnTo>
                      <a:pt x="321" y="4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92" name="Group 139"/>
            <p:cNvGrpSpPr/>
            <p:nvPr/>
          </p:nvGrpSpPr>
          <p:grpSpPr bwMode="auto">
            <a:xfrm>
              <a:off x="2248" y="907"/>
              <a:ext cx="556" cy="525"/>
              <a:chOff x="2248" y="907"/>
              <a:chExt cx="556" cy="525"/>
            </a:xfrm>
          </p:grpSpPr>
          <p:grpSp>
            <p:nvGrpSpPr>
              <p:cNvPr id="106" name="Group 140"/>
              <p:cNvGrpSpPr/>
              <p:nvPr/>
            </p:nvGrpSpPr>
            <p:grpSpPr bwMode="auto">
              <a:xfrm>
                <a:off x="2248" y="982"/>
                <a:ext cx="299" cy="314"/>
                <a:chOff x="2248" y="982"/>
                <a:chExt cx="299" cy="314"/>
              </a:xfrm>
            </p:grpSpPr>
            <p:sp>
              <p:nvSpPr>
                <p:cNvPr id="117" name="Oval 141"/>
                <p:cNvSpPr>
                  <a:spLocks noChangeArrowheads="1"/>
                </p:cNvSpPr>
                <p:nvPr/>
              </p:nvSpPr>
              <p:spPr bwMode="auto">
                <a:xfrm>
                  <a:off x="2248" y="1091"/>
                  <a:ext cx="129" cy="96"/>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18" name="Oval 142"/>
                <p:cNvSpPr>
                  <a:spLocks noChangeArrowheads="1"/>
                </p:cNvSpPr>
                <p:nvPr/>
              </p:nvSpPr>
              <p:spPr bwMode="auto">
                <a:xfrm>
                  <a:off x="2270" y="1174"/>
                  <a:ext cx="167" cy="122"/>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19" name="Oval 143"/>
                <p:cNvSpPr>
                  <a:spLocks noChangeArrowheads="1"/>
                </p:cNvSpPr>
                <p:nvPr/>
              </p:nvSpPr>
              <p:spPr bwMode="auto">
                <a:xfrm>
                  <a:off x="2307" y="982"/>
                  <a:ext cx="240" cy="177"/>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20" name="Freeform 144"/>
                <p:cNvSpPr/>
                <p:nvPr/>
              </p:nvSpPr>
              <p:spPr bwMode="auto">
                <a:xfrm>
                  <a:off x="2291" y="1104"/>
                  <a:ext cx="84" cy="95"/>
                </a:xfrm>
                <a:custGeom>
                  <a:avLst/>
                  <a:gdLst>
                    <a:gd name="T0" fmla="*/ 47 w 84"/>
                    <a:gd name="T1" fmla="*/ 0 h 95"/>
                    <a:gd name="T2" fmla="*/ 0 w 84"/>
                    <a:gd name="T3" fmla="*/ 18 h 95"/>
                    <a:gd name="T4" fmla="*/ 1 w 84"/>
                    <a:gd name="T5" fmla="*/ 76 h 95"/>
                    <a:gd name="T6" fmla="*/ 16 w 84"/>
                    <a:gd name="T7" fmla="*/ 94 h 95"/>
                    <a:gd name="T8" fmla="*/ 83 w 84"/>
                    <a:gd name="T9" fmla="*/ 76 h 95"/>
                    <a:gd name="T10" fmla="*/ 47 w 84"/>
                    <a:gd name="T11" fmla="*/ 0 h 95"/>
                  </a:gdLst>
                  <a:ahLst/>
                  <a:cxnLst>
                    <a:cxn ang="0">
                      <a:pos x="T0" y="T1"/>
                    </a:cxn>
                    <a:cxn ang="0">
                      <a:pos x="T2" y="T3"/>
                    </a:cxn>
                    <a:cxn ang="0">
                      <a:pos x="T4" y="T5"/>
                    </a:cxn>
                    <a:cxn ang="0">
                      <a:pos x="T6" y="T7"/>
                    </a:cxn>
                    <a:cxn ang="0">
                      <a:pos x="T8" y="T9"/>
                    </a:cxn>
                    <a:cxn ang="0">
                      <a:pos x="T10" y="T11"/>
                    </a:cxn>
                  </a:cxnLst>
                  <a:rect l="0" t="0" r="r" b="b"/>
                  <a:pathLst>
                    <a:path w="84" h="95">
                      <a:moveTo>
                        <a:pt x="47" y="0"/>
                      </a:moveTo>
                      <a:lnTo>
                        <a:pt x="0" y="18"/>
                      </a:lnTo>
                      <a:lnTo>
                        <a:pt x="1" y="76"/>
                      </a:lnTo>
                      <a:lnTo>
                        <a:pt x="16" y="94"/>
                      </a:lnTo>
                      <a:lnTo>
                        <a:pt x="83" y="76"/>
                      </a:lnTo>
                      <a:lnTo>
                        <a:pt x="47"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107" name="Group 145"/>
              <p:cNvGrpSpPr/>
              <p:nvPr/>
            </p:nvGrpSpPr>
            <p:grpSpPr bwMode="auto">
              <a:xfrm>
                <a:off x="2344" y="907"/>
                <a:ext cx="460" cy="525"/>
                <a:chOff x="2344" y="907"/>
                <a:chExt cx="460" cy="525"/>
              </a:xfrm>
            </p:grpSpPr>
            <p:sp>
              <p:nvSpPr>
                <p:cNvPr id="109" name="Oval 146"/>
                <p:cNvSpPr>
                  <a:spLocks noChangeArrowheads="1"/>
                </p:cNvSpPr>
                <p:nvPr/>
              </p:nvSpPr>
              <p:spPr bwMode="auto">
                <a:xfrm>
                  <a:off x="2491" y="929"/>
                  <a:ext cx="313" cy="230"/>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10" name="Oval 147"/>
                <p:cNvSpPr>
                  <a:spLocks noChangeArrowheads="1"/>
                </p:cNvSpPr>
                <p:nvPr/>
              </p:nvSpPr>
              <p:spPr bwMode="auto">
                <a:xfrm>
                  <a:off x="2344" y="1091"/>
                  <a:ext cx="167" cy="122"/>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11" name="Oval 148"/>
                <p:cNvSpPr>
                  <a:spLocks noChangeArrowheads="1"/>
                </p:cNvSpPr>
                <p:nvPr/>
              </p:nvSpPr>
              <p:spPr bwMode="auto">
                <a:xfrm>
                  <a:off x="2380" y="1174"/>
                  <a:ext cx="242" cy="176"/>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12" name="Oval 149"/>
                <p:cNvSpPr>
                  <a:spLocks noChangeArrowheads="1"/>
                </p:cNvSpPr>
                <p:nvPr/>
              </p:nvSpPr>
              <p:spPr bwMode="auto">
                <a:xfrm>
                  <a:off x="2454" y="1254"/>
                  <a:ext cx="240" cy="178"/>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13" name="Oval 150"/>
                <p:cNvSpPr>
                  <a:spLocks noChangeArrowheads="1"/>
                </p:cNvSpPr>
                <p:nvPr/>
              </p:nvSpPr>
              <p:spPr bwMode="auto">
                <a:xfrm>
                  <a:off x="2471" y="1042"/>
                  <a:ext cx="214" cy="151"/>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14" name="Oval 151"/>
                <p:cNvSpPr>
                  <a:spLocks noChangeArrowheads="1"/>
                </p:cNvSpPr>
                <p:nvPr/>
              </p:nvSpPr>
              <p:spPr bwMode="auto">
                <a:xfrm>
                  <a:off x="2656" y="907"/>
                  <a:ext cx="129" cy="94"/>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15" name="Freeform 152"/>
                <p:cNvSpPr/>
                <p:nvPr/>
              </p:nvSpPr>
              <p:spPr bwMode="auto">
                <a:xfrm>
                  <a:off x="2541" y="1010"/>
                  <a:ext cx="151" cy="76"/>
                </a:xfrm>
                <a:custGeom>
                  <a:avLst/>
                  <a:gdLst>
                    <a:gd name="T0" fmla="*/ 0 w 151"/>
                    <a:gd name="T1" fmla="*/ 20 h 76"/>
                    <a:gd name="T2" fmla="*/ 19 w 151"/>
                    <a:gd name="T3" fmla="*/ 56 h 76"/>
                    <a:gd name="T4" fmla="*/ 150 w 151"/>
                    <a:gd name="T5" fmla="*/ 75 h 76"/>
                    <a:gd name="T6" fmla="*/ 150 w 151"/>
                    <a:gd name="T7" fmla="*/ 28 h 76"/>
                    <a:gd name="T8" fmla="*/ 9 w 151"/>
                    <a:gd name="T9" fmla="*/ 0 h 76"/>
                    <a:gd name="T10" fmla="*/ 0 w 151"/>
                    <a:gd name="T11" fmla="*/ 20 h 76"/>
                  </a:gdLst>
                  <a:ahLst/>
                  <a:cxnLst>
                    <a:cxn ang="0">
                      <a:pos x="T0" y="T1"/>
                    </a:cxn>
                    <a:cxn ang="0">
                      <a:pos x="T2" y="T3"/>
                    </a:cxn>
                    <a:cxn ang="0">
                      <a:pos x="T4" y="T5"/>
                    </a:cxn>
                    <a:cxn ang="0">
                      <a:pos x="T6" y="T7"/>
                    </a:cxn>
                    <a:cxn ang="0">
                      <a:pos x="T8" y="T9"/>
                    </a:cxn>
                    <a:cxn ang="0">
                      <a:pos x="T10" y="T11"/>
                    </a:cxn>
                  </a:cxnLst>
                  <a:rect l="0" t="0" r="r" b="b"/>
                  <a:pathLst>
                    <a:path w="151" h="76">
                      <a:moveTo>
                        <a:pt x="0" y="20"/>
                      </a:moveTo>
                      <a:lnTo>
                        <a:pt x="19" y="56"/>
                      </a:lnTo>
                      <a:lnTo>
                        <a:pt x="150" y="75"/>
                      </a:lnTo>
                      <a:lnTo>
                        <a:pt x="150" y="28"/>
                      </a:lnTo>
                      <a:lnTo>
                        <a:pt x="9" y="0"/>
                      </a:lnTo>
                      <a:lnTo>
                        <a:pt x="0" y="2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116" name="Freeform 153"/>
                <p:cNvSpPr/>
                <p:nvPr/>
              </p:nvSpPr>
              <p:spPr bwMode="auto">
                <a:xfrm>
                  <a:off x="2394" y="1149"/>
                  <a:ext cx="172" cy="159"/>
                </a:xfrm>
                <a:custGeom>
                  <a:avLst/>
                  <a:gdLst>
                    <a:gd name="T0" fmla="*/ 106 w 172"/>
                    <a:gd name="T1" fmla="*/ 0 h 159"/>
                    <a:gd name="T2" fmla="*/ 0 w 172"/>
                    <a:gd name="T3" fmla="*/ 40 h 159"/>
                    <a:gd name="T4" fmla="*/ 44 w 172"/>
                    <a:gd name="T5" fmla="*/ 71 h 159"/>
                    <a:gd name="T6" fmla="*/ 50 w 172"/>
                    <a:gd name="T7" fmla="*/ 148 h 159"/>
                    <a:gd name="T8" fmla="*/ 75 w 172"/>
                    <a:gd name="T9" fmla="*/ 158 h 159"/>
                    <a:gd name="T10" fmla="*/ 164 w 172"/>
                    <a:gd name="T11" fmla="*/ 108 h 159"/>
                    <a:gd name="T12" fmla="*/ 171 w 172"/>
                    <a:gd name="T13" fmla="*/ 16 h 159"/>
                    <a:gd name="T14" fmla="*/ 106 w 172"/>
                    <a:gd name="T15" fmla="*/ 0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159">
                      <a:moveTo>
                        <a:pt x="106" y="0"/>
                      </a:moveTo>
                      <a:lnTo>
                        <a:pt x="0" y="40"/>
                      </a:lnTo>
                      <a:lnTo>
                        <a:pt x="44" y="71"/>
                      </a:lnTo>
                      <a:lnTo>
                        <a:pt x="50" y="148"/>
                      </a:lnTo>
                      <a:lnTo>
                        <a:pt x="75" y="158"/>
                      </a:lnTo>
                      <a:lnTo>
                        <a:pt x="164" y="108"/>
                      </a:lnTo>
                      <a:lnTo>
                        <a:pt x="171" y="16"/>
                      </a:lnTo>
                      <a:lnTo>
                        <a:pt x="106"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108" name="Freeform 154"/>
              <p:cNvSpPr/>
              <p:nvPr/>
            </p:nvSpPr>
            <p:spPr bwMode="auto">
              <a:xfrm>
                <a:off x="2650" y="963"/>
                <a:ext cx="88" cy="75"/>
              </a:xfrm>
              <a:custGeom>
                <a:avLst/>
                <a:gdLst>
                  <a:gd name="T0" fmla="*/ 0 w 88"/>
                  <a:gd name="T1" fmla="*/ 39 h 75"/>
                  <a:gd name="T2" fmla="*/ 37 w 88"/>
                  <a:gd name="T3" fmla="*/ 0 h 75"/>
                  <a:gd name="T4" fmla="*/ 87 w 88"/>
                  <a:gd name="T5" fmla="*/ 39 h 75"/>
                  <a:gd name="T6" fmla="*/ 45 w 88"/>
                  <a:gd name="T7" fmla="*/ 74 h 75"/>
                  <a:gd name="T8" fmla="*/ 0 w 88"/>
                  <a:gd name="T9" fmla="*/ 39 h 75"/>
                </a:gdLst>
                <a:ahLst/>
                <a:cxnLst>
                  <a:cxn ang="0">
                    <a:pos x="T0" y="T1"/>
                  </a:cxn>
                  <a:cxn ang="0">
                    <a:pos x="T2" y="T3"/>
                  </a:cxn>
                  <a:cxn ang="0">
                    <a:pos x="T4" y="T5"/>
                  </a:cxn>
                  <a:cxn ang="0">
                    <a:pos x="T6" y="T7"/>
                  </a:cxn>
                  <a:cxn ang="0">
                    <a:pos x="T8" y="T9"/>
                  </a:cxn>
                </a:cxnLst>
                <a:rect l="0" t="0" r="r" b="b"/>
                <a:pathLst>
                  <a:path w="88" h="75">
                    <a:moveTo>
                      <a:pt x="0" y="39"/>
                    </a:moveTo>
                    <a:lnTo>
                      <a:pt x="37" y="0"/>
                    </a:lnTo>
                    <a:lnTo>
                      <a:pt x="87" y="39"/>
                    </a:lnTo>
                    <a:lnTo>
                      <a:pt x="45" y="74"/>
                    </a:lnTo>
                    <a:lnTo>
                      <a:pt x="0" y="3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93" name="Group 155"/>
            <p:cNvGrpSpPr/>
            <p:nvPr/>
          </p:nvGrpSpPr>
          <p:grpSpPr bwMode="auto">
            <a:xfrm>
              <a:off x="2529" y="820"/>
              <a:ext cx="1638" cy="883"/>
              <a:chOff x="2529" y="820"/>
              <a:chExt cx="1638" cy="883"/>
            </a:xfrm>
          </p:grpSpPr>
          <p:sp>
            <p:nvSpPr>
              <p:cNvPr id="94" name="Oval 156"/>
              <p:cNvSpPr>
                <a:spLocks noChangeArrowheads="1"/>
              </p:cNvSpPr>
              <p:nvPr/>
            </p:nvSpPr>
            <p:spPr bwMode="auto">
              <a:xfrm>
                <a:off x="3042" y="848"/>
                <a:ext cx="388" cy="284"/>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95" name="Oval 157"/>
              <p:cNvSpPr>
                <a:spLocks noChangeArrowheads="1"/>
              </p:cNvSpPr>
              <p:nvPr/>
            </p:nvSpPr>
            <p:spPr bwMode="auto">
              <a:xfrm>
                <a:off x="3374" y="820"/>
                <a:ext cx="313" cy="230"/>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96" name="Oval 158"/>
              <p:cNvSpPr>
                <a:spLocks noChangeArrowheads="1"/>
              </p:cNvSpPr>
              <p:nvPr/>
            </p:nvSpPr>
            <p:spPr bwMode="auto">
              <a:xfrm>
                <a:off x="3668" y="1065"/>
                <a:ext cx="499" cy="367"/>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97" name="Oval 159"/>
              <p:cNvSpPr>
                <a:spLocks noChangeArrowheads="1"/>
              </p:cNvSpPr>
              <p:nvPr/>
            </p:nvSpPr>
            <p:spPr bwMode="auto">
              <a:xfrm>
                <a:off x="2712" y="1228"/>
                <a:ext cx="570" cy="420"/>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98" name="Oval 160"/>
              <p:cNvSpPr>
                <a:spLocks noChangeArrowheads="1"/>
              </p:cNvSpPr>
              <p:nvPr/>
            </p:nvSpPr>
            <p:spPr bwMode="auto">
              <a:xfrm>
                <a:off x="3521" y="1282"/>
                <a:ext cx="422" cy="312"/>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99" name="Oval 161"/>
              <p:cNvSpPr>
                <a:spLocks noChangeArrowheads="1"/>
              </p:cNvSpPr>
              <p:nvPr/>
            </p:nvSpPr>
            <p:spPr bwMode="auto">
              <a:xfrm>
                <a:off x="2564" y="1310"/>
                <a:ext cx="315" cy="229"/>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00" name="Oval 162"/>
              <p:cNvSpPr>
                <a:spLocks noChangeArrowheads="1"/>
              </p:cNvSpPr>
              <p:nvPr/>
            </p:nvSpPr>
            <p:spPr bwMode="auto">
              <a:xfrm>
                <a:off x="2529" y="1119"/>
                <a:ext cx="312" cy="230"/>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01" name="Oval 163"/>
              <p:cNvSpPr>
                <a:spLocks noChangeArrowheads="1"/>
              </p:cNvSpPr>
              <p:nvPr/>
            </p:nvSpPr>
            <p:spPr bwMode="auto">
              <a:xfrm>
                <a:off x="2675" y="902"/>
                <a:ext cx="498" cy="366"/>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02" name="Oval 164"/>
              <p:cNvSpPr>
                <a:spLocks noChangeArrowheads="1"/>
              </p:cNvSpPr>
              <p:nvPr/>
            </p:nvSpPr>
            <p:spPr bwMode="auto">
              <a:xfrm>
                <a:off x="3115" y="1336"/>
                <a:ext cx="500" cy="367"/>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03" name="Oval 165"/>
              <p:cNvSpPr>
                <a:spLocks noChangeArrowheads="1"/>
              </p:cNvSpPr>
              <p:nvPr/>
            </p:nvSpPr>
            <p:spPr bwMode="auto">
              <a:xfrm>
                <a:off x="3742" y="929"/>
                <a:ext cx="386" cy="284"/>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04" name="Oval 166"/>
              <p:cNvSpPr>
                <a:spLocks noChangeArrowheads="1"/>
              </p:cNvSpPr>
              <p:nvPr/>
            </p:nvSpPr>
            <p:spPr bwMode="auto">
              <a:xfrm>
                <a:off x="3631" y="820"/>
                <a:ext cx="351" cy="258"/>
              </a:xfrm>
              <a:prstGeom prst="ellipse">
                <a:avLst/>
              </a:prstGeom>
              <a:solidFill>
                <a:srgbClr val="FFFFFF"/>
              </a:solidFill>
              <a:ln w="6350">
                <a:solidFill>
                  <a:srgbClr val="000000"/>
                </a:solidFill>
                <a:rou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05" name="Freeform 167"/>
              <p:cNvSpPr/>
              <p:nvPr/>
            </p:nvSpPr>
            <p:spPr bwMode="auto">
              <a:xfrm>
                <a:off x="2661" y="889"/>
                <a:ext cx="1415" cy="700"/>
              </a:xfrm>
              <a:custGeom>
                <a:avLst/>
                <a:gdLst>
                  <a:gd name="T0" fmla="*/ 436 w 1415"/>
                  <a:gd name="T1" fmla="*/ 70 h 700"/>
                  <a:gd name="T2" fmla="*/ 494 w 1415"/>
                  <a:gd name="T3" fmla="*/ 20 h 700"/>
                  <a:gd name="T4" fmla="*/ 759 w 1415"/>
                  <a:gd name="T5" fmla="*/ 24 h 700"/>
                  <a:gd name="T6" fmla="*/ 947 w 1415"/>
                  <a:gd name="T7" fmla="*/ 0 h 700"/>
                  <a:gd name="T8" fmla="*/ 1180 w 1415"/>
                  <a:gd name="T9" fmla="*/ 83 h 700"/>
                  <a:gd name="T10" fmla="*/ 1300 w 1415"/>
                  <a:gd name="T11" fmla="*/ 60 h 700"/>
                  <a:gd name="T12" fmla="*/ 1362 w 1415"/>
                  <a:gd name="T13" fmla="*/ 70 h 700"/>
                  <a:gd name="T14" fmla="*/ 1376 w 1415"/>
                  <a:gd name="T15" fmla="*/ 278 h 700"/>
                  <a:gd name="T16" fmla="*/ 1414 w 1415"/>
                  <a:gd name="T17" fmla="*/ 311 h 700"/>
                  <a:gd name="T18" fmla="*/ 1304 w 1415"/>
                  <a:gd name="T19" fmla="*/ 472 h 700"/>
                  <a:gd name="T20" fmla="*/ 1185 w 1415"/>
                  <a:gd name="T21" fmla="*/ 363 h 700"/>
                  <a:gd name="T22" fmla="*/ 1153 w 1415"/>
                  <a:gd name="T23" fmla="*/ 418 h 700"/>
                  <a:gd name="T24" fmla="*/ 986 w 1415"/>
                  <a:gd name="T25" fmla="*/ 640 h 700"/>
                  <a:gd name="T26" fmla="*/ 427 w 1415"/>
                  <a:gd name="T27" fmla="*/ 699 h 700"/>
                  <a:gd name="T28" fmla="*/ 135 w 1415"/>
                  <a:gd name="T29" fmla="*/ 655 h 700"/>
                  <a:gd name="T30" fmla="*/ 45 w 1415"/>
                  <a:gd name="T31" fmla="*/ 519 h 700"/>
                  <a:gd name="T32" fmla="*/ 45 w 1415"/>
                  <a:gd name="T33" fmla="*/ 379 h 700"/>
                  <a:gd name="T34" fmla="*/ 0 w 1415"/>
                  <a:gd name="T35" fmla="*/ 261 h 700"/>
                  <a:gd name="T36" fmla="*/ 436 w 1415"/>
                  <a:gd name="T37" fmla="*/ 7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5" h="700">
                    <a:moveTo>
                      <a:pt x="436" y="70"/>
                    </a:moveTo>
                    <a:lnTo>
                      <a:pt x="494" y="20"/>
                    </a:lnTo>
                    <a:lnTo>
                      <a:pt x="759" y="24"/>
                    </a:lnTo>
                    <a:lnTo>
                      <a:pt x="947" y="0"/>
                    </a:lnTo>
                    <a:lnTo>
                      <a:pt x="1180" y="83"/>
                    </a:lnTo>
                    <a:lnTo>
                      <a:pt x="1300" y="60"/>
                    </a:lnTo>
                    <a:lnTo>
                      <a:pt x="1362" y="70"/>
                    </a:lnTo>
                    <a:lnTo>
                      <a:pt x="1376" y="278"/>
                    </a:lnTo>
                    <a:lnTo>
                      <a:pt x="1414" y="311"/>
                    </a:lnTo>
                    <a:lnTo>
                      <a:pt x="1304" y="472"/>
                    </a:lnTo>
                    <a:lnTo>
                      <a:pt x="1185" y="363"/>
                    </a:lnTo>
                    <a:lnTo>
                      <a:pt x="1153" y="418"/>
                    </a:lnTo>
                    <a:lnTo>
                      <a:pt x="986" y="640"/>
                    </a:lnTo>
                    <a:lnTo>
                      <a:pt x="427" y="699"/>
                    </a:lnTo>
                    <a:lnTo>
                      <a:pt x="135" y="655"/>
                    </a:lnTo>
                    <a:lnTo>
                      <a:pt x="45" y="519"/>
                    </a:lnTo>
                    <a:lnTo>
                      <a:pt x="45" y="379"/>
                    </a:lnTo>
                    <a:lnTo>
                      <a:pt x="0" y="261"/>
                    </a:lnTo>
                    <a:lnTo>
                      <a:pt x="436" y="7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anose="020B0503020204020204" pitchFamily="34" charset="-122"/>
                  <a:ea typeface="微软雅黑" panose="020B0503020204020204" pitchFamily="34" charset="-122"/>
                </a:endParaRPr>
              </a:p>
            </p:txBody>
          </p:sp>
        </p:grpSp>
      </p:grpSp>
      <p:sp>
        <p:nvSpPr>
          <p:cNvPr id="58" name="Text Box 129"/>
          <p:cNvSpPr txBox="1">
            <a:spLocks noChangeArrowheads="1"/>
          </p:cNvSpPr>
          <p:nvPr/>
        </p:nvSpPr>
        <p:spPr bwMode="auto">
          <a:xfrm>
            <a:off x="3271632" y="2598843"/>
            <a:ext cx="748626" cy="344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smtClean="0">
                <a:latin typeface="微软雅黑" panose="020B0503020204020204" pitchFamily="34" charset="-122"/>
                <a:ea typeface="微软雅黑" panose="020B0503020204020204" pitchFamily="34" charset="-122"/>
              </a:rPr>
              <a:t>互联网</a:t>
            </a:r>
            <a:endParaRPr kumimoji="1" lang="zh-CN" altLang="en-US" sz="1400" b="1" dirty="0">
              <a:latin typeface="微软雅黑" panose="020B0503020204020204" pitchFamily="34" charset="-122"/>
              <a:ea typeface="微软雅黑" panose="020B0503020204020204" pitchFamily="34" charset="-122"/>
            </a:endParaRP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22365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最常用的两种情况</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185" name="Group 179"/>
          <p:cNvGraphicFramePr/>
          <p:nvPr/>
        </p:nvGraphicFramePr>
        <p:xfrm>
          <a:off x="766356" y="3395001"/>
          <a:ext cx="7593872" cy="941868"/>
        </p:xfrm>
        <a:graphic>
          <a:graphicData uri="http://schemas.openxmlformats.org/drawingml/2006/table">
            <a:tbl>
              <a:tblPr/>
              <a:tblGrid>
                <a:gridCol w="1306700"/>
                <a:gridCol w="1010335"/>
                <a:gridCol w="1010335"/>
                <a:gridCol w="1085389"/>
                <a:gridCol w="1085389"/>
                <a:gridCol w="1085389"/>
                <a:gridCol w="1010335"/>
              </a:tblGrid>
              <a:tr h="313956">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a:t>
                      </a:r>
                      <a:r>
                        <a:rPr lang="zh-CN" sz="1400" b="1" dirty="0" smtClean="0">
                          <a:solidFill>
                            <a:schemeClr val="bg1"/>
                          </a:solidFill>
                          <a:effectLst/>
                          <a:latin typeface="微软雅黑" panose="020B0503020204020204" pitchFamily="34" charset="-122"/>
                          <a:ea typeface="微软雅黑" panose="020B0503020204020204" pitchFamily="34" charset="-122"/>
                        </a:rPr>
                        <a:t>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来自</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r>
              <a:tr h="313956">
                <a:tc>
                  <a:txBody>
                    <a:bodyPr/>
                    <a:lstStyle/>
                    <a:p>
                      <a:pPr algn="ctr">
                        <a:lnSpc>
                          <a:spcPct val="100000"/>
                        </a:lnSpc>
                        <a:spcAft>
                          <a:spcPts val="0"/>
                        </a:spcAft>
                        <a:tabLst>
                          <a:tab pos="1752600" algn="l"/>
                        </a:tabLst>
                      </a:pPr>
                      <a:r>
                        <a:rPr lang="en-US" altLang="zh-CN" sz="1400" b="1" baseline="0" dirty="0" smtClean="0">
                          <a:solidFill>
                            <a:schemeClr val="tx1"/>
                          </a:solidFill>
                          <a:effectLst/>
                          <a:latin typeface="微软雅黑" panose="020B0503020204020204" pitchFamily="34" charset="-122"/>
                          <a:ea typeface="微软雅黑" panose="020B0503020204020204" pitchFamily="34" charset="-122"/>
                        </a:rPr>
                        <a:t>A</a:t>
                      </a:r>
                      <a:r>
                        <a:rPr lang="en-US" sz="1400" b="1" baseline="0" dirty="0" smtClean="0">
                          <a:solidFill>
                            <a:schemeClr val="tx1"/>
                          </a:solidFill>
                          <a:effectLst/>
                          <a:latin typeface="微软雅黑" panose="020B0503020204020204" pitchFamily="34" charset="-122"/>
                          <a:ea typeface="微软雅黑" panose="020B0503020204020204" pitchFamily="34" charset="-12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a:t>
                      </a:r>
                      <a:r>
                        <a:rPr lang="en-US" sz="1400" b="1" dirty="0" smtClean="0">
                          <a:solidFill>
                            <a:schemeClr val="tx1"/>
                          </a:solidFill>
                          <a:effectLst/>
                          <a:latin typeface="微软雅黑" panose="020B0503020204020204" pitchFamily="34" charset="-122"/>
                          <a:ea typeface="微软雅黑" panose="020B0503020204020204" pitchFamily="34" charset="-122"/>
                        </a:rPr>
                        <a:t> 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 </a:t>
                      </a:r>
                      <a:r>
                        <a:rPr lang="zh-CN" sz="1400" b="1" dirty="0" smtClean="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A </a:t>
                      </a:r>
                      <a:r>
                        <a:rPr lang="zh-CN" sz="1400" b="1" dirty="0" smtClean="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B </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a:t>
                      </a:r>
                      <a:r>
                        <a:rPr lang="zh-CN" sz="1400" b="1" dirty="0" smtClean="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13956">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 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B </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a:t>
                      </a:r>
                      <a:r>
                        <a:rPr lang="zh-CN" sz="1400" b="1" dirty="0" smtClean="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 </a:t>
                      </a:r>
                      <a:r>
                        <a:rPr lang="zh-CN" sz="1400" b="1" dirty="0" smtClean="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A </a:t>
                      </a:r>
                      <a:r>
                        <a:rPr lang="zh-CN" sz="1400" b="1" dirty="0" smtClean="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r>
            </a:tbl>
          </a:graphicData>
        </a:graphic>
      </p:graphicFrame>
      <p:grpSp>
        <p:nvGrpSpPr>
          <p:cNvPr id="186" name="组合 185"/>
          <p:cNvGrpSpPr/>
          <p:nvPr/>
        </p:nvGrpSpPr>
        <p:grpSpPr>
          <a:xfrm>
            <a:off x="7282255" y="1735918"/>
            <a:ext cx="597186" cy="423778"/>
            <a:chOff x="4406004" y="4260453"/>
            <a:chExt cx="542790" cy="429804"/>
          </a:xfrm>
        </p:grpSpPr>
        <p:grpSp>
          <p:nvGrpSpPr>
            <p:cNvPr id="187" name="Group 460"/>
            <p:cNvGrpSpPr/>
            <p:nvPr/>
          </p:nvGrpSpPr>
          <p:grpSpPr bwMode="auto">
            <a:xfrm>
              <a:off x="4527888" y="4322623"/>
              <a:ext cx="420906" cy="367634"/>
              <a:chOff x="645"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97" name="组合 196"/>
          <p:cNvGrpSpPr/>
          <p:nvPr/>
        </p:nvGrpSpPr>
        <p:grpSpPr>
          <a:xfrm>
            <a:off x="6716713" y="2458056"/>
            <a:ext cx="597186" cy="423778"/>
            <a:chOff x="4406004" y="4260453"/>
            <a:chExt cx="542790" cy="429804"/>
          </a:xfrm>
        </p:grpSpPr>
        <p:grpSp>
          <p:nvGrpSpPr>
            <p:cNvPr id="198" name="Group 460"/>
            <p:cNvGrpSpPr/>
            <p:nvPr/>
          </p:nvGrpSpPr>
          <p:grpSpPr bwMode="auto">
            <a:xfrm>
              <a:off x="4527888" y="4322623"/>
              <a:ext cx="420906" cy="367634"/>
              <a:chOff x="645" y="1570"/>
              <a:chExt cx="318" cy="318"/>
            </a:xfrm>
          </p:grpSpPr>
          <p:sp>
            <p:nvSpPr>
              <p:cNvPr id="20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7"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9" name="Group 463"/>
            <p:cNvGrpSpPr/>
            <p:nvPr/>
          </p:nvGrpSpPr>
          <p:grpSpPr bwMode="auto">
            <a:xfrm>
              <a:off x="4406004" y="4260453"/>
              <a:ext cx="405022" cy="119404"/>
              <a:chOff x="748" y="2251"/>
              <a:chExt cx="306" cy="90"/>
            </a:xfrm>
            <a:solidFill>
              <a:srgbClr val="0066FF"/>
            </a:solidFill>
          </p:grpSpPr>
          <p:sp>
            <p:nvSpPr>
              <p:cNvPr id="20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8" name="组合 207"/>
          <p:cNvGrpSpPr/>
          <p:nvPr/>
        </p:nvGrpSpPr>
        <p:grpSpPr>
          <a:xfrm>
            <a:off x="1273812" y="2391039"/>
            <a:ext cx="597186" cy="423778"/>
            <a:chOff x="4406004" y="4260453"/>
            <a:chExt cx="542790" cy="429804"/>
          </a:xfrm>
        </p:grpSpPr>
        <p:grpSp>
          <p:nvGrpSpPr>
            <p:cNvPr id="209" name="Group 460"/>
            <p:cNvGrpSpPr/>
            <p:nvPr/>
          </p:nvGrpSpPr>
          <p:grpSpPr bwMode="auto">
            <a:xfrm>
              <a:off x="4527888" y="4322623"/>
              <a:ext cx="420906" cy="367634"/>
              <a:chOff x="645" y="1570"/>
              <a:chExt cx="318" cy="318"/>
            </a:xfrm>
          </p:grpSpPr>
          <p:sp>
            <p:nvSpPr>
              <p:cNvPr id="21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0" name="Group 463"/>
            <p:cNvGrpSpPr/>
            <p:nvPr/>
          </p:nvGrpSpPr>
          <p:grpSpPr bwMode="auto">
            <a:xfrm>
              <a:off x="4406004" y="4260453"/>
              <a:ext cx="405022" cy="119404"/>
              <a:chOff x="748" y="2251"/>
              <a:chExt cx="306" cy="90"/>
            </a:xfrm>
            <a:solidFill>
              <a:srgbClr val="0066FF"/>
            </a:solidFill>
          </p:grpSpPr>
          <p:sp>
            <p:nvSpPr>
              <p:cNvPr id="2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19" name="组合 218"/>
          <p:cNvGrpSpPr/>
          <p:nvPr/>
        </p:nvGrpSpPr>
        <p:grpSpPr>
          <a:xfrm>
            <a:off x="5123274" y="2542763"/>
            <a:ext cx="597186" cy="423778"/>
            <a:chOff x="4406004" y="4260453"/>
            <a:chExt cx="542790" cy="429804"/>
          </a:xfrm>
        </p:grpSpPr>
        <p:grpSp>
          <p:nvGrpSpPr>
            <p:cNvPr id="220" name="Group 460"/>
            <p:cNvGrpSpPr/>
            <p:nvPr/>
          </p:nvGrpSpPr>
          <p:grpSpPr bwMode="auto">
            <a:xfrm>
              <a:off x="4527888" y="4322623"/>
              <a:ext cx="420906" cy="367634"/>
              <a:chOff x="645" y="1570"/>
              <a:chExt cx="318" cy="318"/>
            </a:xfrm>
          </p:grpSpPr>
          <p:sp>
            <p:nvSpPr>
              <p:cNvPr id="22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29"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1" name="Group 463"/>
            <p:cNvGrpSpPr/>
            <p:nvPr/>
          </p:nvGrpSpPr>
          <p:grpSpPr bwMode="auto">
            <a:xfrm>
              <a:off x="4406004" y="4260453"/>
              <a:ext cx="405022" cy="119404"/>
              <a:chOff x="748" y="2251"/>
              <a:chExt cx="306" cy="90"/>
            </a:xfrm>
            <a:solidFill>
              <a:srgbClr val="0066FF"/>
            </a:solidFill>
          </p:grpSpPr>
          <p:sp>
            <p:nvSpPr>
              <p:cNvPr id="2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2"/>
            <a:ext cx="8128800" cy="309386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8" y="1017564"/>
            <a:ext cx="6030051" cy="338554"/>
          </a:xfrm>
          <a:prstGeom prst="rect">
            <a:avLst/>
          </a:prstGeom>
          <a:noFill/>
          <a:ln>
            <a:noFill/>
          </a:ln>
        </p:spPr>
        <p:txBody>
          <a:bodyPr wrap="square">
            <a:spAutoFit/>
          </a:bodyPr>
          <a:lstStyle/>
          <a:p>
            <a:pPr algn="ctr"/>
            <a:r>
              <a:rPr lang="zh-CN" altLang="en-US" sz="1600" b="1" dirty="0">
                <a:solidFill>
                  <a:srgbClr val="0000CC"/>
                </a:solidFill>
                <a:latin typeface="微软雅黑" panose="020B0503020204020204" pitchFamily="34" charset="-122"/>
                <a:ea typeface="微软雅黑" panose="020B0503020204020204" pitchFamily="34" charset="-122"/>
              </a:rPr>
              <a:t>站点 </a:t>
            </a:r>
            <a:r>
              <a:rPr lang="en-US" altLang="zh-CN" sz="1600" b="1" dirty="0">
                <a:solidFill>
                  <a:srgbClr val="0000CC"/>
                </a:solidFill>
                <a:latin typeface="微软雅黑" panose="020B0503020204020204" pitchFamily="34" charset="-122"/>
                <a:ea typeface="微软雅黑" panose="020B0503020204020204" pitchFamily="34" charset="-122"/>
              </a:rPr>
              <a:t>A </a:t>
            </a:r>
            <a:r>
              <a:rPr lang="zh-CN" altLang="en-US" sz="1600" b="1" dirty="0">
                <a:solidFill>
                  <a:srgbClr val="0000CC"/>
                </a:solidFill>
                <a:latin typeface="微软雅黑" panose="020B0503020204020204" pitchFamily="34" charset="-122"/>
                <a:ea typeface="微软雅黑" panose="020B0503020204020204" pitchFamily="34" charset="-122"/>
              </a:rPr>
              <a:t>向 </a:t>
            </a:r>
            <a:r>
              <a:rPr lang="en-US" altLang="zh-CN" sz="1600" b="1" dirty="0" smtClean="0">
                <a:solidFill>
                  <a:srgbClr val="0000CC"/>
                </a:solidFill>
                <a:latin typeface="微软雅黑" panose="020B0503020204020204" pitchFamily="34" charset="-122"/>
                <a:ea typeface="微软雅黑" panose="020B0503020204020204" pitchFamily="34" charset="-122"/>
              </a:rPr>
              <a:t>B </a:t>
            </a:r>
            <a:r>
              <a:rPr lang="zh-CN" altLang="en-US" sz="1600" b="1" dirty="0">
                <a:solidFill>
                  <a:srgbClr val="0000CC"/>
                </a:solidFill>
                <a:latin typeface="微软雅黑" panose="020B0503020204020204" pitchFamily="34" charset="-122"/>
                <a:ea typeface="微软雅黑" panose="020B0503020204020204" pitchFamily="34" charset="-122"/>
              </a:rPr>
              <a:t>发送数据帧</a:t>
            </a:r>
            <a:r>
              <a:rPr lang="zh-CN" altLang="en-US" sz="1600" b="1" dirty="0" smtClean="0">
                <a:solidFill>
                  <a:srgbClr val="0000CC"/>
                </a:solidFill>
                <a:latin typeface="微软雅黑" panose="020B0503020204020204" pitchFamily="34" charset="-122"/>
                <a:ea typeface="微软雅黑" panose="020B0503020204020204" pitchFamily="34" charset="-122"/>
              </a:rPr>
              <a:t>，</a:t>
            </a:r>
            <a:r>
              <a:rPr lang="zh-CN" altLang="en-US" sz="1600" b="1" dirty="0">
                <a:solidFill>
                  <a:srgbClr val="0000CC"/>
                </a:solidFill>
                <a:latin typeface="微软雅黑" panose="020B0503020204020204" pitchFamily="34" charset="-122"/>
                <a:ea typeface="微软雅黑" panose="020B0503020204020204" pitchFamily="34" charset="-122"/>
              </a:rPr>
              <a:t>必须</a:t>
            </a:r>
            <a:r>
              <a:rPr lang="zh-CN" altLang="en-US" sz="1600" b="1" dirty="0" smtClean="0">
                <a:solidFill>
                  <a:srgbClr val="0000CC"/>
                </a:solidFill>
                <a:latin typeface="微软雅黑" panose="020B0503020204020204" pitchFamily="34" charset="-122"/>
                <a:ea typeface="微软雅黑" panose="020B0503020204020204" pitchFamily="34" charset="-122"/>
              </a:rPr>
              <a:t>经过路由器 </a:t>
            </a:r>
            <a:r>
              <a:rPr lang="en-US" altLang="zh-CN" sz="1600" b="1" dirty="0">
                <a:solidFill>
                  <a:srgbClr val="0000CC"/>
                </a:solidFill>
                <a:latin typeface="微软雅黑" panose="020B0503020204020204" pitchFamily="34" charset="-122"/>
                <a:ea typeface="微软雅黑" panose="020B0503020204020204" pitchFamily="34" charset="-122"/>
              </a:rPr>
              <a:t>R </a:t>
            </a:r>
            <a:r>
              <a:rPr lang="zh-CN" altLang="en-US" sz="1600" b="1" dirty="0" smtClean="0">
                <a:solidFill>
                  <a:srgbClr val="0000CC"/>
                </a:solidFill>
                <a:latin typeface="微软雅黑" panose="020B0503020204020204" pitchFamily="34" charset="-122"/>
                <a:ea typeface="微软雅黑" panose="020B0503020204020204" pitchFamily="34" charset="-122"/>
              </a:rPr>
              <a:t>和 </a:t>
            </a:r>
            <a:r>
              <a:rPr lang="en-US" altLang="zh-CN" sz="1600" b="1" dirty="0" smtClean="0">
                <a:solidFill>
                  <a:srgbClr val="0000CC"/>
                </a:solidFill>
                <a:latin typeface="微软雅黑" panose="020B0503020204020204" pitchFamily="34" charset="-122"/>
                <a:ea typeface="微软雅黑" panose="020B0503020204020204" pitchFamily="34" charset="-122"/>
              </a:rPr>
              <a:t>AP</a:t>
            </a:r>
            <a:r>
              <a:rPr lang="en-US" altLang="zh-CN" sz="1600" b="1" baseline="-25000" dirty="0" smtClean="0">
                <a:solidFill>
                  <a:srgbClr val="0000CC"/>
                </a:solidFill>
                <a:latin typeface="微软雅黑" panose="020B0503020204020204" pitchFamily="34" charset="-122"/>
                <a:ea typeface="微软雅黑" panose="020B0503020204020204" pitchFamily="34" charset="-122"/>
              </a:rPr>
              <a:t>2</a:t>
            </a:r>
            <a:r>
              <a:rPr lang="en-US" altLang="zh-CN" sz="1600" b="1" dirty="0" smtClean="0">
                <a:solidFill>
                  <a:srgbClr val="0000CC"/>
                </a:solidFill>
                <a:latin typeface="微软雅黑" panose="020B0503020204020204" pitchFamily="34" charset="-122"/>
                <a:ea typeface="微软雅黑" panose="020B0503020204020204" pitchFamily="34" charset="-122"/>
              </a:rPr>
              <a:t> </a:t>
            </a:r>
            <a:r>
              <a:rPr lang="zh-CN" altLang="en-US" sz="1600" b="1" dirty="0" smtClean="0">
                <a:solidFill>
                  <a:srgbClr val="0000CC"/>
                </a:solidFill>
                <a:latin typeface="微软雅黑" panose="020B0503020204020204" pitchFamily="34" charset="-122"/>
                <a:ea typeface="微软雅黑" panose="020B0503020204020204" pitchFamily="34" charset="-122"/>
              </a:rPr>
              <a:t>向 </a:t>
            </a:r>
            <a:r>
              <a:rPr lang="en-US" altLang="zh-CN" sz="1600" b="1" dirty="0" smtClean="0">
                <a:solidFill>
                  <a:srgbClr val="0000CC"/>
                </a:solidFill>
                <a:latin typeface="微软雅黑" panose="020B0503020204020204" pitchFamily="34" charset="-122"/>
                <a:ea typeface="微软雅黑" panose="020B0503020204020204" pitchFamily="34" charset="-122"/>
              </a:rPr>
              <a:t>B </a:t>
            </a:r>
            <a:r>
              <a:rPr lang="zh-CN" altLang="en-US" sz="1600" b="1" dirty="0" smtClean="0">
                <a:solidFill>
                  <a:srgbClr val="0000CC"/>
                </a:solidFill>
                <a:latin typeface="微软雅黑" panose="020B0503020204020204" pitchFamily="34" charset="-122"/>
                <a:ea typeface="微软雅黑" panose="020B0503020204020204" pitchFamily="34" charset="-122"/>
              </a:rPr>
              <a:t>转发。</a:t>
            </a:r>
            <a:endParaRPr lang="zh-CN" altLang="en-US" sz="1600" b="1" dirty="0">
              <a:solidFill>
                <a:srgbClr val="0000CC"/>
              </a:solidFill>
              <a:latin typeface="微软雅黑" panose="020B0503020204020204" pitchFamily="34" charset="-122"/>
              <a:ea typeface="微软雅黑" panose="020B0503020204020204" pitchFamily="34" charset="-122"/>
            </a:endParaRP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复杂情况：站点处在</a:t>
            </a:r>
            <a:r>
              <a:rPr lang="zh-CN" altLang="en-US" sz="2000" b="1" dirty="0">
                <a:latin typeface="微软雅黑" panose="020B0503020204020204" pitchFamily="34" charset="-122"/>
                <a:ea typeface="微软雅黑" panose="020B0503020204020204" pitchFamily="34" charset="-122"/>
              </a:rPr>
              <a:t>不同的两个</a:t>
            </a:r>
            <a:r>
              <a:rPr lang="zh-CN" altLang="en-US" sz="2000" b="1" dirty="0" smtClean="0">
                <a:latin typeface="微软雅黑" panose="020B0503020204020204" pitchFamily="34" charset="-122"/>
                <a:ea typeface="微软雅黑" panose="020B0503020204020204" pitchFamily="34" charset="-122"/>
              </a:rPr>
              <a:t>子网中</a:t>
            </a:r>
            <a:endParaRPr lang="zh-CN" altLang="en-US" sz="2000" b="1" dirty="0">
              <a:latin typeface="微软雅黑" panose="020B0503020204020204" pitchFamily="34" charset="-122"/>
              <a:ea typeface="微软雅黑" panose="020B0503020204020204" pitchFamily="34" charset="-122"/>
            </a:endParaRPr>
          </a:p>
        </p:txBody>
      </p:sp>
      <p:sp>
        <p:nvSpPr>
          <p:cNvPr id="181" name="Oval 4"/>
          <p:cNvSpPr>
            <a:spLocks noChangeArrowheads="1"/>
          </p:cNvSpPr>
          <p:nvPr/>
        </p:nvSpPr>
        <p:spPr bwMode="auto">
          <a:xfrm>
            <a:off x="4935961" y="1608993"/>
            <a:ext cx="3460693" cy="1544474"/>
          </a:xfrm>
          <a:prstGeom prst="ellipse">
            <a:avLst/>
          </a:prstGeom>
          <a:solidFill>
            <a:srgbClr val="FFFFFF"/>
          </a:solidFill>
          <a:ln w="9525">
            <a:solidFill>
              <a:schemeClr val="tx1"/>
            </a:solidFill>
            <a:prstDash val="dash"/>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Line 55"/>
          <p:cNvSpPr>
            <a:spLocks noChangeShapeType="1"/>
          </p:cNvSpPr>
          <p:nvPr/>
        </p:nvSpPr>
        <p:spPr bwMode="auto">
          <a:xfrm>
            <a:off x="4568939" y="2341287"/>
            <a:ext cx="1345306" cy="88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60"/>
          <p:cNvSpPr>
            <a:spLocks noChangeShapeType="1"/>
          </p:cNvSpPr>
          <p:nvPr/>
        </p:nvSpPr>
        <p:spPr bwMode="auto">
          <a:xfrm>
            <a:off x="4512884" y="2415256"/>
            <a:ext cx="60058" cy="53701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aphicFrame>
        <p:nvGraphicFramePr>
          <p:cNvPr id="216" name="Object 63"/>
          <p:cNvGraphicFramePr>
            <a:graphicFrameLocks noChangeAspect="1"/>
          </p:cNvGraphicFramePr>
          <p:nvPr/>
        </p:nvGraphicFramePr>
        <p:xfrm>
          <a:off x="3725453" y="2683024"/>
          <a:ext cx="1513469" cy="939407"/>
        </p:xfrm>
        <a:graphic>
          <a:graphicData uri="http://schemas.openxmlformats.org/presentationml/2006/ole">
            <mc:AlternateContent xmlns:mc="http://schemas.openxmlformats.org/markup-compatibility/2006">
              <mc:Choice xmlns:v="urn:schemas-microsoft-com:vml" Requires="v">
                <p:oleObj spid="_x0000_s12289" name="VISIO" r:id="rId1" imgW="3514725" imgH="2009775" progId="">
                  <p:embed/>
                </p:oleObj>
              </mc:Choice>
              <mc:Fallback>
                <p:oleObj name="VISIO" r:id="rId1" imgW="3514725" imgH="2009775" progId="">
                  <p:embed/>
                  <p:pic>
                    <p:nvPicPr>
                      <p:cNvPr id="0" name="图片 12288"/>
                      <p:cNvPicPr>
                        <a:picLocks noChangeAspect="1"/>
                      </p:cNvPicPr>
                      <p:nvPr/>
                    </p:nvPicPr>
                    <p:blipFill>
                      <a:blip r:embed="rId2"/>
                      <a:stretch>
                        <a:fillRect/>
                      </a:stretch>
                    </p:blipFill>
                    <p:spPr>
                      <a:xfrm>
                        <a:off x="3725453" y="2683024"/>
                        <a:ext cx="1513469" cy="93940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217" name="Text Box 64"/>
          <p:cNvSpPr txBox="1">
            <a:spLocks noChangeArrowheads="1"/>
          </p:cNvSpPr>
          <p:nvPr/>
        </p:nvSpPr>
        <p:spPr bwMode="auto">
          <a:xfrm>
            <a:off x="4141857" y="2978398"/>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endParaRPr kumimoji="1" lang="zh-CN" altLang="en-US" sz="1400" b="1" dirty="0">
              <a:latin typeface="微软雅黑" panose="020B0503020204020204" pitchFamily="34" charset="-122"/>
              <a:ea typeface="微软雅黑" panose="020B0503020204020204" pitchFamily="34" charset="-122"/>
            </a:endParaRPr>
          </a:p>
        </p:txBody>
      </p:sp>
      <p:sp>
        <p:nvSpPr>
          <p:cNvPr id="218" name="Text Box 66"/>
          <p:cNvSpPr txBox="1">
            <a:spLocks noChangeArrowheads="1"/>
          </p:cNvSpPr>
          <p:nvPr/>
        </p:nvSpPr>
        <p:spPr bwMode="auto">
          <a:xfrm>
            <a:off x="4364740" y="1967003"/>
            <a:ext cx="297534"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R</a:t>
            </a:r>
            <a:endParaRPr kumimoji="1" lang="en-US" altLang="zh-CN" sz="1200" b="1" baseline="-25000">
              <a:latin typeface="微软雅黑" panose="020B0503020204020204" pitchFamily="34" charset="-122"/>
              <a:ea typeface="微软雅黑" panose="020B0503020204020204" pitchFamily="34" charset="-122"/>
            </a:endParaRPr>
          </a:p>
        </p:txBody>
      </p:sp>
      <p:sp>
        <p:nvSpPr>
          <p:cNvPr id="219" name="Oval 67"/>
          <p:cNvSpPr>
            <a:spLocks noChangeArrowheads="1"/>
          </p:cNvSpPr>
          <p:nvPr/>
        </p:nvSpPr>
        <p:spPr bwMode="auto">
          <a:xfrm>
            <a:off x="738554" y="1608993"/>
            <a:ext cx="3289860" cy="1544474"/>
          </a:xfrm>
          <a:prstGeom prst="ellipse">
            <a:avLst/>
          </a:prstGeom>
          <a:solidFill>
            <a:srgbClr val="FFFFFF"/>
          </a:solidFill>
          <a:ln w="9525">
            <a:solidFill>
              <a:schemeClr val="tx1"/>
            </a:solidFill>
            <a:prstDash val="dash"/>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4" name="Text Box 82"/>
          <p:cNvSpPr txBox="1">
            <a:spLocks noChangeArrowheads="1"/>
          </p:cNvSpPr>
          <p:nvPr/>
        </p:nvSpPr>
        <p:spPr bwMode="auto">
          <a:xfrm>
            <a:off x="4512884" y="241525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0</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5" name="Text Box 83"/>
          <p:cNvSpPr txBox="1">
            <a:spLocks noChangeArrowheads="1"/>
          </p:cNvSpPr>
          <p:nvPr/>
        </p:nvSpPr>
        <p:spPr bwMode="auto">
          <a:xfrm>
            <a:off x="4694394" y="2079436"/>
            <a:ext cx="28447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1</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6" name="Text Box 84"/>
          <p:cNvSpPr txBox="1">
            <a:spLocks noChangeArrowheads="1"/>
          </p:cNvSpPr>
          <p:nvPr/>
        </p:nvSpPr>
        <p:spPr bwMode="auto">
          <a:xfrm>
            <a:off x="4091141" y="207943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2</a:t>
            </a:r>
            <a:endParaRPr kumimoji="1" lang="en-US" altLang="zh-CN" sz="1200" b="1" baseline="-25000">
              <a:latin typeface="微软雅黑" panose="020B0503020204020204" pitchFamily="34" charset="-122"/>
              <a:ea typeface="微软雅黑" panose="020B0503020204020204" pitchFamily="34" charset="-122"/>
            </a:endParaRPr>
          </a:p>
        </p:txBody>
      </p:sp>
      <p:sp>
        <p:nvSpPr>
          <p:cNvPr id="240" name="Line 61"/>
          <p:cNvSpPr>
            <a:spLocks noChangeShapeType="1"/>
          </p:cNvSpPr>
          <p:nvPr/>
        </p:nvSpPr>
        <p:spPr bwMode="auto">
          <a:xfrm flipV="1">
            <a:off x="3184928" y="2350163"/>
            <a:ext cx="1142442" cy="4438"/>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7" name="Picture 5"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02232" y="2002508"/>
            <a:ext cx="629945" cy="58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 Box 6"/>
          <p:cNvSpPr txBox="1">
            <a:spLocks noChangeArrowheads="1"/>
          </p:cNvSpPr>
          <p:nvPr/>
        </p:nvSpPr>
        <p:spPr bwMode="auto">
          <a:xfrm>
            <a:off x="5941382" y="1822405"/>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endParaRPr kumimoji="1" lang="en-US" altLang="zh-CN" sz="1200" b="1" baseline="-25000" dirty="0">
              <a:solidFill>
                <a:srgbClr val="9900CC"/>
              </a:solidFill>
              <a:latin typeface="微软雅黑" panose="020B0503020204020204" pitchFamily="34" charset="-122"/>
              <a:ea typeface="微软雅黑" panose="020B0503020204020204" pitchFamily="34" charset="-122"/>
            </a:endParaRPr>
          </a:p>
        </p:txBody>
      </p:sp>
      <p:sp>
        <p:nvSpPr>
          <p:cNvPr id="211" name="Text Box 48"/>
          <p:cNvSpPr txBox="1">
            <a:spLocks noChangeArrowheads="1"/>
          </p:cNvSpPr>
          <p:nvPr/>
        </p:nvSpPr>
        <p:spPr bwMode="auto">
          <a:xfrm>
            <a:off x="6570882" y="2884219"/>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solidFill>
                  <a:srgbClr val="0000CC"/>
                </a:solidFill>
                <a:latin typeface="微软雅黑" panose="020B0503020204020204" pitchFamily="34" charset="-122"/>
                <a:ea typeface="微软雅黑" panose="020B0503020204020204" pitchFamily="34" charset="-122"/>
              </a:rPr>
              <a:t>BSS</a:t>
            </a:r>
            <a:r>
              <a:rPr kumimoji="1" lang="en-US" altLang="zh-CN" sz="1200" b="1" baseline="-25000">
                <a:solidFill>
                  <a:srgbClr val="0000CC"/>
                </a:solidFill>
                <a:latin typeface="微软雅黑" panose="020B0503020204020204" pitchFamily="34" charset="-122"/>
                <a:ea typeface="微软雅黑" panose="020B0503020204020204" pitchFamily="34" charset="-122"/>
              </a:rPr>
              <a:t>1</a:t>
            </a:r>
            <a:endParaRPr kumimoji="1" lang="en-US" altLang="zh-CN" sz="1200" b="1" baseline="-25000">
              <a:solidFill>
                <a:srgbClr val="0000CC"/>
              </a:solidFill>
              <a:latin typeface="微软雅黑" panose="020B0503020204020204" pitchFamily="34" charset="-122"/>
              <a:ea typeface="微软雅黑" panose="020B0503020204020204" pitchFamily="34" charset="-122"/>
            </a:endParaRPr>
          </a:p>
        </p:txBody>
      </p:sp>
      <p:sp>
        <p:nvSpPr>
          <p:cNvPr id="212" name="Text Box 49"/>
          <p:cNvSpPr txBox="1">
            <a:spLocks noChangeArrowheads="1"/>
          </p:cNvSpPr>
          <p:nvPr/>
        </p:nvSpPr>
        <p:spPr bwMode="auto">
          <a:xfrm>
            <a:off x="7780055" y="1978838"/>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A</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213" name="Line 52"/>
          <p:cNvSpPr>
            <a:spLocks noChangeShapeType="1"/>
          </p:cNvSpPr>
          <p:nvPr/>
        </p:nvSpPr>
        <p:spPr bwMode="auto">
          <a:xfrm flipH="1">
            <a:off x="6267921" y="2097189"/>
            <a:ext cx="1195827" cy="22191"/>
          </a:xfrm>
          <a:prstGeom prst="line">
            <a:avLst/>
          </a:prstGeom>
          <a:noFill/>
          <a:ln w="9525">
            <a:solidFill>
              <a:schemeClr val="tx1"/>
            </a:solidFill>
            <a:prstDash val="dash"/>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7" name="矩形 236"/>
          <p:cNvSpPr/>
          <p:nvPr/>
        </p:nvSpPr>
        <p:spPr>
          <a:xfrm>
            <a:off x="6568213" y="1779123"/>
            <a:ext cx="796773" cy="25593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38" name="直接连接符 237"/>
          <p:cNvCxnSpPr/>
          <p:nvPr/>
        </p:nvCxnSpPr>
        <p:spPr>
          <a:xfrm flipH="1">
            <a:off x="6389372" y="1915225"/>
            <a:ext cx="181510"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39" name="Text Box 48"/>
          <p:cNvSpPr txBox="1">
            <a:spLocks noChangeArrowheads="1"/>
          </p:cNvSpPr>
          <p:nvPr/>
        </p:nvSpPr>
        <p:spPr bwMode="auto">
          <a:xfrm>
            <a:off x="6516911" y="1802909"/>
            <a:ext cx="918074"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nvGrpSpPr>
          <p:cNvPr id="249" name="组合 92"/>
          <p:cNvGrpSpPr/>
          <p:nvPr/>
        </p:nvGrpSpPr>
        <p:grpSpPr bwMode="auto">
          <a:xfrm>
            <a:off x="4985341" y="2039492"/>
            <a:ext cx="938772" cy="278708"/>
            <a:chOff x="3275856" y="908720"/>
            <a:chExt cx="1116183" cy="299898"/>
          </a:xfrm>
        </p:grpSpPr>
        <p:sp>
          <p:nvSpPr>
            <p:cNvPr id="250" name="矩形 249"/>
            <p:cNvSpPr/>
            <p:nvPr/>
          </p:nvSpPr>
          <p:spPr>
            <a:xfrm>
              <a:off x="3491667" y="908720"/>
              <a:ext cx="842616" cy="273799"/>
            </a:xfrm>
            <a:prstGeom prst="rect">
              <a:avLst/>
            </a:prstGeom>
            <a:solidFill>
              <a:srgbClr val="66C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51" name="直接连接符 250"/>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52" name="Text Box 48"/>
            <p:cNvSpPr txBox="1">
              <a:spLocks noChangeArrowheads="1"/>
            </p:cNvSpPr>
            <p:nvPr/>
          </p:nvSpPr>
          <p:spPr bwMode="auto">
            <a:xfrm>
              <a:off x="3415022" y="928116"/>
              <a:ext cx="977017" cy="280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4" name="Text Box 48"/>
          <p:cNvSpPr txBox="1">
            <a:spLocks noChangeArrowheads="1"/>
          </p:cNvSpPr>
          <p:nvPr/>
        </p:nvSpPr>
        <p:spPr bwMode="auto">
          <a:xfrm>
            <a:off x="6596239"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1</a:t>
            </a:r>
            <a:endParaRPr kumimoji="1" lang="en-US" altLang="zh-CN" sz="1400" b="1" baseline="-25000" dirty="0">
              <a:latin typeface="微软雅黑" panose="020B0503020204020204" pitchFamily="34" charset="-122"/>
              <a:ea typeface="微软雅黑" panose="020B0503020204020204" pitchFamily="34" charset="-122"/>
            </a:endParaRPr>
          </a:p>
        </p:txBody>
      </p:sp>
      <p:sp>
        <p:nvSpPr>
          <p:cNvPr id="256" name="Text Box 48"/>
          <p:cNvSpPr txBox="1">
            <a:spLocks noChangeArrowheads="1"/>
          </p:cNvSpPr>
          <p:nvPr/>
        </p:nvSpPr>
        <p:spPr bwMode="auto">
          <a:xfrm>
            <a:off x="7671939" y="2491990"/>
            <a:ext cx="411321"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A</a:t>
            </a:r>
            <a:endParaRPr kumimoji="1" lang="en-US" altLang="zh-CN" sz="1200" b="1" baseline="-25000" dirty="0">
              <a:latin typeface="微软雅黑" panose="020B0503020204020204" pitchFamily="34" charset="-122"/>
              <a:ea typeface="微软雅黑" panose="020B0503020204020204" pitchFamily="34" charset="-122"/>
            </a:endParaRPr>
          </a:p>
        </p:txBody>
      </p:sp>
      <p:sp>
        <p:nvSpPr>
          <p:cNvPr id="258" name="Text Box 64"/>
          <p:cNvSpPr txBox="1">
            <a:spLocks noChangeArrowheads="1"/>
          </p:cNvSpPr>
          <p:nvPr/>
        </p:nvSpPr>
        <p:spPr bwMode="auto">
          <a:xfrm>
            <a:off x="7307598" y="2280632"/>
            <a:ext cx="101024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A</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0" name="Text Box 64"/>
          <p:cNvSpPr txBox="1">
            <a:spLocks noChangeArrowheads="1"/>
          </p:cNvSpPr>
          <p:nvPr/>
        </p:nvSpPr>
        <p:spPr bwMode="auto">
          <a:xfrm>
            <a:off x="5667337" y="2527020"/>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1</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14" name="Line 58"/>
          <p:cNvSpPr>
            <a:spLocks noChangeShapeType="1"/>
          </p:cNvSpPr>
          <p:nvPr/>
        </p:nvSpPr>
        <p:spPr bwMode="auto">
          <a:xfrm flipH="1" flipV="1">
            <a:off x="1457918" y="2274714"/>
            <a:ext cx="1178478" cy="5918"/>
          </a:xfrm>
          <a:prstGeom prst="line">
            <a:avLst/>
          </a:prstGeom>
          <a:noFill/>
          <a:ln w="9525">
            <a:solidFill>
              <a:schemeClr val="tx1"/>
            </a:solidFill>
            <a:prstDash val="dash"/>
            <a:rou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215" name="Picture 6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75003" y="2012864"/>
            <a:ext cx="629945" cy="58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Text Box 68"/>
          <p:cNvSpPr txBox="1">
            <a:spLocks noChangeArrowheads="1"/>
          </p:cNvSpPr>
          <p:nvPr/>
        </p:nvSpPr>
        <p:spPr bwMode="auto">
          <a:xfrm>
            <a:off x="2151925" y="2817648"/>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BSS</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2</a:t>
            </a:r>
            <a:endParaRPr kumimoji="1"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221" name="Text Box 69"/>
          <p:cNvSpPr txBox="1">
            <a:spLocks noChangeArrowheads="1"/>
          </p:cNvSpPr>
          <p:nvPr/>
        </p:nvSpPr>
        <p:spPr bwMode="auto">
          <a:xfrm>
            <a:off x="2835324" y="1882846"/>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endParaRPr kumimoji="1" lang="en-US" altLang="zh-CN" sz="1200" b="1" baseline="-25000" dirty="0">
              <a:solidFill>
                <a:srgbClr val="9900CC"/>
              </a:solidFill>
              <a:latin typeface="微软雅黑" panose="020B0503020204020204" pitchFamily="34" charset="-122"/>
              <a:ea typeface="微软雅黑" panose="020B0503020204020204" pitchFamily="34" charset="-122"/>
            </a:endParaRPr>
          </a:p>
        </p:txBody>
      </p:sp>
      <p:sp>
        <p:nvSpPr>
          <p:cNvPr id="233" name="Text Box 81"/>
          <p:cNvSpPr txBox="1">
            <a:spLocks noChangeArrowheads="1"/>
          </p:cNvSpPr>
          <p:nvPr/>
        </p:nvSpPr>
        <p:spPr bwMode="auto">
          <a:xfrm>
            <a:off x="973449" y="2146009"/>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solidFill>
                  <a:srgbClr val="C00000"/>
                </a:solidFill>
                <a:latin typeface="微软雅黑" panose="020B0503020204020204" pitchFamily="34" charset="-122"/>
                <a:ea typeface="微软雅黑" panose="020B0503020204020204" pitchFamily="34" charset="-122"/>
              </a:rPr>
              <a:t>B</a:t>
            </a:r>
            <a:endParaRPr kumimoji="1" lang="en-US" altLang="zh-CN" sz="1200" b="1">
              <a:solidFill>
                <a:srgbClr val="C00000"/>
              </a:solidFill>
              <a:latin typeface="微软雅黑" panose="020B0503020204020204" pitchFamily="34" charset="-122"/>
              <a:ea typeface="微软雅黑" panose="020B0503020204020204" pitchFamily="34" charset="-122"/>
            </a:endParaRPr>
          </a:p>
        </p:txBody>
      </p:sp>
      <p:grpSp>
        <p:nvGrpSpPr>
          <p:cNvPr id="241" name="组合 85"/>
          <p:cNvGrpSpPr/>
          <p:nvPr/>
        </p:nvGrpSpPr>
        <p:grpSpPr bwMode="auto">
          <a:xfrm>
            <a:off x="1519311" y="1965532"/>
            <a:ext cx="1056628" cy="278497"/>
            <a:chOff x="835806" y="1721719"/>
            <a:chExt cx="1255443" cy="300219"/>
          </a:xfrm>
        </p:grpSpPr>
        <p:sp>
          <p:nvSpPr>
            <p:cNvPr id="242" name="矩形 241"/>
            <p:cNvSpPr/>
            <p:nvPr/>
          </p:nvSpPr>
          <p:spPr>
            <a:xfrm>
              <a:off x="1051468" y="1721719"/>
              <a:ext cx="957877" cy="27430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3" name="直接连接符 242"/>
            <p:cNvCxnSpPr/>
            <p:nvPr/>
          </p:nvCxnSpPr>
          <p:spPr>
            <a:xfrm flipH="1">
              <a:off x="835806" y="1860465"/>
              <a:ext cx="215662"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4" name="Text Box 48"/>
            <p:cNvSpPr txBox="1">
              <a:spLocks noChangeArrowheads="1"/>
            </p:cNvSpPr>
            <p:nvPr/>
          </p:nvSpPr>
          <p:spPr bwMode="auto">
            <a:xfrm>
              <a:off x="1000146" y="1753194"/>
              <a:ext cx="1091103" cy="2687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grpSp>
        <p:nvGrpSpPr>
          <p:cNvPr id="245" name="组合 91"/>
          <p:cNvGrpSpPr/>
          <p:nvPr/>
        </p:nvGrpSpPr>
        <p:grpSpPr bwMode="auto">
          <a:xfrm>
            <a:off x="3240981" y="2012867"/>
            <a:ext cx="989248" cy="266830"/>
            <a:chOff x="3275856" y="908720"/>
            <a:chExt cx="1176196" cy="287116"/>
          </a:xfrm>
        </p:grpSpPr>
        <p:sp>
          <p:nvSpPr>
            <p:cNvPr id="246" name="矩形 245"/>
            <p:cNvSpPr/>
            <p:nvPr/>
          </p:nvSpPr>
          <p:spPr>
            <a:xfrm>
              <a:off x="3491665" y="908720"/>
              <a:ext cx="877525" cy="273799"/>
            </a:xfrm>
            <a:prstGeom prst="rect">
              <a:avLst/>
            </a:prstGeom>
            <a:solidFill>
              <a:srgbClr val="66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7" name="直接连接符 246"/>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8" name="Text Box 48"/>
            <p:cNvSpPr txBox="1">
              <a:spLocks noChangeArrowheads="1"/>
            </p:cNvSpPr>
            <p:nvPr/>
          </p:nvSpPr>
          <p:spPr bwMode="auto">
            <a:xfrm>
              <a:off x="3436573" y="927583"/>
              <a:ext cx="1015479" cy="268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5" name="Text Box 68"/>
          <p:cNvSpPr txBox="1">
            <a:spLocks noChangeArrowheads="1"/>
          </p:cNvSpPr>
          <p:nvPr/>
        </p:nvSpPr>
        <p:spPr bwMode="auto">
          <a:xfrm>
            <a:off x="2229334"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2</a:t>
            </a:r>
            <a:endParaRPr kumimoji="1" lang="en-US" altLang="zh-CN" sz="1400" b="1" baseline="-25000" dirty="0">
              <a:latin typeface="微软雅黑" panose="020B0503020204020204" pitchFamily="34" charset="-122"/>
              <a:ea typeface="微软雅黑" panose="020B0503020204020204" pitchFamily="34" charset="-122"/>
            </a:endParaRPr>
          </a:p>
        </p:txBody>
      </p:sp>
      <p:sp>
        <p:nvSpPr>
          <p:cNvPr id="257" name="Text Box 48"/>
          <p:cNvSpPr txBox="1">
            <a:spLocks noChangeArrowheads="1"/>
          </p:cNvSpPr>
          <p:nvPr/>
        </p:nvSpPr>
        <p:spPr bwMode="auto">
          <a:xfrm>
            <a:off x="1100081" y="2615830"/>
            <a:ext cx="415109"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B</a:t>
            </a:r>
            <a:endParaRPr kumimoji="1" lang="en-US" altLang="zh-CN" sz="1200" b="1" baseline="-25000" dirty="0">
              <a:latin typeface="微软雅黑" panose="020B0503020204020204" pitchFamily="34" charset="-122"/>
              <a:ea typeface="微软雅黑" panose="020B0503020204020204" pitchFamily="34" charset="-122"/>
            </a:endParaRPr>
          </a:p>
        </p:txBody>
      </p:sp>
      <p:sp>
        <p:nvSpPr>
          <p:cNvPr id="259" name="Text Box 64"/>
          <p:cNvSpPr txBox="1">
            <a:spLocks noChangeArrowheads="1"/>
          </p:cNvSpPr>
          <p:nvPr/>
        </p:nvSpPr>
        <p:spPr bwMode="auto">
          <a:xfrm>
            <a:off x="743892" y="2416566"/>
            <a:ext cx="1003708"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B</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1" name="Text Box 64"/>
          <p:cNvSpPr txBox="1">
            <a:spLocks noChangeArrowheads="1"/>
          </p:cNvSpPr>
          <p:nvPr/>
        </p:nvSpPr>
        <p:spPr bwMode="auto">
          <a:xfrm>
            <a:off x="2349451" y="2547731"/>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2</a:t>
            </a:r>
            <a:endParaRPr kumimoji="1" lang="zh-CN" altLang="en-US" sz="1200" b="1" baseline="-25000" dirty="0">
              <a:latin typeface="微软雅黑" panose="020B0503020204020204" pitchFamily="34" charset="-122"/>
              <a:ea typeface="微软雅黑" panose="020B0503020204020204" pitchFamily="34" charset="-122"/>
            </a:endParaRPr>
          </a:p>
        </p:txBody>
      </p:sp>
      <p:pic>
        <p:nvPicPr>
          <p:cNvPr id="253"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71316" y="2227374"/>
            <a:ext cx="504490" cy="254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73" name="组合 272"/>
          <p:cNvGrpSpPr/>
          <p:nvPr/>
        </p:nvGrpSpPr>
        <p:grpSpPr>
          <a:xfrm>
            <a:off x="1048551" y="2011384"/>
            <a:ext cx="597186" cy="423778"/>
            <a:chOff x="4406004" y="4260453"/>
            <a:chExt cx="542790" cy="429804"/>
          </a:xfrm>
        </p:grpSpPr>
        <p:grpSp>
          <p:nvGrpSpPr>
            <p:cNvPr id="274" name="Group 460"/>
            <p:cNvGrpSpPr/>
            <p:nvPr/>
          </p:nvGrpSpPr>
          <p:grpSpPr bwMode="auto">
            <a:xfrm>
              <a:off x="4527888" y="4322623"/>
              <a:ext cx="420906" cy="367634"/>
              <a:chOff x="645" y="1570"/>
              <a:chExt cx="318" cy="318"/>
            </a:xfrm>
          </p:grpSpPr>
          <p:sp>
            <p:nvSpPr>
              <p:cNvPr id="282"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83"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5" name="Group 463"/>
            <p:cNvGrpSpPr/>
            <p:nvPr/>
          </p:nvGrpSpPr>
          <p:grpSpPr bwMode="auto">
            <a:xfrm>
              <a:off x="4406004" y="4260453"/>
              <a:ext cx="405022" cy="119404"/>
              <a:chOff x="748" y="2251"/>
              <a:chExt cx="306" cy="90"/>
            </a:xfrm>
            <a:solidFill>
              <a:srgbClr val="0066FF"/>
            </a:solidFill>
          </p:grpSpPr>
          <p:sp>
            <p:nvSpPr>
              <p:cNvPr id="2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84" name="组合 283"/>
          <p:cNvGrpSpPr/>
          <p:nvPr/>
        </p:nvGrpSpPr>
        <p:grpSpPr>
          <a:xfrm>
            <a:off x="7403911" y="1844457"/>
            <a:ext cx="597186" cy="423778"/>
            <a:chOff x="4406004" y="4260453"/>
            <a:chExt cx="542790" cy="429804"/>
          </a:xfrm>
        </p:grpSpPr>
        <p:grpSp>
          <p:nvGrpSpPr>
            <p:cNvPr id="285" name="Group 460"/>
            <p:cNvGrpSpPr/>
            <p:nvPr/>
          </p:nvGrpSpPr>
          <p:grpSpPr bwMode="auto">
            <a:xfrm>
              <a:off x="4527888" y="4322623"/>
              <a:ext cx="420906" cy="367634"/>
              <a:chOff x="645" y="1570"/>
              <a:chExt cx="318" cy="318"/>
            </a:xfrm>
          </p:grpSpPr>
          <p:sp>
            <p:nvSpPr>
              <p:cNvPr id="29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94"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6" name="Group 463"/>
            <p:cNvGrpSpPr/>
            <p:nvPr/>
          </p:nvGrpSpPr>
          <p:grpSpPr bwMode="auto">
            <a:xfrm>
              <a:off x="4406004" y="4260453"/>
              <a:ext cx="405022" cy="119404"/>
              <a:chOff x="748" y="2251"/>
              <a:chExt cx="306" cy="90"/>
            </a:xfrm>
            <a:solidFill>
              <a:srgbClr val="0066FF"/>
            </a:solidFill>
          </p:grpSpPr>
          <p:sp>
            <p:nvSpPr>
              <p:cNvPr id="2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95" name="组合 294"/>
          <p:cNvGrpSpPr/>
          <p:nvPr/>
        </p:nvGrpSpPr>
        <p:grpSpPr>
          <a:xfrm>
            <a:off x="7128627" y="2674230"/>
            <a:ext cx="597186" cy="423778"/>
            <a:chOff x="4406004" y="4260453"/>
            <a:chExt cx="542790" cy="429804"/>
          </a:xfrm>
        </p:grpSpPr>
        <p:grpSp>
          <p:nvGrpSpPr>
            <p:cNvPr id="296" name="Group 460"/>
            <p:cNvGrpSpPr/>
            <p:nvPr/>
          </p:nvGrpSpPr>
          <p:grpSpPr bwMode="auto">
            <a:xfrm>
              <a:off x="4527888" y="4322623"/>
              <a:ext cx="420906" cy="367634"/>
              <a:chOff x="645" y="1570"/>
              <a:chExt cx="318" cy="318"/>
            </a:xfrm>
          </p:grpSpPr>
          <p:sp>
            <p:nvSpPr>
              <p:cNvPr id="304"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05"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7" name="Group 463"/>
            <p:cNvGrpSpPr/>
            <p:nvPr/>
          </p:nvGrpSpPr>
          <p:grpSpPr bwMode="auto">
            <a:xfrm>
              <a:off x="4406004" y="4260453"/>
              <a:ext cx="405022" cy="119404"/>
              <a:chOff x="748" y="2251"/>
              <a:chExt cx="306" cy="90"/>
            </a:xfrm>
            <a:solidFill>
              <a:srgbClr val="0066FF"/>
            </a:solidFill>
          </p:grpSpPr>
          <p:sp>
            <p:nvSpPr>
              <p:cNvPr id="29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06" name="组合 305"/>
          <p:cNvGrpSpPr/>
          <p:nvPr/>
        </p:nvGrpSpPr>
        <p:grpSpPr>
          <a:xfrm>
            <a:off x="1508813" y="2707121"/>
            <a:ext cx="597186" cy="423778"/>
            <a:chOff x="4406004" y="4260453"/>
            <a:chExt cx="542790" cy="429804"/>
          </a:xfrm>
        </p:grpSpPr>
        <p:grpSp>
          <p:nvGrpSpPr>
            <p:cNvPr id="307" name="Group 460"/>
            <p:cNvGrpSpPr/>
            <p:nvPr/>
          </p:nvGrpSpPr>
          <p:grpSpPr bwMode="auto">
            <a:xfrm>
              <a:off x="4527888" y="4322623"/>
              <a:ext cx="420906" cy="367634"/>
              <a:chOff x="645" y="1570"/>
              <a:chExt cx="318" cy="318"/>
            </a:xfrm>
          </p:grpSpPr>
          <p:sp>
            <p:nvSpPr>
              <p:cNvPr id="31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1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 name="Group 463"/>
            <p:cNvGrpSpPr/>
            <p:nvPr/>
          </p:nvGrpSpPr>
          <p:grpSpPr bwMode="auto">
            <a:xfrm>
              <a:off x="4406004" y="4260453"/>
              <a:ext cx="405022" cy="119404"/>
              <a:chOff x="748" y="2251"/>
              <a:chExt cx="306" cy="90"/>
            </a:xfrm>
            <a:solidFill>
              <a:srgbClr val="0066FF"/>
            </a:solidFill>
          </p:grpSpPr>
          <p:sp>
            <p:nvSpPr>
              <p:cNvPr id="30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0" name="Group 179"/>
          <p:cNvGraphicFramePr/>
          <p:nvPr/>
        </p:nvGraphicFramePr>
        <p:xfrm>
          <a:off x="522175" y="1017692"/>
          <a:ext cx="8117487" cy="2599445"/>
        </p:xfrm>
        <a:graphic>
          <a:graphicData uri="http://schemas.openxmlformats.org/drawingml/2006/table">
            <a:tbl>
              <a:tblPr/>
              <a:tblGrid>
                <a:gridCol w="1396800"/>
                <a:gridCol w="1080000"/>
                <a:gridCol w="1080000"/>
                <a:gridCol w="1160229"/>
                <a:gridCol w="1160229"/>
                <a:gridCol w="1160229"/>
                <a:gridCol w="1080000"/>
              </a:tblGrid>
              <a:tr h="519889">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a:t>
                      </a:r>
                      <a:r>
                        <a:rPr lang="zh-CN" sz="1400" b="1" dirty="0" smtClean="0">
                          <a:solidFill>
                            <a:schemeClr val="bg1"/>
                          </a:solidFill>
                          <a:effectLst/>
                          <a:latin typeface="微软雅黑" panose="020B0503020204020204" pitchFamily="34" charset="-122"/>
                          <a:ea typeface="微软雅黑" panose="020B0503020204020204" pitchFamily="34" charset="-122"/>
                        </a:rPr>
                        <a:t>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来自</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r>
              <a:tr h="519889">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a:t>
                      </a:r>
                      <a:r>
                        <a:rPr lang="en-US" sz="1400" b="1" baseline="0" dirty="0" smtClean="0">
                          <a:solidFill>
                            <a:schemeClr val="tx1"/>
                          </a:solidFill>
                          <a:effectLst/>
                          <a:latin typeface="微软雅黑" panose="020B0503020204020204" pitchFamily="34" charset="-122"/>
                          <a:ea typeface="微软雅黑" panose="020B0503020204020204" pitchFamily="34" charset="-12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a:t>
                      </a:r>
                      <a:r>
                        <a:rPr lang="en-US" sz="1400" b="1" dirty="0" smtClean="0">
                          <a:solidFill>
                            <a:schemeClr val="tx1"/>
                          </a:solidFill>
                          <a:effectLst/>
                          <a:latin typeface="微软雅黑" panose="020B0503020204020204" pitchFamily="34" charset="-122"/>
                          <a:ea typeface="微软雅黑" panose="020B0503020204020204" pitchFamily="34" charset="-122"/>
                        </a:rPr>
                        <a:t> 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 </a:t>
                      </a:r>
                      <a:r>
                        <a:rPr lang="zh-CN" sz="1400" b="1" dirty="0" smtClean="0">
                          <a:solidFill>
                            <a:schemeClr val="tx1"/>
                          </a:solidFill>
                          <a:effectLst/>
                          <a:latin typeface="微软雅黑" panose="020B0503020204020204" pitchFamily="34" charset="-122"/>
                          <a:ea typeface="微软雅黑" panose="020B0503020204020204" pitchFamily="34" charset="-122"/>
                        </a:rPr>
                        <a:t>地址</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 </a:t>
                      </a:r>
                      <a:r>
                        <a:rPr lang="en-US" altLang="zh-CN" sz="1400" b="1" dirty="0" smtClean="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1</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 </a:t>
                      </a:r>
                      <a:r>
                        <a:rPr lang="zh-CN" sz="1400" b="1" dirty="0" smtClean="0">
                          <a:solidFill>
                            <a:schemeClr val="tx1"/>
                          </a:solidFill>
                          <a:effectLst/>
                          <a:latin typeface="微软雅黑" panose="020B0503020204020204" pitchFamily="34" charset="-122"/>
                          <a:ea typeface="微软雅黑" panose="020B0503020204020204" pitchFamily="34" charset="-122"/>
                        </a:rPr>
                        <a:t>的地址</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A</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R </a:t>
                      </a:r>
                      <a:r>
                        <a:rPr lang="zh-CN" sz="1400" b="1" dirty="0" smtClean="0">
                          <a:solidFill>
                            <a:schemeClr val="tx1"/>
                          </a:solidFill>
                          <a:effectLst/>
                          <a:latin typeface="微软雅黑" panose="020B0503020204020204" pitchFamily="34" charset="-122"/>
                          <a:ea typeface="微软雅黑" panose="020B0503020204020204" pitchFamily="34" charset="-122"/>
                        </a:rPr>
                        <a:t>接口</a:t>
                      </a:r>
                      <a:r>
                        <a:rPr lang="en-US" altLang="zh-CN" sz="1400" b="1" dirty="0" smtClean="0">
                          <a:solidFill>
                            <a:schemeClr val="tx1"/>
                          </a:solidFill>
                          <a:effectLst/>
                          <a:latin typeface="微软雅黑" panose="020B0503020204020204" pitchFamily="34" charset="-122"/>
                          <a:ea typeface="微软雅黑" panose="020B0503020204020204" pitchFamily="34" charset="-122"/>
                        </a:rPr>
                        <a:t> 1 </a:t>
                      </a:r>
                      <a:r>
                        <a:rPr lang="zh-CN" sz="1400" b="1" dirty="0" smtClean="0">
                          <a:solidFill>
                            <a:schemeClr val="tx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R-1</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smtClean="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1</a:t>
                      </a:r>
                      <a:r>
                        <a:rPr lang="en-US" altLang="zh-CN" sz="1400" b="1" baseline="0" dirty="0" smtClean="0">
                          <a:solidFill>
                            <a:schemeClr val="tx1"/>
                          </a:solidFill>
                          <a:effectLst/>
                          <a:latin typeface="微软雅黑" panose="020B0503020204020204" pitchFamily="34" charset="-122"/>
                          <a:ea typeface="微软雅黑" panose="020B0503020204020204" pitchFamily="34" charset="-12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 R </a:t>
                      </a:r>
                      <a:endPar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endParaRP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a:t>
                      </a:r>
                      <a:r>
                        <a:rPr lang="zh-CN" altLang="en-US"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以太网帧</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a:t>
                      </a:r>
                      <a:endParaRPr lang="zh-CN" altLang="zh-CN" sz="1400" b="1" dirty="0" smtClean="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smtClean="0">
                          <a:solidFill>
                            <a:schemeClr val="tx1"/>
                          </a:solidFill>
                          <a:effectLst/>
                          <a:latin typeface="微软雅黑" panose="020B0503020204020204" pitchFamily="34" charset="-122"/>
                          <a:ea typeface="微软雅黑" panose="020B0503020204020204" pitchFamily="34" charset="-122"/>
                        </a:rPr>
                        <a:t>目的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R-1</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algn="ctr">
                        <a:lnSpc>
                          <a:spcPct val="100000"/>
                        </a:lnSpc>
                        <a:spcAft>
                          <a:spcPts val="0"/>
                        </a:spcAft>
                        <a:tabLst>
                          <a:tab pos="1752600" algn="l"/>
                        </a:tabLst>
                      </a:pPr>
                      <a:r>
                        <a:rPr lang="zh-CN" altLang="en-US" sz="1400" b="1" dirty="0" smtClean="0">
                          <a:solidFill>
                            <a:schemeClr val="tx1"/>
                          </a:solidFill>
                          <a:effectLst/>
                          <a:latin typeface="微软雅黑" panose="020B0503020204020204" pitchFamily="34" charset="-122"/>
                          <a:ea typeface="微软雅黑" panose="020B0503020204020204" pitchFamily="34" charset="-122"/>
                        </a:rPr>
                        <a:t>源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A</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smtClean="0">
                          <a:solidFill>
                            <a:schemeClr val="tx1"/>
                          </a:solidFill>
                          <a:effectLst/>
                          <a:latin typeface="微软雅黑" panose="020B0503020204020204" pitchFamily="34" charset="-122"/>
                          <a:ea typeface="微软雅黑" panose="020B0503020204020204" pitchFamily="34" charset="-122"/>
                        </a:rPr>
                        <a:t>R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2</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en-US" altLang="zh-CN" sz="1400" b="1" dirty="0" smtClean="0">
                        <a:solidFill>
                          <a:schemeClr val="tx1"/>
                        </a:solidFill>
                        <a:effectLst/>
                        <a:latin typeface="微软雅黑" panose="020B0503020204020204" pitchFamily="34" charset="-122"/>
                        <a:ea typeface="微软雅黑" panose="020B0503020204020204" pitchFamily="34" charset="-122"/>
                      </a:endParaRP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smtClean="0">
                          <a:solidFill>
                            <a:schemeClr val="tx1"/>
                          </a:solidFill>
                          <a:effectLst/>
                          <a:latin typeface="微软雅黑" panose="020B0503020204020204" pitchFamily="34" charset="-122"/>
                          <a:ea typeface="微软雅黑" panose="020B0503020204020204" pitchFamily="34" charset="-122"/>
                        </a:rPr>
                        <a:t>(</a:t>
                      </a:r>
                      <a:r>
                        <a:rPr lang="zh-CN" altLang="en-US" sz="1400" b="1" dirty="0" smtClean="0">
                          <a:solidFill>
                            <a:schemeClr val="tx1"/>
                          </a:solidFill>
                          <a:effectLst/>
                          <a:latin typeface="微软雅黑" panose="020B0503020204020204" pitchFamily="34" charset="-122"/>
                          <a:ea typeface="微软雅黑" panose="020B0503020204020204" pitchFamily="34" charset="-122"/>
                        </a:rPr>
                        <a:t>以太网帧</a:t>
                      </a:r>
                      <a:r>
                        <a:rPr lang="en-US" altLang="zh-CN" sz="1400" b="1" dirty="0" smtClean="0">
                          <a:solidFill>
                            <a:schemeClr val="tx1"/>
                          </a:solidFill>
                          <a:effectLst/>
                          <a:latin typeface="微软雅黑" panose="020B0503020204020204" pitchFamily="34" charset="-122"/>
                          <a:ea typeface="微软雅黑" panose="020B0503020204020204" pitchFamily="34" charset="-122"/>
                        </a:rPr>
                        <a:t>)</a:t>
                      </a:r>
                      <a:endParaRPr lang="en-US" altLang="zh-CN" sz="1400" b="1" dirty="0" smtClean="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smtClean="0">
                          <a:solidFill>
                            <a:schemeClr val="tx1"/>
                          </a:solidFill>
                          <a:effectLst/>
                          <a:latin typeface="微软雅黑" panose="020B0503020204020204" pitchFamily="34" charset="-122"/>
                          <a:ea typeface="微软雅黑" panose="020B0503020204020204" pitchFamily="34" charset="-122"/>
                        </a:rPr>
                        <a:t>目的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B</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cPr marL="68580" marR="68580" marT="0" marB="0" anchor="ctr"/>
                </a:tc>
                <a:tc gridSpan="2">
                  <a:txBody>
                    <a:bodyPr/>
                    <a:lstStyle/>
                    <a:p>
                      <a:pPr algn="ctr">
                        <a:lnSpc>
                          <a:spcPct val="100000"/>
                        </a:lnSpc>
                        <a:spcAft>
                          <a:spcPts val="0"/>
                        </a:spcAft>
                        <a:tabLst>
                          <a:tab pos="1752600" algn="l"/>
                        </a:tabLst>
                      </a:pPr>
                      <a:r>
                        <a:rPr lang="zh-CN" altLang="en-US" sz="1400" b="1" dirty="0" smtClean="0">
                          <a:solidFill>
                            <a:schemeClr val="tx1"/>
                          </a:solidFill>
                          <a:effectLst/>
                          <a:latin typeface="微软雅黑" panose="020B0503020204020204" pitchFamily="34" charset="-122"/>
                          <a:ea typeface="微软雅黑" panose="020B0503020204020204" pitchFamily="34" charset="-122"/>
                        </a:rPr>
                        <a:t>源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R-2</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cPr marL="68580" marR="68580" marT="0" marB="0" anchor="ct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r>
              <a:tr h="519889">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2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rPr>
                        <a:t>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B </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B</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r>
                        <a:rPr lang="zh-CN" altLang="en-US"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2</a:t>
                      </a:r>
                      <a:r>
                        <a:rPr lang="en-US" sz="1400" b="1" baseline="0" dirty="0" smtClean="0">
                          <a:solidFill>
                            <a:schemeClr val="tx1"/>
                          </a:solidFill>
                          <a:effectLst/>
                          <a:latin typeface="微软雅黑" panose="020B0503020204020204" pitchFamily="34" charset="-122"/>
                          <a:ea typeface="微软雅黑" panose="020B0503020204020204" pitchFamily="34" charset="-122"/>
                        </a:rPr>
                        <a:t> </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a:t>
                      </a:r>
                      <a:r>
                        <a:rPr lang="en-US" altLang="zh-CN" sz="1400" b="1" dirty="0" smtClean="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2</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R </a:t>
                      </a:r>
                      <a:r>
                        <a:rPr lang="zh-CN" altLang="zh-CN" sz="1400" b="1" dirty="0" smtClean="0">
                          <a:solidFill>
                            <a:schemeClr val="tx1"/>
                          </a:solidFill>
                          <a:effectLst/>
                          <a:latin typeface="微软雅黑" panose="020B0503020204020204" pitchFamily="34" charset="-122"/>
                          <a:ea typeface="微软雅黑" panose="020B0503020204020204" pitchFamily="34" charset="-122"/>
                        </a:rPr>
                        <a:t>接口</a:t>
                      </a:r>
                      <a:r>
                        <a:rPr lang="en-US" altLang="zh-CN" sz="1400" b="1" dirty="0" smtClean="0">
                          <a:solidFill>
                            <a:schemeClr val="tx1"/>
                          </a:solidFill>
                          <a:effectLst/>
                          <a:latin typeface="微软雅黑" panose="020B0503020204020204" pitchFamily="34" charset="-122"/>
                          <a:ea typeface="微软雅黑" panose="020B0503020204020204" pitchFamily="34" charset="-122"/>
                        </a:rPr>
                        <a:t> 2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R-2</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r>
            </a:tbl>
          </a:graphicData>
        </a:graphic>
      </p:graphicFrame>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复杂情况：站点处在</a:t>
            </a:r>
            <a:r>
              <a:rPr lang="zh-CN" altLang="en-US" sz="2000" b="1" dirty="0">
                <a:latin typeface="微软雅黑" panose="020B0503020204020204" pitchFamily="34" charset="-122"/>
                <a:ea typeface="微软雅黑" panose="020B0503020204020204" pitchFamily="34" charset="-122"/>
              </a:rPr>
              <a:t>不同的两个</a:t>
            </a:r>
            <a:r>
              <a:rPr lang="zh-CN" altLang="en-US" sz="2000" b="1" dirty="0" smtClean="0">
                <a:latin typeface="微软雅黑" panose="020B0503020204020204" pitchFamily="34" charset="-122"/>
                <a:ea typeface="微软雅黑" panose="020B0503020204020204" pitchFamily="34" charset="-122"/>
              </a:rPr>
              <a:t>子网中</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11897" y="966146"/>
            <a:ext cx="8129015" cy="3170099"/>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anose="020B0503020204020204" pitchFamily="34" charset="-122"/>
                <a:ea typeface="微软雅黑" panose="020B0503020204020204" pitchFamily="34" charset="-122"/>
              </a:rPr>
              <a:t>序号</a:t>
            </a:r>
            <a:r>
              <a:rPr lang="zh-CN" altLang="en-US" b="1" dirty="0" smtClean="0">
                <a:solidFill>
                  <a:srgbClr val="0000FF"/>
                </a:solidFill>
                <a:latin typeface="微软雅黑" panose="020B0503020204020204" pitchFamily="34" charset="-122"/>
                <a:ea typeface="微软雅黑" panose="020B0503020204020204" pitchFamily="34" charset="-122"/>
              </a:rPr>
              <a:t>控制</a:t>
            </a:r>
            <a:r>
              <a:rPr lang="zh-CN" altLang="en-US" b="1" dirty="0" smtClean="0">
                <a:latin typeface="微软雅黑" panose="020B0503020204020204" pitchFamily="34" charset="-122"/>
                <a:ea typeface="微软雅黑" panose="020B0503020204020204" pitchFamily="34" charset="-122"/>
              </a:rPr>
              <a:t>：占 </a:t>
            </a:r>
            <a:r>
              <a:rPr lang="en-US" altLang="zh-CN" b="1" dirty="0">
                <a:latin typeface="微软雅黑" panose="020B0503020204020204" pitchFamily="34" charset="-122"/>
                <a:ea typeface="微软雅黑" panose="020B0503020204020204" pitchFamily="34" charset="-122"/>
              </a:rPr>
              <a:t>16 </a:t>
            </a:r>
            <a:r>
              <a:rPr lang="zh-CN" altLang="en-US" b="1" dirty="0">
                <a:latin typeface="微软雅黑" panose="020B0503020204020204" pitchFamily="34" charset="-122"/>
                <a:ea typeface="微软雅黑" panose="020B0503020204020204" pitchFamily="34" charset="-122"/>
              </a:rPr>
              <a:t>位，其中</a:t>
            </a:r>
            <a:r>
              <a:rPr lang="zh-CN" altLang="en-US" b="1" dirty="0" smtClean="0">
                <a:latin typeface="微软雅黑" panose="020B0503020204020204" pitchFamily="34" charset="-122"/>
                <a:ea typeface="微软雅黑" panose="020B0503020204020204" pitchFamily="34" charset="-122"/>
              </a:rPr>
              <a:t>序号子字段</a:t>
            </a:r>
            <a:r>
              <a:rPr lang="zh-CN" altLang="en-US" b="1" dirty="0">
                <a:latin typeface="微软雅黑" panose="020B0503020204020204" pitchFamily="34" charset="-122"/>
                <a:ea typeface="微软雅黑" panose="020B0503020204020204" pitchFamily="34" charset="-122"/>
              </a:rPr>
              <a:t>占 </a:t>
            </a:r>
            <a:r>
              <a:rPr lang="en-US" altLang="zh-CN" b="1" dirty="0">
                <a:latin typeface="微软雅黑" panose="020B0503020204020204" pitchFamily="34" charset="-122"/>
                <a:ea typeface="微软雅黑" panose="020B0503020204020204" pitchFamily="34" charset="-122"/>
              </a:rPr>
              <a:t>12 </a:t>
            </a:r>
            <a:r>
              <a:rPr lang="zh-CN" altLang="en-US" b="1" dirty="0">
                <a:latin typeface="微软雅黑" panose="020B0503020204020204" pitchFamily="34" charset="-122"/>
                <a:ea typeface="微软雅黑" panose="020B0503020204020204" pitchFamily="34" charset="-122"/>
              </a:rPr>
              <a:t>位，</a:t>
            </a:r>
            <a:r>
              <a:rPr lang="zh-CN" altLang="en-US" b="1" dirty="0" smtClean="0">
                <a:latin typeface="微软雅黑" panose="020B0503020204020204" pitchFamily="34" charset="-122"/>
                <a:ea typeface="微软雅黑" panose="020B0503020204020204" pitchFamily="34" charset="-122"/>
              </a:rPr>
              <a:t>分片子字段</a:t>
            </a:r>
            <a:r>
              <a:rPr lang="zh-CN" altLang="en-US" b="1" dirty="0">
                <a:latin typeface="微软雅黑" panose="020B0503020204020204" pitchFamily="34" charset="-122"/>
                <a:ea typeface="微软雅黑" panose="020B0503020204020204" pitchFamily="34" charset="-122"/>
              </a:rPr>
              <a:t>占 </a:t>
            </a:r>
            <a:r>
              <a:rPr lang="en-US" altLang="zh-CN" b="1" dirty="0">
                <a:latin typeface="微软雅黑" panose="020B0503020204020204" pitchFamily="34" charset="-122"/>
                <a:ea typeface="微软雅黑" panose="020B0503020204020204" pitchFamily="34" charset="-122"/>
              </a:rPr>
              <a:t>4 </a:t>
            </a:r>
            <a:r>
              <a:rPr lang="zh-CN" altLang="en-US" b="1" dirty="0">
                <a:latin typeface="微软雅黑" panose="020B0503020204020204" pitchFamily="34" charset="-122"/>
                <a:ea typeface="微软雅黑" panose="020B0503020204020204" pitchFamily="34" charset="-122"/>
              </a:rPr>
              <a:t>位。</a:t>
            </a:r>
            <a:endParaRPr lang="zh-CN" altLang="en-US"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anose="020B0503020204020204" pitchFamily="34" charset="-122"/>
                <a:ea typeface="微软雅黑" panose="020B0503020204020204" pitchFamily="34" charset="-122"/>
              </a:rPr>
              <a:t>持续</a:t>
            </a:r>
            <a:r>
              <a:rPr lang="zh-CN" altLang="en-US" b="1" dirty="0" smtClean="0">
                <a:solidFill>
                  <a:srgbClr val="0000FF"/>
                </a:solidFill>
                <a:latin typeface="微软雅黑" panose="020B0503020204020204" pitchFamily="34" charset="-122"/>
                <a:ea typeface="微软雅黑" panose="020B0503020204020204" pitchFamily="34" charset="-122"/>
              </a:rPr>
              <a:t>期</a:t>
            </a:r>
            <a:r>
              <a:rPr lang="zh-CN" altLang="en-US" b="1" dirty="0" smtClean="0">
                <a:latin typeface="微软雅黑" panose="020B0503020204020204" pitchFamily="34" charset="-122"/>
                <a:ea typeface="微软雅黑" panose="020B0503020204020204" pitchFamily="34" charset="-122"/>
              </a:rPr>
              <a:t>：占 </a:t>
            </a:r>
            <a:r>
              <a:rPr lang="en-US" altLang="zh-CN" b="1" dirty="0">
                <a:latin typeface="微软雅黑" panose="020B0503020204020204" pitchFamily="34" charset="-122"/>
                <a:ea typeface="微软雅黑" panose="020B0503020204020204" pitchFamily="34" charset="-122"/>
              </a:rPr>
              <a:t>16 </a:t>
            </a:r>
            <a:r>
              <a:rPr lang="zh-CN" altLang="en-US" b="1" dirty="0">
                <a:latin typeface="微软雅黑" panose="020B0503020204020204" pitchFamily="34" charset="-122"/>
                <a:ea typeface="微软雅黑" panose="020B0503020204020204" pitchFamily="34" charset="-122"/>
              </a:rPr>
              <a:t>位。</a:t>
            </a:r>
            <a:endParaRPr lang="zh-CN" altLang="en-US"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anose="020B0503020204020204" pitchFamily="34" charset="-122"/>
                <a:ea typeface="微软雅黑" panose="020B0503020204020204" pitchFamily="34" charset="-122"/>
              </a:rPr>
              <a:t>帧</a:t>
            </a:r>
            <a:r>
              <a:rPr lang="zh-CN" altLang="en-US" b="1" dirty="0" smtClean="0">
                <a:solidFill>
                  <a:srgbClr val="0000FF"/>
                </a:solidFill>
                <a:latin typeface="微软雅黑" panose="020B0503020204020204" pitchFamily="34" charset="-122"/>
                <a:ea typeface="微软雅黑" panose="020B0503020204020204" pitchFamily="34" charset="-122"/>
              </a:rPr>
              <a:t>控制</a:t>
            </a:r>
            <a:r>
              <a:rPr lang="zh-CN" altLang="en-US" b="1" dirty="0" smtClean="0">
                <a:latin typeface="微软雅黑" panose="020B0503020204020204" pitchFamily="34" charset="-122"/>
                <a:ea typeface="微软雅黑" panose="020B0503020204020204" pitchFamily="34" charset="-122"/>
              </a:rPr>
              <a:t>：共</a:t>
            </a:r>
            <a:r>
              <a:rPr lang="zh-CN" altLang="en-US" b="1" dirty="0">
                <a:latin typeface="微软雅黑" panose="020B0503020204020204" pitchFamily="34" charset="-122"/>
                <a:ea typeface="微软雅黑" panose="020B0503020204020204" pitchFamily="34" charset="-122"/>
              </a:rPr>
              <a:t>分为 </a:t>
            </a:r>
            <a:r>
              <a:rPr lang="en-US" altLang="zh-CN" b="1" dirty="0">
                <a:latin typeface="微软雅黑" panose="020B0503020204020204" pitchFamily="34" charset="-122"/>
                <a:ea typeface="微软雅黑" panose="020B0503020204020204" pitchFamily="34" charset="-122"/>
              </a:rPr>
              <a:t>11 </a:t>
            </a:r>
            <a:r>
              <a:rPr lang="zh-CN" altLang="en-US" b="1" dirty="0">
                <a:latin typeface="微软雅黑" panose="020B0503020204020204" pitchFamily="34" charset="-122"/>
                <a:ea typeface="微软雅黑" panose="020B0503020204020204" pitchFamily="34" charset="-122"/>
              </a:rPr>
              <a:t>个子字段：</a:t>
            </a:r>
            <a:endParaRPr lang="zh-CN" altLang="en-US" b="1" dirty="0">
              <a:latin typeface="微软雅黑" panose="020B0503020204020204" pitchFamily="34" charset="-122"/>
              <a:ea typeface="微软雅黑" panose="020B0503020204020204"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anose="020B0503020204020204" pitchFamily="34" charset="-122"/>
                <a:ea typeface="微软雅黑" panose="020B0503020204020204" pitchFamily="34" charset="-122"/>
              </a:rPr>
              <a:t>协议</a:t>
            </a:r>
            <a:r>
              <a:rPr lang="zh-CN" altLang="en-US" b="1" dirty="0" smtClean="0">
                <a:solidFill>
                  <a:srgbClr val="800000"/>
                </a:solidFill>
                <a:latin typeface="微软雅黑" panose="020B0503020204020204" pitchFamily="34" charset="-122"/>
                <a:ea typeface="微软雅黑" panose="020B0503020204020204" pitchFamily="34" charset="-122"/>
              </a:rPr>
              <a:t>版本</a:t>
            </a:r>
            <a:r>
              <a:rPr lang="zh-CN" altLang="en-US" b="1" dirty="0" smtClean="0">
                <a:latin typeface="微软雅黑" panose="020B0503020204020204" pitchFamily="34" charset="-122"/>
                <a:ea typeface="微软雅黑" panose="020B0503020204020204" pitchFamily="34" charset="-122"/>
              </a:rPr>
              <a:t>：现在</a:t>
            </a:r>
            <a:r>
              <a:rPr lang="zh-CN" altLang="en-US" b="1" dirty="0">
                <a:latin typeface="微软雅黑" panose="020B0503020204020204" pitchFamily="34" charset="-122"/>
                <a:ea typeface="微软雅黑" panose="020B0503020204020204" pitchFamily="34" charset="-122"/>
              </a:rPr>
              <a:t>是 </a:t>
            </a:r>
            <a:r>
              <a:rPr lang="en-US" altLang="zh-CN" b="1" dirty="0">
                <a:latin typeface="微软雅黑" panose="020B0503020204020204" pitchFamily="34" charset="-122"/>
                <a:ea typeface="微软雅黑" panose="020B0503020204020204" pitchFamily="34" charset="-122"/>
              </a:rPr>
              <a:t>0</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anose="020B0503020204020204" pitchFamily="34" charset="-122"/>
                <a:ea typeface="微软雅黑" panose="020B0503020204020204" pitchFamily="34" charset="-122"/>
              </a:rPr>
              <a:t>类型</a:t>
            </a:r>
            <a:r>
              <a:rPr lang="zh-CN" altLang="en-US" b="1" dirty="0" smtClean="0">
                <a:latin typeface="微软雅黑" panose="020B0503020204020204" pitchFamily="34" charset="-122"/>
                <a:ea typeface="微软雅黑" panose="020B0503020204020204" pitchFamily="34" charset="-122"/>
              </a:rPr>
              <a:t>和</a:t>
            </a:r>
            <a:r>
              <a:rPr lang="zh-CN" altLang="en-US" b="1" dirty="0">
                <a:solidFill>
                  <a:srgbClr val="800000"/>
                </a:solidFill>
                <a:latin typeface="微软雅黑" panose="020B0503020204020204" pitchFamily="34" charset="-122"/>
                <a:ea typeface="微软雅黑" panose="020B0503020204020204" pitchFamily="34" charset="-122"/>
              </a:rPr>
              <a:t>子类型</a:t>
            </a:r>
            <a:r>
              <a:rPr lang="zh-CN" altLang="en-US" b="1" dirty="0" smtClean="0">
                <a:latin typeface="微软雅黑" panose="020B0503020204020204" pitchFamily="34" charset="-122"/>
                <a:ea typeface="微软雅黑" panose="020B0503020204020204" pitchFamily="34" charset="-122"/>
              </a:rPr>
              <a:t>：用来</a:t>
            </a:r>
            <a:r>
              <a:rPr lang="zh-CN" altLang="en-US" b="1" dirty="0">
                <a:latin typeface="微软雅黑" panose="020B0503020204020204" pitchFamily="34" charset="-122"/>
                <a:ea typeface="微软雅黑" panose="020B0503020204020204" pitchFamily="34" charset="-122"/>
              </a:rPr>
              <a:t>区分帧的功能。</a:t>
            </a:r>
            <a:endParaRPr lang="zh-CN" altLang="en-US" b="1" dirty="0">
              <a:latin typeface="微软雅黑" panose="020B0503020204020204" pitchFamily="34" charset="-122"/>
              <a:ea typeface="微软雅黑" panose="020B0503020204020204"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anose="020B0503020204020204" pitchFamily="34" charset="-122"/>
                <a:ea typeface="微软雅黑" panose="020B0503020204020204" pitchFamily="34" charset="-122"/>
              </a:rPr>
              <a:t>更多分片</a:t>
            </a:r>
            <a:r>
              <a:rPr lang="zh-CN" altLang="en-US" b="1" dirty="0" smtClean="0">
                <a:latin typeface="微软雅黑" panose="020B0503020204020204" pitchFamily="34" charset="-122"/>
                <a:ea typeface="微软雅黑" panose="020B0503020204020204" pitchFamily="34" charset="-122"/>
              </a:rPr>
              <a:t>：置</a:t>
            </a:r>
            <a:r>
              <a:rPr lang="zh-CN" altLang="en-US" b="1" dirty="0">
                <a:latin typeface="微软雅黑" panose="020B0503020204020204" pitchFamily="34" charset="-122"/>
                <a:ea typeface="微软雅黑" panose="020B0503020204020204" pitchFamily="34" charset="-122"/>
              </a:rPr>
              <a:t>为 </a:t>
            </a:r>
            <a:r>
              <a:rPr lang="en-US" altLang="zh-CN" b="1" dirty="0">
                <a:latin typeface="微软雅黑" panose="020B0503020204020204" pitchFamily="34" charset="-122"/>
                <a:ea typeface="微软雅黑" panose="020B0503020204020204" pitchFamily="34" charset="-122"/>
              </a:rPr>
              <a:t>1 </a:t>
            </a:r>
            <a:r>
              <a:rPr lang="zh-CN" altLang="en-US" b="1" dirty="0">
                <a:latin typeface="微软雅黑" panose="020B0503020204020204" pitchFamily="34" charset="-122"/>
                <a:ea typeface="微软雅黑" panose="020B0503020204020204" pitchFamily="34" charset="-122"/>
              </a:rPr>
              <a:t>时表明这个帧属于一个帧的多个分片之一</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anose="020B0503020204020204" pitchFamily="34" charset="-122"/>
                <a:ea typeface="微软雅黑" panose="020B0503020204020204" pitchFamily="34" charset="-122"/>
              </a:rPr>
              <a:t>功率管理</a:t>
            </a:r>
            <a:r>
              <a:rPr lang="zh-CN" altLang="en-US" b="1" dirty="0">
                <a:latin typeface="微软雅黑" panose="020B0503020204020204" pitchFamily="34" charset="-122"/>
                <a:ea typeface="微软雅黑" panose="020B0503020204020204" pitchFamily="34" charset="-122"/>
              </a:rPr>
              <a:t>：占 </a:t>
            </a:r>
            <a:r>
              <a:rPr lang="en-US" altLang="zh-CN" b="1" dirty="0">
                <a:latin typeface="微软雅黑" panose="020B0503020204020204" pitchFamily="34" charset="-122"/>
                <a:ea typeface="微软雅黑" panose="020B0503020204020204" pitchFamily="34" charset="-122"/>
              </a:rPr>
              <a:t>1 </a:t>
            </a:r>
            <a:r>
              <a:rPr lang="zh-CN" altLang="en-US" b="1" dirty="0">
                <a:latin typeface="微软雅黑" panose="020B0503020204020204" pitchFamily="34" charset="-122"/>
                <a:ea typeface="微软雅黑" panose="020B0503020204020204" pitchFamily="34" charset="-122"/>
              </a:rPr>
              <a:t>位，用来指示移动站的功率管理模式</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a:p>
            <a:pPr marL="714375" indent="-361950" eaLnBrk="0" hangingPunct="0">
              <a:lnSpc>
                <a:spcPts val="3000"/>
              </a:lnSpc>
              <a:buClr>
                <a:srgbClr val="9900CC"/>
              </a:buClr>
              <a:buFont typeface="+mj-lt"/>
              <a:buAutoNum type="arabicPeriod"/>
            </a:pPr>
            <a:r>
              <a:rPr lang="en-US" altLang="zh-CN" b="1" dirty="0">
                <a:solidFill>
                  <a:srgbClr val="800000"/>
                </a:solidFill>
                <a:latin typeface="微软雅黑" panose="020B0503020204020204" pitchFamily="34" charset="-122"/>
                <a:ea typeface="微软雅黑" panose="020B0503020204020204" pitchFamily="34" charset="-122"/>
              </a:rPr>
              <a:t>WEP</a:t>
            </a:r>
            <a:r>
              <a:rPr lang="zh-CN" altLang="en-US" b="1" dirty="0" smtClean="0">
                <a:latin typeface="微软雅黑" panose="020B0503020204020204" pitchFamily="34" charset="-122"/>
                <a:ea typeface="微软雅黑" panose="020B0503020204020204" pitchFamily="34" charset="-122"/>
              </a:rPr>
              <a:t>：占 </a:t>
            </a:r>
            <a:r>
              <a:rPr lang="en-US" altLang="zh-CN" b="1" dirty="0">
                <a:latin typeface="微软雅黑" panose="020B0503020204020204" pitchFamily="34" charset="-122"/>
                <a:ea typeface="微软雅黑" panose="020B0503020204020204" pitchFamily="34" charset="-122"/>
              </a:rPr>
              <a:t>1 </a:t>
            </a:r>
            <a:r>
              <a:rPr lang="zh-CN" altLang="en-US" b="1" dirty="0">
                <a:latin typeface="微软雅黑" panose="020B0503020204020204" pitchFamily="34" charset="-122"/>
                <a:ea typeface="微软雅黑" panose="020B0503020204020204" pitchFamily="34" charset="-122"/>
              </a:rPr>
              <a:t>位。若 </a:t>
            </a:r>
            <a:r>
              <a:rPr lang="en-US" altLang="zh-CN" b="1" dirty="0">
                <a:latin typeface="微软雅黑" panose="020B0503020204020204" pitchFamily="34" charset="-122"/>
                <a:ea typeface="微软雅黑" panose="020B0503020204020204" pitchFamily="34" charset="-122"/>
              </a:rPr>
              <a:t>WEP = 1</a:t>
            </a:r>
            <a:r>
              <a:rPr lang="zh-CN" altLang="en-US" b="1" dirty="0">
                <a:latin typeface="微软雅黑" panose="020B0503020204020204" pitchFamily="34" charset="-122"/>
                <a:ea typeface="微软雅黑" panose="020B0503020204020204" pitchFamily="34" charset="-122"/>
              </a:rPr>
              <a:t>，表明对帧主体字段采用了加密算法</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009772" y="582887"/>
            <a:ext cx="5110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序号控制字段、持续期字段和帧控制字段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70462"/>
            <a:ext cx="2056973" cy="400110"/>
          </a:xfrm>
          <a:prstGeom prst="rect">
            <a:avLst/>
          </a:prstGeom>
        </p:spPr>
        <p:txBody>
          <a:bodyPr wrap="none">
            <a:spAutoFit/>
          </a:bodyPr>
          <a:lstStyle/>
          <a:p>
            <a:r>
              <a:rPr lang="zh-CN" altLang="en-US" sz="2000" b="1" dirty="0">
                <a:latin typeface="微软雅黑" panose="020B0503020204020204" pitchFamily="34" charset="-122"/>
                <a:ea typeface="微软雅黑" panose="020B0503020204020204" pitchFamily="34" charset="-122"/>
              </a:rPr>
              <a:t>分片的发送举例 </a:t>
            </a:r>
            <a:endParaRPr lang="zh-CN" altLang="en-US" sz="2000" b="1" dirty="0">
              <a:latin typeface="微软雅黑" panose="020B0503020204020204" pitchFamily="34" charset="-122"/>
              <a:ea typeface="微软雅黑" panose="020B0503020204020204" pitchFamily="34" charset="-122"/>
            </a:endParaRPr>
          </a:p>
        </p:txBody>
      </p:sp>
      <p:sp>
        <p:nvSpPr>
          <p:cNvPr id="4" name="圆角矩形 3"/>
          <p:cNvSpPr/>
          <p:nvPr/>
        </p:nvSpPr>
        <p:spPr>
          <a:xfrm>
            <a:off x="517852" y="977955"/>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矩形 4"/>
          <p:cNvSpPr/>
          <p:nvPr/>
        </p:nvSpPr>
        <p:spPr>
          <a:xfrm>
            <a:off x="1184878" y="1085859"/>
            <a:ext cx="6949484" cy="307777"/>
          </a:xfrm>
          <a:prstGeom prst="rect">
            <a:avLst/>
          </a:prstGeom>
          <a:noFill/>
          <a:ln>
            <a:noFill/>
          </a:ln>
        </p:spPr>
        <p:txBody>
          <a:bodyPr wrap="square">
            <a:spAutoFit/>
          </a:bodyPr>
          <a:lstStyle/>
          <a:p>
            <a:r>
              <a:rPr lang="zh-CN" altLang="en-US" sz="1400" b="1" dirty="0">
                <a:latin typeface="微软雅黑" panose="020B0503020204020204" pitchFamily="34" charset="-122"/>
                <a:ea typeface="微软雅黑" panose="020B0503020204020204" pitchFamily="34" charset="-122"/>
              </a:rPr>
              <a:t>为了提高传输效率，在信道质量较差时，需要把一个较长的帧划分为许多较短的分片</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6" name="Text Box 6"/>
          <p:cNvSpPr txBox="1">
            <a:spLocks noChangeArrowheads="1"/>
          </p:cNvSpPr>
          <p:nvPr/>
        </p:nvSpPr>
        <p:spPr bwMode="auto">
          <a:xfrm>
            <a:off x="7865350" y="2184702"/>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endParaRPr kumimoji="1" lang="en-US" altLang="zh-CN" sz="1100" b="1" i="1">
              <a:latin typeface="微软雅黑" panose="020B0503020204020204" pitchFamily="34" charset="-122"/>
              <a:ea typeface="微软雅黑" panose="020B0503020204020204" pitchFamily="34" charset="-122"/>
            </a:endParaRPr>
          </a:p>
        </p:txBody>
      </p:sp>
      <p:sp>
        <p:nvSpPr>
          <p:cNvPr id="7" name="Text Box 8"/>
          <p:cNvSpPr txBox="1">
            <a:spLocks noChangeArrowheads="1"/>
          </p:cNvSpPr>
          <p:nvPr/>
        </p:nvSpPr>
        <p:spPr bwMode="auto">
          <a:xfrm>
            <a:off x="7865350" y="3564414"/>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endParaRPr kumimoji="1" lang="en-US" altLang="zh-CN" sz="1100" b="1" i="1">
              <a:latin typeface="微软雅黑" panose="020B0503020204020204" pitchFamily="34" charset="-122"/>
              <a:ea typeface="微软雅黑" panose="020B0503020204020204" pitchFamily="34" charset="-122"/>
            </a:endParaRPr>
          </a:p>
        </p:txBody>
      </p:sp>
      <p:sp>
        <p:nvSpPr>
          <p:cNvPr id="8" name="Text Box 11"/>
          <p:cNvSpPr txBox="1">
            <a:spLocks noChangeArrowheads="1"/>
          </p:cNvSpPr>
          <p:nvPr/>
        </p:nvSpPr>
        <p:spPr bwMode="auto">
          <a:xfrm>
            <a:off x="7865350" y="2884909"/>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endParaRPr kumimoji="1" lang="en-US" altLang="zh-CN" sz="1100" b="1" i="1">
              <a:latin typeface="微软雅黑" panose="020B0503020204020204" pitchFamily="34" charset="-122"/>
              <a:ea typeface="微软雅黑" panose="020B0503020204020204" pitchFamily="34" charset="-122"/>
            </a:endParaRPr>
          </a:p>
        </p:txBody>
      </p:sp>
      <p:sp>
        <p:nvSpPr>
          <p:cNvPr id="9" name="Text Box 9"/>
          <p:cNvSpPr txBox="1">
            <a:spLocks noChangeArrowheads="1"/>
          </p:cNvSpPr>
          <p:nvPr/>
        </p:nvSpPr>
        <p:spPr bwMode="auto">
          <a:xfrm>
            <a:off x="860710" y="210676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源站</a:t>
            </a:r>
            <a:endParaRPr kumimoji="1" lang="zh-CN" altLang="en-US" sz="1200" b="1">
              <a:latin typeface="微软雅黑" panose="020B0503020204020204" pitchFamily="34" charset="-122"/>
              <a:ea typeface="微软雅黑" panose="020B0503020204020204" pitchFamily="34" charset="-122"/>
            </a:endParaRPr>
          </a:p>
        </p:txBody>
      </p:sp>
      <p:sp>
        <p:nvSpPr>
          <p:cNvPr id="10" name="Text Box 12"/>
          <p:cNvSpPr txBox="1">
            <a:spLocks noChangeArrowheads="1"/>
          </p:cNvSpPr>
          <p:nvPr/>
        </p:nvSpPr>
        <p:spPr bwMode="auto">
          <a:xfrm>
            <a:off x="868196" y="2769223"/>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目的站</a:t>
            </a:r>
            <a:endParaRPr kumimoji="1" lang="zh-CN" altLang="en-US" sz="1200" b="1">
              <a:latin typeface="微软雅黑" panose="020B0503020204020204" pitchFamily="34" charset="-122"/>
              <a:ea typeface="微软雅黑" panose="020B0503020204020204" pitchFamily="34" charset="-122"/>
            </a:endParaRPr>
          </a:p>
        </p:txBody>
      </p:sp>
      <p:sp>
        <p:nvSpPr>
          <p:cNvPr id="11" name="Text Box 13"/>
          <p:cNvSpPr txBox="1">
            <a:spLocks noChangeArrowheads="1"/>
          </p:cNvSpPr>
          <p:nvPr/>
        </p:nvSpPr>
        <p:spPr bwMode="auto">
          <a:xfrm>
            <a:off x="818567" y="3397583"/>
            <a:ext cx="6928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latin typeface="微软雅黑" panose="020B0503020204020204" pitchFamily="34" charset="-122"/>
                <a:ea typeface="微软雅黑" panose="020B0503020204020204" pitchFamily="34" charset="-122"/>
              </a:rPr>
              <a:t> </a:t>
            </a:r>
            <a:r>
              <a:rPr kumimoji="1" lang="zh-CN" altLang="en-US" sz="1200" b="1">
                <a:latin typeface="微软雅黑" panose="020B0503020204020204" pitchFamily="34" charset="-122"/>
                <a:ea typeface="微软雅黑" panose="020B0503020204020204" pitchFamily="34" charset="-122"/>
              </a:rPr>
              <a:t>其他站</a:t>
            </a:r>
            <a:endParaRPr kumimoji="1" lang="zh-CN" altLang="en-US" sz="1200" b="1">
              <a:latin typeface="微软雅黑" panose="020B0503020204020204" pitchFamily="34" charset="-122"/>
              <a:ea typeface="微软雅黑" panose="020B0503020204020204" pitchFamily="34" charset="-122"/>
            </a:endParaRPr>
          </a:p>
        </p:txBody>
      </p:sp>
      <p:sp>
        <p:nvSpPr>
          <p:cNvPr id="12" name="Rectangle 14"/>
          <p:cNvSpPr>
            <a:spLocks noChangeArrowheads="1"/>
          </p:cNvSpPr>
          <p:nvPr/>
        </p:nvSpPr>
        <p:spPr bwMode="auto">
          <a:xfrm>
            <a:off x="1856254" y="2131122"/>
            <a:ext cx="478880" cy="304438"/>
          </a:xfrm>
          <a:prstGeom prst="rect">
            <a:avLst/>
          </a:prstGeom>
          <a:solidFill>
            <a:srgbClr val="0066FF"/>
          </a:solidFill>
          <a:ln w="9525">
            <a:solidFill>
              <a:schemeClr val="tx1"/>
            </a:solidFill>
            <a:miter lim="800000"/>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RTS</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3" name="Rectangle 15"/>
          <p:cNvSpPr>
            <a:spLocks noChangeArrowheads="1"/>
          </p:cNvSpPr>
          <p:nvPr/>
        </p:nvSpPr>
        <p:spPr bwMode="auto">
          <a:xfrm>
            <a:off x="2496081" y="2811845"/>
            <a:ext cx="480200" cy="304438"/>
          </a:xfrm>
          <a:prstGeom prst="rect">
            <a:avLst/>
          </a:prstGeom>
          <a:solidFill>
            <a:srgbClr val="99FF99"/>
          </a:solidFill>
          <a:ln w="9525">
            <a:solidFill>
              <a:schemeClr val="tx1"/>
            </a:solidFill>
            <a:miter lim="800000"/>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CTS</a:t>
            </a:r>
            <a:endParaRPr lang="en-US" altLang="zh-CN" sz="1200" b="1" dirty="0">
              <a:latin typeface="微软雅黑" panose="020B0503020204020204" pitchFamily="34" charset="-122"/>
              <a:ea typeface="微软雅黑" panose="020B0503020204020204" pitchFamily="34" charset="-122"/>
            </a:endParaRPr>
          </a:p>
        </p:txBody>
      </p:sp>
      <p:sp>
        <p:nvSpPr>
          <p:cNvPr id="14" name="Rectangle 16"/>
          <p:cNvSpPr>
            <a:spLocks noChangeArrowheads="1"/>
          </p:cNvSpPr>
          <p:nvPr/>
        </p:nvSpPr>
        <p:spPr bwMode="auto">
          <a:xfrm>
            <a:off x="3137227" y="2131122"/>
            <a:ext cx="720300" cy="304438"/>
          </a:xfrm>
          <a:prstGeom prst="rect">
            <a:avLst/>
          </a:prstGeom>
          <a:solidFill>
            <a:srgbClr val="99FFCC"/>
          </a:solidFill>
          <a:ln w="9525">
            <a:solidFill>
              <a:schemeClr val="tx1"/>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a:t>
            </a:r>
            <a:r>
              <a:rPr lang="zh-CN" altLang="en-US" sz="700" b="1">
                <a:latin typeface="微软雅黑" panose="020B0503020204020204" pitchFamily="34" charset="-122"/>
                <a:ea typeface="微软雅黑" panose="020B0503020204020204" pitchFamily="34" charset="-122"/>
              </a:rPr>
              <a:t> </a:t>
            </a:r>
            <a:r>
              <a:rPr lang="en-US" altLang="zh-CN" sz="1200" b="1">
                <a:latin typeface="微软雅黑" panose="020B0503020204020204" pitchFamily="34" charset="-122"/>
                <a:ea typeface="微软雅黑" panose="020B0503020204020204" pitchFamily="34" charset="-122"/>
              </a:rPr>
              <a:t>0</a:t>
            </a:r>
            <a:endParaRPr lang="en-US" altLang="zh-CN" sz="1200" b="1">
              <a:latin typeface="微软雅黑" panose="020B0503020204020204" pitchFamily="34" charset="-122"/>
              <a:ea typeface="微软雅黑" panose="020B0503020204020204" pitchFamily="34" charset="-122"/>
            </a:endParaRPr>
          </a:p>
        </p:txBody>
      </p:sp>
      <p:sp>
        <p:nvSpPr>
          <p:cNvPr id="15" name="Line 17"/>
          <p:cNvSpPr>
            <a:spLocks noChangeShapeType="1"/>
          </p:cNvSpPr>
          <p:nvPr/>
        </p:nvSpPr>
        <p:spPr bwMode="auto">
          <a:xfrm>
            <a:off x="2335134" y="1904619"/>
            <a:ext cx="0" cy="1590384"/>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18"/>
          <p:cNvSpPr>
            <a:spLocks noChangeShapeType="1"/>
          </p:cNvSpPr>
          <p:nvPr/>
        </p:nvSpPr>
        <p:spPr bwMode="auto">
          <a:xfrm>
            <a:off x="2496081" y="1904619"/>
            <a:ext cx="0" cy="1211663"/>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19"/>
          <p:cNvSpPr>
            <a:spLocks noChangeShapeType="1"/>
          </p:cNvSpPr>
          <p:nvPr/>
        </p:nvSpPr>
        <p:spPr bwMode="auto">
          <a:xfrm>
            <a:off x="2976281" y="2811844"/>
            <a:ext cx="0" cy="683159"/>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20"/>
          <p:cNvSpPr>
            <a:spLocks noChangeShapeType="1"/>
          </p:cNvSpPr>
          <p:nvPr/>
        </p:nvSpPr>
        <p:spPr bwMode="auto">
          <a:xfrm>
            <a:off x="3137226" y="2131122"/>
            <a:ext cx="0" cy="985161"/>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Rectangle 21"/>
          <p:cNvSpPr>
            <a:spLocks noChangeArrowheads="1"/>
          </p:cNvSpPr>
          <p:nvPr/>
        </p:nvSpPr>
        <p:spPr bwMode="auto">
          <a:xfrm>
            <a:off x="4018473" y="2811845"/>
            <a:ext cx="476242" cy="304438"/>
          </a:xfrm>
          <a:prstGeom prst="rect">
            <a:avLst/>
          </a:prstGeom>
          <a:solidFill>
            <a:srgbClr val="FFCCFF"/>
          </a:solidFill>
          <a:ln w="9525">
            <a:solidFill>
              <a:schemeClr val="tx1"/>
            </a:solidFill>
            <a:miter lim="800000"/>
          </a:ln>
          <a:effectLst/>
        </p:spPr>
        <p:txBody>
          <a:bodyPr wrap="none" anchor="ctr"/>
          <a:lstStyle/>
          <a:p>
            <a:pPr algn="ctr"/>
            <a:r>
              <a:rPr lang="en-US" altLang="zh-CN" sz="1200" b="1" dirty="0" smtClean="0">
                <a:latin typeface="微软雅黑" panose="020B0503020204020204" pitchFamily="34" charset="-122"/>
                <a:ea typeface="微软雅黑" panose="020B0503020204020204" pitchFamily="34" charset="-122"/>
              </a:rPr>
              <a:t>ACK 0</a:t>
            </a:r>
            <a:endParaRPr lang="en-US" altLang="zh-CN" sz="1200" b="1" dirty="0">
              <a:latin typeface="微软雅黑" panose="020B0503020204020204" pitchFamily="34" charset="-122"/>
              <a:ea typeface="微软雅黑" panose="020B0503020204020204" pitchFamily="34" charset="-122"/>
            </a:endParaRPr>
          </a:p>
        </p:txBody>
      </p:sp>
      <p:sp>
        <p:nvSpPr>
          <p:cNvPr id="20" name="Line 22"/>
          <p:cNvSpPr>
            <a:spLocks noChangeShapeType="1"/>
          </p:cNvSpPr>
          <p:nvPr/>
        </p:nvSpPr>
        <p:spPr bwMode="auto">
          <a:xfrm>
            <a:off x="3857527" y="2358841"/>
            <a:ext cx="0" cy="757442"/>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3"/>
          <p:cNvSpPr>
            <a:spLocks noChangeShapeType="1"/>
          </p:cNvSpPr>
          <p:nvPr/>
        </p:nvSpPr>
        <p:spPr bwMode="auto">
          <a:xfrm>
            <a:off x="4018473" y="2435559"/>
            <a:ext cx="0" cy="680723"/>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Rectangle 24"/>
          <p:cNvSpPr>
            <a:spLocks noChangeArrowheads="1"/>
          </p:cNvSpPr>
          <p:nvPr/>
        </p:nvSpPr>
        <p:spPr bwMode="auto">
          <a:xfrm>
            <a:off x="4659620" y="2131122"/>
            <a:ext cx="720300" cy="304438"/>
          </a:xfrm>
          <a:prstGeom prst="rect">
            <a:avLst/>
          </a:prstGeom>
          <a:solidFill>
            <a:srgbClr val="99FFCC"/>
          </a:solidFill>
          <a:ln w="9525" algn="ctr">
            <a:solidFill>
              <a:schemeClr val="tx1"/>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1</a:t>
            </a:r>
            <a:endParaRPr lang="en-US" altLang="zh-CN" sz="1200" b="1">
              <a:latin typeface="微软雅黑" panose="020B0503020204020204" pitchFamily="34" charset="-122"/>
              <a:ea typeface="微软雅黑" panose="020B0503020204020204" pitchFamily="34" charset="-122"/>
            </a:endParaRPr>
          </a:p>
        </p:txBody>
      </p:sp>
      <p:sp>
        <p:nvSpPr>
          <p:cNvPr id="23" name="Rectangle 25"/>
          <p:cNvSpPr>
            <a:spLocks noChangeArrowheads="1"/>
          </p:cNvSpPr>
          <p:nvPr/>
        </p:nvSpPr>
        <p:spPr bwMode="auto">
          <a:xfrm>
            <a:off x="5540865" y="2811845"/>
            <a:ext cx="487289" cy="304438"/>
          </a:xfrm>
          <a:prstGeom prst="rect">
            <a:avLst/>
          </a:prstGeom>
          <a:solidFill>
            <a:srgbClr val="FFCCFF"/>
          </a:solidFill>
          <a:ln w="9525">
            <a:solidFill>
              <a:schemeClr val="tx1"/>
            </a:solidFill>
            <a:miter lim="800000"/>
          </a:ln>
          <a:effectLst/>
        </p:spPr>
        <p:txBody>
          <a:bodyPr wrap="none" anchor="ctr"/>
          <a:lstStyle/>
          <a:p>
            <a:pPr algn="ctr"/>
            <a:r>
              <a:rPr lang="en-US" altLang="zh-CN" sz="1200" b="1" dirty="0" smtClean="0">
                <a:latin typeface="微软雅黑" panose="020B0503020204020204" pitchFamily="34" charset="-122"/>
                <a:ea typeface="微软雅黑" panose="020B0503020204020204" pitchFamily="34" charset="-122"/>
              </a:rPr>
              <a:t>ACK 1</a:t>
            </a:r>
            <a:endParaRPr lang="en-US" altLang="zh-CN" sz="1200" b="1" dirty="0">
              <a:latin typeface="微软雅黑" panose="020B0503020204020204" pitchFamily="34" charset="-122"/>
              <a:ea typeface="微软雅黑" panose="020B0503020204020204" pitchFamily="34" charset="-122"/>
            </a:endParaRPr>
          </a:p>
        </p:txBody>
      </p:sp>
      <p:sp>
        <p:nvSpPr>
          <p:cNvPr id="24" name="Line 27"/>
          <p:cNvSpPr>
            <a:spLocks noChangeShapeType="1"/>
          </p:cNvSpPr>
          <p:nvPr/>
        </p:nvSpPr>
        <p:spPr bwMode="auto">
          <a:xfrm flipH="1">
            <a:off x="4484161" y="2435559"/>
            <a:ext cx="15831" cy="1057009"/>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8"/>
          <p:cNvSpPr>
            <a:spLocks noChangeShapeType="1"/>
          </p:cNvSpPr>
          <p:nvPr/>
        </p:nvSpPr>
        <p:spPr bwMode="auto">
          <a:xfrm>
            <a:off x="4660938" y="2435559"/>
            <a:ext cx="0" cy="680723"/>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9"/>
          <p:cNvSpPr>
            <a:spLocks noChangeShapeType="1"/>
          </p:cNvSpPr>
          <p:nvPr/>
        </p:nvSpPr>
        <p:spPr bwMode="auto">
          <a:xfrm>
            <a:off x="5381239" y="2435559"/>
            <a:ext cx="0" cy="680723"/>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30"/>
          <p:cNvSpPr>
            <a:spLocks noChangeShapeType="1"/>
          </p:cNvSpPr>
          <p:nvPr/>
        </p:nvSpPr>
        <p:spPr bwMode="auto">
          <a:xfrm>
            <a:off x="5542184" y="2435559"/>
            <a:ext cx="0" cy="680723"/>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31"/>
          <p:cNvSpPr>
            <a:spLocks noChangeShapeType="1"/>
          </p:cNvSpPr>
          <p:nvPr/>
        </p:nvSpPr>
        <p:spPr bwMode="auto">
          <a:xfrm>
            <a:off x="6028154" y="2435560"/>
            <a:ext cx="6595" cy="1121549"/>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32"/>
          <p:cNvSpPr>
            <a:spLocks noChangeShapeType="1"/>
          </p:cNvSpPr>
          <p:nvPr/>
        </p:nvSpPr>
        <p:spPr bwMode="auto">
          <a:xfrm>
            <a:off x="6183331" y="2435559"/>
            <a:ext cx="0" cy="680723"/>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33"/>
          <p:cNvSpPr>
            <a:spLocks noChangeShapeType="1"/>
          </p:cNvSpPr>
          <p:nvPr/>
        </p:nvSpPr>
        <p:spPr bwMode="auto">
          <a:xfrm>
            <a:off x="6903631" y="2435559"/>
            <a:ext cx="0" cy="680723"/>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4"/>
          <p:cNvSpPr>
            <a:spLocks noChangeShapeType="1"/>
          </p:cNvSpPr>
          <p:nvPr/>
        </p:nvSpPr>
        <p:spPr bwMode="auto">
          <a:xfrm>
            <a:off x="7064577" y="2435559"/>
            <a:ext cx="0" cy="680723"/>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Rectangle 35"/>
          <p:cNvSpPr>
            <a:spLocks noChangeArrowheads="1"/>
          </p:cNvSpPr>
          <p:nvPr/>
        </p:nvSpPr>
        <p:spPr bwMode="auto">
          <a:xfrm>
            <a:off x="6183332" y="2131122"/>
            <a:ext cx="720300" cy="304438"/>
          </a:xfrm>
          <a:prstGeom prst="rect">
            <a:avLst/>
          </a:prstGeom>
          <a:solidFill>
            <a:srgbClr val="99FFCC"/>
          </a:solidFill>
          <a:ln w="9525" algn="ctr">
            <a:solidFill>
              <a:schemeClr val="tx1"/>
            </a:solidFill>
            <a:miter lim="800000"/>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2</a:t>
            </a:r>
            <a:endParaRPr lang="en-US" altLang="zh-CN" sz="1200" b="1">
              <a:latin typeface="微软雅黑" panose="020B0503020204020204" pitchFamily="34" charset="-122"/>
              <a:ea typeface="微软雅黑" panose="020B0503020204020204" pitchFamily="34" charset="-122"/>
            </a:endParaRPr>
          </a:p>
        </p:txBody>
      </p:sp>
      <p:sp>
        <p:nvSpPr>
          <p:cNvPr id="33" name="Rectangle 36"/>
          <p:cNvSpPr>
            <a:spLocks noChangeArrowheads="1"/>
          </p:cNvSpPr>
          <p:nvPr/>
        </p:nvSpPr>
        <p:spPr bwMode="auto">
          <a:xfrm>
            <a:off x="7064577" y="2811845"/>
            <a:ext cx="534288" cy="304438"/>
          </a:xfrm>
          <a:prstGeom prst="rect">
            <a:avLst/>
          </a:prstGeom>
          <a:solidFill>
            <a:srgbClr val="FFCCFF"/>
          </a:solidFill>
          <a:ln w="9525">
            <a:solidFill>
              <a:schemeClr val="tx1"/>
            </a:solidFill>
            <a:miter lim="800000"/>
          </a:ln>
          <a:effectLst/>
        </p:spPr>
        <p:txBody>
          <a:bodyPr wrap="none" anchor="ctr"/>
          <a:lstStyle/>
          <a:p>
            <a:pPr algn="ctr"/>
            <a:r>
              <a:rPr lang="en-US" altLang="zh-CN" sz="1200" b="1" dirty="0" smtClean="0">
                <a:latin typeface="微软雅黑" panose="020B0503020204020204" pitchFamily="34" charset="-122"/>
                <a:ea typeface="微软雅黑" panose="020B0503020204020204" pitchFamily="34" charset="-122"/>
              </a:rPr>
              <a:t>ACK 2</a:t>
            </a:r>
            <a:endParaRPr lang="en-US" altLang="zh-CN" sz="1200" b="1" dirty="0">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2017200" y="1980120"/>
            <a:ext cx="317934" cy="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Line 38"/>
          <p:cNvSpPr>
            <a:spLocks noChangeShapeType="1"/>
          </p:cNvSpPr>
          <p:nvPr/>
        </p:nvSpPr>
        <p:spPr bwMode="auto">
          <a:xfrm flipH="1">
            <a:off x="2498720" y="1980120"/>
            <a:ext cx="319254" cy="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Text Box 39"/>
          <p:cNvSpPr txBox="1">
            <a:spLocks noChangeArrowheads="1"/>
          </p:cNvSpPr>
          <p:nvPr/>
        </p:nvSpPr>
        <p:spPr bwMode="auto">
          <a:xfrm>
            <a:off x="2231184" y="1516059"/>
            <a:ext cx="5592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anose="020B0503020204020204" pitchFamily="34" charset="-122"/>
                <a:ea typeface="微软雅黑" panose="020B0503020204020204" pitchFamily="34" charset="-122"/>
              </a:rPr>
              <a:t>SIFS</a:t>
            </a:r>
            <a:endParaRPr kumimoji="1"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37" name="Line 40"/>
          <p:cNvSpPr>
            <a:spLocks noChangeShapeType="1"/>
          </p:cNvSpPr>
          <p:nvPr/>
        </p:nvSpPr>
        <p:spPr bwMode="auto">
          <a:xfrm flipH="1">
            <a:off x="2416927" y="1752401"/>
            <a:ext cx="79154" cy="22772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 name="Rectangle 41"/>
          <p:cNvSpPr>
            <a:spLocks noChangeArrowheads="1"/>
          </p:cNvSpPr>
          <p:nvPr/>
        </p:nvSpPr>
        <p:spPr bwMode="auto">
          <a:xfrm>
            <a:off x="2335134" y="3496278"/>
            <a:ext cx="2149027" cy="304438"/>
          </a:xfrm>
          <a:prstGeom prst="rect">
            <a:avLst/>
          </a:prstGeom>
          <a:solidFill>
            <a:srgbClr val="0066FF"/>
          </a:solidFill>
          <a:ln w="9525">
            <a:solidFill>
              <a:schemeClr val="tx1"/>
            </a:solidFill>
            <a:miter lim="800000"/>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(RTS)</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39" name="Rectangle 42"/>
          <p:cNvSpPr>
            <a:spLocks noChangeArrowheads="1"/>
          </p:cNvSpPr>
          <p:nvPr/>
        </p:nvSpPr>
        <p:spPr bwMode="auto">
          <a:xfrm>
            <a:off x="2976281" y="3789700"/>
            <a:ext cx="1523712" cy="303220"/>
          </a:xfrm>
          <a:prstGeom prst="rect">
            <a:avLst/>
          </a:prstGeom>
          <a:solidFill>
            <a:srgbClr val="99FF99"/>
          </a:solidFill>
          <a:ln w="9525">
            <a:solidFill>
              <a:schemeClr val="tx1"/>
            </a:solidFill>
            <a:miter lim="800000"/>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NAV (CTS)</a:t>
            </a:r>
            <a:endParaRPr lang="en-US" altLang="zh-CN" sz="1200" b="1" dirty="0">
              <a:latin typeface="微软雅黑" panose="020B0503020204020204" pitchFamily="34" charset="-122"/>
              <a:ea typeface="微软雅黑" panose="020B0503020204020204" pitchFamily="34" charset="-122"/>
            </a:endParaRPr>
          </a:p>
        </p:txBody>
      </p:sp>
      <p:sp>
        <p:nvSpPr>
          <p:cNvPr id="40" name="AutoShape 43"/>
          <p:cNvSpPr/>
          <p:nvPr/>
        </p:nvSpPr>
        <p:spPr bwMode="auto">
          <a:xfrm rot="16200000">
            <a:off x="5186905" y="-165761"/>
            <a:ext cx="227720" cy="4327077"/>
          </a:xfrm>
          <a:prstGeom prst="rightBrace">
            <a:avLst>
              <a:gd name="adj1" fmla="val 146167"/>
              <a:gd name="adj2" fmla="val 50000"/>
            </a:avLst>
          </a:prstGeom>
          <a:noFill/>
          <a:ln w="12700">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Text Box 44"/>
          <p:cNvSpPr txBox="1">
            <a:spLocks noChangeArrowheads="1"/>
          </p:cNvSpPr>
          <p:nvPr/>
        </p:nvSpPr>
        <p:spPr bwMode="auto">
          <a:xfrm>
            <a:off x="4234210" y="1592743"/>
            <a:ext cx="223651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0000CC"/>
                </a:solidFill>
                <a:latin typeface="微软雅黑" panose="020B0503020204020204" pitchFamily="34" charset="-122"/>
                <a:ea typeface="微软雅黑" panose="020B0503020204020204" pitchFamily="34" charset="-122"/>
              </a:rPr>
              <a:t>长的帧划分为许多分片</a:t>
            </a:r>
            <a:endParaRPr kumimoji="1" lang="zh-CN" altLang="en-US" sz="1600" b="1" dirty="0">
              <a:solidFill>
                <a:srgbClr val="0000CC"/>
              </a:solidFill>
              <a:latin typeface="微软雅黑" panose="020B0503020204020204" pitchFamily="34" charset="-122"/>
              <a:ea typeface="微软雅黑" panose="020B0503020204020204" pitchFamily="34" charset="-122"/>
            </a:endParaRPr>
          </a:p>
        </p:txBody>
      </p:sp>
      <p:sp>
        <p:nvSpPr>
          <p:cNvPr id="42" name="Rectangle 48"/>
          <p:cNvSpPr>
            <a:spLocks noChangeArrowheads="1"/>
          </p:cNvSpPr>
          <p:nvPr/>
        </p:nvSpPr>
        <p:spPr bwMode="auto">
          <a:xfrm>
            <a:off x="4484161" y="3496278"/>
            <a:ext cx="1555373" cy="309436"/>
          </a:xfrm>
          <a:prstGeom prst="rect">
            <a:avLst/>
          </a:prstGeom>
          <a:solidFill>
            <a:srgbClr val="0066FF"/>
          </a:solidFill>
          <a:ln w="9525">
            <a:solidFill>
              <a:schemeClr val="tx1"/>
            </a:solidFill>
            <a:miter lim="800000"/>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a:t>
            </a:r>
            <a:r>
              <a:rPr lang="zh-CN" altLang="en-US" sz="1200" b="1" dirty="0">
                <a:solidFill>
                  <a:schemeClr val="bg1"/>
                </a:solidFill>
                <a:latin typeface="微软雅黑" panose="020B0503020204020204" pitchFamily="34" charset="-122"/>
                <a:ea typeface="微软雅黑" panose="020B0503020204020204" pitchFamily="34" charset="-122"/>
              </a:rPr>
              <a:t>分片</a:t>
            </a:r>
            <a:r>
              <a:rPr lang="en-US" altLang="zh-CN" sz="1200" b="1" dirty="0">
                <a:solidFill>
                  <a:schemeClr val="bg1"/>
                </a:solidFill>
                <a:latin typeface="微软雅黑" panose="020B0503020204020204" pitchFamily="34" charset="-122"/>
                <a:ea typeface="微软雅黑" panose="020B0503020204020204" pitchFamily="34" charset="-122"/>
              </a:rPr>
              <a:t>0)</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43" name="Rectangle 49"/>
          <p:cNvSpPr>
            <a:spLocks noChangeArrowheads="1"/>
          </p:cNvSpPr>
          <p:nvPr/>
        </p:nvSpPr>
        <p:spPr bwMode="auto">
          <a:xfrm>
            <a:off x="4484162" y="3789700"/>
            <a:ext cx="1554054" cy="303220"/>
          </a:xfrm>
          <a:prstGeom prst="rect">
            <a:avLst/>
          </a:prstGeom>
          <a:solidFill>
            <a:srgbClr val="99FF99"/>
          </a:solidFill>
          <a:ln w="9525">
            <a:solidFill>
              <a:schemeClr val="tx1"/>
            </a:solidFill>
            <a:miter lim="800000"/>
          </a:ln>
          <a:effec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(ACK0)</a:t>
            </a:r>
            <a:endParaRPr lang="en-US" altLang="zh-CN" sz="1200" b="1">
              <a:latin typeface="微软雅黑" panose="020B0503020204020204" pitchFamily="34" charset="-122"/>
              <a:ea typeface="微软雅黑" panose="020B0503020204020204" pitchFamily="34" charset="-122"/>
            </a:endParaRPr>
          </a:p>
        </p:txBody>
      </p:sp>
      <p:sp>
        <p:nvSpPr>
          <p:cNvPr id="44" name="Rectangle 50"/>
          <p:cNvSpPr>
            <a:spLocks noChangeArrowheads="1"/>
          </p:cNvSpPr>
          <p:nvPr/>
        </p:nvSpPr>
        <p:spPr bwMode="auto">
          <a:xfrm>
            <a:off x="6034257" y="3789700"/>
            <a:ext cx="1558012" cy="303220"/>
          </a:xfrm>
          <a:prstGeom prst="rect">
            <a:avLst/>
          </a:prstGeom>
          <a:solidFill>
            <a:srgbClr val="99FF99"/>
          </a:solidFill>
          <a:ln w="9525">
            <a:solidFill>
              <a:schemeClr val="tx1"/>
            </a:solidFill>
            <a:miter lim="800000"/>
          </a:ln>
          <a:effec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(ACK1)</a:t>
            </a:r>
            <a:endParaRPr lang="en-US" altLang="zh-CN" sz="1200" b="1">
              <a:latin typeface="微软雅黑" panose="020B0503020204020204" pitchFamily="34" charset="-122"/>
              <a:ea typeface="微软雅黑" panose="020B0503020204020204" pitchFamily="34" charset="-122"/>
            </a:endParaRPr>
          </a:p>
        </p:txBody>
      </p:sp>
      <p:sp>
        <p:nvSpPr>
          <p:cNvPr id="45" name="Line 51"/>
          <p:cNvSpPr>
            <a:spLocks noChangeShapeType="1"/>
          </p:cNvSpPr>
          <p:nvPr/>
        </p:nvSpPr>
        <p:spPr bwMode="auto">
          <a:xfrm>
            <a:off x="7596226" y="2425817"/>
            <a:ext cx="0" cy="1066751"/>
          </a:xfrm>
          <a:prstGeom prst="line">
            <a:avLst/>
          </a:prstGeom>
          <a:noFill/>
          <a:ln w="12700">
            <a:solidFill>
              <a:srgbClr val="0000FF"/>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Rectangle 52"/>
          <p:cNvSpPr>
            <a:spLocks noChangeArrowheads="1"/>
          </p:cNvSpPr>
          <p:nvPr/>
        </p:nvSpPr>
        <p:spPr bwMode="auto">
          <a:xfrm>
            <a:off x="6034258" y="3496278"/>
            <a:ext cx="1561970" cy="304438"/>
          </a:xfrm>
          <a:prstGeom prst="rect">
            <a:avLst/>
          </a:prstGeom>
          <a:solidFill>
            <a:srgbClr val="0066FF"/>
          </a:solidFill>
          <a:ln w="9525">
            <a:solidFill>
              <a:schemeClr val="tx1"/>
            </a:solidFill>
            <a:miter lim="800000"/>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NAV (</a:t>
            </a:r>
            <a:r>
              <a:rPr lang="zh-CN" altLang="en-US" sz="1200" b="1">
                <a:solidFill>
                  <a:schemeClr val="bg1"/>
                </a:solidFill>
                <a:latin typeface="微软雅黑" panose="020B0503020204020204" pitchFamily="34" charset="-122"/>
                <a:ea typeface="微软雅黑" panose="020B0503020204020204" pitchFamily="34" charset="-122"/>
              </a:rPr>
              <a:t>分片</a:t>
            </a:r>
            <a:r>
              <a:rPr lang="en-US" altLang="zh-CN" sz="1200" b="1">
                <a:solidFill>
                  <a:schemeClr val="bg1"/>
                </a:solidFill>
                <a:latin typeface="微软雅黑" panose="020B0503020204020204" pitchFamily="34" charset="-122"/>
                <a:ea typeface="微软雅黑" panose="020B0503020204020204" pitchFamily="34" charset="-122"/>
              </a:rPr>
              <a:t>1)</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47" name="Line 7"/>
          <p:cNvSpPr>
            <a:spLocks noChangeShapeType="1"/>
          </p:cNvSpPr>
          <p:nvPr/>
        </p:nvSpPr>
        <p:spPr bwMode="auto">
          <a:xfrm>
            <a:off x="945985" y="3797005"/>
            <a:ext cx="7129123" cy="0"/>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10"/>
          <p:cNvSpPr>
            <a:spLocks noChangeShapeType="1"/>
          </p:cNvSpPr>
          <p:nvPr/>
        </p:nvSpPr>
        <p:spPr bwMode="auto">
          <a:xfrm>
            <a:off x="944665" y="3116282"/>
            <a:ext cx="7126485" cy="0"/>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5"/>
          <p:cNvSpPr>
            <a:spLocks noChangeShapeType="1"/>
          </p:cNvSpPr>
          <p:nvPr/>
        </p:nvSpPr>
        <p:spPr bwMode="auto">
          <a:xfrm>
            <a:off x="945985" y="2435559"/>
            <a:ext cx="7129123" cy="0"/>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5145" y="1012964"/>
            <a:ext cx="8272930" cy="3054682"/>
          </a:xfrm>
          <a:prstGeom prst="rect">
            <a:avLst/>
          </a:prstGeom>
        </p:spPr>
        <p:txBody>
          <a:bodyPr wrap="square">
            <a:spAutoFit/>
          </a:bodyPr>
          <a:lstStyle/>
          <a:p>
            <a:pPr marL="357505" indent="-357505"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无线个人区域</a:t>
            </a:r>
            <a:r>
              <a:rPr lang="zh-CN" altLang="en-US" sz="2000" b="1" dirty="0" smtClean="0">
                <a:solidFill>
                  <a:srgbClr val="C00000"/>
                </a:solidFill>
                <a:latin typeface="微软雅黑" panose="020B0503020204020204" pitchFamily="34" charset="-122"/>
                <a:ea typeface="微软雅黑" panose="020B0503020204020204" pitchFamily="34" charset="-122"/>
              </a:rPr>
              <a:t>网 </a:t>
            </a:r>
            <a:r>
              <a:rPr lang="en-US" altLang="zh-CN" sz="2000" b="1" dirty="0" smtClean="0">
                <a:solidFill>
                  <a:srgbClr val="C00000"/>
                </a:solidFill>
                <a:latin typeface="微软雅黑" panose="020B0503020204020204" pitchFamily="34" charset="-122"/>
                <a:ea typeface="微软雅黑" panose="020B0503020204020204" pitchFamily="34" charset="-122"/>
              </a:rPr>
              <a:t>WPAN </a:t>
            </a:r>
            <a:r>
              <a:rPr lang="en-US" altLang="zh-CN" sz="2000" b="1" dirty="0">
                <a:latin typeface="微软雅黑" panose="020B0503020204020204" pitchFamily="34" charset="-122"/>
                <a:ea typeface="微软雅黑" panose="020B0503020204020204" pitchFamily="34" charset="-122"/>
              </a:rPr>
              <a:t>(Wireless Personal Area Network</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个人工作地方把属于个人使用的电子设备用无线技术连接起来</a:t>
            </a:r>
            <a:r>
              <a:rPr lang="zh-CN" altLang="en-US" sz="2000" b="1" dirty="0">
                <a:solidFill>
                  <a:srgbClr val="C00000"/>
                </a:solidFill>
                <a:latin typeface="微软雅黑" panose="020B0503020204020204" pitchFamily="34" charset="-122"/>
                <a:ea typeface="微软雅黑" panose="020B0503020204020204" pitchFamily="34" charset="-122"/>
              </a:rPr>
              <a:t>自组网络</a:t>
            </a:r>
            <a:r>
              <a:rPr lang="zh-CN" altLang="en-US" sz="2000" b="1" dirty="0">
                <a:latin typeface="微软雅黑" panose="020B0503020204020204" pitchFamily="34" charset="-122"/>
                <a:ea typeface="微软雅黑" panose="020B0503020204020204" pitchFamily="34" charset="-122"/>
              </a:rPr>
              <a:t>，不需要使用</a:t>
            </a:r>
            <a:r>
              <a:rPr lang="zh-CN" altLang="en-US" sz="2000" b="1" dirty="0" smtClean="0">
                <a:latin typeface="微软雅黑" panose="020B0503020204020204" pitchFamily="34" charset="-122"/>
                <a:ea typeface="微软雅黑" panose="020B0503020204020204" pitchFamily="34" charset="-122"/>
              </a:rPr>
              <a:t>接入点 </a:t>
            </a:r>
            <a:r>
              <a:rPr lang="en-US" altLang="zh-CN" sz="2000" b="1" dirty="0" smtClean="0">
                <a:latin typeface="微软雅黑" panose="020B0503020204020204" pitchFamily="34" charset="-122"/>
                <a:ea typeface="微软雅黑" panose="020B0503020204020204" pitchFamily="34" charset="-122"/>
              </a:rPr>
              <a:t>AP</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57505" indent="-357505"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整个网络的范围大约</a:t>
            </a:r>
            <a:r>
              <a:rPr lang="zh-CN" altLang="en-US" sz="2000" b="1" dirty="0" smtClean="0">
                <a:latin typeface="微软雅黑" panose="020B0503020204020204" pitchFamily="34" charset="-122"/>
                <a:ea typeface="微软雅黑" panose="020B0503020204020204" pitchFamily="34" charset="-122"/>
              </a:rPr>
              <a:t>在 </a:t>
            </a:r>
            <a:r>
              <a:rPr lang="en-US" altLang="zh-CN" sz="2000" b="1" dirty="0" smtClean="0">
                <a:latin typeface="微软雅黑" panose="020B0503020204020204" pitchFamily="34" charset="-122"/>
                <a:ea typeface="微软雅黑" panose="020B0503020204020204" pitchFamily="34" charset="-122"/>
              </a:rPr>
              <a:t>10 m </a:t>
            </a:r>
            <a:r>
              <a:rPr lang="zh-CN" altLang="en-US" sz="2000" b="1" dirty="0" smtClean="0">
                <a:latin typeface="微软雅黑" panose="020B0503020204020204" pitchFamily="34" charset="-122"/>
                <a:ea typeface="微软雅黑" panose="020B0503020204020204" pitchFamily="34" charset="-122"/>
              </a:rPr>
              <a:t>左右</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57505" indent="-357505"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WPAN </a:t>
            </a:r>
            <a:r>
              <a:rPr lang="zh-CN" altLang="en-US" sz="2000" b="1" dirty="0" smtClean="0">
                <a:latin typeface="微软雅黑" panose="020B0503020204020204" pitchFamily="34" charset="-122"/>
                <a:ea typeface="微软雅黑" panose="020B0503020204020204" pitchFamily="34" charset="-122"/>
              </a:rPr>
              <a:t>可以</a:t>
            </a:r>
            <a:r>
              <a:rPr lang="zh-CN" altLang="en-US" sz="2000" b="1" dirty="0">
                <a:latin typeface="微软雅黑" panose="020B0503020204020204" pitchFamily="34" charset="-122"/>
                <a:ea typeface="微软雅黑" panose="020B0503020204020204" pitchFamily="34" charset="-122"/>
              </a:rPr>
              <a:t>是一个人使用，也可以是若干人共同使用。</a:t>
            </a:r>
            <a:endParaRPr lang="zh-CN" altLang="en-US" sz="2000" b="1" dirty="0">
              <a:latin typeface="微软雅黑" panose="020B0503020204020204" pitchFamily="34" charset="-122"/>
              <a:ea typeface="微软雅黑" panose="020B0503020204020204" pitchFamily="34" charset="-122"/>
            </a:endParaRPr>
          </a:p>
          <a:p>
            <a:pPr marL="357505" indent="-357505"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与</a:t>
            </a:r>
            <a:r>
              <a:rPr lang="zh-CN" altLang="en-US" sz="2000" b="1" dirty="0" smtClean="0">
                <a:solidFill>
                  <a:srgbClr val="C00000"/>
                </a:solidFill>
                <a:latin typeface="微软雅黑" panose="020B0503020204020204" pitchFamily="34" charset="-122"/>
                <a:ea typeface="微软雅黑" panose="020B0503020204020204" pitchFamily="34" charset="-122"/>
              </a:rPr>
              <a:t>个人</a:t>
            </a:r>
            <a:r>
              <a:rPr lang="zh-CN" altLang="en-US" sz="2000" b="1" dirty="0">
                <a:solidFill>
                  <a:srgbClr val="C00000"/>
                </a:solidFill>
                <a:latin typeface="微软雅黑" panose="020B0503020204020204" pitchFamily="34" charset="-122"/>
                <a:ea typeface="微软雅黑" panose="020B0503020204020204" pitchFamily="34" charset="-122"/>
              </a:rPr>
              <a:t>区域网 </a:t>
            </a:r>
            <a:r>
              <a:rPr lang="en-US" altLang="zh-CN" sz="2000" b="1" dirty="0">
                <a:solidFill>
                  <a:srgbClr val="C00000"/>
                </a:solidFill>
                <a:latin typeface="微软雅黑" panose="020B0503020204020204" pitchFamily="34" charset="-122"/>
                <a:ea typeface="微软雅黑" panose="020B0503020204020204" pitchFamily="34" charset="-122"/>
              </a:rPr>
              <a:t>PAN </a:t>
            </a:r>
            <a:r>
              <a:rPr lang="en-US" altLang="zh-CN" sz="2000" b="1" dirty="0">
                <a:latin typeface="微软雅黑" panose="020B0503020204020204" pitchFamily="34" charset="-122"/>
                <a:ea typeface="微软雅黑" panose="020B0503020204020204" pitchFamily="34" charset="-122"/>
              </a:rPr>
              <a:t>(Personal Area Network</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并</a:t>
            </a:r>
            <a:r>
              <a:rPr lang="zh-CN" altLang="en-US" sz="2000" b="1" dirty="0">
                <a:latin typeface="微软雅黑" panose="020B0503020204020204" pitchFamily="34" charset="-122"/>
                <a:ea typeface="微软雅黑" panose="020B0503020204020204" pitchFamily="34" charset="-122"/>
              </a:rPr>
              <a:t>不完全等同，因为 </a:t>
            </a:r>
            <a:r>
              <a:rPr lang="en-US" altLang="zh-CN" sz="2000" b="1" dirty="0">
                <a:latin typeface="微软雅黑" panose="020B0503020204020204" pitchFamily="34" charset="-122"/>
                <a:ea typeface="微软雅黑" panose="020B0503020204020204" pitchFamily="34" charset="-122"/>
              </a:rPr>
              <a:t>PAN </a:t>
            </a:r>
            <a:r>
              <a:rPr lang="zh-CN" altLang="en-US" sz="2000" b="1" dirty="0">
                <a:latin typeface="微软雅黑" panose="020B0503020204020204" pitchFamily="34" charset="-122"/>
                <a:ea typeface="微软雅黑" panose="020B0503020204020204" pitchFamily="34" charset="-122"/>
              </a:rPr>
              <a:t>不一定都</a:t>
            </a:r>
            <a:r>
              <a:rPr lang="zh-CN" altLang="en-US" sz="2000" b="1" dirty="0" smtClean="0">
                <a:latin typeface="微软雅黑" panose="020B0503020204020204" pitchFamily="34" charset="-122"/>
                <a:ea typeface="微软雅黑" panose="020B0503020204020204" pitchFamily="34" charset="-122"/>
              </a:rPr>
              <a:t>是使用</a:t>
            </a:r>
            <a:r>
              <a:rPr lang="zh-CN" altLang="en-US" sz="2000" b="1" dirty="0">
                <a:latin typeface="微软雅黑" panose="020B0503020204020204" pitchFamily="34" charset="-122"/>
                <a:ea typeface="微软雅黑" panose="020B0503020204020204" pitchFamily="34" charset="-122"/>
              </a:rPr>
              <a:t>无线连接的。 </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45144" y="620132"/>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panose="02010600030101010101" pitchFamily="2" charset="-122"/>
            </a:endParaRPr>
          </a:p>
        </p:txBody>
      </p:sp>
      <p:sp>
        <p:nvSpPr>
          <p:cNvPr id="6" name="Rectangle 6"/>
          <p:cNvSpPr>
            <a:spLocks noChangeArrowheads="1"/>
          </p:cNvSpPr>
          <p:nvPr/>
        </p:nvSpPr>
        <p:spPr bwMode="auto">
          <a:xfrm>
            <a:off x="2575017" y="577861"/>
            <a:ext cx="399397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smtClean="0">
                <a:solidFill>
                  <a:srgbClr val="FFFF00"/>
                </a:solidFill>
                <a:latin typeface="微软雅黑" panose="020B0503020204020204" pitchFamily="34" charset="-122"/>
                <a:ea typeface="微软雅黑" panose="020B0503020204020204" pitchFamily="34" charset="-122"/>
              </a:rPr>
              <a:t>9.2</a:t>
            </a:r>
            <a:r>
              <a:rPr lang="en-US" altLang="zh-CN" sz="2400" b="1" dirty="0" smtClean="0">
                <a:solidFill>
                  <a:schemeClr val="bg1"/>
                </a:solidFill>
                <a:latin typeface="微软雅黑" panose="020B0503020204020204" pitchFamily="34" charset="-122"/>
                <a:ea typeface="微软雅黑" panose="020B0503020204020204" pitchFamily="34" charset="-122"/>
              </a:rPr>
              <a:t>  </a:t>
            </a:r>
            <a:r>
              <a:rPr lang="zh-CN" altLang="en-US" sz="2400" b="1" dirty="0" smtClean="0">
                <a:solidFill>
                  <a:schemeClr val="bg1"/>
                </a:solidFill>
                <a:latin typeface="微软雅黑" panose="020B0503020204020204" pitchFamily="34" charset="-122"/>
                <a:ea typeface="微软雅黑" panose="020B0503020204020204" pitchFamily="34" charset="-122"/>
              </a:rPr>
              <a:t>无线个人区域网</a:t>
            </a:r>
            <a:r>
              <a:rPr lang="en-US" altLang="zh-CN" sz="2400" b="1" dirty="0" smtClean="0">
                <a:solidFill>
                  <a:schemeClr val="bg1"/>
                </a:solidFill>
                <a:latin typeface="微软雅黑" panose="020B0503020204020204" pitchFamily="34" charset="-122"/>
                <a:ea typeface="微软雅黑" panose="020B0503020204020204" pitchFamily="34" charset="-122"/>
              </a:rPr>
              <a:t>WPAN</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7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2682969" y="592475"/>
            <a:ext cx="37868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WPAN </a:t>
            </a:r>
            <a:r>
              <a:rPr lang="zh-CN" altLang="en-US" sz="2400" b="1" dirty="0">
                <a:solidFill>
                  <a:schemeClr val="bg1"/>
                </a:solidFill>
                <a:latin typeface="微软雅黑" panose="020B0503020204020204" pitchFamily="34" charset="-122"/>
                <a:ea typeface="微软雅黑" panose="020B0503020204020204" pitchFamily="34" charset="-122"/>
              </a:rPr>
              <a:t>和 </a:t>
            </a:r>
            <a:r>
              <a:rPr lang="en-US" altLang="zh-CN" sz="2400" b="1" dirty="0">
                <a:solidFill>
                  <a:schemeClr val="bg1"/>
                </a:solidFill>
                <a:latin typeface="微软雅黑" panose="020B0503020204020204" pitchFamily="34" charset="-122"/>
                <a:ea typeface="微软雅黑" panose="020B0503020204020204" pitchFamily="34" charset="-122"/>
              </a:rPr>
              <a:t>WLAN </a:t>
            </a:r>
            <a:r>
              <a:rPr lang="zh-CN" altLang="en-US" sz="2400" b="1" dirty="0" smtClean="0">
                <a:solidFill>
                  <a:schemeClr val="bg1"/>
                </a:solidFill>
                <a:latin typeface="微软雅黑" panose="020B0503020204020204" pitchFamily="34" charset="-122"/>
                <a:ea typeface="微软雅黑" panose="020B0503020204020204" pitchFamily="34" charset="-122"/>
              </a:rPr>
              <a:t>不一样 </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040945"/>
            <a:ext cx="8277262"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WPAN</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是以个人为</a:t>
            </a:r>
            <a:r>
              <a:rPr lang="zh-CN" altLang="en-US" sz="2000" b="1" dirty="0" smtClean="0">
                <a:latin typeface="微软雅黑" panose="020B0503020204020204" pitchFamily="34" charset="-122"/>
                <a:ea typeface="微软雅黑" panose="020B0503020204020204" pitchFamily="34" charset="-122"/>
              </a:rPr>
              <a:t>中心使用</a:t>
            </a:r>
            <a:r>
              <a:rPr lang="zh-CN" altLang="en-US" sz="2000" b="1" dirty="0">
                <a:latin typeface="微软雅黑" panose="020B0503020204020204" pitchFamily="34" charset="-122"/>
                <a:ea typeface="微软雅黑" panose="020B0503020204020204" pitchFamily="34" charset="-122"/>
              </a:rPr>
              <a:t>的无线个人区域</a:t>
            </a:r>
            <a:r>
              <a:rPr lang="zh-CN" altLang="en-US" sz="2000" b="1" dirty="0" smtClean="0">
                <a:latin typeface="微软雅黑" panose="020B0503020204020204" pitchFamily="34" charset="-122"/>
                <a:ea typeface="微软雅黑" panose="020B0503020204020204" pitchFamily="34" charset="-122"/>
              </a:rPr>
              <a:t>网；</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实际上是</a:t>
            </a:r>
            <a:r>
              <a:rPr lang="zh-CN" altLang="en-US" sz="2000" b="1" dirty="0">
                <a:latin typeface="微软雅黑" panose="020B0503020204020204" pitchFamily="34" charset="-122"/>
                <a:ea typeface="微软雅黑" panose="020B0503020204020204" pitchFamily="34" charset="-122"/>
              </a:rPr>
              <a:t>一个低功率、小范围、低速率和低价格的电缆替代技术。</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WLAN</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同时为许多用户服务的无线</a:t>
            </a:r>
            <a:r>
              <a:rPr lang="zh-CN" altLang="en-US" sz="2000" b="1" dirty="0" smtClean="0">
                <a:latin typeface="微软雅黑" panose="020B0503020204020204" pitchFamily="34" charset="-122"/>
                <a:ea typeface="微软雅黑" panose="020B0503020204020204" pitchFamily="34" charset="-122"/>
              </a:rPr>
              <a:t>局域网</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是一个大功率、中等范围、高速率的局域网。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130"/>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3627779" y="589666"/>
            <a:ext cx="18972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WPAN </a:t>
            </a:r>
            <a:r>
              <a:rPr lang="zh-CN" altLang="en-US" sz="2400" b="1" dirty="0">
                <a:solidFill>
                  <a:schemeClr val="bg1"/>
                </a:solidFill>
                <a:latin typeface="微软雅黑" panose="020B0503020204020204" pitchFamily="34" charset="-122"/>
                <a:ea typeface="微软雅黑" panose="020B0503020204020204" pitchFamily="34" charset="-122"/>
              </a:rPr>
              <a:t>标准</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046844"/>
            <a:ext cx="7996484"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由 </a:t>
            </a:r>
            <a:r>
              <a:rPr lang="en-US" altLang="zh-CN" sz="2000" b="1" dirty="0">
                <a:latin typeface="微软雅黑" panose="020B0503020204020204" pitchFamily="34" charset="-122"/>
                <a:ea typeface="微软雅黑" panose="020B0503020204020204" pitchFamily="34" charset="-122"/>
              </a:rPr>
              <a:t>IEEE </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802.15 </a:t>
            </a:r>
            <a:r>
              <a:rPr lang="zh-CN" altLang="en-US" sz="2000" b="1" dirty="0" smtClean="0">
                <a:latin typeface="微软雅黑" panose="020B0503020204020204" pitchFamily="34" charset="-122"/>
                <a:ea typeface="微软雅黑" panose="020B0503020204020204" pitchFamily="34" charset="-122"/>
              </a:rPr>
              <a:t>工作组</a:t>
            </a:r>
            <a:r>
              <a:rPr lang="zh-CN" altLang="en-US" sz="2000" b="1" dirty="0">
                <a:latin typeface="微软雅黑" panose="020B0503020204020204" pitchFamily="34" charset="-122"/>
                <a:ea typeface="微软雅黑" panose="020B0503020204020204" pitchFamily="34" charset="-122"/>
              </a:rPr>
              <a:t>制定</a:t>
            </a:r>
            <a:r>
              <a:rPr lang="zh-CN" altLang="en-US" sz="2000" b="1" dirty="0" smtClean="0">
                <a:latin typeface="微软雅黑" panose="020B0503020204020204" pitchFamily="34" charset="-122"/>
                <a:ea typeface="微软雅黑" panose="020B0503020204020204" pitchFamily="34" charset="-122"/>
              </a:rPr>
              <a:t>，包括 </a:t>
            </a:r>
            <a:r>
              <a:rPr lang="en-US" altLang="zh-CN" sz="2000" b="1" dirty="0" smtClean="0">
                <a:latin typeface="微软雅黑" panose="020B0503020204020204" pitchFamily="34" charset="-122"/>
                <a:ea typeface="微软雅黑" panose="020B0503020204020204" pitchFamily="34" charset="-122"/>
              </a:rPr>
              <a:t>MAC </a:t>
            </a:r>
            <a:r>
              <a:rPr lang="zh-CN" altLang="en-US" sz="2000" b="1" dirty="0" smtClean="0">
                <a:latin typeface="微软雅黑" panose="020B0503020204020204" pitchFamily="34" charset="-122"/>
                <a:ea typeface="微软雅黑" panose="020B0503020204020204" pitchFamily="34" charset="-122"/>
              </a:rPr>
              <a:t>层</a:t>
            </a:r>
            <a:r>
              <a:rPr lang="zh-CN" altLang="en-US" sz="2000" b="1" dirty="0">
                <a:latin typeface="微软雅黑" panose="020B0503020204020204" pitchFamily="34" charset="-122"/>
                <a:ea typeface="微软雅黑" panose="020B0503020204020204" pitchFamily="34" charset="-122"/>
              </a:rPr>
              <a:t>和</a:t>
            </a:r>
            <a:r>
              <a:rPr lang="zh-CN" altLang="en-US" sz="2000" b="1" dirty="0" smtClean="0">
                <a:latin typeface="微软雅黑" panose="020B0503020204020204" pitchFamily="34" charset="-122"/>
                <a:ea typeface="微软雅黑" panose="020B0503020204020204" pitchFamily="34" charset="-122"/>
              </a:rPr>
              <a:t>物理层的</a:t>
            </a:r>
            <a:r>
              <a:rPr lang="zh-CN" altLang="en-US" sz="2000" b="1" dirty="0">
                <a:latin typeface="微软雅黑" panose="020B0503020204020204" pitchFamily="34" charset="-122"/>
                <a:ea typeface="微软雅黑" panose="020B0503020204020204" pitchFamily="34" charset="-122"/>
              </a:rPr>
              <a:t>标准。</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WPAN </a:t>
            </a:r>
            <a:r>
              <a:rPr lang="zh-CN" altLang="en-US" sz="2000" b="1" dirty="0" smtClean="0">
                <a:latin typeface="微软雅黑" panose="020B0503020204020204" pitchFamily="34" charset="-122"/>
                <a:ea typeface="微软雅黑" panose="020B0503020204020204" pitchFamily="34" charset="-122"/>
              </a:rPr>
              <a:t>都</a:t>
            </a:r>
            <a:r>
              <a:rPr lang="zh-CN" altLang="en-US" sz="2000" b="1" dirty="0">
                <a:latin typeface="微软雅黑" panose="020B0503020204020204" pitchFamily="34" charset="-122"/>
                <a:ea typeface="微软雅黑" panose="020B0503020204020204" pitchFamily="34" charset="-122"/>
              </a:rPr>
              <a:t>工作</a:t>
            </a:r>
            <a:r>
              <a:rPr lang="zh-CN" altLang="en-US" sz="2000" b="1" dirty="0" smtClean="0">
                <a:latin typeface="微软雅黑" panose="020B0503020204020204" pitchFamily="34" charset="-122"/>
                <a:ea typeface="微软雅黑" panose="020B0503020204020204" pitchFamily="34" charset="-122"/>
              </a:rPr>
              <a:t>在 </a:t>
            </a:r>
            <a:r>
              <a:rPr lang="en-US" altLang="zh-CN" sz="2000" b="1" dirty="0" smtClean="0">
                <a:latin typeface="微软雅黑" panose="020B0503020204020204" pitchFamily="34" charset="-122"/>
                <a:ea typeface="微软雅黑" panose="020B0503020204020204" pitchFamily="34" charset="-122"/>
              </a:rPr>
              <a:t>2.4 GHz </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ISM </a:t>
            </a:r>
            <a:r>
              <a:rPr lang="zh-CN" altLang="en-US" sz="2000" b="1" dirty="0" smtClean="0">
                <a:latin typeface="微软雅黑" panose="020B0503020204020204" pitchFamily="34" charset="-122"/>
                <a:ea typeface="微软雅黑" panose="020B0503020204020204" pitchFamily="34" charset="-122"/>
              </a:rPr>
              <a:t>频段</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欧洲的 </a:t>
            </a:r>
            <a:r>
              <a:rPr lang="en-US" altLang="zh-CN" sz="2000" b="1" dirty="0" smtClean="0">
                <a:latin typeface="微软雅黑" panose="020B0503020204020204" pitchFamily="34" charset="-122"/>
                <a:ea typeface="微软雅黑" panose="020B0503020204020204" pitchFamily="34" charset="-122"/>
              </a:rPr>
              <a:t>ETSI </a:t>
            </a:r>
            <a:r>
              <a:rPr lang="zh-CN" altLang="en-US" sz="2000" b="1" dirty="0" smtClean="0">
                <a:latin typeface="微软雅黑" panose="020B0503020204020204" pitchFamily="34" charset="-122"/>
                <a:ea typeface="微软雅黑" panose="020B0503020204020204" pitchFamily="34" charset="-122"/>
              </a:rPr>
              <a:t>标准</a:t>
            </a:r>
            <a:r>
              <a:rPr lang="zh-CN" altLang="en-US" sz="2000" b="1" dirty="0">
                <a:latin typeface="微软雅黑" panose="020B0503020204020204" pitchFamily="34" charset="-122"/>
                <a:ea typeface="微软雅黑" panose="020B0503020204020204" pitchFamily="34" charset="-122"/>
              </a:rPr>
              <a:t>则把无线个人区域网</a:t>
            </a:r>
            <a:r>
              <a:rPr lang="zh-CN" altLang="en-US" sz="2000" b="1" dirty="0" smtClean="0">
                <a:latin typeface="微软雅黑" panose="020B0503020204020204" pitchFamily="34" charset="-122"/>
                <a:ea typeface="微软雅黑" panose="020B0503020204020204" pitchFamily="34" charset="-122"/>
              </a:rPr>
              <a:t>取名为 </a:t>
            </a:r>
            <a:r>
              <a:rPr lang="en-US" altLang="zh-CN" sz="2000" b="1" dirty="0" err="1" smtClean="0">
                <a:latin typeface="微软雅黑" panose="020B0503020204020204" pitchFamily="34" charset="-122"/>
                <a:ea typeface="微软雅黑" panose="020B0503020204020204" pitchFamily="34" charset="-122"/>
              </a:rPr>
              <a:t>HiperPAN</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2631"/>
            <a:ext cx="8104716" cy="36543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最早使用的 </a:t>
            </a:r>
            <a:r>
              <a:rPr lang="en-US" altLang="zh-CN" sz="2000" b="1" dirty="0" smtClean="0">
                <a:latin typeface="微软雅黑" panose="020B0503020204020204" pitchFamily="34" charset="-122"/>
                <a:ea typeface="微软雅黑" panose="020B0503020204020204" pitchFamily="34" charset="-122"/>
              </a:rPr>
              <a:t>WPAN</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1994 </a:t>
            </a:r>
            <a:r>
              <a:rPr lang="zh-CN" altLang="en-US" sz="2000" b="1" dirty="0" smtClean="0">
                <a:latin typeface="微软雅黑" panose="020B0503020204020204" pitchFamily="34" charset="-122"/>
                <a:ea typeface="微软雅黑" panose="020B0503020204020204" pitchFamily="34" charset="-122"/>
              </a:rPr>
              <a:t>年，由爱</a:t>
            </a:r>
            <a:r>
              <a:rPr lang="zh-CN" altLang="en-US" sz="2000" b="1" dirty="0">
                <a:latin typeface="微软雅黑" panose="020B0503020204020204" pitchFamily="34" charset="-122"/>
                <a:ea typeface="微软雅黑" panose="020B0503020204020204" pitchFamily="34" charset="-122"/>
              </a:rPr>
              <a:t>立信公司</a:t>
            </a:r>
            <a:r>
              <a:rPr lang="zh-CN" altLang="en-US" sz="2000" b="1" dirty="0" smtClean="0">
                <a:latin typeface="微软雅黑" panose="020B0503020204020204" pitchFamily="34" charset="-122"/>
                <a:ea typeface="微软雅黑" panose="020B0503020204020204" pitchFamily="34" charset="-122"/>
              </a:rPr>
              <a:t>推出，</a:t>
            </a:r>
            <a:r>
              <a:rPr lang="zh-CN" altLang="en-US" sz="2000" b="1" dirty="0">
                <a:latin typeface="微软雅黑" panose="020B0503020204020204" pitchFamily="34" charset="-122"/>
                <a:ea typeface="微软雅黑" panose="020B0503020204020204" pitchFamily="34" charset="-122"/>
              </a:rPr>
              <a:t>其标准是 </a:t>
            </a:r>
            <a:r>
              <a:rPr lang="en-US" altLang="zh-CN" sz="2000" b="1" dirty="0">
                <a:latin typeface="微软雅黑" panose="020B0503020204020204" pitchFamily="34" charset="-122"/>
                <a:ea typeface="微软雅黑" panose="020B0503020204020204" pitchFamily="34" charset="-122"/>
              </a:rPr>
              <a:t>IEEE 802.15.1 </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sz="2000" b="1" dirty="0" smtClean="0">
                <a:solidFill>
                  <a:srgbClr val="0000CC"/>
                </a:solidFill>
                <a:latin typeface="微软雅黑" panose="020B0503020204020204" pitchFamily="34" charset="-122"/>
                <a:ea typeface="微软雅黑" panose="020B0503020204020204" pitchFamily="34" charset="-122"/>
              </a:rPr>
              <a:t>第 </a:t>
            </a:r>
            <a:r>
              <a:rPr lang="en-US" altLang="zh-CN" sz="2000" b="1" dirty="0" smtClean="0">
                <a:solidFill>
                  <a:srgbClr val="0000CC"/>
                </a:solidFill>
                <a:latin typeface="微软雅黑" panose="020B0503020204020204" pitchFamily="34" charset="-122"/>
                <a:ea typeface="微软雅黑" panose="020B0503020204020204" pitchFamily="34" charset="-122"/>
              </a:rPr>
              <a:t>1 </a:t>
            </a:r>
            <a:r>
              <a:rPr lang="zh-CN" altLang="en-US" sz="2000" b="1" dirty="0" smtClean="0">
                <a:solidFill>
                  <a:srgbClr val="0000CC"/>
                </a:solidFill>
                <a:latin typeface="微软雅黑" panose="020B0503020204020204" pitchFamily="34" charset="-122"/>
                <a:ea typeface="微软雅黑" panose="020B0503020204020204" pitchFamily="34" charset="-122"/>
              </a:rPr>
              <a:t>代蓝牙：</a:t>
            </a:r>
            <a:r>
              <a:rPr lang="zh-CN" altLang="en-US" sz="2000" b="1" dirty="0" smtClean="0">
                <a:latin typeface="微软雅黑" panose="020B0503020204020204" pitchFamily="34" charset="-122"/>
                <a:ea typeface="微软雅黑" panose="020B0503020204020204" pitchFamily="34" charset="-122"/>
              </a:rPr>
              <a:t>数据率 </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720 </a:t>
            </a:r>
            <a:r>
              <a:rPr lang="en-US" altLang="zh-CN" sz="2000" b="1" dirty="0" err="1">
                <a:latin typeface="微软雅黑" panose="020B0503020204020204" pitchFamily="34" charset="-122"/>
                <a:ea typeface="微软雅黑" panose="020B0503020204020204" pitchFamily="34" charset="-122"/>
              </a:rPr>
              <a:t>kbit</a:t>
            </a:r>
            <a:r>
              <a:rPr lang="en-US" altLang="zh-CN" sz="2000" b="1" dirty="0">
                <a:latin typeface="微软雅黑" panose="020B0503020204020204" pitchFamily="34" charset="-122"/>
                <a:ea typeface="微软雅黑" panose="020B0503020204020204" pitchFamily="34" charset="-122"/>
              </a:rPr>
              <a:t>/s</a:t>
            </a:r>
            <a:r>
              <a:rPr lang="zh-CN" altLang="en-US" sz="2000" b="1" dirty="0">
                <a:latin typeface="微软雅黑" panose="020B0503020204020204" pitchFamily="34" charset="-122"/>
                <a:ea typeface="微软雅黑" panose="020B0503020204020204" pitchFamily="34" charset="-122"/>
              </a:rPr>
              <a:t>，通信</a:t>
            </a:r>
            <a:r>
              <a:rPr lang="zh-CN" altLang="en-US" sz="2000" b="1" dirty="0" smtClean="0">
                <a:latin typeface="微软雅黑" panose="020B0503020204020204" pitchFamily="34" charset="-122"/>
                <a:ea typeface="微软雅黑" panose="020B0503020204020204" pitchFamily="34" charset="-122"/>
              </a:rPr>
              <a:t>范围 </a:t>
            </a:r>
            <a:r>
              <a:rPr lang="en-US" altLang="zh-CN" sz="2000" b="1" dirty="0" smtClean="0">
                <a:latin typeface="微软雅黑" panose="020B0503020204020204" pitchFamily="34" charset="-122"/>
                <a:ea typeface="微软雅黑" panose="020B0503020204020204" pitchFamily="34" charset="-122"/>
              </a:rPr>
              <a:t>= 10 </a:t>
            </a:r>
            <a:r>
              <a:rPr lang="zh-CN" altLang="en-US" sz="2000" b="1" dirty="0">
                <a:latin typeface="微软雅黑" panose="020B0503020204020204" pitchFamily="34" charset="-122"/>
                <a:ea typeface="微软雅黑" panose="020B0503020204020204" pitchFamily="34" charset="-122"/>
              </a:rPr>
              <a:t>米左右</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rPr>
              <a:t>蓝</a:t>
            </a:r>
            <a:r>
              <a:rPr lang="zh-CN" altLang="en-US" sz="2000" b="1" dirty="0" smtClean="0">
                <a:solidFill>
                  <a:srgbClr val="0000CC"/>
                </a:solidFill>
                <a:latin typeface="微软雅黑" panose="020B0503020204020204" pitchFamily="34" charset="-122"/>
                <a:ea typeface="微软雅黑" panose="020B0503020204020204" pitchFamily="34" charset="-122"/>
              </a:rPr>
              <a:t>牙 </a:t>
            </a:r>
            <a:r>
              <a:rPr lang="en-US" altLang="zh-CN" sz="2000" b="1" dirty="0" smtClean="0">
                <a:solidFill>
                  <a:srgbClr val="0000CC"/>
                </a:solidFill>
                <a:latin typeface="微软雅黑" panose="020B0503020204020204" pitchFamily="34" charset="-122"/>
                <a:ea typeface="微软雅黑" panose="020B0503020204020204" pitchFamily="34" charset="-122"/>
              </a:rPr>
              <a:t>4.0</a:t>
            </a:r>
            <a:r>
              <a:rPr lang="zh-CN" altLang="en-US" sz="2000" b="1" dirty="0" smtClean="0">
                <a:solidFill>
                  <a:srgbClr val="0000CC"/>
                </a:solidFill>
                <a:latin typeface="微软雅黑" panose="020B0503020204020204" pitchFamily="34" charset="-122"/>
                <a:ea typeface="微软雅黑" panose="020B0503020204020204" pitchFamily="34" charset="-122"/>
              </a:rPr>
              <a:t>：</a:t>
            </a:r>
            <a:endParaRPr lang="en-US" altLang="zh-CN" sz="2000" b="1" dirty="0" smtClean="0">
              <a:solidFill>
                <a:srgbClr val="0000CC"/>
              </a:solidFill>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anose="020B0503020204020204" pitchFamily="34" charset="-122"/>
                <a:ea typeface="微软雅黑" panose="020B0503020204020204" pitchFamily="34" charset="-122"/>
              </a:rPr>
              <a:t>低耗能蓝牙 </a:t>
            </a:r>
            <a:r>
              <a:rPr lang="en-US" altLang="zh-CN" b="1" dirty="0">
                <a:solidFill>
                  <a:srgbClr val="C00000"/>
                </a:solidFill>
                <a:latin typeface="微软雅黑" panose="020B0503020204020204" pitchFamily="34" charset="-122"/>
                <a:ea typeface="微软雅黑" panose="020B0503020204020204" pitchFamily="34" charset="-122"/>
              </a:rPr>
              <a:t>BLE </a:t>
            </a:r>
            <a:r>
              <a:rPr lang="en-US" altLang="zh-CN" b="1" dirty="0">
                <a:latin typeface="微软雅黑" panose="020B0503020204020204" pitchFamily="34" charset="-122"/>
                <a:ea typeface="微软雅黑" panose="020B0503020204020204" pitchFamily="34" charset="-122"/>
              </a:rPr>
              <a:t>(Bluetooth Low Energy)</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适用于数据量很小的节点，电池可以连续工作 </a:t>
            </a:r>
            <a:r>
              <a:rPr lang="en-US" altLang="zh-CN" b="1" dirty="0">
                <a:latin typeface="微软雅黑" panose="020B0503020204020204" pitchFamily="34" charset="-122"/>
                <a:ea typeface="微软雅黑" panose="020B0503020204020204" pitchFamily="34" charset="-122"/>
              </a:rPr>
              <a:t>4 ~ 5 </a:t>
            </a:r>
            <a:r>
              <a:rPr lang="zh-CN" altLang="en-US" b="1" dirty="0">
                <a:latin typeface="微软雅黑" panose="020B0503020204020204" pitchFamily="34" charset="-122"/>
                <a:ea typeface="微软雅黑" panose="020B0503020204020204" pitchFamily="34" charset="-122"/>
              </a:rPr>
              <a:t>年；</a:t>
            </a:r>
            <a:endParaRPr lang="en-US" altLang="zh-CN" b="1" dirty="0">
              <a:latin typeface="微软雅黑" panose="020B0503020204020204" pitchFamily="34" charset="-122"/>
              <a:ea typeface="微软雅黑" panose="020B0503020204020204"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距离增大到 </a:t>
            </a:r>
            <a:r>
              <a:rPr lang="en-US" altLang="zh-CN" b="1" dirty="0">
                <a:latin typeface="微软雅黑" panose="020B0503020204020204" pitchFamily="34" charset="-122"/>
                <a:ea typeface="微软雅黑" panose="020B0503020204020204" pitchFamily="34" charset="-122"/>
              </a:rPr>
              <a:t>30 m</a:t>
            </a:r>
            <a:r>
              <a:rPr lang="zh-CN" altLang="en-US" b="1" dirty="0">
                <a:latin typeface="微软雅黑" panose="020B0503020204020204" pitchFamily="34" charset="-122"/>
                <a:ea typeface="微软雅黑" panose="020B0503020204020204" pitchFamily="34" charset="-122"/>
              </a:rPr>
              <a:t>，数据率可达 </a:t>
            </a:r>
            <a:r>
              <a:rPr lang="en-US" altLang="zh-CN" b="1" dirty="0">
                <a:latin typeface="微软雅黑" panose="020B0503020204020204" pitchFamily="34" charset="-122"/>
                <a:ea typeface="微软雅黑" panose="020B0503020204020204" pitchFamily="34" charset="-122"/>
              </a:rPr>
              <a:t>1 Mbit/s</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anose="020B0503020204020204" pitchFamily="34" charset="-122"/>
                <a:ea typeface="微软雅黑" panose="020B0503020204020204" pitchFamily="34" charset="-122"/>
              </a:rPr>
              <a:t>传统蓝牙</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(classic Bluetooth)</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数据率提高到 </a:t>
            </a:r>
            <a:r>
              <a:rPr lang="en-US" altLang="zh-CN" b="1" dirty="0">
                <a:latin typeface="微软雅黑" panose="020B0503020204020204" pitchFamily="34" charset="-122"/>
                <a:ea typeface="微软雅黑" panose="020B0503020204020204" pitchFamily="34" charset="-122"/>
              </a:rPr>
              <a:t>3 Mbit/s</a:t>
            </a:r>
            <a:r>
              <a:rPr lang="zh-CN" altLang="en-US" b="1" dirty="0">
                <a:latin typeface="微软雅黑" panose="020B0503020204020204" pitchFamily="34" charset="-122"/>
                <a:ea typeface="微软雅黑" panose="020B0503020204020204" pitchFamily="34" charset="-122"/>
              </a:rPr>
              <a:t>，传输距离可达 </a:t>
            </a:r>
            <a:r>
              <a:rPr lang="en-US" altLang="zh-CN" b="1" dirty="0">
                <a:latin typeface="微软雅黑" panose="020B0503020204020204" pitchFamily="34" charset="-122"/>
                <a:ea typeface="微软雅黑" panose="020B0503020204020204" pitchFamily="34" charset="-122"/>
              </a:rPr>
              <a:t>100 m</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rPr>
              <a:t>蓝</a:t>
            </a:r>
            <a:r>
              <a:rPr lang="zh-CN" altLang="en-US" sz="2000" b="1" dirty="0" smtClean="0">
                <a:solidFill>
                  <a:srgbClr val="0000CC"/>
                </a:solidFill>
                <a:latin typeface="微软雅黑" panose="020B0503020204020204" pitchFamily="34" charset="-122"/>
                <a:ea typeface="微软雅黑" panose="020B0503020204020204" pitchFamily="34" charset="-122"/>
              </a:rPr>
              <a:t>牙 </a:t>
            </a:r>
            <a:r>
              <a:rPr lang="en-US" altLang="zh-CN" sz="2000" b="1" dirty="0" smtClean="0">
                <a:solidFill>
                  <a:srgbClr val="0000CC"/>
                </a:solidFill>
                <a:latin typeface="微软雅黑" panose="020B0503020204020204" pitchFamily="34" charset="-122"/>
                <a:ea typeface="微软雅黑" panose="020B0503020204020204" pitchFamily="34" charset="-122"/>
              </a:rPr>
              <a:t>5.0</a:t>
            </a:r>
            <a:r>
              <a:rPr lang="zh-CN" altLang="en-US" sz="2000" b="1" dirty="0" smtClean="0">
                <a:solidFill>
                  <a:srgbClr val="0000CC"/>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数据</a:t>
            </a:r>
            <a:r>
              <a:rPr lang="zh-CN" altLang="en-US" sz="2000" b="1" dirty="0">
                <a:latin typeface="微软雅黑" panose="020B0503020204020204" pitchFamily="34" charset="-122"/>
                <a:ea typeface="微软雅黑" panose="020B0503020204020204" pitchFamily="34" charset="-122"/>
              </a:rPr>
              <a:t>率上限</a:t>
            </a:r>
            <a:r>
              <a:rPr lang="zh-CN" altLang="en-US" sz="2000" b="1" dirty="0" smtClean="0">
                <a:latin typeface="微软雅黑" panose="020B0503020204020204" pitchFamily="34" charset="-122"/>
                <a:ea typeface="微软雅黑" panose="020B0503020204020204" pitchFamily="34" charset="-122"/>
              </a:rPr>
              <a:t>达 </a:t>
            </a:r>
            <a:r>
              <a:rPr lang="en-US" altLang="zh-CN" sz="2000" b="1" dirty="0" smtClean="0">
                <a:latin typeface="微软雅黑" panose="020B0503020204020204" pitchFamily="34" charset="-122"/>
                <a:ea typeface="微软雅黑" panose="020B0503020204020204" pitchFamily="34" charset="-122"/>
              </a:rPr>
              <a:t>24 </a:t>
            </a:r>
            <a:r>
              <a:rPr lang="en-US" altLang="zh-CN" sz="2000" b="1" dirty="0">
                <a:latin typeface="微软雅黑" panose="020B0503020204020204" pitchFamily="34" charset="-122"/>
                <a:ea typeface="微软雅黑" panose="020B0503020204020204" pitchFamily="34" charset="-122"/>
              </a:rPr>
              <a:t>Mbit/s</a:t>
            </a:r>
            <a:r>
              <a:rPr lang="zh-CN" altLang="en-US" sz="2000" b="1" dirty="0" smtClean="0">
                <a:latin typeface="微软雅黑" panose="020B0503020204020204" pitchFamily="34" charset="-122"/>
                <a:ea typeface="微软雅黑" panose="020B0503020204020204" pitchFamily="34" charset="-122"/>
              </a:rPr>
              <a:t>，传输</a:t>
            </a:r>
            <a:r>
              <a:rPr lang="zh-CN" altLang="en-US" sz="2000" b="1" dirty="0">
                <a:latin typeface="微软雅黑" panose="020B0503020204020204" pitchFamily="34" charset="-122"/>
                <a:ea typeface="微软雅黑" panose="020B0503020204020204" pitchFamily="34" charset="-122"/>
              </a:rPr>
              <a:t>距离最高可</a:t>
            </a:r>
            <a:r>
              <a:rPr lang="zh-CN" altLang="en-US" sz="2000" b="1" dirty="0" smtClean="0">
                <a:latin typeface="微软雅黑" panose="020B0503020204020204" pitchFamily="34" charset="-122"/>
                <a:ea typeface="微软雅黑" panose="020B0503020204020204" pitchFamily="34" charset="-122"/>
              </a:rPr>
              <a:t>达 </a:t>
            </a:r>
            <a:r>
              <a:rPr lang="en-US" altLang="zh-CN" sz="2000" b="1" dirty="0" smtClean="0">
                <a:latin typeface="微软雅黑" panose="020B0503020204020204" pitchFamily="34" charset="-122"/>
                <a:ea typeface="微软雅黑" panose="020B0503020204020204" pitchFamily="34" charset="-122"/>
              </a:rPr>
              <a:t>300 </a:t>
            </a:r>
            <a:r>
              <a:rPr lang="en-US" altLang="zh-CN" sz="2000" b="1" dirty="0">
                <a:latin typeface="微软雅黑" panose="020B0503020204020204" pitchFamily="34" charset="-122"/>
                <a:ea typeface="微软雅黑" panose="020B0503020204020204" pitchFamily="34" charset="-122"/>
              </a:rPr>
              <a:t>m</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11897" y="61834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028256" y="585134"/>
            <a:ext cx="30737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蓝牙</a:t>
            </a:r>
            <a:r>
              <a:rPr lang="zh-CN" altLang="en-US" sz="2000" b="1" dirty="0" smtClean="0">
                <a:solidFill>
                  <a:schemeClr val="bg1"/>
                </a:solidFill>
                <a:latin typeface="微软雅黑" panose="020B0503020204020204" pitchFamily="34" charset="-122"/>
                <a:ea typeface="微软雅黑" panose="020B0503020204020204" pitchFamily="34" charset="-122"/>
              </a:rPr>
              <a:t>系统 </a:t>
            </a:r>
            <a:r>
              <a:rPr lang="en-US" altLang="zh-CN" sz="2000" b="1" dirty="0" smtClean="0">
                <a:solidFill>
                  <a:schemeClr val="bg1"/>
                </a:solidFill>
                <a:latin typeface="微软雅黑" panose="020B0503020204020204" pitchFamily="34" charset="-122"/>
                <a:ea typeface="微软雅黑" panose="020B0503020204020204" pitchFamily="34" charset="-122"/>
              </a:rPr>
              <a:t>(</a:t>
            </a:r>
            <a:r>
              <a:rPr lang="en-US" altLang="zh-CN" sz="2000" b="1" dirty="0">
                <a:solidFill>
                  <a:schemeClr val="bg1"/>
                </a:solidFill>
                <a:latin typeface="微软雅黑" panose="020B0503020204020204" pitchFamily="34" charset="-122"/>
                <a:ea typeface="微软雅黑" panose="020B0503020204020204" pitchFamily="34" charset="-122"/>
              </a:rPr>
              <a:t>Bluetooth)</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30377"/>
            <a:ext cx="81047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蓝</a:t>
            </a:r>
            <a:r>
              <a:rPr lang="zh-CN" altLang="en-US" sz="2000" b="1" dirty="0">
                <a:latin typeface="微软雅黑" panose="020B0503020204020204" pitchFamily="34" charset="-122"/>
                <a:ea typeface="微软雅黑" panose="020B0503020204020204" pitchFamily="34" charset="-122"/>
              </a:rPr>
              <a:t>牙使用 </a:t>
            </a:r>
            <a:r>
              <a:rPr lang="en-US" altLang="zh-CN" sz="2000" b="1" dirty="0">
                <a:solidFill>
                  <a:srgbClr val="C00000"/>
                </a:solidFill>
                <a:latin typeface="微软雅黑" panose="020B0503020204020204" pitchFamily="34" charset="-122"/>
                <a:ea typeface="微软雅黑" panose="020B0503020204020204" pitchFamily="34" charset="-122"/>
              </a:rPr>
              <a:t>TDM</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方式和扩频跳频 </a:t>
            </a:r>
            <a:r>
              <a:rPr lang="en-US" altLang="zh-CN" sz="2000" b="1" dirty="0">
                <a:solidFill>
                  <a:srgbClr val="C00000"/>
                </a:solidFill>
                <a:latin typeface="微软雅黑" panose="020B0503020204020204" pitchFamily="34" charset="-122"/>
                <a:ea typeface="微软雅黑" panose="020B0503020204020204" pitchFamily="34" charset="-122"/>
              </a:rPr>
              <a:t>FHSS</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技术组成不用</a:t>
            </a:r>
            <a:r>
              <a:rPr lang="zh-CN" altLang="en-US" sz="2000" b="1" dirty="0" smtClean="0">
                <a:latin typeface="微软雅黑" panose="020B0503020204020204" pitchFamily="34" charset="-122"/>
                <a:ea typeface="微软雅黑" panose="020B0503020204020204" pitchFamily="34" charset="-122"/>
              </a:rPr>
              <a:t>接入点 </a:t>
            </a:r>
            <a:r>
              <a:rPr lang="en-US" altLang="zh-CN" sz="2000" b="1" dirty="0" smtClean="0">
                <a:latin typeface="微软雅黑" panose="020B0503020204020204" pitchFamily="34" charset="-122"/>
                <a:ea typeface="微软雅黑" panose="020B0503020204020204" pitchFamily="34" charset="-122"/>
              </a:rPr>
              <a:t>AP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smtClean="0">
                <a:solidFill>
                  <a:srgbClr val="C00000"/>
                </a:solidFill>
                <a:latin typeface="微软雅黑" panose="020B0503020204020204" pitchFamily="34" charset="-122"/>
                <a:ea typeface="微软雅黑" panose="020B0503020204020204" pitchFamily="34" charset="-122"/>
              </a:rPr>
              <a:t>皮可网</a:t>
            </a:r>
            <a:r>
              <a:rPr lang="zh-CN" altLang="en-US"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piconet</a:t>
            </a:r>
            <a:r>
              <a:rPr lang="en-US" altLang="zh-CN"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每一个皮可网有一个</a:t>
            </a:r>
            <a:r>
              <a:rPr lang="zh-CN" altLang="en-US" sz="2000" b="1" dirty="0">
                <a:solidFill>
                  <a:srgbClr val="0000CC"/>
                </a:solidFill>
                <a:latin typeface="微软雅黑" panose="020B0503020204020204" pitchFamily="34" charset="-122"/>
                <a:ea typeface="微软雅黑" panose="020B0503020204020204" pitchFamily="34" charset="-122"/>
              </a:rPr>
              <a:t>主设备</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(Master) </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C00000"/>
                </a:solidFill>
                <a:latin typeface="微软雅黑" panose="020B0503020204020204" pitchFamily="34" charset="-122"/>
                <a:ea typeface="微软雅黑" panose="020B0503020204020204" pitchFamily="34" charset="-122"/>
              </a:rPr>
              <a:t>最多 </a:t>
            </a:r>
            <a:r>
              <a:rPr lang="en-US" altLang="zh-CN" sz="2000" b="1" dirty="0">
                <a:solidFill>
                  <a:srgbClr val="C00000"/>
                </a:solidFill>
                <a:latin typeface="微软雅黑" panose="020B0503020204020204" pitchFamily="34" charset="-122"/>
                <a:ea typeface="微软雅黑" panose="020B0503020204020204" pitchFamily="34" charset="-122"/>
              </a:rPr>
              <a:t>7 </a:t>
            </a:r>
            <a:r>
              <a:rPr lang="zh-CN" altLang="en-US" sz="2000" b="1" dirty="0">
                <a:solidFill>
                  <a:srgbClr val="C00000"/>
                </a:solidFill>
                <a:latin typeface="微软雅黑" panose="020B0503020204020204" pitchFamily="34" charset="-122"/>
                <a:ea typeface="微软雅黑" panose="020B0503020204020204" pitchFamily="34" charset="-122"/>
              </a:rPr>
              <a:t>个</a:t>
            </a:r>
            <a:r>
              <a:rPr lang="zh-CN" altLang="en-US" sz="2000" b="1" dirty="0">
                <a:latin typeface="微软雅黑" panose="020B0503020204020204" pitchFamily="34" charset="-122"/>
                <a:ea typeface="微软雅黑" panose="020B0503020204020204" pitchFamily="34" charset="-122"/>
              </a:rPr>
              <a:t>工作的</a:t>
            </a:r>
            <a:r>
              <a:rPr lang="zh-CN" altLang="en-US" sz="2000" b="1" dirty="0">
                <a:solidFill>
                  <a:srgbClr val="0000CC"/>
                </a:solidFill>
                <a:latin typeface="微软雅黑" panose="020B0503020204020204" pitchFamily="34" charset="-122"/>
                <a:ea typeface="微软雅黑" panose="020B0503020204020204" pitchFamily="34" charset="-122"/>
              </a:rPr>
              <a:t>从设备 </a:t>
            </a:r>
            <a:r>
              <a:rPr lang="en-US" altLang="zh-CN" sz="2000" b="1" dirty="0">
                <a:latin typeface="微软雅黑" panose="020B0503020204020204" pitchFamily="34" charset="-122"/>
                <a:ea typeface="微软雅黑" panose="020B0503020204020204" pitchFamily="34" charset="-122"/>
              </a:rPr>
              <a:t>(Slave)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通过共享主设备或从设备，可以把多个皮可网链接起来，形成一个范围更大的</a:t>
            </a:r>
            <a:r>
              <a:rPr lang="zh-CN" altLang="en-US" sz="2000" b="1" dirty="0">
                <a:solidFill>
                  <a:srgbClr val="C00000"/>
                </a:solidFill>
                <a:latin typeface="微软雅黑" panose="020B0503020204020204" pitchFamily="34" charset="-122"/>
                <a:ea typeface="微软雅黑" panose="020B0503020204020204" pitchFamily="34" charset="-122"/>
              </a:rPr>
              <a:t>扩散网</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scatternet</a:t>
            </a:r>
            <a:r>
              <a:rPr lang="en-US" altLang="zh-CN" sz="2000" b="1" dirty="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7853" y="614359"/>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a:spLocks noChangeArrowheads="1"/>
          </p:cNvSpPr>
          <p:nvPr/>
        </p:nvSpPr>
        <p:spPr bwMode="auto">
          <a:xfrm>
            <a:off x="635844" y="564531"/>
            <a:ext cx="21996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皮可</a:t>
            </a:r>
            <a:r>
              <a:rPr lang="zh-CN" altLang="en-US" sz="2000" b="1" dirty="0" smtClean="0">
                <a:latin typeface="微软雅黑" panose="020B0503020204020204" pitchFamily="34" charset="-122"/>
                <a:ea typeface="微软雅黑" panose="020B0503020204020204" pitchFamily="34" charset="-122"/>
              </a:rPr>
              <a:t>网 </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piconet</a:t>
            </a:r>
            <a:r>
              <a:rPr lang="en-US" altLang="zh-CN"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95373"/>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637984" y="570462"/>
            <a:ext cx="3595856" cy="400110"/>
          </a:xfrm>
          <a:prstGeom prst="rect">
            <a:avLst/>
          </a:prstGeom>
        </p:spPr>
        <p:txBody>
          <a:bodyPr wrap="none">
            <a:spAutoFit/>
          </a:bodyPr>
          <a:lstStyle/>
          <a:p>
            <a:r>
              <a:rPr lang="zh-CN" altLang="en-US" sz="2000" b="1" dirty="0">
                <a:latin typeface="微软雅黑" panose="020B0503020204020204" pitchFamily="34" charset="-122"/>
                <a:ea typeface="微软雅黑" panose="020B0503020204020204" pitchFamily="34" charset="-122"/>
              </a:rPr>
              <a:t>蓝牙系统中的皮可网和扩散网 </a:t>
            </a:r>
            <a:endParaRPr lang="zh-CN" altLang="en-US" sz="2000" b="1" dirty="0">
              <a:latin typeface="微软雅黑" panose="020B0503020204020204" pitchFamily="34" charset="-122"/>
              <a:ea typeface="微软雅黑" panose="020B0503020204020204" pitchFamily="34" charset="-122"/>
            </a:endParaRPr>
          </a:p>
        </p:txBody>
      </p:sp>
      <p:sp>
        <p:nvSpPr>
          <p:cNvPr id="5" name="Oval 4"/>
          <p:cNvSpPr>
            <a:spLocks noChangeArrowheads="1"/>
          </p:cNvSpPr>
          <p:nvPr/>
        </p:nvSpPr>
        <p:spPr bwMode="auto">
          <a:xfrm>
            <a:off x="2478877" y="1545516"/>
            <a:ext cx="2344192" cy="2087292"/>
          </a:xfrm>
          <a:prstGeom prst="ellipse">
            <a:avLst/>
          </a:prstGeom>
          <a:solidFill>
            <a:srgbClr val="99FF66"/>
          </a:solidFill>
          <a:ln w="9525">
            <a:solidFill>
              <a:schemeClr val="tx1"/>
            </a:solid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5"/>
          <p:cNvSpPr>
            <a:spLocks noChangeArrowheads="1"/>
          </p:cNvSpPr>
          <p:nvPr/>
        </p:nvSpPr>
        <p:spPr bwMode="auto">
          <a:xfrm>
            <a:off x="4354230" y="1545516"/>
            <a:ext cx="2344192" cy="2087292"/>
          </a:xfrm>
          <a:prstGeom prst="ellipse">
            <a:avLst/>
          </a:prstGeom>
          <a:solidFill>
            <a:srgbClr val="0066FF">
              <a:alpha val="39000"/>
            </a:srgbClr>
          </a:solidFill>
          <a:ln w="9525">
            <a:solidFill>
              <a:schemeClr val="tx1"/>
            </a:solidFill>
            <a:prstDash val="dash"/>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3510824" y="1712591"/>
            <a:ext cx="375824" cy="335313"/>
          </a:xfrm>
          <a:prstGeom prst="ellipse">
            <a:avLst/>
          </a:prstGeom>
          <a:solidFill>
            <a:srgbClr val="00FF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endParaRPr lang="en-US" altLang="zh-CN" sz="1600" b="1">
              <a:latin typeface="微软雅黑" panose="020B0503020204020204" pitchFamily="34" charset="-122"/>
              <a:ea typeface="微软雅黑" panose="020B0503020204020204" pitchFamily="34" charset="-122"/>
            </a:endParaRPr>
          </a:p>
        </p:txBody>
      </p:sp>
      <p:sp>
        <p:nvSpPr>
          <p:cNvPr id="8" name="Oval 7"/>
          <p:cNvSpPr>
            <a:spLocks noChangeArrowheads="1"/>
          </p:cNvSpPr>
          <p:nvPr/>
        </p:nvSpPr>
        <p:spPr bwMode="auto">
          <a:xfrm>
            <a:off x="6136570" y="2380896"/>
            <a:ext cx="375825" cy="335313"/>
          </a:xfrm>
          <a:prstGeom prst="ellipse">
            <a:avLst/>
          </a:prstGeom>
          <a:solidFill>
            <a:srgbClr val="00FF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endParaRPr lang="en-US" altLang="zh-CN" sz="1600" b="1">
              <a:latin typeface="微软雅黑" panose="020B0503020204020204" pitchFamily="34" charset="-122"/>
              <a:ea typeface="微软雅黑" panose="020B0503020204020204" pitchFamily="34" charset="-122"/>
            </a:endParaRPr>
          </a:p>
        </p:txBody>
      </p:sp>
      <p:sp>
        <p:nvSpPr>
          <p:cNvPr id="9" name="Oval 8"/>
          <p:cNvSpPr>
            <a:spLocks noChangeArrowheads="1"/>
          </p:cNvSpPr>
          <p:nvPr/>
        </p:nvSpPr>
        <p:spPr bwMode="auto">
          <a:xfrm>
            <a:off x="2667418" y="2631510"/>
            <a:ext cx="375825" cy="335313"/>
          </a:xfrm>
          <a:prstGeom prst="ellipse">
            <a:avLst/>
          </a:prstGeom>
          <a:solidFill>
            <a:srgbClr val="FF66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endParaRPr lang="en-US" altLang="zh-CN" sz="1600" b="1">
              <a:latin typeface="微软雅黑" panose="020B0503020204020204" pitchFamily="34" charset="-122"/>
              <a:ea typeface="微软雅黑" panose="020B0503020204020204" pitchFamily="34" charset="-122"/>
            </a:endParaRPr>
          </a:p>
        </p:txBody>
      </p:sp>
      <p:sp>
        <p:nvSpPr>
          <p:cNvPr id="10" name="Oval 9"/>
          <p:cNvSpPr>
            <a:spLocks noChangeArrowheads="1"/>
          </p:cNvSpPr>
          <p:nvPr/>
        </p:nvSpPr>
        <p:spPr bwMode="auto">
          <a:xfrm>
            <a:off x="2854702" y="1963205"/>
            <a:ext cx="377082" cy="335313"/>
          </a:xfrm>
          <a:prstGeom prst="ellipse">
            <a:avLst/>
          </a:prstGeom>
          <a:solidFill>
            <a:srgbClr val="FF66FF"/>
          </a:solidFill>
          <a:ln w="6350">
            <a:solidFill>
              <a:schemeClr val="tx1"/>
            </a:solidFill>
            <a:rou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S</a:t>
            </a:r>
            <a:endParaRPr lang="en-US" altLang="zh-CN" sz="1600" b="1" dirty="0">
              <a:latin typeface="微软雅黑" panose="020B0503020204020204" pitchFamily="34" charset="-122"/>
              <a:ea typeface="微软雅黑" panose="020B0503020204020204" pitchFamily="34" charset="-122"/>
            </a:endParaRPr>
          </a:p>
        </p:txBody>
      </p:sp>
      <p:sp>
        <p:nvSpPr>
          <p:cNvPr id="11" name="Oval 10"/>
          <p:cNvSpPr>
            <a:spLocks noChangeArrowheads="1"/>
          </p:cNvSpPr>
          <p:nvPr/>
        </p:nvSpPr>
        <p:spPr bwMode="auto">
          <a:xfrm>
            <a:off x="5104623" y="2964503"/>
            <a:ext cx="375824" cy="335312"/>
          </a:xfrm>
          <a:prstGeom prst="ellipse">
            <a:avLst/>
          </a:prstGeom>
          <a:solidFill>
            <a:srgbClr val="0000FF"/>
          </a:solidFill>
          <a:ln w="6350">
            <a:solidFill>
              <a:schemeClr val="tx1"/>
            </a:solidFill>
            <a:rou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endParaRPr lang="en-US" altLang="zh-CN" sz="1600" b="1">
              <a:solidFill>
                <a:schemeClr val="bg1"/>
              </a:solidFill>
              <a:latin typeface="微软雅黑" panose="020B0503020204020204" pitchFamily="34" charset="-122"/>
              <a:ea typeface="微软雅黑" panose="020B0503020204020204" pitchFamily="34" charset="-122"/>
            </a:endParaRPr>
          </a:p>
        </p:txBody>
      </p:sp>
      <p:sp>
        <p:nvSpPr>
          <p:cNvPr id="12" name="Oval 11"/>
          <p:cNvSpPr>
            <a:spLocks noChangeArrowheads="1"/>
          </p:cNvSpPr>
          <p:nvPr/>
        </p:nvSpPr>
        <p:spPr bwMode="auto">
          <a:xfrm>
            <a:off x="4396966" y="2351890"/>
            <a:ext cx="377082" cy="335312"/>
          </a:xfrm>
          <a:prstGeom prst="ellipse">
            <a:avLst/>
          </a:prstGeom>
          <a:solidFill>
            <a:srgbClr val="FF66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endParaRPr lang="en-US" altLang="zh-CN" sz="1600" b="1">
              <a:latin typeface="微软雅黑" panose="020B0503020204020204" pitchFamily="34" charset="-122"/>
              <a:ea typeface="微软雅黑" panose="020B0503020204020204" pitchFamily="34" charset="-122"/>
            </a:endParaRPr>
          </a:p>
        </p:txBody>
      </p:sp>
      <p:sp>
        <p:nvSpPr>
          <p:cNvPr id="13" name="Oval 12"/>
          <p:cNvSpPr>
            <a:spLocks noChangeArrowheads="1"/>
          </p:cNvSpPr>
          <p:nvPr/>
        </p:nvSpPr>
        <p:spPr bwMode="auto">
          <a:xfrm>
            <a:off x="3884135" y="2964503"/>
            <a:ext cx="377082" cy="335312"/>
          </a:xfrm>
          <a:prstGeom prst="ellipse">
            <a:avLst/>
          </a:prstGeom>
          <a:solidFill>
            <a:srgbClr val="FF66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endParaRPr lang="en-US" altLang="zh-CN" sz="1600" b="1">
              <a:latin typeface="微软雅黑" panose="020B0503020204020204" pitchFamily="34" charset="-122"/>
              <a:ea typeface="微软雅黑" panose="020B0503020204020204" pitchFamily="34" charset="-122"/>
            </a:endParaRPr>
          </a:p>
        </p:txBody>
      </p:sp>
      <p:sp>
        <p:nvSpPr>
          <p:cNvPr id="14" name="Oval 13"/>
          <p:cNvSpPr>
            <a:spLocks noChangeArrowheads="1"/>
          </p:cNvSpPr>
          <p:nvPr/>
        </p:nvSpPr>
        <p:spPr bwMode="auto">
          <a:xfrm>
            <a:off x="3226756" y="3132738"/>
            <a:ext cx="377082" cy="334152"/>
          </a:xfrm>
          <a:prstGeom prst="ellipse">
            <a:avLst/>
          </a:prstGeom>
          <a:solidFill>
            <a:srgbClr val="FF66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endParaRPr lang="en-US" altLang="zh-CN" sz="1600" b="1">
              <a:latin typeface="微软雅黑" panose="020B0503020204020204" pitchFamily="34" charset="-122"/>
              <a:ea typeface="微软雅黑" panose="020B0503020204020204" pitchFamily="34" charset="-122"/>
            </a:endParaRPr>
          </a:p>
        </p:txBody>
      </p:sp>
      <p:sp>
        <p:nvSpPr>
          <p:cNvPr id="15" name="Oval 14"/>
          <p:cNvSpPr>
            <a:spLocks noChangeArrowheads="1"/>
          </p:cNvSpPr>
          <p:nvPr/>
        </p:nvSpPr>
        <p:spPr bwMode="auto">
          <a:xfrm>
            <a:off x="5759488" y="3049200"/>
            <a:ext cx="377082" cy="335313"/>
          </a:xfrm>
          <a:prstGeom prst="ellipse">
            <a:avLst/>
          </a:prstGeom>
          <a:solidFill>
            <a:srgbClr val="FF66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endParaRPr lang="en-US" altLang="zh-CN" sz="1600" b="1">
              <a:latin typeface="微软雅黑" panose="020B0503020204020204" pitchFamily="34" charset="-122"/>
              <a:ea typeface="微软雅黑" panose="020B0503020204020204" pitchFamily="34" charset="-122"/>
            </a:endParaRPr>
          </a:p>
        </p:txBody>
      </p:sp>
      <p:sp>
        <p:nvSpPr>
          <p:cNvPr id="16" name="Oval 15"/>
          <p:cNvSpPr>
            <a:spLocks noChangeArrowheads="1"/>
          </p:cNvSpPr>
          <p:nvPr/>
        </p:nvSpPr>
        <p:spPr bwMode="auto">
          <a:xfrm>
            <a:off x="5480448" y="1963205"/>
            <a:ext cx="377082" cy="335313"/>
          </a:xfrm>
          <a:prstGeom prst="ellipse">
            <a:avLst/>
          </a:prstGeom>
          <a:solidFill>
            <a:srgbClr val="FF66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endParaRPr lang="en-US" altLang="zh-CN" sz="1600" b="1">
              <a:latin typeface="微软雅黑" panose="020B0503020204020204" pitchFamily="34" charset="-122"/>
              <a:ea typeface="微软雅黑" panose="020B0503020204020204" pitchFamily="34" charset="-122"/>
            </a:endParaRPr>
          </a:p>
        </p:txBody>
      </p:sp>
      <p:sp>
        <p:nvSpPr>
          <p:cNvPr id="17" name="Oval 16"/>
          <p:cNvSpPr>
            <a:spLocks noChangeArrowheads="1"/>
          </p:cNvSpPr>
          <p:nvPr/>
        </p:nvSpPr>
        <p:spPr bwMode="auto">
          <a:xfrm>
            <a:off x="3884135" y="2129122"/>
            <a:ext cx="377082" cy="335312"/>
          </a:xfrm>
          <a:prstGeom prst="ellipse">
            <a:avLst/>
          </a:prstGeom>
          <a:solidFill>
            <a:srgbClr val="0000FF"/>
          </a:solidFill>
          <a:ln w="6350">
            <a:solidFill>
              <a:schemeClr val="tx1"/>
            </a:solidFill>
            <a:round/>
          </a:ln>
          <a:effectLst/>
        </p:spPr>
        <p:txBody>
          <a:bodyPr wrap="none" anchor="ctr"/>
          <a:lstStyle/>
          <a:p>
            <a:pPr algn="ctr"/>
            <a:r>
              <a:rPr lang="en-US" altLang="zh-CN" sz="1600" b="1" dirty="0">
                <a:solidFill>
                  <a:schemeClr val="bg1"/>
                </a:solidFill>
                <a:latin typeface="微软雅黑" panose="020B0503020204020204" pitchFamily="34" charset="-122"/>
                <a:ea typeface="微软雅黑" panose="020B0503020204020204" pitchFamily="34" charset="-122"/>
              </a:rPr>
              <a:t>P</a:t>
            </a:r>
            <a:endParaRPr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18" name="Text Box 17"/>
          <p:cNvSpPr txBox="1">
            <a:spLocks noChangeArrowheads="1"/>
          </p:cNvSpPr>
          <p:nvPr/>
        </p:nvSpPr>
        <p:spPr bwMode="auto">
          <a:xfrm>
            <a:off x="4916082" y="2342606"/>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2</a:t>
            </a:r>
            <a:endParaRPr lang="en-US" altLang="zh-CN" sz="1600" b="1">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4146342" y="101756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扩散网</a:t>
            </a:r>
            <a:endParaRPr lang="zh-CN" altLang="en-US" sz="1600" b="1" dirty="0">
              <a:latin typeface="微软雅黑" panose="020B0503020204020204" pitchFamily="34" charset="-122"/>
              <a:ea typeface="微软雅黑" panose="020B0503020204020204" pitchFamily="34" charset="-122"/>
            </a:endParaRPr>
          </a:p>
        </p:txBody>
      </p:sp>
      <p:sp>
        <p:nvSpPr>
          <p:cNvPr id="20" name="AutoShape 19"/>
          <p:cNvSpPr/>
          <p:nvPr/>
        </p:nvSpPr>
        <p:spPr bwMode="auto">
          <a:xfrm rot="16200000">
            <a:off x="4423798" y="47292"/>
            <a:ext cx="251774" cy="2814287"/>
          </a:xfrm>
          <a:prstGeom prst="rightBrace">
            <a:avLst>
              <a:gd name="adj1" fmla="val 85983"/>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3040729" y="2399459"/>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22" name="Oval 22"/>
          <p:cNvSpPr>
            <a:spLocks noChangeArrowheads="1"/>
          </p:cNvSpPr>
          <p:nvPr/>
        </p:nvSpPr>
        <p:spPr bwMode="auto">
          <a:xfrm>
            <a:off x="1504226" y="3816859"/>
            <a:ext cx="375824" cy="335313"/>
          </a:xfrm>
          <a:prstGeom prst="ellipse">
            <a:avLst/>
          </a:prstGeom>
          <a:solidFill>
            <a:srgbClr val="00FF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endParaRPr lang="en-US" altLang="zh-CN" sz="1600" b="1">
              <a:latin typeface="微软雅黑" panose="020B0503020204020204" pitchFamily="34" charset="-122"/>
              <a:ea typeface="微软雅黑" panose="020B0503020204020204" pitchFamily="34" charset="-122"/>
            </a:endParaRPr>
          </a:p>
        </p:txBody>
      </p:sp>
      <p:sp>
        <p:nvSpPr>
          <p:cNvPr id="23" name="Text Box 23"/>
          <p:cNvSpPr txBox="1">
            <a:spLocks noChangeArrowheads="1"/>
          </p:cNvSpPr>
          <p:nvPr/>
        </p:nvSpPr>
        <p:spPr bwMode="auto">
          <a:xfrm>
            <a:off x="1831030" y="3816858"/>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主设备</a:t>
            </a:r>
            <a:endParaRPr lang="zh-CN" altLang="en-US" sz="1600" b="1">
              <a:latin typeface="微软雅黑" panose="020B0503020204020204" pitchFamily="34" charset="-122"/>
              <a:ea typeface="微软雅黑" panose="020B0503020204020204" pitchFamily="34" charset="-122"/>
            </a:endParaRPr>
          </a:p>
        </p:txBody>
      </p:sp>
      <p:sp>
        <p:nvSpPr>
          <p:cNvPr id="24" name="Oval 24"/>
          <p:cNvSpPr>
            <a:spLocks noChangeArrowheads="1"/>
          </p:cNvSpPr>
          <p:nvPr/>
        </p:nvSpPr>
        <p:spPr bwMode="auto">
          <a:xfrm>
            <a:off x="3556806" y="3816859"/>
            <a:ext cx="377082" cy="335313"/>
          </a:xfrm>
          <a:prstGeom prst="ellipse">
            <a:avLst/>
          </a:prstGeom>
          <a:solidFill>
            <a:srgbClr val="FF66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endParaRPr lang="en-US" altLang="zh-CN" sz="1600" b="1">
              <a:latin typeface="微软雅黑" panose="020B0503020204020204" pitchFamily="34" charset="-122"/>
              <a:ea typeface="微软雅黑" panose="020B0503020204020204" pitchFamily="34" charset="-122"/>
            </a:endParaRPr>
          </a:p>
        </p:txBody>
      </p:sp>
      <p:sp>
        <p:nvSpPr>
          <p:cNvPr id="25" name="Text Box 25"/>
          <p:cNvSpPr txBox="1">
            <a:spLocks noChangeArrowheads="1"/>
          </p:cNvSpPr>
          <p:nvPr/>
        </p:nvSpPr>
        <p:spPr bwMode="auto">
          <a:xfrm>
            <a:off x="3898694" y="3818019"/>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从设备</a:t>
            </a:r>
            <a:endParaRPr lang="zh-CN" altLang="en-US" sz="1600" b="1">
              <a:latin typeface="微软雅黑" panose="020B0503020204020204" pitchFamily="34" charset="-122"/>
              <a:ea typeface="微软雅黑" panose="020B0503020204020204" pitchFamily="34" charset="-122"/>
            </a:endParaRPr>
          </a:p>
        </p:txBody>
      </p:sp>
      <p:sp>
        <p:nvSpPr>
          <p:cNvPr id="26" name="Oval 26"/>
          <p:cNvSpPr>
            <a:spLocks noChangeArrowheads="1"/>
          </p:cNvSpPr>
          <p:nvPr/>
        </p:nvSpPr>
        <p:spPr bwMode="auto">
          <a:xfrm>
            <a:off x="5599334" y="3816859"/>
            <a:ext cx="375824" cy="335313"/>
          </a:xfrm>
          <a:prstGeom prst="ellipse">
            <a:avLst/>
          </a:prstGeom>
          <a:solidFill>
            <a:srgbClr val="0000FF"/>
          </a:solidFill>
          <a:ln w="6350">
            <a:solidFill>
              <a:schemeClr val="tx1"/>
            </a:solidFill>
            <a:rou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endParaRPr lang="en-US" altLang="zh-CN" sz="1600" b="1">
              <a:solidFill>
                <a:schemeClr val="bg1"/>
              </a:solidFill>
              <a:latin typeface="微软雅黑" panose="020B0503020204020204" pitchFamily="34" charset="-122"/>
              <a:ea typeface="微软雅黑" panose="020B0503020204020204" pitchFamily="34" charset="-122"/>
            </a:endParaRPr>
          </a:p>
        </p:txBody>
      </p:sp>
      <p:sp>
        <p:nvSpPr>
          <p:cNvPr id="27" name="Text Box 27"/>
          <p:cNvSpPr txBox="1">
            <a:spLocks noChangeArrowheads="1"/>
          </p:cNvSpPr>
          <p:nvPr/>
        </p:nvSpPr>
        <p:spPr bwMode="auto">
          <a:xfrm>
            <a:off x="5951276" y="3816859"/>
            <a:ext cx="16530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搁置的设备</a:t>
            </a:r>
            <a:endParaRPr lang="zh-CN" altLang="en-US" sz="16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6856"/>
            <a:ext cx="8104716"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主要</a:t>
            </a:r>
            <a:r>
              <a:rPr lang="zh-CN" altLang="en-US" sz="2000" b="1" dirty="0">
                <a:latin typeface="微软雅黑" panose="020B0503020204020204" pitchFamily="34" charset="-122"/>
                <a:ea typeface="微软雅黑" panose="020B0503020204020204" pitchFamily="34" charset="-122"/>
              </a:rPr>
              <a:t>用于工业监控组网、办公自动化与控制等</a:t>
            </a:r>
            <a:r>
              <a:rPr lang="zh-CN" altLang="en-US" sz="2000" b="1" dirty="0" smtClean="0">
                <a:latin typeface="微软雅黑" panose="020B0503020204020204" pitchFamily="34" charset="-122"/>
                <a:ea typeface="微软雅黑" panose="020B0503020204020204" pitchFamily="34" charset="-122"/>
              </a:rPr>
              <a:t>领域</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速率</a:t>
            </a:r>
            <a:r>
              <a:rPr lang="zh-CN" altLang="en-US" sz="2000" b="1" dirty="0">
                <a:latin typeface="微软雅黑" panose="020B0503020204020204" pitchFamily="34" charset="-122"/>
                <a:ea typeface="微软雅黑" panose="020B0503020204020204" pitchFamily="34" charset="-122"/>
              </a:rPr>
              <a:t>是 </a:t>
            </a:r>
            <a:r>
              <a:rPr lang="en-US" altLang="zh-CN" sz="2000" b="1" dirty="0">
                <a:latin typeface="微软雅黑" panose="020B0503020204020204" pitchFamily="34" charset="-122"/>
                <a:ea typeface="微软雅黑" panose="020B0503020204020204" pitchFamily="34" charset="-122"/>
              </a:rPr>
              <a:t>2 ~ 250 </a:t>
            </a:r>
            <a:r>
              <a:rPr lang="en-US" altLang="zh-CN" sz="2000" b="1" dirty="0" err="1">
                <a:latin typeface="微软雅黑" panose="020B0503020204020204" pitchFamily="34" charset="-122"/>
                <a:ea typeface="微软雅黑" panose="020B0503020204020204" pitchFamily="34" charset="-122"/>
              </a:rPr>
              <a:t>kbit</a:t>
            </a:r>
            <a:r>
              <a:rPr lang="en-US" altLang="zh-CN" sz="2000" b="1" dirty="0">
                <a:latin typeface="微软雅黑" panose="020B0503020204020204" pitchFamily="34" charset="-122"/>
                <a:ea typeface="微软雅黑" panose="020B0503020204020204" pitchFamily="34" charset="-122"/>
              </a:rPr>
              <a:t>/s</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标准</a:t>
            </a:r>
            <a:r>
              <a:rPr lang="zh-CN" altLang="en-US" sz="2000" b="1" dirty="0">
                <a:latin typeface="微软雅黑" panose="020B0503020204020204" pitchFamily="34" charset="-122"/>
                <a:ea typeface="微软雅黑" panose="020B0503020204020204" pitchFamily="34" charset="-122"/>
              </a:rPr>
              <a:t>是 </a:t>
            </a:r>
            <a:r>
              <a:rPr lang="en-US" altLang="zh-CN" sz="2000" b="1" dirty="0">
                <a:latin typeface="微软雅黑" panose="020B0503020204020204" pitchFamily="34" charset="-122"/>
                <a:ea typeface="微软雅黑" panose="020B0503020204020204" pitchFamily="34" charset="-122"/>
              </a:rPr>
              <a:t>IEEE 802.15.4</a:t>
            </a:r>
            <a:r>
              <a:rPr lang="zh-CN" altLang="en-US" sz="2000" b="1" dirty="0" smtClean="0">
                <a:latin typeface="微软雅黑" panose="020B0503020204020204" pitchFamily="34" charset="-122"/>
                <a:ea typeface="微软雅黑" panose="020B0503020204020204" pitchFamily="34" charset="-122"/>
              </a:rPr>
              <a:t>。新</a:t>
            </a:r>
            <a:r>
              <a:rPr lang="zh-CN" altLang="en-US" sz="2000" b="1" dirty="0">
                <a:latin typeface="微软雅黑" panose="020B0503020204020204" pitchFamily="34" charset="-122"/>
                <a:ea typeface="微软雅黑" panose="020B0503020204020204" pitchFamily="34" charset="-122"/>
              </a:rPr>
              <a:t>修订的标准是 </a:t>
            </a:r>
            <a:r>
              <a:rPr lang="en-US" altLang="zh-CN" sz="2000" b="1" dirty="0">
                <a:latin typeface="微软雅黑" panose="020B0503020204020204" pitchFamily="34" charset="-122"/>
                <a:ea typeface="微软雅黑" panose="020B0503020204020204" pitchFamily="34" charset="-122"/>
              </a:rPr>
              <a:t>IEEE 802.15.4-2006</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低速 </a:t>
            </a:r>
            <a:r>
              <a:rPr lang="en-US" altLang="zh-CN" sz="2000" b="1" dirty="0">
                <a:solidFill>
                  <a:srgbClr val="0000FF"/>
                </a:solidFill>
                <a:latin typeface="微软雅黑" panose="020B0503020204020204" pitchFamily="34" charset="-122"/>
                <a:ea typeface="微软雅黑" panose="020B0503020204020204" pitchFamily="34" charset="-122"/>
              </a:rPr>
              <a:t>WPAN </a:t>
            </a:r>
            <a:r>
              <a:rPr lang="zh-CN" altLang="en-US" sz="2000" b="1" dirty="0">
                <a:solidFill>
                  <a:srgbClr val="0000FF"/>
                </a:solidFill>
                <a:latin typeface="微软雅黑" panose="020B0503020204020204" pitchFamily="34" charset="-122"/>
                <a:ea typeface="微软雅黑" panose="020B0503020204020204" pitchFamily="34" charset="-122"/>
              </a:rPr>
              <a:t>中最重要的就是 </a:t>
            </a:r>
            <a:r>
              <a:rPr lang="en-US" altLang="zh-CN" sz="2000" b="1" dirty="0">
                <a:solidFill>
                  <a:srgbClr val="C00000"/>
                </a:solidFill>
                <a:latin typeface="微软雅黑" panose="020B0503020204020204" pitchFamily="34" charset="-122"/>
                <a:ea typeface="微软雅黑" panose="020B0503020204020204" pitchFamily="34" charset="-122"/>
              </a:rPr>
              <a:t>ZigBee</a:t>
            </a:r>
            <a:r>
              <a:rPr lang="zh-CN" altLang="en-US" sz="2000" b="1" dirty="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ZigBee </a:t>
            </a:r>
            <a:r>
              <a:rPr lang="zh-CN" altLang="en-US" sz="2000" b="1" dirty="0">
                <a:latin typeface="微软雅黑" panose="020B0503020204020204" pitchFamily="34" charset="-122"/>
                <a:ea typeface="微软雅黑" panose="020B0503020204020204" pitchFamily="34" charset="-122"/>
              </a:rPr>
              <a:t>技术主要用于各种电子设备（固定的、便携的或移动的）之间的</a:t>
            </a:r>
            <a:r>
              <a:rPr lang="zh-CN" altLang="en-US" sz="2000" b="1" dirty="0" smtClean="0">
                <a:latin typeface="微软雅黑" panose="020B0503020204020204" pitchFamily="34" charset="-122"/>
                <a:ea typeface="微软雅黑" panose="020B0503020204020204" pitchFamily="34" charset="-122"/>
              </a:rPr>
              <a:t>无线通信。</a:t>
            </a:r>
            <a:endParaRPr lang="en-US" altLang="zh-CN" sz="2000" b="1" dirty="0" smtClean="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11897" y="62257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5935" y="589359"/>
            <a:ext cx="19983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低速 </a:t>
            </a:r>
            <a:r>
              <a:rPr lang="en-US" altLang="zh-CN" sz="2000" b="1" dirty="0">
                <a:solidFill>
                  <a:schemeClr val="bg1"/>
                </a:solidFill>
                <a:latin typeface="微软雅黑" panose="020B0503020204020204" pitchFamily="34" charset="-122"/>
                <a:ea typeface="微软雅黑" panose="020B0503020204020204" pitchFamily="34" charset="-122"/>
              </a:rPr>
              <a:t>WPAN </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659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a:spLocks noChangeArrowheads="1"/>
          </p:cNvSpPr>
          <p:nvPr/>
        </p:nvSpPr>
        <p:spPr bwMode="auto">
          <a:xfrm>
            <a:off x="635844" y="566763"/>
            <a:ext cx="19159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ZigBee </a:t>
            </a:r>
            <a:r>
              <a:rPr lang="zh-CN" altLang="en-US" sz="2000" b="1" dirty="0">
                <a:latin typeface="微软雅黑" panose="020B0503020204020204" pitchFamily="34" charset="-122"/>
                <a:ea typeface="微软雅黑" panose="020B0503020204020204" pitchFamily="34" charset="-122"/>
              </a:rPr>
              <a:t>的特点</a:t>
            </a:r>
            <a:endParaRPr lang="en-US" altLang="zh-CN"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35353"/>
            <a:ext cx="8133857" cy="3554819"/>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通信距离</a:t>
            </a:r>
            <a:r>
              <a:rPr lang="zh-CN" altLang="en-US" sz="2000" b="1" dirty="0" smtClean="0">
                <a:solidFill>
                  <a:srgbClr val="0000FF"/>
                </a:solidFill>
                <a:latin typeface="微软雅黑" panose="020B0503020204020204" pitchFamily="34" charset="-122"/>
                <a:ea typeface="微软雅黑" panose="020B0503020204020204" pitchFamily="34" charset="-122"/>
              </a:rPr>
              <a:t>短 </a:t>
            </a:r>
            <a:r>
              <a:rPr lang="en-US" altLang="zh-CN" sz="2000" b="1" dirty="0" smtClean="0">
                <a:latin typeface="微软雅黑" panose="020B0503020204020204" pitchFamily="34" charset="-122"/>
                <a:ea typeface="微软雅黑" panose="020B0503020204020204" pitchFamily="34" charset="-122"/>
              </a:rPr>
              <a:t>(10 </a:t>
            </a:r>
            <a:r>
              <a:rPr lang="en-US" altLang="zh-CN" sz="2000" b="1" dirty="0">
                <a:latin typeface="微软雅黑" panose="020B0503020204020204" pitchFamily="34" charset="-122"/>
                <a:ea typeface="微软雅黑" panose="020B0503020204020204" pitchFamily="34" charset="-122"/>
              </a:rPr>
              <a:t>~ 80 </a:t>
            </a:r>
            <a:r>
              <a:rPr lang="en-US" altLang="zh-CN" sz="2000" b="1" dirty="0" smtClean="0">
                <a:latin typeface="微软雅黑" panose="020B0503020204020204" pitchFamily="34" charset="-122"/>
                <a:ea typeface="微软雅黑" panose="020B0503020204020204" pitchFamily="34" charset="-122"/>
              </a:rPr>
              <a:t>m)</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传输数据</a:t>
            </a:r>
            <a:r>
              <a:rPr lang="zh-CN" altLang="en-US" sz="2000" b="1" dirty="0">
                <a:solidFill>
                  <a:srgbClr val="0000FF"/>
                </a:solidFill>
                <a:latin typeface="微软雅黑" panose="020B0503020204020204" pitchFamily="34" charset="-122"/>
                <a:ea typeface="微软雅黑" panose="020B0503020204020204" pitchFamily="34" charset="-122"/>
              </a:rPr>
              <a:t>速率低</a:t>
            </a:r>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成本低廉</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功耗非常低</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对于某些工作时间和总时间之比小于 </a:t>
            </a:r>
            <a:r>
              <a:rPr lang="en-US" altLang="zh-CN" sz="2000" b="1" dirty="0">
                <a:latin typeface="微软雅黑" panose="020B0503020204020204" pitchFamily="34" charset="-122"/>
                <a:ea typeface="微软雅黑" panose="020B0503020204020204" pitchFamily="34" charset="-122"/>
              </a:rPr>
              <a:t>1% </a:t>
            </a:r>
            <a:r>
              <a:rPr lang="zh-CN" altLang="en-US" sz="2000" b="1" dirty="0">
                <a:latin typeface="微软雅黑" panose="020B0503020204020204" pitchFamily="34" charset="-122"/>
                <a:ea typeface="微软雅黑" panose="020B0503020204020204" pitchFamily="34" charset="-122"/>
              </a:rPr>
              <a:t>的情况，电池的寿命甚至可以超过 </a:t>
            </a:r>
            <a:r>
              <a:rPr lang="en-US" altLang="zh-CN" sz="2000" b="1" dirty="0">
                <a:latin typeface="微软雅黑" panose="020B0503020204020204" pitchFamily="34" charset="-122"/>
                <a:ea typeface="微软雅黑" panose="020B0503020204020204" pitchFamily="34" charset="-122"/>
              </a:rPr>
              <a:t>10 </a:t>
            </a:r>
            <a:r>
              <a:rPr lang="zh-CN" altLang="en-US" sz="2000" b="1" dirty="0">
                <a:latin typeface="微软雅黑" panose="020B0503020204020204" pitchFamily="34" charset="-122"/>
                <a:ea typeface="微软雅黑" panose="020B0503020204020204" pitchFamily="34" charset="-122"/>
              </a:rPr>
              <a:t>年。</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网络容量大</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一个 </a:t>
            </a:r>
            <a:r>
              <a:rPr lang="en-US" altLang="zh-CN" sz="2000" b="1" dirty="0">
                <a:latin typeface="微软雅黑" panose="020B0503020204020204" pitchFamily="34" charset="-122"/>
                <a:ea typeface="微软雅黑" panose="020B0503020204020204" pitchFamily="34" charset="-122"/>
              </a:rPr>
              <a:t>ZigBee </a:t>
            </a:r>
            <a:r>
              <a:rPr lang="zh-CN" altLang="en-US" sz="2000" b="1" dirty="0">
                <a:latin typeface="微软雅黑" panose="020B0503020204020204" pitchFamily="34" charset="-122"/>
                <a:ea typeface="微软雅黑" panose="020B0503020204020204" pitchFamily="34" charset="-122"/>
              </a:rPr>
              <a:t>的网络最多包括有 </a:t>
            </a:r>
            <a:r>
              <a:rPr lang="en-US" altLang="zh-CN" sz="2000" b="1" dirty="0">
                <a:latin typeface="微软雅黑" panose="020B0503020204020204" pitchFamily="34" charset="-122"/>
                <a:ea typeface="微软雅黑" panose="020B0503020204020204" pitchFamily="34" charset="-122"/>
              </a:rPr>
              <a:t>255 </a:t>
            </a:r>
            <a:r>
              <a:rPr lang="zh-CN" altLang="en-US" sz="2000" b="1" dirty="0">
                <a:latin typeface="微软雅黑" panose="020B0503020204020204" pitchFamily="34" charset="-122"/>
                <a:ea typeface="微软雅黑" panose="020B0503020204020204" pitchFamily="34" charset="-122"/>
              </a:rPr>
              <a:t>个结点，其中一个是主设备，其余则是从设备。</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若是通过网络协调器，</a:t>
            </a:r>
            <a:r>
              <a:rPr lang="zh-CN" altLang="en-US" sz="2000" b="1" dirty="0">
                <a:solidFill>
                  <a:srgbClr val="C00000"/>
                </a:solidFill>
                <a:latin typeface="微软雅黑" panose="020B0503020204020204" pitchFamily="34" charset="-122"/>
                <a:ea typeface="微软雅黑" panose="020B0503020204020204" pitchFamily="34" charset="-122"/>
              </a:rPr>
              <a:t>整个网络</a:t>
            </a:r>
            <a:r>
              <a:rPr lang="zh-CN" altLang="en-US" sz="2000" b="1" dirty="0">
                <a:latin typeface="微软雅黑" panose="020B0503020204020204" pitchFamily="34" charset="-122"/>
                <a:ea typeface="微软雅黑" panose="020B0503020204020204" pitchFamily="34" charset="-122"/>
              </a:rPr>
              <a:t>最多可以支持超过 </a:t>
            </a:r>
            <a:r>
              <a:rPr lang="en-US" altLang="zh-CN" sz="2000" b="1" dirty="0">
                <a:latin typeface="微软雅黑" panose="020B0503020204020204" pitchFamily="34" charset="-122"/>
                <a:ea typeface="微软雅黑" panose="020B0503020204020204" pitchFamily="34" charset="-122"/>
              </a:rPr>
              <a:t>64000 </a:t>
            </a:r>
            <a:r>
              <a:rPr lang="zh-CN" altLang="en-US" sz="2000" b="1" dirty="0">
                <a:latin typeface="微软雅黑" panose="020B0503020204020204" pitchFamily="34" charset="-122"/>
                <a:ea typeface="微软雅黑" panose="020B0503020204020204" pitchFamily="34" charset="-122"/>
              </a:rPr>
              <a:t>个结点。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70550"/>
            <a:ext cx="8133857" cy="25759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4" name="矩形 3"/>
          <p:cNvSpPr/>
          <p:nvPr/>
        </p:nvSpPr>
        <p:spPr>
          <a:xfrm>
            <a:off x="637984" y="570462"/>
            <a:ext cx="2762295" cy="400110"/>
          </a:xfrm>
          <a:prstGeom prst="rect">
            <a:avLst/>
          </a:prstGeom>
        </p:spPr>
        <p:txBody>
          <a:bodyPr wrap="none">
            <a:spAutoFit/>
          </a:bodyPr>
          <a:lstStyle/>
          <a:p>
            <a:r>
              <a:rPr lang="en-US" altLang="zh-CN" sz="2000" b="1" dirty="0">
                <a:latin typeface="微软雅黑" panose="020B0503020204020204" pitchFamily="34" charset="-122"/>
                <a:ea typeface="微软雅黑" panose="020B0503020204020204" pitchFamily="34" charset="-122"/>
              </a:rPr>
              <a:t>ZigBee </a:t>
            </a:r>
            <a:r>
              <a:rPr lang="zh-CN" altLang="en-US" sz="2000" b="1" dirty="0" smtClean="0">
                <a:latin typeface="微软雅黑" panose="020B0503020204020204" pitchFamily="34" charset="-122"/>
                <a:ea typeface="微软雅黑" panose="020B0503020204020204" pitchFamily="34" charset="-122"/>
              </a:rPr>
              <a:t>标准</a:t>
            </a:r>
            <a:r>
              <a:rPr lang="zh-CN" altLang="en-US" sz="2000" b="1" dirty="0">
                <a:latin typeface="微软雅黑" panose="020B0503020204020204" pitchFamily="34" charset="-122"/>
                <a:ea typeface="微软雅黑" panose="020B0503020204020204" pitchFamily="34" charset="-122"/>
              </a:rPr>
              <a:t>与</a:t>
            </a:r>
            <a:r>
              <a:rPr lang="zh-CN" altLang="en-US" sz="2000" b="1" dirty="0" smtClean="0">
                <a:latin typeface="微软雅黑" panose="020B0503020204020204" pitchFamily="34" charset="-122"/>
                <a:ea typeface="微软雅黑" panose="020B0503020204020204" pitchFamily="34" charset="-122"/>
              </a:rPr>
              <a:t>协议</a:t>
            </a:r>
            <a:r>
              <a:rPr lang="zh-CN" altLang="en-US" sz="2000" b="1" dirty="0">
                <a:latin typeface="微软雅黑" panose="020B0503020204020204" pitchFamily="34" charset="-122"/>
                <a:ea typeface="微软雅黑" panose="020B0503020204020204" pitchFamily="34" charset="-122"/>
              </a:rPr>
              <a:t>栈 </a:t>
            </a:r>
            <a:endParaRPr lang="zh-CN" altLang="en-US" sz="2000" b="1" dirty="0">
              <a:latin typeface="微软雅黑" panose="020B0503020204020204" pitchFamily="34" charset="-122"/>
              <a:ea typeface="微软雅黑" panose="020B0503020204020204" pitchFamily="34" charset="-122"/>
            </a:endParaRPr>
          </a:p>
        </p:txBody>
      </p:sp>
      <p:grpSp>
        <p:nvGrpSpPr>
          <p:cNvPr id="23" name="组合 22"/>
          <p:cNvGrpSpPr/>
          <p:nvPr/>
        </p:nvGrpSpPr>
        <p:grpSpPr>
          <a:xfrm>
            <a:off x="1184188" y="1255712"/>
            <a:ext cx="6190833" cy="1974598"/>
            <a:chOff x="1184188" y="1324079"/>
            <a:chExt cx="6664777" cy="2736851"/>
          </a:xfrm>
        </p:grpSpPr>
        <p:sp>
          <p:nvSpPr>
            <p:cNvPr id="5" name="Rectangle 5"/>
            <p:cNvSpPr>
              <a:spLocks noChangeArrowheads="1"/>
            </p:cNvSpPr>
            <p:nvPr/>
          </p:nvSpPr>
          <p:spPr bwMode="auto">
            <a:xfrm>
              <a:off x="2549394" y="3457679"/>
              <a:ext cx="2694913" cy="601662"/>
            </a:xfrm>
            <a:prstGeom prst="rect">
              <a:avLst/>
            </a:prstGeom>
            <a:solidFill>
              <a:srgbClr val="00FFFF"/>
            </a:solidFill>
            <a:ln w="9525">
              <a:solidFill>
                <a:schemeClr val="tx1"/>
              </a:solidFill>
              <a:miter lim="800000"/>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6" name="Text Box 6"/>
            <p:cNvSpPr txBox="1">
              <a:spLocks noChangeArrowheads="1"/>
            </p:cNvSpPr>
            <p:nvPr/>
          </p:nvSpPr>
          <p:spPr bwMode="auto">
            <a:xfrm>
              <a:off x="3424321" y="355786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物理层</a:t>
              </a:r>
              <a:endParaRPr lang="zh-CN" altLang="en-US" sz="1600" b="1">
                <a:latin typeface="微软雅黑" panose="020B0503020204020204" pitchFamily="34" charset="-122"/>
                <a:ea typeface="微软雅黑" panose="020B0503020204020204" pitchFamily="34" charset="-122"/>
              </a:endParaRPr>
            </a:p>
          </p:txBody>
        </p:sp>
        <p:sp>
          <p:nvSpPr>
            <p:cNvPr id="7" name="Rectangle 7"/>
            <p:cNvSpPr>
              <a:spLocks noChangeArrowheads="1"/>
            </p:cNvSpPr>
            <p:nvPr/>
          </p:nvSpPr>
          <p:spPr bwMode="auto">
            <a:xfrm>
              <a:off x="2549394" y="2738542"/>
              <a:ext cx="2694913" cy="601663"/>
            </a:xfrm>
            <a:prstGeom prst="rect">
              <a:avLst/>
            </a:prstGeom>
            <a:solidFill>
              <a:srgbClr val="00FFFF"/>
            </a:solidFill>
            <a:ln w="9525">
              <a:solidFill>
                <a:schemeClr val="tx1"/>
              </a:solidFill>
              <a:miter lim="800000"/>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8" name="Text Box 8"/>
            <p:cNvSpPr txBox="1">
              <a:spLocks noChangeArrowheads="1"/>
            </p:cNvSpPr>
            <p:nvPr/>
          </p:nvSpPr>
          <p:spPr bwMode="auto">
            <a:xfrm>
              <a:off x="3371743" y="2837138"/>
              <a:ext cx="95077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600" b="1">
                  <a:latin typeface="微软雅黑" panose="020B0503020204020204" pitchFamily="34" charset="-122"/>
                  <a:ea typeface="微软雅黑" panose="020B0503020204020204" pitchFamily="34" charset="-122"/>
                </a:rPr>
                <a:t>MAC </a:t>
              </a:r>
              <a:r>
                <a:rPr lang="zh-CN" altLang="en-US" sz="1600" b="1">
                  <a:latin typeface="微软雅黑" panose="020B0503020204020204" pitchFamily="34" charset="-122"/>
                  <a:ea typeface="微软雅黑" panose="020B0503020204020204" pitchFamily="34" charset="-122"/>
                </a:rPr>
                <a:t>层</a:t>
              </a:r>
              <a:endParaRPr lang="zh-CN" altLang="en-US" sz="1600" b="1">
                <a:latin typeface="微软雅黑" panose="020B0503020204020204" pitchFamily="34" charset="-122"/>
                <a:ea typeface="微软雅黑" panose="020B0503020204020204" pitchFamily="34" charset="-122"/>
              </a:endParaRPr>
            </a:p>
          </p:txBody>
        </p:sp>
        <p:sp>
          <p:nvSpPr>
            <p:cNvPr id="9" name="Rectangle 9"/>
            <p:cNvSpPr>
              <a:spLocks noChangeArrowheads="1"/>
            </p:cNvSpPr>
            <p:nvPr/>
          </p:nvSpPr>
          <p:spPr bwMode="auto">
            <a:xfrm>
              <a:off x="2549394" y="2055917"/>
              <a:ext cx="2694913" cy="601663"/>
            </a:xfrm>
            <a:prstGeom prst="rect">
              <a:avLst/>
            </a:prstGeom>
            <a:solidFill>
              <a:srgbClr val="99FF99"/>
            </a:solidFill>
            <a:ln w="9525">
              <a:solidFill>
                <a:schemeClr val="tx1"/>
              </a:solidFill>
              <a:miter lim="800000"/>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0" name="Rectangle 10"/>
            <p:cNvSpPr>
              <a:spLocks noChangeArrowheads="1"/>
            </p:cNvSpPr>
            <p:nvPr/>
          </p:nvSpPr>
          <p:spPr bwMode="auto">
            <a:xfrm>
              <a:off x="2549394" y="1352654"/>
              <a:ext cx="2694913" cy="601662"/>
            </a:xfrm>
            <a:prstGeom prst="rect">
              <a:avLst/>
            </a:prstGeom>
            <a:solidFill>
              <a:srgbClr val="99FF99"/>
            </a:solidFill>
            <a:ln w="9525">
              <a:solidFill>
                <a:schemeClr val="tx1"/>
              </a:solidFill>
              <a:miter lim="800000"/>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1" name="Text Box 11"/>
            <p:cNvSpPr txBox="1">
              <a:spLocks noChangeArrowheads="1"/>
            </p:cNvSpPr>
            <p:nvPr/>
          </p:nvSpPr>
          <p:spPr bwMode="auto">
            <a:xfrm>
              <a:off x="3424321" y="2156101"/>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网络层</a:t>
              </a:r>
              <a:endParaRPr lang="zh-CN" altLang="en-US" sz="1600" b="1">
                <a:latin typeface="微软雅黑" panose="020B0503020204020204" pitchFamily="34" charset="-122"/>
                <a:ea typeface="微软雅黑" panose="020B0503020204020204" pitchFamily="34" charset="-122"/>
              </a:endParaRPr>
            </a:p>
          </p:txBody>
        </p:sp>
        <p:sp>
          <p:nvSpPr>
            <p:cNvPr id="12" name="Text Box 12"/>
            <p:cNvSpPr txBox="1">
              <a:spLocks noChangeArrowheads="1"/>
            </p:cNvSpPr>
            <p:nvPr/>
          </p:nvSpPr>
          <p:spPr bwMode="auto">
            <a:xfrm>
              <a:off x="3424321" y="1452838"/>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latin typeface="微软雅黑" panose="020B0503020204020204" pitchFamily="34" charset="-122"/>
                  <a:ea typeface="微软雅黑" panose="020B0503020204020204" pitchFamily="34" charset="-122"/>
                </a:rPr>
                <a:t>应用层</a:t>
              </a:r>
              <a:endParaRPr lang="zh-CN" altLang="en-US" sz="1600" b="1" dirty="0">
                <a:latin typeface="微软雅黑" panose="020B0503020204020204" pitchFamily="34" charset="-122"/>
                <a:ea typeface="微软雅黑" panose="020B0503020204020204" pitchFamily="34" charset="-122"/>
              </a:endParaRPr>
            </a:p>
          </p:txBody>
        </p:sp>
        <p:sp>
          <p:nvSpPr>
            <p:cNvPr id="13" name="Line 13"/>
            <p:cNvSpPr>
              <a:spLocks noChangeShapeType="1"/>
            </p:cNvSpPr>
            <p:nvPr/>
          </p:nvSpPr>
          <p:spPr bwMode="auto">
            <a:xfrm>
              <a:off x="5340615" y="4060929"/>
              <a:ext cx="2493698" cy="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4" name="Line 14"/>
            <p:cNvSpPr>
              <a:spLocks noChangeShapeType="1"/>
            </p:cNvSpPr>
            <p:nvPr/>
          </p:nvSpPr>
          <p:spPr bwMode="auto">
            <a:xfrm>
              <a:off x="5321698" y="2694091"/>
              <a:ext cx="2491978" cy="0"/>
            </a:xfrm>
            <a:prstGeom prst="line">
              <a:avLst/>
            </a:prstGeom>
            <a:noFill/>
            <a:ln w="19050">
              <a:solidFill>
                <a:srgbClr val="000066"/>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5" name="Line 15"/>
            <p:cNvSpPr>
              <a:spLocks noChangeShapeType="1"/>
            </p:cNvSpPr>
            <p:nvPr/>
          </p:nvSpPr>
          <p:spPr bwMode="auto">
            <a:xfrm>
              <a:off x="5340615" y="1324079"/>
              <a:ext cx="2493698" cy="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 name="Line 16"/>
            <p:cNvSpPr>
              <a:spLocks noChangeShapeType="1"/>
            </p:cNvSpPr>
            <p:nvPr/>
          </p:nvSpPr>
          <p:spPr bwMode="auto">
            <a:xfrm>
              <a:off x="5857940" y="2657579"/>
              <a:ext cx="0" cy="1403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 name="Text Box 17"/>
            <p:cNvSpPr txBox="1">
              <a:spLocks noChangeArrowheads="1"/>
            </p:cNvSpPr>
            <p:nvPr/>
          </p:nvSpPr>
          <p:spPr bwMode="auto">
            <a:xfrm>
              <a:off x="5833670" y="3270525"/>
              <a:ext cx="2015295" cy="338554"/>
            </a:xfrm>
            <a:prstGeom prst="rect">
              <a:avLst/>
            </a:prstGeom>
            <a:noFill/>
            <a:ln>
              <a:noFill/>
            </a:ln>
            <a:effectLst/>
          </p:spPr>
          <p:txBody>
            <a:bodyPr wrap="none">
              <a:spAutoFit/>
            </a:bodyPr>
            <a:lstStyle>
              <a:defPPr>
                <a:defRPr lang="zh-CN"/>
              </a:defPPr>
              <a:lvl1pPr>
                <a:defRPr sz="1200" b="1">
                  <a:latin typeface="微软雅黑" panose="020B0503020204020204" pitchFamily="34" charset="-122"/>
                  <a:ea typeface="微软雅黑" panose="020B0503020204020204" pitchFamily="34" charset="-122"/>
                </a:defRPr>
              </a:lvl1pPr>
            </a:lstStyle>
            <a:p>
              <a:pPr algn="ctr"/>
              <a:r>
                <a:rPr lang="en-US" altLang="zh-CN" sz="1600" dirty="0"/>
                <a:t>IEEE 802.15.4 </a:t>
              </a:r>
              <a:r>
                <a:rPr lang="zh-CN" altLang="en-US" sz="1600" dirty="0"/>
                <a:t>定义</a:t>
              </a:r>
              <a:endParaRPr lang="zh-CN" altLang="en-US" sz="1600" dirty="0"/>
            </a:p>
          </p:txBody>
        </p:sp>
        <p:sp>
          <p:nvSpPr>
            <p:cNvPr id="18" name="Line 18"/>
            <p:cNvSpPr>
              <a:spLocks noChangeShapeType="1"/>
            </p:cNvSpPr>
            <p:nvPr/>
          </p:nvSpPr>
          <p:spPr bwMode="auto">
            <a:xfrm flipH="1">
              <a:off x="5857941" y="1333605"/>
              <a:ext cx="3440" cy="1323975"/>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Text Box 19"/>
            <p:cNvSpPr txBox="1">
              <a:spLocks noChangeArrowheads="1"/>
            </p:cNvSpPr>
            <p:nvPr/>
          </p:nvSpPr>
          <p:spPr bwMode="auto">
            <a:xfrm>
              <a:off x="5833670" y="1829075"/>
              <a:ext cx="1778051" cy="338554"/>
            </a:xfrm>
            <a:prstGeom prst="rect">
              <a:avLst/>
            </a:prstGeom>
            <a:noFill/>
            <a:ln>
              <a:noFill/>
            </a:ln>
            <a:effectLst/>
          </p:spPr>
          <p:txBody>
            <a:bodyPr wrap="none">
              <a:spAutoFit/>
            </a:bodyPr>
            <a:lstStyle>
              <a:defPPr>
                <a:defRPr lang="zh-CN"/>
              </a:defPPr>
              <a:lvl1pPr>
                <a:defRPr sz="2000" b="1">
                  <a:latin typeface="微软雅黑" panose="020B0503020204020204" pitchFamily="34" charset="-122"/>
                  <a:ea typeface="微软雅黑" panose="020B0503020204020204" pitchFamily="34" charset="-122"/>
                </a:defRPr>
              </a:lvl1pPr>
            </a:lstStyle>
            <a:p>
              <a:pPr algn="ctr"/>
              <a:r>
                <a:rPr lang="en-US" altLang="zh-CN" sz="1600" dirty="0" err="1"/>
                <a:t>ZigBee</a:t>
              </a:r>
              <a:r>
                <a:rPr lang="en-US" altLang="zh-CN" sz="1600" dirty="0"/>
                <a:t> </a:t>
              </a:r>
              <a:r>
                <a:rPr lang="zh-CN" altLang="en-US" sz="1600" dirty="0"/>
                <a:t>联盟定义</a:t>
              </a:r>
              <a:endParaRPr lang="zh-CN" altLang="en-US" sz="1600" dirty="0"/>
            </a:p>
          </p:txBody>
        </p:sp>
        <p:sp>
          <p:nvSpPr>
            <p:cNvPr id="20" name="AutoShape 20"/>
            <p:cNvSpPr/>
            <p:nvPr/>
          </p:nvSpPr>
          <p:spPr bwMode="auto">
            <a:xfrm>
              <a:off x="2253589" y="1352655"/>
              <a:ext cx="197776" cy="2708275"/>
            </a:xfrm>
            <a:prstGeom prst="leftBrace">
              <a:avLst>
                <a:gd name="adj1" fmla="val 123624"/>
                <a:gd name="adj2" fmla="val 50000"/>
              </a:avLst>
            </a:prstGeom>
            <a:noFill/>
            <a:ln w="19050">
              <a:solidFill>
                <a:srgbClr val="000066"/>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1184188" y="2397400"/>
              <a:ext cx="896399" cy="53553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lang="en-US" altLang="zh-CN" sz="1600" b="1" dirty="0">
                  <a:latin typeface="微软雅黑" panose="020B0503020204020204" pitchFamily="34" charset="-122"/>
                  <a:ea typeface="微软雅黑" panose="020B0503020204020204" pitchFamily="34" charset="-122"/>
                </a:rPr>
                <a:t>ZigBee</a:t>
              </a:r>
              <a:endParaRPr lang="en-US" altLang="zh-CN" sz="1600" b="1" dirty="0">
                <a:latin typeface="微软雅黑" panose="020B0503020204020204" pitchFamily="34" charset="-122"/>
                <a:ea typeface="微软雅黑" panose="020B0503020204020204" pitchFamily="34" charset="-122"/>
              </a:endParaRPr>
            </a:p>
            <a:p>
              <a:pPr algn="ctr">
                <a:lnSpc>
                  <a:spcPct val="90000"/>
                </a:lnSpc>
              </a:pPr>
              <a:r>
                <a:rPr lang="zh-CN" altLang="en-US" sz="1600" b="1" dirty="0">
                  <a:latin typeface="微软雅黑" panose="020B0503020204020204" pitchFamily="34" charset="-122"/>
                  <a:ea typeface="微软雅黑" panose="020B0503020204020204" pitchFamily="34" charset="-122"/>
                </a:rPr>
                <a:t>协议栈</a:t>
              </a:r>
              <a:endParaRPr lang="zh-CN" altLang="en-US" sz="1600" b="1" dirty="0">
                <a:latin typeface="微软雅黑" panose="020B0503020204020204" pitchFamily="34" charset="-122"/>
                <a:ea typeface="微软雅黑" panose="020B0503020204020204" pitchFamily="34" charset="-122"/>
              </a:endParaRPr>
            </a:p>
          </p:txBody>
        </p:sp>
      </p:grpSp>
      <p:sp>
        <p:nvSpPr>
          <p:cNvPr id="24" name="矩形 23"/>
          <p:cNvSpPr/>
          <p:nvPr/>
        </p:nvSpPr>
        <p:spPr>
          <a:xfrm>
            <a:off x="899236" y="3553375"/>
            <a:ext cx="7544008" cy="1015663"/>
          </a:xfrm>
          <a:prstGeom prst="rect">
            <a:avLst/>
          </a:prstGeom>
        </p:spPr>
        <p:txBody>
          <a:bodyPr wrap="square">
            <a:spAutoFit/>
          </a:bodyPr>
          <a:lstStyle/>
          <a:p>
            <a:pPr eaLnBrk="0" hangingPunct="0">
              <a:lnSpc>
                <a:spcPts val="2400"/>
              </a:lnSpc>
              <a:buClr>
                <a:srgbClr val="0070C0"/>
              </a:buClr>
            </a:pPr>
            <a:r>
              <a:rPr lang="zh-CN" altLang="en-US" sz="1600" b="1" dirty="0">
                <a:latin typeface="微软雅黑" panose="020B0503020204020204" pitchFamily="34" charset="-122"/>
                <a:ea typeface="微软雅黑" panose="020B0503020204020204" pitchFamily="34" charset="-122"/>
              </a:rPr>
              <a:t>在 </a:t>
            </a:r>
            <a:r>
              <a:rPr lang="en-US" altLang="zh-CN" sz="1600" b="1" dirty="0">
                <a:latin typeface="微软雅黑" panose="020B0503020204020204" pitchFamily="34" charset="-122"/>
                <a:ea typeface="微软雅黑" panose="020B0503020204020204" pitchFamily="34" charset="-122"/>
              </a:rPr>
              <a:t>IEEE 802.15.4 </a:t>
            </a:r>
            <a:r>
              <a:rPr lang="zh-CN" altLang="en-US" sz="1600" b="1" dirty="0">
                <a:latin typeface="微软雅黑" panose="020B0503020204020204" pitchFamily="34" charset="-122"/>
                <a:ea typeface="微软雅黑" panose="020B0503020204020204" pitchFamily="34" charset="-122"/>
              </a:rPr>
              <a:t>标准基础上发展而来</a:t>
            </a:r>
            <a:r>
              <a:rPr lang="zh-CN" altLang="en-US" sz="1600" b="1" dirty="0" smtClean="0">
                <a:latin typeface="微软雅黑" panose="020B0503020204020204" pitchFamily="34" charset="-122"/>
                <a:ea typeface="微软雅黑" panose="020B0503020204020204" pitchFamily="34" charset="-122"/>
              </a:rPr>
              <a:t>。所有 </a:t>
            </a:r>
            <a:r>
              <a:rPr lang="en-US" altLang="zh-CN" sz="1600" b="1" dirty="0">
                <a:latin typeface="微软雅黑" panose="020B0503020204020204" pitchFamily="34" charset="-122"/>
                <a:ea typeface="微软雅黑" panose="020B0503020204020204" pitchFamily="34" charset="-122"/>
              </a:rPr>
              <a:t>ZigBee </a:t>
            </a:r>
            <a:r>
              <a:rPr lang="zh-CN" altLang="en-US" sz="1600" b="1" dirty="0">
                <a:latin typeface="微软雅黑" panose="020B0503020204020204" pitchFamily="34" charset="-122"/>
                <a:ea typeface="微软雅黑" panose="020B0503020204020204" pitchFamily="34" charset="-122"/>
              </a:rPr>
              <a:t>产品也是 </a:t>
            </a:r>
            <a:r>
              <a:rPr lang="en-US" altLang="zh-CN" sz="1600" b="1" dirty="0">
                <a:latin typeface="微软雅黑" panose="020B0503020204020204" pitchFamily="34" charset="-122"/>
                <a:ea typeface="微软雅黑" panose="020B0503020204020204" pitchFamily="34" charset="-122"/>
              </a:rPr>
              <a:t>802.15.4 </a:t>
            </a:r>
            <a:r>
              <a:rPr lang="zh-CN" altLang="en-US" sz="1600" b="1" dirty="0">
                <a:latin typeface="微软雅黑" panose="020B0503020204020204" pitchFamily="34" charset="-122"/>
                <a:ea typeface="微软雅黑" panose="020B0503020204020204" pitchFamily="34" charset="-122"/>
              </a:rPr>
              <a:t>产品。</a:t>
            </a:r>
            <a:endParaRPr lang="zh-CN" altLang="en-US" sz="1600" b="1" dirty="0">
              <a:latin typeface="微软雅黑" panose="020B0503020204020204" pitchFamily="34" charset="-122"/>
              <a:ea typeface="微软雅黑" panose="020B0503020204020204" pitchFamily="34" charset="-122"/>
            </a:endParaRPr>
          </a:p>
          <a:p>
            <a:pPr eaLnBrk="0" hangingPunct="0">
              <a:lnSpc>
                <a:spcPts val="2400"/>
              </a:lnSpc>
              <a:buClr>
                <a:srgbClr val="0070C0"/>
              </a:buClr>
            </a:pPr>
            <a:r>
              <a:rPr lang="en-US" altLang="zh-CN" sz="1600" b="1" dirty="0">
                <a:latin typeface="微软雅黑" panose="020B0503020204020204" pitchFamily="34" charset="-122"/>
                <a:ea typeface="微软雅黑" panose="020B0503020204020204" pitchFamily="34" charset="-122"/>
              </a:rPr>
              <a:t>IEEE 802.15.4 </a:t>
            </a:r>
            <a:r>
              <a:rPr lang="zh-CN" altLang="en-US" sz="1600" b="1" dirty="0">
                <a:latin typeface="微软雅黑" panose="020B0503020204020204" pitchFamily="34" charset="-122"/>
                <a:ea typeface="微软雅黑" panose="020B0503020204020204" pitchFamily="34" charset="-122"/>
              </a:rPr>
              <a:t>只是定义了 </a:t>
            </a:r>
            <a:r>
              <a:rPr lang="en-US" altLang="zh-CN" sz="1600" b="1" dirty="0">
                <a:latin typeface="微软雅黑" panose="020B0503020204020204" pitchFamily="34" charset="-122"/>
                <a:ea typeface="微软雅黑" panose="020B0503020204020204" pitchFamily="34" charset="-122"/>
              </a:rPr>
              <a:t>ZigBee </a:t>
            </a:r>
            <a:r>
              <a:rPr lang="zh-CN" altLang="en-US" sz="1600" b="1" dirty="0">
                <a:latin typeface="微软雅黑" panose="020B0503020204020204" pitchFamily="34" charset="-122"/>
                <a:ea typeface="微软雅黑" panose="020B0503020204020204" pitchFamily="34" charset="-122"/>
              </a:rPr>
              <a:t>协议栈的</a:t>
            </a:r>
            <a:r>
              <a:rPr lang="zh-CN" altLang="en-US" sz="1600" b="1" dirty="0">
                <a:solidFill>
                  <a:srgbClr val="C00000"/>
                </a:solidFill>
                <a:latin typeface="微软雅黑" panose="020B0503020204020204" pitchFamily="34" charset="-122"/>
                <a:ea typeface="微软雅黑" panose="020B0503020204020204" pitchFamily="34" charset="-122"/>
              </a:rPr>
              <a:t>最低的两层</a:t>
            </a:r>
            <a:r>
              <a:rPr lang="zh-CN" altLang="en-US" sz="1600" b="1" dirty="0">
                <a:latin typeface="微软雅黑" panose="020B0503020204020204" pitchFamily="34" charset="-122"/>
                <a:ea typeface="微软雅黑" panose="020B0503020204020204" pitchFamily="34" charset="-122"/>
              </a:rPr>
              <a:t>（物理层和 </a:t>
            </a: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层），而上面的两层（网络层和应用层）则是由 </a:t>
            </a:r>
            <a:r>
              <a:rPr lang="en-US" altLang="zh-CN" sz="1600" b="1" dirty="0">
                <a:latin typeface="微软雅黑" panose="020B0503020204020204" pitchFamily="34" charset="-122"/>
                <a:ea typeface="微软雅黑" panose="020B0503020204020204" pitchFamily="34" charset="-122"/>
              </a:rPr>
              <a:t>ZigBee </a:t>
            </a:r>
            <a:r>
              <a:rPr lang="zh-CN" altLang="en-US" sz="1600" b="1" dirty="0">
                <a:latin typeface="微软雅黑" panose="020B0503020204020204" pitchFamily="34" charset="-122"/>
                <a:ea typeface="微软雅黑" panose="020B0503020204020204" pitchFamily="34" charset="-122"/>
              </a:rPr>
              <a:t>联盟定义的。</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31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484"/>
            <a:ext cx="27622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ZigBee </a:t>
            </a:r>
            <a:r>
              <a:rPr lang="zh-CN" altLang="en-US" sz="2000" b="1" dirty="0">
                <a:latin typeface="微软雅黑" panose="020B0503020204020204" pitchFamily="34" charset="-122"/>
                <a:ea typeface="微软雅黑" panose="020B0503020204020204" pitchFamily="34" charset="-122"/>
              </a:rPr>
              <a:t>标准与协议栈 </a:t>
            </a:r>
            <a:endParaRPr lang="zh-CN" altLang="en-US" sz="2000" b="1" dirty="0">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7853" y="934074"/>
            <a:ext cx="8270547" cy="515526"/>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IEEE 802.15.4 </a:t>
            </a:r>
            <a:r>
              <a:rPr lang="zh-CN" altLang="en-US" sz="2000" b="1" dirty="0" smtClean="0">
                <a:solidFill>
                  <a:srgbClr val="C00000"/>
                </a:solidFill>
                <a:latin typeface="微软雅黑" panose="020B0503020204020204" pitchFamily="34" charset="-122"/>
                <a:ea typeface="微软雅黑" panose="020B0503020204020204" pitchFamily="34" charset="-122"/>
              </a:rPr>
              <a:t>物理层</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的三个</a:t>
            </a:r>
            <a:r>
              <a:rPr lang="zh-CN" altLang="en-US" sz="2000" b="1" dirty="0" smtClean="0">
                <a:latin typeface="微软雅黑" panose="020B0503020204020204" pitchFamily="34" charset="-122"/>
                <a:ea typeface="微软雅黑" panose="020B0503020204020204" pitchFamily="34" charset="-122"/>
              </a:rPr>
              <a:t>频段</a:t>
            </a:r>
            <a:endParaRPr lang="zh-CN" altLang="en-US" sz="2000" b="1" dirty="0">
              <a:latin typeface="微软雅黑" panose="020B0503020204020204" pitchFamily="34" charset="-122"/>
              <a:ea typeface="微软雅黑" panose="020B0503020204020204" pitchFamily="34" charset="-122"/>
            </a:endParaRPr>
          </a:p>
        </p:txBody>
      </p:sp>
      <p:sp>
        <p:nvSpPr>
          <p:cNvPr id="6" name="Rectangle 46"/>
          <p:cNvSpPr>
            <a:spLocks noChangeArrowheads="1"/>
          </p:cNvSpPr>
          <p:nvPr/>
        </p:nvSpPr>
        <p:spPr bwMode="auto">
          <a:xfrm>
            <a:off x="517853" y="3060935"/>
            <a:ext cx="8380820" cy="938719"/>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 </a:t>
            </a:r>
            <a:r>
              <a:rPr lang="en-US" altLang="zh-CN" sz="2000" b="1" dirty="0" smtClean="0">
                <a:solidFill>
                  <a:srgbClr val="C00000"/>
                </a:solidFill>
                <a:latin typeface="微软雅黑" panose="020B0503020204020204" pitchFamily="34" charset="-122"/>
                <a:ea typeface="微软雅黑" panose="020B0503020204020204" pitchFamily="34" charset="-122"/>
              </a:rPr>
              <a:t>MAC </a:t>
            </a:r>
            <a:r>
              <a:rPr lang="zh-CN" altLang="en-US" sz="2000" b="1" dirty="0" smtClean="0">
                <a:solidFill>
                  <a:srgbClr val="C00000"/>
                </a:solidFill>
                <a:latin typeface="微软雅黑" panose="020B0503020204020204" pitchFamily="34" charset="-122"/>
                <a:ea typeface="微软雅黑" panose="020B0503020204020204" pitchFamily="34" charset="-122"/>
              </a:rPr>
              <a:t>层</a:t>
            </a:r>
            <a:r>
              <a:rPr lang="zh-CN" altLang="en-US" sz="2000" b="1" dirty="0" smtClean="0">
                <a:latin typeface="微软雅黑" panose="020B0503020204020204" pitchFamily="34" charset="-122"/>
                <a:ea typeface="微软雅黑" panose="020B0503020204020204" pitchFamily="34" charset="-122"/>
              </a:rPr>
              <a:t>主要沿用 </a:t>
            </a:r>
            <a:r>
              <a:rPr lang="en-US" altLang="zh-CN" sz="2000" b="1" dirty="0" smtClean="0">
                <a:latin typeface="微软雅黑" panose="020B0503020204020204" pitchFamily="34" charset="-122"/>
                <a:ea typeface="微软雅黑" panose="020B0503020204020204" pitchFamily="34" charset="-122"/>
              </a:rPr>
              <a:t>802.11 </a:t>
            </a:r>
            <a:r>
              <a:rPr lang="zh-CN" altLang="en-US" sz="2000" b="1" dirty="0" smtClean="0">
                <a:latin typeface="微软雅黑" panose="020B0503020204020204" pitchFamily="34" charset="-122"/>
                <a:ea typeface="微软雅黑" panose="020B0503020204020204" pitchFamily="34" charset="-122"/>
              </a:rPr>
              <a:t>无线</a:t>
            </a:r>
            <a:r>
              <a:rPr lang="zh-CN" altLang="en-US" sz="2000" b="1" dirty="0">
                <a:latin typeface="微软雅黑" panose="020B0503020204020204" pitchFamily="34" charset="-122"/>
                <a:ea typeface="微软雅黑" panose="020B0503020204020204" pitchFamily="34" charset="-122"/>
              </a:rPr>
              <a:t>局域网标准</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CSMA/CA </a:t>
            </a:r>
            <a:r>
              <a:rPr lang="zh-CN" altLang="en-US" sz="2000" b="1" dirty="0" smtClean="0">
                <a:latin typeface="微软雅黑" panose="020B0503020204020204" pitchFamily="34" charset="-122"/>
                <a:ea typeface="微软雅黑" panose="020B0503020204020204" pitchFamily="34" charset="-122"/>
              </a:rPr>
              <a:t>协议</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a:t>
            </a:r>
            <a:r>
              <a:rPr lang="zh-CN" altLang="en-US" sz="2000" b="1" dirty="0">
                <a:solidFill>
                  <a:srgbClr val="C00000"/>
                </a:solidFill>
                <a:latin typeface="微软雅黑" panose="020B0503020204020204" pitchFamily="34" charset="-122"/>
                <a:ea typeface="微软雅黑" panose="020B0503020204020204" pitchFamily="34" charset="-122"/>
              </a:rPr>
              <a:t>网络层</a:t>
            </a:r>
            <a:r>
              <a:rPr lang="zh-CN" altLang="en-US" sz="2000" b="1" dirty="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ZigBee</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可</a:t>
            </a:r>
            <a:r>
              <a:rPr lang="zh-CN" altLang="en-US" sz="2000" b="1" dirty="0">
                <a:latin typeface="微软雅黑" panose="020B0503020204020204" pitchFamily="34" charset="-122"/>
                <a:ea typeface="微软雅黑" panose="020B0503020204020204" pitchFamily="34" charset="-122"/>
              </a:rPr>
              <a:t>采用</a:t>
            </a:r>
            <a:r>
              <a:rPr lang="zh-CN" altLang="en-US" sz="2000" b="1" dirty="0">
                <a:solidFill>
                  <a:srgbClr val="0000FF"/>
                </a:solidFill>
                <a:latin typeface="微软雅黑" panose="020B0503020204020204" pitchFamily="34" charset="-122"/>
                <a:ea typeface="微软雅黑" panose="020B0503020204020204" pitchFamily="34" charset="-122"/>
              </a:rPr>
              <a:t>星形</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网状</a:t>
            </a:r>
            <a:r>
              <a:rPr lang="zh-CN" altLang="en-US" sz="2000" b="1" dirty="0">
                <a:latin typeface="微软雅黑" panose="020B0503020204020204" pitchFamily="34" charset="-122"/>
                <a:ea typeface="微软雅黑" panose="020B0503020204020204" pitchFamily="34" charset="-122"/>
              </a:rPr>
              <a:t>拓扑，或两者的组合。</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7" name="Group 179"/>
          <p:cNvGraphicFramePr/>
          <p:nvPr/>
        </p:nvGraphicFramePr>
        <p:xfrm>
          <a:off x="534781" y="1486104"/>
          <a:ext cx="8100000" cy="1502616"/>
        </p:xfrm>
        <a:graphic>
          <a:graphicData uri="http://schemas.openxmlformats.org/drawingml/2006/table">
            <a:tbl>
              <a:tblPr/>
              <a:tblGrid>
                <a:gridCol w="2700000"/>
                <a:gridCol w="2700000"/>
                <a:gridCol w="2700000"/>
              </a:tblGrid>
              <a:tr h="375654">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频段</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数据率</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信道数</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2.4 GHz</a:t>
                      </a:r>
                      <a:r>
                        <a:rPr lang="zh-CN" sz="1600" b="1" dirty="0">
                          <a:solidFill>
                            <a:schemeClr val="tx1"/>
                          </a:solidFill>
                          <a:effectLst/>
                          <a:latin typeface="微软雅黑" panose="020B0503020204020204" pitchFamily="34" charset="-122"/>
                          <a:ea typeface="微软雅黑" panose="020B0503020204020204" pitchFamily="34" charset="-122"/>
                        </a:rPr>
                        <a:t>（全球）</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250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16</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915 MHz</a:t>
                      </a:r>
                      <a:r>
                        <a:rPr lang="zh-CN" sz="1600" b="1" dirty="0">
                          <a:solidFill>
                            <a:schemeClr val="tx1"/>
                          </a:solidFill>
                          <a:effectLst/>
                          <a:latin typeface="微软雅黑" panose="020B0503020204020204" pitchFamily="34" charset="-122"/>
                          <a:ea typeface="微软雅黑" panose="020B0503020204020204" pitchFamily="34" charset="-122"/>
                        </a:rPr>
                        <a:t>（美国）</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40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10</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868 MHz</a:t>
                      </a:r>
                      <a:r>
                        <a:rPr lang="zh-CN" sz="1600" b="1" dirty="0">
                          <a:solidFill>
                            <a:schemeClr val="tx1"/>
                          </a:solidFill>
                          <a:effectLst/>
                          <a:latin typeface="微软雅黑" panose="020B0503020204020204" pitchFamily="34" charset="-122"/>
                          <a:ea typeface="微软雅黑" panose="020B0503020204020204" pitchFamily="34" charset="-122"/>
                        </a:rPr>
                        <a:t>（欧洲）</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2027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a:spLocks noChangeArrowheads="1"/>
          </p:cNvSpPr>
          <p:nvPr/>
        </p:nvSpPr>
        <p:spPr bwMode="auto">
          <a:xfrm>
            <a:off x="635844" y="570444"/>
            <a:ext cx="24288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ZigBee </a:t>
            </a:r>
            <a:r>
              <a:rPr lang="zh-CN" altLang="en-US" sz="2000" b="1" dirty="0">
                <a:latin typeface="微软雅黑" panose="020B0503020204020204" pitchFamily="34" charset="-122"/>
                <a:ea typeface="微软雅黑" panose="020B0503020204020204" pitchFamily="34" charset="-122"/>
              </a:rPr>
              <a:t>的组网方式</a:t>
            </a:r>
            <a:endParaRPr lang="en-US" altLang="zh-CN" sz="2000" b="1" dirty="0">
              <a:latin typeface="微软雅黑" panose="020B0503020204020204" pitchFamily="34" charset="-122"/>
              <a:ea typeface="微软雅黑" panose="020B0503020204020204" pitchFamily="34" charset="-122"/>
            </a:endParaRPr>
          </a:p>
        </p:txBody>
      </p:sp>
      <p:sp>
        <p:nvSpPr>
          <p:cNvPr id="6" name="Rectangle 46"/>
          <p:cNvSpPr>
            <a:spLocks noChangeArrowheads="1"/>
          </p:cNvSpPr>
          <p:nvPr/>
        </p:nvSpPr>
        <p:spPr bwMode="auto">
          <a:xfrm>
            <a:off x="517853" y="939034"/>
            <a:ext cx="8264197" cy="3731599"/>
          </a:xfrm>
          <a:prstGeom prst="rect">
            <a:avLst/>
          </a:prstGeom>
          <a:noFill/>
          <a:ln w="9525" algn="ctr">
            <a:noFill/>
            <a:miter lim="1000000"/>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一</a:t>
            </a:r>
            <a:r>
              <a:rPr lang="zh-CN" altLang="en-US" b="1" dirty="0" smtClean="0">
                <a:latin typeface="微软雅黑" panose="020B0503020204020204" pitchFamily="34" charset="-122"/>
                <a:ea typeface="微软雅黑" panose="020B0503020204020204" pitchFamily="34" charset="-122"/>
              </a:rPr>
              <a:t>个 </a:t>
            </a:r>
            <a:r>
              <a:rPr lang="en-US" altLang="zh-CN" b="1" dirty="0" err="1" smtClean="0">
                <a:latin typeface="微软雅黑" panose="020B0503020204020204" pitchFamily="34" charset="-122"/>
                <a:ea typeface="微软雅黑" panose="020B0503020204020204" pitchFamily="34" charset="-122"/>
              </a:rPr>
              <a:t>ZigBee</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网络</a:t>
            </a:r>
            <a:r>
              <a:rPr lang="zh-CN" altLang="en-US" b="1" dirty="0">
                <a:latin typeface="微软雅黑" panose="020B0503020204020204" pitchFamily="34" charset="-122"/>
                <a:ea typeface="微软雅黑" panose="020B0503020204020204" pitchFamily="34" charset="-122"/>
              </a:rPr>
              <a:t>最多可以</a:t>
            </a:r>
            <a:r>
              <a:rPr lang="zh-CN" altLang="en-US" b="1" dirty="0" smtClean="0">
                <a:latin typeface="微软雅黑" panose="020B0503020204020204" pitchFamily="34" charset="-122"/>
                <a:ea typeface="微软雅黑" panose="020B0503020204020204" pitchFamily="34" charset="-122"/>
              </a:rPr>
              <a:t>有 </a:t>
            </a:r>
            <a:r>
              <a:rPr lang="en-US" altLang="zh-CN" b="1" dirty="0" smtClean="0">
                <a:latin typeface="微软雅黑" panose="020B0503020204020204" pitchFamily="34" charset="-122"/>
                <a:ea typeface="微软雅黑" panose="020B0503020204020204" pitchFamily="34" charset="-122"/>
              </a:rPr>
              <a:t>255 </a:t>
            </a:r>
            <a:r>
              <a:rPr lang="zh-CN" altLang="en-US" b="1" dirty="0" smtClean="0">
                <a:latin typeface="微软雅黑" panose="020B0503020204020204" pitchFamily="34" charset="-122"/>
                <a:ea typeface="微软雅黑" panose="020B0503020204020204" pitchFamily="34" charset="-122"/>
              </a:rPr>
              <a:t>个节点。</a:t>
            </a:r>
            <a:endParaRPr lang="zh-CN" altLang="en-US" b="1" dirty="0">
              <a:latin typeface="微软雅黑" panose="020B0503020204020204" pitchFamily="34" charset="-122"/>
              <a:ea typeface="微软雅黑" panose="020B0503020204020204" pitchFamily="34" charset="-122"/>
            </a:endParaRPr>
          </a:p>
          <a:p>
            <a:pPr marL="342900" indent="-342900" eaLnBrk="0" hangingPunct="0">
              <a:lnSpc>
                <a:spcPts val="26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节点按</a:t>
            </a:r>
            <a:r>
              <a:rPr lang="zh-CN" altLang="en-US" b="1" dirty="0">
                <a:latin typeface="微软雅黑" panose="020B0503020204020204" pitchFamily="34" charset="-122"/>
                <a:ea typeface="微软雅黑" panose="020B0503020204020204" pitchFamily="34" charset="-122"/>
              </a:rPr>
              <a:t>功能的强弱可划分为</a:t>
            </a:r>
            <a:r>
              <a:rPr lang="zh-CN" altLang="en-US" b="1" dirty="0">
                <a:solidFill>
                  <a:srgbClr val="C00000"/>
                </a:solidFill>
                <a:latin typeface="微软雅黑" panose="020B0503020204020204" pitchFamily="34" charset="-122"/>
                <a:ea typeface="微软雅黑" panose="020B0503020204020204" pitchFamily="34" charset="-122"/>
              </a:rPr>
              <a:t>两大类：</a:t>
            </a:r>
            <a:endParaRPr lang="zh-CN" altLang="en-US" b="1" dirty="0">
              <a:solidFill>
                <a:srgbClr val="C00000"/>
              </a:solidFill>
              <a:latin typeface="微软雅黑" panose="020B0503020204020204" pitchFamily="34" charset="-122"/>
              <a:ea typeface="微软雅黑" panose="020B0503020204020204" pitchFamily="34" charset="-122"/>
            </a:endParaRPr>
          </a:p>
          <a:p>
            <a:pPr marL="714375" indent="-374650" eaLnBrk="0" hangingPunct="0">
              <a:lnSpc>
                <a:spcPts val="26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全功能</a:t>
            </a:r>
            <a:r>
              <a:rPr lang="zh-CN" altLang="en-US" b="1" dirty="0" smtClean="0">
                <a:solidFill>
                  <a:srgbClr val="0000FF"/>
                </a:solidFill>
                <a:latin typeface="微软雅黑" panose="020B0503020204020204" pitchFamily="34" charset="-122"/>
                <a:ea typeface="微软雅黑" panose="020B0503020204020204" pitchFamily="34" charset="-122"/>
              </a:rPr>
              <a:t>设备 </a:t>
            </a:r>
            <a:r>
              <a:rPr lang="en-US" altLang="zh-CN" b="1" dirty="0" smtClean="0">
                <a:latin typeface="微软雅黑" panose="020B0503020204020204" pitchFamily="34" charset="-122"/>
                <a:ea typeface="微软雅黑" panose="020B0503020204020204" pitchFamily="34" charset="-122"/>
              </a:rPr>
              <a:t>FFD </a:t>
            </a:r>
            <a:r>
              <a:rPr lang="en-US" altLang="zh-CN" b="1" dirty="0">
                <a:latin typeface="微软雅黑" panose="020B0503020204020204" pitchFamily="34" charset="-122"/>
                <a:ea typeface="微软雅黑" panose="020B0503020204020204" pitchFamily="34" charset="-122"/>
              </a:rPr>
              <a:t>(Full-Function Device</a:t>
            </a:r>
            <a:r>
              <a:rPr lang="en-US" altLang="zh-CN"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1259840" indent="-457200" eaLnBrk="0" hangingPunct="0">
              <a:lnSpc>
                <a:spcPts val="2600"/>
              </a:lnSpc>
              <a:buClr>
                <a:srgbClr val="000099"/>
              </a:buClr>
              <a:buFont typeface="+mj-ea"/>
              <a:buAutoNum type="circleNumDbPlain"/>
            </a:pPr>
            <a:r>
              <a:rPr lang="zh-CN" altLang="en-US" b="1" dirty="0" smtClean="0">
                <a:latin typeface="微软雅黑" panose="020B0503020204020204" pitchFamily="34" charset="-122"/>
                <a:ea typeface="微软雅黑" panose="020B0503020204020204" pitchFamily="34" charset="-122"/>
              </a:rPr>
              <a:t>充当</a:t>
            </a:r>
            <a:r>
              <a:rPr lang="zh-CN" altLang="en-US" b="1" dirty="0" smtClean="0">
                <a:solidFill>
                  <a:srgbClr val="C00000"/>
                </a:solidFill>
                <a:latin typeface="微软雅黑" panose="020B0503020204020204" pitchFamily="34" charset="-122"/>
                <a:ea typeface="微软雅黑" panose="020B0503020204020204" pitchFamily="34" charset="-122"/>
              </a:rPr>
              <a:t>协调器</a:t>
            </a:r>
            <a:r>
              <a:rPr lang="zh-CN" altLang="en-US" b="1" dirty="0" smtClean="0">
                <a:latin typeface="微软雅黑" panose="020B0503020204020204" pitchFamily="34" charset="-122"/>
                <a:ea typeface="微软雅黑" panose="020B0503020204020204" pitchFamily="34" charset="-122"/>
              </a:rPr>
              <a:t>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coordinator</a:t>
            </a:r>
            <a:r>
              <a:rPr lang="en-US" altLang="zh-CN" b="1" dirty="0" smtClean="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负责</a:t>
            </a:r>
            <a:r>
              <a:rPr lang="zh-CN" altLang="en-US" b="1" dirty="0">
                <a:latin typeface="微软雅黑" panose="020B0503020204020204" pitchFamily="34" charset="-122"/>
                <a:ea typeface="微软雅黑" panose="020B0503020204020204" pitchFamily="34" charset="-122"/>
              </a:rPr>
              <a:t>维护</a:t>
            </a:r>
            <a:r>
              <a:rPr lang="zh-CN" altLang="en-US" b="1" dirty="0" smtClean="0">
                <a:latin typeface="微软雅黑" panose="020B0503020204020204" pitchFamily="34" charset="-122"/>
                <a:ea typeface="微软雅黑" panose="020B0503020204020204" pitchFamily="34" charset="-122"/>
              </a:rPr>
              <a:t>整个 </a:t>
            </a:r>
            <a:r>
              <a:rPr lang="en-US" altLang="zh-CN" b="1" dirty="0" smtClean="0">
                <a:latin typeface="微软雅黑" panose="020B0503020204020204" pitchFamily="34" charset="-122"/>
                <a:ea typeface="微软雅黑" panose="020B0503020204020204" pitchFamily="34" charset="-122"/>
              </a:rPr>
              <a:t>ZigBee </a:t>
            </a:r>
            <a:r>
              <a:rPr lang="zh-CN" altLang="en-US" b="1" dirty="0" smtClean="0">
                <a:latin typeface="微软雅黑" panose="020B0503020204020204" pitchFamily="34" charset="-122"/>
                <a:ea typeface="微软雅黑" panose="020B0503020204020204" pitchFamily="34" charset="-122"/>
              </a:rPr>
              <a:t>网络</a:t>
            </a:r>
            <a:r>
              <a:rPr lang="zh-CN" altLang="en-US" b="1" dirty="0">
                <a:latin typeface="微软雅黑" panose="020B0503020204020204" pitchFamily="34" charset="-122"/>
                <a:ea typeface="微软雅黑" panose="020B0503020204020204" pitchFamily="34" charset="-122"/>
              </a:rPr>
              <a:t>的节点信息，同时还可以与其</a:t>
            </a:r>
            <a:r>
              <a:rPr lang="zh-CN" altLang="en-US" b="1" dirty="0" smtClean="0">
                <a:latin typeface="微软雅黑" panose="020B0503020204020204" pitchFamily="34" charset="-122"/>
                <a:ea typeface="微软雅黑" panose="020B0503020204020204" pitchFamily="34" charset="-122"/>
              </a:rPr>
              <a:t>他 </a:t>
            </a:r>
            <a:r>
              <a:rPr lang="en-US" altLang="zh-CN" b="1" dirty="0" smtClean="0">
                <a:latin typeface="微软雅黑" panose="020B0503020204020204" pitchFamily="34" charset="-122"/>
                <a:ea typeface="微软雅黑" panose="020B0503020204020204" pitchFamily="34" charset="-122"/>
              </a:rPr>
              <a:t>ZigBee </a:t>
            </a:r>
            <a:r>
              <a:rPr lang="zh-CN" altLang="en-US" b="1" dirty="0" smtClean="0">
                <a:latin typeface="微软雅黑" panose="020B0503020204020204" pitchFamily="34" charset="-122"/>
                <a:ea typeface="微软雅黑" panose="020B0503020204020204" pitchFamily="34" charset="-122"/>
              </a:rPr>
              <a:t>网络</a:t>
            </a:r>
            <a:r>
              <a:rPr lang="zh-CN" altLang="en-US" b="1" dirty="0">
                <a:latin typeface="微软雅黑" panose="020B0503020204020204" pitchFamily="34" charset="-122"/>
                <a:ea typeface="微软雅黑" panose="020B0503020204020204" pitchFamily="34" charset="-122"/>
              </a:rPr>
              <a:t>的协调器交换数据</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1259840" indent="-457200" eaLnBrk="0" hangingPunct="0">
              <a:lnSpc>
                <a:spcPts val="2600"/>
              </a:lnSpc>
              <a:buClr>
                <a:srgbClr val="000099"/>
              </a:buClr>
              <a:buFont typeface="+mj-ea"/>
              <a:buAutoNum type="circleNumDbPlain"/>
            </a:pPr>
            <a:r>
              <a:rPr lang="zh-CN" altLang="en-US" b="1" dirty="0" smtClean="0">
                <a:latin typeface="微软雅黑" panose="020B0503020204020204" pitchFamily="34" charset="-122"/>
                <a:ea typeface="微软雅黑" panose="020B0503020204020204" pitchFamily="34" charset="-122"/>
              </a:rPr>
              <a:t>通过</a:t>
            </a:r>
            <a:r>
              <a:rPr lang="zh-CN" altLang="en-US" b="1" dirty="0">
                <a:latin typeface="微软雅黑" panose="020B0503020204020204" pitchFamily="34" charset="-122"/>
                <a:ea typeface="微软雅黑" panose="020B0503020204020204" pitchFamily="34" charset="-122"/>
              </a:rPr>
              <a:t>各网络协调器的相互通信，可以得到覆盖更大范围、超过</a:t>
            </a:r>
            <a:r>
              <a:rPr lang="en-US" altLang="zh-CN" b="1" dirty="0" smtClean="0">
                <a:latin typeface="微软雅黑" panose="020B0503020204020204" pitchFamily="34" charset="-122"/>
                <a:ea typeface="微软雅黑" panose="020B0503020204020204" pitchFamily="34" charset="-122"/>
              </a:rPr>
              <a:t>65000 </a:t>
            </a:r>
            <a:r>
              <a:rPr lang="zh-CN" altLang="en-US" b="1" dirty="0" smtClean="0">
                <a:latin typeface="微软雅黑" panose="020B0503020204020204" pitchFamily="34" charset="-122"/>
                <a:ea typeface="微软雅黑" panose="020B0503020204020204" pitchFamily="34" charset="-122"/>
              </a:rPr>
              <a:t>个</a:t>
            </a:r>
            <a:r>
              <a:rPr lang="zh-CN" altLang="en-US" b="1" dirty="0">
                <a:latin typeface="微软雅黑" panose="020B0503020204020204" pitchFamily="34" charset="-122"/>
                <a:ea typeface="微软雅黑" panose="020B0503020204020204" pitchFamily="34" charset="-122"/>
              </a:rPr>
              <a:t>节点</a:t>
            </a:r>
            <a:r>
              <a:rPr lang="zh-CN" altLang="en-US" b="1" dirty="0" smtClean="0">
                <a:latin typeface="微软雅黑" panose="020B0503020204020204" pitchFamily="34" charset="-122"/>
                <a:ea typeface="微软雅黑" panose="020B0503020204020204" pitchFamily="34" charset="-122"/>
              </a:rPr>
              <a:t>的 </a:t>
            </a:r>
            <a:r>
              <a:rPr lang="en-US" altLang="zh-CN" b="1" dirty="0" smtClean="0">
                <a:latin typeface="微软雅黑" panose="020B0503020204020204" pitchFamily="34" charset="-122"/>
                <a:ea typeface="微软雅黑" panose="020B0503020204020204" pitchFamily="34" charset="-122"/>
              </a:rPr>
              <a:t>ZigBee</a:t>
            </a:r>
            <a:r>
              <a:rPr lang="zh-CN" altLang="en-US" b="1" dirty="0">
                <a:latin typeface="微软雅黑" panose="020B0503020204020204" pitchFamily="34" charset="-122"/>
                <a:ea typeface="微软雅黑" panose="020B0503020204020204" pitchFamily="34" charset="-122"/>
              </a:rPr>
              <a:t>网络</a:t>
            </a:r>
            <a:r>
              <a:rPr lang="zh-CN" altLang="en-US" b="1" dirty="0" smtClean="0">
                <a:latin typeface="微软雅黑" panose="020B0503020204020204" pitchFamily="34" charset="-122"/>
                <a:ea typeface="微软雅黑" panose="020B0503020204020204" pitchFamily="34" charset="-122"/>
              </a:rPr>
              <a:t>。</a:t>
            </a:r>
            <a:endParaRPr lang="zh-CN" altLang="en-US" b="1" dirty="0" smtClean="0">
              <a:solidFill>
                <a:srgbClr val="C00000"/>
              </a:solidFill>
              <a:latin typeface="微软雅黑" panose="020B0503020204020204" pitchFamily="34" charset="-122"/>
              <a:ea typeface="微软雅黑" panose="020B0503020204020204" pitchFamily="34" charset="-122"/>
            </a:endParaRPr>
          </a:p>
          <a:p>
            <a:pPr marL="714375" indent="-374650" eaLnBrk="0" hangingPunct="0">
              <a:lnSpc>
                <a:spcPts val="2600"/>
              </a:lnSpc>
              <a:buClr>
                <a:srgbClr val="7030A0"/>
              </a:buClr>
              <a:buFont typeface="+mj-lt"/>
              <a:buAutoNum type="arabicPeriod" startAt="2"/>
            </a:pPr>
            <a:r>
              <a:rPr lang="zh-CN" altLang="en-US" b="1" dirty="0" smtClean="0">
                <a:solidFill>
                  <a:srgbClr val="0000FF"/>
                </a:solidFill>
                <a:latin typeface="微软雅黑" panose="020B0503020204020204" pitchFamily="34" charset="-122"/>
                <a:ea typeface="微软雅黑" panose="020B0503020204020204" pitchFamily="34" charset="-122"/>
              </a:rPr>
              <a:t>精简功能设备 </a:t>
            </a:r>
            <a:r>
              <a:rPr lang="en-US" altLang="zh-CN" b="1" dirty="0" smtClean="0">
                <a:latin typeface="微软雅黑" panose="020B0503020204020204" pitchFamily="34" charset="-122"/>
                <a:ea typeface="微软雅黑" panose="020B0503020204020204" pitchFamily="34" charset="-122"/>
              </a:rPr>
              <a:t>RFD (Reduced-Function Device) </a:t>
            </a:r>
            <a:endParaRPr lang="en-US" altLang="zh-CN" b="1" dirty="0" smtClean="0">
              <a:latin typeface="微软雅黑" panose="020B0503020204020204" pitchFamily="34" charset="-122"/>
              <a:ea typeface="微软雅黑" panose="020B0503020204020204" pitchFamily="34" charset="-122"/>
            </a:endParaRPr>
          </a:p>
          <a:p>
            <a:pPr marL="1259840" indent="-457200" eaLnBrk="0" hangingPunct="0">
              <a:lnSpc>
                <a:spcPts val="2600"/>
              </a:lnSpc>
              <a:buClr>
                <a:srgbClr val="000099"/>
              </a:buClr>
              <a:buFont typeface="+mj-ea"/>
              <a:buAutoNum type="circleNumDbPlain"/>
            </a:pPr>
            <a:r>
              <a:rPr lang="zh-CN" altLang="en-US" b="1" dirty="0" smtClean="0">
                <a:latin typeface="微软雅黑" panose="020B0503020204020204" pitchFamily="34" charset="-122"/>
                <a:ea typeface="微软雅黑" panose="020B0503020204020204" pitchFamily="34" charset="-122"/>
              </a:rPr>
              <a:t>是 </a:t>
            </a:r>
            <a:r>
              <a:rPr lang="en-US" altLang="zh-CN" b="1" dirty="0" err="1" smtClean="0">
                <a:latin typeface="微软雅黑" panose="020B0503020204020204" pitchFamily="34" charset="-122"/>
                <a:ea typeface="微软雅黑" panose="020B0503020204020204" pitchFamily="34" charset="-122"/>
              </a:rPr>
              <a:t>ZigBee</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网络</a:t>
            </a:r>
            <a:r>
              <a:rPr lang="zh-CN" altLang="en-US" b="1" dirty="0">
                <a:latin typeface="微软雅黑" panose="020B0503020204020204" pitchFamily="34" charset="-122"/>
                <a:ea typeface="微软雅黑" panose="020B0503020204020204" pitchFamily="34" charset="-122"/>
              </a:rPr>
              <a:t>中数量最多的</a:t>
            </a:r>
            <a:r>
              <a:rPr lang="zh-CN" altLang="en-US" b="1" dirty="0">
                <a:solidFill>
                  <a:srgbClr val="C00000"/>
                </a:solidFill>
                <a:latin typeface="微软雅黑" panose="020B0503020204020204" pitchFamily="34" charset="-122"/>
                <a:ea typeface="微软雅黑" panose="020B0503020204020204" pitchFamily="34" charset="-122"/>
              </a:rPr>
              <a:t>端设备。</a:t>
            </a:r>
            <a:endParaRPr lang="zh-CN" altLang="en-US" b="1" dirty="0">
              <a:solidFill>
                <a:srgbClr val="C00000"/>
              </a:solidFill>
              <a:latin typeface="微软雅黑" panose="020B0503020204020204" pitchFamily="34" charset="-122"/>
              <a:ea typeface="微软雅黑" panose="020B0503020204020204" pitchFamily="34" charset="-122"/>
            </a:endParaRPr>
          </a:p>
          <a:p>
            <a:pPr marL="1259840" indent="-457200" eaLnBrk="0" hangingPunct="0">
              <a:lnSpc>
                <a:spcPts val="2600"/>
              </a:lnSpc>
              <a:buClr>
                <a:srgbClr val="000099"/>
              </a:buClr>
              <a:buFont typeface="+mj-ea"/>
              <a:buAutoNum type="circleNumDbPlain"/>
            </a:pPr>
            <a:r>
              <a:rPr lang="zh-CN" altLang="en-US" b="1" dirty="0">
                <a:latin typeface="微软雅黑" panose="020B0503020204020204" pitchFamily="34" charset="-122"/>
                <a:ea typeface="微软雅黑" panose="020B0503020204020204" pitchFamily="34" charset="-122"/>
              </a:rPr>
              <a:t>电路简单，存储容量较小，因而成本较低。</a:t>
            </a:r>
            <a:endParaRPr lang="zh-CN" altLang="en-US" b="1" dirty="0">
              <a:latin typeface="微软雅黑" panose="020B0503020204020204" pitchFamily="34" charset="-122"/>
              <a:ea typeface="微软雅黑" panose="020B0503020204020204" pitchFamily="34" charset="-122"/>
            </a:endParaRPr>
          </a:p>
          <a:p>
            <a:pPr marL="1259840" indent="-457200" eaLnBrk="0" hangingPunct="0">
              <a:lnSpc>
                <a:spcPts val="2600"/>
              </a:lnSpc>
              <a:buClr>
                <a:srgbClr val="000099"/>
              </a:buClr>
              <a:buFont typeface="+mj-ea"/>
              <a:buAutoNum type="circleNumDbPlain"/>
            </a:pPr>
            <a:r>
              <a:rPr lang="en-US" altLang="zh-CN" b="1" dirty="0" smtClean="0">
                <a:latin typeface="微软雅黑" panose="020B0503020204020204" pitchFamily="34" charset="-122"/>
                <a:ea typeface="微软雅黑" panose="020B0503020204020204" pitchFamily="34" charset="-122"/>
              </a:rPr>
              <a:t>RFD </a:t>
            </a:r>
            <a:r>
              <a:rPr lang="zh-CN" altLang="en-US" b="1" dirty="0" smtClean="0">
                <a:latin typeface="微软雅黑" panose="020B0503020204020204" pitchFamily="34" charset="-122"/>
                <a:ea typeface="微软雅黑" panose="020B0503020204020204" pitchFamily="34" charset="-122"/>
              </a:rPr>
              <a:t>结点</a:t>
            </a:r>
            <a:r>
              <a:rPr lang="zh-CN" altLang="en-US" b="1" dirty="0">
                <a:solidFill>
                  <a:srgbClr val="C00000"/>
                </a:solidFill>
                <a:latin typeface="微软雅黑" panose="020B0503020204020204" pitchFamily="34" charset="-122"/>
                <a:ea typeface="微软雅黑" panose="020B0503020204020204" pitchFamily="34" charset="-122"/>
              </a:rPr>
              <a:t>只能</a:t>
            </a:r>
            <a:r>
              <a:rPr lang="zh-CN" altLang="en-US" b="1" dirty="0">
                <a:latin typeface="微软雅黑" panose="020B0503020204020204" pitchFamily="34" charset="-122"/>
                <a:ea typeface="微软雅黑" panose="020B0503020204020204" pitchFamily="34" charset="-122"/>
              </a:rPr>
              <a:t>与处在该星形网中心</a:t>
            </a:r>
            <a:r>
              <a:rPr lang="zh-CN" altLang="en-US" b="1" dirty="0" smtClean="0">
                <a:latin typeface="微软雅黑" panose="020B0503020204020204" pitchFamily="34" charset="-122"/>
                <a:ea typeface="微软雅黑" panose="020B0503020204020204" pitchFamily="34" charset="-122"/>
              </a:rPr>
              <a:t>的 </a:t>
            </a:r>
            <a:r>
              <a:rPr lang="en-US" altLang="zh-CN" b="1" dirty="0" smtClean="0">
                <a:latin typeface="微软雅黑" panose="020B0503020204020204" pitchFamily="34" charset="-122"/>
                <a:ea typeface="微软雅黑" panose="020B0503020204020204" pitchFamily="34" charset="-122"/>
              </a:rPr>
              <a:t>FFD </a:t>
            </a:r>
            <a:r>
              <a:rPr lang="zh-CN" altLang="en-US" b="1" dirty="0" smtClean="0">
                <a:latin typeface="微软雅黑" panose="020B0503020204020204" pitchFamily="34" charset="-122"/>
                <a:ea typeface="微软雅黑" panose="020B0503020204020204" pitchFamily="34" charset="-122"/>
              </a:rPr>
              <a:t>结点</a:t>
            </a:r>
            <a:r>
              <a:rPr lang="zh-CN" altLang="en-US" b="1" dirty="0">
                <a:latin typeface="微软雅黑" panose="020B0503020204020204" pitchFamily="34" charset="-122"/>
                <a:ea typeface="微软雅黑" panose="020B0503020204020204" pitchFamily="34" charset="-122"/>
              </a:rPr>
              <a:t>交换数据</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圆角矩形 3"/>
          <p:cNvSpPr/>
          <p:nvPr/>
        </p:nvSpPr>
        <p:spPr>
          <a:xfrm>
            <a:off x="517852" y="98632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5" name="矩形 4"/>
          <p:cNvSpPr/>
          <p:nvPr/>
        </p:nvSpPr>
        <p:spPr>
          <a:xfrm>
            <a:off x="637984" y="570462"/>
            <a:ext cx="2428870" cy="400110"/>
          </a:xfrm>
          <a:prstGeom prst="rect">
            <a:avLst/>
          </a:prstGeom>
        </p:spPr>
        <p:txBody>
          <a:bodyPr wrap="none">
            <a:spAutoFit/>
          </a:bodyPr>
          <a:lstStyle/>
          <a:p>
            <a:r>
              <a:rPr lang="en-US" altLang="zh-CN" sz="2000" b="1" dirty="0">
                <a:latin typeface="微软雅黑" panose="020B0503020204020204" pitchFamily="34" charset="-122"/>
                <a:ea typeface="微软雅黑" panose="020B0503020204020204" pitchFamily="34" charset="-122"/>
              </a:rPr>
              <a:t>ZigBee </a:t>
            </a:r>
            <a:r>
              <a:rPr lang="zh-CN" altLang="en-US" sz="2000" b="1" dirty="0">
                <a:latin typeface="微软雅黑" panose="020B0503020204020204" pitchFamily="34" charset="-122"/>
                <a:ea typeface="微软雅黑" panose="020B0503020204020204" pitchFamily="34" charset="-122"/>
              </a:rPr>
              <a:t>的组网方式</a:t>
            </a:r>
            <a:endParaRPr lang="zh-CN" altLang="en-US" sz="2000" b="1" dirty="0">
              <a:latin typeface="微软雅黑" panose="020B0503020204020204" pitchFamily="34" charset="-122"/>
              <a:ea typeface="微软雅黑" panose="020B0503020204020204" pitchFamily="34" charset="-122"/>
            </a:endParaRPr>
          </a:p>
        </p:txBody>
      </p:sp>
      <p:sp>
        <p:nvSpPr>
          <p:cNvPr id="2" name="矩形 1"/>
          <p:cNvSpPr/>
          <p:nvPr/>
        </p:nvSpPr>
        <p:spPr>
          <a:xfrm>
            <a:off x="1614154" y="1045038"/>
            <a:ext cx="5941251" cy="656590"/>
          </a:xfrm>
          <a:prstGeom prst="rect">
            <a:avLst/>
          </a:prstGeom>
          <a:solidFill>
            <a:srgbClr val="FFFFCC"/>
          </a:solidFill>
          <a:ln>
            <a:noFill/>
          </a:ln>
        </p:spPr>
        <p:txBody>
          <a:bodyPr wrap="square">
            <a:spAutoFit/>
          </a:bodyPr>
          <a:lstStyle/>
          <a:p>
            <a:pPr algn="ctr">
              <a:lnSpc>
                <a:spcPts val="2200"/>
              </a:lnSpc>
            </a:pPr>
            <a:r>
              <a:rPr lang="zh-CN" altLang="en-US" sz="1600" b="1" dirty="0">
                <a:latin typeface="微软雅黑" panose="020B0503020204020204" pitchFamily="34" charset="-122"/>
                <a:ea typeface="微软雅黑" panose="020B0503020204020204" pitchFamily="34" charset="-122"/>
              </a:rPr>
              <a:t>有一个全功能设备 </a:t>
            </a:r>
            <a:r>
              <a:rPr lang="en-US" altLang="zh-CN" sz="1600" b="1" dirty="0">
                <a:latin typeface="微软雅黑" panose="020B0503020204020204" pitchFamily="34" charset="-122"/>
                <a:ea typeface="微软雅黑" panose="020B0503020204020204" pitchFamily="34" charset="-122"/>
              </a:rPr>
              <a:t>FFD </a:t>
            </a:r>
            <a:r>
              <a:rPr lang="zh-CN" altLang="en-US" sz="1600" b="1" dirty="0">
                <a:latin typeface="微软雅黑" panose="020B0503020204020204" pitchFamily="34" charset="-122"/>
                <a:ea typeface="微软雅黑" panose="020B0503020204020204" pitchFamily="34" charset="-122"/>
              </a:rPr>
              <a:t>充当网络的</a:t>
            </a:r>
            <a:r>
              <a:rPr lang="zh-CN" altLang="en-US" sz="1600" b="1" dirty="0">
                <a:solidFill>
                  <a:srgbClr val="0000FF"/>
                </a:solidFill>
                <a:latin typeface="微软雅黑" panose="020B0503020204020204" pitchFamily="34" charset="-122"/>
                <a:ea typeface="微软雅黑" panose="020B0503020204020204" pitchFamily="34" charset="-122"/>
              </a:rPr>
              <a:t>协调器</a:t>
            </a:r>
            <a:r>
              <a:rPr lang="zh-CN" altLang="en-US"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a:p>
            <a:pPr algn="ctr">
              <a:lnSpc>
                <a:spcPts val="2200"/>
              </a:lnSpc>
            </a:pPr>
            <a:r>
              <a:rPr lang="en-US" altLang="zh-CN" sz="1600" b="1" dirty="0">
                <a:latin typeface="微软雅黑" panose="020B0503020204020204" pitchFamily="34" charset="-122"/>
                <a:ea typeface="微软雅黑" panose="020B0503020204020204" pitchFamily="34" charset="-122"/>
              </a:rPr>
              <a:t>ZigBee </a:t>
            </a:r>
            <a:r>
              <a:rPr lang="zh-CN" altLang="en-US" sz="1600" b="1" dirty="0">
                <a:latin typeface="微软雅黑" panose="020B0503020204020204" pitchFamily="34" charset="-122"/>
                <a:ea typeface="微软雅黑" panose="020B0503020204020204" pitchFamily="34" charset="-122"/>
              </a:rPr>
              <a:t>网络中</a:t>
            </a:r>
            <a:r>
              <a:rPr lang="zh-CN" altLang="en-US" sz="1600" b="1" dirty="0">
                <a:solidFill>
                  <a:srgbClr val="0000FF"/>
                </a:solidFill>
                <a:latin typeface="微软雅黑" panose="020B0503020204020204" pitchFamily="34" charset="-122"/>
                <a:ea typeface="微软雅黑" panose="020B0503020204020204" pitchFamily="34" charset="-122"/>
              </a:rPr>
              <a:t>数量最多</a:t>
            </a:r>
            <a:r>
              <a:rPr lang="zh-CN" altLang="en-US" sz="1600" b="1" dirty="0">
                <a:latin typeface="微软雅黑" panose="020B0503020204020204" pitchFamily="34" charset="-122"/>
                <a:ea typeface="微软雅黑" panose="020B0503020204020204" pitchFamily="34" charset="-122"/>
              </a:rPr>
              <a:t>的端设备是精简功能设备 </a:t>
            </a:r>
            <a:r>
              <a:rPr lang="en-US" altLang="zh-CN" sz="1600" b="1" dirty="0">
                <a:latin typeface="微软雅黑" panose="020B0503020204020204" pitchFamily="34" charset="-122"/>
                <a:ea typeface="微软雅黑" panose="020B0503020204020204" pitchFamily="34" charset="-122"/>
              </a:rPr>
              <a:t>RFD </a:t>
            </a:r>
            <a:r>
              <a:rPr lang="zh-CN" altLang="en-US" sz="1600" b="1" dirty="0">
                <a:latin typeface="微软雅黑" panose="020B0503020204020204" pitchFamily="34" charset="-122"/>
                <a:ea typeface="微软雅黑" panose="020B0503020204020204" pitchFamily="34" charset="-122"/>
              </a:rPr>
              <a:t>结点。 </a:t>
            </a:r>
            <a:endParaRPr lang="zh-CN" altLang="en-US" sz="1600" b="1" dirty="0">
              <a:latin typeface="微软雅黑" panose="020B0503020204020204" pitchFamily="34" charset="-122"/>
              <a:ea typeface="微软雅黑" panose="020B0503020204020204" pitchFamily="34" charset="-122"/>
            </a:endParaRPr>
          </a:p>
        </p:txBody>
      </p:sp>
      <p:sp>
        <p:nvSpPr>
          <p:cNvPr id="6" name="Oval 5"/>
          <p:cNvSpPr>
            <a:spLocks noChangeArrowheads="1"/>
          </p:cNvSpPr>
          <p:nvPr/>
        </p:nvSpPr>
        <p:spPr bwMode="auto">
          <a:xfrm>
            <a:off x="2741840" y="1996395"/>
            <a:ext cx="145060" cy="136010"/>
          </a:xfrm>
          <a:prstGeom prst="ellipse">
            <a:avLst/>
          </a:prstGeom>
          <a:solidFill>
            <a:srgbClr val="0000FF"/>
          </a:solidFill>
          <a:ln w="9525" algn="ctr">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7151876" y="3970119"/>
            <a:ext cx="145059" cy="137064"/>
          </a:xfrm>
          <a:prstGeom prst="ellipse">
            <a:avLst/>
          </a:prstGeom>
          <a:solidFill>
            <a:srgbClr val="0000FF"/>
          </a:solidFill>
          <a:ln w="9525" algn="ctr">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 name="Oval 7"/>
          <p:cNvSpPr>
            <a:spLocks noChangeArrowheads="1"/>
          </p:cNvSpPr>
          <p:nvPr/>
        </p:nvSpPr>
        <p:spPr bwMode="auto">
          <a:xfrm>
            <a:off x="5790508" y="3820354"/>
            <a:ext cx="145060" cy="137064"/>
          </a:xfrm>
          <a:prstGeom prst="ellipse">
            <a:avLst/>
          </a:prstGeom>
          <a:solidFill>
            <a:srgbClr val="0000FF"/>
          </a:solidFill>
          <a:ln w="9525" algn="ctr">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Oval 8"/>
          <p:cNvSpPr>
            <a:spLocks noChangeArrowheads="1"/>
          </p:cNvSpPr>
          <p:nvPr/>
        </p:nvSpPr>
        <p:spPr bwMode="auto">
          <a:xfrm>
            <a:off x="7362544" y="3172056"/>
            <a:ext cx="145059" cy="137064"/>
          </a:xfrm>
          <a:prstGeom prst="ellipse">
            <a:avLst/>
          </a:prstGeom>
          <a:solidFill>
            <a:srgbClr val="0000FF"/>
          </a:solidFill>
          <a:ln w="9525" algn="ctr">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Oval 9"/>
          <p:cNvSpPr>
            <a:spLocks noChangeArrowheads="1"/>
          </p:cNvSpPr>
          <p:nvPr/>
        </p:nvSpPr>
        <p:spPr bwMode="auto">
          <a:xfrm>
            <a:off x="6430005" y="2879932"/>
            <a:ext cx="145059" cy="137064"/>
          </a:xfrm>
          <a:prstGeom prst="ellipse">
            <a:avLst/>
          </a:prstGeom>
          <a:solidFill>
            <a:srgbClr val="0000FF"/>
          </a:solidFill>
          <a:ln w="9525" algn="ctr">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 name="Oval 10"/>
          <p:cNvSpPr>
            <a:spLocks noChangeArrowheads="1"/>
          </p:cNvSpPr>
          <p:nvPr/>
        </p:nvSpPr>
        <p:spPr bwMode="auto">
          <a:xfrm>
            <a:off x="1787966" y="2125001"/>
            <a:ext cx="146201" cy="137064"/>
          </a:xfrm>
          <a:prstGeom prst="ellipse">
            <a:avLst/>
          </a:prstGeom>
          <a:solidFill>
            <a:srgbClr val="0000FF"/>
          </a:solidFill>
          <a:ln w="9525">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 name="Oval 11"/>
          <p:cNvSpPr>
            <a:spLocks noChangeArrowheads="1"/>
          </p:cNvSpPr>
          <p:nvPr/>
        </p:nvSpPr>
        <p:spPr bwMode="auto">
          <a:xfrm>
            <a:off x="1655607" y="2812454"/>
            <a:ext cx="145059" cy="137064"/>
          </a:xfrm>
          <a:prstGeom prst="ellipse">
            <a:avLst/>
          </a:prstGeom>
          <a:solidFill>
            <a:srgbClr val="0000FF"/>
          </a:solidFill>
          <a:ln w="9525" algn="ctr">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Oval 12"/>
          <p:cNvSpPr>
            <a:spLocks noChangeArrowheads="1"/>
          </p:cNvSpPr>
          <p:nvPr/>
        </p:nvSpPr>
        <p:spPr bwMode="auto">
          <a:xfrm>
            <a:off x="2307803" y="3357548"/>
            <a:ext cx="145060" cy="137064"/>
          </a:xfrm>
          <a:prstGeom prst="ellipse">
            <a:avLst/>
          </a:prstGeom>
          <a:solidFill>
            <a:srgbClr val="0000FF"/>
          </a:solidFill>
          <a:ln w="9525" algn="ctr">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Oval 13"/>
          <p:cNvSpPr>
            <a:spLocks noChangeArrowheads="1"/>
          </p:cNvSpPr>
          <p:nvPr/>
        </p:nvSpPr>
        <p:spPr bwMode="auto">
          <a:xfrm>
            <a:off x="3525254" y="2732277"/>
            <a:ext cx="145059" cy="137064"/>
          </a:xfrm>
          <a:prstGeom prst="ellipse">
            <a:avLst/>
          </a:prstGeom>
          <a:solidFill>
            <a:srgbClr val="0000FF"/>
          </a:solidFill>
          <a:ln w="9525" algn="ctr">
            <a:noFill/>
            <a:rou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Oval 14"/>
          <p:cNvSpPr>
            <a:spLocks noChangeArrowheads="1"/>
          </p:cNvSpPr>
          <p:nvPr/>
        </p:nvSpPr>
        <p:spPr bwMode="auto">
          <a:xfrm>
            <a:off x="2451721" y="2541489"/>
            <a:ext cx="651054" cy="273073"/>
          </a:xfrm>
          <a:prstGeom prst="ellipse">
            <a:avLst/>
          </a:prstGeom>
          <a:solidFill>
            <a:srgbClr val="99FF99"/>
          </a:solidFill>
          <a:ln w="6350" algn="ctr">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endParaRPr lang="en-US" altLang="zh-CN" sz="1600" b="1">
              <a:latin typeface="微软雅黑" panose="020B0503020204020204" pitchFamily="34" charset="-122"/>
              <a:ea typeface="微软雅黑" panose="020B0503020204020204" pitchFamily="34" charset="-122"/>
            </a:endParaRPr>
          </a:p>
        </p:txBody>
      </p:sp>
      <p:sp>
        <p:nvSpPr>
          <p:cNvPr id="16" name="Oval 15"/>
          <p:cNvSpPr>
            <a:spLocks noChangeArrowheads="1"/>
          </p:cNvSpPr>
          <p:nvPr/>
        </p:nvSpPr>
        <p:spPr bwMode="auto">
          <a:xfrm>
            <a:off x="3608770" y="3902641"/>
            <a:ext cx="651054" cy="273074"/>
          </a:xfrm>
          <a:prstGeom prst="ellipse">
            <a:avLst/>
          </a:prstGeom>
          <a:solidFill>
            <a:srgbClr val="99FF99"/>
          </a:solidFill>
          <a:ln w="6350" algn="ctr">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endParaRPr lang="en-US" altLang="zh-CN" sz="1600" b="1">
              <a:latin typeface="微软雅黑" panose="020B0503020204020204" pitchFamily="34" charset="-122"/>
              <a:ea typeface="微软雅黑" panose="020B0503020204020204" pitchFamily="34" charset="-122"/>
            </a:endParaRPr>
          </a:p>
        </p:txBody>
      </p:sp>
      <p:sp>
        <p:nvSpPr>
          <p:cNvPr id="17" name="Oval 16"/>
          <p:cNvSpPr>
            <a:spLocks noChangeArrowheads="1"/>
          </p:cNvSpPr>
          <p:nvPr/>
        </p:nvSpPr>
        <p:spPr bwMode="auto">
          <a:xfrm>
            <a:off x="5346056" y="2404425"/>
            <a:ext cx="649912" cy="273073"/>
          </a:xfrm>
          <a:prstGeom prst="ellipse">
            <a:avLst/>
          </a:prstGeom>
          <a:solidFill>
            <a:srgbClr val="99FF99"/>
          </a:solidFill>
          <a:ln w="6350" algn="ctr">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endParaRPr lang="en-US" altLang="zh-CN" sz="1600" b="1">
              <a:latin typeface="微软雅黑" panose="020B0503020204020204" pitchFamily="34" charset="-122"/>
              <a:ea typeface="微软雅黑" panose="020B0503020204020204" pitchFamily="34" charset="-122"/>
            </a:endParaRPr>
          </a:p>
        </p:txBody>
      </p:sp>
      <p:sp>
        <p:nvSpPr>
          <p:cNvPr id="18" name="Oval 17"/>
          <p:cNvSpPr>
            <a:spLocks noChangeArrowheads="1"/>
          </p:cNvSpPr>
          <p:nvPr/>
        </p:nvSpPr>
        <p:spPr bwMode="auto">
          <a:xfrm>
            <a:off x="4042806" y="1859332"/>
            <a:ext cx="651054" cy="273074"/>
          </a:xfrm>
          <a:prstGeom prst="ellipse">
            <a:avLst/>
          </a:prstGeom>
          <a:solidFill>
            <a:srgbClr val="99FF99"/>
          </a:solidFill>
          <a:ln w="6350">
            <a:solidFill>
              <a:schemeClr val="tx1"/>
            </a:solidFill>
            <a:rou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FFD</a:t>
            </a:r>
            <a:endParaRPr lang="en-US" altLang="zh-CN" sz="1600" b="1" dirty="0">
              <a:latin typeface="微软雅黑" panose="020B0503020204020204" pitchFamily="34" charset="-122"/>
              <a:ea typeface="微软雅黑" panose="020B0503020204020204" pitchFamily="34" charset="-122"/>
            </a:endParaRPr>
          </a:p>
        </p:txBody>
      </p:sp>
      <p:sp>
        <p:nvSpPr>
          <p:cNvPr id="19" name="Oval 18"/>
          <p:cNvSpPr>
            <a:spLocks noChangeArrowheads="1"/>
          </p:cNvSpPr>
          <p:nvPr/>
        </p:nvSpPr>
        <p:spPr bwMode="auto">
          <a:xfrm>
            <a:off x="6212987" y="3425025"/>
            <a:ext cx="649912" cy="273073"/>
          </a:xfrm>
          <a:prstGeom prst="ellipse">
            <a:avLst/>
          </a:prstGeom>
          <a:solidFill>
            <a:srgbClr val="00FFFF"/>
          </a:solidFill>
          <a:ln w="63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endParaRPr lang="en-US" altLang="zh-CN" sz="1600" b="1">
              <a:latin typeface="微软雅黑" panose="020B0503020204020204" pitchFamily="34" charset="-122"/>
              <a:ea typeface="微软雅黑" panose="020B0503020204020204" pitchFamily="34" charset="-122"/>
            </a:endParaRPr>
          </a:p>
        </p:txBody>
      </p:sp>
      <p:sp>
        <p:nvSpPr>
          <p:cNvPr id="20" name="Line 19"/>
          <p:cNvSpPr>
            <a:spLocks noChangeShapeType="1"/>
          </p:cNvSpPr>
          <p:nvPr/>
        </p:nvSpPr>
        <p:spPr bwMode="auto">
          <a:xfrm flipH="1">
            <a:off x="3906884" y="2131351"/>
            <a:ext cx="426041" cy="1084915"/>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0"/>
          <p:cNvSpPr>
            <a:spLocks noChangeShapeType="1"/>
          </p:cNvSpPr>
          <p:nvPr/>
        </p:nvSpPr>
        <p:spPr bwMode="auto">
          <a:xfrm>
            <a:off x="2918880" y="2821943"/>
            <a:ext cx="761848" cy="43333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1"/>
          <p:cNvSpPr>
            <a:spLocks noChangeShapeType="1"/>
          </p:cNvSpPr>
          <p:nvPr/>
        </p:nvSpPr>
        <p:spPr bwMode="auto">
          <a:xfrm>
            <a:off x="4621901" y="2063874"/>
            <a:ext cx="794972" cy="408030"/>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Line 22"/>
          <p:cNvSpPr>
            <a:spLocks noChangeShapeType="1"/>
          </p:cNvSpPr>
          <p:nvPr/>
        </p:nvSpPr>
        <p:spPr bwMode="auto">
          <a:xfrm flipH="1">
            <a:off x="4098774" y="2623727"/>
            <a:ext cx="1300967" cy="666342"/>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Line 23"/>
          <p:cNvSpPr>
            <a:spLocks noChangeShapeType="1"/>
          </p:cNvSpPr>
          <p:nvPr/>
        </p:nvSpPr>
        <p:spPr bwMode="auto">
          <a:xfrm>
            <a:off x="3893178" y="3523079"/>
            <a:ext cx="9137" cy="37007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flipH="1" flipV="1">
            <a:off x="4211852" y="3375471"/>
            <a:ext cx="566532" cy="10121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1927450" y="2236785"/>
            <a:ext cx="575669" cy="3595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3125619" y="2710183"/>
            <a:ext cx="378069" cy="706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flipH="1">
            <a:off x="2774964" y="2139786"/>
            <a:ext cx="29697" cy="3985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28"/>
          <p:cNvSpPr>
            <a:spLocks noChangeShapeType="1"/>
          </p:cNvSpPr>
          <p:nvPr/>
        </p:nvSpPr>
        <p:spPr bwMode="auto">
          <a:xfrm flipV="1">
            <a:off x="1800667" y="2744976"/>
            <a:ext cx="651054" cy="134955"/>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29"/>
          <p:cNvSpPr>
            <a:spLocks noChangeShapeType="1"/>
          </p:cNvSpPr>
          <p:nvPr/>
        </p:nvSpPr>
        <p:spPr bwMode="auto">
          <a:xfrm flipH="1">
            <a:off x="6849193" y="3272145"/>
            <a:ext cx="515133" cy="22352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0"/>
          <p:cNvSpPr>
            <a:spLocks noChangeShapeType="1"/>
          </p:cNvSpPr>
          <p:nvPr/>
        </p:nvSpPr>
        <p:spPr bwMode="auto">
          <a:xfrm>
            <a:off x="6499679" y="3016996"/>
            <a:ext cx="28555" cy="41541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flipH="1">
            <a:off x="2422023" y="2807183"/>
            <a:ext cx="229583" cy="5419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a:off x="6716697" y="3680175"/>
            <a:ext cx="451169" cy="3110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4" name="Line 33"/>
          <p:cNvSpPr>
            <a:spLocks noChangeShapeType="1"/>
          </p:cNvSpPr>
          <p:nvPr/>
        </p:nvSpPr>
        <p:spPr bwMode="auto">
          <a:xfrm flipH="1">
            <a:off x="5928579" y="3677012"/>
            <a:ext cx="373500" cy="182401"/>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34"/>
          <p:cNvSpPr txBox="1">
            <a:spLocks noChangeArrowheads="1"/>
          </p:cNvSpPr>
          <p:nvPr/>
        </p:nvSpPr>
        <p:spPr bwMode="auto">
          <a:xfrm>
            <a:off x="2902890" y="1737027"/>
            <a:ext cx="603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latin typeface="微软雅黑" panose="020B0503020204020204" pitchFamily="34" charset="-122"/>
                <a:ea typeface="微软雅黑" panose="020B0503020204020204" pitchFamily="34" charset="-122"/>
              </a:rPr>
              <a:t>RFD</a:t>
            </a:r>
            <a:endParaRPr lang="en-US" altLang="zh-CN" sz="1600" b="1" dirty="0">
              <a:latin typeface="微软雅黑" panose="020B0503020204020204" pitchFamily="34" charset="-122"/>
              <a:ea typeface="微软雅黑" panose="020B0503020204020204" pitchFamily="34" charset="-122"/>
            </a:endParaRPr>
          </a:p>
        </p:txBody>
      </p:sp>
      <p:sp>
        <p:nvSpPr>
          <p:cNvPr id="36" name="Text Box 35"/>
          <p:cNvSpPr txBox="1">
            <a:spLocks noChangeArrowheads="1"/>
          </p:cNvSpPr>
          <p:nvPr/>
        </p:nvSpPr>
        <p:spPr bwMode="auto">
          <a:xfrm>
            <a:off x="2197010" y="1712779"/>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端设备</a:t>
            </a:r>
            <a:endParaRPr lang="zh-CN" altLang="en-US" sz="1600" b="1" dirty="0">
              <a:latin typeface="微软雅黑" panose="020B0503020204020204" pitchFamily="34" charset="-122"/>
              <a:ea typeface="微软雅黑" panose="020B0503020204020204" pitchFamily="34" charset="-122"/>
            </a:endParaRPr>
          </a:p>
        </p:txBody>
      </p:sp>
      <p:sp>
        <p:nvSpPr>
          <p:cNvPr id="37" name="Text Box 36"/>
          <p:cNvSpPr txBox="1">
            <a:spLocks noChangeArrowheads="1"/>
          </p:cNvSpPr>
          <p:nvPr/>
        </p:nvSpPr>
        <p:spPr bwMode="auto">
          <a:xfrm>
            <a:off x="2838927" y="229477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路由器</a:t>
            </a:r>
            <a:endParaRPr lang="zh-CN" altLang="en-US" sz="1600" b="1">
              <a:latin typeface="微软雅黑" panose="020B0503020204020204" pitchFamily="34" charset="-122"/>
              <a:ea typeface="微软雅黑" panose="020B0503020204020204" pitchFamily="34" charset="-122"/>
            </a:endParaRPr>
          </a:p>
        </p:txBody>
      </p:sp>
      <p:sp>
        <p:nvSpPr>
          <p:cNvPr id="38" name="Oval 37"/>
          <p:cNvSpPr>
            <a:spLocks noChangeArrowheads="1"/>
          </p:cNvSpPr>
          <p:nvPr/>
        </p:nvSpPr>
        <p:spPr bwMode="auto">
          <a:xfrm>
            <a:off x="4766961" y="3356493"/>
            <a:ext cx="649912" cy="273074"/>
          </a:xfrm>
          <a:prstGeom prst="ellipse">
            <a:avLst/>
          </a:prstGeom>
          <a:solidFill>
            <a:srgbClr val="99FF99"/>
          </a:solidFill>
          <a:ln w="6350" algn="ctr">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endParaRPr lang="en-US" altLang="zh-CN" sz="1600" b="1">
              <a:latin typeface="微软雅黑" panose="020B0503020204020204" pitchFamily="34" charset="-122"/>
              <a:ea typeface="微软雅黑" panose="020B0503020204020204" pitchFamily="34" charset="-122"/>
            </a:endParaRPr>
          </a:p>
        </p:txBody>
      </p:sp>
      <p:sp>
        <p:nvSpPr>
          <p:cNvPr id="39" name="Line 38"/>
          <p:cNvSpPr>
            <a:spLocks noChangeShapeType="1"/>
          </p:cNvSpPr>
          <p:nvPr/>
        </p:nvSpPr>
        <p:spPr bwMode="auto">
          <a:xfrm flipH="1" flipV="1">
            <a:off x="5414589" y="3516752"/>
            <a:ext cx="815531" cy="1370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39"/>
          <p:cNvSpPr>
            <a:spLocks noChangeShapeType="1"/>
          </p:cNvSpPr>
          <p:nvPr/>
        </p:nvSpPr>
        <p:spPr bwMode="auto">
          <a:xfrm flipH="1">
            <a:off x="4247260" y="3623241"/>
            <a:ext cx="770986" cy="360584"/>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40"/>
          <p:cNvSpPr>
            <a:spLocks noChangeArrowheads="1"/>
          </p:cNvSpPr>
          <p:nvPr/>
        </p:nvSpPr>
        <p:spPr bwMode="auto">
          <a:xfrm>
            <a:off x="3537954" y="3221538"/>
            <a:ext cx="649912" cy="273074"/>
          </a:xfrm>
          <a:prstGeom prst="ellipse">
            <a:avLst/>
          </a:prstGeom>
          <a:solidFill>
            <a:srgbClr val="FFFF00"/>
          </a:solidFill>
          <a:ln w="19050">
            <a:solidFill>
              <a:schemeClr val="tx1"/>
            </a:solidFill>
            <a:rou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endParaRPr lang="en-US" altLang="zh-CN" sz="1600" b="1">
              <a:latin typeface="微软雅黑" panose="020B0503020204020204" pitchFamily="34" charset="-122"/>
              <a:ea typeface="微软雅黑" panose="020B0503020204020204" pitchFamily="34" charset="-122"/>
            </a:endParaRPr>
          </a:p>
        </p:txBody>
      </p:sp>
      <p:sp>
        <p:nvSpPr>
          <p:cNvPr id="42" name="Text Box 41"/>
          <p:cNvSpPr txBox="1">
            <a:spLocks noChangeArrowheads="1"/>
          </p:cNvSpPr>
          <p:nvPr/>
        </p:nvSpPr>
        <p:spPr bwMode="auto">
          <a:xfrm>
            <a:off x="2747551" y="3201506"/>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协调器</a:t>
            </a:r>
            <a:endParaRPr lang="zh-CN" altLang="en-US" sz="16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74411"/>
            <a:ext cx="8372854" cy="34009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用于</a:t>
            </a:r>
            <a:r>
              <a:rPr lang="zh-CN" altLang="en-US" b="1" dirty="0">
                <a:latin typeface="微软雅黑" panose="020B0503020204020204" pitchFamily="34" charset="-122"/>
                <a:ea typeface="微软雅黑" panose="020B0503020204020204" pitchFamily="34" charset="-122"/>
              </a:rPr>
              <a:t>在</a:t>
            </a:r>
            <a:r>
              <a:rPr lang="zh-CN" altLang="en-US" b="1" dirty="0">
                <a:solidFill>
                  <a:srgbClr val="C00000"/>
                </a:solidFill>
                <a:latin typeface="微软雅黑" panose="020B0503020204020204" pitchFamily="34" charset="-122"/>
                <a:ea typeface="微软雅黑" panose="020B0503020204020204" pitchFamily="34" charset="-122"/>
              </a:rPr>
              <a:t>便携式多媒体装置</a:t>
            </a:r>
            <a:r>
              <a:rPr lang="zh-CN" altLang="en-US" b="1" dirty="0">
                <a:latin typeface="微软雅黑" panose="020B0503020204020204" pitchFamily="34" charset="-122"/>
                <a:ea typeface="微软雅黑" panose="020B0503020204020204" pitchFamily="34" charset="-122"/>
              </a:rPr>
              <a:t>之间传送数据，支持</a:t>
            </a:r>
            <a:r>
              <a:rPr lang="en-US" altLang="zh-CN" b="1" dirty="0">
                <a:latin typeface="微软雅黑" panose="020B0503020204020204" pitchFamily="34" charset="-122"/>
                <a:ea typeface="微软雅黑" panose="020B0503020204020204" pitchFamily="34" charset="-122"/>
              </a:rPr>
              <a:t>11 ~ 55 Mbit/s </a:t>
            </a:r>
            <a:r>
              <a:rPr lang="zh-CN" altLang="en-US" b="1" dirty="0">
                <a:latin typeface="微软雅黑" panose="020B0503020204020204" pitchFamily="34" charset="-122"/>
                <a:ea typeface="微软雅黑" panose="020B0503020204020204" pitchFamily="34" charset="-122"/>
              </a:rPr>
              <a:t>的数据率，标准是 </a:t>
            </a:r>
            <a:r>
              <a:rPr lang="en-US" altLang="zh-CN" b="1" dirty="0">
                <a:latin typeface="微软雅黑" panose="020B0503020204020204" pitchFamily="34" charset="-122"/>
                <a:ea typeface="微软雅黑" panose="020B0503020204020204" pitchFamily="34" charset="-122"/>
              </a:rPr>
              <a:t>802.15.3</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a:p>
            <a:pPr marL="342900" indent="-342900" eaLnBrk="0" hangingPunct="0">
              <a:lnSpc>
                <a:spcPts val="2700"/>
              </a:lnSpc>
              <a:buClr>
                <a:srgbClr val="0070C0"/>
              </a:buClr>
              <a:buFont typeface="Wingdings" panose="05000000000000000000" pitchFamily="2" charset="2"/>
              <a:buChar char="l"/>
            </a:pPr>
            <a:r>
              <a:rPr lang="en-US" altLang="zh-CN" b="1" dirty="0">
                <a:latin typeface="微软雅黑" panose="020B0503020204020204" pitchFamily="34" charset="-122"/>
                <a:ea typeface="微软雅黑" panose="020B0503020204020204" pitchFamily="34" charset="-122"/>
              </a:rPr>
              <a:t>IEEE 802.15.3a </a:t>
            </a:r>
            <a:r>
              <a:rPr lang="zh-CN" altLang="en-US" b="1" dirty="0">
                <a:latin typeface="微软雅黑" panose="020B0503020204020204" pitchFamily="34" charset="-122"/>
                <a:ea typeface="微软雅黑" panose="020B0503020204020204" pitchFamily="34" charset="-122"/>
              </a:rPr>
              <a:t>工作组还提出了更高数据率的物理层标准的</a:t>
            </a:r>
            <a:r>
              <a:rPr lang="zh-CN" altLang="en-US" b="1" dirty="0">
                <a:solidFill>
                  <a:srgbClr val="C00000"/>
                </a:solidFill>
                <a:latin typeface="微软雅黑" panose="020B0503020204020204" pitchFamily="34" charset="-122"/>
                <a:ea typeface="微软雅黑" panose="020B0503020204020204" pitchFamily="34" charset="-122"/>
              </a:rPr>
              <a:t>超高速</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WPAN</a:t>
            </a:r>
            <a:r>
              <a:rPr lang="zh-CN" altLang="en-US" b="1" dirty="0" smtClean="0">
                <a:latin typeface="微软雅黑" panose="020B0503020204020204" pitchFamily="34" charset="-122"/>
                <a:ea typeface="微软雅黑" panose="020B0503020204020204" pitchFamily="34" charset="-122"/>
              </a:rPr>
              <a:t>，使用</a:t>
            </a:r>
            <a:r>
              <a:rPr lang="zh-CN" altLang="en-US" b="1" dirty="0">
                <a:solidFill>
                  <a:srgbClr val="C00000"/>
                </a:solidFill>
                <a:latin typeface="微软雅黑" panose="020B0503020204020204" pitchFamily="34" charset="-122"/>
                <a:ea typeface="微软雅黑" panose="020B0503020204020204" pitchFamily="34" charset="-122"/>
              </a:rPr>
              <a:t>超宽带 </a:t>
            </a:r>
            <a:r>
              <a:rPr lang="en-US" altLang="zh-CN" b="1" dirty="0">
                <a:solidFill>
                  <a:srgbClr val="C00000"/>
                </a:solidFill>
                <a:latin typeface="微软雅黑" panose="020B0503020204020204" pitchFamily="34" charset="-122"/>
                <a:ea typeface="微软雅黑" panose="020B0503020204020204" pitchFamily="34" charset="-122"/>
              </a:rPr>
              <a:t>UWB </a:t>
            </a:r>
            <a:r>
              <a:rPr lang="zh-CN" altLang="en-US" b="1" dirty="0" smtClean="0">
                <a:latin typeface="微软雅黑" panose="020B0503020204020204" pitchFamily="34" charset="-122"/>
                <a:ea typeface="微软雅黑" panose="020B0503020204020204" pitchFamily="34" charset="-122"/>
              </a:rPr>
              <a:t>技术：</a:t>
            </a:r>
            <a:endParaRPr lang="zh-CN" altLang="en-US"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rPr>
              <a:t>工作</a:t>
            </a:r>
            <a:r>
              <a:rPr lang="zh-CN" altLang="en-US" b="1" dirty="0">
                <a:latin typeface="微软雅黑" panose="020B0503020204020204" pitchFamily="34" charset="-122"/>
                <a:ea typeface="微软雅黑" panose="020B0503020204020204" pitchFamily="34" charset="-122"/>
              </a:rPr>
              <a:t>在 </a:t>
            </a:r>
            <a:r>
              <a:rPr lang="en-US" altLang="zh-CN" b="1" dirty="0">
                <a:latin typeface="微软雅黑" panose="020B0503020204020204" pitchFamily="34" charset="-122"/>
                <a:ea typeface="微软雅黑" panose="020B0503020204020204" pitchFamily="34" charset="-122"/>
              </a:rPr>
              <a:t>3.1 ~ 10.6 GHz </a:t>
            </a:r>
            <a:r>
              <a:rPr lang="zh-CN" altLang="en-US" b="1" dirty="0">
                <a:latin typeface="微软雅黑" panose="020B0503020204020204" pitchFamily="34" charset="-122"/>
                <a:ea typeface="微软雅黑" panose="020B0503020204020204" pitchFamily="34" charset="-122"/>
              </a:rPr>
              <a:t>微波频段，有非常高的信道带宽。</a:t>
            </a:r>
            <a:endParaRPr lang="en-US" altLang="zh-CN"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rPr>
              <a:t>信号的带宽</a:t>
            </a:r>
            <a:r>
              <a:rPr lang="zh-CN" altLang="en-US" b="1" dirty="0">
                <a:latin typeface="微软雅黑" panose="020B0503020204020204" pitchFamily="34" charset="-122"/>
                <a:ea typeface="微软雅黑" panose="020B0503020204020204" pitchFamily="34" charset="-122"/>
              </a:rPr>
              <a:t>应超过信号中心频率的 </a:t>
            </a:r>
            <a:r>
              <a:rPr lang="en-US" altLang="zh-CN" b="1" dirty="0">
                <a:latin typeface="微软雅黑" panose="020B0503020204020204" pitchFamily="34" charset="-122"/>
                <a:ea typeface="微软雅黑" panose="020B0503020204020204" pitchFamily="34" charset="-122"/>
              </a:rPr>
              <a:t>25% </a:t>
            </a:r>
            <a:r>
              <a:rPr lang="zh-CN" altLang="en-US" b="1" dirty="0">
                <a:latin typeface="微软雅黑" panose="020B0503020204020204" pitchFamily="34" charset="-122"/>
                <a:ea typeface="微软雅黑" panose="020B0503020204020204" pitchFamily="34" charset="-122"/>
              </a:rPr>
              <a:t>以上，或信号的绝对带宽超过 </a:t>
            </a:r>
            <a:r>
              <a:rPr lang="en-US" altLang="zh-CN" b="1" dirty="0">
                <a:latin typeface="微软雅黑" panose="020B0503020204020204" pitchFamily="34" charset="-122"/>
                <a:ea typeface="微软雅黑" panose="020B0503020204020204" pitchFamily="34" charset="-122"/>
              </a:rPr>
              <a:t>500 MHz</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rPr>
              <a:t>使用</a:t>
            </a:r>
            <a:r>
              <a:rPr lang="zh-CN" altLang="en-US" b="1" dirty="0">
                <a:latin typeface="微软雅黑" panose="020B0503020204020204" pitchFamily="34" charset="-122"/>
                <a:ea typeface="微软雅黑" panose="020B0503020204020204" pitchFamily="34" charset="-122"/>
              </a:rPr>
              <a:t>了瞬间高速脉冲，可支持 </a:t>
            </a:r>
            <a:r>
              <a:rPr lang="en-US" altLang="zh-CN" b="1" dirty="0">
                <a:latin typeface="微软雅黑" panose="020B0503020204020204" pitchFamily="34" charset="-122"/>
                <a:ea typeface="微软雅黑" panose="020B0503020204020204" pitchFamily="34" charset="-122"/>
              </a:rPr>
              <a:t>100 ~ 400 Mbit/s </a:t>
            </a:r>
            <a:r>
              <a:rPr lang="zh-CN" altLang="en-US" b="1" dirty="0">
                <a:latin typeface="微软雅黑" panose="020B0503020204020204" pitchFamily="34" charset="-122"/>
                <a:ea typeface="微软雅黑" panose="020B0503020204020204" pitchFamily="34" charset="-122"/>
              </a:rPr>
              <a:t>的数据率，可用于小范围内高速传送图像或 </a:t>
            </a:r>
            <a:r>
              <a:rPr lang="en-US" altLang="zh-CN" b="1" dirty="0">
                <a:latin typeface="微软雅黑" panose="020B0503020204020204" pitchFamily="34" charset="-122"/>
                <a:ea typeface="微软雅黑" panose="020B0503020204020204" pitchFamily="34" charset="-122"/>
              </a:rPr>
              <a:t>DVD </a:t>
            </a:r>
            <a:r>
              <a:rPr lang="zh-CN" altLang="en-US" b="1" dirty="0">
                <a:latin typeface="微软雅黑" panose="020B0503020204020204" pitchFamily="34" charset="-122"/>
                <a:ea typeface="微软雅黑" panose="020B0503020204020204" pitchFamily="34" charset="-122"/>
              </a:rPr>
              <a:t>质量的多媒体视频文件。 </a:t>
            </a:r>
            <a:endParaRPr lang="zh-CN" altLang="en-US"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604407" y="585623"/>
            <a:ext cx="19214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高速 </a:t>
            </a:r>
            <a:r>
              <a:rPr lang="en-US" altLang="zh-CN" sz="2000" b="1" dirty="0">
                <a:solidFill>
                  <a:schemeClr val="bg1"/>
                </a:solidFill>
                <a:latin typeface="微软雅黑" panose="020B0503020204020204" pitchFamily="34" charset="-122"/>
                <a:ea typeface="微软雅黑" panose="020B0503020204020204" pitchFamily="34" charset="-122"/>
              </a:rPr>
              <a:t>WPAN</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6" name="Rectangle 29"/>
          <p:cNvSpPr>
            <a:spLocks noChangeArrowheads="1"/>
          </p:cNvSpPr>
          <p:nvPr/>
        </p:nvSpPr>
        <p:spPr bwMode="auto">
          <a:xfrm>
            <a:off x="716986" y="134126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anose="020B0503020204020204" pitchFamily="34" charset="-122"/>
                <a:ea typeface="微软雅黑" panose="020B0503020204020204" pitchFamily="34" charset="-122"/>
              </a:rPr>
              <a:t>9.3</a:t>
            </a:r>
            <a:endParaRPr lang="fr-FR"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蜂窝移动通信网</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smtClean="0">
                <a:solidFill>
                  <a:schemeClr val="bg1"/>
                </a:solidFill>
                <a:latin typeface="微软雅黑" panose="020B0503020204020204" pitchFamily="34" charset="-122"/>
                <a:ea typeface="微软雅黑" panose="020B0503020204020204" pitchFamily="34" charset="-122"/>
              </a:rPr>
              <a:t>9.3.1  	</a:t>
            </a:r>
            <a:r>
              <a:rPr lang="en-US" altLang="zh-CN" sz="2000" b="1" dirty="0">
                <a:solidFill>
                  <a:schemeClr val="bg1"/>
                </a:solidFill>
                <a:latin typeface="微软雅黑" panose="020B0503020204020204" pitchFamily="34" charset="-122"/>
                <a:ea typeface="微软雅黑" panose="020B0503020204020204" pitchFamily="34" charset="-122"/>
              </a:rPr>
              <a:t>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蜂窝</a:t>
            </a:r>
            <a:r>
              <a:rPr lang="zh-CN" altLang="en-US" sz="2000" b="1" dirty="0">
                <a:solidFill>
                  <a:schemeClr val="bg1"/>
                </a:solidFill>
                <a:latin typeface="微软雅黑" panose="020B0503020204020204" pitchFamily="34" charset="-122"/>
                <a:ea typeface="微软雅黑" panose="020B0503020204020204" pitchFamily="34" charset="-122"/>
              </a:rPr>
              <a:t>无线通信技术的发展</a:t>
            </a:r>
            <a:r>
              <a:rPr lang="zh-CN" altLang="en-US" sz="2000" b="1" dirty="0" smtClean="0">
                <a:solidFill>
                  <a:schemeClr val="bg1"/>
                </a:solidFill>
                <a:latin typeface="微软雅黑" panose="020B0503020204020204" pitchFamily="34" charset="-122"/>
                <a:ea typeface="微软雅黑" panose="020B0503020204020204" pitchFamily="34" charset="-122"/>
              </a:rPr>
              <a:t>简介</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smtClean="0">
                <a:solidFill>
                  <a:schemeClr val="bg1"/>
                </a:solidFill>
                <a:latin typeface="微软雅黑" panose="020B0503020204020204" pitchFamily="34" charset="-122"/>
                <a:ea typeface="微软雅黑" panose="020B0503020204020204" pitchFamily="34" charset="-122"/>
              </a:rPr>
              <a:t>9.3.2  		</a:t>
            </a:r>
            <a:r>
              <a:rPr lang="en-US" altLang="zh-CN" sz="2000" b="1" dirty="0">
                <a:solidFill>
                  <a:schemeClr val="bg1"/>
                </a:solidFill>
                <a:latin typeface="微软雅黑" panose="020B0503020204020204" pitchFamily="34" charset="-122"/>
                <a:ea typeface="微软雅黑" panose="020B0503020204020204" pitchFamily="34" charset="-122"/>
              </a:rPr>
              <a:t> </a:t>
            </a:r>
            <a:r>
              <a:rPr lang="en-US" altLang="zh-CN" sz="2000" b="1" dirty="0" smtClean="0">
                <a:solidFill>
                  <a:schemeClr val="bg1"/>
                </a:solidFill>
                <a:latin typeface="微软雅黑" panose="020B0503020204020204" pitchFamily="34" charset="-122"/>
                <a:ea typeface="微软雅黑" panose="020B0503020204020204" pitchFamily="34" charset="-122"/>
              </a:rPr>
              <a:t>              LTE </a:t>
            </a:r>
            <a:r>
              <a:rPr lang="zh-CN" altLang="en-US" sz="2000" b="1" dirty="0" smtClean="0">
                <a:solidFill>
                  <a:schemeClr val="bg1"/>
                </a:solidFill>
                <a:latin typeface="微软雅黑" panose="020B0503020204020204" pitchFamily="34" charset="-122"/>
                <a:ea typeface="微软雅黑" panose="020B0503020204020204" pitchFamily="34" charset="-122"/>
              </a:rPr>
              <a:t>网络</a:t>
            </a:r>
            <a:r>
              <a:rPr lang="zh-CN" altLang="en-US" sz="2000" b="1" dirty="0">
                <a:solidFill>
                  <a:schemeClr val="bg1"/>
                </a:solidFill>
                <a:latin typeface="微软雅黑" panose="020B0503020204020204" pitchFamily="34" charset="-122"/>
                <a:ea typeface="微软雅黑" panose="020B0503020204020204" pitchFamily="34" charset="-122"/>
              </a:rPr>
              <a:t>与互联网的</a:t>
            </a:r>
            <a:r>
              <a:rPr lang="zh-CN" altLang="en-US" sz="2000" b="1" dirty="0" smtClean="0">
                <a:solidFill>
                  <a:schemeClr val="bg1"/>
                </a:solidFill>
                <a:latin typeface="微软雅黑" panose="020B0503020204020204" pitchFamily="34" charset="-122"/>
                <a:ea typeface="微软雅黑" panose="020B0503020204020204" pitchFamily="34" charset="-122"/>
              </a:rPr>
              <a:t>连</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9.3.</a:t>
            </a:r>
            <a:r>
              <a:rPr lang="zh-CN" altLang="en-US" sz="2400" b="1" dirty="0">
                <a:solidFill>
                  <a:schemeClr val="bg1"/>
                </a:solidFill>
                <a:latin typeface="微软雅黑" panose="020B0503020204020204" pitchFamily="34" charset="-122"/>
                <a:ea typeface="微软雅黑" panose="020B0503020204020204" pitchFamily="34" charset="-122"/>
              </a:rPr>
              <a:t> </a:t>
            </a:r>
            <a:r>
              <a:rPr lang="en-US" altLang="zh-CN" sz="2400" b="1" dirty="0">
                <a:solidFill>
                  <a:schemeClr val="bg1"/>
                </a:solidFill>
                <a:latin typeface="微软雅黑" panose="020B0503020204020204" pitchFamily="34" charset="-122"/>
                <a:ea typeface="微软雅黑" panose="020B0503020204020204" pitchFamily="34" charset="-122"/>
              </a:rPr>
              <a:t>1  </a:t>
            </a:r>
            <a:r>
              <a:rPr lang="zh-CN" altLang="en-US" sz="2400" b="1" dirty="0">
                <a:solidFill>
                  <a:schemeClr val="bg1"/>
                </a:solidFill>
                <a:latin typeface="微软雅黑" panose="020B0503020204020204" pitchFamily="34" charset="-122"/>
                <a:ea typeface="微软雅黑" panose="020B0503020204020204" pitchFamily="34" charset="-122"/>
              </a:rPr>
              <a:t>蜂</a:t>
            </a:r>
            <a:r>
              <a:rPr lang="zh-CN" altLang="en-US" sz="2400" b="1" dirty="0" smtClean="0">
                <a:solidFill>
                  <a:schemeClr val="bg1"/>
                </a:solidFill>
                <a:latin typeface="微软雅黑" panose="020B0503020204020204" pitchFamily="34" charset="-122"/>
                <a:ea typeface="微软雅黑" panose="020B0503020204020204" pitchFamily="34" charset="-122"/>
              </a:rPr>
              <a:t>窝</a:t>
            </a:r>
            <a:r>
              <a:rPr lang="zh-CN" altLang="en-US" sz="2400" b="1" dirty="0">
                <a:solidFill>
                  <a:schemeClr val="bg1"/>
                </a:solidFill>
                <a:latin typeface="微软雅黑" panose="020B0503020204020204" pitchFamily="34" charset="-122"/>
                <a:ea typeface="微软雅黑" panose="020B0503020204020204" pitchFamily="34" charset="-122"/>
              </a:rPr>
              <a:t>无线通信技术的发展</a:t>
            </a:r>
            <a:r>
              <a:rPr lang="zh-CN" altLang="en-US" sz="2400" b="1" dirty="0" smtClean="0">
                <a:solidFill>
                  <a:schemeClr val="bg1"/>
                </a:solidFill>
                <a:latin typeface="微软雅黑" panose="020B0503020204020204" pitchFamily="34" charset="-122"/>
                <a:ea typeface="微软雅黑" panose="020B0503020204020204" pitchFamily="34" charset="-122"/>
              </a:rPr>
              <a:t>简介 </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131085"/>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移动通信的种类很多，如蜂窝移动通信、卫星移动通信、集群移动通信、无绳电话通信</a:t>
            </a:r>
            <a:r>
              <a:rPr lang="zh-CN" altLang="en-US" sz="2000" b="1" dirty="0" smtClean="0">
                <a:latin typeface="微软雅黑" panose="020B0503020204020204" pitchFamily="34" charset="-122"/>
                <a:ea typeface="微软雅黑" panose="020B0503020204020204" pitchFamily="34" charset="-122"/>
              </a:rPr>
              <a:t>等</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蜂窝</a:t>
            </a:r>
            <a:r>
              <a:rPr lang="zh-CN" altLang="en-US" sz="2000" b="1" dirty="0">
                <a:latin typeface="微软雅黑" panose="020B0503020204020204" pitchFamily="34" charset="-122"/>
                <a:ea typeface="微软雅黑" panose="020B0503020204020204" pitchFamily="34" charset="-122"/>
              </a:rPr>
              <a:t>移动网络的发展非常迅速</a:t>
            </a:r>
            <a:r>
              <a:rPr lang="zh-CN" altLang="en-US" sz="2000" b="1" dirty="0" smtClean="0">
                <a:latin typeface="微软雅黑" panose="020B0503020204020204" pitchFamily="34" charset="-122"/>
                <a:ea typeface="微软雅黑" panose="020B0503020204020204" pitchFamily="34" charset="-122"/>
              </a:rPr>
              <a:t>，其</a:t>
            </a:r>
            <a:r>
              <a:rPr lang="zh-CN" altLang="en-US" sz="2000" b="1" dirty="0">
                <a:latin typeface="微软雅黑" panose="020B0503020204020204" pitchFamily="34" charset="-122"/>
                <a:ea typeface="微软雅黑" panose="020B0503020204020204" pitchFamily="34" charset="-122"/>
              </a:rPr>
              <a:t>信号的</a:t>
            </a:r>
            <a:r>
              <a:rPr lang="zh-CN" altLang="en-US" sz="2000" b="1" dirty="0">
                <a:solidFill>
                  <a:srgbClr val="C00000"/>
                </a:solidFill>
                <a:latin typeface="微软雅黑" panose="020B0503020204020204" pitchFamily="34" charset="-122"/>
                <a:ea typeface="微软雅黑" panose="020B0503020204020204" pitchFamily="34" charset="-122"/>
              </a:rPr>
              <a:t>覆盖面</a:t>
            </a:r>
            <a:r>
              <a:rPr lang="zh-CN" altLang="en-US" sz="2000" b="1" dirty="0">
                <a:latin typeface="微软雅黑" panose="020B0503020204020204" pitchFamily="34" charset="-122"/>
                <a:ea typeface="微软雅黑" panose="020B0503020204020204" pitchFamily="34" charset="-122"/>
              </a:rPr>
              <a:t>已远远超过 </a:t>
            </a:r>
            <a:r>
              <a:rPr lang="en-US" altLang="zh-CN" sz="2000" b="1" dirty="0">
                <a:latin typeface="微软雅黑" panose="020B0503020204020204" pitchFamily="34" charset="-122"/>
                <a:ea typeface="微软雅黑" panose="020B0503020204020204" pitchFamily="34" charset="-122"/>
              </a:rPr>
              <a:t>Wi-Fi </a:t>
            </a:r>
            <a:r>
              <a:rPr lang="zh-CN" altLang="en-US" sz="2000" b="1" dirty="0">
                <a:latin typeface="微软雅黑" panose="020B0503020204020204" pitchFamily="34" charset="-122"/>
                <a:ea typeface="微软雅黑" panose="020B0503020204020204" pitchFamily="34" charset="-122"/>
              </a:rPr>
              <a:t>无线局域网的覆盖面。</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随着技术的发展，使用蜂窝无线通信进行电话通信的</a:t>
            </a:r>
            <a:r>
              <a:rPr lang="zh-CN" altLang="en-US" sz="2000" b="1" dirty="0">
                <a:solidFill>
                  <a:srgbClr val="C00000"/>
                </a:solidFill>
                <a:latin typeface="微软雅黑" panose="020B0503020204020204" pitchFamily="34" charset="-122"/>
                <a:ea typeface="微软雅黑" panose="020B0503020204020204" pitchFamily="34" charset="-122"/>
              </a:rPr>
              <a:t>手机</a:t>
            </a:r>
            <a:r>
              <a:rPr lang="zh-CN" altLang="en-US" sz="2000" b="1" dirty="0">
                <a:latin typeface="微软雅黑" panose="020B0503020204020204" pitchFamily="34" charset="-122"/>
                <a:ea typeface="微软雅黑" panose="020B0503020204020204" pitchFamily="34" charset="-122"/>
              </a:rPr>
              <a:t>已经发展成为接入到互联网最主要的用户设备。</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在移动的环境下，蜂窝无线通信网已经</a:t>
            </a:r>
            <a:r>
              <a:rPr lang="zh-CN" altLang="en-US" sz="2000" b="1" dirty="0" smtClean="0">
                <a:latin typeface="微软雅黑" panose="020B0503020204020204" pitchFamily="34" charset="-122"/>
                <a:ea typeface="微软雅黑" panose="020B0503020204020204" pitchFamily="34" charset="-122"/>
              </a:rPr>
              <a:t>成为不可或缺</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C00000"/>
                </a:solidFill>
                <a:latin typeface="微软雅黑" panose="020B0503020204020204" pitchFamily="34" charset="-122"/>
                <a:ea typeface="微软雅黑" panose="020B0503020204020204" pitchFamily="34" charset="-122"/>
              </a:rPr>
              <a:t>接入网</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第一代 </a:t>
            </a:r>
            <a:r>
              <a:rPr lang="en-US" altLang="zh-CN" sz="2000" b="1" dirty="0" smtClean="0">
                <a:latin typeface="微软雅黑" panose="020B0503020204020204" pitchFamily="34" charset="-122"/>
                <a:ea typeface="微软雅黑" panose="020B0503020204020204" pitchFamily="34" charset="-122"/>
              </a:rPr>
              <a:t>(1G) </a:t>
            </a:r>
            <a:r>
              <a:rPr lang="zh-CN" altLang="en-US" sz="2000" b="1" dirty="0" smtClean="0">
                <a:latin typeface="微软雅黑" panose="020B0503020204020204" pitchFamily="34" charset="-122"/>
                <a:ea typeface="微软雅黑" panose="020B0503020204020204" pitchFamily="34" charset="-122"/>
              </a:rPr>
              <a:t>蜂窝移动通信系统</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1978 </a:t>
            </a:r>
            <a:r>
              <a:rPr lang="zh-CN" altLang="en-US" sz="2000" b="1" dirty="0">
                <a:latin typeface="微软雅黑" panose="020B0503020204020204" pitchFamily="34" charset="-122"/>
                <a:ea typeface="微软雅黑" panose="020B0503020204020204" pitchFamily="34" charset="-122"/>
              </a:rPr>
              <a:t>年底问世。</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模拟技术</a:t>
            </a:r>
            <a:r>
              <a:rPr lang="zh-CN" altLang="en-US" sz="2000" b="1" dirty="0">
                <a:latin typeface="微软雅黑" panose="020B0503020204020204" pitchFamily="34" charset="-122"/>
                <a:ea typeface="微软雅黑" panose="020B0503020204020204" pitchFamily="34" charset="-122"/>
              </a:rPr>
              <a:t>和传统的</a:t>
            </a:r>
            <a:r>
              <a:rPr lang="zh-CN" altLang="en-US" sz="2000" b="1" dirty="0">
                <a:solidFill>
                  <a:srgbClr val="C00000"/>
                </a:solidFill>
                <a:latin typeface="微软雅黑" panose="020B0503020204020204" pitchFamily="34" charset="-122"/>
                <a:ea typeface="微软雅黑" panose="020B0503020204020204" pitchFamily="34" charset="-122"/>
              </a:rPr>
              <a:t>电路交换</a:t>
            </a:r>
            <a:r>
              <a:rPr lang="zh-CN" altLang="en-US" sz="2000" b="1" dirty="0">
                <a:latin typeface="微软雅黑" panose="020B0503020204020204" pitchFamily="34" charset="-122"/>
                <a:ea typeface="微软雅黑" panose="020B0503020204020204" pitchFamily="34" charset="-122"/>
              </a:rPr>
              <a:t>及</a:t>
            </a:r>
            <a:r>
              <a:rPr lang="zh-CN" altLang="en-US" sz="2000" b="1" dirty="0">
                <a:solidFill>
                  <a:srgbClr val="C00000"/>
                </a:solidFill>
                <a:latin typeface="微软雅黑" panose="020B0503020204020204" pitchFamily="34" charset="-122"/>
                <a:ea typeface="微软雅黑" panose="020B0503020204020204" pitchFamily="34" charset="-122"/>
              </a:rPr>
              <a:t>频分多址 </a:t>
            </a:r>
            <a:r>
              <a:rPr lang="en-US" altLang="zh-CN" sz="2000" b="1" dirty="0">
                <a:solidFill>
                  <a:srgbClr val="C00000"/>
                </a:solidFill>
                <a:latin typeface="微软雅黑" panose="020B0503020204020204" pitchFamily="34" charset="-122"/>
                <a:ea typeface="微软雅黑" panose="020B0503020204020204" pitchFamily="34" charset="-122"/>
              </a:rPr>
              <a:t>FDMA </a:t>
            </a:r>
            <a:r>
              <a:rPr lang="zh-CN" altLang="en-US" sz="2000" b="1" dirty="0">
                <a:latin typeface="微软雅黑" panose="020B0503020204020204" pitchFamily="34" charset="-122"/>
                <a:ea typeface="微软雅黑" panose="020B0503020204020204" pitchFamily="34" charset="-122"/>
              </a:rPr>
              <a:t>提供电话服务。</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移动通信系统的手机相当笨重（俗称大哥大）。</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35693" y="585623"/>
            <a:ext cx="30588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蜂窝移动通信系统问世</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第二代</a:t>
            </a:r>
            <a:r>
              <a:rPr lang="zh-CN" altLang="en-US" sz="2000" b="1" dirty="0" smtClean="0">
                <a:solidFill>
                  <a:srgbClr val="0000CC"/>
                </a:solidFill>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(2G) </a:t>
            </a:r>
            <a:r>
              <a:rPr lang="zh-CN" altLang="en-US" sz="2000" b="1" dirty="0" smtClean="0">
                <a:latin typeface="微软雅黑" panose="020B0503020204020204" pitchFamily="34" charset="-122"/>
                <a:ea typeface="微软雅黑" panose="020B0503020204020204" pitchFamily="34" charset="-122"/>
              </a:rPr>
              <a:t>蜂窝移动通信系统</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smtClean="0">
                <a:latin typeface="微软雅黑" panose="020B0503020204020204" pitchFamily="34" charset="-122"/>
                <a:ea typeface="微软雅黑" panose="020B0503020204020204" pitchFamily="34" charset="-122"/>
              </a:rPr>
              <a:t>1990 </a:t>
            </a:r>
            <a:r>
              <a:rPr lang="zh-CN" altLang="en-US" sz="2000" b="1" dirty="0" smtClean="0">
                <a:latin typeface="微软雅黑" panose="020B0503020204020204" pitchFamily="34" charset="-122"/>
                <a:ea typeface="微软雅黑" panose="020B0503020204020204" pitchFamily="34" charset="-122"/>
              </a:rPr>
              <a:t>年</a:t>
            </a:r>
            <a:r>
              <a:rPr lang="zh-CN" altLang="en-US" sz="2000" b="1" dirty="0">
                <a:latin typeface="微软雅黑" panose="020B0503020204020204" pitchFamily="34" charset="-122"/>
                <a:ea typeface="微软雅黑" panose="020B0503020204020204" pitchFamily="34" charset="-122"/>
              </a:rPr>
              <a:t>后</a:t>
            </a:r>
            <a:r>
              <a:rPr lang="zh-CN" altLang="en-US" sz="2000" b="1" dirty="0" smtClean="0">
                <a:latin typeface="微软雅黑" panose="020B0503020204020204" pitchFamily="34" charset="-122"/>
                <a:ea typeface="微软雅黑" panose="020B0503020204020204" pitchFamily="34" charset="-122"/>
              </a:rPr>
              <a:t>开始。</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smtClean="0">
                <a:solidFill>
                  <a:srgbClr val="C00000"/>
                </a:solidFill>
                <a:latin typeface="微软雅黑" panose="020B0503020204020204" pitchFamily="34" charset="-122"/>
                <a:ea typeface="微软雅黑" panose="020B0503020204020204" pitchFamily="34" charset="-122"/>
              </a:rPr>
              <a:t>基于</a:t>
            </a:r>
            <a:r>
              <a:rPr lang="zh-CN" altLang="en-US" sz="2000" b="1" dirty="0">
                <a:solidFill>
                  <a:srgbClr val="C00000"/>
                </a:solidFill>
                <a:latin typeface="微软雅黑" panose="020B0503020204020204" pitchFamily="34" charset="-122"/>
                <a:ea typeface="微软雅黑" panose="020B0503020204020204" pitchFamily="34" charset="-122"/>
              </a:rPr>
              <a:t>数字</a:t>
            </a:r>
            <a:r>
              <a:rPr lang="zh-CN" altLang="en-US" sz="2000" b="1" dirty="0" smtClean="0">
                <a:solidFill>
                  <a:srgbClr val="C00000"/>
                </a:solidFill>
                <a:latin typeface="微软雅黑" panose="020B0503020204020204" pitchFamily="34" charset="-122"/>
                <a:ea typeface="微软雅黑" panose="020B0503020204020204" pitchFamily="34" charset="-122"/>
              </a:rPr>
              <a:t>技术。</a:t>
            </a:r>
            <a:endParaRPr lang="en-US" altLang="zh-CN" sz="2000" b="1" dirty="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anose="020B0503020204020204" pitchFamily="34" charset="-122"/>
                <a:ea typeface="微软雅黑" panose="020B0503020204020204" pitchFamily="34" charset="-122"/>
              </a:rPr>
              <a:t>代表：</a:t>
            </a:r>
            <a:r>
              <a:rPr lang="zh-CN" altLang="en-US" sz="2000" b="1" dirty="0">
                <a:latin typeface="微软雅黑" panose="020B0503020204020204" pitchFamily="34" charset="-122"/>
                <a:ea typeface="微软雅黑" panose="020B0503020204020204" pitchFamily="34" charset="-122"/>
              </a:rPr>
              <a:t>欧洲提出的 </a:t>
            </a:r>
            <a:r>
              <a:rPr lang="en-US" altLang="zh-CN" sz="2000" b="1" dirty="0">
                <a:solidFill>
                  <a:srgbClr val="C00000"/>
                </a:solidFill>
                <a:latin typeface="微软雅黑" panose="020B0503020204020204" pitchFamily="34" charset="-122"/>
                <a:ea typeface="微软雅黑" panose="020B0503020204020204" pitchFamily="34" charset="-122"/>
              </a:rPr>
              <a:t>GSM</a:t>
            </a:r>
            <a:r>
              <a:rPr lang="en-US" altLang="zh-CN" sz="2000" b="1" dirty="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系统等。</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0"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en-US" altLang="zh-CN" sz="2000" b="1" dirty="0" smtClean="0">
                <a:solidFill>
                  <a:schemeClr val="bg1"/>
                </a:solidFill>
                <a:latin typeface="微软雅黑" panose="020B0503020204020204" pitchFamily="34" charset="-122"/>
                <a:ea typeface="微软雅黑" panose="020B0503020204020204" pitchFamily="34" charset="-122"/>
              </a:rPr>
              <a:t>2G </a:t>
            </a:r>
            <a:r>
              <a:rPr lang="zh-CN" altLang="en-US" sz="2000" b="1" dirty="0" smtClean="0">
                <a:solidFill>
                  <a:schemeClr val="bg1"/>
                </a:solidFill>
                <a:latin typeface="微软雅黑" panose="020B0503020204020204" pitchFamily="34" charset="-122"/>
                <a:ea typeface="微软雅黑" panose="020B0503020204020204" pitchFamily="34" charset="-122"/>
              </a:rPr>
              <a:t>蜂窝</a:t>
            </a:r>
            <a:r>
              <a:rPr lang="zh-CN" altLang="en-US" sz="2000" b="1" dirty="0">
                <a:solidFill>
                  <a:schemeClr val="bg1"/>
                </a:solidFill>
                <a:latin typeface="微软雅黑" panose="020B0503020204020204" pitchFamily="34" charset="-122"/>
                <a:ea typeface="微软雅黑" panose="020B0503020204020204" pitchFamily="34" charset="-122"/>
              </a:rPr>
              <a:t>移动通信系统</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GSM </a:t>
            </a:r>
            <a:r>
              <a:rPr lang="en-US" altLang="zh-CN" sz="2000" b="1" dirty="0" smtClean="0">
                <a:latin typeface="微软雅黑" panose="020B0503020204020204" pitchFamily="34" charset="-122"/>
                <a:ea typeface="微软雅黑" panose="020B0503020204020204" pitchFamily="34" charset="-122"/>
              </a:rPr>
              <a:t>2G </a:t>
            </a:r>
            <a:r>
              <a:rPr lang="zh-CN" altLang="en-US" sz="2000" b="1" dirty="0" smtClean="0">
                <a:latin typeface="微软雅黑" panose="020B0503020204020204" pitchFamily="34" charset="-122"/>
                <a:ea typeface="微软雅黑" panose="020B0503020204020204" pitchFamily="34" charset="-122"/>
              </a:rPr>
              <a:t>蜂窝</a:t>
            </a:r>
            <a:r>
              <a:rPr lang="zh-CN" altLang="en-US" sz="2000" b="1" dirty="0">
                <a:latin typeface="微软雅黑" panose="020B0503020204020204" pitchFamily="34" charset="-122"/>
                <a:ea typeface="微软雅黑" panose="020B0503020204020204" pitchFamily="34" charset="-122"/>
              </a:rPr>
              <a:t>通信系统的重要组成构件</a:t>
            </a:r>
            <a:endParaRPr lang="zh-CN" altLang="en-US" sz="2000" b="1" dirty="0">
              <a:latin typeface="微软雅黑" panose="020B0503020204020204" pitchFamily="34" charset="-122"/>
              <a:ea typeface="微软雅黑" panose="020B0503020204020204" pitchFamily="34" charset="-122"/>
            </a:endParaRPr>
          </a:p>
        </p:txBody>
      </p:sp>
      <p:sp>
        <p:nvSpPr>
          <p:cNvPr id="9" name="Freeform 510"/>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p:nvPr/>
          </p:nvGrpSpPr>
          <p:grpSpPr bwMode="auto">
            <a:xfrm>
              <a:off x="3526293" y="1361727"/>
              <a:ext cx="379451" cy="444929"/>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2821365" y="1661006"/>
              <a:ext cx="379452" cy="444929"/>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3526506" y="1952697"/>
              <a:ext cx="379452" cy="444929"/>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4184684" y="1653420"/>
              <a:ext cx="379451" cy="444929"/>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2850741" y="2244389"/>
              <a:ext cx="379451" cy="444929"/>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3526293" y="2610211"/>
              <a:ext cx="379451" cy="444929"/>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4184472" y="2244389"/>
              <a:ext cx="379452" cy="444929"/>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2013643" y="2687449"/>
          <a:ext cx="620840" cy="262684"/>
        </p:xfrm>
        <a:graphic>
          <a:graphicData uri="http://schemas.openxmlformats.org/presentationml/2006/ole">
            <mc:AlternateContent xmlns:mc="http://schemas.openxmlformats.org/markup-compatibility/2006">
              <mc:Choice xmlns:v="urn:schemas-microsoft-com:vml" Requires="v">
                <p:oleObj spid="_x0000_s13313" name="Microsoft ClipArt Gallery" r:id="rId2" imgW="53035200" imgH="20888325" progId="">
                  <p:embed/>
                </p:oleObj>
              </mc:Choice>
              <mc:Fallback>
                <p:oleObj name="Microsoft ClipArt Gallery" r:id="rId2" imgW="53035200" imgH="20888325" progId="">
                  <p:embed/>
                  <p:pic>
                    <p:nvPicPr>
                      <p:cNvPr id="0" name="图片 13312"/>
                      <p:cNvPicPr/>
                      <p:nvPr/>
                    </p:nvPicPr>
                    <p:blipFill>
                      <a:blip r:embed="rId3"/>
                      <a:stretch>
                        <a:fillRect/>
                      </a:stretch>
                    </p:blipFill>
                    <p:spPr>
                      <a:xfrm>
                        <a:off x="2013643" y="2687449"/>
                        <a:ext cx="620840" cy="262684"/>
                      </a:xfrm>
                      <a:prstGeom prst="rect">
                        <a:avLst/>
                      </a:prstGeom>
                      <a:noFill/>
                      <a:ln w="12700">
                        <a:noFill/>
                      </a:ln>
                    </p:spPr>
                  </p:pic>
                </p:oleObj>
              </mc:Fallback>
            </mc:AlternateContent>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grpSp>
        <p:nvGrpSpPr>
          <p:cNvPr id="334" name="组合 333"/>
          <p:cNvGrpSpPr/>
          <p:nvPr/>
        </p:nvGrpSpPr>
        <p:grpSpPr>
          <a:xfrm>
            <a:off x="5585674" y="2755622"/>
            <a:ext cx="2771944" cy="495738"/>
            <a:chOff x="6360915" y="2896300"/>
            <a:chExt cx="2771944" cy="495738"/>
          </a:xfrm>
        </p:grpSpPr>
        <p:grpSp>
          <p:nvGrpSpPr>
            <p:cNvPr id="252" name="Group 499"/>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p:nvPr/>
          </p:nvGrpSpPr>
          <p:grpSpPr bwMode="auto">
            <a:xfrm>
              <a:off x="7317143" y="2956602"/>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endParaRPr kumimoji="1" lang="zh-CN" altLang="en-US" sz="1200" b="1">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endParaRPr kumimoji="1" lang="zh-CN" altLang="en-US"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8120584" y="3156268"/>
            <a:ext cx="331914" cy="174205"/>
          </p:xfrm>
          <a:graphic>
            <a:graphicData uri="http://schemas.openxmlformats.org/presentationml/2006/ole">
              <mc:AlternateContent xmlns:mc="http://schemas.openxmlformats.org/markup-compatibility/2006">
                <mc:Choice xmlns:v="urn:schemas-microsoft-com:vml" Requires="v">
                  <p:oleObj spid="_x0000_s13314" name="Microsoft ClipArt Gallery" r:id="rId5" imgW="53035200" imgH="20888325" progId="">
                    <p:embed/>
                  </p:oleObj>
                </mc:Choice>
                <mc:Fallback>
                  <p:oleObj name="Microsoft ClipArt Gallery" r:id="rId5" imgW="53035200" imgH="20888325" progId="">
                    <p:embed/>
                    <p:pic>
                      <p:nvPicPr>
                        <p:cNvPr id="0" name="图片 13313"/>
                        <p:cNvPicPr/>
                        <p:nvPr/>
                      </p:nvPicPr>
                      <p:blipFill>
                        <a:blip r:embed="rId3"/>
                        <a:stretch>
                          <a:fillRect/>
                        </a:stretch>
                      </p:blipFill>
                      <p:spPr>
                        <a:xfrm>
                          <a:off x="8120584" y="3156268"/>
                          <a:ext cx="331914" cy="174205"/>
                        </a:xfrm>
                        <a:prstGeom prst="rect">
                          <a:avLst/>
                        </a:prstGeom>
                        <a:noFill/>
                        <a:ln w="12700">
                          <a:noFill/>
                        </a:ln>
                      </p:spPr>
                    </p:pic>
                  </p:oleObj>
                </mc:Fallback>
              </mc:AlternateContent>
            </a:graphicData>
          </a:graphic>
        </p:graphicFrame>
      </p:grpSp>
      <p:sp>
        <p:nvSpPr>
          <p:cNvPr id="3" name="矩形 2"/>
          <p:cNvSpPr/>
          <p:nvPr/>
        </p:nvSpPr>
        <p:spPr>
          <a:xfrm>
            <a:off x="1025781" y="3366551"/>
            <a:ext cx="7426010" cy="1015663"/>
          </a:xfrm>
          <a:prstGeom prst="rect">
            <a:avLst/>
          </a:prstGeom>
        </p:spPr>
        <p:txBody>
          <a:bodyPr wrap="square">
            <a:spAutoFit/>
          </a:bodyPr>
          <a:lstStyle/>
          <a:p>
            <a:pPr>
              <a:lnSpc>
                <a:spcPts val="2400"/>
              </a:lnSpc>
            </a:pPr>
            <a:r>
              <a:rPr lang="zh-CN"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小区</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smtClean="0">
                <a:solidFill>
                  <a:srgbClr val="C00000"/>
                </a:solidFill>
                <a:latin typeface="微软雅黑" panose="020B0503020204020204" pitchFamily="34" charset="-122"/>
                <a:ea typeface="微软雅黑" panose="020B0503020204020204" pitchFamily="34" charset="-122"/>
              </a:rPr>
              <a:t>cell)</a:t>
            </a:r>
            <a:r>
              <a:rPr lang="zh-CN" altLang="en-US" sz="1600" b="1" kern="500" dirty="0" smtClean="0">
                <a:solidFill>
                  <a:srgbClr val="C00000"/>
                </a:solidFill>
                <a:latin typeface="微软雅黑" panose="020B0503020204020204" pitchFamily="34" charset="-122"/>
                <a:ea typeface="微软雅黑" panose="020B0503020204020204" pitchFamily="34" charset="-122"/>
              </a:rPr>
              <a:t>：</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整个</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网络服务区划分成</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许多小区</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即</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蜂窝</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a:t>
            </a:r>
            <a:r>
              <a:rPr lang="zh-CN"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站</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每个</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小区设置一</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个，</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覆盖</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小区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与本小区各个移动站的联络和控制</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移动站的发送或接收都必须经过基站完成，因此基站又称为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收发基站。</a:t>
            </a:r>
            <a:endParaRPr lang="zh-CN" altLang="en-US" sz="1600" b="1" dirty="0">
              <a:solidFill>
                <a:srgbClr val="00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35" presetClass="emph" presetSubtype="0" repeatCount="3000" fill="hold" nodeType="withEffect">
                                  <p:stCondLst>
                                    <p:cond delay="0"/>
                                  </p:stCondLst>
                                  <p:childTnLst>
                                    <p:anim calcmode="discrete" valueType="str">
                                      <p:cBhvr>
                                        <p:cTn id="1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GSM </a:t>
            </a:r>
            <a:r>
              <a:rPr lang="en-US" altLang="zh-CN" sz="2000" b="1" dirty="0" smtClean="0">
                <a:latin typeface="微软雅黑" panose="020B0503020204020204" pitchFamily="34" charset="-122"/>
                <a:ea typeface="微软雅黑" panose="020B0503020204020204" pitchFamily="34" charset="-122"/>
              </a:rPr>
              <a:t>2G </a:t>
            </a:r>
            <a:r>
              <a:rPr lang="zh-CN" altLang="en-US" sz="2000" b="1" dirty="0" smtClean="0">
                <a:latin typeface="微软雅黑" panose="020B0503020204020204" pitchFamily="34" charset="-122"/>
                <a:ea typeface="微软雅黑" panose="020B0503020204020204" pitchFamily="34" charset="-122"/>
              </a:rPr>
              <a:t>蜂窝</a:t>
            </a:r>
            <a:r>
              <a:rPr lang="zh-CN" altLang="en-US" sz="2000" b="1" dirty="0">
                <a:latin typeface="微软雅黑" panose="020B0503020204020204" pitchFamily="34" charset="-122"/>
                <a:ea typeface="微软雅黑" panose="020B0503020204020204" pitchFamily="34" charset="-122"/>
              </a:rPr>
              <a:t>通信系统的重要组成构件</a:t>
            </a:r>
            <a:endParaRPr lang="zh-CN" altLang="en-US" sz="2000" b="1" dirty="0">
              <a:latin typeface="微软雅黑" panose="020B0503020204020204" pitchFamily="34" charset="-122"/>
              <a:ea typeface="微软雅黑" panose="020B0503020204020204" pitchFamily="34" charset="-122"/>
            </a:endParaRPr>
          </a:p>
        </p:txBody>
      </p:sp>
      <p:sp>
        <p:nvSpPr>
          <p:cNvPr id="9" name="Freeform 510"/>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p:nvPr/>
          </p:nvGrpSpPr>
          <p:grpSpPr bwMode="auto">
            <a:xfrm>
              <a:off x="3526293" y="1361727"/>
              <a:ext cx="379451" cy="444929"/>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2821365" y="1661006"/>
              <a:ext cx="379452" cy="444929"/>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3526506" y="1952697"/>
              <a:ext cx="379452" cy="444929"/>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4184684" y="1653420"/>
              <a:ext cx="379451" cy="444929"/>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2850741" y="2244389"/>
              <a:ext cx="379451" cy="444929"/>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3526293" y="2610211"/>
              <a:ext cx="379451" cy="444929"/>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4184472" y="2244389"/>
              <a:ext cx="379452" cy="444929"/>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2013643" y="2687449"/>
          <a:ext cx="620840" cy="262684"/>
        </p:xfrm>
        <a:graphic>
          <a:graphicData uri="http://schemas.openxmlformats.org/presentationml/2006/ole">
            <mc:AlternateContent xmlns:mc="http://schemas.openxmlformats.org/markup-compatibility/2006">
              <mc:Choice xmlns:v="urn:schemas-microsoft-com:vml" Requires="v">
                <p:oleObj spid="_x0000_s14337" name="Microsoft ClipArt Gallery" r:id="rId2" imgW="53035200" imgH="20888325" progId="">
                  <p:embed/>
                </p:oleObj>
              </mc:Choice>
              <mc:Fallback>
                <p:oleObj name="Microsoft ClipArt Gallery" r:id="rId2" imgW="53035200" imgH="20888325" progId="">
                  <p:embed/>
                  <p:pic>
                    <p:nvPicPr>
                      <p:cNvPr id="0" name="图片 14336"/>
                      <p:cNvPicPr/>
                      <p:nvPr/>
                    </p:nvPicPr>
                    <p:blipFill>
                      <a:blip r:embed="rId3"/>
                      <a:stretch>
                        <a:fillRect/>
                      </a:stretch>
                    </p:blipFill>
                    <p:spPr>
                      <a:xfrm>
                        <a:off x="2013643" y="2687449"/>
                        <a:ext cx="620840" cy="262684"/>
                      </a:xfrm>
                      <a:prstGeom prst="rect">
                        <a:avLst/>
                      </a:prstGeom>
                      <a:noFill/>
                      <a:ln w="12700">
                        <a:noFill/>
                      </a:ln>
                    </p:spPr>
                  </p:pic>
                </p:oleObj>
              </mc:Fallback>
            </mc:AlternateContent>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grpSp>
        <p:nvGrpSpPr>
          <p:cNvPr id="334" name="组合 333"/>
          <p:cNvGrpSpPr/>
          <p:nvPr/>
        </p:nvGrpSpPr>
        <p:grpSpPr>
          <a:xfrm>
            <a:off x="5585674" y="2755622"/>
            <a:ext cx="2771944" cy="495738"/>
            <a:chOff x="6360915" y="2896300"/>
            <a:chExt cx="2771944" cy="495738"/>
          </a:xfrm>
        </p:grpSpPr>
        <p:grpSp>
          <p:nvGrpSpPr>
            <p:cNvPr id="252" name="Group 499"/>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p:nvPr/>
          </p:nvGrpSpPr>
          <p:grpSpPr bwMode="auto">
            <a:xfrm>
              <a:off x="7317143" y="2956602"/>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endParaRPr kumimoji="1" lang="zh-CN" altLang="en-US" sz="1200" b="1">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endParaRPr kumimoji="1" lang="zh-CN" altLang="en-US"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8120584" y="3156268"/>
            <a:ext cx="331914" cy="174205"/>
          </p:xfrm>
          <a:graphic>
            <a:graphicData uri="http://schemas.openxmlformats.org/presentationml/2006/ole">
              <mc:AlternateContent xmlns:mc="http://schemas.openxmlformats.org/markup-compatibility/2006">
                <mc:Choice xmlns:v="urn:schemas-microsoft-com:vml" Requires="v">
                  <p:oleObj spid="_x0000_s14338" name="Microsoft ClipArt Gallery" r:id="rId5" imgW="53035200" imgH="20888325" progId="">
                    <p:embed/>
                  </p:oleObj>
                </mc:Choice>
                <mc:Fallback>
                  <p:oleObj name="Microsoft ClipArt Gallery" r:id="rId5" imgW="53035200" imgH="20888325" progId="">
                    <p:embed/>
                    <p:pic>
                      <p:nvPicPr>
                        <p:cNvPr id="0" name="图片 14337"/>
                        <p:cNvPicPr/>
                        <p:nvPr/>
                      </p:nvPicPr>
                      <p:blipFill>
                        <a:blip r:embed="rId3"/>
                        <a:stretch>
                          <a:fillRect/>
                        </a:stretch>
                      </p:blipFill>
                      <p:spPr>
                        <a:xfrm>
                          <a:off x="8120584" y="3156268"/>
                          <a:ext cx="331914" cy="174205"/>
                        </a:xfrm>
                        <a:prstGeom prst="rect">
                          <a:avLst/>
                        </a:prstGeom>
                        <a:noFill/>
                        <a:ln w="12700">
                          <a:noFill/>
                        </a:ln>
                      </p:spPr>
                    </p:pic>
                  </p:oleObj>
                </mc:Fallback>
              </mc:AlternateContent>
            </a:graphicData>
          </a:graphic>
        </p:graphicFrame>
      </p:grpSp>
      <p:grpSp>
        <p:nvGrpSpPr>
          <p:cNvPr id="341" name="组合 340"/>
          <p:cNvGrpSpPr/>
          <p:nvPr/>
        </p:nvGrpSpPr>
        <p:grpSpPr>
          <a:xfrm>
            <a:off x="1419353" y="1023383"/>
            <a:ext cx="991108" cy="818913"/>
            <a:chOff x="1419353" y="1023383"/>
            <a:chExt cx="991108" cy="818913"/>
          </a:xfrm>
        </p:grpSpPr>
        <p:cxnSp>
          <p:nvCxnSpPr>
            <p:cNvPr id="335" name="直接连接符 334"/>
            <p:cNvCxnSpPr/>
            <p:nvPr/>
          </p:nvCxnSpPr>
          <p:spPr>
            <a:xfrm>
              <a:off x="2408063" y="1327568"/>
              <a:ext cx="2398" cy="514728"/>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6" name="Text Box 541"/>
            <p:cNvSpPr txBox="1">
              <a:spLocks noChangeArrowheads="1"/>
            </p:cNvSpPr>
            <p:nvPr/>
          </p:nvSpPr>
          <p:spPr bwMode="auto">
            <a:xfrm>
              <a:off x="1419353" y="1023383"/>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cxnSp>
          <p:nvCxnSpPr>
            <p:cNvPr id="337" name="直接箭头连接符 336"/>
            <p:cNvCxnSpPr/>
            <p:nvPr/>
          </p:nvCxnSpPr>
          <p:spPr>
            <a:xfrm>
              <a:off x="2105737" y="1255712"/>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350" name="组合 349"/>
          <p:cNvGrpSpPr/>
          <p:nvPr/>
        </p:nvGrpSpPr>
        <p:grpSpPr>
          <a:xfrm>
            <a:off x="2550740" y="1529535"/>
            <a:ext cx="1395817" cy="1431390"/>
            <a:chOff x="1461734" y="1591717"/>
            <a:chExt cx="1395817" cy="1431390"/>
          </a:xfrm>
        </p:grpSpPr>
        <p:sp>
          <p:nvSpPr>
            <p:cNvPr id="351" name="Text Box 509"/>
            <p:cNvSpPr txBox="1">
              <a:spLocks noChangeArrowheads="1"/>
            </p:cNvSpPr>
            <p:nvPr/>
          </p:nvSpPr>
          <p:spPr bwMode="auto">
            <a:xfrm>
              <a:off x="2141376" y="212229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2" name="Text Box 509"/>
            <p:cNvSpPr txBox="1">
              <a:spLocks noChangeArrowheads="1"/>
            </p:cNvSpPr>
            <p:nvPr/>
          </p:nvSpPr>
          <p:spPr bwMode="auto">
            <a:xfrm>
              <a:off x="1479393" y="2413074"/>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3" name="Text Box 509"/>
            <p:cNvSpPr txBox="1">
              <a:spLocks noChangeArrowheads="1"/>
            </p:cNvSpPr>
            <p:nvPr/>
          </p:nvSpPr>
          <p:spPr bwMode="auto">
            <a:xfrm>
              <a:off x="2453208" y="1823180"/>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4" name="Text Box 509"/>
            <p:cNvSpPr txBox="1">
              <a:spLocks noChangeArrowheads="1"/>
            </p:cNvSpPr>
            <p:nvPr/>
          </p:nvSpPr>
          <p:spPr bwMode="auto">
            <a:xfrm>
              <a:off x="1461734" y="1866294"/>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5" name="Text Box 509"/>
            <p:cNvSpPr txBox="1">
              <a:spLocks noChangeArrowheads="1"/>
            </p:cNvSpPr>
            <p:nvPr/>
          </p:nvSpPr>
          <p:spPr bwMode="auto">
            <a:xfrm>
              <a:off x="2454877" y="2386919"/>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6" name="Text Box 509"/>
            <p:cNvSpPr txBox="1">
              <a:spLocks noChangeArrowheads="1"/>
            </p:cNvSpPr>
            <p:nvPr/>
          </p:nvSpPr>
          <p:spPr bwMode="auto">
            <a:xfrm>
              <a:off x="2148261" y="1591717"/>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7" name="Text Box 509"/>
            <p:cNvSpPr txBox="1">
              <a:spLocks noChangeArrowheads="1"/>
            </p:cNvSpPr>
            <p:nvPr/>
          </p:nvSpPr>
          <p:spPr bwMode="auto">
            <a:xfrm>
              <a:off x="2132245" y="274610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grpSp>
      <p:sp>
        <p:nvSpPr>
          <p:cNvPr id="358" name="矩形 357"/>
          <p:cNvSpPr/>
          <p:nvPr/>
        </p:nvSpPr>
        <p:spPr>
          <a:xfrm>
            <a:off x="1025781" y="3366551"/>
            <a:ext cx="7426010"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频率</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复用：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相邻</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小区采用不同的</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频率，解决</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了</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同频干扰，</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频率可以重复使用。</a:t>
            </a:r>
            <a:endPar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提供</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基本的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话音</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通信服务</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空中</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移动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用户到基站之间的空口（即</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无线空中</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），采用的</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多址</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方式</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FDMA/TDMA</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的混合系统。</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58">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350"/>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58">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58">
                                            <p:txEl>
                                              <p:pRg st="2" end="2"/>
                                            </p:txEl>
                                          </p:spTgt>
                                        </p:tgtEl>
                                        <p:attrNameLst>
                                          <p:attrName>style.visibility</p:attrName>
                                        </p:attrNameLst>
                                      </p:cBhvr>
                                      <p:to>
                                        <p:strVal val="visible"/>
                                      </p:to>
                                    </p:set>
                                  </p:childTnLst>
                                </p:cTn>
                              </p:par>
                              <p:par>
                                <p:cTn id="17" presetID="35" presetClass="emph" presetSubtype="0" repeatCount="3000" fill="hold" nodeType="withEffect">
                                  <p:stCondLst>
                                    <p:cond delay="0"/>
                                  </p:stCondLst>
                                  <p:childTnLst>
                                    <p:anim calcmode="discrete" valueType="str">
                                      <p:cBhvr>
                                        <p:cTn id="18" dur="1000" fill="hold"/>
                                        <p:tgtEl>
                                          <p:spTgt spid="3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5"/>
            <a:ext cx="8133857" cy="182409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26212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GSM </a:t>
            </a:r>
            <a:r>
              <a:rPr lang="en-US" altLang="zh-CN" sz="2000" b="1" dirty="0" smtClean="0">
                <a:latin typeface="微软雅黑" panose="020B0503020204020204" pitchFamily="34" charset="-122"/>
                <a:ea typeface="微软雅黑" panose="020B0503020204020204" pitchFamily="34" charset="-122"/>
              </a:rPr>
              <a:t>FDMA/TDMA</a:t>
            </a:r>
            <a:endParaRPr lang="zh-CN" altLang="en-US" sz="2000" b="1" dirty="0">
              <a:latin typeface="微软雅黑" panose="020B0503020204020204" pitchFamily="34" charset="-122"/>
              <a:ea typeface="微软雅黑" panose="020B0503020204020204" pitchFamily="34" charset="-122"/>
            </a:endParaRPr>
          </a:p>
        </p:txBody>
      </p:sp>
      <p:sp>
        <p:nvSpPr>
          <p:cNvPr id="3" name="矩形 2"/>
          <p:cNvSpPr/>
          <p:nvPr/>
        </p:nvSpPr>
        <p:spPr>
          <a:xfrm>
            <a:off x="517852" y="2795438"/>
            <a:ext cx="8133857" cy="1426031"/>
          </a:xfrm>
          <a:prstGeom prst="rect">
            <a:avLst/>
          </a:prstGeom>
        </p:spPr>
        <p:txBody>
          <a:bodyPr wrap="square">
            <a:spAutoFit/>
          </a:bodyPr>
          <a:lstStyle/>
          <a:p>
            <a:pPr>
              <a:lnSpc>
                <a:spcPts val="2600"/>
              </a:lnSpc>
            </a:pP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把</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可用</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频带</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（上行和下行各</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占用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25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MHz</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）划分</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为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125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个</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带宽</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为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200 kHz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a:t>
            </a:r>
            <a:r>
              <a:rPr lang="zh-CN" altLang="en-US"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频带，</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再</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把每个子频带进行</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时分复用</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每个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帧</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划分</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为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8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个</a:t>
            </a:r>
            <a:r>
              <a:rPr lang="zh-CN" altLang="en-US"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时隙</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每个</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通话的用户占用一</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个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帧</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中的一个特定时隙</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600"/>
              </a:lnSpc>
            </a:pPr>
            <a:r>
              <a:rPr lang="zh-CN" altLang="en-US"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上行：</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从</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移动站到基</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站。</a:t>
            </a:r>
            <a:r>
              <a:rPr lang="zh-CN" altLang="en-US"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下行：</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从</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基站到移动站。</a:t>
            </a:r>
            <a:endPar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84" name="组合 383"/>
          <p:cNvGrpSpPr/>
          <p:nvPr/>
        </p:nvGrpSpPr>
        <p:grpSpPr>
          <a:xfrm>
            <a:off x="2486893" y="1212463"/>
            <a:ext cx="3391737" cy="1454195"/>
            <a:chOff x="1930294" y="1773817"/>
            <a:chExt cx="3015168" cy="1249569"/>
          </a:xfrm>
        </p:grpSpPr>
        <p:grpSp>
          <p:nvGrpSpPr>
            <p:cNvPr id="2" name="组合 1"/>
            <p:cNvGrpSpPr/>
            <p:nvPr/>
          </p:nvGrpSpPr>
          <p:grpSpPr>
            <a:xfrm>
              <a:off x="3124884" y="1773817"/>
              <a:ext cx="1477416" cy="475085"/>
              <a:chOff x="2228072" y="2626435"/>
              <a:chExt cx="1477416" cy="475085"/>
            </a:xfrm>
          </p:grpSpPr>
          <p:sp>
            <p:nvSpPr>
              <p:cNvPr id="354" name="Rectangle 19"/>
              <p:cNvSpPr>
                <a:spLocks noChangeArrowheads="1"/>
              </p:cNvSpPr>
              <p:nvPr/>
            </p:nvSpPr>
            <p:spPr bwMode="auto">
              <a:xfrm>
                <a:off x="2228072" y="2626435"/>
                <a:ext cx="376238" cy="374238"/>
              </a:xfrm>
              <a:prstGeom prst="rect">
                <a:avLst/>
              </a:prstGeom>
              <a:solidFill>
                <a:schemeClr val="bg1">
                  <a:lumMod val="75000"/>
                </a:schemeClr>
              </a:solidFill>
              <a:ln w="9525">
                <a:noFill/>
                <a:miter lim="800000"/>
              </a:ln>
              <a:effectLst/>
              <a:scene3d>
                <a:camera prst="obliqueTopRight">
                  <a:rot lat="0" lon="1200000" rev="0"/>
                </a:camera>
                <a:lightRig rig="threePt" dir="b"/>
              </a:scene3d>
              <a:sp3d extrusionH="430200" prstMaterial="legacyMatte">
                <a:bevelT w="0" h="0" prst="angle"/>
                <a:bevelB w="13500" h="13500" prst="angle"/>
                <a:extrusionClr>
                  <a:schemeClr val="bg1">
                    <a:lumMod val="75000"/>
                  </a:schemeClr>
                </a:extrusionClr>
              </a:sp3d>
            </p:spPr>
            <p:txBody>
              <a:bodyPr wrap="none" anchor="ctr">
                <a:flatTx/>
              </a:bodyPr>
              <a:lstStyle/>
              <a:p>
                <a:pPr>
                  <a:defRPr/>
                </a:pPr>
                <a:endParaRPr lang="zh-CN" altLang="en-US">
                  <a:ea typeface="宋体" panose="02010600030101010101" pitchFamily="2" charset="-122"/>
                </a:endParaRPr>
              </a:p>
            </p:txBody>
          </p:sp>
          <p:sp>
            <p:nvSpPr>
              <p:cNvPr id="342" name="Rectangle 5"/>
              <p:cNvSpPr>
                <a:spLocks noChangeArrowheads="1"/>
              </p:cNvSpPr>
              <p:nvPr/>
            </p:nvSpPr>
            <p:spPr bwMode="auto">
              <a:xfrm>
                <a:off x="2586877" y="2661603"/>
                <a:ext cx="403225" cy="374238"/>
              </a:xfrm>
              <a:prstGeom prst="rect">
                <a:avLst/>
              </a:prstGeom>
              <a:solidFill>
                <a:srgbClr val="777777"/>
              </a:solidFill>
              <a:ln w="9525">
                <a:miter lim="800000"/>
              </a:ln>
              <a:effectLst/>
              <a:scene3d>
                <a:camera prst="obliqueTopRight">
                  <a:rot lat="0" lon="1200000" rev="0"/>
                </a:camera>
                <a:lightRig rig="threePt" dir="b"/>
              </a:scene3d>
              <a:sp3d extrusionH="430200" prstMaterial="legacyMatte">
                <a:bevelT w="0" h="0" prst="angle"/>
                <a:bevelB w="12700" h="19050" prst="angle"/>
                <a:extrusionClr>
                  <a:srgbClr val="777777"/>
                </a:extrusionClr>
              </a:sp3d>
            </p:spPr>
            <p:txBody>
              <a:bodyPr wrap="none" anchor="ctr">
                <a:flatTx/>
              </a:bodyPr>
              <a:lstStyle/>
              <a:p>
                <a:pPr>
                  <a:defRPr/>
                </a:pPr>
                <a:endParaRPr lang="zh-CN" altLang="en-US">
                  <a:ea typeface="宋体" panose="02010600030101010101" pitchFamily="2" charset="-122"/>
                </a:endParaRPr>
              </a:p>
            </p:txBody>
          </p:sp>
          <p:sp>
            <p:nvSpPr>
              <p:cNvPr id="358" name="Rectangle 19"/>
              <p:cNvSpPr>
                <a:spLocks noChangeArrowheads="1"/>
              </p:cNvSpPr>
              <p:nvPr/>
            </p:nvSpPr>
            <p:spPr bwMode="auto">
              <a:xfrm>
                <a:off x="2955979" y="2695534"/>
                <a:ext cx="376238" cy="374238"/>
              </a:xfrm>
              <a:prstGeom prst="rect">
                <a:avLst/>
              </a:prstGeom>
              <a:solidFill>
                <a:schemeClr val="tx1">
                  <a:lumMod val="75000"/>
                  <a:lumOff val="25000"/>
                </a:schemeClr>
              </a:solidFill>
              <a:ln w="9525">
                <a:miter lim="800000"/>
              </a:ln>
              <a:effectLst/>
              <a:scene3d>
                <a:camera prst="obliqueTopRight">
                  <a:rot lat="0" lon="1200000" rev="0"/>
                </a:camera>
                <a:lightRig rig="threePt" dir="b"/>
              </a:scene3d>
              <a:sp3d extrusionH="430200" contourW="12700" prstMaterial="legacyMatte">
                <a:bevelT w="0" h="0" prst="angle"/>
                <a:bevelB w="13500" h="13500" prst="angle"/>
                <a:extrusionClr>
                  <a:schemeClr val="tx1">
                    <a:lumMod val="75000"/>
                    <a:lumOff val="25000"/>
                  </a:schemeClr>
                </a:extrusionClr>
                <a:contourClr>
                  <a:schemeClr val="tx1">
                    <a:lumMod val="75000"/>
                    <a:lumOff val="25000"/>
                  </a:schemeClr>
                </a:contourClr>
              </a:sp3d>
            </p:spPr>
            <p:txBody>
              <a:bodyPr wrap="none" anchor="ctr">
                <a:flatTx/>
              </a:bodyPr>
              <a:lstStyle/>
              <a:p>
                <a:pPr>
                  <a:defRPr/>
                </a:pPr>
                <a:endParaRPr lang="zh-CN" altLang="en-US">
                  <a:ea typeface="宋体" panose="02010600030101010101" pitchFamily="2" charset="-122"/>
                </a:endParaRPr>
              </a:p>
            </p:txBody>
          </p:sp>
          <p:sp>
            <p:nvSpPr>
              <p:cNvPr id="357" name="Rectangle 5"/>
              <p:cNvSpPr>
                <a:spLocks noChangeArrowheads="1"/>
              </p:cNvSpPr>
              <p:nvPr/>
            </p:nvSpPr>
            <p:spPr bwMode="auto">
              <a:xfrm>
                <a:off x="3302263" y="2727282"/>
                <a:ext cx="403225" cy="374238"/>
              </a:xfrm>
              <a:prstGeom prst="rect">
                <a:avLst/>
              </a:prstGeom>
              <a:solidFill>
                <a:schemeClr val="bg1">
                  <a:lumMod val="85000"/>
                </a:schemeClr>
              </a:solidFill>
              <a:ln w="9525">
                <a:miter lim="800000"/>
              </a:ln>
              <a:effectLst/>
              <a:scene3d>
                <a:camera prst="obliqueTopRight">
                  <a:rot lat="0" lon="1200000" rev="0"/>
                </a:camera>
                <a:lightRig rig="threePt" dir="b"/>
              </a:scene3d>
              <a:sp3d extrusionH="430200" prstMaterial="legacyMatte">
                <a:bevelT w="0" h="0" prst="angle"/>
                <a:bevelB w="13500" h="13500" prst="angle"/>
                <a:extrusionClr>
                  <a:schemeClr val="bg1">
                    <a:lumMod val="95000"/>
                  </a:schemeClr>
                </a:extrusionClr>
              </a:sp3d>
            </p:spPr>
            <p:txBody>
              <a:bodyPr wrap="none" anchor="ctr">
                <a:flatTx/>
              </a:bodyPr>
              <a:lstStyle/>
              <a:p>
                <a:pPr>
                  <a:defRPr/>
                </a:pPr>
                <a:endParaRPr lang="zh-CN" altLang="en-US">
                  <a:ea typeface="宋体" panose="02010600030101010101" pitchFamily="2" charset="-122"/>
                </a:endParaRPr>
              </a:p>
            </p:txBody>
          </p:sp>
        </p:grpSp>
        <p:grpSp>
          <p:nvGrpSpPr>
            <p:cNvPr id="360" name="组合 359"/>
            <p:cNvGrpSpPr/>
            <p:nvPr/>
          </p:nvGrpSpPr>
          <p:grpSpPr>
            <a:xfrm>
              <a:off x="2799311" y="1919861"/>
              <a:ext cx="1459832" cy="475085"/>
              <a:chOff x="2228072" y="2626435"/>
              <a:chExt cx="1459832" cy="475085"/>
            </a:xfrm>
          </p:grpSpPr>
          <p:sp>
            <p:nvSpPr>
              <p:cNvPr id="361" name="Rectangle 19"/>
              <p:cNvSpPr>
                <a:spLocks noChangeArrowheads="1"/>
              </p:cNvSpPr>
              <p:nvPr/>
            </p:nvSpPr>
            <p:spPr bwMode="auto">
              <a:xfrm>
                <a:off x="2228072" y="2626435"/>
                <a:ext cx="376238" cy="374238"/>
              </a:xfrm>
              <a:prstGeom prst="rect">
                <a:avLst/>
              </a:prstGeom>
              <a:solidFill>
                <a:srgbClr val="66CCFF"/>
              </a:solidFill>
              <a:ln w="9525">
                <a:noFill/>
                <a:miter lim="800000"/>
              </a:ln>
              <a:effectLst/>
              <a:scene3d>
                <a:camera prst="obliqueTopRight">
                  <a:rot lat="0" lon="1200000" rev="0"/>
                </a:camera>
                <a:lightRig rig="threePt" dir="b"/>
              </a:scene3d>
              <a:sp3d extrusionH="430200" prstMaterial="legacyMatte">
                <a:bevelT w="0" h="0" prst="angle"/>
                <a:bevelB w="13500" h="13500" prst="angle"/>
                <a:extrusionClr>
                  <a:srgbClr val="66CCFF"/>
                </a:extrusionClr>
              </a:sp3d>
            </p:spPr>
            <p:txBody>
              <a:bodyPr wrap="none" anchor="ctr">
                <a:flatTx/>
              </a:bodyPr>
              <a:lstStyle/>
              <a:p>
                <a:pPr>
                  <a:defRPr/>
                </a:pPr>
                <a:endParaRPr lang="zh-CN" altLang="en-US">
                  <a:ea typeface="宋体" panose="02010600030101010101" pitchFamily="2" charset="-122"/>
                </a:endParaRPr>
              </a:p>
            </p:txBody>
          </p:sp>
          <p:sp>
            <p:nvSpPr>
              <p:cNvPr id="362" name="Rectangle 5"/>
              <p:cNvSpPr>
                <a:spLocks noChangeArrowheads="1"/>
              </p:cNvSpPr>
              <p:nvPr/>
            </p:nvSpPr>
            <p:spPr bwMode="auto">
              <a:xfrm>
                <a:off x="2569293" y="2661603"/>
                <a:ext cx="403225" cy="374238"/>
              </a:xfrm>
              <a:prstGeom prst="rect">
                <a:avLst/>
              </a:prstGeom>
              <a:solidFill>
                <a:srgbClr val="33CCFF"/>
              </a:solidFill>
              <a:ln w="9525">
                <a:miter lim="800000"/>
              </a:ln>
              <a:effectLst/>
              <a:scene3d>
                <a:camera prst="obliqueTopRight">
                  <a:rot lat="0" lon="1200000" rev="0"/>
                </a:camera>
                <a:lightRig rig="threePt" dir="b"/>
              </a:scene3d>
              <a:sp3d extrusionH="430200" prstMaterial="legacyMatte">
                <a:bevelT w="0" h="0" prst="angle"/>
                <a:bevelB w="12700" h="19050" prst="angle"/>
                <a:extrusionClr>
                  <a:srgbClr val="33CCFF"/>
                </a:extrusionClr>
              </a:sp3d>
            </p:spPr>
            <p:txBody>
              <a:bodyPr wrap="none" anchor="ctr">
                <a:flatTx/>
              </a:bodyPr>
              <a:lstStyle/>
              <a:p>
                <a:pPr>
                  <a:defRPr/>
                </a:pPr>
                <a:endParaRPr lang="zh-CN" altLang="en-US">
                  <a:ea typeface="宋体" panose="02010600030101010101" pitchFamily="2" charset="-122"/>
                </a:endParaRPr>
              </a:p>
            </p:txBody>
          </p:sp>
          <p:sp>
            <p:nvSpPr>
              <p:cNvPr id="363" name="Rectangle 19"/>
              <p:cNvSpPr>
                <a:spLocks noChangeArrowheads="1"/>
              </p:cNvSpPr>
              <p:nvPr/>
            </p:nvSpPr>
            <p:spPr bwMode="auto">
              <a:xfrm>
                <a:off x="2939371" y="2695534"/>
                <a:ext cx="376238" cy="374238"/>
              </a:xfrm>
              <a:prstGeom prst="rect">
                <a:avLst/>
              </a:prstGeom>
              <a:solidFill>
                <a:srgbClr val="3399FF"/>
              </a:solidFill>
              <a:ln w="9525">
                <a:miter lim="800000"/>
              </a:ln>
              <a:effectLst/>
              <a:scene3d>
                <a:camera prst="obliqueTopRight">
                  <a:rot lat="0" lon="1200000" rev="0"/>
                </a:camera>
                <a:lightRig rig="threePt" dir="b"/>
              </a:scene3d>
              <a:sp3d extrusionH="430200" prstMaterial="legacyMatte">
                <a:bevelT w="0" h="0" prst="angle"/>
                <a:bevelB w="13500" h="13500" prst="angle"/>
                <a:extrusionClr>
                  <a:srgbClr val="3399FF"/>
                </a:extrusionClr>
              </a:sp3d>
            </p:spPr>
            <p:txBody>
              <a:bodyPr wrap="none" anchor="ctr">
                <a:flatTx/>
              </a:bodyPr>
              <a:lstStyle/>
              <a:p>
                <a:pPr>
                  <a:defRPr/>
                </a:pPr>
                <a:endParaRPr lang="zh-CN" altLang="en-US">
                  <a:ea typeface="宋体" panose="02010600030101010101" pitchFamily="2" charset="-122"/>
                </a:endParaRPr>
              </a:p>
            </p:txBody>
          </p:sp>
          <p:sp>
            <p:nvSpPr>
              <p:cNvPr id="364" name="Rectangle 5"/>
              <p:cNvSpPr>
                <a:spLocks noChangeArrowheads="1"/>
              </p:cNvSpPr>
              <p:nvPr/>
            </p:nvSpPr>
            <p:spPr bwMode="auto">
              <a:xfrm>
                <a:off x="3284679" y="2727282"/>
                <a:ext cx="403225" cy="374238"/>
              </a:xfrm>
              <a:prstGeom prst="rect">
                <a:avLst/>
              </a:prstGeom>
              <a:solidFill>
                <a:schemeClr val="tx2">
                  <a:lumMod val="60000"/>
                  <a:lumOff val="40000"/>
                </a:schemeClr>
              </a:solidFill>
              <a:ln w="9525">
                <a:miter lim="800000"/>
              </a:ln>
              <a:effectLst/>
              <a:scene3d>
                <a:camera prst="obliqueTopRight">
                  <a:rot lat="0" lon="1200000" rev="0"/>
                </a:camera>
                <a:lightRig rig="threePt" dir="b"/>
              </a:scene3d>
              <a:sp3d extrusionH="430200" prstMaterial="legacyMatte">
                <a:bevelT w="0" h="0" prst="angle"/>
                <a:bevelB w="13500" h="13500" prst="angle"/>
                <a:extrusionClr>
                  <a:schemeClr val="tx2">
                    <a:lumMod val="60000"/>
                    <a:lumOff val="40000"/>
                  </a:schemeClr>
                </a:extrusionClr>
              </a:sp3d>
            </p:spPr>
            <p:txBody>
              <a:bodyPr wrap="none" anchor="ctr">
                <a:flatTx/>
              </a:bodyPr>
              <a:lstStyle/>
              <a:p>
                <a:pPr>
                  <a:defRPr/>
                </a:pPr>
                <a:endParaRPr lang="zh-CN" altLang="en-US">
                  <a:ea typeface="宋体" panose="02010600030101010101" pitchFamily="2" charset="-122"/>
                </a:endParaRPr>
              </a:p>
            </p:txBody>
          </p:sp>
        </p:grpSp>
        <p:grpSp>
          <p:nvGrpSpPr>
            <p:cNvPr id="365" name="组合 364"/>
            <p:cNvGrpSpPr/>
            <p:nvPr/>
          </p:nvGrpSpPr>
          <p:grpSpPr>
            <a:xfrm>
              <a:off x="2354175" y="2066760"/>
              <a:ext cx="1560786" cy="475085"/>
              <a:chOff x="2219280" y="2626435"/>
              <a:chExt cx="1457562" cy="475085"/>
            </a:xfrm>
          </p:grpSpPr>
          <p:sp>
            <p:nvSpPr>
              <p:cNvPr id="366" name="Rectangle 19"/>
              <p:cNvSpPr>
                <a:spLocks noChangeArrowheads="1"/>
              </p:cNvSpPr>
              <p:nvPr/>
            </p:nvSpPr>
            <p:spPr bwMode="auto">
              <a:xfrm>
                <a:off x="2219280" y="2626435"/>
                <a:ext cx="376238" cy="374238"/>
              </a:xfrm>
              <a:prstGeom prst="rect">
                <a:avLst/>
              </a:prstGeom>
              <a:solidFill>
                <a:srgbClr val="CC99FF"/>
              </a:solidFill>
              <a:ln w="9525">
                <a:noFill/>
                <a:miter lim="800000"/>
              </a:ln>
              <a:effectLst/>
              <a:scene3d>
                <a:camera prst="obliqueTopRight">
                  <a:rot lat="0" lon="1200000" rev="0"/>
                </a:camera>
                <a:lightRig rig="threePt" dir="b"/>
              </a:scene3d>
              <a:sp3d extrusionH="430200" prstMaterial="legacyMatte">
                <a:bevelT w="0" h="0" prst="angle"/>
                <a:bevelB w="13500" h="13500" prst="angle"/>
                <a:extrusionClr>
                  <a:srgbClr val="CC99FF"/>
                </a:extrusionClr>
              </a:sp3d>
            </p:spPr>
            <p:txBody>
              <a:bodyPr wrap="none" anchor="ctr">
                <a:flatTx/>
              </a:bodyPr>
              <a:lstStyle/>
              <a:p>
                <a:pPr>
                  <a:defRPr/>
                </a:pPr>
                <a:endParaRPr lang="zh-CN" altLang="en-US">
                  <a:ea typeface="宋体" panose="02010600030101010101" pitchFamily="2" charset="-122"/>
                </a:endParaRPr>
              </a:p>
            </p:txBody>
          </p:sp>
          <p:sp>
            <p:nvSpPr>
              <p:cNvPr id="367" name="Rectangle 5"/>
              <p:cNvSpPr>
                <a:spLocks noChangeArrowheads="1"/>
              </p:cNvSpPr>
              <p:nvPr/>
            </p:nvSpPr>
            <p:spPr bwMode="auto">
              <a:xfrm>
                <a:off x="2559919" y="2661603"/>
                <a:ext cx="403225" cy="374238"/>
              </a:xfrm>
              <a:prstGeom prst="rect">
                <a:avLst/>
              </a:prstGeom>
              <a:solidFill>
                <a:srgbClr val="FF99FF"/>
              </a:solidFill>
              <a:ln w="9525">
                <a:miter lim="800000"/>
              </a:ln>
              <a:effectLst/>
              <a:scene3d>
                <a:camera prst="obliqueTopRight">
                  <a:rot lat="0" lon="1200000" rev="0"/>
                </a:camera>
                <a:lightRig rig="threePt" dir="b"/>
              </a:scene3d>
              <a:sp3d extrusionH="430200" prstMaterial="legacyMatte">
                <a:bevelT w="0" h="0" prst="angle"/>
                <a:bevelB w="12700" h="19050" prst="angle"/>
                <a:extrusionClr>
                  <a:srgbClr val="FF99FF"/>
                </a:extrusionClr>
              </a:sp3d>
            </p:spPr>
            <p:txBody>
              <a:bodyPr wrap="none" anchor="ctr">
                <a:flatTx/>
              </a:bodyPr>
              <a:lstStyle/>
              <a:p>
                <a:pPr>
                  <a:defRPr/>
                </a:pPr>
                <a:endParaRPr lang="zh-CN" altLang="en-US">
                  <a:ea typeface="宋体" panose="02010600030101010101" pitchFamily="2" charset="-122"/>
                </a:endParaRPr>
              </a:p>
            </p:txBody>
          </p:sp>
          <p:sp>
            <p:nvSpPr>
              <p:cNvPr id="368" name="Rectangle 19"/>
              <p:cNvSpPr>
                <a:spLocks noChangeArrowheads="1"/>
              </p:cNvSpPr>
              <p:nvPr/>
            </p:nvSpPr>
            <p:spPr bwMode="auto">
              <a:xfrm>
                <a:off x="2928957" y="2695534"/>
                <a:ext cx="376238" cy="374238"/>
              </a:xfrm>
              <a:prstGeom prst="rect">
                <a:avLst/>
              </a:prstGeom>
              <a:solidFill>
                <a:srgbClr val="FF99CC"/>
              </a:solidFill>
              <a:ln w="9525">
                <a:miter lim="800000"/>
              </a:ln>
              <a:effectLst/>
              <a:scene3d>
                <a:camera prst="obliqueTopRight">
                  <a:rot lat="0" lon="1200000" rev="0"/>
                </a:camera>
                <a:lightRig rig="threePt" dir="b"/>
              </a:scene3d>
              <a:sp3d extrusionH="430200" prstMaterial="legacyMatte">
                <a:bevelT w="0" h="0" prst="angle"/>
                <a:bevelB w="13500" h="13500" prst="angle"/>
                <a:extrusionClr>
                  <a:srgbClr val="FF99CC"/>
                </a:extrusionClr>
              </a:sp3d>
            </p:spPr>
            <p:txBody>
              <a:bodyPr wrap="none" anchor="ctr">
                <a:flatTx/>
              </a:bodyPr>
              <a:lstStyle/>
              <a:p>
                <a:pPr>
                  <a:defRPr/>
                </a:pPr>
                <a:endParaRPr lang="zh-CN" altLang="en-US">
                  <a:ea typeface="宋体" panose="02010600030101010101" pitchFamily="2" charset="-122"/>
                </a:endParaRPr>
              </a:p>
            </p:txBody>
          </p:sp>
          <p:sp>
            <p:nvSpPr>
              <p:cNvPr id="369" name="Rectangle 5"/>
              <p:cNvSpPr>
                <a:spLocks noChangeArrowheads="1"/>
              </p:cNvSpPr>
              <p:nvPr/>
            </p:nvSpPr>
            <p:spPr bwMode="auto">
              <a:xfrm>
                <a:off x="3273617" y="2727282"/>
                <a:ext cx="403225" cy="374238"/>
              </a:xfrm>
              <a:prstGeom prst="rect">
                <a:avLst/>
              </a:prstGeom>
              <a:solidFill>
                <a:srgbClr val="FF66CC"/>
              </a:solidFill>
              <a:ln w="9525">
                <a:miter lim="800000"/>
              </a:ln>
              <a:effectLst/>
              <a:scene3d>
                <a:camera prst="obliqueTopRight">
                  <a:rot lat="0" lon="1200000" rev="0"/>
                </a:camera>
                <a:lightRig rig="threePt" dir="b"/>
              </a:scene3d>
              <a:sp3d extrusionH="430200" prstMaterial="legacyMatte">
                <a:bevelT w="0" h="0" prst="angle"/>
                <a:bevelB w="13500" h="13500" prst="angle"/>
                <a:extrusionClr>
                  <a:srgbClr val="FF66CC"/>
                </a:extrusionClr>
              </a:sp3d>
            </p:spPr>
            <p:txBody>
              <a:bodyPr wrap="none" anchor="ctr">
                <a:flatTx/>
              </a:bodyPr>
              <a:lstStyle/>
              <a:p>
                <a:pPr>
                  <a:defRPr/>
                </a:pPr>
                <a:endParaRPr lang="zh-CN" altLang="en-US">
                  <a:ea typeface="宋体" panose="02010600030101010101" pitchFamily="2" charset="-122"/>
                </a:endParaRPr>
              </a:p>
            </p:txBody>
          </p:sp>
        </p:grpSp>
        <p:grpSp>
          <p:nvGrpSpPr>
            <p:cNvPr id="370" name="组合 369"/>
            <p:cNvGrpSpPr/>
            <p:nvPr/>
          </p:nvGrpSpPr>
          <p:grpSpPr>
            <a:xfrm>
              <a:off x="2000638" y="2231381"/>
              <a:ext cx="1559811" cy="476322"/>
              <a:chOff x="2219280" y="2626435"/>
              <a:chExt cx="1456651" cy="476322"/>
            </a:xfrm>
          </p:grpSpPr>
          <p:sp>
            <p:nvSpPr>
              <p:cNvPr id="371" name="Rectangle 19"/>
              <p:cNvSpPr>
                <a:spLocks noChangeArrowheads="1"/>
              </p:cNvSpPr>
              <p:nvPr/>
            </p:nvSpPr>
            <p:spPr bwMode="auto">
              <a:xfrm>
                <a:off x="2219280" y="2626435"/>
                <a:ext cx="376238" cy="374238"/>
              </a:xfrm>
              <a:prstGeom prst="rect">
                <a:avLst/>
              </a:prstGeom>
              <a:solidFill>
                <a:srgbClr val="00CC66"/>
              </a:solidFill>
              <a:ln w="9525">
                <a:noFill/>
                <a:miter lim="800000"/>
              </a:ln>
              <a:effectLst/>
              <a:scene3d>
                <a:camera prst="obliqueTopRight">
                  <a:rot lat="0" lon="1200000" rev="0"/>
                </a:camera>
                <a:lightRig rig="threePt" dir="b"/>
              </a:scene3d>
              <a:sp3d extrusionH="430200" prstMaterial="legacyMatte">
                <a:bevelT w="0" h="0" prst="angle"/>
                <a:bevelB w="13500" h="13500" prst="angle"/>
                <a:extrusionClr>
                  <a:srgbClr val="00CC66"/>
                </a:extrusionClr>
              </a:sp3d>
            </p:spPr>
            <p:txBody>
              <a:bodyPr wrap="none" anchor="ctr">
                <a:flatTx/>
              </a:bodyPr>
              <a:lstStyle/>
              <a:p>
                <a:pPr>
                  <a:defRPr/>
                </a:pPr>
                <a:endParaRPr lang="zh-CN" altLang="en-US">
                  <a:ea typeface="宋体" panose="02010600030101010101" pitchFamily="2" charset="-122"/>
                </a:endParaRPr>
              </a:p>
            </p:txBody>
          </p:sp>
          <p:sp>
            <p:nvSpPr>
              <p:cNvPr id="372" name="Rectangle 5"/>
              <p:cNvSpPr>
                <a:spLocks noChangeArrowheads="1"/>
              </p:cNvSpPr>
              <p:nvPr/>
            </p:nvSpPr>
            <p:spPr bwMode="auto">
              <a:xfrm>
                <a:off x="2559920" y="2661603"/>
                <a:ext cx="403225" cy="374238"/>
              </a:xfrm>
              <a:prstGeom prst="rect">
                <a:avLst/>
              </a:prstGeom>
              <a:solidFill>
                <a:srgbClr val="00CC99"/>
              </a:solidFill>
              <a:ln w="9525">
                <a:miter lim="800000"/>
              </a:ln>
              <a:effectLst/>
              <a:scene3d>
                <a:camera prst="obliqueTopRight">
                  <a:rot lat="0" lon="1200000" rev="0"/>
                </a:camera>
                <a:lightRig rig="threePt" dir="b"/>
              </a:scene3d>
              <a:sp3d extrusionH="430200" prstMaterial="legacyMatte">
                <a:bevelT w="0" h="0" prst="angle"/>
                <a:bevelB w="12700" h="19050" prst="angle"/>
                <a:extrusionClr>
                  <a:srgbClr val="00CC99"/>
                </a:extrusionClr>
              </a:sp3d>
            </p:spPr>
            <p:txBody>
              <a:bodyPr wrap="none" anchor="ctr">
                <a:flatTx/>
              </a:bodyPr>
              <a:lstStyle/>
              <a:p>
                <a:pPr>
                  <a:defRPr/>
                </a:pPr>
                <a:endParaRPr lang="zh-CN" altLang="en-US">
                  <a:ea typeface="宋体" panose="02010600030101010101" pitchFamily="2" charset="-122"/>
                </a:endParaRPr>
              </a:p>
            </p:txBody>
          </p:sp>
          <p:sp>
            <p:nvSpPr>
              <p:cNvPr id="373" name="Rectangle 19"/>
              <p:cNvSpPr>
                <a:spLocks noChangeArrowheads="1"/>
              </p:cNvSpPr>
              <p:nvPr/>
            </p:nvSpPr>
            <p:spPr bwMode="auto">
              <a:xfrm>
                <a:off x="2928957" y="2695534"/>
                <a:ext cx="376238" cy="374238"/>
              </a:xfrm>
              <a:prstGeom prst="rect">
                <a:avLst/>
              </a:prstGeom>
              <a:solidFill>
                <a:srgbClr val="669900"/>
              </a:solidFill>
              <a:ln w="9525">
                <a:miter lim="800000"/>
              </a:ln>
              <a:effectLst/>
              <a:scene3d>
                <a:camera prst="obliqueTopRight">
                  <a:rot lat="0" lon="1200000" rev="0"/>
                </a:camera>
                <a:lightRig rig="threePt" dir="b"/>
              </a:scene3d>
              <a:sp3d extrusionH="430200" prstMaterial="legacyMatte">
                <a:bevelT w="0" h="0" prst="angle"/>
                <a:bevelB w="13500" h="13500" prst="angle"/>
                <a:extrusionClr>
                  <a:srgbClr val="669900"/>
                </a:extrusionClr>
              </a:sp3d>
            </p:spPr>
            <p:txBody>
              <a:bodyPr wrap="none" anchor="ctr">
                <a:flatTx/>
              </a:bodyPr>
              <a:lstStyle/>
              <a:p>
                <a:pPr>
                  <a:defRPr/>
                </a:pPr>
                <a:endParaRPr lang="zh-CN" altLang="en-US">
                  <a:ea typeface="宋体" panose="02010600030101010101" pitchFamily="2" charset="-122"/>
                </a:endParaRPr>
              </a:p>
            </p:txBody>
          </p:sp>
          <p:sp>
            <p:nvSpPr>
              <p:cNvPr id="374" name="Rectangle 5"/>
              <p:cNvSpPr>
                <a:spLocks noChangeArrowheads="1"/>
              </p:cNvSpPr>
              <p:nvPr/>
            </p:nvSpPr>
            <p:spPr bwMode="auto">
              <a:xfrm>
                <a:off x="3272706" y="2728519"/>
                <a:ext cx="403225" cy="374238"/>
              </a:xfrm>
              <a:prstGeom prst="rect">
                <a:avLst/>
              </a:prstGeom>
              <a:solidFill>
                <a:srgbClr val="339933"/>
              </a:solidFill>
              <a:ln w="9525">
                <a:miter lim="800000"/>
              </a:ln>
              <a:effectLst/>
              <a:scene3d>
                <a:camera prst="obliqueTopRight">
                  <a:rot lat="0" lon="1200000" rev="0"/>
                </a:camera>
                <a:lightRig rig="threePt" dir="b"/>
              </a:scene3d>
              <a:sp3d extrusionH="430200" prstMaterial="legacyMatte">
                <a:bevelT w="0" h="0" prst="angle"/>
                <a:bevelB w="13500" h="13500" prst="angle"/>
                <a:extrusionClr>
                  <a:srgbClr val="339933"/>
                </a:extrusionClr>
              </a:sp3d>
            </p:spPr>
            <p:txBody>
              <a:bodyPr wrap="none" anchor="ctr">
                <a:flatTx/>
              </a:bodyPr>
              <a:lstStyle/>
              <a:p>
                <a:pPr>
                  <a:defRPr/>
                </a:pPr>
                <a:endParaRPr lang="zh-CN" altLang="en-US">
                  <a:ea typeface="宋体" panose="02010600030101010101" pitchFamily="2" charset="-122"/>
                </a:endParaRPr>
              </a:p>
            </p:txBody>
          </p:sp>
        </p:grpSp>
        <p:cxnSp>
          <p:nvCxnSpPr>
            <p:cNvPr id="6" name="直接箭头连接符 5"/>
            <p:cNvCxnSpPr/>
            <p:nvPr/>
          </p:nvCxnSpPr>
          <p:spPr>
            <a:xfrm flipV="1">
              <a:off x="3714542" y="2231381"/>
              <a:ext cx="1194882" cy="491499"/>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377" name="直接箭头连接符 376"/>
            <p:cNvCxnSpPr/>
            <p:nvPr/>
          </p:nvCxnSpPr>
          <p:spPr>
            <a:xfrm>
              <a:off x="1930294" y="2644786"/>
              <a:ext cx="1483050" cy="131132"/>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382" name="矩形 381"/>
            <p:cNvSpPr/>
            <p:nvPr/>
          </p:nvSpPr>
          <p:spPr>
            <a:xfrm rot="20075650">
              <a:off x="4119595" y="2351932"/>
              <a:ext cx="825867" cy="338554"/>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a:t>
              </a:r>
              <a:endParaRPr lang="zh-CN" altLang="en-US" sz="1600" dirty="0"/>
            </a:p>
          </p:txBody>
        </p:sp>
        <p:sp>
          <p:nvSpPr>
            <p:cNvPr id="383" name="矩形 382"/>
            <p:cNvSpPr/>
            <p:nvPr/>
          </p:nvSpPr>
          <p:spPr>
            <a:xfrm rot="213981">
              <a:off x="2217353" y="2684832"/>
              <a:ext cx="840295" cy="338554"/>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TDMA</a:t>
              </a:r>
              <a:endParaRPr lang="zh-CN" altLang="en-US" sz="1600" dirty="0"/>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GSM 2G </a:t>
            </a:r>
            <a:r>
              <a:rPr lang="zh-CN" altLang="en-US" sz="2000" b="1" dirty="0">
                <a:latin typeface="微软雅黑" panose="020B0503020204020204" pitchFamily="34" charset="-122"/>
                <a:ea typeface="微软雅黑" panose="020B0503020204020204" pitchFamily="34" charset="-122"/>
              </a:rPr>
              <a:t>蜂窝通信系统的重要组成构件</a:t>
            </a:r>
            <a:endParaRPr lang="zh-CN" altLang="en-US" sz="2000" b="1" dirty="0">
              <a:latin typeface="微软雅黑" panose="020B0503020204020204" pitchFamily="34" charset="-122"/>
              <a:ea typeface="微软雅黑" panose="020B0503020204020204" pitchFamily="34" charset="-122"/>
            </a:endParaRPr>
          </a:p>
        </p:txBody>
      </p:sp>
      <p:sp>
        <p:nvSpPr>
          <p:cNvPr id="9" name="Freeform 510"/>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242587"/>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1608418"/>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1850964"/>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485135"/>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093511"/>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397699"/>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093511"/>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spid="_x0000_s15361" name="Microsoft ClipArt Gallery" r:id="rId2" imgW="53035200" imgH="20888325" progId="">
                  <p:embed/>
                </p:oleObj>
              </mc:Choice>
              <mc:Fallback>
                <p:oleObj name="Microsoft ClipArt Gallery" r:id="rId2" imgW="53035200" imgH="20888325" progId="">
                  <p:embed/>
                  <p:pic>
                    <p:nvPicPr>
                      <p:cNvPr id="0" name="图片 15360"/>
                      <p:cNvPicPr/>
                      <p:nvPr/>
                    </p:nvPicPr>
                    <p:blipFill>
                      <a:blip r:embed="rId3"/>
                      <a:stretch>
                        <a:fillRect/>
                      </a:stretch>
                    </p:blipFill>
                    <p:spPr>
                      <a:xfrm>
                        <a:off x="1360645" y="2640246"/>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grpSp>
        <p:nvGrpSpPr>
          <p:cNvPr id="260" name="Group 512"/>
          <p:cNvGrpSpPr/>
          <p:nvPr/>
        </p:nvGrpSpPr>
        <p:grpSpPr bwMode="auto">
          <a:xfrm>
            <a:off x="5363365" y="2821000"/>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endParaRPr kumimoji="1" lang="zh-CN" altLang="en-US" sz="1200" b="1">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endParaRPr kumimoji="1" lang="zh-CN" altLang="en-US"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grpSp>
        <p:nvGrpSpPr>
          <p:cNvPr id="292" name="Group 428"/>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endParaRPr kumimoji="1" lang="zh-CN" altLang="en-US" sz="12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spid="_x0000_s15362" name="Microsoft ClipArt Gallery" r:id="rId5" imgW="53035200" imgH="20888325" progId="">
                  <p:embed/>
                </p:oleObj>
              </mc:Choice>
              <mc:Fallback>
                <p:oleObj name="Microsoft ClipArt Gallery" r:id="rId5" imgW="53035200" imgH="20888325" progId="">
                  <p:embed/>
                  <p:pic>
                    <p:nvPicPr>
                      <p:cNvPr id="0" name="图片 15361"/>
                      <p:cNvPicPr/>
                      <p:nvPr/>
                    </p:nvPicPr>
                    <p:blipFill>
                      <a:blip r:embed="rId3"/>
                      <a:stretch>
                        <a:fillRect/>
                      </a:stretch>
                    </p:blipFill>
                    <p:spPr>
                      <a:xfrm>
                        <a:off x="6166806" y="3020666"/>
                        <a:ext cx="331914" cy="174205"/>
                      </a:xfrm>
                      <a:prstGeom prst="rect">
                        <a:avLst/>
                      </a:prstGeom>
                      <a:noFill/>
                      <a:ln w="12700">
                        <a:noFill/>
                      </a:ln>
                    </p:spPr>
                  </p:pic>
                </p:oleObj>
              </mc:Fallback>
            </mc:AlternateContent>
          </a:graphicData>
        </a:graphic>
      </p:graphicFrame>
      <p:grpSp>
        <p:nvGrpSpPr>
          <p:cNvPr id="6" name="组合 5"/>
          <p:cNvGrpSpPr/>
          <p:nvPr/>
        </p:nvGrpSpPr>
        <p:grpSpPr>
          <a:xfrm>
            <a:off x="921506" y="1085804"/>
            <a:ext cx="902811" cy="765185"/>
            <a:chOff x="921506" y="1085804"/>
            <a:chExt cx="902811" cy="765185"/>
          </a:xfrm>
        </p:grpSpPr>
        <p:cxnSp>
          <p:nvCxnSpPr>
            <p:cNvPr id="328" name="直接连接符 32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2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cxnSp>
          <p:nvCxnSpPr>
            <p:cNvPr id="330" name="直接箭头连接符 329"/>
            <p:cNvCxnSpPr>
              <a:stCxn id="32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endParaRPr kumimoji="1" lang="zh-CN" altLang="en-US" sz="1400" b="1" dirty="0">
              <a:latin typeface="微软雅黑" panose="020B0503020204020204" pitchFamily="34" charset="-122"/>
              <a:ea typeface="微软雅黑" panose="020B0503020204020204" pitchFamily="34" charset="-122"/>
            </a:endParaRP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23439"/>
          </a:xfrm>
          <a:prstGeom prst="rect">
            <a:avLst/>
          </a:prstGeom>
        </p:spPr>
        <p:txBody>
          <a:bodyPr wrap="square">
            <a:spAutoFit/>
          </a:bodyPr>
          <a:lstStyle/>
          <a:p>
            <a:pPr>
              <a:lnSpc>
                <a:spcPts val="24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网络子系统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（常称为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站</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子系统：</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几十个基站和一个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控制器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BSC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(Base Station Controller)</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BSC</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本基站子系统中的几十个基站</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服务：分配</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无线信道，</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确定所在小区，漫游</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时进行</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信道切换。</a:t>
            </a:r>
            <a:endPar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GSM 2G </a:t>
            </a:r>
            <a:r>
              <a:rPr lang="zh-CN" altLang="en-US" sz="2000" b="1" dirty="0">
                <a:latin typeface="微软雅黑" panose="020B0503020204020204" pitchFamily="34" charset="-122"/>
                <a:ea typeface="微软雅黑" panose="020B0503020204020204" pitchFamily="34" charset="-122"/>
              </a:rPr>
              <a:t>蜂窝通信系统的重要组成构件</a:t>
            </a:r>
            <a:endParaRPr lang="zh-CN" altLang="en-US" sz="2000" b="1" dirty="0">
              <a:latin typeface="微软雅黑" panose="020B0503020204020204" pitchFamily="34" charset="-122"/>
              <a:ea typeface="微软雅黑" panose="020B0503020204020204" pitchFamily="34" charset="-122"/>
            </a:endParaRPr>
          </a:p>
        </p:txBody>
      </p:sp>
      <p:sp>
        <p:nvSpPr>
          <p:cNvPr id="9" name="Freeform 510"/>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242587"/>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1608418"/>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1850964"/>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485135"/>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093511"/>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397699"/>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093511"/>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spid="_x0000_s16385" name="Microsoft ClipArt Gallery" r:id="rId2" imgW="53035200" imgH="20888325" progId="">
                  <p:embed/>
                </p:oleObj>
              </mc:Choice>
              <mc:Fallback>
                <p:oleObj name="Microsoft ClipArt Gallery" r:id="rId2" imgW="53035200" imgH="20888325" progId="">
                  <p:embed/>
                  <p:pic>
                    <p:nvPicPr>
                      <p:cNvPr id="0" name="图片 16384"/>
                      <p:cNvPicPr/>
                      <p:nvPr/>
                    </p:nvPicPr>
                    <p:blipFill>
                      <a:blip r:embed="rId3"/>
                      <a:stretch>
                        <a:fillRect/>
                      </a:stretch>
                    </p:blipFill>
                    <p:spPr>
                      <a:xfrm>
                        <a:off x="1360645" y="2640246"/>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grpSp>
        <p:nvGrpSpPr>
          <p:cNvPr id="260" name="Group 512"/>
          <p:cNvGrpSpPr/>
          <p:nvPr/>
        </p:nvGrpSpPr>
        <p:grpSpPr bwMode="auto">
          <a:xfrm>
            <a:off x="5363365" y="2821000"/>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endParaRPr kumimoji="1" lang="zh-CN" altLang="en-US" sz="1200" b="1">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endParaRPr kumimoji="1" lang="zh-CN" altLang="en-US"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grpSp>
        <p:nvGrpSpPr>
          <p:cNvPr id="292" name="Group 428"/>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endParaRPr kumimoji="1" lang="zh-CN" altLang="en-US" sz="12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spid="_x0000_s16386" name="Microsoft ClipArt Gallery" r:id="rId5" imgW="53035200" imgH="20888325" progId="">
                  <p:embed/>
                </p:oleObj>
              </mc:Choice>
              <mc:Fallback>
                <p:oleObj name="Microsoft ClipArt Gallery" r:id="rId5" imgW="53035200" imgH="20888325" progId="">
                  <p:embed/>
                  <p:pic>
                    <p:nvPicPr>
                      <p:cNvPr id="0" name="图片 16385"/>
                      <p:cNvPicPr/>
                      <p:nvPr/>
                    </p:nvPicPr>
                    <p:blipFill>
                      <a:blip r:embed="rId3"/>
                      <a:stretch>
                        <a:fillRect/>
                      </a:stretch>
                    </p:blipFill>
                    <p:spPr>
                      <a:xfrm>
                        <a:off x="6166806" y="3020666"/>
                        <a:ext cx="331914" cy="174205"/>
                      </a:xfrm>
                      <a:prstGeom prst="rect">
                        <a:avLst/>
                      </a:prstGeom>
                      <a:noFill/>
                      <a:ln w="12700">
                        <a:noFill/>
                      </a:ln>
                    </p:spPr>
                  </p:pic>
                </p:oleObj>
              </mc:Fallback>
            </mc:AlternateContent>
          </a:graphicData>
        </a:graphic>
      </p:graphicFrame>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endParaRPr kumimoji="1" lang="zh-CN" altLang="en-US" sz="1400" b="1" dirty="0">
              <a:latin typeface="微软雅黑" panose="020B0503020204020204" pitchFamily="34" charset="-122"/>
              <a:ea typeface="微软雅黑" panose="020B0503020204020204" pitchFamily="34" charset="-122"/>
            </a:endParaRP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7473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移动交换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中心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MSC</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(Mobile Switching Center)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和网关移动交换中心</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GMSC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(Gateway Mobile Switching Center)</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MSC</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负责用户的授权和账单，用户呼叫连接的建立和释放，</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不同基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站子系统之间漫游时的信道切换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GMSC</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将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SC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到公用电话网或其他移动通信网。</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grpSp>
        <p:nvGrpSpPr>
          <p:cNvPr id="341" name="组合 340"/>
          <p:cNvGrpSpPr/>
          <p:nvPr/>
        </p:nvGrpSpPr>
        <p:grpSpPr>
          <a:xfrm>
            <a:off x="921506" y="1085804"/>
            <a:ext cx="902811" cy="765185"/>
            <a:chOff x="921506" y="1085804"/>
            <a:chExt cx="902811" cy="765185"/>
          </a:xfrm>
        </p:grpSpPr>
        <p:cxnSp>
          <p:nvCxnSpPr>
            <p:cNvPr id="342" name="直接连接符 341"/>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43"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cxnSp>
          <p:nvCxnSpPr>
            <p:cNvPr id="344" name="直接箭头连接符 343"/>
            <p:cNvCxnSpPr>
              <a:stCxn id="343"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341958" cy="29270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anose="05000000000000000000" pitchFamily="2" charset="2"/>
              <a:buChar char="l"/>
            </a:pPr>
            <a:r>
              <a:rPr lang="zh-CN" altLang="en-US" sz="1700" b="1" dirty="0">
                <a:latin typeface="微软雅黑" panose="020B0503020204020204" pitchFamily="34" charset="-122"/>
                <a:ea typeface="微软雅黑" panose="020B0503020204020204" pitchFamily="34" charset="-122"/>
              </a:rPr>
              <a:t>为了满足移动数据通信需求，</a:t>
            </a:r>
            <a:r>
              <a:rPr lang="zh-CN" altLang="en-US" sz="1700" b="1" dirty="0" smtClean="0">
                <a:latin typeface="微软雅黑" panose="020B0503020204020204" pitchFamily="34" charset="-122"/>
                <a:ea typeface="微软雅黑" panose="020B0503020204020204" pitchFamily="34" charset="-122"/>
              </a:rPr>
              <a:t>引入了：</a:t>
            </a:r>
            <a:endParaRPr lang="en-US" altLang="zh-CN" sz="1700" b="1" dirty="0" smtClean="0">
              <a:latin typeface="微软雅黑" panose="020B0503020204020204" pitchFamily="34" charset="-122"/>
              <a:ea typeface="微软雅黑" panose="020B0503020204020204"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anose="020B0503020204020204" pitchFamily="34" charset="-122"/>
                <a:ea typeface="微软雅黑" panose="020B0503020204020204" pitchFamily="34" charset="-122"/>
              </a:rPr>
              <a:t>通用分组无线</a:t>
            </a:r>
            <a:r>
              <a:rPr lang="zh-CN" altLang="en-US" sz="1700" b="1" dirty="0" smtClean="0">
                <a:solidFill>
                  <a:srgbClr val="C00000"/>
                </a:solidFill>
                <a:latin typeface="微软雅黑" panose="020B0503020204020204" pitchFamily="34" charset="-122"/>
                <a:ea typeface="微软雅黑" panose="020B0503020204020204" pitchFamily="34" charset="-122"/>
              </a:rPr>
              <a:t>服务 </a:t>
            </a:r>
            <a:r>
              <a:rPr lang="en-US" altLang="zh-CN" sz="1700" b="1" dirty="0" smtClean="0">
                <a:solidFill>
                  <a:srgbClr val="C00000"/>
                </a:solidFill>
                <a:latin typeface="微软雅黑" panose="020B0503020204020204" pitchFamily="34" charset="-122"/>
                <a:ea typeface="微软雅黑" panose="020B0503020204020204" pitchFamily="34" charset="-122"/>
              </a:rPr>
              <a:t>GPRS </a:t>
            </a:r>
            <a:r>
              <a:rPr lang="en-US" altLang="zh-CN" sz="1700" b="1" dirty="0">
                <a:latin typeface="微软雅黑" panose="020B0503020204020204" pitchFamily="34" charset="-122"/>
                <a:ea typeface="微软雅黑" panose="020B0503020204020204" pitchFamily="34" charset="-122"/>
              </a:rPr>
              <a:t>(General Packet Radio Service)</a:t>
            </a:r>
            <a:r>
              <a:rPr lang="zh-CN" altLang="en-US" sz="1700" b="1" dirty="0">
                <a:latin typeface="微软雅黑" panose="020B0503020204020204" pitchFamily="34" charset="-122"/>
                <a:ea typeface="微软雅黑" panose="020B0503020204020204" pitchFamily="34" charset="-122"/>
              </a:rPr>
              <a:t>（</a:t>
            </a:r>
            <a:r>
              <a:rPr lang="zh-CN" altLang="en-US" sz="1700" b="1" dirty="0" smtClean="0">
                <a:latin typeface="微软雅黑" panose="020B0503020204020204" pitchFamily="34" charset="-122"/>
                <a:ea typeface="微软雅黑" panose="020B0503020204020204" pitchFamily="34" charset="-122"/>
              </a:rPr>
              <a:t>俗称 </a:t>
            </a:r>
            <a:r>
              <a:rPr lang="en-US" altLang="zh-CN" sz="1700" b="1" dirty="0" smtClean="0">
                <a:solidFill>
                  <a:srgbClr val="0000CC"/>
                </a:solidFill>
                <a:latin typeface="微软雅黑" panose="020B0503020204020204" pitchFamily="34" charset="-122"/>
                <a:ea typeface="微软雅黑" panose="020B0503020204020204" pitchFamily="34" charset="-122"/>
              </a:rPr>
              <a:t>2.5G</a:t>
            </a:r>
            <a:r>
              <a:rPr lang="zh-CN" altLang="en-US" sz="1700" b="1" dirty="0">
                <a:latin typeface="微软雅黑" panose="020B0503020204020204" pitchFamily="34" charset="-122"/>
                <a:ea typeface="微软雅黑" panose="020B0503020204020204" pitchFamily="34" charset="-122"/>
              </a:rPr>
              <a:t>）；</a:t>
            </a:r>
            <a:endParaRPr lang="en-US" altLang="zh-CN" sz="1700" b="1" dirty="0">
              <a:latin typeface="微软雅黑" panose="020B0503020204020204" pitchFamily="34" charset="-122"/>
              <a:ea typeface="微软雅黑" panose="020B0503020204020204"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anose="020B0503020204020204" pitchFamily="34" charset="-122"/>
                <a:ea typeface="微软雅黑" panose="020B0503020204020204" pitchFamily="34" charset="-122"/>
              </a:rPr>
              <a:t>增强型数据</a:t>
            </a:r>
            <a:r>
              <a:rPr lang="zh-CN" altLang="en-US" sz="1700" b="1" dirty="0" smtClean="0">
                <a:solidFill>
                  <a:srgbClr val="C00000"/>
                </a:solidFill>
                <a:latin typeface="微软雅黑" panose="020B0503020204020204" pitchFamily="34" charset="-122"/>
                <a:ea typeface="微软雅黑" panose="020B0503020204020204" pitchFamily="34" charset="-122"/>
              </a:rPr>
              <a:t>速率 </a:t>
            </a:r>
            <a:r>
              <a:rPr lang="en-US" altLang="zh-CN" sz="1700" b="1" dirty="0" smtClean="0">
                <a:solidFill>
                  <a:srgbClr val="C00000"/>
                </a:solidFill>
                <a:latin typeface="微软雅黑" panose="020B0503020204020204" pitchFamily="34" charset="-122"/>
                <a:ea typeface="微软雅黑" panose="020B0503020204020204" pitchFamily="34" charset="-122"/>
              </a:rPr>
              <a:t>GSM </a:t>
            </a:r>
            <a:r>
              <a:rPr lang="zh-CN" altLang="en-US" sz="1700" b="1" dirty="0" smtClean="0">
                <a:solidFill>
                  <a:srgbClr val="C00000"/>
                </a:solidFill>
                <a:latin typeface="微软雅黑" panose="020B0503020204020204" pitchFamily="34" charset="-122"/>
                <a:ea typeface="微软雅黑" panose="020B0503020204020204" pitchFamily="34" charset="-122"/>
              </a:rPr>
              <a:t>演进 </a:t>
            </a:r>
            <a:r>
              <a:rPr lang="en-US" altLang="zh-CN" sz="1700" b="1" dirty="0" smtClean="0">
                <a:solidFill>
                  <a:srgbClr val="C00000"/>
                </a:solidFill>
                <a:latin typeface="微软雅黑" panose="020B0503020204020204" pitchFamily="34" charset="-122"/>
                <a:ea typeface="微软雅黑" panose="020B0503020204020204" pitchFamily="34" charset="-122"/>
              </a:rPr>
              <a:t>EDGE</a:t>
            </a:r>
            <a:r>
              <a:rPr lang="en-US" altLang="zh-CN" sz="1700" b="1" dirty="0" smtClean="0">
                <a:latin typeface="微软雅黑" panose="020B0503020204020204" pitchFamily="34" charset="-122"/>
                <a:ea typeface="微软雅黑" panose="020B0503020204020204" pitchFamily="34" charset="-122"/>
              </a:rPr>
              <a:t> </a:t>
            </a:r>
            <a:r>
              <a:rPr lang="en-US" altLang="zh-CN" sz="1700" b="1" dirty="0">
                <a:latin typeface="微软雅黑" panose="020B0503020204020204" pitchFamily="34" charset="-122"/>
                <a:ea typeface="微软雅黑" panose="020B0503020204020204" pitchFamily="34" charset="-122"/>
              </a:rPr>
              <a:t>(Enhanced Data rate for GSM Evolution</a:t>
            </a:r>
            <a:r>
              <a:rPr lang="en-US" altLang="zh-CN" sz="1700" b="1" dirty="0" smtClean="0">
                <a:latin typeface="微软雅黑" panose="020B0503020204020204" pitchFamily="34" charset="-122"/>
                <a:ea typeface="微软雅黑" panose="020B0503020204020204" pitchFamily="34" charset="-122"/>
              </a:rPr>
              <a:t>)</a:t>
            </a:r>
            <a:r>
              <a:rPr lang="zh-CN" altLang="en-US" sz="1700" b="1" dirty="0" smtClean="0">
                <a:latin typeface="微软雅黑" panose="020B0503020204020204" pitchFamily="34" charset="-122"/>
                <a:ea typeface="微软雅黑" panose="020B0503020204020204" pitchFamily="34" charset="-122"/>
              </a:rPr>
              <a:t> 系统</a:t>
            </a:r>
            <a:r>
              <a:rPr lang="zh-CN" altLang="en-US" sz="1700" b="1" dirty="0">
                <a:latin typeface="微软雅黑" panose="020B0503020204020204" pitchFamily="34" charset="-122"/>
                <a:ea typeface="微软雅黑" panose="020B0503020204020204" pitchFamily="34" charset="-122"/>
              </a:rPr>
              <a:t>（俗称 </a:t>
            </a:r>
            <a:r>
              <a:rPr lang="en-US" altLang="zh-CN" sz="1700" b="1" dirty="0">
                <a:solidFill>
                  <a:srgbClr val="0000CC"/>
                </a:solidFill>
                <a:latin typeface="微软雅黑" panose="020B0503020204020204" pitchFamily="34" charset="-122"/>
                <a:ea typeface="微软雅黑" panose="020B0503020204020204" pitchFamily="34" charset="-122"/>
              </a:rPr>
              <a:t>2.75G</a:t>
            </a:r>
            <a:r>
              <a:rPr lang="zh-CN" altLang="en-US" sz="1700" b="1" dirty="0">
                <a:latin typeface="微软雅黑" panose="020B0503020204020204" pitchFamily="34" charset="-122"/>
                <a:ea typeface="微软雅黑" panose="020B0503020204020204" pitchFamily="34" charset="-122"/>
              </a:rPr>
              <a:t>）</a:t>
            </a:r>
            <a:r>
              <a:rPr lang="zh-CN" altLang="en-US" sz="1700" b="1" dirty="0" smtClean="0">
                <a:latin typeface="微软雅黑" panose="020B0503020204020204" pitchFamily="34" charset="-122"/>
                <a:ea typeface="微软雅黑" panose="020B0503020204020204" pitchFamily="34" charset="-122"/>
              </a:rPr>
              <a:t>。</a:t>
            </a:r>
            <a:endParaRPr lang="en-US" altLang="zh-CN" sz="1700" b="1" dirty="0">
              <a:latin typeface="微软雅黑" panose="020B0503020204020204" pitchFamily="34" charset="-122"/>
              <a:ea typeface="微软雅黑" panose="020B0503020204020204" pitchFamily="34" charset="-122"/>
            </a:endParaRPr>
          </a:p>
          <a:p>
            <a:pPr marL="342900" indent="-342900" eaLnBrk="0" hangingPunct="0">
              <a:lnSpc>
                <a:spcPts val="2700"/>
              </a:lnSpc>
              <a:buClr>
                <a:srgbClr val="0070C0"/>
              </a:buClr>
              <a:buFont typeface="Wingdings" panose="05000000000000000000" pitchFamily="2" charset="2"/>
              <a:buChar char="l"/>
            </a:pPr>
            <a:r>
              <a:rPr lang="zh-CN" altLang="en-US" sz="1700" b="1" dirty="0" smtClean="0">
                <a:solidFill>
                  <a:srgbClr val="C00000"/>
                </a:solidFill>
                <a:latin typeface="微软雅黑" panose="020B0503020204020204" pitchFamily="34" charset="-122"/>
                <a:ea typeface="微软雅黑" panose="020B0503020204020204" pitchFamily="34" charset="-122"/>
              </a:rPr>
              <a:t>空口调制</a:t>
            </a:r>
            <a:r>
              <a:rPr lang="zh-CN" altLang="en-US" sz="1700" b="1" dirty="0">
                <a:solidFill>
                  <a:srgbClr val="C00000"/>
                </a:solidFill>
                <a:latin typeface="微软雅黑" panose="020B0503020204020204" pitchFamily="34" charset="-122"/>
                <a:ea typeface="微软雅黑" panose="020B0503020204020204" pitchFamily="34" charset="-122"/>
              </a:rPr>
              <a:t>方式：</a:t>
            </a:r>
            <a:r>
              <a:rPr lang="zh-CN" altLang="en-US" sz="1700" b="1" dirty="0">
                <a:latin typeface="微软雅黑" panose="020B0503020204020204" pitchFamily="34" charset="-122"/>
                <a:ea typeface="微软雅黑" panose="020B0503020204020204" pitchFamily="34" charset="-122"/>
              </a:rPr>
              <a:t>由高斯最小频移键控 </a:t>
            </a:r>
            <a:r>
              <a:rPr lang="en-US" altLang="zh-CN" sz="1700" b="1" dirty="0">
                <a:latin typeface="微软雅黑" panose="020B0503020204020204" pitchFamily="34" charset="-122"/>
                <a:ea typeface="微软雅黑" panose="020B0503020204020204" pitchFamily="34" charset="-122"/>
              </a:rPr>
              <a:t>GMSK (Gaussian Minimum Shift Keying) </a:t>
            </a:r>
            <a:r>
              <a:rPr lang="zh-CN" altLang="en-US" sz="1700" b="1" dirty="0">
                <a:latin typeface="微软雅黑" panose="020B0503020204020204" pitchFamily="34" charset="-122"/>
                <a:ea typeface="微软雅黑" panose="020B0503020204020204" pitchFamily="34" charset="-122"/>
              </a:rPr>
              <a:t>提高到 </a:t>
            </a:r>
            <a:r>
              <a:rPr lang="en-US" altLang="zh-CN" sz="1700" b="1" dirty="0" smtClean="0">
                <a:latin typeface="微软雅黑" panose="020B0503020204020204" pitchFamily="34" charset="-122"/>
                <a:ea typeface="微软雅黑" panose="020B0503020204020204" pitchFamily="34" charset="-122"/>
              </a:rPr>
              <a:t>8PSK</a:t>
            </a:r>
            <a:r>
              <a:rPr lang="zh-CN" altLang="en-US" sz="1700" b="1" dirty="0" smtClean="0">
                <a:latin typeface="微软雅黑" panose="020B0503020204020204" pitchFamily="34" charset="-122"/>
                <a:ea typeface="微软雅黑" panose="020B0503020204020204" pitchFamily="34" charset="-122"/>
              </a:rPr>
              <a:t>；</a:t>
            </a:r>
            <a:endParaRPr lang="en-US" altLang="zh-CN" sz="1700" b="1" dirty="0">
              <a:latin typeface="微软雅黑" panose="020B0503020204020204" pitchFamily="34" charset="-122"/>
              <a:ea typeface="微软雅黑" panose="020B0503020204020204" pitchFamily="34" charset="-122"/>
            </a:endParaRPr>
          </a:p>
          <a:p>
            <a:pPr marL="342900" indent="-342900" eaLnBrk="0" hangingPunct="0">
              <a:lnSpc>
                <a:spcPts val="2700"/>
              </a:lnSpc>
              <a:buClr>
                <a:srgbClr val="0070C0"/>
              </a:buClr>
              <a:buSzPct val="85000"/>
              <a:buFont typeface="Wingdings" panose="05000000000000000000" pitchFamily="2" charset="2"/>
              <a:buChar char="l"/>
            </a:pPr>
            <a:r>
              <a:rPr lang="zh-CN" altLang="en-US" sz="1700" b="1" dirty="0">
                <a:solidFill>
                  <a:srgbClr val="C00000"/>
                </a:solidFill>
                <a:latin typeface="微软雅黑" panose="020B0503020204020204" pitchFamily="34" charset="-122"/>
                <a:ea typeface="微软雅黑" panose="020B0503020204020204" pitchFamily="34" charset="-122"/>
              </a:rPr>
              <a:t>网元：</a:t>
            </a:r>
            <a:r>
              <a:rPr lang="zh-CN" altLang="en-US" sz="1700" b="1" dirty="0">
                <a:latin typeface="微软雅黑" panose="020B0503020204020204" pitchFamily="34" charset="-122"/>
                <a:ea typeface="微软雅黑" panose="020B0503020204020204" pitchFamily="34" charset="-122"/>
              </a:rPr>
              <a:t>引入了分组控制单元 </a:t>
            </a:r>
            <a:r>
              <a:rPr lang="en-US" altLang="zh-CN" sz="1700" b="1" dirty="0">
                <a:latin typeface="微软雅黑" panose="020B0503020204020204" pitchFamily="34" charset="-122"/>
                <a:ea typeface="微软雅黑" panose="020B0503020204020204" pitchFamily="34" charset="-122"/>
              </a:rPr>
              <a:t>PCU (Packet Control Unit)</a:t>
            </a:r>
            <a:r>
              <a:rPr lang="zh-CN" altLang="en-US" sz="1700" b="1" dirty="0">
                <a:latin typeface="微软雅黑" panose="020B0503020204020204" pitchFamily="34" charset="-122"/>
                <a:ea typeface="微软雅黑" panose="020B0503020204020204" pitchFamily="34" charset="-122"/>
              </a:rPr>
              <a:t>。</a:t>
            </a:r>
            <a:endParaRPr lang="en-US" altLang="zh-CN" sz="1700" b="1" dirty="0">
              <a:latin typeface="微软雅黑" panose="020B0503020204020204" pitchFamily="34" charset="-122"/>
              <a:ea typeface="微软雅黑" panose="020B0503020204020204"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en-US" altLang="zh-CN" sz="1700" b="1" dirty="0">
                <a:latin typeface="微软雅黑" panose="020B0503020204020204" pitchFamily="34" charset="-122"/>
                <a:ea typeface="微软雅黑" panose="020B0503020204020204" pitchFamily="34" charset="-122"/>
              </a:rPr>
              <a:t>PCU </a:t>
            </a:r>
            <a:r>
              <a:rPr lang="zh-CN" altLang="en-US" sz="1700" b="1" dirty="0">
                <a:latin typeface="微软雅黑" panose="020B0503020204020204" pitchFamily="34" charset="-122"/>
                <a:ea typeface="微软雅黑" panose="020B0503020204020204" pitchFamily="34" charset="-122"/>
              </a:rPr>
              <a:t>通常和 </a:t>
            </a:r>
            <a:r>
              <a:rPr lang="en-US" altLang="zh-CN" sz="1700" b="1" dirty="0">
                <a:latin typeface="微软雅黑" panose="020B0503020204020204" pitchFamily="34" charset="-122"/>
                <a:ea typeface="微软雅黑" panose="020B0503020204020204" pitchFamily="34" charset="-122"/>
              </a:rPr>
              <a:t>BSC </a:t>
            </a:r>
            <a:r>
              <a:rPr lang="zh-CN" altLang="en-US" sz="1700" b="1" dirty="0">
                <a:latin typeface="微软雅黑" panose="020B0503020204020204" pitchFamily="34" charset="-122"/>
                <a:ea typeface="微软雅黑" panose="020B0503020204020204" pitchFamily="34" charset="-122"/>
              </a:rPr>
              <a:t>集成在一起，负责处理有关数据通信的业务</a:t>
            </a:r>
            <a:r>
              <a:rPr lang="zh-CN" altLang="en-US" sz="1700" b="1" dirty="0" smtClean="0">
                <a:latin typeface="微软雅黑" panose="020B0503020204020204" pitchFamily="34" charset="-122"/>
                <a:ea typeface="微软雅黑" panose="020B0503020204020204" pitchFamily="34" charset="-122"/>
              </a:rPr>
              <a:t>。</a:t>
            </a:r>
            <a:endParaRPr lang="en-US" altLang="zh-CN" sz="17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50973" y="585623"/>
            <a:ext cx="38282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数据通信被引入移动通信系统</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矩形 1"/>
          <p:cNvSpPr/>
          <p:nvPr/>
        </p:nvSpPr>
        <p:spPr>
          <a:xfrm>
            <a:off x="1336431" y="3754814"/>
            <a:ext cx="6418384" cy="938719"/>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rPr>
              <a:t>PCU </a:t>
            </a:r>
            <a:r>
              <a:rPr lang="zh-CN" altLang="en-US" sz="1600" b="1" dirty="0">
                <a:latin typeface="微软雅黑" panose="020B0503020204020204" pitchFamily="34" charset="-122"/>
                <a:ea typeface="微软雅黑" panose="020B0503020204020204" pitchFamily="34" charset="-122"/>
              </a:rPr>
              <a:t>根据用户数据业务的突发性质，动态地分配空口资源给用户，提高了空口资源的利用率，提供的最大速率</a:t>
            </a:r>
            <a:r>
              <a:rPr lang="zh-CN" altLang="en-US" sz="1600" b="1" dirty="0" smtClean="0">
                <a:latin typeface="微软雅黑" panose="020B0503020204020204" pitchFamily="34" charset="-122"/>
                <a:ea typeface="微软雅黑" panose="020B0503020204020204" pitchFamily="34" charset="-122"/>
              </a:rPr>
              <a:t>为 </a:t>
            </a:r>
            <a:r>
              <a:rPr lang="en-US" altLang="zh-CN" sz="1600" b="1" dirty="0" smtClean="0">
                <a:latin typeface="微软雅黑" panose="020B0503020204020204" pitchFamily="34" charset="-122"/>
                <a:ea typeface="微软雅黑" panose="020B0503020204020204" pitchFamily="34" charset="-122"/>
              </a:rPr>
              <a:t>171.2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GPRS</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和 </a:t>
            </a:r>
            <a:r>
              <a:rPr lang="en-US" altLang="zh-CN" sz="1600" b="1" dirty="0" smtClean="0">
                <a:latin typeface="微软雅黑" panose="020B0503020204020204" pitchFamily="34" charset="-122"/>
                <a:ea typeface="微软雅黑" panose="020B0503020204020204" pitchFamily="34" charset="-122"/>
              </a:rPr>
              <a:t>384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EDGE</a:t>
            </a:r>
            <a:r>
              <a:rPr lang="zh-CN" altLang="en-US"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引入 </a:t>
            </a:r>
            <a:r>
              <a:rPr lang="en-US" altLang="zh-CN" sz="2000" b="1" dirty="0" smtClean="0">
                <a:latin typeface="微软雅黑" panose="020B0503020204020204" pitchFamily="34" charset="-122"/>
                <a:ea typeface="微软雅黑" panose="020B0503020204020204" pitchFamily="34" charset="-122"/>
              </a:rPr>
              <a:t>GPRS </a:t>
            </a:r>
            <a:r>
              <a:rPr lang="zh-CN" altLang="en-US" sz="2000" b="1" dirty="0" smtClean="0">
                <a:latin typeface="微软雅黑" panose="020B0503020204020204" pitchFamily="34" charset="-122"/>
                <a:ea typeface="微软雅黑" panose="020B0503020204020204" pitchFamily="34" charset="-122"/>
              </a:rPr>
              <a:t>后</a:t>
            </a:r>
            <a:r>
              <a:rPr lang="zh-CN" altLang="en-US" sz="2000" b="1" dirty="0">
                <a:latin typeface="微软雅黑" panose="020B0503020204020204" pitchFamily="34" charset="-122"/>
                <a:ea typeface="微软雅黑" panose="020B0503020204020204" pitchFamily="34" charset="-122"/>
              </a:rPr>
              <a:t>的核心</a:t>
            </a:r>
            <a:r>
              <a:rPr lang="zh-CN" altLang="en-US" sz="2000" b="1" dirty="0" smtClean="0">
                <a:latin typeface="微软雅黑" panose="020B0503020204020204" pitchFamily="34" charset="-122"/>
                <a:ea typeface="微软雅黑" panose="020B0503020204020204" pitchFamily="34" charset="-122"/>
              </a:rPr>
              <a:t>网组成</a:t>
            </a:r>
            <a:endParaRPr lang="zh-CN" altLang="en-US" sz="2000" b="1" dirty="0">
              <a:latin typeface="微软雅黑" panose="020B0503020204020204" pitchFamily="34" charset="-122"/>
              <a:ea typeface="微软雅黑" panose="020B0503020204020204" pitchFamily="34" charset="-122"/>
            </a:endParaRPr>
          </a:p>
        </p:txBody>
      </p:sp>
      <p:sp>
        <p:nvSpPr>
          <p:cNvPr id="9" name="Freeform 510"/>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731391"/>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2097222"/>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2339768"/>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973939"/>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582315"/>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886503"/>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582315"/>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17409" name="Microsoft ClipArt Gallery" r:id="rId2" imgW="53035200" imgH="20888325" progId="">
                  <p:embed/>
                </p:oleObj>
              </mc:Choice>
              <mc:Fallback>
                <p:oleObj name="Microsoft ClipArt Gallery" r:id="rId2" imgW="53035200" imgH="20888325" progId="">
                  <p:embed/>
                  <p:pic>
                    <p:nvPicPr>
                      <p:cNvPr id="0" name="图片 17408"/>
                      <p:cNvPicPr/>
                      <p:nvPr/>
                    </p:nvPicPr>
                    <p:blipFill>
                      <a:blip r:embed="rId3"/>
                      <a:stretch>
                        <a:fillRect/>
                      </a:stretch>
                    </p:blipFill>
                    <p:spPr>
                      <a:xfrm>
                        <a:off x="1360645" y="3129050"/>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latin typeface="微软雅黑" panose="020B0503020204020204" pitchFamily="34" charset="-122"/>
                <a:ea typeface="微软雅黑" panose="020B0503020204020204" pitchFamily="34" charset="-122"/>
              </a:rPr>
              <a:t>BSC/PCU</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grpSp>
        <p:nvGrpSpPr>
          <p:cNvPr id="260" name="Group 512"/>
          <p:cNvGrpSpPr/>
          <p:nvPr/>
        </p:nvGrpSpPr>
        <p:grpSpPr bwMode="auto">
          <a:xfrm>
            <a:off x="2159508" y="1117523"/>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endParaRPr kumimoji="1" lang="zh-CN" altLang="en-US" sz="1200" b="1">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endParaRPr kumimoji="1" lang="zh-CN" altLang="en-US"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17410" name="Microsoft ClipArt Gallery" r:id="rId5" imgW="53035200" imgH="20888325" progId="">
                  <p:embed/>
                </p:oleObj>
              </mc:Choice>
              <mc:Fallback>
                <p:oleObj name="Microsoft ClipArt Gallery" r:id="rId5" imgW="53035200" imgH="20888325" progId="">
                  <p:embed/>
                  <p:pic>
                    <p:nvPicPr>
                      <p:cNvPr id="0" name="图片 17409"/>
                      <p:cNvPicPr/>
                      <p:nvPr/>
                    </p:nvPicPr>
                    <p:blipFill>
                      <a:blip r:embed="rId3"/>
                      <a:stretch>
                        <a:fillRect/>
                      </a:stretch>
                    </p:blipFill>
                    <p:spPr>
                      <a:xfrm>
                        <a:off x="2962949" y="1343316"/>
                        <a:ext cx="331914" cy="174205"/>
                      </a:xfrm>
                      <a:prstGeom prst="rect">
                        <a:avLst/>
                      </a:prstGeom>
                      <a:noFill/>
                      <a:ln w="12700">
                        <a:noFill/>
                      </a:ln>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endParaRPr kumimoji="1" lang="zh-CN" altLang="en-US"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endParaRPr kumimoji="1" lang="zh-CN" altLang="en-US" sz="11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endParaRPr kumimoji="1" lang="zh-CN" altLang="en-US" sz="1200" b="1" dirty="0">
              <a:latin typeface="微软雅黑" panose="020B0503020204020204" pitchFamily="34" charset="-122"/>
              <a:ea typeface="微软雅黑" panose="020B0503020204020204" pitchFamily="34" charset="-122"/>
            </a:endParaRP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endParaRPr lang="zh-CN" altLang="en-US" dirty="0"/>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spid="_x0000_s17411" name="Visio" r:id="rId7" imgW="3514725" imgH="2009775" progId="">
                  <p:embed/>
                </p:oleObj>
              </mc:Choice>
              <mc:Fallback>
                <p:oleObj name="Visio" r:id="rId7" imgW="3514725" imgH="2009775" progId="">
                  <p:embed/>
                  <p:pic>
                    <p:nvPicPr>
                      <p:cNvPr id="0" name="图片 17410"/>
                      <p:cNvPicPr>
                        <a:picLocks noChangeAspect="1"/>
                      </p:cNvPicPr>
                      <p:nvPr/>
                    </p:nvPicPr>
                    <p:blipFill>
                      <a:blip r:embed="rId8"/>
                      <a:stretch>
                        <a:fillRect/>
                      </a:stretch>
                    </p:blipFill>
                    <p:spPr>
                      <a:xfrm>
                        <a:off x="6807191" y="2813673"/>
                        <a:ext cx="1184398" cy="677438"/>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6" name="矩形 5"/>
          <p:cNvSpPr/>
          <p:nvPr/>
        </p:nvSpPr>
        <p:spPr>
          <a:xfrm>
            <a:off x="1290972" y="4190426"/>
            <a:ext cx="6695679" cy="605294"/>
          </a:xfrm>
          <a:prstGeom prst="rect">
            <a:avLst/>
          </a:prstGeom>
        </p:spPr>
        <p:txBody>
          <a:bodyPr wrap="square">
            <a:spAutoFit/>
          </a:bodyPr>
          <a:lstStyle/>
          <a:p>
            <a:pPr>
              <a:lnSpc>
                <a:spcPts val="20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a:t>
            </a:r>
            <a:r>
              <a:rPr lang="zh-CN"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电路交换域</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 </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域：</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负责话音通信。</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数据通信。</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7" name="组合 366"/>
          <p:cNvGrpSpPr/>
          <p:nvPr/>
        </p:nvGrpSpPr>
        <p:grpSpPr>
          <a:xfrm>
            <a:off x="878718" y="1616623"/>
            <a:ext cx="902811" cy="765185"/>
            <a:chOff x="921506" y="1085804"/>
            <a:chExt cx="902811" cy="765185"/>
          </a:xfrm>
        </p:grpSpPr>
        <p:cxnSp>
          <p:nvCxnSpPr>
            <p:cNvPr id="368" name="直接连接符 36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cxnSp>
          <p:nvCxnSpPr>
            <p:cNvPr id="370" name="直接箭头连接符 369"/>
            <p:cNvCxnSpPr>
              <a:stCxn id="36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引入 </a:t>
            </a:r>
            <a:r>
              <a:rPr lang="en-US" altLang="zh-CN" sz="2000" b="1" dirty="0" smtClean="0">
                <a:latin typeface="微软雅黑" panose="020B0503020204020204" pitchFamily="34" charset="-122"/>
                <a:ea typeface="微软雅黑" panose="020B0503020204020204" pitchFamily="34" charset="-122"/>
              </a:rPr>
              <a:t>GPRS </a:t>
            </a:r>
            <a:r>
              <a:rPr lang="zh-CN" altLang="en-US" sz="2000" b="1" dirty="0" smtClean="0">
                <a:latin typeface="微软雅黑" panose="020B0503020204020204" pitchFamily="34" charset="-122"/>
                <a:ea typeface="微软雅黑" panose="020B0503020204020204" pitchFamily="34" charset="-122"/>
              </a:rPr>
              <a:t>后</a:t>
            </a:r>
            <a:r>
              <a:rPr lang="zh-CN" altLang="en-US" sz="2000" b="1" dirty="0">
                <a:latin typeface="微软雅黑" panose="020B0503020204020204" pitchFamily="34" charset="-122"/>
                <a:ea typeface="微软雅黑" panose="020B0503020204020204" pitchFamily="34" charset="-122"/>
              </a:rPr>
              <a:t>的核心</a:t>
            </a:r>
            <a:r>
              <a:rPr lang="zh-CN" altLang="en-US" sz="2000" b="1" dirty="0" smtClean="0">
                <a:latin typeface="微软雅黑" panose="020B0503020204020204" pitchFamily="34" charset="-122"/>
                <a:ea typeface="微软雅黑" panose="020B0503020204020204" pitchFamily="34" charset="-122"/>
              </a:rPr>
              <a:t>网组成</a:t>
            </a:r>
            <a:endParaRPr lang="zh-CN" altLang="en-US" sz="2000" b="1" dirty="0">
              <a:latin typeface="微软雅黑" panose="020B0503020204020204" pitchFamily="34" charset="-122"/>
              <a:ea typeface="微软雅黑" panose="020B0503020204020204" pitchFamily="34" charset="-122"/>
            </a:endParaRPr>
          </a:p>
        </p:txBody>
      </p:sp>
      <p:sp>
        <p:nvSpPr>
          <p:cNvPr id="9" name="Freeform 510"/>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731391"/>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2097222"/>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2339768"/>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973939"/>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582315"/>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886503"/>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582315"/>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18433" name="Microsoft ClipArt Gallery" r:id="rId2" imgW="53035200" imgH="20888325" progId="">
                  <p:embed/>
                </p:oleObj>
              </mc:Choice>
              <mc:Fallback>
                <p:oleObj name="Microsoft ClipArt Gallery" r:id="rId2" imgW="53035200" imgH="20888325" progId="">
                  <p:embed/>
                  <p:pic>
                    <p:nvPicPr>
                      <p:cNvPr id="0" name="图片 18432"/>
                      <p:cNvPicPr/>
                      <p:nvPr/>
                    </p:nvPicPr>
                    <p:blipFill>
                      <a:blip r:embed="rId3"/>
                      <a:stretch>
                        <a:fillRect/>
                      </a:stretch>
                    </p:blipFill>
                    <p:spPr>
                      <a:xfrm>
                        <a:off x="1360645" y="3129050"/>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latin typeface="微软雅黑" panose="020B0503020204020204" pitchFamily="34" charset="-122"/>
                <a:ea typeface="微软雅黑" panose="020B0503020204020204" pitchFamily="34" charset="-122"/>
              </a:rPr>
              <a:t>BSC/PCU</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grpSp>
        <p:nvGrpSpPr>
          <p:cNvPr id="260" name="Group 512"/>
          <p:cNvGrpSpPr/>
          <p:nvPr/>
        </p:nvGrpSpPr>
        <p:grpSpPr bwMode="auto">
          <a:xfrm>
            <a:off x="2159508" y="1117523"/>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endParaRPr kumimoji="1" lang="zh-CN" altLang="en-US" sz="1200" b="1">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endParaRPr kumimoji="1" lang="zh-CN" altLang="en-US"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18434" name="Microsoft ClipArt Gallery" r:id="rId5" imgW="53035200" imgH="20888325" progId="">
                  <p:embed/>
                </p:oleObj>
              </mc:Choice>
              <mc:Fallback>
                <p:oleObj name="Microsoft ClipArt Gallery" r:id="rId5" imgW="53035200" imgH="20888325" progId="">
                  <p:embed/>
                  <p:pic>
                    <p:nvPicPr>
                      <p:cNvPr id="0" name="图片 18433"/>
                      <p:cNvPicPr/>
                      <p:nvPr/>
                    </p:nvPicPr>
                    <p:blipFill>
                      <a:blip r:embed="rId3"/>
                      <a:stretch>
                        <a:fillRect/>
                      </a:stretch>
                    </p:blipFill>
                    <p:spPr>
                      <a:xfrm>
                        <a:off x="2962949" y="1343316"/>
                        <a:ext cx="331914" cy="174205"/>
                      </a:xfrm>
                      <a:prstGeom prst="rect">
                        <a:avLst/>
                      </a:prstGeom>
                      <a:noFill/>
                      <a:ln w="12700">
                        <a:noFill/>
                      </a:ln>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endParaRPr kumimoji="1" lang="zh-CN" altLang="en-US"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endParaRPr kumimoji="1" lang="zh-CN" altLang="en-US" sz="11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endParaRPr kumimoji="1" lang="zh-CN" altLang="en-US" sz="1200" b="1" dirty="0">
              <a:latin typeface="微软雅黑" panose="020B0503020204020204" pitchFamily="34" charset="-122"/>
              <a:ea typeface="微软雅黑" panose="020B0503020204020204" pitchFamily="34" charset="-122"/>
            </a:endParaRP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endParaRPr lang="zh-CN" altLang="en-US" dirty="0"/>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spid="_x0000_s18435" name="Visio" r:id="rId7" imgW="3514725" imgH="2009775" progId="">
                  <p:embed/>
                </p:oleObj>
              </mc:Choice>
              <mc:Fallback>
                <p:oleObj name="Visio" r:id="rId7" imgW="3514725" imgH="2009775" progId="">
                  <p:embed/>
                  <p:pic>
                    <p:nvPicPr>
                      <p:cNvPr id="0" name="图片 18434"/>
                      <p:cNvPicPr>
                        <a:picLocks noChangeAspect="1"/>
                      </p:cNvPicPr>
                      <p:nvPr/>
                    </p:nvPicPr>
                    <p:blipFill>
                      <a:blip r:embed="rId8"/>
                      <a:stretch>
                        <a:fillRect/>
                      </a:stretch>
                    </p:blipFill>
                    <p:spPr>
                      <a:xfrm>
                        <a:off x="6807191" y="2813673"/>
                        <a:ext cx="1184398" cy="677438"/>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分组交换</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域</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服务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(Serving GPRS Support Node</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网关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(Gateway GPRS Support Node)</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引入 </a:t>
            </a:r>
            <a:r>
              <a:rPr lang="en-US" altLang="zh-CN" sz="2000" b="1" dirty="0" smtClean="0">
                <a:latin typeface="微软雅黑" panose="020B0503020204020204" pitchFamily="34" charset="-122"/>
                <a:ea typeface="微软雅黑" panose="020B0503020204020204" pitchFamily="34" charset="-122"/>
              </a:rPr>
              <a:t>GPRS </a:t>
            </a:r>
            <a:r>
              <a:rPr lang="zh-CN" altLang="en-US" sz="2000" b="1" dirty="0" smtClean="0">
                <a:latin typeface="微软雅黑" panose="020B0503020204020204" pitchFamily="34" charset="-122"/>
                <a:ea typeface="微软雅黑" panose="020B0503020204020204" pitchFamily="34" charset="-122"/>
              </a:rPr>
              <a:t>后</a:t>
            </a:r>
            <a:r>
              <a:rPr lang="zh-CN" altLang="en-US" sz="2000" b="1" dirty="0">
                <a:latin typeface="微软雅黑" panose="020B0503020204020204" pitchFamily="34" charset="-122"/>
                <a:ea typeface="微软雅黑" panose="020B0503020204020204" pitchFamily="34" charset="-122"/>
              </a:rPr>
              <a:t>的核心</a:t>
            </a:r>
            <a:r>
              <a:rPr lang="zh-CN" altLang="en-US" sz="2000" b="1" dirty="0" smtClean="0">
                <a:latin typeface="微软雅黑" panose="020B0503020204020204" pitchFamily="34" charset="-122"/>
                <a:ea typeface="微软雅黑" panose="020B0503020204020204" pitchFamily="34" charset="-122"/>
              </a:rPr>
              <a:t>网组成</a:t>
            </a:r>
            <a:endParaRPr lang="zh-CN" altLang="en-US" sz="2000" b="1" dirty="0">
              <a:latin typeface="微软雅黑" panose="020B0503020204020204" pitchFamily="34" charset="-122"/>
              <a:ea typeface="微软雅黑" panose="020B0503020204020204" pitchFamily="34" charset="-122"/>
            </a:endParaRPr>
          </a:p>
        </p:txBody>
      </p:sp>
      <p:sp>
        <p:nvSpPr>
          <p:cNvPr id="9" name="Freeform 510"/>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731391"/>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2097222"/>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2339768"/>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973939"/>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582315"/>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886503"/>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582315"/>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19457" name="Microsoft ClipArt Gallery" r:id="rId2" imgW="53035200" imgH="20888325" progId="">
                  <p:embed/>
                </p:oleObj>
              </mc:Choice>
              <mc:Fallback>
                <p:oleObj name="Microsoft ClipArt Gallery" r:id="rId2" imgW="53035200" imgH="20888325" progId="">
                  <p:embed/>
                  <p:pic>
                    <p:nvPicPr>
                      <p:cNvPr id="0" name="图片 19456"/>
                      <p:cNvPicPr/>
                      <p:nvPr/>
                    </p:nvPicPr>
                    <p:blipFill>
                      <a:blip r:embed="rId3"/>
                      <a:stretch>
                        <a:fillRect/>
                      </a:stretch>
                    </p:blipFill>
                    <p:spPr>
                      <a:xfrm>
                        <a:off x="1360645" y="3129050"/>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latin typeface="微软雅黑" panose="020B0503020204020204" pitchFamily="34" charset="-122"/>
                <a:ea typeface="微软雅黑" panose="020B0503020204020204" pitchFamily="34" charset="-122"/>
              </a:rPr>
              <a:t>BSC/PCU</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grpSp>
        <p:nvGrpSpPr>
          <p:cNvPr id="260" name="Group 512"/>
          <p:cNvGrpSpPr/>
          <p:nvPr/>
        </p:nvGrpSpPr>
        <p:grpSpPr bwMode="auto">
          <a:xfrm>
            <a:off x="2159508" y="1117523"/>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endParaRPr kumimoji="1" lang="zh-CN" altLang="en-US" sz="1200" b="1">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endParaRPr kumimoji="1" lang="zh-CN" altLang="en-US"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19458" name="Microsoft ClipArt Gallery" r:id="rId5" imgW="53035200" imgH="20888325" progId="">
                  <p:embed/>
                </p:oleObj>
              </mc:Choice>
              <mc:Fallback>
                <p:oleObj name="Microsoft ClipArt Gallery" r:id="rId5" imgW="53035200" imgH="20888325" progId="">
                  <p:embed/>
                  <p:pic>
                    <p:nvPicPr>
                      <p:cNvPr id="0" name="图片 19457"/>
                      <p:cNvPicPr/>
                      <p:nvPr/>
                    </p:nvPicPr>
                    <p:blipFill>
                      <a:blip r:embed="rId3"/>
                      <a:stretch>
                        <a:fillRect/>
                      </a:stretch>
                    </p:blipFill>
                    <p:spPr>
                      <a:xfrm>
                        <a:off x="2962949" y="1343316"/>
                        <a:ext cx="331914" cy="174205"/>
                      </a:xfrm>
                      <a:prstGeom prst="rect">
                        <a:avLst/>
                      </a:prstGeom>
                      <a:noFill/>
                      <a:ln w="12700">
                        <a:noFill/>
                      </a:ln>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endParaRPr kumimoji="1" lang="zh-CN" altLang="en-US"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endParaRPr kumimoji="1" lang="zh-CN" altLang="en-US" sz="11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endParaRPr kumimoji="1" lang="zh-CN" altLang="en-US" sz="1200" b="1" dirty="0">
              <a:latin typeface="微软雅黑" panose="020B0503020204020204" pitchFamily="34" charset="-122"/>
              <a:ea typeface="微软雅黑" panose="020B0503020204020204" pitchFamily="34" charset="-122"/>
            </a:endParaRP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endParaRPr lang="zh-CN" altLang="en-US" dirty="0"/>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spid="_x0000_s19459" name="Visio" r:id="rId7" imgW="3514725" imgH="2009775" progId="">
                  <p:embed/>
                </p:oleObj>
              </mc:Choice>
              <mc:Fallback>
                <p:oleObj name="Visio" r:id="rId7" imgW="3514725" imgH="2009775" progId="">
                  <p:embed/>
                  <p:pic>
                    <p:nvPicPr>
                      <p:cNvPr id="0" name="图片 19458"/>
                      <p:cNvPicPr>
                        <a:picLocks noChangeAspect="1"/>
                      </p:cNvPicPr>
                      <p:nvPr/>
                    </p:nvPicPr>
                    <p:blipFill>
                      <a:blip r:embed="rId8"/>
                      <a:stretch>
                        <a:fillRect/>
                      </a:stretch>
                    </p:blipFill>
                    <p:spPr>
                      <a:xfrm>
                        <a:off x="6807191" y="2813673"/>
                        <a:ext cx="1184398" cy="677438"/>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SGSN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在基站控制器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之间</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转发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数据报；与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交互，完成用户授权</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通信切换，移动节点位置信息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维护</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等</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引入 </a:t>
            </a:r>
            <a:r>
              <a:rPr lang="en-US" altLang="zh-CN" sz="2000" b="1" dirty="0" smtClean="0">
                <a:latin typeface="微软雅黑" panose="020B0503020204020204" pitchFamily="34" charset="-122"/>
                <a:ea typeface="微软雅黑" panose="020B0503020204020204" pitchFamily="34" charset="-122"/>
              </a:rPr>
              <a:t>GPRS </a:t>
            </a:r>
            <a:r>
              <a:rPr lang="zh-CN" altLang="en-US" sz="2000" b="1" dirty="0" smtClean="0">
                <a:latin typeface="微软雅黑" panose="020B0503020204020204" pitchFamily="34" charset="-122"/>
                <a:ea typeface="微软雅黑" panose="020B0503020204020204" pitchFamily="34" charset="-122"/>
              </a:rPr>
              <a:t>后</a:t>
            </a:r>
            <a:r>
              <a:rPr lang="zh-CN" altLang="en-US" sz="2000" b="1" dirty="0">
                <a:latin typeface="微软雅黑" panose="020B0503020204020204" pitchFamily="34" charset="-122"/>
                <a:ea typeface="微软雅黑" panose="020B0503020204020204" pitchFamily="34" charset="-122"/>
              </a:rPr>
              <a:t>的核心</a:t>
            </a:r>
            <a:r>
              <a:rPr lang="zh-CN" altLang="en-US" sz="2000" b="1" dirty="0" smtClean="0">
                <a:latin typeface="微软雅黑" panose="020B0503020204020204" pitchFamily="34" charset="-122"/>
                <a:ea typeface="微软雅黑" panose="020B0503020204020204" pitchFamily="34" charset="-122"/>
              </a:rPr>
              <a:t>网组成</a:t>
            </a:r>
            <a:endParaRPr lang="zh-CN" altLang="en-US" sz="2000" b="1" dirty="0">
              <a:latin typeface="微软雅黑" panose="020B0503020204020204" pitchFamily="34" charset="-122"/>
              <a:ea typeface="微软雅黑" panose="020B0503020204020204" pitchFamily="34" charset="-122"/>
            </a:endParaRPr>
          </a:p>
        </p:txBody>
      </p:sp>
      <p:sp>
        <p:nvSpPr>
          <p:cNvPr id="9" name="Freeform 510"/>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731391"/>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2097222"/>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2339768"/>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973939"/>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582315"/>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886503"/>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582315"/>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20481" name="Microsoft ClipArt Gallery" r:id="rId2" imgW="53035200" imgH="20888325" progId="">
                  <p:embed/>
                </p:oleObj>
              </mc:Choice>
              <mc:Fallback>
                <p:oleObj name="Microsoft ClipArt Gallery" r:id="rId2" imgW="53035200" imgH="20888325" progId="">
                  <p:embed/>
                  <p:pic>
                    <p:nvPicPr>
                      <p:cNvPr id="0" name="图片 20480"/>
                      <p:cNvPicPr/>
                      <p:nvPr/>
                    </p:nvPicPr>
                    <p:blipFill>
                      <a:blip r:embed="rId3"/>
                      <a:stretch>
                        <a:fillRect/>
                      </a:stretch>
                    </p:blipFill>
                    <p:spPr>
                      <a:xfrm>
                        <a:off x="1360645" y="3129050"/>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latin typeface="微软雅黑" panose="020B0503020204020204" pitchFamily="34" charset="-122"/>
                <a:ea typeface="微软雅黑" panose="020B0503020204020204" pitchFamily="34" charset="-122"/>
              </a:rPr>
              <a:t>BSC/PCU</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grpSp>
        <p:nvGrpSpPr>
          <p:cNvPr id="260" name="Group 512"/>
          <p:cNvGrpSpPr/>
          <p:nvPr/>
        </p:nvGrpSpPr>
        <p:grpSpPr bwMode="auto">
          <a:xfrm>
            <a:off x="2159508" y="1117523"/>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endParaRPr kumimoji="1" lang="zh-CN" altLang="en-US" sz="1200" b="1">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endParaRPr kumimoji="1" lang="zh-CN" altLang="en-US"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20482" name="Microsoft ClipArt Gallery" r:id="rId5" imgW="53035200" imgH="20888325" progId="">
                  <p:embed/>
                </p:oleObj>
              </mc:Choice>
              <mc:Fallback>
                <p:oleObj name="Microsoft ClipArt Gallery" r:id="rId5" imgW="53035200" imgH="20888325" progId="">
                  <p:embed/>
                  <p:pic>
                    <p:nvPicPr>
                      <p:cNvPr id="0" name="图片 20481"/>
                      <p:cNvPicPr/>
                      <p:nvPr/>
                    </p:nvPicPr>
                    <p:blipFill>
                      <a:blip r:embed="rId3"/>
                      <a:stretch>
                        <a:fillRect/>
                      </a:stretch>
                    </p:blipFill>
                    <p:spPr>
                      <a:xfrm>
                        <a:off x="2962949" y="1343316"/>
                        <a:ext cx="331914" cy="174205"/>
                      </a:xfrm>
                      <a:prstGeom prst="rect">
                        <a:avLst/>
                      </a:prstGeom>
                      <a:noFill/>
                      <a:ln w="12700">
                        <a:noFill/>
                      </a:ln>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endParaRPr kumimoji="1" lang="zh-CN" altLang="en-US"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endParaRPr kumimoji="1" lang="zh-CN" altLang="en-US" sz="11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endParaRPr kumimoji="1" lang="zh-CN" altLang="en-US" sz="1200" b="1" dirty="0">
              <a:latin typeface="微软雅黑" panose="020B0503020204020204" pitchFamily="34" charset="-122"/>
              <a:ea typeface="微软雅黑" panose="020B0503020204020204" pitchFamily="34" charset="-122"/>
            </a:endParaRP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endParaRPr lang="zh-CN" altLang="en-US" dirty="0"/>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spid="_x0000_s20483" name="Visio" r:id="rId7" imgW="3514725" imgH="2009775" progId="">
                  <p:embed/>
                </p:oleObj>
              </mc:Choice>
              <mc:Fallback>
                <p:oleObj name="Visio" r:id="rId7" imgW="3514725" imgH="2009775" progId="">
                  <p:embed/>
                  <p:pic>
                    <p:nvPicPr>
                      <p:cNvPr id="0" name="图片 20482"/>
                      <p:cNvPicPr>
                        <a:picLocks noChangeAspect="1"/>
                      </p:cNvPicPr>
                      <p:nvPr/>
                    </p:nvPicPr>
                    <p:blipFill>
                      <a:blip r:embed="rId8"/>
                      <a:stretch>
                        <a:fillRect/>
                      </a:stretch>
                    </p:blipFill>
                    <p:spPr>
                      <a:xfrm>
                        <a:off x="6807191" y="2813673"/>
                        <a:ext cx="1184398" cy="677438"/>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GSN</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网络接入控制，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把多</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个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起来后</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接入互联网。又称为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。分组过滤，保证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的安全。</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333051" y="585623"/>
            <a:ext cx="24641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4. </a:t>
            </a:r>
            <a:r>
              <a:rPr lang="en-US" altLang="zh-CN" sz="2000" b="1" dirty="0" smtClean="0">
                <a:solidFill>
                  <a:schemeClr val="bg1"/>
                </a:solidFill>
                <a:latin typeface="微软雅黑" panose="020B0503020204020204" pitchFamily="34" charset="-122"/>
                <a:ea typeface="微软雅黑" panose="020B0503020204020204" pitchFamily="34" charset="-122"/>
              </a:rPr>
              <a:t>3G </a:t>
            </a:r>
            <a:r>
              <a:rPr lang="zh-CN" altLang="en-US" sz="2000" b="1" dirty="0" smtClean="0">
                <a:solidFill>
                  <a:schemeClr val="bg1"/>
                </a:solidFill>
                <a:latin typeface="微软雅黑" panose="020B0503020204020204" pitchFamily="34" charset="-122"/>
                <a:ea typeface="微软雅黑" panose="020B0503020204020204" pitchFamily="34" charset="-122"/>
              </a:rPr>
              <a:t>蜂窝</a:t>
            </a:r>
            <a:r>
              <a:rPr lang="zh-CN" altLang="en-US" sz="2000" b="1" dirty="0">
                <a:solidFill>
                  <a:schemeClr val="bg1"/>
                </a:solidFill>
                <a:latin typeface="微软雅黑" panose="020B0503020204020204" pitchFamily="34" charset="-122"/>
                <a:ea typeface="微软雅黑" panose="020B0503020204020204" pitchFamily="34" charset="-122"/>
              </a:rPr>
              <a:t>移动通信</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7" name="Rectangle 46"/>
          <p:cNvSpPr>
            <a:spLocks noChangeArrowheads="1"/>
          </p:cNvSpPr>
          <p:nvPr/>
        </p:nvSpPr>
        <p:spPr bwMode="auto">
          <a:xfrm>
            <a:off x="511895" y="977262"/>
            <a:ext cx="8222801"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b="1" dirty="0" smtClean="0">
                <a:solidFill>
                  <a:srgbClr val="0000FF"/>
                </a:solidFill>
                <a:latin typeface="微软雅黑" panose="020B0503020204020204" pitchFamily="34" charset="-122"/>
                <a:ea typeface="微软雅黑" panose="020B0503020204020204" pitchFamily="34" charset="-122"/>
              </a:rPr>
              <a:t>第三代 </a:t>
            </a:r>
            <a:r>
              <a:rPr lang="en-US" altLang="zh-CN" b="1" dirty="0" smtClean="0">
                <a:latin typeface="微软雅黑" panose="020B0503020204020204" pitchFamily="34" charset="-122"/>
                <a:ea typeface="微软雅黑" panose="020B0503020204020204" pitchFamily="34" charset="-122"/>
              </a:rPr>
              <a:t>(3G) </a:t>
            </a:r>
            <a:r>
              <a:rPr lang="zh-CN" altLang="en-US" b="1" dirty="0" smtClean="0">
                <a:latin typeface="微软雅黑" panose="020B0503020204020204" pitchFamily="34" charset="-122"/>
                <a:ea typeface="微软雅黑" panose="020B0503020204020204" pitchFamily="34" charset="-122"/>
              </a:rPr>
              <a:t>蜂窝移动通信系统</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anose="020B0503020204020204" pitchFamily="34" charset="-122"/>
                <a:ea typeface="微软雅黑" panose="020B0503020204020204" pitchFamily="34" charset="-122"/>
              </a:rPr>
              <a:t>1996 </a:t>
            </a:r>
            <a:r>
              <a:rPr lang="zh-CN" altLang="en-US" b="1" dirty="0" smtClean="0">
                <a:latin typeface="微软雅黑" panose="020B0503020204020204" pitchFamily="34" charset="-122"/>
                <a:ea typeface="微软雅黑" panose="020B0503020204020204" pitchFamily="34" charset="-122"/>
              </a:rPr>
              <a:t>年正式</a:t>
            </a:r>
            <a:r>
              <a:rPr lang="zh-CN" altLang="en-US" b="1" dirty="0">
                <a:latin typeface="微软雅黑" panose="020B0503020204020204" pitchFamily="34" charset="-122"/>
                <a:ea typeface="微软雅黑" panose="020B0503020204020204" pitchFamily="34" charset="-122"/>
              </a:rPr>
              <a:t>标准</a:t>
            </a:r>
            <a:r>
              <a:rPr lang="zh-CN" altLang="en-US" b="1" dirty="0" smtClean="0">
                <a:latin typeface="微软雅黑" panose="020B0503020204020204" pitchFamily="34" charset="-122"/>
                <a:ea typeface="微软雅黑" panose="020B0503020204020204" pitchFamily="34" charset="-122"/>
              </a:rPr>
              <a:t>名称：</a:t>
            </a:r>
            <a:r>
              <a:rPr lang="en-US" altLang="zh-CN" b="1" dirty="0" smtClean="0">
                <a:solidFill>
                  <a:srgbClr val="C00000"/>
                </a:solidFill>
                <a:latin typeface="微软雅黑" panose="020B0503020204020204" pitchFamily="34" charset="-122"/>
                <a:ea typeface="微软雅黑" panose="020B0503020204020204" pitchFamily="34" charset="-122"/>
              </a:rPr>
              <a:t>IMT-2000</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工作</a:t>
            </a:r>
            <a:r>
              <a:rPr lang="zh-CN" altLang="en-US" b="1" dirty="0" smtClean="0">
                <a:latin typeface="微软雅黑" panose="020B0503020204020204" pitchFamily="34" charset="-122"/>
                <a:ea typeface="微软雅黑" panose="020B0503020204020204" pitchFamily="34" charset="-122"/>
              </a:rPr>
              <a:t>在 </a:t>
            </a:r>
            <a:r>
              <a:rPr lang="en-US" altLang="zh-CN" b="1" dirty="0" smtClean="0">
                <a:latin typeface="微软雅黑" panose="020B0503020204020204" pitchFamily="34" charset="-122"/>
                <a:ea typeface="微软雅黑" panose="020B0503020204020204" pitchFamily="34" charset="-122"/>
              </a:rPr>
              <a:t>2000 MHz </a:t>
            </a:r>
            <a:r>
              <a:rPr lang="zh-CN" altLang="en-US" b="1" dirty="0" smtClean="0">
                <a:latin typeface="微软雅黑" panose="020B0503020204020204" pitchFamily="34" charset="-122"/>
                <a:ea typeface="微软雅黑" panose="020B0503020204020204" pitchFamily="34" charset="-122"/>
              </a:rPr>
              <a:t>频段，数据</a:t>
            </a:r>
            <a:r>
              <a:rPr lang="zh-CN" altLang="en-US" b="1" dirty="0">
                <a:latin typeface="微软雅黑" panose="020B0503020204020204" pitchFamily="34" charset="-122"/>
                <a:ea typeface="微软雅黑" panose="020B0503020204020204" pitchFamily="34" charset="-122"/>
              </a:rPr>
              <a:t>率可</a:t>
            </a:r>
            <a:r>
              <a:rPr lang="zh-CN" altLang="en-US" b="1" dirty="0" smtClean="0">
                <a:latin typeface="微软雅黑" panose="020B0503020204020204" pitchFamily="34" charset="-122"/>
                <a:ea typeface="微软雅黑" panose="020B0503020204020204" pitchFamily="34" charset="-122"/>
              </a:rPr>
              <a:t>达 </a:t>
            </a:r>
            <a:r>
              <a:rPr lang="en-US" altLang="zh-CN" b="1" dirty="0" smtClean="0">
                <a:latin typeface="微软雅黑" panose="020B0503020204020204" pitchFamily="34" charset="-122"/>
                <a:ea typeface="微软雅黑" panose="020B0503020204020204" pitchFamily="34" charset="-122"/>
              </a:rPr>
              <a:t>2000 </a:t>
            </a:r>
            <a:r>
              <a:rPr lang="en-US" altLang="zh-CN" b="1" dirty="0" err="1">
                <a:latin typeface="微软雅黑" panose="020B0503020204020204" pitchFamily="34" charset="-122"/>
                <a:ea typeface="微软雅黑" panose="020B0503020204020204" pitchFamily="34" charset="-122"/>
              </a:rPr>
              <a:t>kbit</a:t>
            </a:r>
            <a:r>
              <a:rPr lang="en-US" altLang="zh-CN" b="1" dirty="0">
                <a:latin typeface="微软雅黑" panose="020B0503020204020204" pitchFamily="34" charset="-122"/>
                <a:ea typeface="微软雅黑" panose="020B0503020204020204" pitchFamily="34" charset="-122"/>
              </a:rPr>
              <a:t>/s</a:t>
            </a:r>
            <a:r>
              <a:rPr lang="zh-CN" altLang="en-US" b="1" dirty="0">
                <a:latin typeface="微软雅黑" panose="020B0503020204020204" pitchFamily="34" charset="-122"/>
                <a:ea typeface="微软雅黑" panose="020B0503020204020204" pitchFamily="34" charset="-122"/>
              </a:rPr>
              <a:t>（固定站）</a:t>
            </a:r>
            <a:r>
              <a:rPr lang="zh-CN" altLang="en-US" b="1" dirty="0" smtClean="0">
                <a:latin typeface="微软雅黑" panose="020B0503020204020204" pitchFamily="34" charset="-122"/>
                <a:ea typeface="微软雅黑" panose="020B0503020204020204" pitchFamily="34" charset="-122"/>
              </a:rPr>
              <a:t>和 </a:t>
            </a:r>
            <a:r>
              <a:rPr lang="en-US" altLang="zh-CN" b="1" dirty="0" smtClean="0">
                <a:latin typeface="微软雅黑" panose="020B0503020204020204" pitchFamily="34" charset="-122"/>
                <a:ea typeface="微软雅黑" panose="020B0503020204020204" pitchFamily="34" charset="-122"/>
              </a:rPr>
              <a:t>384 </a:t>
            </a:r>
            <a:r>
              <a:rPr lang="en-US" altLang="zh-CN" b="1" dirty="0" err="1">
                <a:latin typeface="微软雅黑" panose="020B0503020204020204" pitchFamily="34" charset="-122"/>
                <a:ea typeface="微软雅黑" panose="020B0503020204020204" pitchFamily="34" charset="-122"/>
              </a:rPr>
              <a:t>kbit</a:t>
            </a:r>
            <a:r>
              <a:rPr lang="en-US" altLang="zh-CN" b="1" dirty="0">
                <a:latin typeface="微软雅黑" panose="020B0503020204020204" pitchFamily="34" charset="-122"/>
                <a:ea typeface="微软雅黑" panose="020B0503020204020204" pitchFamily="34" charset="-122"/>
              </a:rPr>
              <a:t>/s</a:t>
            </a:r>
            <a:r>
              <a:rPr lang="zh-CN" altLang="en-US" b="1" dirty="0">
                <a:latin typeface="微软雅黑" panose="020B0503020204020204" pitchFamily="34" charset="-122"/>
                <a:ea typeface="微软雅黑" panose="020B0503020204020204" pitchFamily="34" charset="-122"/>
              </a:rPr>
              <a:t>（移动站</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rPr>
              <a:t>包括</a:t>
            </a:r>
            <a:r>
              <a:rPr lang="zh-CN" altLang="en-US" b="1" dirty="0" smtClean="0">
                <a:solidFill>
                  <a:srgbClr val="0000CC"/>
                </a:solidFill>
                <a:latin typeface="微软雅黑" panose="020B0503020204020204" pitchFamily="34" charset="-122"/>
                <a:ea typeface="微软雅黑" panose="020B0503020204020204" pitchFamily="34" charset="-122"/>
              </a:rPr>
              <a:t>中国通</a:t>
            </a:r>
            <a:r>
              <a:rPr lang="zh-CN" altLang="en-US" b="1" dirty="0">
                <a:solidFill>
                  <a:srgbClr val="0000CC"/>
                </a:solidFill>
                <a:latin typeface="微软雅黑" panose="020B0503020204020204" pitchFamily="34" charset="-122"/>
                <a:ea typeface="微软雅黑" panose="020B0503020204020204" pitchFamily="34" charset="-122"/>
              </a:rPr>
              <a:t>信标准化</a:t>
            </a:r>
            <a:r>
              <a:rPr lang="zh-CN" altLang="en-US" b="1" dirty="0" smtClean="0">
                <a:solidFill>
                  <a:srgbClr val="0000CC"/>
                </a:solidFill>
                <a:latin typeface="微软雅黑" panose="020B0503020204020204" pitchFamily="34" charset="-122"/>
                <a:ea typeface="微软雅黑" panose="020B0503020204020204" pitchFamily="34" charset="-122"/>
              </a:rPr>
              <a:t>协会 </a:t>
            </a:r>
            <a:r>
              <a:rPr lang="en-US" altLang="zh-CN" b="1" dirty="0" smtClean="0">
                <a:solidFill>
                  <a:srgbClr val="0000CC"/>
                </a:solidFill>
                <a:latin typeface="微软雅黑" panose="020B0503020204020204" pitchFamily="34" charset="-122"/>
                <a:ea typeface="微软雅黑" panose="020B0503020204020204" pitchFamily="34" charset="-122"/>
              </a:rPr>
              <a:t>CCSA </a:t>
            </a:r>
            <a:r>
              <a:rPr lang="en-US" altLang="zh-CN" b="1" dirty="0">
                <a:latin typeface="微软雅黑" panose="020B0503020204020204" pitchFamily="34" charset="-122"/>
                <a:ea typeface="微软雅黑" panose="020B0503020204020204" pitchFamily="34" charset="-122"/>
              </a:rPr>
              <a:t>(China Communications Standards </a:t>
            </a:r>
            <a:r>
              <a:rPr lang="en-US" altLang="zh-CN" b="1" dirty="0" smtClean="0">
                <a:latin typeface="微软雅黑" panose="020B0503020204020204" pitchFamily="34" charset="-122"/>
                <a:ea typeface="微软雅黑" panose="020B0503020204020204" pitchFamily="34" charset="-122"/>
              </a:rPr>
              <a:t>Association) </a:t>
            </a:r>
            <a:r>
              <a:rPr lang="zh-CN" altLang="en-US" b="1" dirty="0" smtClean="0">
                <a:latin typeface="微软雅黑" panose="020B0503020204020204" pitchFamily="34" charset="-122"/>
                <a:ea typeface="微软雅黑" panose="020B0503020204020204" pitchFamily="34" charset="-122"/>
              </a:rPr>
              <a:t>的 </a:t>
            </a:r>
            <a:r>
              <a:rPr lang="en-US" altLang="zh-CN" b="1" dirty="0" smtClean="0">
                <a:latin typeface="微软雅黑" panose="020B0503020204020204" pitchFamily="34" charset="-122"/>
                <a:ea typeface="微软雅黑" panose="020B0503020204020204" pitchFamily="34" charset="-122"/>
              </a:rPr>
              <a:t>7 </a:t>
            </a:r>
            <a:r>
              <a:rPr lang="zh-CN" altLang="en-US" b="1" dirty="0" smtClean="0">
                <a:latin typeface="微软雅黑" panose="020B0503020204020204" pitchFamily="34" charset="-122"/>
                <a:ea typeface="微软雅黑" panose="020B0503020204020204" pitchFamily="34" charset="-122"/>
              </a:rPr>
              <a:t>个组织成立</a:t>
            </a:r>
            <a:r>
              <a:rPr lang="zh-CN" altLang="en-US" b="1" dirty="0">
                <a:latin typeface="微软雅黑" panose="020B0503020204020204" pitchFamily="34" charset="-122"/>
                <a:ea typeface="微软雅黑" panose="020B0503020204020204" pitchFamily="34" charset="-122"/>
              </a:rPr>
              <a:t>了</a:t>
            </a:r>
            <a:r>
              <a:rPr lang="zh-CN" altLang="en-US" b="1" dirty="0">
                <a:solidFill>
                  <a:srgbClr val="0000CC"/>
                </a:solidFill>
                <a:latin typeface="微软雅黑" panose="020B0503020204020204" pitchFamily="34" charset="-122"/>
                <a:ea typeface="微软雅黑" panose="020B0503020204020204" pitchFamily="34" charset="-122"/>
              </a:rPr>
              <a:t>第三代移动通信合作伙伴</a:t>
            </a:r>
            <a:r>
              <a:rPr lang="zh-CN" altLang="en-US" b="1" dirty="0" smtClean="0">
                <a:solidFill>
                  <a:srgbClr val="0000CC"/>
                </a:solidFill>
                <a:latin typeface="微软雅黑" panose="020B0503020204020204" pitchFamily="34" charset="-122"/>
                <a:ea typeface="微软雅黑" panose="020B0503020204020204" pitchFamily="34" charset="-122"/>
              </a:rPr>
              <a:t>计划 </a:t>
            </a:r>
            <a:r>
              <a:rPr lang="en-US" altLang="zh-CN" b="1" dirty="0" smtClean="0">
                <a:solidFill>
                  <a:srgbClr val="0000CC"/>
                </a:solidFill>
                <a:latin typeface="微软雅黑" panose="020B0503020204020204" pitchFamily="34" charset="-122"/>
                <a:ea typeface="微软雅黑" panose="020B0503020204020204" pitchFamily="34" charset="-122"/>
              </a:rPr>
              <a:t>3GPP</a:t>
            </a:r>
            <a:r>
              <a:rPr lang="en-US" altLang="zh-CN" b="1" dirty="0" smtClean="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(3rd Generation Partnership Project </a:t>
            </a:r>
            <a:r>
              <a:rPr lang="en-US" altLang="zh-CN" b="1" dirty="0" smtClean="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solidFill>
                  <a:srgbClr val="C00000"/>
                </a:solidFill>
                <a:latin typeface="微软雅黑" panose="020B0503020204020204" pitchFamily="34" charset="-122"/>
                <a:ea typeface="微软雅黑" panose="020B0503020204020204" pitchFamily="34" charset="-122"/>
              </a:rPr>
              <a:t>3GPP </a:t>
            </a:r>
            <a:r>
              <a:rPr lang="zh-CN" altLang="en-US" b="1" dirty="0" smtClean="0">
                <a:solidFill>
                  <a:srgbClr val="C00000"/>
                </a:solidFill>
                <a:latin typeface="微软雅黑" panose="020B0503020204020204" pitchFamily="34" charset="-122"/>
                <a:ea typeface="微软雅黑" panose="020B0503020204020204" pitchFamily="34" charset="-122"/>
              </a:rPr>
              <a:t>制订的 </a:t>
            </a:r>
            <a:r>
              <a:rPr lang="en-US" altLang="zh-CN" b="1" dirty="0" smtClean="0">
                <a:solidFill>
                  <a:srgbClr val="C00000"/>
                </a:solidFill>
                <a:latin typeface="微软雅黑" panose="020B0503020204020204" pitchFamily="34" charset="-122"/>
                <a:ea typeface="微软雅黑" panose="020B0503020204020204" pitchFamily="34" charset="-122"/>
              </a:rPr>
              <a:t>3G </a:t>
            </a:r>
            <a:r>
              <a:rPr lang="zh-CN" altLang="en-US" b="1" dirty="0" smtClean="0">
                <a:solidFill>
                  <a:srgbClr val="C00000"/>
                </a:solidFill>
                <a:latin typeface="微软雅黑" panose="020B0503020204020204" pitchFamily="34" charset="-122"/>
                <a:ea typeface="微软雅黑" panose="020B0503020204020204" pitchFamily="34" charset="-122"/>
              </a:rPr>
              <a:t>标准：</a:t>
            </a:r>
            <a:r>
              <a:rPr lang="zh-CN" altLang="en-US" b="1" dirty="0" smtClean="0">
                <a:latin typeface="微软雅黑" panose="020B0503020204020204" pitchFamily="34" charset="-122"/>
                <a:ea typeface="微软雅黑" panose="020B0503020204020204" pitchFamily="34" charset="-122"/>
              </a:rPr>
              <a:t>通用</a:t>
            </a:r>
            <a:r>
              <a:rPr lang="zh-CN" altLang="en-US" b="1" dirty="0">
                <a:latin typeface="微软雅黑" panose="020B0503020204020204" pitchFamily="34" charset="-122"/>
                <a:ea typeface="微软雅黑" panose="020B0503020204020204" pitchFamily="34" charset="-122"/>
              </a:rPr>
              <a:t>移动通信</a:t>
            </a:r>
            <a:r>
              <a:rPr lang="zh-CN" altLang="en-US" b="1" dirty="0" smtClean="0">
                <a:latin typeface="微软雅黑" panose="020B0503020204020204" pitchFamily="34" charset="-122"/>
                <a:ea typeface="微软雅黑" panose="020B0503020204020204" pitchFamily="34" charset="-122"/>
              </a:rPr>
              <a:t>系统 </a:t>
            </a:r>
            <a:r>
              <a:rPr lang="en-US" altLang="zh-CN" b="1" dirty="0" smtClean="0">
                <a:latin typeface="微软雅黑" panose="020B0503020204020204" pitchFamily="34" charset="-122"/>
                <a:ea typeface="微软雅黑" panose="020B0503020204020204" pitchFamily="34" charset="-122"/>
              </a:rPr>
              <a:t>UMTS </a:t>
            </a:r>
            <a:r>
              <a:rPr lang="en-US" altLang="zh-CN" b="1" dirty="0">
                <a:latin typeface="微软雅黑" panose="020B0503020204020204" pitchFamily="34" charset="-122"/>
                <a:ea typeface="微软雅黑" panose="020B0503020204020204" pitchFamily="34" charset="-122"/>
              </a:rPr>
              <a:t>(Universal Mobile Telecommunications System</a:t>
            </a:r>
            <a:r>
              <a:rPr lang="en-US" altLang="zh-CN"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anose="020B0503020204020204" pitchFamily="34" charset="-122"/>
                <a:ea typeface="微软雅黑" panose="020B0503020204020204" pitchFamily="34" charset="-122"/>
              </a:rPr>
              <a:t>3GPP </a:t>
            </a:r>
            <a:r>
              <a:rPr lang="en-US" altLang="zh-CN" b="1" dirty="0" smtClean="0">
                <a:solidFill>
                  <a:srgbClr val="C00000"/>
                </a:solidFill>
                <a:latin typeface="微软雅黑" panose="020B0503020204020204" pitchFamily="34" charset="-122"/>
                <a:ea typeface="微软雅黑" panose="020B0503020204020204" pitchFamily="34" charset="-122"/>
              </a:rPr>
              <a:t>R99</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下行</a:t>
            </a:r>
            <a:r>
              <a:rPr lang="zh-CN" altLang="en-US" b="1" dirty="0">
                <a:latin typeface="微软雅黑" panose="020B0503020204020204" pitchFamily="34" charset="-122"/>
                <a:ea typeface="微软雅黑" panose="020B0503020204020204" pitchFamily="34" charset="-122"/>
              </a:rPr>
              <a:t>和上行的数据率都要</a:t>
            </a:r>
            <a:r>
              <a:rPr lang="zh-CN" altLang="en-US" b="1" dirty="0" smtClean="0">
                <a:latin typeface="微软雅黑" panose="020B0503020204020204" pitchFamily="34" charset="-122"/>
                <a:ea typeface="微软雅黑" panose="020B0503020204020204" pitchFamily="34" charset="-122"/>
              </a:rPr>
              <a:t>超过 </a:t>
            </a:r>
            <a:r>
              <a:rPr lang="en-US" altLang="zh-CN" b="1" dirty="0" smtClean="0">
                <a:latin typeface="微软雅黑" panose="020B0503020204020204" pitchFamily="34" charset="-122"/>
                <a:ea typeface="微软雅黑" panose="020B0503020204020204" pitchFamily="34" charset="-122"/>
              </a:rPr>
              <a:t>384 </a:t>
            </a:r>
            <a:r>
              <a:rPr lang="en-US" altLang="zh-CN" b="1" dirty="0" err="1">
                <a:latin typeface="微软雅黑" panose="020B0503020204020204" pitchFamily="34" charset="-122"/>
                <a:ea typeface="微软雅黑" panose="020B0503020204020204" pitchFamily="34" charset="-122"/>
              </a:rPr>
              <a:t>kbit</a:t>
            </a:r>
            <a:r>
              <a:rPr lang="en-US" altLang="zh-CN" b="1" dirty="0">
                <a:latin typeface="微软雅黑" panose="020B0503020204020204" pitchFamily="34" charset="-122"/>
                <a:ea typeface="微软雅黑" panose="020B0503020204020204" pitchFamily="34" charset="-122"/>
              </a:rPr>
              <a:t>/s</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3G </a:t>
            </a:r>
            <a:r>
              <a:rPr lang="en-US" altLang="zh-CN" sz="2000" b="1" dirty="0" smtClean="0">
                <a:latin typeface="微软雅黑" panose="020B0503020204020204" pitchFamily="34" charset="-122"/>
                <a:ea typeface="微软雅黑" panose="020B0503020204020204" pitchFamily="34" charset="-122"/>
              </a:rPr>
              <a:t>UMTS </a:t>
            </a:r>
            <a:r>
              <a:rPr lang="zh-CN" altLang="en-US" sz="2000" b="1" dirty="0" smtClean="0">
                <a:latin typeface="微软雅黑" panose="020B0503020204020204" pitchFamily="34" charset="-122"/>
                <a:ea typeface="微软雅黑" panose="020B0503020204020204" pitchFamily="34" charset="-122"/>
              </a:rPr>
              <a:t>蜂窝</a:t>
            </a:r>
            <a:r>
              <a:rPr lang="zh-CN" altLang="en-US" sz="2000" b="1" dirty="0">
                <a:latin typeface="微软雅黑" panose="020B0503020204020204" pitchFamily="34" charset="-122"/>
                <a:ea typeface="微软雅黑" panose="020B0503020204020204" pitchFamily="34" charset="-122"/>
              </a:rPr>
              <a:t>通信系统的重要组成构件</a:t>
            </a:r>
            <a:endParaRPr lang="zh-CN" altLang="en-US" sz="2000" b="1" dirty="0">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p:nvPr/>
        </p:nvGrpSpPr>
        <p:grpSpPr bwMode="auto">
          <a:xfrm>
            <a:off x="2098545" y="1117523"/>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zh-CN" altLang="en-US" sz="1200" b="1" dirty="0">
              <a:latin typeface="微软雅黑" panose="020B0503020204020204" pitchFamily="34" charset="-122"/>
              <a:ea typeface="微软雅黑" panose="020B0503020204020204" pitchFamily="34" charset="-122"/>
            </a:endParaRPr>
          </a:p>
          <a:p>
            <a:pPr eaLnBrk="1" hangingPunct="1"/>
            <a:r>
              <a:rPr kumimoji="1" lang="en-US" altLang="zh-CN" sz="1000" b="1" dirty="0">
                <a:latin typeface="微软雅黑" panose="020B0503020204020204" pitchFamily="34" charset="-122"/>
                <a:ea typeface="微软雅黑" panose="020B0503020204020204" pitchFamily="34" charset="-122"/>
              </a:rPr>
              <a:t>Node-B</a:t>
            </a:r>
            <a:endParaRPr kumimoji="1" lang="en-US" altLang="zh-CN" sz="1000" b="1" dirty="0">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a:t>
            </a:r>
            <a:r>
              <a:rPr kumimoji="1" lang="zh-CN" altLang="en-US" sz="1200" b="1" dirty="0" smtClean="0">
                <a:latin typeface="微软雅黑" panose="020B0503020204020204" pitchFamily="34" charset="-122"/>
                <a:ea typeface="微软雅黑" panose="020B0503020204020204" pitchFamily="34" charset="-122"/>
              </a:rPr>
              <a:t>设备 </a:t>
            </a:r>
            <a:r>
              <a:rPr kumimoji="1" lang="en-US" altLang="zh-CN" sz="1200" b="1" dirty="0" smtClean="0">
                <a:latin typeface="微软雅黑" panose="020B0503020204020204" pitchFamily="34" charset="-122"/>
                <a:ea typeface="微软雅黑" panose="020B0503020204020204" pitchFamily="34" charset="-122"/>
              </a:rPr>
              <a:t>UE</a:t>
            </a:r>
            <a:endParaRPr kumimoji="1" lang="en-US" altLang="zh-CN"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endParaRPr kumimoji="1" lang="zh-CN" altLang="en-US"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endParaRPr kumimoji="1" lang="zh-CN" altLang="en-US" sz="11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endParaRPr kumimoji="1" lang="zh-CN" altLang="en-US" sz="1200" b="1" dirty="0">
              <a:latin typeface="微软雅黑" panose="020B0503020204020204" pitchFamily="34" charset="-122"/>
              <a:ea typeface="微软雅黑" panose="020B0503020204020204" pitchFamily="34" charset="-122"/>
            </a:endParaRP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endParaRPr lang="zh-CN" altLang="en-US" dirty="0"/>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spid="_x0000_s21505" name="Visio" r:id="rId3" imgW="3514725" imgH="2009775" progId="">
                  <p:embed/>
                </p:oleObj>
              </mc:Choice>
              <mc:Fallback>
                <p:oleObj name="Visio" r:id="rId3" imgW="3514725" imgH="2009775" progId="">
                  <p:embed/>
                  <p:pic>
                    <p:nvPicPr>
                      <p:cNvPr id="0" name="图片 21504"/>
                      <p:cNvPicPr>
                        <a:picLocks noChangeAspect="1"/>
                      </p:cNvPicPr>
                      <p:nvPr/>
                    </p:nvPicPr>
                    <p:blipFill>
                      <a:blip r:embed="rId4"/>
                      <a:stretch>
                        <a:fillRect/>
                      </a:stretch>
                    </p:blipFill>
                    <p:spPr>
                      <a:xfrm>
                        <a:off x="7042334" y="2813673"/>
                        <a:ext cx="1184398" cy="677438"/>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引入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了无线接入</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网概念：</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通用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移动通信系统陆地无线接入</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UTRAN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UMTS Terrestrial Radio Access Network</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，由</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多个无线网络系统组成。</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731391"/>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2097222"/>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2339768"/>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973939"/>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582315"/>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886503"/>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582315"/>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21506" name="Microsoft ClipArt Gallery" r:id="rId6" imgW="53035200" imgH="20888325" progId="">
                  <p:embed/>
                </p:oleObj>
              </mc:Choice>
              <mc:Fallback>
                <p:oleObj name="Microsoft ClipArt Gallery" r:id="rId6" imgW="53035200" imgH="20888325" progId="">
                  <p:embed/>
                  <p:pic>
                    <p:nvPicPr>
                      <p:cNvPr id="0" name="图片 21505"/>
                      <p:cNvPicPr/>
                      <p:nvPr/>
                    </p:nvPicPr>
                    <p:blipFill>
                      <a:blip r:embed="rId7"/>
                      <a:stretch>
                        <a:fillRect/>
                      </a:stretch>
                    </p:blipFill>
                    <p:spPr>
                      <a:xfrm>
                        <a:off x="1360645" y="3129050"/>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smtClean="0">
                <a:latin typeface="微软雅黑" panose="020B0503020204020204" pitchFamily="34" charset="-122"/>
                <a:ea typeface="微软雅黑" panose="020B0503020204020204" pitchFamily="34" charset="-122"/>
              </a:rPr>
              <a:t>RNC</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smtClean="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21507" name="Microsoft ClipArt Gallery" r:id="rId8" imgW="53035200" imgH="20888325" progId="">
                  <p:embed/>
                </p:oleObj>
              </mc:Choice>
              <mc:Fallback>
                <p:oleObj name="Microsoft ClipArt Gallery" r:id="rId8" imgW="53035200" imgH="20888325" progId="">
                  <p:embed/>
                  <p:pic>
                    <p:nvPicPr>
                      <p:cNvPr id="0" name="图片 21506"/>
                      <p:cNvPicPr/>
                      <p:nvPr/>
                    </p:nvPicPr>
                    <p:blipFill>
                      <a:blip r:embed="rId7"/>
                      <a:stretch>
                        <a:fillRect/>
                      </a:stretch>
                    </p:blipFill>
                    <p:spPr>
                      <a:xfrm>
                        <a:off x="2962949" y="1343316"/>
                        <a:ext cx="331914" cy="174205"/>
                      </a:xfrm>
                      <a:prstGeom prst="rect">
                        <a:avLst/>
                      </a:prstGeom>
                      <a:noFill/>
                      <a:ln w="12700">
                        <a:noFill/>
                      </a:ln>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94" name="组合 393"/>
          <p:cNvGrpSpPr/>
          <p:nvPr/>
        </p:nvGrpSpPr>
        <p:grpSpPr>
          <a:xfrm>
            <a:off x="1590809" y="2108503"/>
            <a:ext cx="1360280" cy="1404486"/>
            <a:chOff x="1573391" y="2099794"/>
            <a:chExt cx="1360280" cy="1404486"/>
          </a:xfrm>
        </p:grpSpPr>
        <p:sp>
          <p:nvSpPr>
            <p:cNvPr id="395" name="矩形 394"/>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6" name="矩形 395"/>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7" name="矩形 396"/>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8" name="矩形 397"/>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9" name="矩形 398"/>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400" name="矩形 399"/>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3G </a:t>
            </a:r>
            <a:r>
              <a:rPr lang="en-US" altLang="zh-CN" sz="2000" b="1" dirty="0" smtClean="0">
                <a:latin typeface="微软雅黑" panose="020B0503020204020204" pitchFamily="34" charset="-122"/>
                <a:ea typeface="微软雅黑" panose="020B0503020204020204" pitchFamily="34" charset="-122"/>
              </a:rPr>
              <a:t>UMTS </a:t>
            </a:r>
            <a:r>
              <a:rPr lang="zh-CN" altLang="en-US" sz="2000" b="1" dirty="0" smtClean="0">
                <a:latin typeface="微软雅黑" panose="020B0503020204020204" pitchFamily="34" charset="-122"/>
                <a:ea typeface="微软雅黑" panose="020B0503020204020204" pitchFamily="34" charset="-122"/>
              </a:rPr>
              <a:t>蜂窝</a:t>
            </a:r>
            <a:r>
              <a:rPr lang="zh-CN" altLang="en-US" sz="2000" b="1" dirty="0">
                <a:latin typeface="微软雅黑" panose="020B0503020204020204" pitchFamily="34" charset="-122"/>
                <a:ea typeface="微软雅黑" panose="020B0503020204020204" pitchFamily="34" charset="-122"/>
              </a:rPr>
              <a:t>通信系统的重要组成构件</a:t>
            </a:r>
            <a:endParaRPr lang="zh-CN" altLang="en-US" sz="2000" b="1" dirty="0">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p:nvPr/>
        </p:nvGrpSpPr>
        <p:grpSpPr bwMode="auto">
          <a:xfrm>
            <a:off x="2098545" y="1117523"/>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zh-CN" altLang="en-US" sz="1200" b="1" dirty="0">
              <a:latin typeface="微软雅黑" panose="020B0503020204020204" pitchFamily="34" charset="-122"/>
              <a:ea typeface="微软雅黑" panose="020B0503020204020204" pitchFamily="34" charset="-122"/>
            </a:endParaRPr>
          </a:p>
          <a:p>
            <a:pPr eaLnBrk="1" hangingPunct="1"/>
            <a:r>
              <a:rPr kumimoji="1" lang="en-US" altLang="zh-CN" sz="1000" b="1" dirty="0">
                <a:latin typeface="微软雅黑" panose="020B0503020204020204" pitchFamily="34" charset="-122"/>
                <a:ea typeface="微软雅黑" panose="020B0503020204020204" pitchFamily="34" charset="-122"/>
              </a:rPr>
              <a:t>Node-B</a:t>
            </a:r>
            <a:endParaRPr kumimoji="1" lang="en-US" altLang="zh-CN" sz="1000" b="1" dirty="0">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a:t>
            </a:r>
            <a:r>
              <a:rPr kumimoji="1" lang="zh-CN" altLang="en-US" sz="1200" b="1" dirty="0" smtClean="0">
                <a:latin typeface="微软雅黑" panose="020B0503020204020204" pitchFamily="34" charset="-122"/>
                <a:ea typeface="微软雅黑" panose="020B0503020204020204" pitchFamily="34" charset="-122"/>
              </a:rPr>
              <a:t>设备 </a:t>
            </a:r>
            <a:r>
              <a:rPr kumimoji="1" lang="en-US" altLang="zh-CN" sz="1200" b="1" dirty="0" smtClean="0">
                <a:latin typeface="微软雅黑" panose="020B0503020204020204" pitchFamily="34" charset="-122"/>
                <a:ea typeface="微软雅黑" panose="020B0503020204020204" pitchFamily="34" charset="-122"/>
              </a:rPr>
              <a:t>UE</a:t>
            </a:r>
            <a:endParaRPr kumimoji="1" lang="en-US" altLang="zh-CN"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endParaRPr kumimoji="1" lang="zh-CN" altLang="en-US"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endParaRPr kumimoji="1" lang="zh-CN" altLang="en-US" sz="11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endParaRPr kumimoji="1" lang="zh-CN" altLang="en-US" sz="1200" b="1" dirty="0">
              <a:latin typeface="微软雅黑" panose="020B0503020204020204" pitchFamily="34" charset="-122"/>
              <a:ea typeface="微软雅黑" panose="020B0503020204020204" pitchFamily="34" charset="-122"/>
            </a:endParaRP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endParaRPr lang="zh-CN" altLang="en-US" dirty="0"/>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spid="_x0000_s22529" name="Visio" r:id="rId3" imgW="3514725" imgH="2009775" progId="">
                  <p:embed/>
                </p:oleObj>
              </mc:Choice>
              <mc:Fallback>
                <p:oleObj name="Visio" r:id="rId3" imgW="3514725" imgH="2009775" progId="">
                  <p:embed/>
                  <p:pic>
                    <p:nvPicPr>
                      <p:cNvPr id="0" name="图片 22528"/>
                      <p:cNvPicPr>
                        <a:picLocks noChangeAspect="1"/>
                      </p:cNvPicPr>
                      <p:nvPr/>
                    </p:nvPicPr>
                    <p:blipFill>
                      <a:blip r:embed="rId4"/>
                      <a:stretch>
                        <a:fillRect/>
                      </a:stretch>
                    </p:blipFill>
                    <p:spPr>
                      <a:xfrm>
                        <a:off x="7042334" y="2813673"/>
                        <a:ext cx="1184398" cy="677438"/>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无线网络</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控制器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RNC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(Radio Network Controller</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通过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到的蜂窝话音</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通过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到分组交换的互联网</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731391"/>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2097222"/>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2339768"/>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973939"/>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582315"/>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886503"/>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582315"/>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22530" name="Microsoft ClipArt Gallery" r:id="rId6" imgW="53035200" imgH="20888325" progId="">
                  <p:embed/>
                </p:oleObj>
              </mc:Choice>
              <mc:Fallback>
                <p:oleObj name="Microsoft ClipArt Gallery" r:id="rId6" imgW="53035200" imgH="20888325" progId="">
                  <p:embed/>
                  <p:pic>
                    <p:nvPicPr>
                      <p:cNvPr id="0" name="图片 22529"/>
                      <p:cNvPicPr/>
                      <p:nvPr/>
                    </p:nvPicPr>
                    <p:blipFill>
                      <a:blip r:embed="rId7"/>
                      <a:stretch>
                        <a:fillRect/>
                      </a:stretch>
                    </p:blipFill>
                    <p:spPr>
                      <a:xfrm>
                        <a:off x="1360645" y="3129050"/>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smtClean="0">
                <a:latin typeface="微软雅黑" panose="020B0503020204020204" pitchFamily="34" charset="-122"/>
                <a:ea typeface="微软雅黑" panose="020B0503020204020204" pitchFamily="34" charset="-122"/>
              </a:rPr>
              <a:t>RNC</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smtClean="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22531" name="Microsoft ClipArt Gallery" r:id="rId8" imgW="53035200" imgH="20888325" progId="">
                  <p:embed/>
                </p:oleObj>
              </mc:Choice>
              <mc:Fallback>
                <p:oleObj name="Microsoft ClipArt Gallery" r:id="rId8" imgW="53035200" imgH="20888325" progId="">
                  <p:embed/>
                  <p:pic>
                    <p:nvPicPr>
                      <p:cNvPr id="0" name="图片 22530"/>
                      <p:cNvPicPr/>
                      <p:nvPr/>
                    </p:nvPicPr>
                    <p:blipFill>
                      <a:blip r:embed="rId7"/>
                      <a:stretch>
                        <a:fillRect/>
                      </a:stretch>
                    </p:blipFill>
                    <p:spPr>
                      <a:xfrm>
                        <a:off x="2962949" y="1343316"/>
                        <a:ext cx="331914" cy="174205"/>
                      </a:xfrm>
                      <a:prstGeom prst="rect">
                        <a:avLst/>
                      </a:prstGeom>
                      <a:noFill/>
                      <a:ln w="12700">
                        <a:noFill/>
                      </a:ln>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sp>
        <p:nvSpPr>
          <p:cNvPr id="376" name="矩形 375"/>
          <p:cNvSpPr/>
          <p:nvPr/>
        </p:nvSpPr>
        <p:spPr>
          <a:xfrm>
            <a:off x="2488545" y="2945450"/>
            <a:ext cx="401072" cy="261610"/>
          </a:xfrm>
          <a:prstGeom prst="rect">
            <a:avLst/>
          </a:prstGeom>
        </p:spPr>
        <p:txBody>
          <a:bodyPr wrap="none">
            <a:spAutoFit/>
          </a:bodyPr>
          <a:lstStyle/>
          <a:p>
            <a:r>
              <a:rPr lang="en-US" altLang="zh-CN" sz="1050" b="1" kern="500" dirty="0">
                <a:latin typeface="微软雅黑" panose="020B0503020204020204" pitchFamily="34" charset="-122"/>
                <a:ea typeface="微软雅黑" panose="020B0503020204020204" pitchFamily="34" charset="-122"/>
              </a:rPr>
              <a:t>NB</a:t>
            </a:r>
            <a:endParaRPr lang="zh-CN" altLang="en-US" sz="1050" b="1" dirty="0">
              <a:latin typeface="微软雅黑" panose="020B0503020204020204" pitchFamily="34" charset="-122"/>
              <a:ea typeface="微软雅黑" panose="020B0503020204020204" pitchFamily="34" charset="-122"/>
            </a:endParaRPr>
          </a:p>
        </p:txBody>
      </p:sp>
      <p:grpSp>
        <p:nvGrpSpPr>
          <p:cNvPr id="3" name="组合 2"/>
          <p:cNvGrpSpPr/>
          <p:nvPr/>
        </p:nvGrpSpPr>
        <p:grpSpPr>
          <a:xfrm>
            <a:off x="1590809" y="2108503"/>
            <a:ext cx="1360280" cy="1404486"/>
            <a:chOff x="1573391" y="2099794"/>
            <a:chExt cx="1360280" cy="1404486"/>
          </a:xfrm>
        </p:grpSpPr>
        <p:sp>
          <p:nvSpPr>
            <p:cNvPr id="2" name="矩形 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2" name="矩形 371"/>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3G </a:t>
            </a:r>
            <a:r>
              <a:rPr lang="en-US" altLang="zh-CN" sz="2000" b="1" dirty="0" smtClean="0">
                <a:latin typeface="微软雅黑" panose="020B0503020204020204" pitchFamily="34" charset="-122"/>
                <a:ea typeface="微软雅黑" panose="020B0503020204020204" pitchFamily="34" charset="-122"/>
              </a:rPr>
              <a:t>UMTS </a:t>
            </a:r>
            <a:r>
              <a:rPr lang="zh-CN" altLang="en-US" sz="2000" b="1" dirty="0" smtClean="0">
                <a:latin typeface="微软雅黑" panose="020B0503020204020204" pitchFamily="34" charset="-122"/>
                <a:ea typeface="微软雅黑" panose="020B0503020204020204" pitchFamily="34" charset="-122"/>
              </a:rPr>
              <a:t>蜂窝</a:t>
            </a:r>
            <a:r>
              <a:rPr lang="zh-CN" altLang="en-US" sz="2000" b="1" dirty="0">
                <a:latin typeface="微软雅黑" panose="020B0503020204020204" pitchFamily="34" charset="-122"/>
                <a:ea typeface="微软雅黑" panose="020B0503020204020204" pitchFamily="34" charset="-122"/>
              </a:rPr>
              <a:t>通信系统的重要组成构件</a:t>
            </a:r>
            <a:endParaRPr lang="zh-CN" altLang="en-US" sz="2000" b="1" dirty="0">
              <a:latin typeface="微软雅黑" panose="020B0503020204020204" pitchFamily="34" charset="-122"/>
              <a:ea typeface="微软雅黑" panose="020B0503020204020204" pitchFamily="34" charset="-122"/>
            </a:endParaRPr>
          </a:p>
        </p:txBody>
      </p:sp>
      <p:grpSp>
        <p:nvGrpSpPr>
          <p:cNvPr id="252" name="Group 499"/>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p:nvPr/>
        </p:nvGrpSpPr>
        <p:grpSpPr bwMode="auto">
          <a:xfrm>
            <a:off x="2098545" y="1117523"/>
            <a:ext cx="238399" cy="364490"/>
            <a:chOff x="4608" y="700"/>
            <a:chExt cx="306" cy="553"/>
          </a:xfrm>
        </p:grpSpPr>
        <p:grpSp>
          <p:nvGrpSpPr>
            <p:cNvPr id="261" name="Group 513"/>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zh-CN" altLang="en-US" sz="1200" b="1" dirty="0">
              <a:latin typeface="微软雅黑" panose="020B0503020204020204" pitchFamily="34" charset="-122"/>
              <a:ea typeface="微软雅黑" panose="020B0503020204020204" pitchFamily="34" charset="-122"/>
            </a:endParaRPr>
          </a:p>
          <a:p>
            <a:pPr eaLnBrk="1" hangingPunct="1"/>
            <a:r>
              <a:rPr kumimoji="1" lang="en-US" altLang="zh-CN" sz="1000" b="1" dirty="0">
                <a:latin typeface="微软雅黑" panose="020B0503020204020204" pitchFamily="34" charset="-122"/>
                <a:ea typeface="微软雅黑" panose="020B0503020204020204" pitchFamily="34" charset="-122"/>
              </a:rPr>
              <a:t>Node-B</a:t>
            </a:r>
            <a:endParaRPr kumimoji="1" lang="en-US" altLang="zh-CN" sz="1000" b="1" dirty="0">
              <a:latin typeface="微软雅黑" panose="020B0503020204020204" pitchFamily="34" charset="-122"/>
              <a:ea typeface="微软雅黑" panose="020B0503020204020204" pitchFamily="34" charset="-122"/>
            </a:endParaRP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a:t>
            </a:r>
            <a:r>
              <a:rPr kumimoji="1" lang="zh-CN" altLang="en-US" sz="1200" b="1" dirty="0" smtClean="0">
                <a:latin typeface="微软雅黑" panose="020B0503020204020204" pitchFamily="34" charset="-122"/>
                <a:ea typeface="微软雅黑" panose="020B0503020204020204" pitchFamily="34" charset="-122"/>
              </a:rPr>
              <a:t>设备 </a:t>
            </a:r>
            <a:r>
              <a:rPr kumimoji="1" lang="en-US" altLang="zh-CN" sz="1200" b="1" dirty="0" smtClean="0">
                <a:latin typeface="微软雅黑" panose="020B0503020204020204" pitchFamily="34" charset="-122"/>
                <a:ea typeface="微软雅黑" panose="020B0503020204020204" pitchFamily="34" charset="-122"/>
              </a:rPr>
              <a:t>UE</a:t>
            </a:r>
            <a:endParaRPr kumimoji="1" lang="en-US" altLang="zh-CN"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endParaRPr kumimoji="1" lang="zh-CN" altLang="en-US" sz="1200" b="1">
              <a:latin typeface="微软雅黑" panose="020B0503020204020204" pitchFamily="34" charset="-122"/>
              <a:ea typeface="微软雅黑" panose="020B0503020204020204" pitchFamily="34" charset="-122"/>
            </a:endParaRP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endParaRPr kumimoji="1"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endParaRPr kumimoji="1" lang="zh-CN" altLang="en-US"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endParaRPr kumimoji="1" lang="zh-CN" altLang="en-US" sz="1100" b="1" dirty="0">
              <a:latin typeface="微软雅黑" panose="020B0503020204020204" pitchFamily="34" charset="-122"/>
              <a:ea typeface="微软雅黑" panose="020B0503020204020204" pitchFamily="34" charset="-122"/>
            </a:endParaRP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endParaRPr kumimoji="1" lang="zh-CN" altLang="en-US" sz="1100" b="1" dirty="0">
              <a:latin typeface="微软雅黑" panose="020B0503020204020204" pitchFamily="34" charset="-122"/>
              <a:ea typeface="微软雅黑" panose="020B0503020204020204" pitchFamily="34" charset="-122"/>
            </a:endParaRP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endParaRPr kumimoji="1" lang="zh-CN" altLang="en-US" sz="1200" b="1" dirty="0">
              <a:latin typeface="微软雅黑" panose="020B0503020204020204" pitchFamily="34" charset="-122"/>
              <a:ea typeface="微软雅黑" panose="020B0503020204020204" pitchFamily="34" charset="-122"/>
            </a:endParaRP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endParaRPr lang="zh-CN" altLang="en-US" dirty="0"/>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spid="_x0000_s23553" name="Visio" r:id="rId3" imgW="3514725" imgH="2009775" progId="">
                  <p:embed/>
                </p:oleObj>
              </mc:Choice>
              <mc:Fallback>
                <p:oleObj name="Visio" r:id="rId3" imgW="3514725" imgH="2009775" progId="">
                  <p:embed/>
                  <p:pic>
                    <p:nvPicPr>
                      <p:cNvPr id="0" name="图片 23552"/>
                      <p:cNvPicPr>
                        <a:picLocks noChangeAspect="1"/>
                      </p:cNvPicPr>
                      <p:nvPr/>
                    </p:nvPicPr>
                    <p:blipFill>
                      <a:blip r:embed="rId4"/>
                      <a:stretch>
                        <a:fillRect/>
                      </a:stretch>
                    </p:blipFill>
                    <p:spPr>
                      <a:xfrm>
                        <a:off x="7042334" y="2813673"/>
                        <a:ext cx="1184398" cy="677438"/>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设备</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同时</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支持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2G/3G</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功能</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。从互联网无法</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看到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以内的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节点</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的移动性，</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对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UMTS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外部都</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把这些</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隐藏</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p:nvPr/>
        </p:nvGrpSpPr>
        <p:grpSpPr bwMode="auto">
          <a:xfrm>
            <a:off x="2077157" y="1731391"/>
            <a:ext cx="238398" cy="426132"/>
            <a:chOff x="4608" y="700"/>
            <a:chExt cx="306" cy="553"/>
          </a:xfrm>
        </p:grpSpPr>
        <p:grpSp>
          <p:nvGrpSpPr>
            <p:cNvPr id="28" name="Group 12"/>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p:nvPr/>
        </p:nvGrpSpPr>
        <p:grpSpPr bwMode="auto">
          <a:xfrm>
            <a:off x="1638556" y="2097222"/>
            <a:ext cx="238399" cy="426132"/>
            <a:chOff x="4608" y="700"/>
            <a:chExt cx="306" cy="553"/>
          </a:xfrm>
        </p:grpSpPr>
        <p:grpSp>
          <p:nvGrpSpPr>
            <p:cNvPr id="53" name="Group 65"/>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p:nvPr/>
        </p:nvGrpSpPr>
        <p:grpSpPr bwMode="auto">
          <a:xfrm>
            <a:off x="2136427" y="2339768"/>
            <a:ext cx="238399" cy="426132"/>
            <a:chOff x="4608" y="700"/>
            <a:chExt cx="306" cy="553"/>
          </a:xfrm>
        </p:grpSpPr>
        <p:grpSp>
          <p:nvGrpSpPr>
            <p:cNvPr id="78" name="Group 90"/>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p:nvPr/>
        </p:nvGrpSpPr>
        <p:grpSpPr bwMode="auto">
          <a:xfrm>
            <a:off x="2614541" y="1973939"/>
            <a:ext cx="238398" cy="426132"/>
            <a:chOff x="4608" y="700"/>
            <a:chExt cx="306" cy="553"/>
          </a:xfrm>
        </p:grpSpPr>
        <p:grpSp>
          <p:nvGrpSpPr>
            <p:cNvPr id="103" name="Group 115"/>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p:nvPr/>
        </p:nvGrpSpPr>
        <p:grpSpPr bwMode="auto">
          <a:xfrm>
            <a:off x="1658313" y="2582315"/>
            <a:ext cx="238398" cy="426132"/>
            <a:chOff x="4608" y="700"/>
            <a:chExt cx="306" cy="553"/>
          </a:xfrm>
        </p:grpSpPr>
        <p:grpSp>
          <p:nvGrpSpPr>
            <p:cNvPr id="128" name="Group 140"/>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p:nvPr/>
        </p:nvGrpSpPr>
        <p:grpSpPr bwMode="auto">
          <a:xfrm>
            <a:off x="2077157" y="2886503"/>
            <a:ext cx="238398" cy="426132"/>
            <a:chOff x="4608" y="700"/>
            <a:chExt cx="306" cy="553"/>
          </a:xfrm>
        </p:grpSpPr>
        <p:grpSp>
          <p:nvGrpSpPr>
            <p:cNvPr id="153" name="Group 165"/>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p:nvPr/>
        </p:nvGrpSpPr>
        <p:grpSpPr bwMode="auto">
          <a:xfrm>
            <a:off x="2555270" y="2582315"/>
            <a:ext cx="238399" cy="426132"/>
            <a:chOff x="4608" y="700"/>
            <a:chExt cx="306" cy="553"/>
          </a:xfrm>
        </p:grpSpPr>
        <p:grpSp>
          <p:nvGrpSpPr>
            <p:cNvPr id="178" name="Group 215"/>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spid="_x0000_s23554" name="Microsoft ClipArt Gallery" r:id="rId6" imgW="53035200" imgH="20888325" progId="">
                  <p:embed/>
                </p:oleObj>
              </mc:Choice>
              <mc:Fallback>
                <p:oleObj name="Microsoft ClipArt Gallery" r:id="rId6" imgW="53035200" imgH="20888325" progId="">
                  <p:embed/>
                  <p:pic>
                    <p:nvPicPr>
                      <p:cNvPr id="0" name="图片 23553"/>
                      <p:cNvPicPr/>
                      <p:nvPr/>
                    </p:nvPicPr>
                    <p:blipFill>
                      <a:blip r:embed="rId7"/>
                      <a:stretch>
                        <a:fillRect/>
                      </a:stretch>
                    </p:blipFill>
                    <p:spPr>
                      <a:xfrm>
                        <a:off x="1360645" y="3129050"/>
                        <a:ext cx="417526" cy="218426"/>
                      </a:xfrm>
                      <a:prstGeom prst="rect">
                        <a:avLst/>
                      </a:prstGeom>
                      <a:noFill/>
                      <a:ln w="12700">
                        <a:noFill/>
                      </a:ln>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smtClean="0">
                <a:latin typeface="微软雅黑" panose="020B0503020204020204" pitchFamily="34" charset="-122"/>
                <a:ea typeface="微软雅黑" panose="020B0503020204020204" pitchFamily="34" charset="-122"/>
              </a:rPr>
              <a:t>RNC</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smtClean="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spid="_x0000_s23555" name="Microsoft ClipArt Gallery" r:id="rId8" imgW="53035200" imgH="20888325" progId="">
                  <p:embed/>
                </p:oleObj>
              </mc:Choice>
              <mc:Fallback>
                <p:oleObj name="Microsoft ClipArt Gallery" r:id="rId8" imgW="53035200" imgH="20888325" progId="">
                  <p:embed/>
                  <p:pic>
                    <p:nvPicPr>
                      <p:cNvPr id="0" name="图片 23554"/>
                      <p:cNvPicPr/>
                      <p:nvPr/>
                    </p:nvPicPr>
                    <p:blipFill>
                      <a:blip r:embed="rId7"/>
                      <a:stretch>
                        <a:fillRect/>
                      </a:stretch>
                    </p:blipFill>
                    <p:spPr>
                      <a:xfrm>
                        <a:off x="2962949" y="1343316"/>
                        <a:ext cx="331914" cy="174205"/>
                      </a:xfrm>
                      <a:prstGeom prst="rect">
                        <a:avLst/>
                      </a:prstGeom>
                      <a:noFill/>
                      <a:ln w="12700">
                        <a:noFill/>
                      </a:ln>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71" name="组合 370"/>
          <p:cNvGrpSpPr/>
          <p:nvPr/>
        </p:nvGrpSpPr>
        <p:grpSpPr>
          <a:xfrm>
            <a:off x="1590809" y="2108503"/>
            <a:ext cx="1360280" cy="1404486"/>
            <a:chOff x="1573391" y="2099794"/>
            <a:chExt cx="1360280" cy="1404486"/>
          </a:xfrm>
        </p:grpSpPr>
        <p:sp>
          <p:nvSpPr>
            <p:cNvPr id="372" name="矩形 37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6" name="矩形 375"/>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65934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anose="020B0503020204020204" pitchFamily="34" charset="-122"/>
                <a:ea typeface="微软雅黑" panose="020B0503020204020204" pitchFamily="34" charset="-122"/>
              </a:rPr>
              <a:t>3G </a:t>
            </a:r>
            <a:r>
              <a:rPr lang="en-US" altLang="zh-CN" sz="2000" b="1" dirty="0" smtClean="0">
                <a:latin typeface="微软雅黑" panose="020B0503020204020204" pitchFamily="34" charset="-122"/>
                <a:ea typeface="微软雅黑" panose="020B0503020204020204" pitchFamily="34" charset="-122"/>
              </a:rPr>
              <a:t>UMTS </a:t>
            </a:r>
            <a:r>
              <a:rPr lang="zh-CN" altLang="en-US" sz="2000" b="1" dirty="0" smtClean="0">
                <a:latin typeface="微软雅黑" panose="020B0503020204020204" pitchFamily="34" charset="-122"/>
                <a:ea typeface="微软雅黑" panose="020B0503020204020204" pitchFamily="34" charset="-122"/>
              </a:rPr>
              <a:t>与 </a:t>
            </a:r>
            <a:r>
              <a:rPr lang="en-US" altLang="zh-CN" sz="2000" b="1" dirty="0" smtClean="0">
                <a:latin typeface="微软雅黑" panose="020B0503020204020204" pitchFamily="34" charset="-122"/>
                <a:ea typeface="微软雅黑" panose="020B0503020204020204" pitchFamily="34" charset="-122"/>
              </a:rPr>
              <a:t>2G GSM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主要区别：集中在 </a:t>
            </a:r>
            <a:r>
              <a:rPr lang="en-US" altLang="zh-CN" sz="2000" b="1" dirty="0">
                <a:latin typeface="微软雅黑" panose="020B0503020204020204" pitchFamily="34" charset="-122"/>
                <a:ea typeface="微软雅黑" panose="020B0503020204020204" pitchFamily="34" charset="-122"/>
              </a:rPr>
              <a:t>UTRAN </a:t>
            </a:r>
            <a:r>
              <a:rPr lang="zh-CN" altLang="en-US" sz="2000" b="1" dirty="0">
                <a:latin typeface="微软雅黑" panose="020B0503020204020204" pitchFamily="34" charset="-122"/>
                <a:ea typeface="微软雅黑" panose="020B0503020204020204" pitchFamily="34" charset="-122"/>
              </a:rPr>
              <a:t>侧</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371" name="Rectangle 46"/>
          <p:cNvSpPr>
            <a:spLocks noChangeArrowheads="1"/>
          </p:cNvSpPr>
          <p:nvPr/>
        </p:nvSpPr>
        <p:spPr bwMode="auto">
          <a:xfrm>
            <a:off x="511895" y="933717"/>
            <a:ext cx="8222801"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空口：</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使用</a:t>
            </a:r>
            <a:r>
              <a:rPr lang="zh-CN" altLang="en-US" b="1" dirty="0">
                <a:solidFill>
                  <a:srgbClr val="C00000"/>
                </a:solidFill>
                <a:latin typeface="微软雅黑" panose="020B0503020204020204" pitchFamily="34" charset="-122"/>
                <a:ea typeface="微软雅黑" panose="020B0503020204020204" pitchFamily="34" charset="-122"/>
              </a:rPr>
              <a:t>直接序列宽带码分多址 </a:t>
            </a:r>
            <a:r>
              <a:rPr lang="en-US" altLang="zh-CN" b="1" dirty="0">
                <a:solidFill>
                  <a:srgbClr val="C00000"/>
                </a:solidFill>
                <a:latin typeface="微软雅黑" panose="020B0503020204020204" pitchFamily="34" charset="-122"/>
                <a:ea typeface="微软雅黑" panose="020B0503020204020204" pitchFamily="34" charset="-122"/>
              </a:rPr>
              <a:t>DS-WCDMA </a:t>
            </a:r>
            <a:r>
              <a:rPr lang="en-US" altLang="zh-CN" b="1" dirty="0">
                <a:latin typeface="微软雅黑" panose="020B0503020204020204" pitchFamily="34" charset="-122"/>
                <a:ea typeface="微软雅黑" panose="020B0503020204020204" pitchFamily="34" charset="-122"/>
              </a:rPr>
              <a:t>(Direct Sequence Wideband CDMA)</a:t>
            </a:r>
            <a:r>
              <a:rPr lang="zh-CN" altLang="en-US" b="1" dirty="0">
                <a:latin typeface="微软雅黑" panose="020B0503020204020204" pitchFamily="34" charset="-122"/>
                <a:ea typeface="微软雅黑" panose="020B0503020204020204" pitchFamily="34" charset="-122"/>
              </a:rPr>
              <a:t>，或</a:t>
            </a:r>
            <a:r>
              <a:rPr lang="zh-CN" altLang="en-US" b="1" dirty="0">
                <a:solidFill>
                  <a:srgbClr val="C00000"/>
                </a:solidFill>
                <a:latin typeface="微软雅黑" panose="020B0503020204020204" pitchFamily="34" charset="-122"/>
                <a:ea typeface="微软雅黑" panose="020B0503020204020204" pitchFamily="34" charset="-122"/>
              </a:rPr>
              <a:t>时分同步</a:t>
            </a:r>
            <a:r>
              <a:rPr lang="zh-CN" altLang="en-US" b="1" dirty="0" smtClean="0">
                <a:solidFill>
                  <a:srgbClr val="C00000"/>
                </a:solidFill>
                <a:latin typeface="微软雅黑" panose="020B0503020204020204" pitchFamily="34" charset="-122"/>
                <a:ea typeface="微软雅黑" panose="020B0503020204020204" pitchFamily="34" charset="-122"/>
              </a:rPr>
              <a:t>码分多址 </a:t>
            </a:r>
            <a:r>
              <a:rPr lang="en-US" altLang="zh-CN" b="1" dirty="0" smtClean="0">
                <a:solidFill>
                  <a:srgbClr val="C00000"/>
                </a:solidFill>
                <a:latin typeface="微软雅黑" panose="020B0503020204020204" pitchFamily="34" charset="-122"/>
                <a:ea typeface="微软雅黑" panose="020B0503020204020204" pitchFamily="34" charset="-122"/>
              </a:rPr>
              <a:t>TD-SCDMA </a:t>
            </a:r>
            <a:r>
              <a:rPr lang="en-US" altLang="zh-CN" b="1" dirty="0">
                <a:latin typeface="微软雅黑" panose="020B0503020204020204" pitchFamily="34" charset="-122"/>
                <a:ea typeface="微软雅黑" panose="020B0503020204020204" pitchFamily="34" charset="-122"/>
              </a:rPr>
              <a:t>(Time Division-Synchronous Code Division Multiple Access)</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每个移动用户使用的带宽比 </a:t>
            </a:r>
            <a:r>
              <a:rPr lang="en-US" altLang="zh-CN" b="1" dirty="0">
                <a:latin typeface="微软雅黑" panose="020B0503020204020204" pitchFamily="34" charset="-122"/>
                <a:ea typeface="微软雅黑" panose="020B0503020204020204" pitchFamily="34" charset="-122"/>
              </a:rPr>
              <a:t>GSM </a:t>
            </a:r>
            <a:r>
              <a:rPr lang="zh-CN" altLang="en-US" b="1" dirty="0">
                <a:latin typeface="微软雅黑" panose="020B0503020204020204" pitchFamily="34" charset="-122"/>
                <a:ea typeface="微软雅黑" panose="020B0503020204020204" pitchFamily="34" charset="-122"/>
              </a:rPr>
              <a:t>增大很多，能以更高的数据率享用多种移动宽带多媒体业务。</a:t>
            </a:r>
            <a:endParaRPr lang="en-US" altLang="zh-CN" b="1" dirty="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3G </a:t>
            </a:r>
            <a:r>
              <a:rPr lang="en-US" altLang="zh-CN" sz="2000" b="1" dirty="0">
                <a:latin typeface="微软雅黑" panose="020B0503020204020204" pitchFamily="34" charset="-122"/>
                <a:ea typeface="微软雅黑" panose="020B0503020204020204" pitchFamily="34" charset="-122"/>
              </a:rPr>
              <a:t>UMTS</a:t>
            </a:r>
            <a:r>
              <a:rPr lang="zh-CN" altLang="en-US" sz="2000" b="1" dirty="0">
                <a:latin typeface="微软雅黑" panose="020B0503020204020204" pitchFamily="34" charset="-122"/>
                <a:ea typeface="微软雅黑" panose="020B0503020204020204" pitchFamily="34" charset="-122"/>
              </a:rPr>
              <a:t>也不断提高数据</a:t>
            </a:r>
            <a:r>
              <a:rPr lang="zh-CN" altLang="en-US" sz="2000" b="1" dirty="0" smtClean="0">
                <a:latin typeface="微软雅黑" panose="020B0503020204020204" pitchFamily="34" charset="-122"/>
                <a:ea typeface="微软雅黑" panose="020B0503020204020204" pitchFamily="34" charset="-122"/>
              </a:rPr>
              <a:t>率。例如：</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anose="020B0503020204020204" pitchFamily="34" charset="-122"/>
                <a:ea typeface="微软雅黑" panose="020B0503020204020204" pitchFamily="34" charset="-122"/>
              </a:rPr>
              <a:t>WCDMA </a:t>
            </a:r>
            <a:r>
              <a:rPr lang="zh-CN" altLang="en-US" b="1" dirty="0">
                <a:latin typeface="微软雅黑" panose="020B0503020204020204" pitchFamily="34" charset="-122"/>
                <a:ea typeface="微软雅黑" panose="020B0503020204020204" pitchFamily="34" charset="-122"/>
              </a:rPr>
              <a:t>引入</a:t>
            </a:r>
            <a:r>
              <a:rPr lang="zh-CN" altLang="en-US" b="1" dirty="0">
                <a:solidFill>
                  <a:srgbClr val="C00000"/>
                </a:solidFill>
                <a:latin typeface="微软雅黑" panose="020B0503020204020204" pitchFamily="34" charset="-122"/>
                <a:ea typeface="微软雅黑" panose="020B0503020204020204" pitchFamily="34" charset="-122"/>
              </a:rPr>
              <a:t>高速分组接入增强型版本 </a:t>
            </a:r>
            <a:r>
              <a:rPr lang="en-US" altLang="zh-CN" b="1" dirty="0">
                <a:solidFill>
                  <a:srgbClr val="C00000"/>
                </a:solidFill>
                <a:latin typeface="微软雅黑" panose="020B0503020204020204" pitchFamily="34" charset="-122"/>
                <a:ea typeface="微软雅黑" panose="020B0503020204020204" pitchFamily="34" charset="-122"/>
              </a:rPr>
              <a:t>HSPA+ </a:t>
            </a:r>
            <a:r>
              <a:rPr lang="en-US" altLang="zh-CN" b="1" dirty="0">
                <a:latin typeface="微软雅黑" panose="020B0503020204020204" pitchFamily="34" charset="-122"/>
                <a:ea typeface="微软雅黑" panose="020B0503020204020204" pitchFamily="34" charset="-122"/>
              </a:rPr>
              <a:t>(High Speed Packet Access+) </a:t>
            </a:r>
            <a:r>
              <a:rPr lang="zh-CN" altLang="en-US" b="1" dirty="0">
                <a:latin typeface="微软雅黑" panose="020B0503020204020204" pitchFamily="34" charset="-122"/>
                <a:ea typeface="微软雅黑" panose="020B0503020204020204" pitchFamily="34" charset="-122"/>
              </a:rPr>
              <a:t>，下行数据率可达到 </a:t>
            </a:r>
            <a:r>
              <a:rPr lang="en-US" altLang="zh-CN" b="1" dirty="0">
                <a:latin typeface="微软雅黑" panose="020B0503020204020204" pitchFamily="34" charset="-122"/>
                <a:ea typeface="微软雅黑" panose="020B0503020204020204" pitchFamily="34" charset="-122"/>
              </a:rPr>
              <a:t>21 Mbit/s</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5 MHz</a:t>
            </a:r>
            <a:r>
              <a:rPr lang="zh-CN" altLang="en-US" b="1" dirty="0">
                <a:latin typeface="微软雅黑" panose="020B0503020204020204" pitchFamily="34" charset="-122"/>
                <a:ea typeface="微软雅黑" panose="020B0503020204020204" pitchFamily="34" charset="-122"/>
              </a:rPr>
              <a:t>带宽），大大 超过了 </a:t>
            </a:r>
            <a:r>
              <a:rPr lang="en-US" altLang="zh-CN" b="1" dirty="0">
                <a:latin typeface="微软雅黑" panose="020B0503020204020204" pitchFamily="34" charset="-122"/>
                <a:ea typeface="微软雅黑" panose="020B0503020204020204" pitchFamily="34" charset="-122"/>
              </a:rPr>
              <a:t>3G </a:t>
            </a:r>
            <a:r>
              <a:rPr lang="zh-CN" altLang="en-US" b="1" dirty="0">
                <a:latin typeface="微软雅黑" panose="020B0503020204020204" pitchFamily="34" charset="-122"/>
                <a:ea typeface="微软雅黑" panose="020B0503020204020204" pitchFamily="34" charset="-122"/>
              </a:rPr>
              <a:t>最初设定的指标。</a:t>
            </a:r>
            <a:endParaRPr lang="en-US" altLang="zh-CN"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76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我国使用</a:t>
            </a:r>
            <a:r>
              <a:rPr lang="zh-CN" altLang="en-US" sz="2000" b="1" dirty="0">
                <a:latin typeface="微软雅黑" panose="020B0503020204020204" pitchFamily="34" charset="-122"/>
                <a:ea typeface="微软雅黑" panose="020B0503020204020204" pitchFamily="34" charset="-122"/>
              </a:rPr>
              <a:t>三</a:t>
            </a:r>
            <a:r>
              <a:rPr lang="zh-CN" altLang="en-US" sz="2000" b="1" dirty="0" smtClean="0">
                <a:latin typeface="微软雅黑" panose="020B0503020204020204" pitchFamily="34" charset="-122"/>
                <a:ea typeface="微软雅黑" panose="020B0503020204020204" pitchFamily="34" charset="-122"/>
              </a:rPr>
              <a:t>种 </a:t>
            </a:r>
            <a:r>
              <a:rPr lang="en-US" altLang="zh-CN" sz="2000" b="1" dirty="0" smtClean="0">
                <a:latin typeface="微软雅黑" panose="020B0503020204020204" pitchFamily="34" charset="-122"/>
                <a:ea typeface="微软雅黑" panose="020B0503020204020204" pitchFamily="34" charset="-122"/>
              </a:rPr>
              <a:t>3G </a:t>
            </a:r>
            <a:r>
              <a:rPr lang="zh-CN" altLang="en-US" sz="2000" b="1" dirty="0" smtClean="0">
                <a:latin typeface="微软雅黑" panose="020B0503020204020204" pitchFamily="34" charset="-122"/>
                <a:ea typeface="微软雅黑" panose="020B0503020204020204" pitchFamily="34" charset="-122"/>
              </a:rPr>
              <a:t>国际标准</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371" name="Rectangle 46"/>
          <p:cNvSpPr>
            <a:spLocks noChangeArrowheads="1"/>
          </p:cNvSpPr>
          <p:nvPr/>
        </p:nvSpPr>
        <p:spPr bwMode="auto">
          <a:xfrm>
            <a:off x="511895" y="933717"/>
            <a:ext cx="8139815" cy="260584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rPr>
              <a:t>3GPP </a:t>
            </a:r>
            <a:r>
              <a:rPr lang="zh-CN" altLang="en-US" b="1" dirty="0" smtClean="0">
                <a:latin typeface="微软雅黑" panose="020B0503020204020204" pitchFamily="34" charset="-122"/>
                <a:ea typeface="微软雅黑" panose="020B0503020204020204" pitchFamily="34" charset="-122"/>
              </a:rPr>
              <a:t>组织</a:t>
            </a:r>
            <a:r>
              <a:rPr lang="zh-CN" altLang="en-US" b="1" dirty="0">
                <a:latin typeface="微软雅黑" panose="020B0503020204020204" pitchFamily="34" charset="-122"/>
                <a:ea typeface="微软雅黑" panose="020B0503020204020204" pitchFamily="34" charset="-122"/>
              </a:rPr>
              <a:t>中由欧洲提出的</a:t>
            </a:r>
            <a:r>
              <a:rPr lang="zh-CN" altLang="en-US" b="1" dirty="0">
                <a:solidFill>
                  <a:srgbClr val="C00000"/>
                </a:solidFill>
                <a:latin typeface="微软雅黑" panose="020B0503020204020204" pitchFamily="34" charset="-122"/>
                <a:ea typeface="微软雅黑" panose="020B0503020204020204" pitchFamily="34" charset="-122"/>
              </a:rPr>
              <a:t>宽带</a:t>
            </a:r>
            <a:r>
              <a:rPr lang="zh-CN" altLang="en-US" b="1" dirty="0" smtClean="0">
                <a:solidFill>
                  <a:srgbClr val="C00000"/>
                </a:solidFill>
                <a:latin typeface="微软雅黑" panose="020B0503020204020204" pitchFamily="34" charset="-122"/>
                <a:ea typeface="微软雅黑" panose="020B0503020204020204" pitchFamily="34" charset="-122"/>
              </a:rPr>
              <a:t>码分多址 </a:t>
            </a:r>
            <a:r>
              <a:rPr lang="en-US" altLang="zh-CN" b="1" dirty="0" smtClean="0">
                <a:solidFill>
                  <a:srgbClr val="C00000"/>
                </a:solidFill>
                <a:latin typeface="微软雅黑" panose="020B0503020204020204" pitchFamily="34" charset="-122"/>
                <a:ea typeface="微软雅黑" panose="020B0503020204020204" pitchFamily="34" charset="-122"/>
              </a:rPr>
              <a:t>WCDMA </a:t>
            </a:r>
            <a:r>
              <a:rPr lang="en-US" altLang="zh-CN" b="1" dirty="0">
                <a:latin typeface="微软雅黑" panose="020B0503020204020204" pitchFamily="34" charset="-122"/>
                <a:ea typeface="微软雅黑" panose="020B0503020204020204" pitchFamily="34" charset="-122"/>
              </a:rPr>
              <a:t>(Wideband CDMA)</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UMTS</a:t>
            </a:r>
            <a:r>
              <a:rPr lang="zh-CN" altLang="en-US" b="1" dirty="0">
                <a:latin typeface="微软雅黑" panose="020B0503020204020204" pitchFamily="34" charset="-122"/>
                <a:ea typeface="微软雅黑" panose="020B0503020204020204" pitchFamily="34" charset="-122"/>
              </a:rPr>
              <a:t>的标准，中国联通使用</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rPr>
              <a:t>3GPP </a:t>
            </a:r>
            <a:r>
              <a:rPr lang="zh-CN" altLang="en-US" b="1" dirty="0" smtClean="0">
                <a:latin typeface="微软雅黑" panose="020B0503020204020204" pitchFamily="34" charset="-122"/>
                <a:ea typeface="微软雅黑" panose="020B0503020204020204" pitchFamily="34" charset="-122"/>
              </a:rPr>
              <a:t>组织</a:t>
            </a:r>
            <a:r>
              <a:rPr lang="zh-CN" altLang="en-US" b="1" dirty="0">
                <a:latin typeface="微软雅黑" panose="020B0503020204020204" pitchFamily="34" charset="-122"/>
                <a:ea typeface="微软雅黑" panose="020B0503020204020204" pitchFamily="34" charset="-122"/>
              </a:rPr>
              <a:t>中由美国提出</a:t>
            </a:r>
            <a:r>
              <a:rPr lang="zh-CN" altLang="en-US" b="1" dirty="0" smtClean="0">
                <a:latin typeface="微软雅黑" panose="020B0503020204020204" pitchFamily="34" charset="-122"/>
                <a:ea typeface="微软雅黑" panose="020B0503020204020204" pitchFamily="34" charset="-122"/>
              </a:rPr>
              <a:t>的 </a:t>
            </a:r>
            <a:r>
              <a:rPr lang="en-US" altLang="zh-CN" b="1" dirty="0" smtClean="0">
                <a:solidFill>
                  <a:srgbClr val="C00000"/>
                </a:solidFill>
                <a:latin typeface="微软雅黑" panose="020B0503020204020204" pitchFamily="34" charset="-122"/>
                <a:ea typeface="微软雅黑" panose="020B0503020204020204" pitchFamily="34" charset="-122"/>
              </a:rPr>
              <a:t>CDMA2000</a:t>
            </a:r>
            <a:r>
              <a:rPr lang="zh-CN" altLang="en-US" b="1" dirty="0">
                <a:latin typeface="微软雅黑" panose="020B0503020204020204" pitchFamily="34" charset="-122"/>
                <a:ea typeface="微软雅黑" panose="020B0503020204020204" pitchFamily="34" charset="-122"/>
              </a:rPr>
              <a:t>（中国电信使用</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rPr>
              <a:t>3GPP </a:t>
            </a:r>
            <a:r>
              <a:rPr lang="zh-CN" altLang="en-US" b="1" dirty="0" smtClean="0">
                <a:latin typeface="微软雅黑" panose="020B0503020204020204" pitchFamily="34" charset="-122"/>
                <a:ea typeface="微软雅黑" panose="020B0503020204020204" pitchFamily="34" charset="-122"/>
              </a:rPr>
              <a:t>组织</a:t>
            </a:r>
            <a:r>
              <a:rPr lang="zh-CN" altLang="en-US" b="1" dirty="0">
                <a:latin typeface="微软雅黑" panose="020B0503020204020204" pitchFamily="34" charset="-122"/>
                <a:ea typeface="微软雅黑" panose="020B0503020204020204" pitchFamily="34" charset="-122"/>
              </a:rPr>
              <a:t>中主要由中国提出的</a:t>
            </a:r>
            <a:r>
              <a:rPr lang="zh-CN" altLang="en-US" b="1" dirty="0">
                <a:solidFill>
                  <a:srgbClr val="C00000"/>
                </a:solidFill>
                <a:latin typeface="微软雅黑" panose="020B0503020204020204" pitchFamily="34" charset="-122"/>
                <a:ea typeface="微软雅黑" panose="020B0503020204020204" pitchFamily="34" charset="-122"/>
              </a:rPr>
              <a:t>时分同步</a:t>
            </a:r>
            <a:r>
              <a:rPr lang="zh-CN" altLang="en-US" b="1" dirty="0" smtClean="0">
                <a:solidFill>
                  <a:srgbClr val="C00000"/>
                </a:solidFill>
                <a:latin typeface="微软雅黑" panose="020B0503020204020204" pitchFamily="34" charset="-122"/>
                <a:ea typeface="微软雅黑" panose="020B0503020204020204" pitchFamily="34" charset="-122"/>
              </a:rPr>
              <a:t>码分多址 </a:t>
            </a:r>
            <a:r>
              <a:rPr lang="en-US" altLang="zh-CN" b="1" dirty="0" smtClean="0">
                <a:solidFill>
                  <a:srgbClr val="C00000"/>
                </a:solidFill>
                <a:latin typeface="微软雅黑" panose="020B0503020204020204" pitchFamily="34" charset="-122"/>
                <a:ea typeface="微软雅黑" panose="020B0503020204020204" pitchFamily="34" charset="-122"/>
              </a:rPr>
              <a:t>TD-SCDMA </a:t>
            </a:r>
            <a:r>
              <a:rPr lang="en-US" altLang="zh-CN" b="1" dirty="0">
                <a:latin typeface="微软雅黑" panose="020B0503020204020204" pitchFamily="34" charset="-122"/>
                <a:ea typeface="微软雅黑" panose="020B0503020204020204" pitchFamily="34" charset="-122"/>
              </a:rPr>
              <a:t>(Time Division-Synchronous CDMA)</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UMTS</a:t>
            </a:r>
            <a:r>
              <a:rPr lang="zh-CN" altLang="en-US" b="1" dirty="0">
                <a:latin typeface="微软雅黑" panose="020B0503020204020204" pitchFamily="34" charset="-122"/>
                <a:ea typeface="微软雅黑" panose="020B0503020204020204" pitchFamily="34" charset="-122"/>
              </a:rPr>
              <a:t>标准，中国移动使用</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anose="020B0503020204020204" pitchFamily="34" charset="-122"/>
                <a:ea typeface="微软雅黑" panose="020B0503020204020204" pitchFamily="34" charset="-122"/>
              </a:rPr>
              <a:t>TD-SCDMA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WCDMA </a:t>
            </a:r>
            <a:r>
              <a:rPr lang="zh-CN" altLang="en-US" b="1" dirty="0" smtClean="0">
                <a:latin typeface="微软雅黑" panose="020B0503020204020204" pitchFamily="34" charset="-122"/>
                <a:ea typeface="微软雅黑" panose="020B0503020204020204" pitchFamily="34" charset="-122"/>
              </a:rPr>
              <a:t>仅</a:t>
            </a:r>
            <a:r>
              <a:rPr lang="zh-CN" altLang="en-US" b="1" dirty="0">
                <a:latin typeface="微软雅黑" panose="020B0503020204020204" pitchFamily="34" charset="-122"/>
                <a:ea typeface="微软雅黑" panose="020B0503020204020204" pitchFamily="34" charset="-122"/>
              </a:rPr>
              <a:t>在接入网空口</a:t>
            </a:r>
            <a:r>
              <a:rPr lang="zh-CN" altLang="en-US" b="1" dirty="0" smtClean="0">
                <a:latin typeface="微软雅黑" panose="020B0503020204020204" pitchFamily="34" charset="-122"/>
                <a:ea typeface="微软雅黑" panose="020B0503020204020204" pitchFamily="34" charset="-122"/>
              </a:rPr>
              <a:t>部分有差异。</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anose="020B0503020204020204" pitchFamily="34" charset="-122"/>
                <a:ea typeface="微软雅黑" panose="020B0503020204020204" pitchFamily="34" charset="-122"/>
              </a:rPr>
              <a:t>CDMA2000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核心</a:t>
            </a:r>
            <a:r>
              <a:rPr lang="zh-CN" altLang="en-US" b="1" dirty="0" smtClean="0">
                <a:latin typeface="微软雅黑" panose="020B0503020204020204" pitchFamily="34" charset="-122"/>
                <a:ea typeface="微软雅黑" panose="020B0503020204020204" pitchFamily="34" charset="-122"/>
              </a:rPr>
              <a:t>网和接</a:t>
            </a:r>
            <a:r>
              <a:rPr lang="zh-CN" altLang="en-US" b="1" dirty="0">
                <a:latin typeface="微软雅黑" panose="020B0503020204020204" pitchFamily="34" charset="-122"/>
                <a:ea typeface="微软雅黑" panose="020B0503020204020204" pitchFamily="34" charset="-122"/>
              </a:rPr>
              <a:t>入网与 </a:t>
            </a:r>
            <a:r>
              <a:rPr lang="en-US" altLang="zh-CN" b="1" dirty="0">
                <a:latin typeface="微软雅黑" panose="020B0503020204020204" pitchFamily="34" charset="-122"/>
                <a:ea typeface="微软雅黑" panose="020B0503020204020204" pitchFamily="34" charset="-122"/>
              </a:rPr>
              <a:t>TD-SCDMA/WCDMA </a:t>
            </a:r>
            <a:r>
              <a:rPr lang="zh-CN" altLang="en-US" b="1" dirty="0" smtClean="0">
                <a:latin typeface="微软雅黑" panose="020B0503020204020204" pitchFamily="34" charset="-122"/>
                <a:ea typeface="微软雅黑" panose="020B0503020204020204" pitchFamily="34" charset="-122"/>
              </a:rPr>
              <a:t>都</a:t>
            </a:r>
            <a:r>
              <a:rPr lang="zh-CN" altLang="en-US" b="1" dirty="0">
                <a:latin typeface="微软雅黑" panose="020B0503020204020204" pitchFamily="34" charset="-122"/>
                <a:ea typeface="微软雅黑" panose="020B0503020204020204" pitchFamily="34" charset="-122"/>
              </a:rPr>
              <a:t>不同</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nvGrpSpPr>
          <p:cNvPr id="5" name="组合 4"/>
          <p:cNvGrpSpPr/>
          <p:nvPr/>
        </p:nvGrpSpPr>
        <p:grpSpPr>
          <a:xfrm>
            <a:off x="1342828" y="3487305"/>
            <a:ext cx="6616808" cy="1149475"/>
            <a:chOff x="502922" y="2655525"/>
            <a:chExt cx="7958219" cy="1261156"/>
          </a:xfrm>
        </p:grpSpPr>
        <p:sp>
          <p:nvSpPr>
            <p:cNvPr id="6" name="对角圆角矩形 5"/>
            <p:cNvSpPr/>
            <p:nvPr/>
          </p:nvSpPr>
          <p:spPr>
            <a:xfrm>
              <a:off x="502922" y="2655525"/>
              <a:ext cx="7958219" cy="126115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829484" y="2718745"/>
              <a:ext cx="7505966" cy="1114343"/>
            </a:xfrm>
            <a:prstGeom prst="rect">
              <a:avLst/>
            </a:prstGeom>
          </p:spPr>
          <p:txBody>
            <a:bodyPr wrap="square">
              <a:spAutoFit/>
            </a:bodyPr>
            <a:lstStyle/>
            <a:p>
              <a:pPr>
                <a:lnSpc>
                  <a:spcPts val="2400"/>
                </a:lnSpc>
              </a:pPr>
              <a:r>
                <a:rPr lang="en-US" altLang="zh-CN" b="1" dirty="0" smtClean="0">
                  <a:solidFill>
                    <a:schemeClr val="bg1"/>
                  </a:solidFill>
                  <a:latin typeface="微软雅黑" panose="020B0503020204020204" pitchFamily="34" charset="-122"/>
                  <a:ea typeface="微软雅黑" panose="020B0503020204020204" pitchFamily="34" charset="-122"/>
                </a:rPr>
                <a:t>3G </a:t>
              </a:r>
              <a:r>
                <a:rPr lang="zh-CN" altLang="en-US" b="1" dirty="0" smtClean="0">
                  <a:solidFill>
                    <a:schemeClr val="bg1"/>
                  </a:solidFill>
                  <a:latin typeface="微软雅黑" panose="020B0503020204020204" pitchFamily="34" charset="-122"/>
                  <a:ea typeface="微软雅黑" panose="020B0503020204020204" pitchFamily="34" charset="-122"/>
                </a:rPr>
                <a:t>蜂窝</a:t>
              </a:r>
              <a:r>
                <a:rPr lang="zh-CN" altLang="en-US" b="1" dirty="0">
                  <a:solidFill>
                    <a:schemeClr val="bg1"/>
                  </a:solidFill>
                  <a:latin typeface="微软雅黑" panose="020B0503020204020204" pitchFamily="34" charset="-122"/>
                  <a:ea typeface="微软雅黑" panose="020B0503020204020204" pitchFamily="34" charset="-122"/>
                </a:rPr>
                <a:t>移动通信是以传输多媒体数据业务为主的通信系统，而且必须</a:t>
              </a:r>
              <a:r>
                <a:rPr lang="zh-CN" altLang="en-US" b="1" dirty="0" smtClean="0">
                  <a:solidFill>
                    <a:schemeClr val="bg1"/>
                  </a:solidFill>
                  <a:latin typeface="微软雅黑" panose="020B0503020204020204" pitchFamily="34" charset="-122"/>
                  <a:ea typeface="微软雅黑" panose="020B0503020204020204" pitchFamily="34" charset="-122"/>
                </a:rPr>
                <a:t>兼容 </a:t>
              </a:r>
              <a:r>
                <a:rPr lang="en-US" altLang="zh-CN" b="1" dirty="0" smtClean="0">
                  <a:solidFill>
                    <a:schemeClr val="bg1"/>
                  </a:solidFill>
                  <a:latin typeface="微软雅黑" panose="020B0503020204020204" pitchFamily="34" charset="-122"/>
                  <a:ea typeface="微软雅黑" panose="020B0503020204020204" pitchFamily="34" charset="-122"/>
                </a:rPr>
                <a:t>2G </a:t>
              </a:r>
              <a:r>
                <a:rPr lang="zh-CN" altLang="en-US" b="1" dirty="0" smtClean="0">
                  <a:solidFill>
                    <a:schemeClr val="bg1"/>
                  </a:solidFill>
                  <a:latin typeface="微软雅黑" panose="020B0503020204020204" pitchFamily="34" charset="-122"/>
                  <a:ea typeface="微软雅黑" panose="020B0503020204020204" pitchFamily="34" charset="-122"/>
                </a:rPr>
                <a:t>的</a:t>
              </a:r>
              <a:r>
                <a:rPr lang="zh-CN" altLang="en-US" b="1" dirty="0">
                  <a:solidFill>
                    <a:schemeClr val="bg1"/>
                  </a:solidFill>
                  <a:latin typeface="微软雅黑" panose="020B0503020204020204" pitchFamily="34" charset="-122"/>
                  <a:ea typeface="微软雅黑" panose="020B0503020204020204" pitchFamily="34" charset="-122"/>
                </a:rPr>
                <a:t>功能（即能够通电话和发送短信），这就是所谓的</a:t>
              </a:r>
              <a:r>
                <a:rPr lang="zh-CN" altLang="en-US" b="1" dirty="0">
                  <a:solidFill>
                    <a:srgbClr val="FFFF00"/>
                  </a:solidFill>
                  <a:latin typeface="微软雅黑" panose="020B0503020204020204" pitchFamily="34" charset="-122"/>
                  <a:ea typeface="微软雅黑" panose="020B0503020204020204" pitchFamily="34" charset="-122"/>
                </a:rPr>
                <a:t>向后兼容</a:t>
              </a:r>
              <a:r>
                <a:rPr lang="zh-CN" altLang="en-US" b="1" dirty="0" smtClean="0">
                  <a:solidFill>
                    <a:srgbClr val="FFFF00"/>
                  </a:solidFill>
                  <a:latin typeface="微软雅黑" panose="020B0503020204020204" pitchFamily="34" charset="-122"/>
                  <a:ea typeface="微软雅黑" panose="020B0503020204020204" pitchFamily="34" charset="-122"/>
                </a:rPr>
                <a:t>。</a:t>
              </a:r>
              <a:endParaRPr lang="zh-CN" altLang="en-US" b="1" dirty="0">
                <a:solidFill>
                  <a:srgbClr val="FFFF00"/>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1"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5. </a:t>
            </a:r>
            <a:r>
              <a:rPr lang="en-US" altLang="zh-CN" sz="2000" b="1" dirty="0" smtClean="0">
                <a:solidFill>
                  <a:schemeClr val="bg1"/>
                </a:solidFill>
                <a:latin typeface="微软雅黑" panose="020B0503020204020204" pitchFamily="34" charset="-122"/>
                <a:ea typeface="微软雅黑" panose="020B0503020204020204" pitchFamily="34" charset="-122"/>
              </a:rPr>
              <a:t>4G </a:t>
            </a:r>
            <a:r>
              <a:rPr lang="zh-CN" altLang="en-US" sz="2000" b="1" dirty="0" smtClean="0">
                <a:solidFill>
                  <a:schemeClr val="bg1"/>
                </a:solidFill>
                <a:latin typeface="微软雅黑" panose="020B0503020204020204" pitchFamily="34" charset="-122"/>
                <a:ea typeface="微软雅黑" panose="020B0503020204020204" pitchFamily="34" charset="-122"/>
              </a:rPr>
              <a:t>蜂窝</a:t>
            </a:r>
            <a:r>
              <a:rPr lang="zh-CN" altLang="en-US" sz="2000" b="1" dirty="0">
                <a:solidFill>
                  <a:schemeClr val="bg1"/>
                </a:solidFill>
                <a:latin typeface="微软雅黑" panose="020B0503020204020204" pitchFamily="34" charset="-122"/>
                <a:ea typeface="微软雅黑" panose="020B0503020204020204" pitchFamily="34" charset="-122"/>
              </a:rPr>
              <a:t>移动通信系统</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7" name="Rectangle 46"/>
          <p:cNvSpPr>
            <a:spLocks noChangeArrowheads="1"/>
          </p:cNvSpPr>
          <p:nvPr/>
        </p:nvSpPr>
        <p:spPr bwMode="auto">
          <a:xfrm>
            <a:off x="511895" y="977262"/>
            <a:ext cx="7874459"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b="1" dirty="0" smtClean="0">
                <a:solidFill>
                  <a:srgbClr val="0000FF"/>
                </a:solidFill>
                <a:latin typeface="微软雅黑" panose="020B0503020204020204" pitchFamily="34" charset="-122"/>
                <a:ea typeface="微软雅黑" panose="020B0503020204020204" pitchFamily="34" charset="-122"/>
              </a:rPr>
              <a:t>第四代</a:t>
            </a:r>
            <a:r>
              <a:rPr lang="zh-CN" altLang="en-US" b="1" dirty="0" smtClean="0">
                <a:solidFill>
                  <a:srgbClr val="0000CC"/>
                </a:solidFill>
                <a:latin typeface="微软雅黑" panose="020B0503020204020204" pitchFamily="34" charset="-122"/>
                <a:ea typeface="微软雅黑" panose="020B0503020204020204" pitchFamily="34" charset="-122"/>
              </a:rPr>
              <a:t> </a:t>
            </a:r>
            <a:r>
              <a:rPr lang="en-US" altLang="zh-CN" b="1" dirty="0" smtClean="0">
                <a:latin typeface="微软雅黑" panose="020B0503020204020204" pitchFamily="34" charset="-122"/>
                <a:ea typeface="微软雅黑" panose="020B0503020204020204" pitchFamily="34" charset="-122"/>
              </a:rPr>
              <a:t>(4G) </a:t>
            </a:r>
            <a:r>
              <a:rPr lang="zh-CN" altLang="en-US" b="1" dirty="0" smtClean="0">
                <a:latin typeface="微软雅黑" panose="020B0503020204020204" pitchFamily="34" charset="-122"/>
                <a:ea typeface="微软雅黑" panose="020B0503020204020204" pitchFamily="34" charset="-122"/>
              </a:rPr>
              <a:t>蜂窝移动通信系统</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anose="020B0503020204020204" pitchFamily="34" charset="-122"/>
                <a:ea typeface="微软雅黑" panose="020B0503020204020204" pitchFamily="34" charset="-122"/>
              </a:rPr>
              <a:t>2008 </a:t>
            </a:r>
            <a:r>
              <a:rPr lang="zh-CN" altLang="en-US" b="1" dirty="0" smtClean="0">
                <a:latin typeface="微软雅黑" panose="020B0503020204020204" pitchFamily="34" charset="-122"/>
                <a:ea typeface="微软雅黑" panose="020B0503020204020204" pitchFamily="34" charset="-122"/>
              </a:rPr>
              <a:t>年，名称</a:t>
            </a:r>
            <a:r>
              <a:rPr lang="zh-CN" altLang="en-US" b="1" dirty="0">
                <a:latin typeface="微软雅黑" panose="020B0503020204020204" pitchFamily="34" charset="-122"/>
                <a:ea typeface="微软雅黑" panose="020B0503020204020204" pitchFamily="34" charset="-122"/>
              </a:rPr>
              <a:t>定</a:t>
            </a:r>
            <a:r>
              <a:rPr lang="zh-CN" altLang="en-US" b="1" dirty="0" smtClean="0">
                <a:latin typeface="微软雅黑" panose="020B0503020204020204" pitchFamily="34" charset="-122"/>
                <a:ea typeface="微软雅黑" panose="020B0503020204020204" pitchFamily="34" charset="-122"/>
              </a:rPr>
              <a:t>为</a:t>
            </a:r>
            <a:r>
              <a:rPr lang="zh-CN" altLang="en-US" b="1" dirty="0">
                <a:latin typeface="微软雅黑" panose="020B0503020204020204" pitchFamily="34" charset="-122"/>
                <a:ea typeface="微软雅黑" panose="020B0503020204020204" pitchFamily="34" charset="-122"/>
              </a:rPr>
              <a:t>高级国际</a:t>
            </a:r>
            <a:r>
              <a:rPr lang="zh-CN" altLang="en-US" b="1" dirty="0" smtClean="0">
                <a:latin typeface="微软雅黑" panose="020B0503020204020204" pitchFamily="34" charset="-122"/>
                <a:ea typeface="微软雅黑" panose="020B0503020204020204" pitchFamily="34" charset="-122"/>
              </a:rPr>
              <a:t>移动通信 </a:t>
            </a:r>
            <a:r>
              <a:rPr lang="en-US" altLang="zh-CN" b="1" dirty="0" smtClean="0">
                <a:solidFill>
                  <a:srgbClr val="C00000"/>
                </a:solidFill>
                <a:latin typeface="微软雅黑" panose="020B0503020204020204" pitchFamily="34" charset="-122"/>
                <a:ea typeface="微软雅黑" panose="020B0503020204020204" pitchFamily="34" charset="-122"/>
              </a:rPr>
              <a:t>IMT-Advanced</a:t>
            </a:r>
            <a:r>
              <a:rPr lang="en-US" altLang="zh-CN" b="1" dirty="0" smtClean="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(International Mobile Telecommunications-Advanced</a:t>
            </a:r>
            <a:r>
              <a:rPr lang="en-US" altLang="zh-CN" b="1" dirty="0" smtClean="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 。</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anose="020B0503020204020204" pitchFamily="34" charset="-122"/>
                <a:ea typeface="微软雅黑" panose="020B0503020204020204" pitchFamily="34" charset="-122"/>
              </a:rPr>
              <a:t>IMT-Advanced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一个最重要的</a:t>
            </a:r>
            <a:r>
              <a:rPr lang="zh-CN" altLang="en-US" b="1" dirty="0" smtClean="0">
                <a:latin typeface="微软雅黑" panose="020B0503020204020204" pitchFamily="34" charset="-122"/>
                <a:ea typeface="微软雅黑" panose="020B0503020204020204" pitchFamily="34" charset="-122"/>
              </a:rPr>
              <a:t>特点：</a:t>
            </a:r>
            <a:r>
              <a:rPr lang="zh-CN" altLang="en-US" b="1" dirty="0" smtClean="0">
                <a:solidFill>
                  <a:srgbClr val="0000CC"/>
                </a:solidFill>
                <a:latin typeface="微软雅黑" panose="020B0503020204020204" pitchFamily="34" charset="-122"/>
                <a:ea typeface="微软雅黑" panose="020B0503020204020204" pitchFamily="34" charset="-122"/>
              </a:rPr>
              <a:t>取消</a:t>
            </a:r>
            <a:r>
              <a:rPr lang="zh-CN" altLang="en-US" b="1" dirty="0">
                <a:solidFill>
                  <a:srgbClr val="0000CC"/>
                </a:solidFill>
                <a:latin typeface="微软雅黑" panose="020B0503020204020204" pitchFamily="34" charset="-122"/>
                <a:ea typeface="微软雅黑" panose="020B0503020204020204" pitchFamily="34" charset="-122"/>
              </a:rPr>
              <a:t>了电路交换，</a:t>
            </a:r>
            <a:r>
              <a:rPr lang="zh-CN" altLang="en-US" b="1" dirty="0">
                <a:latin typeface="微软雅黑" panose="020B0503020204020204" pitchFamily="34" charset="-122"/>
                <a:ea typeface="微软雅黑" panose="020B0503020204020204" pitchFamily="34" charset="-122"/>
              </a:rPr>
              <a:t>无论传送数据还是话音，全部使用分组交换技术，或称为</a:t>
            </a:r>
            <a:r>
              <a:rPr lang="zh-CN" altLang="en-US" b="1" dirty="0">
                <a:solidFill>
                  <a:srgbClr val="C00000"/>
                </a:solidFill>
                <a:latin typeface="微软雅黑" panose="020B0503020204020204" pitchFamily="34" charset="-122"/>
                <a:ea typeface="微软雅黑" panose="020B0503020204020204" pitchFamily="34" charset="-122"/>
              </a:rPr>
              <a:t>全</a:t>
            </a:r>
            <a:r>
              <a:rPr lang="zh-CN" altLang="en-US" b="1" dirty="0" smtClean="0">
                <a:solidFill>
                  <a:srgbClr val="C00000"/>
                </a:solidFill>
                <a:latin typeface="微软雅黑" panose="020B0503020204020204" pitchFamily="34" charset="-122"/>
                <a:ea typeface="微软雅黑" panose="020B0503020204020204" pitchFamily="34" charset="-122"/>
              </a:rPr>
              <a:t>网 </a:t>
            </a:r>
            <a:r>
              <a:rPr lang="en-US" altLang="zh-CN" b="1" dirty="0" smtClean="0">
                <a:solidFill>
                  <a:srgbClr val="C00000"/>
                </a:solidFill>
                <a:latin typeface="微软雅黑" panose="020B0503020204020204" pitchFamily="34" charset="-122"/>
                <a:ea typeface="微软雅黑" panose="020B0503020204020204" pitchFamily="34" charset="-122"/>
              </a:rPr>
              <a:t>IP </a:t>
            </a:r>
            <a:r>
              <a:rPr lang="zh-CN" altLang="en-US" b="1" dirty="0" smtClean="0">
                <a:solidFill>
                  <a:srgbClr val="C00000"/>
                </a:solidFill>
                <a:latin typeface="微软雅黑" panose="020B0503020204020204" pitchFamily="34" charset="-122"/>
                <a:ea typeface="微软雅黑" panose="020B0503020204020204" pitchFamily="34" charset="-122"/>
              </a:rPr>
              <a:t>化。</a:t>
            </a:r>
            <a:endParaRPr lang="en-US" altLang="zh-CN"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anose="020B0503020204020204" pitchFamily="34" charset="-122"/>
                <a:ea typeface="微软雅黑" panose="020B0503020204020204" pitchFamily="34" charset="-122"/>
              </a:rPr>
              <a:t>IMT-Advanced </a:t>
            </a:r>
            <a:r>
              <a:rPr lang="zh-CN" altLang="en-US" b="1" dirty="0" smtClean="0">
                <a:latin typeface="微软雅黑" panose="020B0503020204020204" pitchFamily="34" charset="-122"/>
                <a:ea typeface="微软雅黑" panose="020B0503020204020204" pitchFamily="34" charset="-122"/>
              </a:rPr>
              <a:t>目标</a:t>
            </a:r>
            <a:r>
              <a:rPr lang="zh-CN" altLang="en-US" b="1" dirty="0">
                <a:latin typeface="微软雅黑" panose="020B0503020204020204" pitchFamily="34" charset="-122"/>
                <a:ea typeface="微软雅黑" panose="020B0503020204020204" pitchFamily="34" charset="-122"/>
              </a:rPr>
              <a:t>峰值数据</a:t>
            </a:r>
            <a:r>
              <a:rPr lang="zh-CN" altLang="en-US" b="1" dirty="0" smtClean="0">
                <a:latin typeface="微软雅黑" panose="020B0503020204020204" pitchFamily="34" charset="-122"/>
                <a:ea typeface="微软雅黑" panose="020B0503020204020204" pitchFamily="34" charset="-122"/>
              </a:rPr>
              <a:t>率：</a:t>
            </a:r>
            <a:r>
              <a:rPr lang="zh-CN" altLang="en-US" b="1" dirty="0">
                <a:latin typeface="微软雅黑" panose="020B0503020204020204" pitchFamily="34" charset="-122"/>
                <a:ea typeface="微软雅黑" panose="020B0503020204020204" pitchFamily="34" charset="-122"/>
              </a:rPr>
              <a:t>固定的和低速移动通信时应</a:t>
            </a:r>
            <a:r>
              <a:rPr lang="zh-CN" altLang="en-US" b="1" dirty="0" smtClean="0">
                <a:latin typeface="微软雅黑" panose="020B0503020204020204" pitchFamily="34" charset="-122"/>
                <a:ea typeface="微软雅黑" panose="020B0503020204020204" pitchFamily="34" charset="-122"/>
              </a:rPr>
              <a:t>达到 </a:t>
            </a:r>
            <a:r>
              <a:rPr lang="en-US" altLang="zh-CN" b="1" dirty="0" smtClean="0">
                <a:latin typeface="微软雅黑" panose="020B0503020204020204" pitchFamily="34" charset="-122"/>
                <a:ea typeface="微软雅黑" panose="020B0503020204020204" pitchFamily="34" charset="-122"/>
              </a:rPr>
              <a:t>1 </a:t>
            </a:r>
            <a:r>
              <a:rPr lang="en-US" altLang="zh-CN" b="1" dirty="0" err="1">
                <a:latin typeface="微软雅黑" panose="020B0503020204020204" pitchFamily="34" charset="-122"/>
                <a:ea typeface="微软雅黑" panose="020B0503020204020204" pitchFamily="34" charset="-122"/>
              </a:rPr>
              <a:t>Gbit</a:t>
            </a:r>
            <a:r>
              <a:rPr lang="en-US" altLang="zh-CN" b="1" dirty="0">
                <a:latin typeface="微软雅黑" panose="020B0503020204020204" pitchFamily="34" charset="-122"/>
                <a:ea typeface="微软雅黑" panose="020B0503020204020204" pitchFamily="34" charset="-122"/>
              </a:rPr>
              <a:t>/s</a:t>
            </a:r>
            <a:r>
              <a:rPr lang="zh-CN" altLang="en-US" b="1" dirty="0">
                <a:latin typeface="微软雅黑" panose="020B0503020204020204" pitchFamily="34" charset="-122"/>
                <a:ea typeface="微软雅黑" panose="020B0503020204020204" pitchFamily="34" charset="-122"/>
              </a:rPr>
              <a:t>，在高速移动通信时（如在火车。汽车上）应</a:t>
            </a:r>
            <a:r>
              <a:rPr lang="zh-CN" altLang="en-US" b="1" dirty="0" smtClean="0">
                <a:latin typeface="微软雅黑" panose="020B0503020204020204" pitchFamily="34" charset="-122"/>
                <a:ea typeface="微软雅黑" panose="020B0503020204020204" pitchFamily="34" charset="-122"/>
              </a:rPr>
              <a:t>达到 </a:t>
            </a:r>
            <a:r>
              <a:rPr lang="en-US" altLang="zh-CN" b="1" dirty="0" smtClean="0">
                <a:latin typeface="微软雅黑" panose="020B0503020204020204" pitchFamily="34" charset="-122"/>
                <a:ea typeface="微软雅黑" panose="020B0503020204020204" pitchFamily="34" charset="-122"/>
              </a:rPr>
              <a:t>100 </a:t>
            </a:r>
            <a:r>
              <a:rPr lang="en-US" altLang="zh-CN" b="1" dirty="0">
                <a:latin typeface="微软雅黑" panose="020B0503020204020204" pitchFamily="34" charset="-122"/>
                <a:ea typeface="微软雅黑" panose="020B0503020204020204" pitchFamily="34" charset="-122"/>
              </a:rPr>
              <a:t>Mbit/s</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902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长期</a:t>
            </a:r>
            <a:r>
              <a:rPr lang="zh-CN" altLang="en-US" sz="2000" b="1" dirty="0" smtClean="0">
                <a:latin typeface="微软雅黑" panose="020B0503020204020204" pitchFamily="34" charset="-122"/>
                <a:ea typeface="微软雅黑" panose="020B0503020204020204" pitchFamily="34" charset="-122"/>
              </a:rPr>
              <a:t>演进 </a:t>
            </a:r>
            <a:r>
              <a:rPr lang="en-US" altLang="zh-CN" sz="2000" b="1" dirty="0" smtClean="0">
                <a:latin typeface="微软雅黑" panose="020B0503020204020204" pitchFamily="34" charset="-122"/>
                <a:ea typeface="微软雅黑" panose="020B0503020204020204" pitchFamily="34" charset="-122"/>
              </a:rPr>
              <a:t>LTE </a:t>
            </a:r>
            <a:r>
              <a:rPr lang="en-US" altLang="zh-CN" sz="2000" b="1" dirty="0">
                <a:latin typeface="微软雅黑" panose="020B0503020204020204" pitchFamily="34" charset="-122"/>
                <a:ea typeface="微软雅黑" panose="020B0503020204020204" pitchFamily="34" charset="-122"/>
              </a:rPr>
              <a:t>(Long-Term Evolution)</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371" name="Rectangle 46"/>
          <p:cNvSpPr>
            <a:spLocks noChangeArrowheads="1"/>
          </p:cNvSpPr>
          <p:nvPr/>
        </p:nvSpPr>
        <p:spPr bwMode="auto">
          <a:xfrm>
            <a:off x="511895" y="933717"/>
            <a:ext cx="8139815"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4G </a:t>
            </a:r>
            <a:r>
              <a:rPr lang="zh-CN" altLang="en-US" sz="2000" b="1" dirty="0" smtClean="0">
                <a:latin typeface="微软雅黑" panose="020B0503020204020204" pitchFamily="34" charset="-122"/>
                <a:ea typeface="微软雅黑" panose="020B0503020204020204" pitchFamily="34" charset="-122"/>
              </a:rPr>
              <a:t>标准比 </a:t>
            </a:r>
            <a:r>
              <a:rPr lang="en-US" altLang="zh-CN" sz="2000" b="1" dirty="0" smtClean="0">
                <a:latin typeface="微软雅黑" panose="020B0503020204020204" pitchFamily="34" charset="-122"/>
                <a:ea typeface="微软雅黑" panose="020B0503020204020204" pitchFamily="34" charset="-122"/>
              </a:rPr>
              <a:t>3G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标准高出很多。在当时的技术条件下</a:t>
            </a:r>
            <a:r>
              <a:rPr lang="zh-CN" altLang="en-US" sz="2000" b="1" dirty="0" smtClean="0">
                <a:latin typeface="微软雅黑" panose="020B0503020204020204" pitchFamily="34" charset="-122"/>
                <a:ea typeface="微软雅黑" panose="020B0503020204020204" pitchFamily="34" charset="-122"/>
              </a:rPr>
              <a:t>，很难实现。</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en-US" altLang="zh-CN" sz="2000" b="1" dirty="0">
                <a:solidFill>
                  <a:srgbClr val="C00000"/>
                </a:solidFill>
                <a:latin typeface="微软雅黑" panose="020B0503020204020204" pitchFamily="34" charset="-122"/>
                <a:ea typeface="微软雅黑" panose="020B0503020204020204" pitchFamily="34" charset="-122"/>
              </a:rPr>
              <a:t>LTE </a:t>
            </a:r>
            <a:r>
              <a:rPr lang="zh-CN" altLang="en-US" sz="2000" b="1" dirty="0" smtClean="0">
                <a:solidFill>
                  <a:srgbClr val="C00000"/>
                </a:solidFill>
                <a:latin typeface="微软雅黑" panose="020B0503020204020204" pitchFamily="34" charset="-122"/>
                <a:ea typeface="微软雅黑" panose="020B0503020204020204" pitchFamily="34" charset="-122"/>
              </a:rPr>
              <a:t>标准</a:t>
            </a:r>
            <a:r>
              <a:rPr lang="zh-CN" altLang="en-US" sz="2000" b="1" dirty="0">
                <a:solidFill>
                  <a:srgbClr val="C00000"/>
                </a:solidFill>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3GPP R8 </a:t>
            </a:r>
            <a:r>
              <a:rPr lang="zh-CN" altLang="en-US" sz="2000" b="1" dirty="0" smtClean="0">
                <a:latin typeface="微软雅黑" panose="020B0503020204020204" pitchFamily="34" charset="-122"/>
                <a:ea typeface="微软雅黑" panose="020B0503020204020204" pitchFamily="34" charset="-122"/>
              </a:rPr>
              <a:t>版本</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显示为</a:t>
            </a:r>
            <a:r>
              <a:rPr lang="en-US" altLang="zh-CN" sz="2000" b="1" dirty="0">
                <a:latin typeface="微软雅黑" panose="020B0503020204020204" pitchFamily="34" charset="-122"/>
                <a:ea typeface="微软雅黑" panose="020B0503020204020204" pitchFamily="34" charset="-122"/>
              </a:rPr>
              <a:t>“4G”</a:t>
            </a:r>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C00000"/>
                </a:solidFill>
                <a:latin typeface="微软雅黑" panose="020B0503020204020204" pitchFamily="34" charset="-122"/>
                <a:ea typeface="微软雅黑" panose="020B0503020204020204" pitchFamily="34" charset="-122"/>
              </a:rPr>
              <a:t>但不是真正的 </a:t>
            </a:r>
            <a:r>
              <a:rPr lang="en-US" altLang="zh-CN" sz="2000" b="1" dirty="0">
                <a:solidFill>
                  <a:srgbClr val="C00000"/>
                </a:solidFill>
                <a:latin typeface="微软雅黑" panose="020B0503020204020204" pitchFamily="34" charset="-122"/>
                <a:ea typeface="微软雅黑" panose="020B0503020204020204" pitchFamily="34" charset="-122"/>
              </a:rPr>
              <a:t>4G</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俗称为 </a:t>
            </a:r>
            <a:r>
              <a:rPr lang="en-US" altLang="zh-CN" sz="2000" b="1" dirty="0">
                <a:solidFill>
                  <a:srgbClr val="0000CC"/>
                </a:solidFill>
                <a:latin typeface="微软雅黑" panose="020B0503020204020204" pitchFamily="34" charset="-122"/>
                <a:ea typeface="微软雅黑" panose="020B0503020204020204" pitchFamily="34" charset="-122"/>
              </a:rPr>
              <a:t>3.9G</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或 </a:t>
            </a:r>
            <a:r>
              <a:rPr lang="en-US" altLang="zh-CN" sz="2000" b="1" dirty="0" smtClean="0">
                <a:solidFill>
                  <a:srgbClr val="0000CC"/>
                </a:solidFill>
                <a:latin typeface="微软雅黑" panose="020B0503020204020204" pitchFamily="34" charset="-122"/>
                <a:ea typeface="微软雅黑" panose="020B0503020204020204" pitchFamily="34" charset="-122"/>
              </a:rPr>
              <a:t>3.95G</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信道带宽为 </a:t>
            </a:r>
            <a:r>
              <a:rPr lang="en-US" altLang="zh-CN" sz="2000" b="1" dirty="0">
                <a:latin typeface="微软雅黑" panose="020B0503020204020204" pitchFamily="34" charset="-122"/>
                <a:ea typeface="微软雅黑" panose="020B0503020204020204" pitchFamily="34" charset="-122"/>
              </a:rPr>
              <a:t>20 MHz</a:t>
            </a:r>
            <a:r>
              <a:rPr lang="zh-CN" altLang="en-US" sz="2000" b="1" dirty="0">
                <a:latin typeface="微软雅黑" panose="020B0503020204020204" pitchFamily="34" charset="-122"/>
                <a:ea typeface="微软雅黑" panose="020B0503020204020204" pitchFamily="34" charset="-122"/>
              </a:rPr>
              <a:t>时，其下行和上行数据率应分别达到 </a:t>
            </a:r>
            <a:r>
              <a:rPr lang="en-US" altLang="zh-CN" sz="2000" b="1" dirty="0">
                <a:latin typeface="微软雅黑" panose="020B0503020204020204" pitchFamily="34" charset="-122"/>
                <a:ea typeface="微软雅黑" panose="020B0503020204020204" pitchFamily="34" charset="-122"/>
              </a:rPr>
              <a:t>100 Mbit/s </a:t>
            </a:r>
            <a:r>
              <a:rPr lang="zh-CN" altLang="en-US" sz="2000" b="1" dirty="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50 Mbit/s</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体系结构</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p:nvPr/>
        </p:nvGrpSpPr>
        <p:grpSpPr bwMode="auto">
          <a:xfrm>
            <a:off x="3163549" y="1819267"/>
            <a:ext cx="357753" cy="747387"/>
            <a:chOff x="4608" y="700"/>
            <a:chExt cx="306" cy="553"/>
          </a:xfrm>
        </p:grpSpPr>
        <p:grpSp>
          <p:nvGrpSpPr>
            <p:cNvPr id="11" name="Group 115"/>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24577" name="Microsoft ClipArt Gallery" r:id="rId2" imgW="53035200" imgH="20888325" progId="">
                  <p:embed/>
                </p:oleObj>
              </mc:Choice>
              <mc:Fallback>
                <p:oleObj name="Microsoft ClipArt Gallery" r:id="rId2" imgW="53035200" imgH="20888325" progId="">
                  <p:embed/>
                  <p:pic>
                    <p:nvPicPr>
                      <p:cNvPr id="0" name="图片 24576"/>
                      <p:cNvPicPr/>
                      <p:nvPr/>
                    </p:nvPicPr>
                    <p:blipFill>
                      <a:blip r:embed="rId3"/>
                      <a:stretch>
                        <a:fillRect/>
                      </a:stretch>
                    </p:blipFill>
                    <p:spPr>
                      <a:xfrm>
                        <a:off x="1262987" y="2611380"/>
                        <a:ext cx="416939" cy="191849"/>
                      </a:xfrm>
                      <a:prstGeom prst="rect">
                        <a:avLst/>
                      </a:prstGeom>
                      <a:noFill/>
                      <a:ln w="12700">
                        <a:noFill/>
                      </a:ln>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endParaRPr kumimoji="1" lang="zh-CN" altLang="en-US" sz="1200" b="1" dirty="0">
              <a:latin typeface="微软雅黑" panose="020B0503020204020204" pitchFamily="34" charset="-122"/>
              <a:ea typeface="微软雅黑" panose="020B0503020204020204" pitchFamily="34" charset="-122"/>
            </a:endParaRP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endParaRPr kumimoji="1" lang="zh-CN" altLang="en-US" sz="1200" b="1" dirty="0">
              <a:latin typeface="微软雅黑" panose="020B0503020204020204" pitchFamily="34" charset="-122"/>
              <a:ea typeface="微软雅黑" panose="020B0503020204020204" pitchFamily="34" charset="-122"/>
            </a:endParaRP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p:nvPr/>
        </p:nvGrpSpPr>
        <p:grpSpPr bwMode="auto">
          <a:xfrm>
            <a:off x="2206034" y="2119399"/>
            <a:ext cx="357753" cy="747388"/>
            <a:chOff x="4608" y="700"/>
            <a:chExt cx="306" cy="553"/>
          </a:xfrm>
        </p:grpSpPr>
        <p:grpSp>
          <p:nvGrpSpPr>
            <p:cNvPr id="58" name="Group 115"/>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p:nvPr/>
        </p:nvGrpSpPr>
        <p:grpSpPr bwMode="auto">
          <a:xfrm>
            <a:off x="2515122" y="1337879"/>
            <a:ext cx="357753" cy="747388"/>
            <a:chOff x="4608" y="700"/>
            <a:chExt cx="306" cy="553"/>
          </a:xfrm>
        </p:grpSpPr>
        <p:grpSp>
          <p:nvGrpSpPr>
            <p:cNvPr id="83" name="Group 115"/>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3" name="组合 2"/>
          <p:cNvGrpSpPr/>
          <p:nvPr/>
        </p:nvGrpSpPr>
        <p:grpSpPr>
          <a:xfrm>
            <a:off x="6782593" y="1090679"/>
            <a:ext cx="1491514" cy="732822"/>
            <a:chOff x="6691097" y="1239483"/>
            <a:chExt cx="1491514" cy="732822"/>
          </a:xfrm>
        </p:grpSpPr>
        <p:sp>
          <p:nvSpPr>
            <p:cNvPr id="123" name="Rectangle 539"/>
            <p:cNvSpPr>
              <a:spLocks noChangeArrowheads="1"/>
            </p:cNvSpPr>
            <p:nvPr/>
          </p:nvSpPr>
          <p:spPr bwMode="auto">
            <a:xfrm>
              <a:off x="6691097" y="1247480"/>
              <a:ext cx="1491514" cy="69442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endParaRPr kumimoji="1" lang="zh-CN" altLang="en-US" sz="1200" b="1" dirty="0">
                <a:latin typeface="微软雅黑" panose="020B0503020204020204" pitchFamily="34" charset="-122"/>
                <a:ea typeface="微软雅黑" panose="020B0503020204020204" pitchFamily="34" charset="-122"/>
              </a:endParaRPr>
            </a:p>
          </p:txBody>
        </p:sp>
        <p:sp>
          <p:nvSpPr>
            <p:cNvPr id="125"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endParaRPr kumimoji="1" lang="zh-CN" altLang="en-US" sz="1200" b="1">
                <a:latin typeface="微软雅黑" panose="020B0503020204020204" pitchFamily="34" charset="-122"/>
                <a:ea typeface="微软雅黑" panose="020B0503020204020204" pitchFamily="34" charset="-122"/>
              </a:endParaRPr>
            </a:p>
          </p:txBody>
        </p:sp>
        <p:cxnSp>
          <p:nvCxnSpPr>
            <p:cNvPr id="126" name="直接连接符 125"/>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28"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endParaRPr kumimoji="1" lang="zh-CN" altLang="en-US" sz="1200" b="1">
                <a:latin typeface="微软雅黑" panose="020B0503020204020204" pitchFamily="34" charset="-122"/>
                <a:ea typeface="微软雅黑" panose="020B0503020204020204" pitchFamily="34" charset="-122"/>
              </a:endParaRPr>
            </a:p>
          </p:txBody>
        </p:sp>
        <p:cxnSp>
          <p:nvCxnSpPr>
            <p:cNvPr id="129" name="直接连接符 128"/>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24578" name="VISIO" r:id="rId4" imgW="3514725" imgH="2009775" progId="">
                    <p:embed/>
                  </p:oleObj>
                </mc:Choice>
                <mc:Fallback>
                  <p:oleObj name="VISIO" r:id="rId4" imgW="3514725" imgH="2009775" progId="">
                    <p:embed/>
                    <p:pic>
                      <p:nvPicPr>
                        <p:cNvPr id="0" name="图片 24577"/>
                        <p:cNvPicPr>
                          <a:picLocks noChangeAspect="1"/>
                        </p:cNvPicPr>
                        <p:nvPr/>
                      </p:nvPicPr>
                      <p:blipFill>
                        <a:blip r:embed="rId5"/>
                        <a:stretch>
                          <a:fillRect/>
                        </a:stretch>
                      </p:blipFill>
                      <p:spPr>
                        <a:xfrm>
                          <a:off x="7236296" y="2033272"/>
                          <a:ext cx="1654150" cy="1035365"/>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8" name="Text Box 546"/>
          <p:cNvSpPr txBox="1">
            <a:spLocks noChangeArrowheads="1"/>
          </p:cNvSpPr>
          <p:nvPr/>
        </p:nvSpPr>
        <p:spPr bwMode="auto">
          <a:xfrm>
            <a:off x="6025963" y="2116575"/>
            <a:ext cx="492443" cy="52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endParaRPr kumimoji="1" lang="zh-CN" altLang="en-US" sz="1200" b="1" dirty="0">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2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endParaRPr kumimoji="1" lang="zh-CN" altLang="en-US" sz="1200" b="1" dirty="0">
              <a:latin typeface="微软雅黑" panose="020B0503020204020204" pitchFamily="34" charset="-122"/>
              <a:ea typeface="微软雅黑" panose="020B0503020204020204" pitchFamily="34" charset="-122"/>
            </a:endParaRPr>
          </a:p>
        </p:txBody>
      </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endParaRPr kumimoji="1" lang="zh-CN" altLang="en-US" sz="1200" b="1" dirty="0">
              <a:latin typeface="微软雅黑" panose="020B0503020204020204" pitchFamily="34" charset="-122"/>
              <a:ea typeface="微软雅黑" panose="020B0503020204020204" pitchFamily="34" charset="-122"/>
            </a:endParaRP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endParaRPr kumimoji="1" lang="zh-CN" altLang="en-US" sz="1200" b="1" dirty="0">
              <a:latin typeface="微软雅黑" panose="020B0503020204020204" pitchFamily="34" charset="-122"/>
              <a:ea typeface="微软雅黑" panose="020B0503020204020204" pitchFamily="34" charset="-122"/>
            </a:endParaRP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由三大部分组成</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用户</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设备</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、演进的无线接入</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(Evolved-UTRAN</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和演进</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的分组核心</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(Evolved Packet Core)</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中不再保留</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smtClean="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采用</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网络是 </a:t>
            </a:r>
            <a:r>
              <a:rPr lang="en-US" altLang="zh-CN" sz="1600" b="1" kern="500" dirty="0" smtClean="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smtClean="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网络结构</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中的一个重大变革。</a:t>
            </a:r>
            <a:endPar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5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提高</a:t>
            </a:r>
            <a:r>
              <a:rPr lang="zh-CN" altLang="en-US" sz="2000" b="1" dirty="0">
                <a:latin typeface="微软雅黑" panose="020B0503020204020204" pitchFamily="34" charset="-122"/>
                <a:ea typeface="微软雅黑" panose="020B0503020204020204" pitchFamily="34" charset="-122"/>
              </a:rPr>
              <a:t>数据</a:t>
            </a:r>
            <a:r>
              <a:rPr lang="zh-CN" altLang="en-US" sz="2000" b="1" dirty="0" smtClean="0">
                <a:latin typeface="微软雅黑" panose="020B0503020204020204" pitchFamily="34" charset="-122"/>
                <a:ea typeface="微软雅黑" panose="020B0503020204020204" pitchFamily="34" charset="-122"/>
              </a:rPr>
              <a:t>率的</a:t>
            </a:r>
            <a:r>
              <a:rPr lang="zh-CN" altLang="en-US" sz="2000" b="1" dirty="0">
                <a:latin typeface="微软雅黑" panose="020B0503020204020204" pitchFamily="34" charset="-122"/>
                <a:ea typeface="微软雅黑" panose="020B0503020204020204" pitchFamily="34" charset="-122"/>
              </a:rPr>
              <a:t>一些方法</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371" name="Rectangle 46"/>
          <p:cNvSpPr>
            <a:spLocks noChangeArrowheads="1"/>
          </p:cNvSpPr>
          <p:nvPr/>
        </p:nvSpPr>
        <p:spPr bwMode="auto">
          <a:xfrm>
            <a:off x="511896" y="933717"/>
            <a:ext cx="807475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无线接入</a:t>
            </a:r>
            <a:r>
              <a:rPr lang="zh-CN" altLang="en-US" b="1" dirty="0">
                <a:latin typeface="微软雅黑" panose="020B0503020204020204" pitchFamily="34" charset="-122"/>
                <a:ea typeface="微软雅黑" panose="020B0503020204020204" pitchFamily="34" charset="-122"/>
              </a:rPr>
              <a:t>网的下行信道（</a:t>
            </a:r>
            <a:r>
              <a:rPr lang="en-US" altLang="zh-CN" b="1" dirty="0" err="1">
                <a:latin typeface="微软雅黑" panose="020B0503020204020204" pitchFamily="34" charset="-122"/>
                <a:ea typeface="微软雅黑" panose="020B0503020204020204" pitchFamily="34" charset="-122"/>
              </a:rPr>
              <a:t>eNB→UE</a:t>
            </a:r>
            <a:r>
              <a:rPr lang="zh-CN" altLang="en-US" b="1" dirty="0">
                <a:latin typeface="微软雅黑" panose="020B0503020204020204" pitchFamily="34" charset="-122"/>
                <a:ea typeface="微软雅黑" panose="020B0503020204020204" pitchFamily="34" charset="-122"/>
              </a:rPr>
              <a:t>）与上行信道（</a:t>
            </a:r>
            <a:r>
              <a:rPr lang="en-US" altLang="zh-CN" b="1" dirty="0" err="1">
                <a:latin typeface="微软雅黑" panose="020B0503020204020204" pitchFamily="34" charset="-122"/>
                <a:ea typeface="微软雅黑" panose="020B0503020204020204" pitchFamily="34" charset="-122"/>
              </a:rPr>
              <a:t>UE→eNB</a:t>
            </a:r>
            <a:r>
              <a:rPr lang="zh-CN" altLang="en-US" b="1" dirty="0">
                <a:latin typeface="微软雅黑" panose="020B0503020204020204" pitchFamily="34" charset="-122"/>
                <a:ea typeface="微软雅黑" panose="020B0503020204020204" pitchFamily="34" charset="-122"/>
              </a:rPr>
              <a:t>）采用了</a:t>
            </a:r>
            <a:r>
              <a:rPr lang="zh-CN" altLang="en-US" b="1" dirty="0">
                <a:solidFill>
                  <a:srgbClr val="0000CC"/>
                </a:solidFill>
                <a:latin typeface="微软雅黑" panose="020B0503020204020204" pitchFamily="34" charset="-122"/>
                <a:ea typeface="微软雅黑" panose="020B0503020204020204" pitchFamily="34" charset="-122"/>
              </a:rPr>
              <a:t>不同</a:t>
            </a:r>
            <a:r>
              <a:rPr lang="zh-CN" altLang="en-US" b="1" dirty="0">
                <a:latin typeface="微软雅黑" panose="020B0503020204020204" pitchFamily="34" charset="-122"/>
                <a:ea typeface="微软雅黑" panose="020B0503020204020204" pitchFamily="34" charset="-122"/>
              </a:rPr>
              <a:t>的复用方式</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下行</a:t>
            </a:r>
            <a:r>
              <a:rPr lang="zh-CN" altLang="en-US" b="1" dirty="0" smtClean="0">
                <a:solidFill>
                  <a:srgbClr val="C00000"/>
                </a:solidFill>
                <a:latin typeface="微软雅黑" panose="020B0503020204020204" pitchFamily="34" charset="-122"/>
                <a:ea typeface="微软雅黑" panose="020B0503020204020204" pitchFamily="34" charset="-122"/>
              </a:rPr>
              <a:t>信道</a:t>
            </a:r>
            <a:r>
              <a:rPr lang="zh-CN" altLang="en-US" b="1" dirty="0" smtClean="0">
                <a:latin typeface="微软雅黑" panose="020B0503020204020204" pitchFamily="34" charset="-122"/>
                <a:ea typeface="微软雅黑" panose="020B0503020204020204" pitchFamily="34" charset="-122"/>
              </a:rPr>
              <a:t>采用</a:t>
            </a:r>
            <a:r>
              <a:rPr lang="zh-CN" altLang="en-US" b="1" dirty="0">
                <a:latin typeface="微软雅黑" panose="020B0503020204020204" pitchFamily="34" charset="-122"/>
                <a:ea typeface="微软雅黑" panose="020B0503020204020204" pitchFamily="34" charset="-122"/>
              </a:rPr>
              <a:t>正交频分多址 </a:t>
            </a:r>
            <a:r>
              <a:rPr lang="en-US" altLang="zh-CN" b="1" dirty="0">
                <a:solidFill>
                  <a:srgbClr val="C00000"/>
                </a:solidFill>
                <a:latin typeface="微软雅黑" panose="020B0503020204020204" pitchFamily="34" charset="-122"/>
                <a:ea typeface="微软雅黑" panose="020B0503020204020204" pitchFamily="34" charset="-122"/>
              </a:rPr>
              <a:t>OFDMA</a:t>
            </a:r>
            <a:r>
              <a:rPr lang="zh-CN" altLang="en-US" b="1" dirty="0">
                <a:solidFill>
                  <a:srgbClr val="C00000"/>
                </a:solidFill>
                <a:latin typeface="微软雅黑" panose="020B0503020204020204" pitchFamily="34" charset="-122"/>
                <a:ea typeface="微软雅黑" panose="020B0503020204020204" pitchFamily="34" charset="-122"/>
              </a:rPr>
              <a:t>。</a:t>
            </a:r>
            <a:endParaRPr lang="en-US" altLang="zh-CN" b="1" dirty="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anose="020B0503020204020204" pitchFamily="34" charset="-122"/>
                <a:ea typeface="微软雅黑" panose="020B0503020204020204" pitchFamily="34" charset="-122"/>
              </a:rPr>
              <a:t>OFDM </a:t>
            </a:r>
            <a:r>
              <a:rPr lang="zh-CN" altLang="en-US" sz="1600" b="1" dirty="0">
                <a:latin typeface="微软雅黑" panose="020B0503020204020204" pitchFamily="34" charset="-122"/>
                <a:ea typeface="微软雅黑" panose="020B0503020204020204" pitchFamily="34" charset="-122"/>
              </a:rPr>
              <a:t>技术采用了多个子载波</a:t>
            </a:r>
            <a:r>
              <a:rPr lang="zh-CN" altLang="en-US" sz="1600" b="1" dirty="0">
                <a:solidFill>
                  <a:srgbClr val="C00000"/>
                </a:solidFill>
                <a:latin typeface="微软雅黑" panose="020B0503020204020204" pitchFamily="34" charset="-122"/>
                <a:ea typeface="微软雅黑" panose="020B0503020204020204" pitchFamily="34" charset="-122"/>
              </a:rPr>
              <a:t>并行传输</a:t>
            </a:r>
            <a:r>
              <a:rPr lang="zh-CN" altLang="en-US" sz="1600" b="1" dirty="0">
                <a:latin typeface="微软雅黑" panose="020B0503020204020204" pitchFamily="34" charset="-122"/>
                <a:ea typeface="微软雅黑" panose="020B0503020204020204" pitchFamily="34" charset="-122"/>
              </a:rPr>
              <a:t>的方法，利用各子载波之间的</a:t>
            </a:r>
            <a:r>
              <a:rPr lang="zh-CN" altLang="en-US" sz="1600" b="1" dirty="0">
                <a:solidFill>
                  <a:srgbClr val="C00000"/>
                </a:solidFill>
                <a:latin typeface="微软雅黑" panose="020B0503020204020204" pitchFamily="34" charset="-122"/>
                <a:ea typeface="微软雅黑" panose="020B0503020204020204" pitchFamily="34" charset="-122"/>
              </a:rPr>
              <a:t>正交性</a:t>
            </a:r>
            <a:r>
              <a:rPr lang="zh-CN" altLang="en-US" sz="1600" b="1" dirty="0">
                <a:latin typeface="微软雅黑" panose="020B0503020204020204" pitchFamily="34" charset="-122"/>
                <a:ea typeface="微软雅黑" panose="020B0503020204020204" pitchFamily="34" charset="-122"/>
              </a:rPr>
              <a:t>，子信道的频谱可以相互</a:t>
            </a:r>
            <a:r>
              <a:rPr lang="zh-CN" altLang="en-US" sz="1600" b="1" dirty="0">
                <a:solidFill>
                  <a:srgbClr val="C00000"/>
                </a:solidFill>
                <a:latin typeface="微软雅黑" panose="020B0503020204020204" pitchFamily="34" charset="-122"/>
                <a:ea typeface="微软雅黑" panose="020B0503020204020204" pitchFamily="34" charset="-122"/>
              </a:rPr>
              <a:t>重叠</a:t>
            </a:r>
            <a:r>
              <a:rPr lang="zh-CN" altLang="en-US" sz="1600" b="1" dirty="0">
                <a:latin typeface="微软雅黑" panose="020B0503020204020204" pitchFamily="34" charset="-122"/>
                <a:ea typeface="微软雅黑" panose="020B0503020204020204" pitchFamily="34" charset="-122"/>
              </a:rPr>
              <a:t>，但在解调时并</a:t>
            </a:r>
            <a:r>
              <a:rPr lang="zh-CN" altLang="en-US" sz="1600" b="1" dirty="0">
                <a:solidFill>
                  <a:srgbClr val="C00000"/>
                </a:solidFill>
                <a:latin typeface="微软雅黑" panose="020B0503020204020204" pitchFamily="34" charset="-122"/>
                <a:ea typeface="微软雅黑" panose="020B0503020204020204" pitchFamily="34" charset="-122"/>
              </a:rPr>
              <a:t>不产生</a:t>
            </a:r>
            <a:r>
              <a:rPr lang="zh-CN" altLang="en-US" sz="1600" b="1" dirty="0">
                <a:solidFill>
                  <a:srgbClr val="0000CC"/>
                </a:solidFill>
                <a:latin typeface="微软雅黑" panose="020B0503020204020204" pitchFamily="34" charset="-122"/>
                <a:ea typeface="微软雅黑" panose="020B0503020204020204" pitchFamily="34" charset="-122"/>
              </a:rPr>
              <a:t>子载波间干扰。</a:t>
            </a:r>
            <a:r>
              <a:rPr lang="zh-CN" altLang="en-US" sz="1600" b="1" dirty="0">
                <a:latin typeface="微软雅黑" panose="020B0503020204020204" pitchFamily="34" charset="-122"/>
                <a:ea typeface="微软雅黑" panose="020B0503020204020204" pitchFamily="34" charset="-122"/>
              </a:rPr>
              <a:t>大大提高了频谱利用率。</a:t>
            </a:r>
            <a:endParaRPr lang="en-US" altLang="zh-CN" sz="1600" b="1" dirty="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anose="020B0503020204020204" pitchFamily="34" charset="-122"/>
                <a:ea typeface="微软雅黑" panose="020B0503020204020204" pitchFamily="34" charset="-122"/>
              </a:rPr>
              <a:t>OFDM </a:t>
            </a:r>
            <a:r>
              <a:rPr lang="zh-CN" altLang="en-US" sz="1600" b="1" dirty="0">
                <a:latin typeface="微软雅黑" panose="020B0503020204020204" pitchFamily="34" charset="-122"/>
                <a:ea typeface="微软雅黑" panose="020B0503020204020204" pitchFamily="34" charset="-122"/>
              </a:rPr>
              <a:t>使每个子信道的数据率降低，有效地</a:t>
            </a:r>
            <a:r>
              <a:rPr lang="zh-CN" altLang="en-US" sz="1600" b="1" dirty="0">
                <a:solidFill>
                  <a:srgbClr val="C00000"/>
                </a:solidFill>
                <a:latin typeface="微软雅黑" panose="020B0503020204020204" pitchFamily="34" charset="-122"/>
                <a:ea typeface="微软雅黑" panose="020B0503020204020204" pitchFamily="34" charset="-122"/>
              </a:rPr>
              <a:t>减少</a:t>
            </a:r>
            <a:r>
              <a:rPr lang="zh-CN" altLang="en-US" sz="1600" b="1" dirty="0">
                <a:latin typeface="微软雅黑" panose="020B0503020204020204" pitchFamily="34" charset="-122"/>
                <a:ea typeface="微软雅黑" panose="020B0503020204020204" pitchFamily="34" charset="-122"/>
              </a:rPr>
              <a:t>了由</a:t>
            </a:r>
            <a:r>
              <a:rPr lang="zh-CN" altLang="en-US" sz="1600" b="1" dirty="0">
                <a:solidFill>
                  <a:srgbClr val="C00000"/>
                </a:solidFill>
                <a:latin typeface="微软雅黑" panose="020B0503020204020204" pitchFamily="34" charset="-122"/>
                <a:ea typeface="微软雅黑" panose="020B0503020204020204" pitchFamily="34" charset="-122"/>
              </a:rPr>
              <a:t>多径效应</a:t>
            </a:r>
            <a:r>
              <a:rPr lang="zh-CN" altLang="en-US" sz="1600" b="1" dirty="0">
                <a:latin typeface="微软雅黑" panose="020B0503020204020204" pitchFamily="34" charset="-122"/>
                <a:ea typeface="微软雅黑" panose="020B0503020204020204" pitchFamily="34" charset="-122"/>
              </a:rPr>
              <a:t>带来的</a:t>
            </a:r>
            <a:r>
              <a:rPr lang="zh-CN" altLang="en-US" sz="1600" b="1" dirty="0">
                <a:solidFill>
                  <a:srgbClr val="0000CC"/>
                </a:solidFill>
                <a:latin typeface="微软雅黑" panose="020B0503020204020204" pitchFamily="34" charset="-122"/>
                <a:ea typeface="微软雅黑" panose="020B0503020204020204" pitchFamily="34" charset="-122"/>
              </a:rPr>
              <a:t>符号间干扰，</a:t>
            </a:r>
            <a:r>
              <a:rPr lang="zh-CN" altLang="en-US" sz="1600" b="1" dirty="0">
                <a:latin typeface="微软雅黑" panose="020B0503020204020204" pitchFamily="34" charset="-122"/>
                <a:ea typeface="微软雅黑" panose="020B0503020204020204" pitchFamily="34" charset="-122"/>
              </a:rPr>
              <a:t>降低了误比特率。</a:t>
            </a:r>
            <a:endParaRPr lang="en-US" altLang="zh-CN" sz="1600" b="1" dirty="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采用</a:t>
            </a:r>
            <a:r>
              <a:rPr lang="zh-CN" altLang="en-US" b="1" dirty="0">
                <a:latin typeface="微软雅黑" panose="020B0503020204020204" pitchFamily="34" charset="-122"/>
                <a:ea typeface="微软雅黑" panose="020B0503020204020204" pitchFamily="34" charset="-122"/>
              </a:rPr>
              <a:t>了</a:t>
            </a:r>
            <a:r>
              <a:rPr lang="zh-CN" altLang="en-US" b="1" dirty="0" smtClean="0">
                <a:latin typeface="微软雅黑" panose="020B0503020204020204" pitchFamily="34" charset="-122"/>
                <a:ea typeface="微软雅黑" panose="020B0503020204020204" pitchFamily="34" charset="-122"/>
              </a:rPr>
              <a:t>高</a:t>
            </a:r>
            <a:r>
              <a:rPr lang="zh-CN" altLang="en-US" b="1" dirty="0">
                <a:latin typeface="微软雅黑" panose="020B0503020204020204" pitchFamily="34" charset="-122"/>
                <a:ea typeface="微软雅黑" panose="020B0503020204020204" pitchFamily="34" charset="-122"/>
              </a:rPr>
              <a:t>阶</a:t>
            </a:r>
            <a:r>
              <a:rPr lang="zh-CN" altLang="en-US" b="1" dirty="0" smtClean="0">
                <a:latin typeface="微软雅黑" panose="020B0503020204020204" pitchFamily="34" charset="-122"/>
                <a:ea typeface="微软雅黑" panose="020B0503020204020204" pitchFamily="34" charset="-122"/>
              </a:rPr>
              <a:t>调制 </a:t>
            </a:r>
            <a:r>
              <a:rPr lang="en-US" altLang="zh-CN" b="1" dirty="0">
                <a:solidFill>
                  <a:srgbClr val="0000CC"/>
                </a:solidFill>
                <a:latin typeface="微软雅黑" panose="020B0503020204020204" pitchFamily="34" charset="-122"/>
                <a:ea typeface="微软雅黑" panose="020B0503020204020204" pitchFamily="34" charset="-122"/>
              </a:rPr>
              <a:t>64 QAM</a:t>
            </a:r>
            <a:r>
              <a:rPr lang="zh-CN" altLang="en-US" b="1" dirty="0" smtClean="0">
                <a:latin typeface="微软雅黑" panose="020B0503020204020204" pitchFamily="34" charset="-122"/>
                <a:ea typeface="微软雅黑" panose="020B0503020204020204" pitchFamily="34" charset="-122"/>
              </a:rPr>
              <a:t>，</a:t>
            </a:r>
            <a:r>
              <a:rPr lang="en-US" altLang="zh-CN" b="1" dirty="0" smtClean="0">
                <a:latin typeface="微软雅黑" panose="020B0503020204020204" pitchFamily="34" charset="-122"/>
                <a:ea typeface="微软雅黑" panose="020B0503020204020204" pitchFamily="34" charset="-122"/>
              </a:rPr>
              <a:t>1 </a:t>
            </a:r>
            <a:r>
              <a:rPr lang="zh-CN" altLang="en-US" b="1" dirty="0" smtClean="0">
                <a:latin typeface="微软雅黑" panose="020B0503020204020204" pitchFamily="34" charset="-122"/>
                <a:ea typeface="微软雅黑" panose="020B0503020204020204" pitchFamily="34" charset="-122"/>
              </a:rPr>
              <a:t>码元携带 </a:t>
            </a:r>
            <a:r>
              <a:rPr lang="en-US" altLang="zh-CN" b="1" dirty="0" smtClean="0">
                <a:latin typeface="微软雅黑" panose="020B0503020204020204" pitchFamily="34" charset="-122"/>
                <a:ea typeface="微软雅黑" panose="020B0503020204020204" pitchFamily="34" charset="-122"/>
              </a:rPr>
              <a:t>6 bit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信息量</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采用了多</a:t>
            </a:r>
            <a:r>
              <a:rPr lang="zh-CN" altLang="en-US" b="1" dirty="0">
                <a:latin typeface="微软雅黑" panose="020B0503020204020204" pitchFamily="34" charset="-122"/>
                <a:ea typeface="微软雅黑" panose="020B0503020204020204" pitchFamily="34" charset="-122"/>
              </a:rPr>
              <a:t>天线的多入多</a:t>
            </a:r>
            <a:r>
              <a:rPr lang="zh-CN" altLang="en-US" b="1" dirty="0" smtClean="0">
                <a:latin typeface="微软雅黑" panose="020B0503020204020204" pitchFamily="34" charset="-122"/>
                <a:ea typeface="微软雅黑" panose="020B0503020204020204" pitchFamily="34" charset="-122"/>
              </a:rPr>
              <a:t>出 </a:t>
            </a:r>
            <a:r>
              <a:rPr lang="en-US" altLang="zh-CN" b="1" dirty="0">
                <a:solidFill>
                  <a:srgbClr val="0000CC"/>
                </a:solidFill>
                <a:latin typeface="微软雅黑" panose="020B0503020204020204" pitchFamily="34" charset="-122"/>
                <a:ea typeface="微软雅黑" panose="020B0503020204020204" pitchFamily="34" charset="-122"/>
              </a:rPr>
              <a:t>MIMO</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技术。</a:t>
            </a:r>
            <a:endParaRPr lang="en-US" altLang="zh-CN"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体系结构</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p:nvPr/>
        </p:nvGrpSpPr>
        <p:grpSpPr bwMode="auto">
          <a:xfrm>
            <a:off x="3163549" y="1819267"/>
            <a:ext cx="357753" cy="747387"/>
            <a:chOff x="4608" y="700"/>
            <a:chExt cx="306" cy="553"/>
          </a:xfrm>
        </p:grpSpPr>
        <p:grpSp>
          <p:nvGrpSpPr>
            <p:cNvPr id="11" name="Group 115"/>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25601" name="Microsoft ClipArt Gallery" r:id="rId2" imgW="53035200" imgH="20888325" progId="">
                  <p:embed/>
                </p:oleObj>
              </mc:Choice>
              <mc:Fallback>
                <p:oleObj name="Microsoft ClipArt Gallery" r:id="rId2" imgW="53035200" imgH="20888325" progId="">
                  <p:embed/>
                  <p:pic>
                    <p:nvPicPr>
                      <p:cNvPr id="0" name="图片 25600"/>
                      <p:cNvPicPr/>
                      <p:nvPr/>
                    </p:nvPicPr>
                    <p:blipFill>
                      <a:blip r:embed="rId3"/>
                      <a:stretch>
                        <a:fillRect/>
                      </a:stretch>
                    </p:blipFill>
                    <p:spPr>
                      <a:xfrm>
                        <a:off x="1262987" y="2611380"/>
                        <a:ext cx="416939" cy="191849"/>
                      </a:xfrm>
                      <a:prstGeom prst="rect">
                        <a:avLst/>
                      </a:prstGeom>
                      <a:noFill/>
                      <a:ln w="12700">
                        <a:noFill/>
                      </a:ln>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endParaRPr kumimoji="1" lang="zh-CN" altLang="en-US" sz="1200" b="1" dirty="0">
              <a:latin typeface="微软雅黑" panose="020B0503020204020204" pitchFamily="34" charset="-122"/>
              <a:ea typeface="微软雅黑" panose="020B0503020204020204" pitchFamily="34" charset="-122"/>
            </a:endParaRP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endParaRPr kumimoji="1" lang="zh-CN" altLang="en-US" sz="1200" b="1" dirty="0">
              <a:latin typeface="微软雅黑" panose="020B0503020204020204" pitchFamily="34" charset="-122"/>
              <a:ea typeface="微软雅黑" panose="020B0503020204020204" pitchFamily="34" charset="-122"/>
            </a:endParaRP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p:nvPr/>
        </p:nvGrpSpPr>
        <p:grpSpPr bwMode="auto">
          <a:xfrm>
            <a:off x="2206034" y="2119399"/>
            <a:ext cx="357753" cy="747388"/>
            <a:chOff x="4608" y="700"/>
            <a:chExt cx="306" cy="553"/>
          </a:xfrm>
        </p:grpSpPr>
        <p:grpSp>
          <p:nvGrpSpPr>
            <p:cNvPr id="58" name="Group 115"/>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p:nvPr/>
        </p:nvGrpSpPr>
        <p:grpSpPr bwMode="auto">
          <a:xfrm>
            <a:off x="2515122" y="1337879"/>
            <a:ext cx="357753" cy="747388"/>
            <a:chOff x="4608" y="700"/>
            <a:chExt cx="306" cy="553"/>
          </a:xfrm>
        </p:grpSpPr>
        <p:grpSp>
          <p:nvGrpSpPr>
            <p:cNvPr id="83" name="Group 115"/>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25602" name="VISIO" r:id="rId4" imgW="3514725" imgH="2009775" progId="">
                    <p:embed/>
                  </p:oleObj>
                </mc:Choice>
                <mc:Fallback>
                  <p:oleObj name="VISIO" r:id="rId4" imgW="3514725" imgH="2009775" progId="">
                    <p:embed/>
                    <p:pic>
                      <p:nvPicPr>
                        <p:cNvPr id="0" name="图片 25601"/>
                        <p:cNvPicPr>
                          <a:picLocks noChangeAspect="1"/>
                        </p:cNvPicPr>
                        <p:nvPr/>
                      </p:nvPicPr>
                      <p:blipFill>
                        <a:blip r:embed="rId5"/>
                        <a:stretch>
                          <a:fillRect/>
                        </a:stretch>
                      </p:blipFill>
                      <p:spPr>
                        <a:xfrm>
                          <a:off x="7236296" y="2033272"/>
                          <a:ext cx="1654150" cy="1035365"/>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endParaRPr kumimoji="1" lang="zh-CN" altLang="en-US" sz="1200" b="1" dirty="0">
              <a:latin typeface="微软雅黑" panose="020B0503020204020204" pitchFamily="34" charset="-122"/>
              <a:ea typeface="微软雅黑" panose="020B0503020204020204" pitchFamily="34" charset="-122"/>
            </a:endParaRP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endParaRPr kumimoji="1" lang="zh-CN" altLang="en-US" sz="1200" b="1" dirty="0">
              <a:latin typeface="微软雅黑" panose="020B0503020204020204" pitchFamily="34" charset="-122"/>
              <a:ea typeface="微软雅黑" panose="020B0503020204020204" pitchFamily="34" charset="-122"/>
            </a:endParaRP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取消</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了无线网络</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控制器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RNC</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，并把基站称为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演进的</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节点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兼有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中</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的基</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站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NB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无线网络</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控制器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RNC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中</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功能最复杂的设备</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网络，分为</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层面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endParaRPr kumimoji="1" lang="zh-CN" altLang="en-US" sz="1200" b="1" dirty="0">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endParaRPr kumimoji="1" lang="zh-CN" altLang="en-US" sz="1200" b="1">
                <a:latin typeface="微软雅黑" panose="020B0503020204020204" pitchFamily="34" charset="-122"/>
                <a:ea typeface="微软雅黑" panose="020B0503020204020204" pitchFamily="34" charset="-122"/>
              </a:endParaRP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endParaRPr kumimoji="1" lang="zh-CN" altLang="en-US" sz="1200" b="1">
                <a:latin typeface="微软雅黑" panose="020B0503020204020204" pitchFamily="34" charset="-122"/>
                <a:ea typeface="微软雅黑" panose="020B0503020204020204" pitchFamily="34" charset="-122"/>
              </a:endParaRP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3">
                                            <p:txEl>
                                              <p:pRg st="1" end="1"/>
                                            </p:txEl>
                                          </p:spTgt>
                                        </p:tgtEl>
                                        <p:attrNameLst>
                                          <p:attrName>style.visibility</p:attrName>
                                        </p:attrNameLst>
                                      </p:cBhvr>
                                      <p:to>
                                        <p:strVal val="visible"/>
                                      </p:to>
                                    </p:set>
                                  </p:childTnLst>
                                </p:cTn>
                              </p:par>
                              <p:par>
                                <p:cTn id="13" presetID="35" presetClass="emph" presetSubtype="0" repeatCount="3000" fill="hold" nodeType="withEffect">
                                  <p:stCondLst>
                                    <p:cond delay="0"/>
                                  </p:stCondLst>
                                  <p:childTnLst>
                                    <p:anim calcmode="discrete" valueType="str">
                                      <p:cBhvr>
                                        <p:cTn id="14"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体系结构</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p:nvPr/>
        </p:nvGrpSpPr>
        <p:grpSpPr bwMode="auto">
          <a:xfrm>
            <a:off x="3163549" y="1819267"/>
            <a:ext cx="357753" cy="747387"/>
            <a:chOff x="4608" y="700"/>
            <a:chExt cx="306" cy="553"/>
          </a:xfrm>
        </p:grpSpPr>
        <p:grpSp>
          <p:nvGrpSpPr>
            <p:cNvPr id="11" name="Group 115"/>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26625" name="Microsoft ClipArt Gallery" r:id="rId2" imgW="53035200" imgH="20888325" progId="">
                  <p:embed/>
                </p:oleObj>
              </mc:Choice>
              <mc:Fallback>
                <p:oleObj name="Microsoft ClipArt Gallery" r:id="rId2" imgW="53035200" imgH="20888325" progId="">
                  <p:embed/>
                  <p:pic>
                    <p:nvPicPr>
                      <p:cNvPr id="0" name="图片 26624"/>
                      <p:cNvPicPr/>
                      <p:nvPr/>
                    </p:nvPicPr>
                    <p:blipFill>
                      <a:blip r:embed="rId3"/>
                      <a:stretch>
                        <a:fillRect/>
                      </a:stretch>
                    </p:blipFill>
                    <p:spPr>
                      <a:xfrm>
                        <a:off x="1262987" y="2611380"/>
                        <a:ext cx="416939" cy="191849"/>
                      </a:xfrm>
                      <a:prstGeom prst="rect">
                        <a:avLst/>
                      </a:prstGeom>
                      <a:noFill/>
                      <a:ln w="12700">
                        <a:noFill/>
                      </a:ln>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endParaRPr kumimoji="1" lang="zh-CN" altLang="en-US" sz="1200" b="1" dirty="0">
              <a:latin typeface="微软雅黑" panose="020B0503020204020204" pitchFamily="34" charset="-122"/>
              <a:ea typeface="微软雅黑" panose="020B0503020204020204" pitchFamily="34" charset="-122"/>
            </a:endParaRP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endParaRPr kumimoji="1" lang="zh-CN" altLang="en-US" sz="1200" b="1" dirty="0">
              <a:latin typeface="微软雅黑" panose="020B0503020204020204" pitchFamily="34" charset="-122"/>
              <a:ea typeface="微软雅黑" panose="020B0503020204020204" pitchFamily="34" charset="-122"/>
            </a:endParaRP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p:nvPr/>
        </p:nvGrpSpPr>
        <p:grpSpPr bwMode="auto">
          <a:xfrm>
            <a:off x="2206034" y="2119399"/>
            <a:ext cx="357753" cy="747388"/>
            <a:chOff x="4608" y="700"/>
            <a:chExt cx="306" cy="553"/>
          </a:xfrm>
        </p:grpSpPr>
        <p:grpSp>
          <p:nvGrpSpPr>
            <p:cNvPr id="58" name="Group 115"/>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p:nvPr/>
        </p:nvGrpSpPr>
        <p:grpSpPr bwMode="auto">
          <a:xfrm>
            <a:off x="2515122" y="1337879"/>
            <a:ext cx="357753" cy="747388"/>
            <a:chOff x="4608" y="700"/>
            <a:chExt cx="306" cy="553"/>
          </a:xfrm>
        </p:grpSpPr>
        <p:grpSp>
          <p:nvGrpSpPr>
            <p:cNvPr id="83" name="Group 115"/>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26626" name="VISIO" r:id="rId4" imgW="3514725" imgH="2009775" progId="">
                    <p:embed/>
                  </p:oleObj>
                </mc:Choice>
                <mc:Fallback>
                  <p:oleObj name="VISIO" r:id="rId4" imgW="3514725" imgH="2009775" progId="">
                    <p:embed/>
                    <p:pic>
                      <p:nvPicPr>
                        <p:cNvPr id="0" name="图片 26625"/>
                        <p:cNvPicPr>
                          <a:picLocks noChangeAspect="1"/>
                        </p:cNvPicPr>
                        <p:nvPr/>
                      </p:nvPicPr>
                      <p:blipFill>
                        <a:blip r:embed="rId5"/>
                        <a:stretch>
                          <a:fillRect/>
                        </a:stretch>
                      </p:blipFill>
                      <p:spPr>
                        <a:xfrm>
                          <a:off x="7236296" y="2033272"/>
                          <a:ext cx="1654150" cy="1035365"/>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endParaRPr kumimoji="1" lang="zh-CN" altLang="en-US" sz="1200" b="1" dirty="0">
              <a:latin typeface="微软雅黑" panose="020B0503020204020204" pitchFamily="34" charset="-122"/>
              <a:ea typeface="微软雅黑" panose="020B0503020204020204" pitchFamily="34" charset="-122"/>
            </a:endParaRP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endParaRPr kumimoji="1" lang="zh-CN" altLang="en-US" sz="1200" b="1" dirty="0">
              <a:latin typeface="微软雅黑" panose="020B0503020204020204" pitchFamily="34" charset="-122"/>
              <a:ea typeface="微软雅黑" panose="020B0503020204020204" pitchFamily="34" charset="-122"/>
            </a:endParaRP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en-US" altLang="zh-CN" sz="1600" b="1" kern="500" dirty="0" err="1"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三</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个主要构件。</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天线。</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对发往空口的</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信号或</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从空口接收的</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信号进行</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调制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解调</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数字模块：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作为空口与核心网的</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，对经过此模块的所有信号进行处理</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endParaRPr kumimoji="1" lang="zh-CN" altLang="en-US" sz="1200" b="1" dirty="0">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endParaRPr kumimoji="1" lang="zh-CN" altLang="en-US" sz="1200" b="1">
                <a:latin typeface="微软雅黑" panose="020B0503020204020204" pitchFamily="34" charset="-122"/>
                <a:ea typeface="微软雅黑" panose="020B0503020204020204" pitchFamily="34" charset="-122"/>
              </a:endParaRP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endParaRPr kumimoji="1" lang="zh-CN" altLang="en-US" sz="1200" b="1">
                <a:latin typeface="微软雅黑" panose="020B0503020204020204" pitchFamily="34" charset="-122"/>
                <a:ea typeface="微软雅黑" panose="020B0503020204020204" pitchFamily="34" charset="-122"/>
              </a:endParaRP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体系结构</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p:nvPr/>
        </p:nvGrpSpPr>
        <p:grpSpPr bwMode="auto">
          <a:xfrm>
            <a:off x="3163549" y="1819267"/>
            <a:ext cx="357753" cy="747387"/>
            <a:chOff x="4608" y="700"/>
            <a:chExt cx="306" cy="553"/>
          </a:xfrm>
        </p:grpSpPr>
        <p:grpSp>
          <p:nvGrpSpPr>
            <p:cNvPr id="11" name="Group 115"/>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27649" name="Microsoft ClipArt Gallery" r:id="rId2" imgW="53035200" imgH="20888325" progId="">
                  <p:embed/>
                </p:oleObj>
              </mc:Choice>
              <mc:Fallback>
                <p:oleObj name="Microsoft ClipArt Gallery" r:id="rId2" imgW="53035200" imgH="20888325" progId="">
                  <p:embed/>
                  <p:pic>
                    <p:nvPicPr>
                      <p:cNvPr id="0" name="图片 27648"/>
                      <p:cNvPicPr/>
                      <p:nvPr/>
                    </p:nvPicPr>
                    <p:blipFill>
                      <a:blip r:embed="rId3"/>
                      <a:stretch>
                        <a:fillRect/>
                      </a:stretch>
                    </p:blipFill>
                    <p:spPr>
                      <a:xfrm>
                        <a:off x="1262987" y="2611380"/>
                        <a:ext cx="416939" cy="191849"/>
                      </a:xfrm>
                      <a:prstGeom prst="rect">
                        <a:avLst/>
                      </a:prstGeom>
                      <a:noFill/>
                      <a:ln w="12700">
                        <a:noFill/>
                      </a:ln>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endParaRPr kumimoji="1" lang="zh-CN" altLang="en-US" sz="1200" b="1" dirty="0">
              <a:latin typeface="微软雅黑" panose="020B0503020204020204" pitchFamily="34" charset="-122"/>
              <a:ea typeface="微软雅黑" panose="020B0503020204020204" pitchFamily="34" charset="-122"/>
            </a:endParaRP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endParaRPr kumimoji="1" lang="zh-CN" altLang="en-US" sz="1200" b="1" dirty="0">
              <a:latin typeface="微软雅黑" panose="020B0503020204020204" pitchFamily="34" charset="-122"/>
              <a:ea typeface="微软雅黑" panose="020B0503020204020204" pitchFamily="34" charset="-122"/>
            </a:endParaRP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p:nvPr/>
        </p:nvGrpSpPr>
        <p:grpSpPr bwMode="auto">
          <a:xfrm>
            <a:off x="2206034" y="2119399"/>
            <a:ext cx="357753" cy="747388"/>
            <a:chOff x="4608" y="700"/>
            <a:chExt cx="306" cy="553"/>
          </a:xfrm>
        </p:grpSpPr>
        <p:grpSp>
          <p:nvGrpSpPr>
            <p:cNvPr id="58" name="Group 115"/>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p:nvPr/>
        </p:nvGrpSpPr>
        <p:grpSpPr bwMode="auto">
          <a:xfrm>
            <a:off x="2515122" y="1337879"/>
            <a:ext cx="357753" cy="747388"/>
            <a:chOff x="4608" y="700"/>
            <a:chExt cx="306" cy="553"/>
          </a:xfrm>
        </p:grpSpPr>
        <p:grpSp>
          <p:nvGrpSpPr>
            <p:cNvPr id="83" name="Group 115"/>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27650" name="VISIO" r:id="rId4" imgW="3514725" imgH="2009775" progId="">
                    <p:embed/>
                  </p:oleObj>
                </mc:Choice>
                <mc:Fallback>
                  <p:oleObj name="VISIO" r:id="rId4" imgW="3514725" imgH="2009775" progId="">
                    <p:embed/>
                    <p:pic>
                      <p:nvPicPr>
                        <p:cNvPr id="0" name="图片 27649"/>
                        <p:cNvPicPr>
                          <a:picLocks noChangeAspect="1"/>
                        </p:cNvPicPr>
                        <p:nvPr/>
                      </p:nvPicPr>
                      <p:blipFill>
                        <a:blip r:embed="rId5"/>
                        <a:stretch>
                          <a:fillRect/>
                        </a:stretch>
                      </p:blipFill>
                      <p:spPr>
                        <a:xfrm>
                          <a:off x="7236296" y="2033272"/>
                          <a:ext cx="1654150" cy="1035365"/>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endParaRPr kumimoji="1" lang="zh-CN" altLang="en-US" sz="1200" b="1" dirty="0">
              <a:latin typeface="微软雅黑" panose="020B0503020204020204" pitchFamily="34" charset="-122"/>
              <a:ea typeface="微软雅黑" panose="020B0503020204020204" pitchFamily="34" charset="-122"/>
            </a:endParaRP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endParaRPr kumimoji="1" lang="zh-CN" altLang="en-US" sz="1200" b="1" dirty="0">
              <a:latin typeface="微软雅黑" panose="020B0503020204020204" pitchFamily="34" charset="-122"/>
              <a:ea typeface="微软雅黑" panose="020B0503020204020204" pitchFamily="34" charset="-122"/>
            </a:endParaRP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HSS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处理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登记、切换、呼叫、寻呼等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信令消息。</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数据层面：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设备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与</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核心网之间</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传送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数据报。</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endParaRPr kumimoji="1" lang="zh-CN" altLang="en-US" sz="1200" b="1" dirty="0">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endParaRPr kumimoji="1" lang="zh-CN" altLang="en-US" sz="1200" b="1">
                <a:latin typeface="微软雅黑" panose="020B0503020204020204" pitchFamily="34" charset="-122"/>
                <a:ea typeface="微软雅黑" panose="020B0503020204020204" pitchFamily="34" charset="-122"/>
              </a:endParaRP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endParaRPr kumimoji="1" lang="zh-CN" altLang="en-US" sz="1200" b="1">
                <a:latin typeface="微软雅黑" panose="020B0503020204020204" pitchFamily="34" charset="-122"/>
                <a:ea typeface="微软雅黑" panose="020B0503020204020204" pitchFamily="34" charset="-122"/>
              </a:endParaRP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3">
                                            <p:txEl>
                                              <p:pRg st="1" end="1"/>
                                            </p:txEl>
                                          </p:spTgt>
                                        </p:tgtEl>
                                        <p:attrNameLst>
                                          <p:attrName>style.visibility</p:attrName>
                                        </p:attrNameLst>
                                      </p:cBhvr>
                                      <p:to>
                                        <p:strVal val="visible"/>
                                      </p:to>
                                    </p:set>
                                  </p:childTnLst>
                                </p:cTn>
                              </p:par>
                              <p:par>
                                <p:cTn id="9" presetID="35" presetClass="emph" presetSubtype="0" repeatCount="3000" fill="hold" nodeType="withEffect">
                                  <p:stCondLst>
                                    <p:cond delay="0"/>
                                  </p:stCondLst>
                                  <p:childTnLst>
                                    <p:anim calcmode="discrete" valueType="str">
                                      <p:cBhvr>
                                        <p:cTn id="10"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体系结构</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p:nvPr/>
        </p:nvGrpSpPr>
        <p:grpSpPr bwMode="auto">
          <a:xfrm>
            <a:off x="3163549" y="1819267"/>
            <a:ext cx="357753" cy="747387"/>
            <a:chOff x="4608" y="700"/>
            <a:chExt cx="306" cy="553"/>
          </a:xfrm>
        </p:grpSpPr>
        <p:grpSp>
          <p:nvGrpSpPr>
            <p:cNvPr id="11" name="Group 115"/>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28673" name="Microsoft ClipArt Gallery" r:id="rId2" imgW="53035200" imgH="20888325" progId="">
                  <p:embed/>
                </p:oleObj>
              </mc:Choice>
              <mc:Fallback>
                <p:oleObj name="Microsoft ClipArt Gallery" r:id="rId2" imgW="53035200" imgH="20888325" progId="">
                  <p:embed/>
                  <p:pic>
                    <p:nvPicPr>
                      <p:cNvPr id="0" name="图片 28672"/>
                      <p:cNvPicPr/>
                      <p:nvPr/>
                    </p:nvPicPr>
                    <p:blipFill>
                      <a:blip r:embed="rId3"/>
                      <a:stretch>
                        <a:fillRect/>
                      </a:stretch>
                    </p:blipFill>
                    <p:spPr>
                      <a:xfrm>
                        <a:off x="1262987" y="2611380"/>
                        <a:ext cx="416939" cy="191849"/>
                      </a:xfrm>
                      <a:prstGeom prst="rect">
                        <a:avLst/>
                      </a:prstGeom>
                      <a:noFill/>
                      <a:ln w="12700">
                        <a:noFill/>
                      </a:ln>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endParaRPr kumimoji="1" lang="zh-CN" altLang="en-US" sz="1200" b="1" dirty="0">
              <a:latin typeface="微软雅黑" panose="020B0503020204020204" pitchFamily="34" charset="-122"/>
              <a:ea typeface="微软雅黑" panose="020B0503020204020204" pitchFamily="34" charset="-122"/>
            </a:endParaRP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endParaRPr kumimoji="1" lang="zh-CN" altLang="en-US" sz="1200" b="1" dirty="0">
              <a:latin typeface="微软雅黑" panose="020B0503020204020204" pitchFamily="34" charset="-122"/>
              <a:ea typeface="微软雅黑" panose="020B0503020204020204" pitchFamily="34" charset="-122"/>
            </a:endParaRP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p:nvPr/>
        </p:nvGrpSpPr>
        <p:grpSpPr bwMode="auto">
          <a:xfrm>
            <a:off x="2206034" y="2119399"/>
            <a:ext cx="357753" cy="747388"/>
            <a:chOff x="4608" y="700"/>
            <a:chExt cx="306" cy="553"/>
          </a:xfrm>
        </p:grpSpPr>
        <p:grpSp>
          <p:nvGrpSpPr>
            <p:cNvPr id="58" name="Group 115"/>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p:nvPr/>
        </p:nvGrpSpPr>
        <p:grpSpPr bwMode="auto">
          <a:xfrm>
            <a:off x="2515122" y="1337879"/>
            <a:ext cx="357753" cy="747388"/>
            <a:chOff x="4608" y="700"/>
            <a:chExt cx="306" cy="553"/>
          </a:xfrm>
        </p:grpSpPr>
        <p:grpSp>
          <p:nvGrpSpPr>
            <p:cNvPr id="83" name="Group 115"/>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28674" name="VISIO" r:id="rId4" imgW="3514725" imgH="2009775" progId="">
                    <p:embed/>
                  </p:oleObj>
                </mc:Choice>
                <mc:Fallback>
                  <p:oleObj name="VISIO" r:id="rId4" imgW="3514725" imgH="2009775" progId="">
                    <p:embed/>
                    <p:pic>
                      <p:nvPicPr>
                        <p:cNvPr id="0" name="图片 28673"/>
                        <p:cNvPicPr>
                          <a:picLocks noChangeAspect="1"/>
                        </p:cNvPicPr>
                        <p:nvPr/>
                      </p:nvPicPr>
                      <p:blipFill>
                        <a:blip r:embed="rId5"/>
                        <a:stretch>
                          <a:fillRect/>
                        </a:stretch>
                      </p:blipFill>
                      <p:spPr>
                        <a:xfrm>
                          <a:off x="7236296" y="2033272"/>
                          <a:ext cx="1654150" cy="1035365"/>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endParaRPr kumimoji="1" lang="zh-CN" altLang="en-US" sz="1200" b="1" dirty="0">
              <a:latin typeface="微软雅黑" panose="020B0503020204020204" pitchFamily="34" charset="-122"/>
              <a:ea typeface="微软雅黑" panose="020B0503020204020204" pitchFamily="34" charset="-122"/>
            </a:endParaRP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endParaRPr kumimoji="1" lang="zh-CN" altLang="en-US" sz="1200" b="1" dirty="0">
              <a:latin typeface="微软雅黑" panose="020B0503020204020204" pitchFamily="34" charset="-122"/>
              <a:ea typeface="微软雅黑" panose="020B0503020204020204" pitchFamily="34" charset="-122"/>
            </a:endParaRP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1223262" y="3458093"/>
            <a:ext cx="7050845" cy="1374735"/>
          </a:xfrm>
          <a:prstGeom prst="rect">
            <a:avLst/>
          </a:prstGeom>
        </p:spPr>
        <p:txBody>
          <a:bodyPr wrap="square">
            <a:spAutoFit/>
          </a:bodyPr>
          <a:lstStyle/>
          <a:p>
            <a:pPr>
              <a:lnSpc>
                <a:spcPts val="20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数据网络</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网关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P-GW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(Packet Data Network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：是核心网通向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互联网的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边界</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与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或非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外部数据网的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是核心网对外的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(Anchor point)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给所有用户</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设备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分配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地址</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和确保服务</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质量 </a:t>
            </a:r>
            <a:r>
              <a:rPr lang="en-US" altLang="zh-CN" sz="1600" b="1" kern="500" dirty="0" err="1"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QoS</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实施</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数据报</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封装到</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层面的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隧道协议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GTP-U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中，从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经</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S-GW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到达</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P-GW</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endParaRPr kumimoji="1" lang="zh-CN" altLang="en-US" sz="1200" b="1" dirty="0">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endParaRPr kumimoji="1" lang="zh-CN" altLang="en-US" sz="1200" b="1">
                <a:latin typeface="微软雅黑" panose="020B0503020204020204" pitchFamily="34" charset="-122"/>
                <a:ea typeface="微软雅黑" panose="020B0503020204020204" pitchFamily="34" charset="-122"/>
              </a:endParaRP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endParaRPr kumimoji="1" lang="zh-CN" altLang="en-US" sz="1200" b="1">
                <a:latin typeface="微软雅黑" panose="020B0503020204020204" pitchFamily="34" charset="-122"/>
                <a:ea typeface="微软雅黑" panose="020B0503020204020204" pitchFamily="34" charset="-122"/>
              </a:endParaRP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体系结构</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p:nvPr/>
        </p:nvGrpSpPr>
        <p:grpSpPr bwMode="auto">
          <a:xfrm>
            <a:off x="3163549" y="1819267"/>
            <a:ext cx="357753" cy="747387"/>
            <a:chOff x="4608" y="700"/>
            <a:chExt cx="306" cy="553"/>
          </a:xfrm>
        </p:grpSpPr>
        <p:grpSp>
          <p:nvGrpSpPr>
            <p:cNvPr id="11" name="Group 115"/>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29697" name="Microsoft ClipArt Gallery" r:id="rId2" imgW="53035200" imgH="20888325" progId="">
                  <p:embed/>
                </p:oleObj>
              </mc:Choice>
              <mc:Fallback>
                <p:oleObj name="Microsoft ClipArt Gallery" r:id="rId2" imgW="53035200" imgH="20888325" progId="">
                  <p:embed/>
                  <p:pic>
                    <p:nvPicPr>
                      <p:cNvPr id="0" name="图片 29696"/>
                      <p:cNvPicPr/>
                      <p:nvPr/>
                    </p:nvPicPr>
                    <p:blipFill>
                      <a:blip r:embed="rId3"/>
                      <a:stretch>
                        <a:fillRect/>
                      </a:stretch>
                    </p:blipFill>
                    <p:spPr>
                      <a:xfrm>
                        <a:off x="1262987" y="2611380"/>
                        <a:ext cx="416939" cy="191849"/>
                      </a:xfrm>
                      <a:prstGeom prst="rect">
                        <a:avLst/>
                      </a:prstGeom>
                      <a:noFill/>
                      <a:ln w="12700">
                        <a:noFill/>
                      </a:ln>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endParaRPr kumimoji="1" lang="zh-CN" altLang="en-US" sz="1200" b="1" dirty="0">
              <a:latin typeface="微软雅黑" panose="020B0503020204020204" pitchFamily="34" charset="-122"/>
              <a:ea typeface="微软雅黑" panose="020B0503020204020204" pitchFamily="34" charset="-122"/>
            </a:endParaRP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endParaRPr kumimoji="1" lang="zh-CN" altLang="en-US" sz="1200" b="1" dirty="0">
              <a:latin typeface="微软雅黑" panose="020B0503020204020204" pitchFamily="34" charset="-122"/>
              <a:ea typeface="微软雅黑" panose="020B0503020204020204" pitchFamily="34" charset="-122"/>
            </a:endParaRP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p:nvPr/>
        </p:nvGrpSpPr>
        <p:grpSpPr bwMode="auto">
          <a:xfrm>
            <a:off x="2206034" y="2119399"/>
            <a:ext cx="357753" cy="747388"/>
            <a:chOff x="4608" y="700"/>
            <a:chExt cx="306" cy="553"/>
          </a:xfrm>
        </p:grpSpPr>
        <p:grpSp>
          <p:nvGrpSpPr>
            <p:cNvPr id="58" name="Group 115"/>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p:nvPr/>
        </p:nvGrpSpPr>
        <p:grpSpPr bwMode="auto">
          <a:xfrm>
            <a:off x="2515122" y="1337879"/>
            <a:ext cx="357753" cy="747388"/>
            <a:chOff x="4608" y="700"/>
            <a:chExt cx="306" cy="553"/>
          </a:xfrm>
        </p:grpSpPr>
        <p:grpSp>
          <p:nvGrpSpPr>
            <p:cNvPr id="83" name="Group 115"/>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29698" name="VISIO" r:id="rId4" imgW="3514725" imgH="2009775" progId="">
                    <p:embed/>
                  </p:oleObj>
                </mc:Choice>
                <mc:Fallback>
                  <p:oleObj name="VISIO" r:id="rId4" imgW="3514725" imgH="2009775" progId="">
                    <p:embed/>
                    <p:pic>
                      <p:nvPicPr>
                        <p:cNvPr id="0" name="图片 29697"/>
                        <p:cNvPicPr>
                          <a:picLocks noChangeAspect="1"/>
                        </p:cNvPicPr>
                        <p:nvPr/>
                      </p:nvPicPr>
                      <p:blipFill>
                        <a:blip r:embed="rId5"/>
                        <a:stretch>
                          <a:fillRect/>
                        </a:stretch>
                      </p:blipFill>
                      <p:spPr>
                        <a:xfrm>
                          <a:off x="7236296" y="2033272"/>
                          <a:ext cx="1654150" cy="1035365"/>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endParaRPr kumimoji="1" lang="zh-CN" altLang="en-US" sz="1200" b="1" dirty="0">
              <a:latin typeface="微软雅黑" panose="020B0503020204020204" pitchFamily="34" charset="-122"/>
              <a:ea typeface="微软雅黑" panose="020B0503020204020204" pitchFamily="34" charset="-122"/>
            </a:endParaRP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endParaRPr kumimoji="1" lang="zh-CN" altLang="en-US" sz="1200" b="1" dirty="0">
              <a:latin typeface="微软雅黑" panose="020B0503020204020204" pitchFamily="34" charset="-122"/>
              <a:ea typeface="微软雅黑" panose="020B0503020204020204" pitchFamily="34" charset="-122"/>
            </a:endParaRP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服务网关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S-GW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(Serving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无线接入网与核心网之间的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用户层面的数据分组的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转发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路由选择，</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起到路由器的作用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。还负责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以及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隧道管理。</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数据层面中移动性的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点。</a:t>
            </a:r>
            <a:endPar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可以</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同一</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个或</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不同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物理节点实现。</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endParaRPr kumimoji="1" lang="zh-CN" altLang="en-US" sz="1200" b="1" dirty="0">
                <a:latin typeface="微软雅黑" panose="020B0503020204020204" pitchFamily="34" charset="-122"/>
                <a:ea typeface="微软雅黑" panose="020B0503020204020204" pitchFamily="34" charset="-122"/>
              </a:endParaRP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endParaRPr kumimoji="1" lang="zh-CN" altLang="en-US" sz="1200" b="1">
                <a:latin typeface="微软雅黑" panose="020B0503020204020204" pitchFamily="34" charset="-122"/>
                <a:ea typeface="微软雅黑" panose="020B0503020204020204" pitchFamily="34" charset="-122"/>
              </a:endParaRP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endParaRPr kumimoji="1" lang="zh-CN" altLang="en-US" sz="1200" b="1">
                <a:latin typeface="微软雅黑" panose="020B0503020204020204" pitchFamily="34" charset="-122"/>
                <a:ea typeface="微软雅黑" panose="020B0503020204020204" pitchFamily="34" charset="-122"/>
              </a:endParaRP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3">
                                            <p:txEl>
                                              <p:pRg st="1" end="1"/>
                                            </p:txEl>
                                          </p:spTgt>
                                        </p:tgtEl>
                                        <p:attrNameLst>
                                          <p:attrName>style.visibility</p:attrName>
                                        </p:attrNameLst>
                                      </p:cBhvr>
                                      <p:to>
                                        <p:strVal val="visible"/>
                                      </p:to>
                                    </p:set>
                                  </p:childTnLst>
                                </p:cTn>
                              </p:par>
                              <p:par>
                                <p:cTn id="11" presetID="35" presetClass="emph" presetSubtype="0" repeatCount="3000" fill="hold" grpId="0" nodeType="withEffect">
                                  <p:stCondLst>
                                    <p:cond delay="0"/>
                                  </p:stCondLst>
                                  <p:childTnLst>
                                    <p:anim calcmode="discrete" valueType="str">
                                      <p:cBhvr>
                                        <p:cTn id="12"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体系结构</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p:nvPr/>
        </p:nvGrpSpPr>
        <p:grpSpPr bwMode="auto">
          <a:xfrm>
            <a:off x="3163549" y="1819267"/>
            <a:ext cx="357753" cy="747387"/>
            <a:chOff x="4608" y="700"/>
            <a:chExt cx="306" cy="553"/>
          </a:xfrm>
        </p:grpSpPr>
        <p:grpSp>
          <p:nvGrpSpPr>
            <p:cNvPr id="11" name="Group 115"/>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30721" name="Microsoft ClipArt Gallery" r:id="rId2" imgW="53035200" imgH="20888325" progId="">
                  <p:embed/>
                </p:oleObj>
              </mc:Choice>
              <mc:Fallback>
                <p:oleObj name="Microsoft ClipArt Gallery" r:id="rId2" imgW="53035200" imgH="20888325" progId="">
                  <p:embed/>
                  <p:pic>
                    <p:nvPicPr>
                      <p:cNvPr id="0" name="图片 30720"/>
                      <p:cNvPicPr/>
                      <p:nvPr/>
                    </p:nvPicPr>
                    <p:blipFill>
                      <a:blip r:embed="rId3"/>
                      <a:stretch>
                        <a:fillRect/>
                      </a:stretch>
                    </p:blipFill>
                    <p:spPr>
                      <a:xfrm>
                        <a:off x="1262987" y="2611380"/>
                        <a:ext cx="416939" cy="191849"/>
                      </a:xfrm>
                      <a:prstGeom prst="rect">
                        <a:avLst/>
                      </a:prstGeom>
                      <a:noFill/>
                      <a:ln w="12700">
                        <a:noFill/>
                      </a:ln>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endParaRPr kumimoji="1" lang="zh-CN" altLang="en-US" sz="1200" b="1" dirty="0">
              <a:latin typeface="微软雅黑" panose="020B0503020204020204" pitchFamily="34" charset="-122"/>
              <a:ea typeface="微软雅黑" panose="020B0503020204020204" pitchFamily="34" charset="-122"/>
            </a:endParaRP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endParaRPr kumimoji="1" lang="zh-CN" altLang="en-US" sz="1200" b="1" dirty="0">
              <a:latin typeface="微软雅黑" panose="020B0503020204020204" pitchFamily="34" charset="-122"/>
              <a:ea typeface="微软雅黑" panose="020B0503020204020204" pitchFamily="34" charset="-122"/>
            </a:endParaRP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p:nvPr/>
        </p:nvGrpSpPr>
        <p:grpSpPr bwMode="auto">
          <a:xfrm>
            <a:off x="2206034" y="2119399"/>
            <a:ext cx="357753" cy="747388"/>
            <a:chOff x="4608" y="700"/>
            <a:chExt cx="306" cy="553"/>
          </a:xfrm>
        </p:grpSpPr>
        <p:grpSp>
          <p:nvGrpSpPr>
            <p:cNvPr id="58" name="Group 115"/>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p:nvPr/>
        </p:nvGrpSpPr>
        <p:grpSpPr bwMode="auto">
          <a:xfrm>
            <a:off x="2515122" y="1337879"/>
            <a:ext cx="357753" cy="747388"/>
            <a:chOff x="4608" y="700"/>
            <a:chExt cx="306" cy="553"/>
          </a:xfrm>
        </p:grpSpPr>
        <p:grpSp>
          <p:nvGrpSpPr>
            <p:cNvPr id="83" name="Group 115"/>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30722" name="VISIO" r:id="rId4" imgW="3514725" imgH="2009775" progId="">
                    <p:embed/>
                  </p:oleObj>
                </mc:Choice>
                <mc:Fallback>
                  <p:oleObj name="VISIO" r:id="rId4" imgW="3514725" imgH="2009775" progId="">
                    <p:embed/>
                    <p:pic>
                      <p:nvPicPr>
                        <p:cNvPr id="0" name="图片 30721"/>
                        <p:cNvPicPr>
                          <a:picLocks noChangeAspect="1"/>
                        </p:cNvPicPr>
                        <p:nvPr/>
                      </p:nvPicPr>
                      <p:blipFill>
                        <a:blip r:embed="rId5"/>
                        <a:stretch>
                          <a:fillRect/>
                        </a:stretch>
                      </p:blipFill>
                      <p:spPr>
                        <a:xfrm>
                          <a:off x="7236296" y="2033272"/>
                          <a:ext cx="1654150" cy="1035365"/>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HSS</a:t>
            </a:r>
            <a:endParaRPr kumimoji="1" lang="zh-CN" altLang="en-US" sz="1200" b="1" dirty="0">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endParaRPr kumimoji="1" lang="zh-CN" altLang="en-US" sz="1200" b="1" dirty="0">
              <a:latin typeface="微软雅黑" panose="020B0503020204020204" pitchFamily="34" charset="-122"/>
              <a:ea typeface="微软雅黑" panose="020B0503020204020204" pitchFamily="34" charset="-122"/>
            </a:endParaRP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endParaRPr kumimoji="1" lang="zh-CN" altLang="en-US" sz="1200" b="1" dirty="0">
              <a:latin typeface="微软雅黑" panose="020B0503020204020204" pitchFamily="34" charset="-122"/>
              <a:ea typeface="微软雅黑" panose="020B0503020204020204" pitchFamily="34" charset="-122"/>
            </a:endParaRP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707886"/>
          </a:xfrm>
          <a:prstGeom prst="rect">
            <a:avLst/>
          </a:prstGeom>
        </p:spPr>
        <p:txBody>
          <a:bodyPr wrap="square">
            <a:spAutoFit/>
          </a:bodyPr>
          <a:lstStyle/>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归属</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用户服务器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HSS (Home Subscriber Server</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中心数据库</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存储网络</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运营商所保存的用户基本数据</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endParaRPr kumimoji="1" lang="zh-CN" altLang="en-US" sz="1200" b="1" dirty="0">
                <a:latin typeface="微软雅黑" panose="020B0503020204020204" pitchFamily="34" charset="-122"/>
                <a:ea typeface="微软雅黑" panose="020B0503020204020204" pitchFamily="34" charset="-122"/>
              </a:endParaRP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endParaRPr kumimoji="1" lang="zh-CN" altLang="en-US" sz="1200" b="1">
                <a:latin typeface="微软雅黑" panose="020B0503020204020204" pitchFamily="34" charset="-122"/>
                <a:ea typeface="微软雅黑" panose="020B0503020204020204" pitchFamily="34" charset="-122"/>
              </a:endParaRP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endParaRPr kumimoji="1" lang="zh-CN" altLang="en-US" sz="1200" b="1">
                <a:latin typeface="微软雅黑" panose="020B0503020204020204" pitchFamily="34" charset="-122"/>
                <a:ea typeface="微软雅黑" panose="020B0503020204020204" pitchFamily="34" charset="-122"/>
              </a:endParaRP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53" grpId="0" uiExpand="1" build="p"/>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体系结构</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p:nvPr/>
        </p:nvGrpSpPr>
        <p:grpSpPr bwMode="auto">
          <a:xfrm>
            <a:off x="3163549" y="1819267"/>
            <a:ext cx="357753" cy="747387"/>
            <a:chOff x="4608" y="700"/>
            <a:chExt cx="306" cy="553"/>
          </a:xfrm>
        </p:grpSpPr>
        <p:grpSp>
          <p:nvGrpSpPr>
            <p:cNvPr id="11" name="Group 115"/>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spid="_x0000_s31745" name="Microsoft ClipArt Gallery" r:id="rId2" imgW="53035200" imgH="20888325" progId="">
                  <p:embed/>
                </p:oleObj>
              </mc:Choice>
              <mc:Fallback>
                <p:oleObj name="Microsoft ClipArt Gallery" r:id="rId2" imgW="53035200" imgH="20888325" progId="">
                  <p:embed/>
                  <p:pic>
                    <p:nvPicPr>
                      <p:cNvPr id="0" name="图片 31744"/>
                      <p:cNvPicPr/>
                      <p:nvPr/>
                    </p:nvPicPr>
                    <p:blipFill>
                      <a:blip r:embed="rId3"/>
                      <a:stretch>
                        <a:fillRect/>
                      </a:stretch>
                    </p:blipFill>
                    <p:spPr>
                      <a:xfrm>
                        <a:off x="1262987" y="2611380"/>
                        <a:ext cx="416939" cy="191849"/>
                      </a:xfrm>
                      <a:prstGeom prst="rect">
                        <a:avLst/>
                      </a:prstGeom>
                      <a:noFill/>
                      <a:ln w="12700">
                        <a:noFill/>
                      </a:ln>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endParaRPr kumimoji="1" lang="zh-CN" altLang="en-US" sz="1200" b="1" dirty="0">
              <a:latin typeface="微软雅黑" panose="020B0503020204020204" pitchFamily="34" charset="-122"/>
              <a:ea typeface="微软雅黑" panose="020B0503020204020204" pitchFamily="34" charset="-122"/>
            </a:endParaRP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endParaRPr kumimoji="1" lang="zh-CN" altLang="en-US" sz="1200" b="1" dirty="0">
              <a:latin typeface="微软雅黑" panose="020B0503020204020204" pitchFamily="34" charset="-122"/>
              <a:ea typeface="微软雅黑" panose="020B0503020204020204" pitchFamily="34" charset="-122"/>
            </a:endParaRP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p:nvPr/>
        </p:nvGrpSpPr>
        <p:grpSpPr bwMode="auto">
          <a:xfrm>
            <a:off x="2206034" y="2119399"/>
            <a:ext cx="357753" cy="747388"/>
            <a:chOff x="4608" y="700"/>
            <a:chExt cx="306" cy="553"/>
          </a:xfrm>
        </p:grpSpPr>
        <p:grpSp>
          <p:nvGrpSpPr>
            <p:cNvPr id="58" name="Group 115"/>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p:nvPr/>
        </p:nvGrpSpPr>
        <p:grpSpPr bwMode="auto">
          <a:xfrm>
            <a:off x="2515122" y="1337879"/>
            <a:ext cx="357753" cy="747388"/>
            <a:chOff x="4608" y="700"/>
            <a:chExt cx="306" cy="553"/>
          </a:xfrm>
        </p:grpSpPr>
        <p:grpSp>
          <p:nvGrpSpPr>
            <p:cNvPr id="83" name="Group 115"/>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spid="_x0000_s31746" name="VISIO" r:id="rId4" imgW="3514725" imgH="2009775" progId="">
                    <p:embed/>
                  </p:oleObj>
                </mc:Choice>
                <mc:Fallback>
                  <p:oleObj name="VISIO" r:id="rId4" imgW="3514725" imgH="2009775" progId="">
                    <p:embed/>
                    <p:pic>
                      <p:nvPicPr>
                        <p:cNvPr id="0" name="图片 31745"/>
                        <p:cNvPicPr>
                          <a:picLocks noChangeAspect="1"/>
                        </p:cNvPicPr>
                        <p:nvPr/>
                      </p:nvPicPr>
                      <p:blipFill>
                        <a:blip r:embed="rId5"/>
                        <a:stretch>
                          <a:fillRect/>
                        </a:stretch>
                      </p:blipFill>
                      <p:spPr>
                        <a:xfrm>
                          <a:off x="7236296" y="2033272"/>
                          <a:ext cx="1654150" cy="1035365"/>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MME</a:t>
            </a:r>
            <a:endParaRPr kumimoji="1" lang="zh-CN" altLang="en-US" sz="1200" b="1" dirty="0">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endParaRPr kumimoji="1"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endParaRPr kumimoji="1" lang="zh-CN" altLang="en-US" sz="1200" b="1" dirty="0">
              <a:latin typeface="微软雅黑" panose="020B0503020204020204" pitchFamily="34" charset="-122"/>
              <a:ea typeface="微软雅黑" panose="020B0503020204020204" pitchFamily="34" charset="-122"/>
            </a:endParaRP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endParaRPr kumimoji="1" lang="zh-CN" altLang="en-US" sz="1200" b="1" dirty="0">
              <a:latin typeface="微软雅黑" panose="020B0503020204020204" pitchFamily="34" charset="-122"/>
              <a:ea typeface="微软雅黑" panose="020B0503020204020204" pitchFamily="34" charset="-122"/>
            </a:endParaRP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移动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性管理</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实体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MME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(Mobility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Manegement</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Entity</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信令实体，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负责基站与核心网</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之间、以及</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用户与核心网之间的所有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大的核心网需要有多个</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处理大量的信令交换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必须从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HSS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获得</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用户的有关信息</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endParaRPr kumimoji="1" lang="zh-CN" altLang="en-US" sz="1200" b="1" dirty="0">
                <a:latin typeface="微软雅黑" panose="020B0503020204020204" pitchFamily="34" charset="-122"/>
                <a:ea typeface="微软雅黑" panose="020B0503020204020204" pitchFamily="34" charset="-122"/>
              </a:endParaRP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endParaRPr kumimoji="1" lang="zh-CN" altLang="en-US" sz="1200" b="1">
                <a:latin typeface="微软雅黑" panose="020B0503020204020204" pitchFamily="34" charset="-122"/>
                <a:ea typeface="微软雅黑" panose="020B0503020204020204" pitchFamily="34" charset="-122"/>
              </a:endParaRP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endParaRPr kumimoji="1" lang="zh-CN" altLang="en-US" sz="1200" b="1">
                <a:latin typeface="微软雅黑" panose="020B0503020204020204" pitchFamily="34" charset="-122"/>
                <a:ea typeface="微软雅黑" panose="020B0503020204020204" pitchFamily="34" charset="-122"/>
              </a:endParaRP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53" grpId="0" uiExpand="1" build="p"/>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4256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必须</a:t>
            </a:r>
            <a:r>
              <a:rPr lang="zh-CN" altLang="en-US" sz="2000" b="1" dirty="0">
                <a:latin typeface="微软雅黑" panose="020B0503020204020204" pitchFamily="34" charset="-122"/>
                <a:ea typeface="微软雅黑" panose="020B0503020204020204" pitchFamily="34" charset="-122"/>
              </a:rPr>
              <a:t>向后</a:t>
            </a:r>
            <a:r>
              <a:rPr lang="zh-CN" altLang="en-US" sz="2000" b="1" dirty="0" smtClean="0">
                <a:latin typeface="微软雅黑" panose="020B0503020204020204" pitchFamily="34" charset="-122"/>
                <a:ea typeface="微软雅黑" panose="020B0503020204020204" pitchFamily="34" charset="-122"/>
              </a:rPr>
              <a:t>兼容 </a:t>
            </a:r>
            <a:r>
              <a:rPr lang="en-US" altLang="zh-CN" sz="2000" b="1" dirty="0" smtClean="0">
                <a:latin typeface="微软雅黑" panose="020B0503020204020204" pitchFamily="34" charset="-122"/>
                <a:ea typeface="微软雅黑" panose="020B0503020204020204" pitchFamily="34" charset="-122"/>
              </a:rPr>
              <a:t>3G </a:t>
            </a:r>
            <a:r>
              <a:rPr lang="zh-CN" altLang="en-US" sz="2000" b="1" dirty="0" smtClean="0">
                <a:latin typeface="微软雅黑" panose="020B0503020204020204" pitchFamily="34" charset="-122"/>
                <a:ea typeface="微软雅黑" panose="020B0503020204020204" pitchFamily="34" charset="-122"/>
              </a:rPr>
              <a:t>和 </a:t>
            </a:r>
            <a:r>
              <a:rPr lang="en-US" altLang="zh-CN" sz="2000" b="1" dirty="0" smtClean="0">
                <a:latin typeface="微软雅黑" panose="020B0503020204020204" pitchFamily="34" charset="-122"/>
                <a:ea typeface="微软雅黑" panose="020B0503020204020204" pitchFamily="34" charset="-122"/>
              </a:rPr>
              <a:t>2G</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
        <p:nvSpPr>
          <p:cNvPr id="371" name="Rectangle 46"/>
          <p:cNvSpPr>
            <a:spLocks noChangeArrowheads="1"/>
          </p:cNvSpPr>
          <p:nvPr/>
        </p:nvSpPr>
        <p:spPr bwMode="auto">
          <a:xfrm>
            <a:off x="511895" y="933717"/>
            <a:ext cx="8139815" cy="38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4G/3G/2G</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表示如果 </a:t>
            </a:r>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手机</a:t>
            </a:r>
            <a:r>
              <a:rPr lang="zh-CN" altLang="en-US" sz="2000" b="1" dirty="0">
                <a:latin typeface="微软雅黑" panose="020B0503020204020204" pitchFamily="34" charset="-122"/>
                <a:ea typeface="微软雅黑" panose="020B0503020204020204" pitchFamily="34" charset="-122"/>
              </a:rPr>
              <a:t>所在地还没有</a:t>
            </a:r>
            <a:r>
              <a:rPr lang="zh-CN" altLang="en-US" sz="2000" b="1" dirty="0" smtClean="0">
                <a:latin typeface="微软雅黑" panose="020B0503020204020204" pitchFamily="34" charset="-122"/>
                <a:ea typeface="微软雅黑" panose="020B0503020204020204" pitchFamily="34" charset="-122"/>
              </a:rPr>
              <a:t>被 </a:t>
            </a:r>
            <a:r>
              <a:rPr lang="en-US" altLang="zh-CN" sz="2000" b="1" dirty="0" smtClean="0">
                <a:latin typeface="微软雅黑" panose="020B0503020204020204" pitchFamily="34" charset="-122"/>
                <a:ea typeface="微软雅黑" panose="020B0503020204020204" pitchFamily="34" charset="-122"/>
              </a:rPr>
              <a:t>4G </a:t>
            </a:r>
            <a:r>
              <a:rPr lang="zh-CN" altLang="en-US" sz="2000" b="1" dirty="0" smtClean="0">
                <a:latin typeface="微软雅黑" panose="020B0503020204020204" pitchFamily="34" charset="-122"/>
                <a:ea typeface="微软雅黑" panose="020B0503020204020204" pitchFamily="34" charset="-122"/>
              </a:rPr>
              <a:t>网络</a:t>
            </a:r>
            <a:r>
              <a:rPr lang="zh-CN" altLang="en-US" sz="2000" b="1" dirty="0">
                <a:latin typeface="微软雅黑" panose="020B0503020204020204" pitchFamily="34" charset="-122"/>
                <a:ea typeface="微软雅黑" panose="020B0503020204020204" pitchFamily="34" charset="-122"/>
              </a:rPr>
              <a:t>覆盖，那么该手机还可使用</a:t>
            </a:r>
            <a:r>
              <a:rPr lang="zh-CN" altLang="en-US" sz="2000" b="1" dirty="0" smtClean="0">
                <a:latin typeface="微软雅黑" panose="020B0503020204020204" pitchFamily="34" charset="-122"/>
                <a:ea typeface="微软雅黑" panose="020B0503020204020204" pitchFamily="34" charset="-122"/>
              </a:rPr>
              <a:t>原来 </a:t>
            </a:r>
            <a:r>
              <a:rPr lang="en-US" altLang="zh-CN" sz="2000" b="1" dirty="0" smtClean="0">
                <a:latin typeface="微软雅黑" panose="020B0503020204020204" pitchFamily="34" charset="-122"/>
                <a:ea typeface="微软雅黑" panose="020B0503020204020204" pitchFamily="34" charset="-122"/>
              </a:rPr>
              <a:t>3G/2G </a:t>
            </a:r>
            <a:r>
              <a:rPr lang="zh-CN" altLang="en-US" sz="2000" b="1" dirty="0" smtClean="0">
                <a:latin typeface="微软雅黑" panose="020B0503020204020204" pitchFamily="34" charset="-122"/>
                <a:ea typeface="微软雅黑" panose="020B0503020204020204" pitchFamily="34" charset="-122"/>
              </a:rPr>
              <a:t>网络</a:t>
            </a:r>
            <a:r>
              <a:rPr lang="zh-CN" altLang="en-US" sz="2000" b="1" dirty="0">
                <a:latin typeface="微软雅黑" panose="020B0503020204020204" pitchFamily="34" charset="-122"/>
                <a:ea typeface="微软雅黑" panose="020B0503020204020204" pitchFamily="34" charset="-122"/>
              </a:rPr>
              <a:t>的功能</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最初采用</a:t>
            </a:r>
            <a:r>
              <a:rPr lang="zh-CN" altLang="en-US" sz="2000" b="1" dirty="0" smtClean="0">
                <a:solidFill>
                  <a:srgbClr val="C00000"/>
                </a:solidFill>
                <a:latin typeface="微软雅黑" panose="020B0503020204020204" pitchFamily="34" charset="-122"/>
                <a:ea typeface="微软雅黑" panose="020B0503020204020204" pitchFamily="34" charset="-122"/>
              </a:rPr>
              <a:t>电路交换回落 </a:t>
            </a:r>
            <a:r>
              <a:rPr lang="en-US" altLang="zh-CN" sz="2000" b="1" dirty="0" smtClean="0">
                <a:solidFill>
                  <a:srgbClr val="C00000"/>
                </a:solidFill>
                <a:latin typeface="微软雅黑" panose="020B0503020204020204" pitchFamily="34" charset="-122"/>
                <a:ea typeface="微软雅黑" panose="020B0503020204020204" pitchFamily="34" charset="-122"/>
              </a:rPr>
              <a:t>CSFB </a:t>
            </a:r>
            <a:r>
              <a:rPr lang="en-US" altLang="zh-CN" sz="2000" b="1" dirty="0">
                <a:latin typeface="微软雅黑" panose="020B0503020204020204" pitchFamily="34" charset="-122"/>
                <a:ea typeface="微软雅黑" panose="020B0503020204020204" pitchFamily="34" charset="-122"/>
              </a:rPr>
              <a:t>(Circuit Switched Fallback</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，表示再</a:t>
            </a:r>
            <a:r>
              <a:rPr lang="zh-CN" altLang="en-US" sz="2000" b="1" dirty="0">
                <a:latin typeface="微软雅黑" panose="020B0503020204020204" pitchFamily="34" charset="-122"/>
                <a:ea typeface="微软雅黑" panose="020B0503020204020204" pitchFamily="34" charset="-122"/>
              </a:rPr>
              <a:t>退回</a:t>
            </a:r>
            <a:r>
              <a:rPr lang="zh-CN" altLang="en-US" sz="2000" b="1" dirty="0" smtClean="0">
                <a:latin typeface="微软雅黑" panose="020B0503020204020204" pitchFamily="34" charset="-122"/>
                <a:ea typeface="微软雅黑" panose="020B0503020204020204" pitchFamily="34" charset="-122"/>
              </a:rPr>
              <a:t>到 </a:t>
            </a:r>
            <a:r>
              <a:rPr lang="en-US" altLang="zh-CN" sz="2000" b="1" dirty="0" smtClean="0">
                <a:latin typeface="微软雅黑" panose="020B0503020204020204" pitchFamily="34" charset="-122"/>
                <a:ea typeface="微软雅黑" panose="020B0503020204020204" pitchFamily="34" charset="-122"/>
              </a:rPr>
              <a:t>3G/2G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电路交换的网络来处理电话通信业务</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2012 </a:t>
            </a:r>
            <a:r>
              <a:rPr lang="zh-CN" altLang="en-US" sz="2000" b="1" dirty="0" smtClean="0">
                <a:latin typeface="微软雅黑" panose="020B0503020204020204" pitchFamily="34" charset="-122"/>
                <a:ea typeface="微软雅黑" panose="020B0503020204020204" pitchFamily="34" charset="-122"/>
              </a:rPr>
              <a:t>年</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基于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err="1" smtClean="0">
                <a:solidFill>
                  <a:srgbClr val="C00000"/>
                </a:solidFill>
                <a:latin typeface="微软雅黑" panose="020B0503020204020204" pitchFamily="34" charset="-122"/>
                <a:ea typeface="微软雅黑" panose="020B0503020204020204" pitchFamily="34" charset="-122"/>
              </a:rPr>
              <a:t>VoLTE</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(Voice over LTE</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问世。</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能够提供高质量的电话</a:t>
            </a:r>
            <a:r>
              <a:rPr lang="zh-CN" altLang="en-US" b="1" dirty="0" smtClean="0">
                <a:latin typeface="微软雅黑" panose="020B0503020204020204" pitchFamily="34" charset="-122"/>
                <a:ea typeface="微软雅黑" panose="020B0503020204020204" pitchFamily="34" charset="-122"/>
              </a:rPr>
              <a:t>通信</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rPr>
              <a:t>但要</a:t>
            </a:r>
            <a:r>
              <a:rPr lang="zh-CN" altLang="en-US" b="1" dirty="0">
                <a:latin typeface="微软雅黑" panose="020B0503020204020204" pitchFamily="34" charset="-122"/>
                <a:ea typeface="微软雅黑" panose="020B0503020204020204" pitchFamily="34" charset="-122"/>
              </a:rPr>
              <a:t>靠与 </a:t>
            </a:r>
            <a:r>
              <a:rPr lang="en-US" altLang="zh-CN" b="1" dirty="0">
                <a:latin typeface="微软雅黑" panose="020B0503020204020204" pitchFamily="34" charset="-122"/>
                <a:ea typeface="微软雅黑" panose="020B0503020204020204" pitchFamily="34" charset="-122"/>
              </a:rPr>
              <a:t>P-GW </a:t>
            </a:r>
            <a:r>
              <a:rPr lang="zh-CN" altLang="en-US" b="1" dirty="0">
                <a:latin typeface="微软雅黑" panose="020B0503020204020204" pitchFamily="34" charset="-122"/>
                <a:ea typeface="微软雅黑" panose="020B0503020204020204" pitchFamily="34" charset="-122"/>
              </a:rPr>
              <a:t>相连的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多媒体子系统 </a:t>
            </a:r>
            <a:r>
              <a:rPr lang="en-US" altLang="zh-CN" b="1" dirty="0">
                <a:latin typeface="微软雅黑" panose="020B0503020204020204" pitchFamily="34" charset="-122"/>
                <a:ea typeface="微软雅黑" panose="020B0503020204020204" pitchFamily="34" charset="-122"/>
              </a:rPr>
              <a:t>IMS (IP </a:t>
            </a:r>
            <a:r>
              <a:rPr lang="en-US" altLang="zh-CN" b="1" dirty="0" err="1">
                <a:latin typeface="微软雅黑" panose="020B0503020204020204" pitchFamily="34" charset="-122"/>
                <a:ea typeface="微软雅黑" panose="020B0503020204020204" pitchFamily="34" charset="-122"/>
              </a:rPr>
              <a:t>Multimeda</a:t>
            </a:r>
            <a:r>
              <a:rPr lang="en-US" altLang="zh-CN" b="1" dirty="0">
                <a:latin typeface="微软雅黑" panose="020B0503020204020204" pitchFamily="34" charset="-122"/>
                <a:ea typeface="微软雅黑" panose="020B0503020204020204" pitchFamily="34" charset="-122"/>
              </a:rPr>
              <a:t> Subsystem)</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anose="020B0503020204020204" pitchFamily="34" charset="-122"/>
                <a:ea typeface="微软雅黑" panose="020B0503020204020204" pitchFamily="34" charset="-122"/>
              </a:rPr>
              <a:t>IMS </a:t>
            </a:r>
            <a:r>
              <a:rPr lang="zh-CN" altLang="en-US" b="1" dirty="0">
                <a:solidFill>
                  <a:srgbClr val="C00000"/>
                </a:solidFill>
                <a:latin typeface="微软雅黑" panose="020B0503020204020204" pitchFamily="34" charset="-122"/>
                <a:ea typeface="微软雅黑" panose="020B0503020204020204" pitchFamily="34" charset="-122"/>
              </a:rPr>
              <a:t>不属于 </a:t>
            </a:r>
            <a:r>
              <a:rPr lang="en-US" altLang="zh-CN" b="1" dirty="0">
                <a:solidFill>
                  <a:srgbClr val="C00000"/>
                </a:solidFill>
                <a:latin typeface="微软雅黑" panose="020B0503020204020204" pitchFamily="34" charset="-122"/>
                <a:ea typeface="微软雅黑" panose="020B0503020204020204" pitchFamily="34" charset="-122"/>
              </a:rPr>
              <a:t>LTE</a:t>
            </a:r>
            <a:r>
              <a:rPr lang="zh-CN" altLang="en-US" b="1" dirty="0">
                <a:solidFill>
                  <a:srgbClr val="C00000"/>
                </a:solidFill>
                <a:latin typeface="微软雅黑" panose="020B0503020204020204" pitchFamily="34" charset="-122"/>
                <a:ea typeface="微软雅黑" panose="020B0503020204020204" pitchFamily="34" charset="-122"/>
              </a:rPr>
              <a:t>，而是属于 </a:t>
            </a:r>
            <a:r>
              <a:rPr lang="en-US" altLang="zh-CN" b="1" dirty="0">
                <a:solidFill>
                  <a:srgbClr val="C00000"/>
                </a:solidFill>
                <a:latin typeface="微软雅黑" panose="020B0503020204020204" pitchFamily="34" charset="-122"/>
                <a:ea typeface="微软雅黑" panose="020B0503020204020204" pitchFamily="34" charset="-122"/>
              </a:rPr>
              <a:t>IP </a:t>
            </a:r>
            <a:r>
              <a:rPr lang="zh-CN" altLang="en-US" b="1" dirty="0">
                <a:solidFill>
                  <a:srgbClr val="C00000"/>
                </a:solidFill>
                <a:latin typeface="微软雅黑" panose="020B0503020204020204" pitchFamily="34" charset="-122"/>
                <a:ea typeface="微软雅黑" panose="020B0503020204020204" pitchFamily="34" charset="-122"/>
              </a:rPr>
              <a:t>服务的范围</a:t>
            </a:r>
            <a:r>
              <a:rPr lang="zh-CN" altLang="en-US" b="1" dirty="0">
                <a:latin typeface="微软雅黑" panose="020B0503020204020204" pitchFamily="34" charset="-122"/>
                <a:ea typeface="微软雅黑" panose="020B0503020204020204" pitchFamily="34" charset="-122"/>
              </a:rPr>
              <a:t>，是 </a:t>
            </a:r>
            <a:r>
              <a:rPr lang="en-US" altLang="zh-CN" b="1" dirty="0">
                <a:latin typeface="微软雅黑" panose="020B0503020204020204" pitchFamily="34" charset="-122"/>
                <a:ea typeface="微软雅黑" panose="020B0503020204020204" pitchFamily="34" charset="-122"/>
              </a:rPr>
              <a:t>LTE </a:t>
            </a:r>
            <a:r>
              <a:rPr lang="zh-CN" altLang="en-US" b="1" dirty="0">
                <a:latin typeface="微软雅黑" panose="020B0503020204020204" pitchFamily="34" charset="-122"/>
                <a:ea typeface="微软雅黑" panose="020B0503020204020204" pitchFamily="34" charset="-122"/>
              </a:rPr>
              <a:t>之外的另一个分组交换的网络系统。</a:t>
            </a:r>
            <a:endParaRPr lang="en-US" altLang="zh-CN"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9.3.2  </a:t>
            </a:r>
            <a:r>
              <a:rPr lang="en-US" altLang="zh-CN" sz="2400" b="1" dirty="0" smtClean="0">
                <a:solidFill>
                  <a:schemeClr val="bg1"/>
                </a:solidFill>
                <a:latin typeface="微软雅黑" panose="020B0503020204020204" pitchFamily="34" charset="-122"/>
                <a:ea typeface="微软雅黑" panose="020B0503020204020204" pitchFamily="34" charset="-122"/>
              </a:rPr>
              <a:t>LTE </a:t>
            </a:r>
            <a:r>
              <a:rPr lang="zh-CN" altLang="en-US" sz="2400" b="1" dirty="0" smtClean="0">
                <a:solidFill>
                  <a:schemeClr val="bg1"/>
                </a:solidFill>
                <a:latin typeface="微软雅黑" panose="020B0503020204020204" pitchFamily="34" charset="-122"/>
                <a:ea typeface="微软雅黑" panose="020B0503020204020204" pitchFamily="34" charset="-122"/>
              </a:rPr>
              <a:t>网络</a:t>
            </a:r>
            <a:r>
              <a:rPr lang="zh-CN" altLang="en-US" sz="2400" b="1" dirty="0">
                <a:solidFill>
                  <a:schemeClr val="bg1"/>
                </a:solidFill>
                <a:latin typeface="微软雅黑" panose="020B0503020204020204" pitchFamily="34" charset="-122"/>
                <a:ea typeface="微软雅黑" panose="020B0503020204020204" pitchFamily="34" charset="-122"/>
              </a:rPr>
              <a:t>与互联网的连接</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131085"/>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当用户</a:t>
            </a:r>
            <a:r>
              <a:rPr lang="zh-CN" altLang="en-US" sz="2000" b="1" dirty="0" smtClean="0">
                <a:latin typeface="微软雅黑" panose="020B0503020204020204" pitchFamily="34" charset="-122"/>
                <a:ea typeface="微软雅黑" panose="020B0503020204020204" pitchFamily="34" charset="-122"/>
              </a:rPr>
              <a:t>设备 </a:t>
            </a:r>
            <a:r>
              <a:rPr lang="en-US" altLang="zh-CN" sz="2000" b="1" dirty="0" smtClean="0">
                <a:latin typeface="微软雅黑" panose="020B0503020204020204" pitchFamily="34" charset="-122"/>
                <a:ea typeface="微软雅黑" panose="020B0503020204020204" pitchFamily="34" charset="-122"/>
              </a:rPr>
              <a:t>UE</a:t>
            </a:r>
            <a:r>
              <a:rPr lang="zh-CN" altLang="en-US" sz="2000" b="1" dirty="0">
                <a:latin typeface="微软雅黑" panose="020B0503020204020204" pitchFamily="34" charset="-122"/>
                <a:ea typeface="微软雅黑" panose="020B0503020204020204" pitchFamily="34" charset="-122"/>
              </a:rPr>
              <a:t>（如手机）开机后，就</a:t>
            </a:r>
            <a:r>
              <a:rPr lang="zh-CN" altLang="en-US" sz="2000" b="1" dirty="0">
                <a:solidFill>
                  <a:srgbClr val="C00000"/>
                </a:solidFill>
                <a:latin typeface="微软雅黑" panose="020B0503020204020204" pitchFamily="34" charset="-122"/>
                <a:ea typeface="微软雅黑" panose="020B0503020204020204" pitchFamily="34" charset="-122"/>
              </a:rPr>
              <a:t>登记</a:t>
            </a:r>
            <a:r>
              <a:rPr lang="zh-CN" altLang="en-US" sz="2000" b="1" dirty="0" smtClean="0">
                <a:latin typeface="微软雅黑" panose="020B0503020204020204" pitchFamily="34" charset="-122"/>
                <a:ea typeface="微软雅黑" panose="020B0503020204020204" pitchFamily="34" charset="-122"/>
              </a:rPr>
              <a:t>到 </a:t>
            </a:r>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网络</a:t>
            </a:r>
            <a:r>
              <a:rPr lang="zh-CN" altLang="en-US" sz="2000" b="1" dirty="0">
                <a:latin typeface="微软雅黑" panose="020B0503020204020204" pitchFamily="34" charset="-122"/>
                <a:ea typeface="微软雅黑" panose="020B0503020204020204" pitchFamily="34" charset="-122"/>
              </a:rPr>
              <a:t>，以便使用网络</a:t>
            </a:r>
            <a:r>
              <a:rPr lang="zh-CN" altLang="en-US" sz="2000" b="1" dirty="0" smtClean="0">
                <a:latin typeface="微软雅黑" panose="020B0503020204020204" pitchFamily="34" charset="-122"/>
                <a:ea typeface="微软雅黑" panose="020B0503020204020204" pitchFamily="34" charset="-122"/>
              </a:rPr>
              <a:t>资源传送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数据</a:t>
            </a:r>
            <a:r>
              <a:rPr lang="zh-CN" altLang="en-US" sz="2000" b="1" dirty="0">
                <a:latin typeface="微软雅黑" panose="020B0503020204020204" pitchFamily="34" charset="-122"/>
                <a:ea typeface="微软雅黑" panose="020B0503020204020204" pitchFamily="34" charset="-122"/>
              </a:rPr>
              <a:t>业务</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网络</a:t>
            </a:r>
            <a:r>
              <a:rPr lang="zh-CN" altLang="en-US" sz="2000" b="1" dirty="0">
                <a:latin typeface="微软雅黑" panose="020B0503020204020204" pitchFamily="34" charset="-122"/>
                <a:ea typeface="微软雅黑" panose="020B0503020204020204" pitchFamily="34" charset="-122"/>
              </a:rPr>
              <a:t>内的数据路径由</a:t>
            </a:r>
            <a:r>
              <a:rPr lang="zh-CN" altLang="en-US" sz="2000" b="1" dirty="0">
                <a:solidFill>
                  <a:srgbClr val="C00000"/>
                </a:solidFill>
                <a:latin typeface="微软雅黑" panose="020B0503020204020204" pitchFamily="34" charset="-122"/>
                <a:ea typeface="微软雅黑" panose="020B0503020204020204" pitchFamily="34" charset="-122"/>
              </a:rPr>
              <a:t>两大部分组</a:t>
            </a:r>
            <a:r>
              <a:rPr lang="zh-CN" altLang="en-US" sz="2000" b="1" dirty="0" smtClean="0">
                <a:solidFill>
                  <a:srgbClr val="C00000"/>
                </a:solidFill>
                <a:latin typeface="微软雅黑" panose="020B0503020204020204" pitchFamily="34" charset="-122"/>
                <a:ea typeface="微软雅黑" panose="020B0503020204020204" pitchFamily="34" charset="-122"/>
              </a:rPr>
              <a:t>成：</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空口无线链路（</a:t>
            </a:r>
            <a:r>
              <a:rPr lang="en-US" altLang="zh-CN" sz="2000" b="1" dirty="0" err="1">
                <a:latin typeface="微软雅黑" panose="020B0503020204020204" pitchFamily="34" charset="-122"/>
                <a:ea typeface="微软雅黑" panose="020B0503020204020204" pitchFamily="34" charset="-122"/>
              </a:rPr>
              <a:t>UE→eNB</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核心网中的隧道（</a:t>
            </a:r>
            <a:r>
              <a:rPr lang="en-US" altLang="zh-CN" sz="2000" b="1" dirty="0" err="1">
                <a:latin typeface="微软雅黑" panose="020B0503020204020204" pitchFamily="34" charset="-122"/>
                <a:ea typeface="微软雅黑" panose="020B0503020204020204" pitchFamily="34" charset="-122"/>
              </a:rPr>
              <a:t>eNB→S-GW→P-GW</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LTE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协议栈（用户层面）</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endParaRPr kumimoji="1" lang="zh-CN" altLang="en-US" sz="1200" b="1" dirty="0">
                <a:latin typeface="微软雅黑" panose="020B0503020204020204" pitchFamily="34" charset="-122"/>
                <a:ea typeface="微软雅黑" panose="020B0503020204020204" pitchFamily="34" charset="-122"/>
              </a:endParaRP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endParaRPr kumimoji="1" lang="zh-CN" altLang="en-US" sz="1200" b="1" dirty="0">
                <a:latin typeface="微软雅黑" panose="020B0503020204020204" pitchFamily="34" charset="-122"/>
                <a:ea typeface="微软雅黑" panose="020B0503020204020204" pitchFamily="34" charset="-122"/>
              </a:endParaRP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endParaRPr kumimoji="1" lang="zh-CN" altLang="en-US" sz="1200" b="1" dirty="0">
                <a:latin typeface="微软雅黑" panose="020B0503020204020204" pitchFamily="34" charset="-122"/>
                <a:ea typeface="微软雅黑" panose="020B0503020204020204" pitchFamily="34" charset="-122"/>
              </a:endParaRP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endParaRPr kumimoji="1" lang="zh-CN" altLang="en-US" sz="1200" b="1">
                <a:latin typeface="微软雅黑" panose="020B0503020204020204" pitchFamily="34" charset="-122"/>
                <a:ea typeface="微软雅黑" panose="020B0503020204020204" pitchFamily="34" charset="-122"/>
              </a:endParaRP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GTP-U</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 (GPRS Tunneling Protocol)</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，用户层面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(User plane)</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GTP</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分组数据汇聚</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协议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PDCP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(Packet Data Convergence Protocol</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支持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分组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在无线链路更加有效的传输，包括</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对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首部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进行压缩</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解压缩。</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LTE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协议栈（用户层面）</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endParaRPr kumimoji="1" lang="zh-CN" altLang="en-US" sz="1200" b="1" dirty="0">
                <a:latin typeface="微软雅黑" panose="020B0503020204020204" pitchFamily="34" charset="-122"/>
                <a:ea typeface="微软雅黑" panose="020B0503020204020204" pitchFamily="34" charset="-122"/>
              </a:endParaRP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endParaRPr kumimoji="1" lang="zh-CN" altLang="en-US" sz="1200" b="1" dirty="0">
                <a:latin typeface="微软雅黑" panose="020B0503020204020204" pitchFamily="34" charset="-122"/>
                <a:ea typeface="微软雅黑" panose="020B0503020204020204" pitchFamily="34" charset="-122"/>
              </a:endParaRP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endParaRPr kumimoji="1" lang="zh-CN" altLang="en-US" sz="1200" b="1" dirty="0">
                <a:latin typeface="微软雅黑" panose="020B0503020204020204" pitchFamily="34" charset="-122"/>
                <a:ea typeface="微软雅黑" panose="020B0503020204020204" pitchFamily="34" charset="-122"/>
              </a:endParaRP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endParaRPr kumimoji="1" lang="zh-CN" altLang="en-US" sz="1200" b="1">
                <a:latin typeface="微软雅黑" panose="020B0503020204020204" pitchFamily="34" charset="-122"/>
                <a:ea typeface="微软雅黑" panose="020B0503020204020204" pitchFamily="34" charset="-122"/>
              </a:endParaRP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861774"/>
          </a:xfrm>
          <a:prstGeom prst="rect">
            <a:avLst/>
          </a:prstGeom>
        </p:spPr>
        <p:txBody>
          <a:bodyPr wrap="square">
            <a:spAutoFit/>
          </a:bodyPr>
          <a:lstStyle/>
          <a:p>
            <a:pPr>
              <a:lnSpc>
                <a:spcPts val="20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无线链路控制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RLC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(Radio Link Control</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提供三种不同可靠性等级的运行方式</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。还</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具有分组重新排序、重复数据</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检测、以及</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使用差错检测</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协议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ARQ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进行</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数据重传的功能。</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LTE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协议栈（用户层面）</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endParaRPr kumimoji="1" lang="zh-CN" altLang="en-US" sz="1200" b="1" dirty="0">
                <a:latin typeface="微软雅黑" panose="020B0503020204020204" pitchFamily="34" charset="-122"/>
                <a:ea typeface="微软雅黑" panose="020B0503020204020204" pitchFamily="34" charset="-122"/>
              </a:endParaRP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endParaRPr kumimoji="1" lang="zh-CN" altLang="en-US" sz="1200" b="1" dirty="0">
                <a:latin typeface="微软雅黑" panose="020B0503020204020204" pitchFamily="34" charset="-122"/>
                <a:ea typeface="微软雅黑" panose="020B0503020204020204" pitchFamily="34" charset="-122"/>
              </a:endParaRP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endParaRPr kumimoji="1" lang="zh-CN" altLang="en-US" sz="1200" b="1" dirty="0">
                <a:latin typeface="微软雅黑" panose="020B0503020204020204" pitchFamily="34" charset="-122"/>
                <a:ea typeface="微软雅黑" panose="020B0503020204020204" pitchFamily="34" charset="-122"/>
              </a:endParaRP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endParaRPr kumimoji="1" lang="zh-CN" altLang="en-US" sz="1200" b="1">
                <a:latin typeface="微软雅黑" panose="020B0503020204020204" pitchFamily="34" charset="-122"/>
                <a:ea typeface="微软雅黑" panose="020B0503020204020204" pitchFamily="34" charset="-122"/>
              </a:endParaRP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媒体接入控制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完成</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复用和分用的功能。在无线信道质量较差的环境下</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，采用</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混合自动重传</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请求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HARQ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(Hybrid ARQ</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协议</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，可以有效地减少重传</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次数。</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此外</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，还按照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调度程序</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的安排，把无线资源</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动态分配</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，从而保证了服务</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质量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QoS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LTE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协议栈（用户层面）</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en-US" altLang="zh-CN" sz="1200" b="1">
                <a:latin typeface="微软雅黑" panose="020B0503020204020204" pitchFamily="34" charset="-122"/>
                <a:ea typeface="微软雅黑" panose="020B0503020204020204" pitchFamily="34" charset="-122"/>
              </a:endParaRP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endParaRPr kumimoji="1" lang="zh-CN" altLang="en-US" sz="1200" b="1" dirty="0">
                <a:latin typeface="微软雅黑" panose="020B0503020204020204" pitchFamily="34" charset="-122"/>
                <a:ea typeface="微软雅黑" panose="020B0503020204020204" pitchFamily="34" charset="-122"/>
              </a:endParaRP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endParaRPr kumimoji="1" lang="zh-CN" altLang="en-US" sz="1200" b="1" dirty="0">
                <a:latin typeface="微软雅黑" panose="020B0503020204020204" pitchFamily="34" charset="-122"/>
                <a:ea typeface="微软雅黑" panose="020B0503020204020204" pitchFamily="34" charset="-122"/>
              </a:endParaRP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endParaRPr kumimoji="1" lang="zh-CN" altLang="en-US" sz="1200" b="1" dirty="0">
                <a:latin typeface="微软雅黑" panose="020B0503020204020204" pitchFamily="34" charset="-122"/>
                <a:ea typeface="微软雅黑" panose="020B0503020204020204" pitchFamily="34" charset="-122"/>
              </a:endParaRP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endParaRPr kumimoji="1" lang="zh-CN" altLang="en-US" sz="1200" b="1">
                <a:latin typeface="微软雅黑" panose="020B0503020204020204" pitchFamily="34" charset="-122"/>
                <a:ea typeface="微软雅黑" panose="020B0503020204020204" pitchFamily="34" charset="-122"/>
              </a:endParaRP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885902" y="3595892"/>
            <a:ext cx="7662407" cy="1118255"/>
          </a:xfrm>
          <a:prstGeom prst="rect">
            <a:avLst/>
          </a:prstGeom>
        </p:spPr>
        <p:txBody>
          <a:bodyPr wrap="square">
            <a:spAutoFit/>
          </a:bodyPr>
          <a:lstStyle/>
          <a:p>
            <a:pPr>
              <a:lnSpc>
                <a:spcPts val="2000"/>
              </a:lnSpc>
            </a:pPr>
            <a:r>
              <a:rPr lang="zh-CN" altLang="en-US" sz="14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物理层 </a:t>
            </a:r>
            <a:r>
              <a:rPr lang="en-US" altLang="zh-CN" sz="14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PHY</a:t>
            </a:r>
            <a:r>
              <a:rPr lang="zh-CN" altLang="en-US" sz="14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发送时对 </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子层传来</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的数据进行编码和调制，把比特插入到每一帧中适当的时隙</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中发送</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出去</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。接收时进行</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解调和解码，把收到的比特上传</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子层。采用</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一种</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自适应调制</a:t>
            </a:r>
            <a:r>
              <a:rPr lang="zh-CN" altLang="en-US"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编码 </a:t>
            </a:r>
            <a:r>
              <a:rPr lang="en-US" altLang="zh-CN"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AMC</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(Adaptive Modulation and Coding</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技术</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。基</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站 </a:t>
            </a:r>
            <a:r>
              <a:rPr lang="en-US" altLang="zh-CN" sz="14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根据</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用户终端反馈的信道</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状况，</a:t>
            </a:r>
            <a:r>
              <a:rPr lang="zh-CN" altLang="en-US"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调整</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物理层采用的调制方式（</a:t>
            </a:r>
            <a:r>
              <a:rPr lang="en-US" altLang="zh-CN"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QPSK</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16 QAM</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64 QAM</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）和编码速率</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释放</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UE </a:t>
            </a:r>
            <a:r>
              <a:rPr lang="zh-CN" altLang="en-US" sz="2000" b="1" dirty="0">
                <a:latin typeface="微软雅黑" panose="020B0503020204020204" pitchFamily="34" charset="-122"/>
                <a:ea typeface="微软雅黑" panose="020B0503020204020204" pitchFamily="34" charset="-122"/>
              </a:rPr>
              <a:t>和 </a:t>
            </a:r>
            <a:r>
              <a:rPr lang="en-US" altLang="zh-CN" sz="2000" b="1" dirty="0" err="1">
                <a:latin typeface="微软雅黑" panose="020B0503020204020204" pitchFamily="34" charset="-122"/>
                <a:ea typeface="微软雅黑" panose="020B0503020204020204" pitchFamily="34" charset="-122"/>
              </a:rPr>
              <a:t>eNB</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之间的</a:t>
            </a:r>
            <a:r>
              <a:rPr lang="zh-CN" altLang="en-US" sz="2000" b="1" dirty="0">
                <a:solidFill>
                  <a:srgbClr val="0000CC"/>
                </a:solidFill>
                <a:latin typeface="微软雅黑" panose="020B0503020204020204" pitchFamily="34" charset="-122"/>
                <a:ea typeface="微软雅黑" panose="020B0503020204020204" pitchFamily="34" charset="-122"/>
              </a:rPr>
              <a:t>空口链路；</a:t>
            </a:r>
            <a:endParaRPr lang="en-US" altLang="zh-CN" sz="2000" b="1" dirty="0">
              <a:solidFill>
                <a:srgbClr val="0000CC"/>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err="1" smtClean="0">
                <a:latin typeface="微软雅黑" panose="020B0503020204020204" pitchFamily="34" charset="-122"/>
                <a:ea typeface="微软雅黑" panose="020B0503020204020204" pitchFamily="34" charset="-122"/>
              </a:rPr>
              <a:t>eNB</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S-GW </a:t>
            </a:r>
            <a:r>
              <a:rPr lang="zh-CN" altLang="en-US" sz="2000" b="1" dirty="0">
                <a:latin typeface="微软雅黑" panose="020B0503020204020204" pitchFamily="34" charset="-122"/>
                <a:ea typeface="微软雅黑" panose="020B0503020204020204" pitchFamily="34" charset="-122"/>
              </a:rPr>
              <a:t>之间的 </a:t>
            </a:r>
            <a:r>
              <a:rPr lang="en-US" altLang="zh-CN" sz="2000" b="1" dirty="0">
                <a:latin typeface="微软雅黑" panose="020B0503020204020204" pitchFamily="34" charset="-122"/>
                <a:ea typeface="微软雅黑" panose="020B0503020204020204" pitchFamily="34" charset="-122"/>
              </a:rPr>
              <a:t>GTP-U </a:t>
            </a:r>
            <a:r>
              <a:rPr lang="zh-CN" altLang="en-US" sz="2000" b="1" dirty="0">
                <a:solidFill>
                  <a:srgbClr val="0000CC"/>
                </a:solidFill>
                <a:latin typeface="微软雅黑" panose="020B0503020204020204" pitchFamily="34" charset="-122"/>
                <a:ea typeface="微软雅黑" panose="020B0503020204020204" pitchFamily="34" charset="-122"/>
              </a:rPr>
              <a:t>隧道。</a:t>
            </a:r>
            <a:endParaRPr lang="en-US" altLang="zh-CN" sz="2000" b="1" dirty="0">
              <a:solidFill>
                <a:srgbClr val="0000CC"/>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UE </a:t>
            </a:r>
            <a:r>
              <a:rPr lang="zh-CN" altLang="en-US" sz="2000" b="1" dirty="0">
                <a:latin typeface="微软雅黑" panose="020B0503020204020204" pitchFamily="34" charset="-122"/>
                <a:ea typeface="微软雅黑" panose="020B0503020204020204" pitchFamily="34" charset="-122"/>
              </a:rPr>
              <a:t>空口进入</a:t>
            </a:r>
            <a:r>
              <a:rPr lang="zh-CN" altLang="en-US" sz="2000" b="1" dirty="0">
                <a:solidFill>
                  <a:srgbClr val="0000CC"/>
                </a:solidFill>
                <a:latin typeface="微软雅黑" panose="020B0503020204020204" pitchFamily="34" charset="-122"/>
                <a:ea typeface="微软雅黑" panose="020B0503020204020204" pitchFamily="34" charset="-122"/>
              </a:rPr>
              <a:t>空闲状态。</a:t>
            </a:r>
            <a:endParaRPr lang="en-US" altLang="zh-CN" sz="2000" b="1" dirty="0">
              <a:solidFill>
                <a:srgbClr val="0000CC"/>
              </a:solidFill>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保持：</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S-GW </a:t>
            </a:r>
            <a:r>
              <a:rPr lang="zh-CN" altLang="en-US" sz="2000" b="1" dirty="0">
                <a:latin typeface="微软雅黑" panose="020B0503020204020204" pitchFamily="34" charset="-122"/>
                <a:ea typeface="微软雅黑" panose="020B0503020204020204" pitchFamily="34" charset="-122"/>
              </a:rPr>
              <a:t>与 </a:t>
            </a:r>
            <a:r>
              <a:rPr lang="en-US" altLang="zh-CN" sz="2000" b="1" dirty="0">
                <a:latin typeface="微软雅黑" panose="020B0503020204020204" pitchFamily="34" charset="-122"/>
                <a:ea typeface="微软雅黑" panose="020B0503020204020204" pitchFamily="34" charset="-122"/>
              </a:rPr>
              <a:t>P-GW </a:t>
            </a:r>
            <a:r>
              <a:rPr lang="zh-CN" altLang="en-US" sz="2000" b="1" dirty="0">
                <a:latin typeface="微软雅黑" panose="020B0503020204020204" pitchFamily="34" charset="-122"/>
                <a:ea typeface="微软雅黑" panose="020B0503020204020204" pitchFamily="34" charset="-122"/>
              </a:rPr>
              <a:t>之间的 </a:t>
            </a:r>
            <a:r>
              <a:rPr lang="en-US" altLang="zh-CN" sz="2000" b="1" dirty="0">
                <a:latin typeface="微软雅黑" panose="020B0503020204020204" pitchFamily="34" charset="-122"/>
                <a:ea typeface="微软雅黑" panose="020B0503020204020204" pitchFamily="34" charset="-122"/>
              </a:rPr>
              <a:t>GTP-U </a:t>
            </a:r>
            <a:r>
              <a:rPr lang="zh-CN" altLang="en-US" sz="2000" b="1" dirty="0">
                <a:solidFill>
                  <a:srgbClr val="0000CC"/>
                </a:solidFill>
                <a:latin typeface="微软雅黑" panose="020B0503020204020204" pitchFamily="34" charset="-122"/>
                <a:ea typeface="微软雅黑" panose="020B0503020204020204" pitchFamily="34" charset="-122"/>
              </a:rPr>
              <a:t>隧道；</a:t>
            </a:r>
            <a:endParaRPr lang="en-US" altLang="zh-CN" sz="2000" b="1" dirty="0">
              <a:solidFill>
                <a:srgbClr val="0000CC"/>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UE </a:t>
            </a:r>
            <a:r>
              <a:rPr lang="zh-CN" altLang="en-US" sz="2000" b="1" dirty="0">
                <a:latin typeface="微软雅黑" panose="020B0503020204020204" pitchFamily="34" charset="-122"/>
                <a:ea typeface="微软雅黑" panose="020B0503020204020204" pitchFamily="34" charset="-122"/>
              </a:rPr>
              <a:t>的 </a:t>
            </a:r>
            <a:r>
              <a:rPr lang="en-US" altLang="zh-CN" sz="2000" b="1" dirty="0">
                <a:solidFill>
                  <a:srgbClr val="0000CC"/>
                </a:solidFill>
                <a:latin typeface="微软雅黑" panose="020B0503020204020204" pitchFamily="34" charset="-122"/>
                <a:ea typeface="微软雅黑" panose="020B0503020204020204" pitchFamily="34" charset="-122"/>
              </a:rPr>
              <a:t>IP </a:t>
            </a:r>
            <a:r>
              <a:rPr lang="zh-CN" altLang="en-US" sz="2000" b="1" dirty="0">
                <a:solidFill>
                  <a:srgbClr val="0000CC"/>
                </a:solidFill>
                <a:latin typeface="微软雅黑" panose="020B0503020204020204" pitchFamily="34" charset="-122"/>
                <a:ea typeface="微软雅黑" panose="020B0503020204020204" pitchFamily="34" charset="-122"/>
              </a:rPr>
              <a:t>地址。</a:t>
            </a:r>
            <a:r>
              <a:rPr lang="zh-CN" altLang="en-US" sz="2000" b="1" dirty="0">
                <a:latin typeface="微软雅黑" panose="020B0503020204020204" pitchFamily="34" charset="-122"/>
                <a:ea typeface="微软雅黑" panose="020B0503020204020204" pitchFamily="34" charset="-122"/>
              </a:rPr>
              <a:t>只要 </a:t>
            </a:r>
            <a:r>
              <a:rPr lang="en-US" altLang="zh-CN" sz="2000" b="1" dirty="0">
                <a:latin typeface="微软雅黑" panose="020B0503020204020204" pitchFamily="34" charset="-122"/>
                <a:ea typeface="微软雅黑" panose="020B0503020204020204" pitchFamily="34" charset="-122"/>
              </a:rPr>
              <a:t>UE </a:t>
            </a:r>
            <a:r>
              <a:rPr lang="zh-CN" altLang="en-US" sz="2000" b="1" dirty="0">
                <a:latin typeface="微软雅黑" panose="020B0503020204020204" pitchFamily="34" charset="-122"/>
                <a:ea typeface="微软雅黑" panose="020B0503020204020204" pitchFamily="34" charset="-122"/>
              </a:rPr>
              <a:t>移动时不超过 </a:t>
            </a:r>
            <a:r>
              <a:rPr lang="en-US" altLang="zh-CN" sz="2000" b="1" dirty="0">
                <a:latin typeface="微软雅黑" panose="020B0503020204020204" pitchFamily="34" charset="-122"/>
                <a:ea typeface="微软雅黑" panose="020B0503020204020204" pitchFamily="34" charset="-122"/>
              </a:rPr>
              <a:t>P-GW </a:t>
            </a:r>
            <a:r>
              <a:rPr lang="zh-CN" altLang="en-US" sz="2000" b="1" dirty="0">
                <a:latin typeface="微软雅黑" panose="020B0503020204020204" pitchFamily="34" charset="-122"/>
                <a:ea typeface="微软雅黑" panose="020B0503020204020204" pitchFamily="34" charset="-122"/>
              </a:rPr>
              <a:t>的覆盖范围，</a:t>
            </a:r>
            <a:r>
              <a:rPr lang="en-US" altLang="zh-CN" sz="2000" b="1" dirty="0">
                <a:latin typeface="微软雅黑" panose="020B0503020204020204" pitchFamily="34" charset="-122"/>
                <a:ea typeface="微软雅黑" panose="020B0503020204020204" pitchFamily="34" charset="-122"/>
              </a:rPr>
              <a:t>P-GW </a:t>
            </a:r>
            <a:r>
              <a:rPr lang="zh-CN" altLang="en-US" sz="2000" b="1" dirty="0">
                <a:latin typeface="微软雅黑" panose="020B0503020204020204" pitchFamily="34" charset="-122"/>
                <a:ea typeface="微软雅黑" panose="020B0503020204020204" pitchFamily="34" charset="-122"/>
              </a:rPr>
              <a:t>分配给 </a:t>
            </a:r>
            <a:r>
              <a:rPr lang="en-US" altLang="zh-CN" sz="2000" b="1" dirty="0">
                <a:latin typeface="微软雅黑" panose="020B0503020204020204" pitchFamily="34" charset="-122"/>
                <a:ea typeface="微软雅黑" panose="020B0503020204020204" pitchFamily="34" charset="-122"/>
              </a:rPr>
              <a:t>UE </a:t>
            </a:r>
            <a:r>
              <a:rPr lang="zh-CN" altLang="en-US" sz="2000" b="1" dirty="0">
                <a:latin typeface="微软雅黑" panose="020B0503020204020204" pitchFamily="34" charset="-122"/>
                <a:ea typeface="微软雅黑" panose="020B0503020204020204" pitchFamily="34" charset="-122"/>
              </a:rPr>
              <a:t>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地址就不改变。</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2"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登记后，若在</a:t>
            </a:r>
            <a:r>
              <a:rPr lang="zh-CN" altLang="en-US" sz="2000" b="1" dirty="0">
                <a:solidFill>
                  <a:schemeClr val="bg1"/>
                </a:solidFill>
                <a:latin typeface="微软雅黑" panose="020B0503020204020204" pitchFamily="34" charset="-122"/>
                <a:ea typeface="微软雅黑" panose="020B0503020204020204" pitchFamily="34" charset="-122"/>
              </a:rPr>
              <a:t>一段</a:t>
            </a:r>
            <a:r>
              <a:rPr lang="zh-CN" altLang="en-US" sz="2000" b="1" dirty="0" smtClean="0">
                <a:solidFill>
                  <a:schemeClr val="bg1"/>
                </a:solidFill>
                <a:latin typeface="微软雅黑" panose="020B0503020204020204" pitchFamily="34" charset="-122"/>
                <a:ea typeface="微软雅黑" panose="020B0503020204020204" pitchFamily="34" charset="-122"/>
              </a:rPr>
              <a:t>时间没有</a:t>
            </a:r>
            <a:r>
              <a:rPr lang="zh-CN" altLang="en-US" sz="2000" b="1" dirty="0">
                <a:solidFill>
                  <a:schemeClr val="bg1"/>
                </a:solidFill>
                <a:latin typeface="微软雅黑" panose="020B0503020204020204" pitchFamily="34" charset="-122"/>
                <a:ea typeface="微软雅黑" panose="020B0503020204020204" pitchFamily="34" charset="-122"/>
              </a:rPr>
              <a:t>数据</a:t>
            </a:r>
            <a:r>
              <a:rPr lang="zh-CN" altLang="en-US" sz="2000" b="1" dirty="0" smtClean="0">
                <a:solidFill>
                  <a:schemeClr val="bg1"/>
                </a:solidFill>
                <a:latin typeface="微软雅黑" panose="020B0503020204020204" pitchFamily="34" charset="-122"/>
                <a:ea typeface="微软雅黑" panose="020B0503020204020204" pitchFamily="34" charset="-122"/>
              </a:rPr>
              <a:t>业务</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UE </a:t>
            </a:r>
            <a:r>
              <a:rPr lang="zh-CN" altLang="en-US" sz="2000" b="1" dirty="0" smtClean="0">
                <a:latin typeface="微软雅黑" panose="020B0503020204020204" pitchFamily="34" charset="-122"/>
                <a:ea typeface="微软雅黑" panose="020B0503020204020204" pitchFamily="34" charset="-122"/>
              </a:rPr>
              <a:t>向</a:t>
            </a:r>
            <a:r>
              <a:rPr lang="zh-CN" altLang="en-US" sz="2000" b="1" dirty="0">
                <a:latin typeface="微软雅黑" panose="020B0503020204020204" pitchFamily="34" charset="-122"/>
                <a:ea typeface="微软雅黑" panose="020B0503020204020204" pitchFamily="34" charset="-122"/>
              </a:rPr>
              <a:t>所在小区的基</a:t>
            </a:r>
            <a:r>
              <a:rPr lang="zh-CN" altLang="en-US" sz="2000" b="1" dirty="0" smtClean="0">
                <a:latin typeface="微软雅黑" panose="020B0503020204020204" pitchFamily="34" charset="-122"/>
                <a:ea typeface="微软雅黑" panose="020B0503020204020204" pitchFamily="34" charset="-122"/>
              </a:rPr>
              <a:t>站 </a:t>
            </a:r>
            <a:r>
              <a:rPr lang="en-US" altLang="zh-CN" sz="2000" b="1" dirty="0" err="1" smtClean="0">
                <a:latin typeface="微软雅黑" panose="020B0503020204020204" pitchFamily="34" charset="-122"/>
                <a:ea typeface="微软雅黑" panose="020B0503020204020204" pitchFamily="34" charset="-122"/>
              </a:rPr>
              <a:t>eNB</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发送</a:t>
            </a:r>
            <a:r>
              <a:rPr lang="zh-CN" altLang="en-US" sz="2000" b="1" dirty="0">
                <a:latin typeface="微软雅黑" panose="020B0503020204020204" pitchFamily="34" charset="-122"/>
                <a:ea typeface="微软雅黑" panose="020B0503020204020204" pitchFamily="34" charset="-122"/>
              </a:rPr>
              <a:t>连接请求</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en-US" altLang="zh-CN" sz="2000" b="1" dirty="0" err="1" smtClean="0">
                <a:latin typeface="微软雅黑" panose="020B0503020204020204" pitchFamily="34" charset="-122"/>
                <a:ea typeface="微软雅黑" panose="020B0503020204020204" pitchFamily="34" charset="-122"/>
              </a:rPr>
              <a:t>eNB</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收到</a:t>
            </a:r>
            <a:r>
              <a:rPr lang="zh-CN" altLang="en-US" sz="2000" b="1" dirty="0">
                <a:latin typeface="微软雅黑" panose="020B0503020204020204" pitchFamily="34" charset="-122"/>
                <a:ea typeface="微软雅黑" panose="020B0503020204020204" pitchFamily="34" charset="-122"/>
              </a:rPr>
              <a:t>连接请求后，就要</a:t>
            </a:r>
            <a:r>
              <a:rPr lang="zh-CN" altLang="en-US" sz="2000" b="1" dirty="0">
                <a:solidFill>
                  <a:srgbClr val="C00000"/>
                </a:solidFill>
                <a:latin typeface="微软雅黑" panose="020B0503020204020204" pitchFamily="34" charset="-122"/>
                <a:ea typeface="微软雅黑" panose="020B0503020204020204" pitchFamily="34" charset="-122"/>
              </a:rPr>
              <a:t>建立</a:t>
            </a:r>
            <a:r>
              <a:rPr lang="zh-CN" altLang="en-US" sz="2000" b="1" dirty="0">
                <a:solidFill>
                  <a:srgbClr val="0000CC"/>
                </a:solidFill>
                <a:latin typeface="微软雅黑" panose="020B0503020204020204" pitchFamily="34" charset="-122"/>
                <a:ea typeface="微软雅黑" panose="020B0503020204020204" pitchFamily="34" charset="-122"/>
              </a:rPr>
              <a:t>空口链路</a:t>
            </a:r>
            <a:r>
              <a:rPr lang="zh-CN" altLang="en-US" sz="2000" b="1" dirty="0" smtClean="0">
                <a:latin typeface="微软雅黑" panose="020B0503020204020204" pitchFamily="34" charset="-122"/>
                <a:ea typeface="微软雅黑" panose="020B0503020204020204" pitchFamily="34" charset="-122"/>
              </a:rPr>
              <a:t>和 </a:t>
            </a:r>
            <a:r>
              <a:rPr lang="en-US" altLang="zh-CN" sz="2000" b="1" dirty="0" err="1" smtClean="0">
                <a:solidFill>
                  <a:srgbClr val="0000CC"/>
                </a:solidFill>
                <a:latin typeface="微软雅黑" panose="020B0503020204020204" pitchFamily="34" charset="-122"/>
                <a:ea typeface="微软雅黑" panose="020B0503020204020204" pitchFamily="34" charset="-122"/>
              </a:rPr>
              <a:t>eNB</a:t>
            </a:r>
            <a:r>
              <a:rPr lang="en-US" altLang="zh-CN" sz="2000" b="1" dirty="0" smtClean="0">
                <a:solidFill>
                  <a:srgbClr val="0000CC"/>
                </a:solidFill>
                <a:latin typeface="微软雅黑" panose="020B0503020204020204" pitchFamily="34" charset="-122"/>
                <a:ea typeface="微软雅黑" panose="020B0503020204020204" pitchFamily="34" charset="-122"/>
              </a:rPr>
              <a:t> → S-GW </a:t>
            </a:r>
            <a:r>
              <a:rPr lang="zh-CN" altLang="en-US" sz="2000" b="1" dirty="0" smtClean="0">
                <a:latin typeface="微软雅黑" panose="020B0503020204020204" pitchFamily="34" charset="-122"/>
                <a:ea typeface="微软雅黑" panose="020B0503020204020204" pitchFamily="34" charset="-122"/>
              </a:rPr>
              <a:t>之间</a:t>
            </a:r>
            <a:r>
              <a:rPr lang="zh-CN" altLang="en-US" sz="2000" b="1" dirty="0">
                <a:latin typeface="微软雅黑" panose="020B0503020204020204" pitchFamily="34" charset="-122"/>
                <a:ea typeface="微软雅黑" panose="020B0503020204020204" pitchFamily="34" charset="-122"/>
              </a:rPr>
              <a:t>的</a:t>
            </a:r>
            <a:r>
              <a:rPr lang="en-US" altLang="zh-CN" sz="2000" b="1" dirty="0" smtClean="0">
                <a:latin typeface="微软雅黑" panose="020B0503020204020204" pitchFamily="34" charset="-122"/>
                <a:ea typeface="微软雅黑" panose="020B0503020204020204" pitchFamily="34" charset="-122"/>
              </a:rPr>
              <a:t>GTP-U </a:t>
            </a:r>
            <a:r>
              <a:rPr lang="zh-CN" altLang="en-US" sz="2000" b="1" dirty="0" smtClean="0">
                <a:solidFill>
                  <a:srgbClr val="0000CC"/>
                </a:solidFill>
                <a:latin typeface="微软雅黑" panose="020B0503020204020204" pitchFamily="34" charset="-122"/>
                <a:ea typeface="微软雅黑" panose="020B0503020204020204" pitchFamily="34" charset="-122"/>
              </a:rPr>
              <a:t>隧道。</a:t>
            </a:r>
            <a:endParaRPr lang="en-US" altLang="zh-CN" sz="2000" b="1" dirty="0" smtClean="0">
              <a:solidFill>
                <a:srgbClr val="0000CC"/>
              </a:solidFill>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然后， </a:t>
            </a:r>
            <a:r>
              <a:rPr lang="en-US" altLang="zh-CN" sz="2000" b="1" dirty="0" smtClean="0">
                <a:latin typeface="微软雅黑" panose="020B0503020204020204" pitchFamily="34" charset="-122"/>
                <a:ea typeface="微软雅黑" panose="020B0503020204020204" pitchFamily="34" charset="-122"/>
              </a:rPr>
              <a:t>UE </a:t>
            </a:r>
            <a:r>
              <a:rPr lang="zh-CN" altLang="en-US" sz="2000" b="1" dirty="0" smtClean="0">
                <a:latin typeface="微软雅黑" panose="020B0503020204020204" pitchFamily="34" charset="-122"/>
                <a:ea typeface="微软雅黑" panose="020B0503020204020204" pitchFamily="34" charset="-122"/>
              </a:rPr>
              <a:t>发送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分组</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从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层</a:t>
            </a:r>
            <a:r>
              <a:rPr lang="zh-CN" altLang="en-US" sz="2000" b="1" dirty="0">
                <a:latin typeface="微软雅黑" panose="020B0503020204020204" pitchFamily="34" charset="-122"/>
                <a:ea typeface="微软雅黑" panose="020B0503020204020204" pitchFamily="34" charset="-122"/>
              </a:rPr>
              <a:t>先传送到下面的</a:t>
            </a:r>
            <a:r>
              <a:rPr lang="zh-CN" altLang="en-US" sz="2000" b="1" dirty="0" smtClean="0">
                <a:latin typeface="微软雅黑" panose="020B0503020204020204" pitchFamily="34" charset="-122"/>
                <a:ea typeface="微软雅黑" panose="020B0503020204020204" pitchFamily="34" charset="-122"/>
              </a:rPr>
              <a:t>第 </a:t>
            </a:r>
            <a:r>
              <a:rPr lang="en-US" altLang="zh-CN" sz="2000" b="1" dirty="0" smtClean="0">
                <a:latin typeface="微软雅黑" panose="020B0503020204020204" pitchFamily="34" charset="-122"/>
                <a:ea typeface="微软雅黑" panose="020B0503020204020204" pitchFamily="34" charset="-122"/>
              </a:rPr>
              <a:t>2 </a:t>
            </a:r>
            <a:r>
              <a:rPr lang="zh-CN" altLang="en-US" sz="2000" b="1" dirty="0" smtClean="0">
                <a:latin typeface="微软雅黑" panose="020B0503020204020204" pitchFamily="34" charset="-122"/>
                <a:ea typeface="微软雅黑" panose="020B0503020204020204" pitchFamily="34" charset="-122"/>
              </a:rPr>
              <a:t>层</a:t>
            </a:r>
            <a:r>
              <a:rPr lang="zh-CN" altLang="en-US" sz="2000" b="1" dirty="0">
                <a:latin typeface="微软雅黑" panose="020B0503020204020204" pitchFamily="34" charset="-122"/>
                <a:ea typeface="微软雅黑" panose="020B0503020204020204" pitchFamily="34" charset="-122"/>
              </a:rPr>
              <a:t>（现在</a:t>
            </a:r>
            <a:r>
              <a:rPr lang="en-US" altLang="zh-CN" sz="2000" b="1" dirty="0">
                <a:latin typeface="微软雅黑" panose="020B0503020204020204" pitchFamily="34" charset="-122"/>
                <a:ea typeface="微软雅黑" panose="020B0503020204020204" pitchFamily="34" charset="-122"/>
              </a:rPr>
              <a:t>L2</a:t>
            </a:r>
            <a:r>
              <a:rPr lang="zh-CN" altLang="en-US" sz="2000" b="1" dirty="0">
                <a:latin typeface="微软雅黑" panose="020B0503020204020204" pitchFamily="34" charset="-122"/>
                <a:ea typeface="微软雅黑" panose="020B0503020204020204" pitchFamily="34" charset="-122"/>
              </a:rPr>
              <a:t>具有三个子层）。</a:t>
            </a:r>
            <a:endParaRPr lang="en-US" altLang="zh-CN" sz="2000" b="1" dirty="0" smtClean="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例：</a:t>
            </a:r>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访问</a:t>
            </a:r>
            <a:r>
              <a:rPr lang="zh-CN" altLang="en-US" sz="2000" b="1" dirty="0">
                <a:solidFill>
                  <a:schemeClr val="bg1"/>
                </a:solidFill>
                <a:latin typeface="微软雅黑" panose="020B0503020204020204" pitchFamily="34" charset="-122"/>
                <a:ea typeface="微软雅黑" panose="020B0503020204020204" pitchFamily="34" charset="-122"/>
              </a:rPr>
              <a:t>百度网站（</a:t>
            </a:r>
            <a:r>
              <a:rPr lang="en-US" altLang="zh-CN" sz="2000" b="1" dirty="0">
                <a:solidFill>
                  <a:schemeClr val="bg1"/>
                </a:solidFill>
                <a:latin typeface="微软雅黑" panose="020B0503020204020204" pitchFamily="34" charset="-122"/>
                <a:ea typeface="微软雅黑" panose="020B0503020204020204" pitchFamily="34" charset="-122"/>
              </a:rPr>
              <a:t>www.baidu.com</a:t>
            </a:r>
            <a:r>
              <a:rPr lang="zh-CN" altLang="en-US" sz="2000" b="1" dirty="0">
                <a:solidFill>
                  <a:schemeClr val="bg1"/>
                </a:solidFill>
                <a:latin typeface="微软雅黑" panose="020B0503020204020204" pitchFamily="34" charset="-122"/>
                <a:ea typeface="微软雅黑" panose="020B0503020204020204" pitchFamily="34" charset="-122"/>
              </a:rPr>
              <a: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 name="矩形 2"/>
          <p:cNvSpPr/>
          <p:nvPr/>
        </p:nvSpPr>
        <p:spPr>
          <a:xfrm>
            <a:off x="1245327" y="2221905"/>
            <a:ext cx="6444342" cy="477054"/>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注意：</a:t>
            </a:r>
            <a:r>
              <a:rPr lang="en-US" altLang="zh-CN" b="1" dirty="0" smtClean="0">
                <a:latin typeface="微软雅黑" panose="020B0503020204020204" pitchFamily="34" charset="-122"/>
                <a:ea typeface="微软雅黑" panose="020B0503020204020204" pitchFamily="34" charset="-122"/>
              </a:rPr>
              <a:t>S-GW → P-GW </a:t>
            </a:r>
            <a:r>
              <a:rPr lang="zh-CN" altLang="en-US" b="1" dirty="0">
                <a:latin typeface="微软雅黑" panose="020B0503020204020204" pitchFamily="34" charset="-122"/>
                <a:ea typeface="微软雅黑" panose="020B0503020204020204" pitchFamily="34" charset="-122"/>
              </a:rPr>
              <a:t>之间原有的 </a:t>
            </a:r>
            <a:r>
              <a:rPr lang="en-US" altLang="zh-CN" b="1" dirty="0">
                <a:latin typeface="微软雅黑" panose="020B0503020204020204" pitchFamily="34" charset="-122"/>
                <a:ea typeface="微软雅黑" panose="020B0503020204020204" pitchFamily="34" charset="-122"/>
              </a:rPr>
              <a:t>GTP-U </a:t>
            </a:r>
            <a:r>
              <a:rPr lang="zh-CN" altLang="en-US" b="1" dirty="0">
                <a:latin typeface="微软雅黑" panose="020B0503020204020204" pitchFamily="34" charset="-122"/>
                <a:ea typeface="微软雅黑" panose="020B0503020204020204" pitchFamily="34" charset="-122"/>
              </a:rPr>
              <a:t>隧道仍存在着。</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圆角矩形 105"/>
          <p:cNvSpPr/>
          <p:nvPr/>
        </p:nvSpPr>
        <p:spPr>
          <a:xfrm>
            <a:off x="519655" y="1020455"/>
            <a:ext cx="8133857" cy="33512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1" y="585623"/>
            <a:ext cx="52421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例：</a:t>
            </a:r>
            <a:r>
              <a:rPr lang="en-US" altLang="zh-CN" sz="2000" b="1" dirty="0">
                <a:solidFill>
                  <a:schemeClr val="bg1"/>
                </a:solidFill>
                <a:latin typeface="微软雅黑" panose="020B0503020204020204" pitchFamily="34" charset="-122"/>
                <a:ea typeface="微软雅黑" panose="020B0503020204020204" pitchFamily="34" charset="-122"/>
              </a:rPr>
              <a:t>UE </a:t>
            </a:r>
            <a:r>
              <a:rPr lang="zh-CN" altLang="en-US" sz="2000" b="1" dirty="0">
                <a:solidFill>
                  <a:schemeClr val="bg1"/>
                </a:solidFill>
                <a:latin typeface="微软雅黑" panose="020B0503020204020204" pitchFamily="34" charset="-122"/>
                <a:ea typeface="微软雅黑" panose="020B0503020204020204" pitchFamily="34" charset="-122"/>
              </a:rPr>
              <a:t>访问百度网站（</a:t>
            </a:r>
            <a:r>
              <a:rPr lang="en-US" altLang="zh-CN" sz="2000" b="1" dirty="0">
                <a:solidFill>
                  <a:schemeClr val="bg1"/>
                </a:solidFill>
                <a:latin typeface="微软雅黑" panose="020B0503020204020204" pitchFamily="34" charset="-122"/>
                <a:ea typeface="微软雅黑" panose="020B0503020204020204" pitchFamily="34" charset="-122"/>
              </a:rPr>
              <a:t>www.baidu.com</a:t>
            </a:r>
            <a:r>
              <a:rPr lang="zh-CN" altLang="en-US"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614202" y="1097314"/>
            <a:ext cx="7876655" cy="3036176"/>
            <a:chOff x="-200866" y="3341738"/>
            <a:chExt cx="9336929" cy="3538412"/>
          </a:xfrm>
        </p:grpSpPr>
        <p:sp>
          <p:nvSpPr>
            <p:cNvPr id="7" name="矩形 6"/>
            <p:cNvSpPr/>
            <p:nvPr/>
          </p:nvSpPr>
          <p:spPr>
            <a:xfrm>
              <a:off x="3030538" y="3697050"/>
              <a:ext cx="3789362" cy="459264"/>
            </a:xfrm>
            <a:prstGeom prst="rect">
              <a:avLst/>
            </a:prstGeom>
            <a:solidFill>
              <a:srgbClr val="99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8" name="直接连接符 7"/>
            <p:cNvCxnSpPr>
              <a:stCxn id="59" idx="3"/>
              <a:endCxn id="80" idx="2"/>
            </p:cNvCxnSpPr>
            <p:nvPr/>
          </p:nvCxnSpPr>
          <p:spPr>
            <a:xfrm flipV="1">
              <a:off x="1116013" y="3910013"/>
              <a:ext cx="7172325" cy="222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bwMode="auto">
            <a:xfrm flipH="1">
              <a:off x="1619250" y="4935538"/>
              <a:ext cx="2859088"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10" name="直接连接符 9"/>
            <p:cNvCxnSpPr/>
            <p:nvPr/>
          </p:nvCxnSpPr>
          <p:spPr bwMode="auto">
            <a:xfrm>
              <a:off x="4483100" y="5116513"/>
              <a:ext cx="428625"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11" name="Text Box 48"/>
            <p:cNvSpPr txBox="1">
              <a:spLocks noChangeArrowheads="1"/>
            </p:cNvSpPr>
            <p:nvPr/>
          </p:nvSpPr>
          <p:spPr bwMode="auto">
            <a:xfrm>
              <a:off x="3563940" y="4997112"/>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endParaRPr kumimoji="1" lang="en-US" altLang="zh-CN" sz="1200" b="1">
                <a:latin typeface="微软雅黑" panose="020B0503020204020204" pitchFamily="34" charset="-122"/>
                <a:ea typeface="微软雅黑" panose="020B0503020204020204" pitchFamily="34" charset="-122"/>
              </a:endParaRPr>
            </a:p>
          </p:txBody>
        </p:sp>
        <p:sp>
          <p:nvSpPr>
            <p:cNvPr id="12" name="Text Box 68"/>
            <p:cNvSpPr txBox="1">
              <a:spLocks noChangeArrowheads="1"/>
            </p:cNvSpPr>
            <p:nvPr/>
          </p:nvSpPr>
          <p:spPr bwMode="auto">
            <a:xfrm>
              <a:off x="3538538" y="4641850"/>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13" name="Text Box 48"/>
            <p:cNvSpPr txBox="1">
              <a:spLocks noChangeArrowheads="1"/>
            </p:cNvSpPr>
            <p:nvPr/>
          </p:nvSpPr>
          <p:spPr bwMode="auto">
            <a:xfrm>
              <a:off x="2716992" y="4997112"/>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UE</a:t>
              </a:r>
              <a:endParaRPr kumimoji="1" lang="en-US" altLang="zh-CN" sz="1200" b="1" dirty="0">
                <a:latin typeface="微软雅黑" panose="020B0503020204020204" pitchFamily="34" charset="-122"/>
                <a:ea typeface="微软雅黑" panose="020B0503020204020204" pitchFamily="34" charset="-122"/>
              </a:endParaRPr>
            </a:p>
          </p:txBody>
        </p:sp>
        <p:cxnSp>
          <p:nvCxnSpPr>
            <p:cNvPr id="14" name="直接连接符 13"/>
            <p:cNvCxnSpPr/>
            <p:nvPr/>
          </p:nvCxnSpPr>
          <p:spPr>
            <a:xfrm>
              <a:off x="3617913"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2771775"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 Box 68"/>
            <p:cNvSpPr txBox="1">
              <a:spLocks noChangeArrowheads="1"/>
            </p:cNvSpPr>
            <p:nvPr/>
          </p:nvSpPr>
          <p:spPr bwMode="auto">
            <a:xfrm>
              <a:off x="2790826" y="4641850"/>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源地址</a:t>
              </a:r>
              <a:endParaRPr kumimoji="1" lang="en-US" altLang="zh-CN" sz="1200" b="1" dirty="0">
                <a:latin typeface="微软雅黑" panose="020B0503020204020204" pitchFamily="34" charset="-122"/>
                <a:ea typeface="微软雅黑" panose="020B0503020204020204" pitchFamily="34" charset="-122"/>
              </a:endParaRPr>
            </a:p>
          </p:txBody>
        </p:sp>
        <p:sp>
          <p:nvSpPr>
            <p:cNvPr id="17" name="Text Box 68"/>
            <p:cNvSpPr txBox="1">
              <a:spLocks noChangeArrowheads="1"/>
            </p:cNvSpPr>
            <p:nvPr/>
          </p:nvSpPr>
          <p:spPr bwMode="auto">
            <a:xfrm>
              <a:off x="170998" y="4826052"/>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UE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smtClean="0">
                  <a:solidFill>
                    <a:srgbClr val="0000CC"/>
                  </a:solidFill>
                  <a:latin typeface="微软雅黑" panose="020B0503020204020204" pitchFamily="34" charset="-122"/>
                  <a:ea typeface="微软雅黑" panose="020B0503020204020204" pitchFamily="34" charset="-122"/>
                </a:rPr>
                <a:t>BD</a:t>
              </a:r>
              <a:endParaRPr kumimoji="1" lang="en-US" altLang="zh-CN" sz="1200" b="1" dirty="0" smtClean="0">
                <a:solidFill>
                  <a:srgbClr val="0000CC"/>
                </a:solidFill>
                <a:latin typeface="微软雅黑" panose="020B0503020204020204" pitchFamily="34" charset="-122"/>
                <a:ea typeface="微软雅黑" panose="020B0503020204020204" pitchFamily="34" charset="-122"/>
              </a:endParaRPr>
            </a:p>
            <a:p>
              <a:pPr algn="ctr" eaLnBrk="1" hangingPunct="1"/>
              <a:r>
                <a:rPr kumimoji="1" lang="en-US" altLang="zh-CN" sz="1200" b="1" dirty="0" smtClean="0">
                  <a:latin typeface="微软雅黑" panose="020B0503020204020204" pitchFamily="34" charset="-122"/>
                  <a:ea typeface="微软雅黑" panose="020B0503020204020204" pitchFamily="34" charset="-122"/>
                </a:rPr>
                <a:t>UE </a:t>
              </a:r>
              <a:r>
                <a:rPr kumimoji="1" lang="zh-CN" altLang="en-US" sz="1200" b="1" dirty="0" smtClean="0">
                  <a:latin typeface="微软雅黑" panose="020B0503020204020204" pitchFamily="34" charset="-122"/>
                  <a:ea typeface="微软雅黑" panose="020B0503020204020204" pitchFamily="34" charset="-122"/>
                </a:rPr>
                <a:t>发送</a:t>
              </a:r>
              <a:r>
                <a:rPr kumimoji="1" lang="zh-CN" altLang="en-US" sz="1200" b="1" dirty="0">
                  <a:latin typeface="微软雅黑" panose="020B0503020204020204" pitchFamily="34" charset="-122"/>
                  <a:ea typeface="微软雅黑" panose="020B0503020204020204" pitchFamily="34" charset="-122"/>
                </a:rPr>
                <a:t>的分组</a:t>
              </a:r>
              <a:r>
                <a:rPr kumimoji="1" lang="en-US" altLang="zh-CN" sz="1200" b="1" dirty="0">
                  <a:latin typeface="微软雅黑" panose="020B0503020204020204" pitchFamily="34" charset="-122"/>
                  <a:ea typeface="微软雅黑" panose="020B0503020204020204" pitchFamily="34" charset="-122"/>
                </a:rPr>
                <a:t> </a:t>
              </a:r>
              <a:endParaRPr kumimoji="1" lang="en-US" altLang="zh-CN" sz="1200" b="1" dirty="0">
                <a:latin typeface="微软雅黑" panose="020B0503020204020204" pitchFamily="34" charset="-122"/>
                <a:ea typeface="微软雅黑" panose="020B0503020204020204" pitchFamily="34" charset="-122"/>
              </a:endParaRPr>
            </a:p>
          </p:txBody>
        </p:sp>
        <p:sp>
          <p:nvSpPr>
            <p:cNvPr id="18" name="矩形 17"/>
            <p:cNvSpPr/>
            <p:nvPr/>
          </p:nvSpPr>
          <p:spPr bwMode="auto">
            <a:xfrm flipH="1">
              <a:off x="1619250" y="5656263"/>
              <a:ext cx="2860675"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19" name="Text Box 48"/>
            <p:cNvSpPr txBox="1">
              <a:spLocks noChangeArrowheads="1"/>
            </p:cNvSpPr>
            <p:nvPr/>
          </p:nvSpPr>
          <p:spPr bwMode="auto">
            <a:xfrm>
              <a:off x="2718581" y="5717837"/>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endParaRPr kumimoji="1" lang="en-US" altLang="zh-CN" sz="1200" b="1">
                <a:latin typeface="微软雅黑" panose="020B0503020204020204" pitchFamily="34" charset="-122"/>
                <a:ea typeface="微软雅黑" panose="020B0503020204020204" pitchFamily="34" charset="-122"/>
              </a:endParaRPr>
            </a:p>
          </p:txBody>
        </p:sp>
        <p:cxnSp>
          <p:nvCxnSpPr>
            <p:cNvPr id="20" name="直接连接符 19"/>
            <p:cNvCxnSpPr/>
            <p:nvPr/>
          </p:nvCxnSpPr>
          <p:spPr>
            <a:xfrm>
              <a:off x="3619500"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2773363"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8"/>
            <p:cNvSpPr txBox="1">
              <a:spLocks noChangeArrowheads="1"/>
            </p:cNvSpPr>
            <p:nvPr/>
          </p:nvSpPr>
          <p:spPr bwMode="auto">
            <a:xfrm>
              <a:off x="3563940" y="5717837"/>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D</a:t>
              </a:r>
              <a:r>
                <a:rPr kumimoji="1" lang="en-US" altLang="zh-CN" sz="1200" b="1" dirty="0">
                  <a:latin typeface="微软雅黑" panose="020B0503020204020204" pitchFamily="34" charset="-122"/>
                  <a:ea typeface="微软雅黑" panose="020B0503020204020204" pitchFamily="34" charset="-122"/>
                </a:rPr>
                <a:t> = BD</a:t>
              </a:r>
              <a:endParaRPr kumimoji="1" lang="en-US" altLang="zh-CN" sz="1200" b="1" dirty="0">
                <a:latin typeface="微软雅黑" panose="020B0503020204020204" pitchFamily="34" charset="-122"/>
                <a:ea typeface="微软雅黑" panose="020B0503020204020204" pitchFamily="34" charset="-122"/>
              </a:endParaRPr>
            </a:p>
          </p:txBody>
        </p:sp>
        <p:sp>
          <p:nvSpPr>
            <p:cNvPr id="23" name="矩形 22"/>
            <p:cNvSpPr/>
            <p:nvPr/>
          </p:nvSpPr>
          <p:spPr bwMode="auto">
            <a:xfrm flipH="1">
              <a:off x="4479925" y="5656263"/>
              <a:ext cx="4040188" cy="360362"/>
            </a:xfrm>
            <a:prstGeom prst="rect">
              <a:avLst/>
            </a:prstGeom>
            <a:solidFill>
              <a:srgbClr val="FFFF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24" name="Text Box 48"/>
            <p:cNvSpPr txBox="1">
              <a:spLocks noChangeArrowheads="1"/>
            </p:cNvSpPr>
            <p:nvPr/>
          </p:nvSpPr>
          <p:spPr bwMode="auto">
            <a:xfrm>
              <a:off x="4454525" y="5717837"/>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25" name="Text Box 48"/>
            <p:cNvSpPr txBox="1">
              <a:spLocks noChangeArrowheads="1"/>
            </p:cNvSpPr>
            <p:nvPr/>
          </p:nvSpPr>
          <p:spPr bwMode="auto">
            <a:xfrm>
              <a:off x="5418139" y="571500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UDP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68"/>
            <p:cNvSpPr txBox="1">
              <a:spLocks noChangeArrowheads="1"/>
            </p:cNvSpPr>
            <p:nvPr/>
          </p:nvSpPr>
          <p:spPr bwMode="auto">
            <a:xfrm>
              <a:off x="170998" y="5549951"/>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solidFill>
                    <a:srgbClr val="0000CC"/>
                  </a:solidFill>
                  <a:latin typeface="微软雅黑" panose="020B0503020204020204" pitchFamily="34" charset="-122"/>
                  <a:ea typeface="微软雅黑" panose="020B0503020204020204" pitchFamily="34" charset="-122"/>
                </a:rPr>
                <a:t>eNB</a:t>
              </a:r>
              <a:r>
                <a:rPr kumimoji="1" lang="en-US" altLang="zh-CN" sz="1200" b="1" dirty="0">
                  <a:solidFill>
                    <a:srgbClr val="0000CC"/>
                  </a:solidFill>
                  <a:latin typeface="微软雅黑" panose="020B0503020204020204" pitchFamily="34" charset="-122"/>
                  <a:ea typeface="微软雅黑" panose="020B0503020204020204" pitchFamily="34" charset="-122"/>
                </a:rPr>
                <a:t>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S-GW</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27" name="Text Box 48"/>
            <p:cNvSpPr txBox="1">
              <a:spLocks noChangeArrowheads="1"/>
            </p:cNvSpPr>
            <p:nvPr/>
          </p:nvSpPr>
          <p:spPr bwMode="auto">
            <a:xfrm>
              <a:off x="6372224" y="5713411"/>
              <a:ext cx="1207739"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a:t>
              </a:r>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28" name="Text Box 48"/>
            <p:cNvSpPr txBox="1">
              <a:spLocks noChangeArrowheads="1"/>
            </p:cNvSpPr>
            <p:nvPr/>
          </p:nvSpPr>
          <p:spPr bwMode="auto">
            <a:xfrm>
              <a:off x="7369967" y="571182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D</a:t>
              </a:r>
              <a:r>
                <a:rPr kumimoji="1" lang="en-US" altLang="zh-CN" sz="1100" b="1" dirty="0">
                  <a:latin typeface="微软雅黑" panose="020B0503020204020204" pitchFamily="34" charset="-122"/>
                  <a:ea typeface="微软雅黑" panose="020B0503020204020204" pitchFamily="34" charset="-122"/>
                </a:rPr>
                <a:t> = S-GW</a:t>
              </a:r>
              <a:endParaRPr kumimoji="1" lang="en-US" altLang="zh-CN" sz="1100" b="1" dirty="0">
                <a:latin typeface="微软雅黑" panose="020B0503020204020204" pitchFamily="34" charset="-122"/>
                <a:ea typeface="微软雅黑" panose="020B0503020204020204" pitchFamily="34" charset="-122"/>
              </a:endParaRPr>
            </a:p>
          </p:txBody>
        </p:sp>
        <p:sp>
          <p:nvSpPr>
            <p:cNvPr id="29" name="Text Box 68"/>
            <p:cNvSpPr txBox="1">
              <a:spLocks noChangeArrowheads="1"/>
            </p:cNvSpPr>
            <p:nvPr/>
          </p:nvSpPr>
          <p:spPr bwMode="auto">
            <a:xfrm>
              <a:off x="7454900" y="5353389"/>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30" name="Text Box 68"/>
            <p:cNvSpPr txBox="1">
              <a:spLocks noChangeArrowheads="1"/>
            </p:cNvSpPr>
            <p:nvPr/>
          </p:nvSpPr>
          <p:spPr bwMode="auto">
            <a:xfrm>
              <a:off x="6516687" y="5373689"/>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31" name="直接连接符 30"/>
            <p:cNvCxnSpPr/>
            <p:nvPr/>
          </p:nvCxnSpPr>
          <p:spPr>
            <a:xfrm>
              <a:off x="7380288" y="5661025"/>
              <a:ext cx="0" cy="3667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6376988" y="5649913"/>
              <a:ext cx="0" cy="366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457825" y="56594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bwMode="auto">
            <a:xfrm>
              <a:off x="8516938" y="5818188"/>
              <a:ext cx="430212"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35" name="矩形 34"/>
            <p:cNvSpPr/>
            <p:nvPr/>
          </p:nvSpPr>
          <p:spPr bwMode="auto">
            <a:xfrm flipH="1">
              <a:off x="1619250" y="6448425"/>
              <a:ext cx="2855913" cy="358775"/>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36" name="Text Box 48"/>
            <p:cNvSpPr txBox="1">
              <a:spLocks noChangeArrowheads="1"/>
            </p:cNvSpPr>
            <p:nvPr/>
          </p:nvSpPr>
          <p:spPr bwMode="auto">
            <a:xfrm>
              <a:off x="2713818" y="6509998"/>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endParaRPr kumimoji="1" lang="en-US" altLang="zh-CN" sz="1200" b="1">
                <a:latin typeface="微软雅黑" panose="020B0503020204020204" pitchFamily="34" charset="-122"/>
                <a:ea typeface="微软雅黑" panose="020B0503020204020204" pitchFamily="34" charset="-122"/>
              </a:endParaRPr>
            </a:p>
          </p:txBody>
        </p:sp>
        <p:cxnSp>
          <p:nvCxnSpPr>
            <p:cNvPr id="37" name="直接连接符 36"/>
            <p:cNvCxnSpPr/>
            <p:nvPr/>
          </p:nvCxnSpPr>
          <p:spPr>
            <a:xfrm>
              <a:off x="3614738"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2768600"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 Box 48"/>
            <p:cNvSpPr txBox="1">
              <a:spLocks noChangeArrowheads="1"/>
            </p:cNvSpPr>
            <p:nvPr/>
          </p:nvSpPr>
          <p:spPr bwMode="auto">
            <a:xfrm>
              <a:off x="3559173" y="6509999"/>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endParaRPr kumimoji="1" lang="en-US" altLang="zh-CN" sz="1200" b="1">
                <a:latin typeface="微软雅黑" panose="020B0503020204020204" pitchFamily="34" charset="-122"/>
                <a:ea typeface="微软雅黑" panose="020B0503020204020204" pitchFamily="34" charset="-122"/>
              </a:endParaRPr>
            </a:p>
          </p:txBody>
        </p:sp>
        <p:sp>
          <p:nvSpPr>
            <p:cNvPr id="40" name="矩形 39"/>
            <p:cNvSpPr/>
            <p:nvPr/>
          </p:nvSpPr>
          <p:spPr bwMode="auto">
            <a:xfrm flipH="1">
              <a:off x="4475163" y="6448425"/>
              <a:ext cx="4051300" cy="358775"/>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41" name="Text Box 48"/>
            <p:cNvSpPr txBox="1">
              <a:spLocks noChangeArrowheads="1"/>
            </p:cNvSpPr>
            <p:nvPr/>
          </p:nvSpPr>
          <p:spPr bwMode="auto">
            <a:xfrm>
              <a:off x="4449763" y="6509999"/>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GTP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42" name="Text Box 48"/>
            <p:cNvSpPr txBox="1">
              <a:spLocks noChangeArrowheads="1"/>
            </p:cNvSpPr>
            <p:nvPr/>
          </p:nvSpPr>
          <p:spPr bwMode="auto">
            <a:xfrm>
              <a:off x="5413373" y="650875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UDP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43" name="Text Box 68"/>
            <p:cNvSpPr txBox="1">
              <a:spLocks noChangeArrowheads="1"/>
            </p:cNvSpPr>
            <p:nvPr/>
          </p:nvSpPr>
          <p:spPr bwMode="auto">
            <a:xfrm>
              <a:off x="96890" y="6342118"/>
              <a:ext cx="1569936"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S-GW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P-GW</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44" name="Text Box 48"/>
            <p:cNvSpPr txBox="1">
              <a:spLocks noChangeArrowheads="1"/>
            </p:cNvSpPr>
            <p:nvPr/>
          </p:nvSpPr>
          <p:spPr bwMode="auto">
            <a:xfrm>
              <a:off x="6308724" y="6505576"/>
              <a:ext cx="1360483"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S</a:t>
              </a:r>
              <a:r>
                <a:rPr kumimoji="1" lang="en-US" altLang="zh-CN" sz="1100" b="1" dirty="0">
                  <a:latin typeface="微软雅黑" panose="020B0503020204020204" pitchFamily="34" charset="-122"/>
                  <a:ea typeface="微软雅黑" panose="020B0503020204020204" pitchFamily="34" charset="-122"/>
                </a:rPr>
                <a:t> = S-GW</a:t>
              </a:r>
              <a:endParaRPr kumimoji="1" lang="en-US" altLang="zh-CN" sz="1100" b="1" dirty="0">
                <a:latin typeface="微软雅黑" panose="020B0503020204020204" pitchFamily="34" charset="-122"/>
                <a:ea typeface="微软雅黑" panose="020B0503020204020204" pitchFamily="34" charset="-122"/>
              </a:endParaRPr>
            </a:p>
          </p:txBody>
        </p:sp>
        <p:sp>
          <p:nvSpPr>
            <p:cNvPr id="45" name="Text Box 48"/>
            <p:cNvSpPr txBox="1">
              <a:spLocks noChangeArrowheads="1"/>
            </p:cNvSpPr>
            <p:nvPr/>
          </p:nvSpPr>
          <p:spPr bwMode="auto">
            <a:xfrm>
              <a:off x="7369967" y="650557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a:latin typeface="微软雅黑" panose="020B0503020204020204" pitchFamily="34" charset="-122"/>
                  <a:ea typeface="微软雅黑" panose="020B0503020204020204" pitchFamily="34" charset="-122"/>
                </a:rPr>
                <a:t>IP</a:t>
              </a:r>
              <a:r>
                <a:rPr kumimoji="1" lang="en-US" altLang="zh-CN" sz="1100" b="1" baseline="-25000">
                  <a:latin typeface="微软雅黑" panose="020B0503020204020204" pitchFamily="34" charset="-122"/>
                  <a:ea typeface="微软雅黑" panose="020B0503020204020204" pitchFamily="34" charset="-122"/>
                </a:rPr>
                <a:t>D</a:t>
              </a:r>
              <a:r>
                <a:rPr kumimoji="1" lang="en-US" altLang="zh-CN" sz="1100" b="1">
                  <a:latin typeface="微软雅黑" panose="020B0503020204020204" pitchFamily="34" charset="-122"/>
                  <a:ea typeface="微软雅黑" panose="020B0503020204020204" pitchFamily="34" charset="-122"/>
                </a:rPr>
                <a:t> = P-GW</a:t>
              </a:r>
              <a:endParaRPr kumimoji="1" lang="en-US" altLang="zh-CN" sz="1100" b="1">
                <a:latin typeface="微软雅黑" panose="020B0503020204020204" pitchFamily="34" charset="-122"/>
                <a:ea typeface="微软雅黑" panose="020B0503020204020204" pitchFamily="34" charset="-122"/>
              </a:endParaRPr>
            </a:p>
          </p:txBody>
        </p:sp>
        <p:sp>
          <p:nvSpPr>
            <p:cNvPr id="46" name="Text Box 68"/>
            <p:cNvSpPr txBox="1">
              <a:spLocks noChangeArrowheads="1"/>
            </p:cNvSpPr>
            <p:nvPr/>
          </p:nvSpPr>
          <p:spPr bwMode="auto">
            <a:xfrm>
              <a:off x="7454901" y="6145550"/>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47" name="Text Box 68"/>
            <p:cNvSpPr txBox="1">
              <a:spLocks noChangeArrowheads="1"/>
            </p:cNvSpPr>
            <p:nvPr/>
          </p:nvSpPr>
          <p:spPr bwMode="auto">
            <a:xfrm>
              <a:off x="6511925" y="6165850"/>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48" name="直接连接符 47"/>
            <p:cNvCxnSpPr/>
            <p:nvPr/>
          </p:nvCxnSpPr>
          <p:spPr>
            <a:xfrm>
              <a:off x="7421563"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a:off x="6370638" y="644207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a:off x="5451475" y="6451600"/>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bwMode="auto">
            <a:xfrm>
              <a:off x="8524875" y="6616700"/>
              <a:ext cx="430213"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64"/>
            <p:cNvSpPr txBox="1">
              <a:spLocks noChangeArrowheads="1"/>
            </p:cNvSpPr>
            <p:nvPr/>
          </p:nvSpPr>
          <p:spPr bwMode="auto">
            <a:xfrm flipH="1">
              <a:off x="-200866" y="47974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endParaRPr lang="en-US" altLang="zh-CN"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53" name="Text Box 562"/>
            <p:cNvSpPr txBox="1">
              <a:spLocks noChangeArrowheads="1"/>
            </p:cNvSpPr>
            <p:nvPr/>
          </p:nvSpPr>
          <p:spPr bwMode="auto">
            <a:xfrm flipH="1">
              <a:off x="-200866" y="55213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endParaRPr lang="en-US" altLang="zh-CN"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54" name="Text Box 563"/>
            <p:cNvSpPr txBox="1">
              <a:spLocks noChangeArrowheads="1"/>
            </p:cNvSpPr>
            <p:nvPr/>
          </p:nvSpPr>
          <p:spPr bwMode="auto">
            <a:xfrm flipH="1">
              <a:off x="-200866" y="6316661"/>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endParaRPr lang="en-US" altLang="zh-CN" b="1">
                <a:latin typeface="微软雅黑" panose="020B0503020204020204" pitchFamily="34" charset="-122"/>
                <a:ea typeface="微软雅黑" panose="020B0503020204020204" pitchFamily="34" charset="-122"/>
                <a:sym typeface="Wingdings" panose="05000000000000000000" pitchFamily="2" charset="2"/>
              </a:endParaRPr>
            </a:p>
          </p:txBody>
        </p:sp>
        <p:grpSp>
          <p:nvGrpSpPr>
            <p:cNvPr id="55" name="组合 160"/>
            <p:cNvGrpSpPr/>
            <p:nvPr/>
          </p:nvGrpSpPr>
          <p:grpSpPr bwMode="auto">
            <a:xfrm>
              <a:off x="4782617" y="3644900"/>
              <a:ext cx="743353" cy="576263"/>
              <a:chOff x="4782747" y="3501008"/>
              <a:chExt cx="742688" cy="576064"/>
            </a:xfrm>
          </p:grpSpPr>
          <p:sp>
            <p:nvSpPr>
              <p:cNvPr id="56" name="矩形 55"/>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57" name="Text Box 544"/>
              <p:cNvSpPr txBox="1">
                <a:spLocks noChangeArrowheads="1"/>
              </p:cNvSpPr>
              <p:nvPr/>
            </p:nvSpPr>
            <p:spPr bwMode="auto">
              <a:xfrm>
                <a:off x="4782747" y="3643512"/>
                <a:ext cx="74268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grpSp>
        <p:grpSp>
          <p:nvGrpSpPr>
            <p:cNvPr id="58" name="组合 161"/>
            <p:cNvGrpSpPr/>
            <p:nvPr/>
          </p:nvGrpSpPr>
          <p:grpSpPr bwMode="auto">
            <a:xfrm>
              <a:off x="395288" y="3644900"/>
              <a:ext cx="720725" cy="576263"/>
              <a:chOff x="4788024" y="3501008"/>
              <a:chExt cx="720080" cy="576064"/>
            </a:xfrm>
          </p:grpSpPr>
          <p:sp>
            <p:nvSpPr>
              <p:cNvPr id="59" name="矩形 58"/>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0" name="Text Box 544"/>
              <p:cNvSpPr txBox="1">
                <a:spLocks noChangeArrowheads="1"/>
              </p:cNvSpPr>
              <p:nvPr/>
            </p:nvSpPr>
            <p:spPr bwMode="auto">
              <a:xfrm>
                <a:off x="4921338" y="3643512"/>
                <a:ext cx="46550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grpSp>
        <p:grpSp>
          <p:nvGrpSpPr>
            <p:cNvPr id="61" name="组合 168"/>
            <p:cNvGrpSpPr/>
            <p:nvPr/>
          </p:nvGrpSpPr>
          <p:grpSpPr bwMode="auto">
            <a:xfrm>
              <a:off x="6793995" y="3644900"/>
              <a:ext cx="752855" cy="576263"/>
              <a:chOff x="4778001" y="3501008"/>
              <a:chExt cx="752181" cy="576064"/>
            </a:xfrm>
          </p:grpSpPr>
          <p:sp>
            <p:nvSpPr>
              <p:cNvPr id="62" name="矩形 61"/>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3" name="Text Box 544"/>
              <p:cNvSpPr txBox="1">
                <a:spLocks noChangeArrowheads="1"/>
              </p:cNvSpPr>
              <p:nvPr/>
            </p:nvSpPr>
            <p:spPr bwMode="auto">
              <a:xfrm>
                <a:off x="4778001" y="3643512"/>
                <a:ext cx="752181"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grpSp>
        <p:grpSp>
          <p:nvGrpSpPr>
            <p:cNvPr id="64" name="组合 183"/>
            <p:cNvGrpSpPr/>
            <p:nvPr/>
          </p:nvGrpSpPr>
          <p:grpSpPr bwMode="auto">
            <a:xfrm>
              <a:off x="2339975" y="3644900"/>
              <a:ext cx="719138" cy="576263"/>
              <a:chOff x="4788024" y="3501008"/>
              <a:chExt cx="720080" cy="576064"/>
            </a:xfrm>
          </p:grpSpPr>
          <p:sp>
            <p:nvSpPr>
              <p:cNvPr id="65" name="矩形 64"/>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6" name="Text Box 544"/>
              <p:cNvSpPr txBox="1">
                <a:spLocks noChangeArrowheads="1"/>
              </p:cNvSpPr>
              <p:nvPr/>
            </p:nvSpPr>
            <p:spPr bwMode="auto">
              <a:xfrm>
                <a:off x="4851375" y="3643512"/>
                <a:ext cx="605432"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zh-CN" altLang="en-US" sz="1200" b="1">
                  <a:latin typeface="微软雅黑" panose="020B0503020204020204" pitchFamily="34" charset="-122"/>
                  <a:ea typeface="微软雅黑" panose="020B0503020204020204" pitchFamily="34" charset="-122"/>
                </a:endParaRPr>
              </a:p>
            </p:txBody>
          </p:sp>
        </p:grpSp>
        <p:grpSp>
          <p:nvGrpSpPr>
            <p:cNvPr id="67" name="Group 206"/>
            <p:cNvGrpSpPr/>
            <p:nvPr/>
          </p:nvGrpSpPr>
          <p:grpSpPr bwMode="auto">
            <a:xfrm>
              <a:off x="8288338" y="3621088"/>
              <a:ext cx="847725" cy="561975"/>
              <a:chOff x="912" y="768"/>
              <a:chExt cx="2400" cy="1584"/>
            </a:xfrm>
          </p:grpSpPr>
          <p:sp>
            <p:nvSpPr>
              <p:cNvPr id="68" name="Oval 20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0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0" name="Oval 20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1" name="Oval 21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1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1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1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7" name="Group 216"/>
              <p:cNvGrpSpPr/>
              <p:nvPr/>
            </p:nvGrpSpPr>
            <p:grpSpPr bwMode="auto">
              <a:xfrm>
                <a:off x="912" y="768"/>
                <a:ext cx="2386" cy="1553"/>
                <a:chOff x="912" y="768"/>
                <a:chExt cx="2386" cy="1553"/>
              </a:xfrm>
            </p:grpSpPr>
            <p:sp>
              <p:nvSpPr>
                <p:cNvPr id="78" name="Oval 21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1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0" name="Oval 21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1" name="Oval 22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2" name="Oval 22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3" name="Oval 22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4" name="Oval 22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5" name="Oval 22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2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7" name="Text Box 426"/>
            <p:cNvSpPr txBox="1">
              <a:spLocks noChangeArrowheads="1"/>
            </p:cNvSpPr>
            <p:nvPr/>
          </p:nvSpPr>
          <p:spPr bwMode="auto">
            <a:xfrm>
              <a:off x="8316913" y="3738563"/>
              <a:ext cx="766156" cy="322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endParaRPr kumimoji="1" lang="zh-CN" altLang="en-US" sz="1200" b="1">
                <a:latin typeface="微软雅黑" panose="020B0503020204020204" pitchFamily="34" charset="-122"/>
                <a:ea typeface="微软雅黑" panose="020B0503020204020204" pitchFamily="34" charset="-122"/>
              </a:endParaRPr>
            </a:p>
          </p:txBody>
        </p:sp>
        <p:sp>
          <p:nvSpPr>
            <p:cNvPr id="88" name="Text Box 68"/>
            <p:cNvSpPr txBox="1">
              <a:spLocks noChangeArrowheads="1"/>
            </p:cNvSpPr>
            <p:nvPr/>
          </p:nvSpPr>
          <p:spPr bwMode="auto">
            <a:xfrm>
              <a:off x="5518180" y="341952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89" name="Text Box 68"/>
            <p:cNvSpPr txBox="1">
              <a:spLocks noChangeArrowheads="1"/>
            </p:cNvSpPr>
            <p:nvPr/>
          </p:nvSpPr>
          <p:spPr bwMode="auto">
            <a:xfrm>
              <a:off x="3193329" y="341601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90" name="Text Box 564"/>
            <p:cNvSpPr txBox="1">
              <a:spLocks noChangeArrowheads="1"/>
            </p:cNvSpPr>
            <p:nvPr/>
          </p:nvSpPr>
          <p:spPr bwMode="auto">
            <a:xfrm flipH="1">
              <a:off x="5894386" y="36033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endParaRPr lang="en-US" altLang="zh-CN"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91" name="Text Box 564"/>
            <p:cNvSpPr txBox="1">
              <a:spLocks noChangeArrowheads="1"/>
            </p:cNvSpPr>
            <p:nvPr/>
          </p:nvSpPr>
          <p:spPr bwMode="auto">
            <a:xfrm flipH="1">
              <a:off x="3659188" y="3600166"/>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endParaRPr lang="en-US" altLang="zh-CN"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92" name="Text Box 564"/>
            <p:cNvSpPr txBox="1">
              <a:spLocks noChangeArrowheads="1"/>
            </p:cNvSpPr>
            <p:nvPr/>
          </p:nvSpPr>
          <p:spPr bwMode="auto">
            <a:xfrm flipH="1">
              <a:off x="7742239" y="355888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endParaRPr lang="en-US" altLang="zh-CN"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93" name="Text Box 564"/>
            <p:cNvSpPr txBox="1">
              <a:spLocks noChangeArrowheads="1"/>
            </p:cNvSpPr>
            <p:nvPr/>
          </p:nvSpPr>
          <p:spPr bwMode="auto">
            <a:xfrm flipH="1">
              <a:off x="1485900" y="35779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endParaRPr lang="en-US" altLang="zh-CN"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94" name="Text Box 562"/>
            <p:cNvSpPr txBox="1">
              <a:spLocks noChangeArrowheads="1"/>
            </p:cNvSpPr>
            <p:nvPr/>
          </p:nvSpPr>
          <p:spPr bwMode="auto">
            <a:xfrm flipH="1">
              <a:off x="403703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endParaRPr lang="en-US" altLang="zh-CN"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95" name="Text Box 563"/>
            <p:cNvSpPr txBox="1">
              <a:spLocks noChangeArrowheads="1"/>
            </p:cNvSpPr>
            <p:nvPr/>
          </p:nvSpPr>
          <p:spPr bwMode="auto">
            <a:xfrm flipH="1">
              <a:off x="634208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endParaRPr lang="en-US" altLang="zh-CN" b="1">
                <a:latin typeface="微软雅黑" panose="020B0503020204020204" pitchFamily="34" charset="-122"/>
                <a:ea typeface="微软雅黑" panose="020B0503020204020204" pitchFamily="34" charset="-122"/>
                <a:sym typeface="Wingdings" panose="05000000000000000000" pitchFamily="2" charset="2"/>
              </a:endParaRPr>
            </a:p>
          </p:txBody>
        </p:sp>
        <p:cxnSp>
          <p:nvCxnSpPr>
            <p:cNvPr id="96" name="直接连接符 95"/>
            <p:cNvCxnSpPr/>
            <p:nvPr/>
          </p:nvCxnSpPr>
          <p:spPr>
            <a:xfrm>
              <a:off x="1619250" y="4495800"/>
              <a:ext cx="2881313"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7" name="Text Box 68"/>
            <p:cNvSpPr txBox="1">
              <a:spLocks noChangeArrowheads="1"/>
            </p:cNvSpPr>
            <p:nvPr/>
          </p:nvSpPr>
          <p:spPr bwMode="auto">
            <a:xfrm>
              <a:off x="2111377" y="4351338"/>
              <a:ext cx="1723849" cy="290537"/>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UE </a:t>
              </a:r>
              <a:r>
                <a:rPr kumimoji="1" lang="zh-CN" altLang="en-US" sz="1200" b="1" dirty="0">
                  <a:latin typeface="微软雅黑" panose="020B0503020204020204" pitchFamily="34" charset="-122"/>
                  <a:ea typeface="微软雅黑" panose="020B0503020204020204" pitchFamily="34" charset="-122"/>
                </a:rPr>
                <a:t>发送的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分组</a:t>
              </a:r>
              <a:endParaRPr kumimoji="1" lang="en-US" altLang="zh-CN" sz="1200" b="1" dirty="0">
                <a:latin typeface="微软雅黑" panose="020B0503020204020204" pitchFamily="34" charset="-122"/>
                <a:ea typeface="微软雅黑" panose="020B0503020204020204" pitchFamily="34" charset="-122"/>
              </a:endParaRPr>
            </a:p>
          </p:txBody>
        </p:sp>
        <p:cxnSp>
          <p:nvCxnSpPr>
            <p:cNvPr id="98" name="直接连接符 97"/>
            <p:cNvCxnSpPr/>
            <p:nvPr/>
          </p:nvCxnSpPr>
          <p:spPr>
            <a:xfrm flipH="1">
              <a:off x="1619250" y="4457310"/>
              <a:ext cx="3174"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flipH="1">
              <a:off x="4476750" y="4445287"/>
              <a:ext cx="1588"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00" name="下箭头 99"/>
            <p:cNvSpPr/>
            <p:nvPr/>
          </p:nvSpPr>
          <p:spPr>
            <a:xfrm>
              <a:off x="2961476" y="5478774"/>
              <a:ext cx="183361" cy="221054"/>
            </a:xfrm>
            <a:prstGeom prst="downArrow">
              <a:avLst>
                <a:gd name="adj1" fmla="val 50000"/>
                <a:gd name="adj2" fmla="val 55825"/>
              </a:avLst>
            </a:prstGeom>
            <a:solidFill>
              <a:srgbClr val="0000CC"/>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01" name="左大括号 100"/>
            <p:cNvSpPr/>
            <p:nvPr/>
          </p:nvSpPr>
          <p:spPr>
            <a:xfrm rot="16200000">
              <a:off x="2972594" y="3969544"/>
              <a:ext cx="144463" cy="2867025"/>
            </a:xfrm>
            <a:prstGeom prst="leftBrace">
              <a:avLst>
                <a:gd name="adj1" fmla="val 5137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102" name="直接连接符 101"/>
            <p:cNvCxnSpPr/>
            <p:nvPr/>
          </p:nvCxnSpPr>
          <p:spPr bwMode="auto">
            <a:xfrm>
              <a:off x="4954588" y="5579042"/>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bwMode="auto">
            <a:xfrm>
              <a:off x="4953000" y="6366441"/>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sp>
          <p:nvSpPr>
            <p:cNvPr id="104" name="Text Box 48"/>
            <p:cNvSpPr txBox="1">
              <a:spLocks noChangeArrowheads="1"/>
            </p:cNvSpPr>
            <p:nvPr/>
          </p:nvSpPr>
          <p:spPr bwMode="auto">
            <a:xfrm>
              <a:off x="4621214" y="5354639"/>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1</a:t>
              </a:r>
              <a:endParaRPr kumimoji="1"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105" name="Text Box 48"/>
            <p:cNvSpPr txBox="1">
              <a:spLocks noChangeArrowheads="1"/>
            </p:cNvSpPr>
            <p:nvPr/>
          </p:nvSpPr>
          <p:spPr bwMode="auto">
            <a:xfrm>
              <a:off x="4621214" y="6145213"/>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CC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CC00CC"/>
                  </a:solidFill>
                  <a:latin typeface="微软雅黑" panose="020B0503020204020204" pitchFamily="34" charset="-122"/>
                  <a:ea typeface="微软雅黑" panose="020B0503020204020204" pitchFamily="34" charset="-122"/>
                </a:rPr>
                <a:t>2</a:t>
              </a:r>
              <a:endParaRPr kumimoji="1" lang="en-US" altLang="zh-CN" sz="1200" b="1" baseline="-25000" dirty="0">
                <a:solidFill>
                  <a:srgbClr val="CC00CC"/>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 </a:t>
            </a:r>
            <a:r>
              <a:rPr lang="en-US" altLang="zh-CN" b="1" dirty="0" smtClean="0">
                <a:solidFill>
                  <a:srgbClr val="C00000"/>
                </a:solidFill>
                <a:latin typeface="微软雅黑" panose="020B0503020204020204" pitchFamily="34" charset="-122"/>
                <a:ea typeface="微软雅黑" panose="020B0503020204020204" pitchFamily="34" charset="-122"/>
              </a:rPr>
              <a:t>UE </a:t>
            </a:r>
            <a:r>
              <a:rPr lang="zh-CN" altLang="en-US" b="1" dirty="0" smtClean="0">
                <a:solidFill>
                  <a:srgbClr val="C00000"/>
                </a:solidFill>
                <a:latin typeface="微软雅黑" panose="020B0503020204020204" pitchFamily="34" charset="-122"/>
                <a:ea typeface="微软雅黑" panose="020B0503020204020204" pitchFamily="34" charset="-122"/>
              </a:rPr>
              <a:t>发送的 </a:t>
            </a:r>
            <a:r>
              <a:rPr lang="en-US" altLang="zh-CN" b="1" dirty="0" smtClean="0">
                <a:solidFill>
                  <a:srgbClr val="C00000"/>
                </a:solidFill>
                <a:latin typeface="微软雅黑" panose="020B0503020204020204" pitchFamily="34" charset="-122"/>
                <a:ea typeface="微软雅黑" panose="020B0503020204020204" pitchFamily="34" charset="-122"/>
              </a:rPr>
              <a:t>IP</a:t>
            </a:r>
            <a:r>
              <a:rPr lang="zh-CN" altLang="en-US" b="1" dirty="0" smtClean="0">
                <a:solidFill>
                  <a:srgbClr val="C00000"/>
                </a:solidFill>
                <a:latin typeface="微软雅黑" panose="020B0503020204020204" pitchFamily="34" charset="-122"/>
                <a:ea typeface="微软雅黑" panose="020B0503020204020204" pitchFamily="34" charset="-122"/>
              </a:rPr>
              <a:t>分组：</a:t>
            </a:r>
            <a:endParaRPr lang="en-US" altLang="zh-CN" b="1" dirty="0" smtClean="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目的地址 </a:t>
            </a:r>
            <a:r>
              <a:rPr lang="en-US" altLang="zh-CN" b="1" dirty="0">
                <a:latin typeface="微软雅黑" panose="020B0503020204020204" pitchFamily="34" charset="-122"/>
                <a:ea typeface="微软雅黑" panose="020B0503020204020204" pitchFamily="34" charset="-122"/>
              </a:rPr>
              <a:t>IP</a:t>
            </a:r>
            <a:r>
              <a:rPr lang="en-US" altLang="zh-CN" b="1" baseline="-25000" dirty="0">
                <a:latin typeface="微软雅黑" panose="020B0503020204020204" pitchFamily="34" charset="-122"/>
                <a:ea typeface="微软雅黑" panose="020B0503020204020204" pitchFamily="34" charset="-122"/>
              </a:rPr>
              <a:t>D</a:t>
            </a:r>
            <a:r>
              <a:rPr lang="en-US" altLang="zh-CN" b="1" dirty="0">
                <a:latin typeface="微软雅黑" panose="020B0503020204020204" pitchFamily="34" charset="-122"/>
                <a:ea typeface="微软雅黑" panose="020B0503020204020204" pitchFamily="34" charset="-122"/>
              </a:rPr>
              <a:t> = BD </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BD </a:t>
            </a:r>
            <a:r>
              <a:rPr lang="zh-CN" altLang="en-US" b="1" dirty="0">
                <a:latin typeface="微软雅黑" panose="020B0503020204020204" pitchFamily="34" charset="-122"/>
                <a:ea typeface="微软雅黑" panose="020B0503020204020204" pitchFamily="34" charset="-122"/>
              </a:rPr>
              <a:t>表示 </a:t>
            </a:r>
            <a:r>
              <a:rPr lang="en-US" altLang="zh-CN" b="1" dirty="0">
                <a:latin typeface="微软雅黑" panose="020B0503020204020204" pitchFamily="34" charset="-122"/>
                <a:ea typeface="微软雅黑" panose="020B0503020204020204" pitchFamily="34" charset="-122"/>
              </a:rPr>
              <a:t>www.baidu.com</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源地址 </a:t>
            </a:r>
            <a:r>
              <a:rPr lang="en-US" altLang="zh-CN" b="1" dirty="0">
                <a:latin typeface="微软雅黑" panose="020B0503020204020204" pitchFamily="34" charset="-122"/>
                <a:ea typeface="微软雅黑" panose="020B0503020204020204" pitchFamily="34" charset="-122"/>
              </a:rPr>
              <a:t>IP</a:t>
            </a:r>
            <a:r>
              <a:rPr lang="en-US" altLang="zh-CN" b="1" baseline="-25000" dirty="0">
                <a:latin typeface="微软雅黑" panose="020B0503020204020204" pitchFamily="34" charset="-122"/>
                <a:ea typeface="微软雅黑" panose="020B0503020204020204" pitchFamily="34" charset="-122"/>
              </a:rPr>
              <a:t>S</a:t>
            </a:r>
            <a:r>
              <a:rPr lang="en-US" altLang="zh-CN" b="1" dirty="0">
                <a:latin typeface="微软雅黑" panose="020B0503020204020204" pitchFamily="34" charset="-122"/>
                <a:ea typeface="微软雅黑" panose="020B0503020204020204" pitchFamily="34" charset="-122"/>
              </a:rPr>
              <a:t> = UE </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UE </a:t>
            </a:r>
            <a:r>
              <a:rPr lang="zh-CN" altLang="en-US" b="1" dirty="0">
                <a:latin typeface="微软雅黑" panose="020B0503020204020204" pitchFamily="34" charset="-122"/>
                <a:ea typeface="微软雅黑" panose="020B0503020204020204" pitchFamily="34" charset="-122"/>
              </a:rPr>
              <a:t>表示 </a:t>
            </a:r>
            <a:r>
              <a:rPr lang="en-US" altLang="zh-CN" b="1" dirty="0">
                <a:latin typeface="微软雅黑" panose="020B0503020204020204" pitchFamily="34" charset="-122"/>
                <a:ea typeface="微软雅黑" panose="020B0503020204020204" pitchFamily="34" charset="-122"/>
              </a:rPr>
              <a:t>UE </a:t>
            </a:r>
            <a:r>
              <a:rPr lang="zh-CN" altLang="en-US" b="1" dirty="0">
                <a:latin typeface="微软雅黑" panose="020B0503020204020204" pitchFamily="34" charset="-122"/>
                <a:ea typeface="微软雅黑" panose="020B0503020204020204" pitchFamily="34" charset="-122"/>
              </a:rPr>
              <a:t>的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a:t>
            </a:r>
            <a:endParaRPr lang="en-US" altLang="zh-CN" b="1" dirty="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在 </a:t>
            </a:r>
            <a:r>
              <a:rPr lang="en-US" altLang="zh-CN" b="1" dirty="0" err="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eNB</a:t>
            </a:r>
            <a:r>
              <a:rPr lang="en-US" altLang="zh-CN"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 → S-GW </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隧道中</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传输 </a:t>
            </a:r>
            <a:r>
              <a:rPr lang="en-US" altLang="zh-CN"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分组</a:t>
            </a:r>
            <a:endParaRPr lang="en-US" altLang="zh-CN"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基站 </a:t>
            </a:r>
            <a:r>
              <a:rPr lang="en-US" altLang="zh-CN" b="1" dirty="0" err="1">
                <a:latin typeface="微软雅黑" panose="020B0503020204020204" pitchFamily="34" charset="-122"/>
                <a:ea typeface="微软雅黑" panose="020B0503020204020204" pitchFamily="34" charset="-122"/>
              </a:rPr>
              <a:t>eNB</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 </a:t>
            </a:r>
            <a:r>
              <a:rPr lang="en-US" altLang="zh-CN" b="1" dirty="0">
                <a:latin typeface="微软雅黑" panose="020B0503020204020204" pitchFamily="34" charset="-122"/>
                <a:ea typeface="微软雅黑" panose="020B0503020204020204" pitchFamily="34" charset="-122"/>
              </a:rPr>
              <a:t>PDCP </a:t>
            </a:r>
            <a:r>
              <a:rPr lang="zh-CN" altLang="en-US" b="1" dirty="0">
                <a:latin typeface="微软雅黑" panose="020B0503020204020204" pitchFamily="34" charset="-122"/>
                <a:ea typeface="微软雅黑" panose="020B0503020204020204" pitchFamily="34" charset="-122"/>
              </a:rPr>
              <a:t>把收到的数据解封后，用协议 </a:t>
            </a:r>
            <a:r>
              <a:rPr lang="en-US" altLang="zh-CN" b="1" dirty="0">
                <a:solidFill>
                  <a:srgbClr val="0000CC"/>
                </a:solidFill>
                <a:latin typeface="微软雅黑" panose="020B0503020204020204" pitchFamily="34" charset="-122"/>
                <a:ea typeface="微软雅黑" panose="020B0503020204020204" pitchFamily="34" charset="-122"/>
              </a:rPr>
              <a:t>GTP-U </a:t>
            </a:r>
            <a:r>
              <a:rPr lang="zh-CN" altLang="en-US" b="1" dirty="0">
                <a:solidFill>
                  <a:srgbClr val="0000CC"/>
                </a:solidFill>
                <a:latin typeface="微软雅黑" panose="020B0503020204020204" pitchFamily="34" charset="-122"/>
                <a:ea typeface="微软雅黑" panose="020B0503020204020204" pitchFamily="34" charset="-122"/>
              </a:rPr>
              <a:t>进行封装，</a:t>
            </a:r>
            <a:r>
              <a:rPr lang="zh-CN" altLang="en-US" b="1" dirty="0">
                <a:latin typeface="微软雅黑" panose="020B0503020204020204" pitchFamily="34" charset="-122"/>
                <a:ea typeface="微软雅黑" panose="020B0503020204020204" pitchFamily="34" charset="-122"/>
              </a:rPr>
              <a:t>并把一个 </a:t>
            </a:r>
            <a:r>
              <a:rPr lang="en-US" altLang="zh-CN" b="1" dirty="0">
                <a:latin typeface="微软雅黑" panose="020B0503020204020204" pitchFamily="34" charset="-122"/>
                <a:ea typeface="微软雅黑" panose="020B0503020204020204" pitchFamily="34" charset="-122"/>
              </a:rPr>
              <a:t>GTP </a:t>
            </a:r>
            <a:r>
              <a:rPr lang="zh-CN" altLang="en-US" b="1" dirty="0">
                <a:latin typeface="微软雅黑" panose="020B0503020204020204" pitchFamily="34" charset="-122"/>
                <a:ea typeface="微软雅黑" panose="020B0503020204020204" pitchFamily="34" charset="-122"/>
              </a:rPr>
              <a:t>隧道端点标识符 </a:t>
            </a:r>
            <a:r>
              <a:rPr lang="en-US" altLang="zh-CN" b="1" dirty="0">
                <a:latin typeface="微软雅黑" panose="020B0503020204020204" pitchFamily="34" charset="-122"/>
                <a:ea typeface="微软雅黑" panose="020B0503020204020204" pitchFamily="34" charset="-122"/>
              </a:rPr>
              <a:t>TEID (Tunnel Endpoint Identifier) </a:t>
            </a:r>
            <a:r>
              <a:rPr lang="en-US" altLang="zh-CN" b="1" dirty="0">
                <a:solidFill>
                  <a:srgbClr val="0000CC"/>
                </a:solidFill>
                <a:latin typeface="微软雅黑" panose="020B0503020204020204" pitchFamily="34" charset="-122"/>
                <a:ea typeface="微软雅黑" panose="020B0503020204020204" pitchFamily="34" charset="-122"/>
              </a:rPr>
              <a:t>TEID</a:t>
            </a:r>
            <a:r>
              <a:rPr lang="en-US" altLang="zh-CN" b="1" baseline="-25000" dirty="0">
                <a:solidFill>
                  <a:srgbClr val="0000CC"/>
                </a:solidFill>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写入到 </a:t>
            </a:r>
            <a:r>
              <a:rPr lang="en-US" altLang="zh-CN" b="1" dirty="0">
                <a:latin typeface="微软雅黑" panose="020B0503020204020204" pitchFamily="34" charset="-122"/>
                <a:ea typeface="微软雅黑" panose="020B0503020204020204" pitchFamily="34" charset="-122"/>
              </a:rPr>
              <a:t>GTP </a:t>
            </a:r>
            <a:r>
              <a:rPr lang="zh-CN" altLang="en-US" b="1" dirty="0">
                <a:latin typeface="微软雅黑" panose="020B0503020204020204" pitchFamily="34" charset="-122"/>
                <a:ea typeface="微软雅黑" panose="020B0503020204020204" pitchFamily="34" charset="-122"/>
              </a:rPr>
              <a:t>首部</a:t>
            </a:r>
            <a:r>
              <a:rPr lang="zh-CN" altLang="en-US" b="1" dirty="0" smtClean="0">
                <a:latin typeface="微软雅黑" panose="020B0503020204020204" pitchFamily="34" charset="-122"/>
                <a:ea typeface="微软雅黑" panose="020B0503020204020204" pitchFamily="34" charset="-122"/>
              </a:rPr>
              <a:t>中。</a:t>
            </a:r>
            <a:endParaRPr lang="en-US" altLang="zh-CN" b="1" dirty="0" smtClean="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在 </a:t>
            </a:r>
            <a:r>
              <a:rPr lang="en-US" altLang="zh-CN" b="1" dirty="0" err="1">
                <a:latin typeface="微软雅黑" panose="020B0503020204020204" pitchFamily="34" charset="-122"/>
                <a:ea typeface="微软雅黑" panose="020B0503020204020204" pitchFamily="34" charset="-122"/>
              </a:rPr>
              <a:t>eNB</a:t>
            </a:r>
            <a:r>
              <a:rPr lang="en-US" altLang="zh-CN" b="1" dirty="0">
                <a:latin typeface="微软雅黑" panose="020B0503020204020204" pitchFamily="34" charset="-122"/>
                <a:ea typeface="微软雅黑" panose="020B0503020204020204" pitchFamily="34" charset="-122"/>
              </a:rPr>
              <a:t> → S-GW </a:t>
            </a:r>
            <a:r>
              <a:rPr lang="zh-CN" altLang="en-US" b="1" dirty="0" smtClean="0">
                <a:latin typeface="微软雅黑" panose="020B0503020204020204" pitchFamily="34" charset="-122"/>
                <a:ea typeface="微软雅黑" panose="020B0503020204020204" pitchFamily="34" charset="-122"/>
              </a:rPr>
              <a:t>隧道</a:t>
            </a:r>
            <a:r>
              <a:rPr lang="zh-CN" altLang="en-US" b="1" dirty="0">
                <a:latin typeface="微软雅黑" panose="020B0503020204020204" pitchFamily="34" charset="-122"/>
                <a:ea typeface="微软雅黑" panose="020B0503020204020204" pitchFamily="34" charset="-122"/>
              </a:rPr>
              <a:t>中</a:t>
            </a:r>
            <a:r>
              <a:rPr lang="zh-CN" altLang="en-US" b="1" dirty="0" smtClean="0">
                <a:latin typeface="微软雅黑" panose="020B0503020204020204" pitchFamily="34" charset="-122"/>
                <a:ea typeface="微软雅黑" panose="020B0503020204020204" pitchFamily="34" charset="-122"/>
              </a:rPr>
              <a:t>传送</a:t>
            </a:r>
            <a:r>
              <a:rPr lang="zh-CN" altLang="en-US" b="1" dirty="0">
                <a:latin typeface="微软雅黑" panose="020B0503020204020204" pitchFamily="34" charset="-122"/>
                <a:ea typeface="微软雅黑" panose="020B0503020204020204" pitchFamily="34" charset="-122"/>
              </a:rPr>
              <a:t>的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分组：</a:t>
            </a:r>
            <a:endParaRPr lang="en-US" altLang="zh-CN" b="1" dirty="0">
              <a:latin typeface="微软雅黑" panose="020B0503020204020204" pitchFamily="34" charset="-122"/>
              <a:ea typeface="微软雅黑" panose="020B0503020204020204"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目的地址 </a:t>
            </a:r>
            <a:r>
              <a:rPr lang="en-US" altLang="zh-CN" b="1" dirty="0">
                <a:latin typeface="微软雅黑" panose="020B0503020204020204" pitchFamily="34" charset="-122"/>
                <a:ea typeface="微软雅黑" panose="020B0503020204020204" pitchFamily="34" charset="-122"/>
              </a:rPr>
              <a:t>IP</a:t>
            </a:r>
            <a:r>
              <a:rPr lang="en-US" altLang="zh-CN" b="1" baseline="-25000" dirty="0">
                <a:latin typeface="微软雅黑" panose="020B0503020204020204" pitchFamily="34" charset="-122"/>
                <a:ea typeface="微软雅黑" panose="020B0503020204020204" pitchFamily="34" charset="-122"/>
              </a:rPr>
              <a:t>D</a:t>
            </a:r>
            <a:r>
              <a:rPr lang="en-US" altLang="zh-CN" b="1" dirty="0">
                <a:latin typeface="微软雅黑" panose="020B0503020204020204" pitchFamily="34" charset="-122"/>
                <a:ea typeface="微软雅黑" panose="020B0503020204020204" pitchFamily="34" charset="-122"/>
              </a:rPr>
              <a:t> = S-GW</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源地址</a:t>
            </a:r>
            <a:r>
              <a:rPr lang="en-US" altLang="zh-CN" b="1" dirty="0">
                <a:latin typeface="微软雅黑" panose="020B0503020204020204" pitchFamily="34" charset="-122"/>
                <a:ea typeface="微软雅黑" panose="020B0503020204020204" pitchFamily="34" charset="-122"/>
              </a:rPr>
              <a:t>IP</a:t>
            </a:r>
            <a:r>
              <a:rPr lang="en-US" altLang="zh-CN" b="1" baseline="-25000" dirty="0">
                <a:latin typeface="微软雅黑" panose="020B0503020204020204" pitchFamily="34" charset="-122"/>
                <a:ea typeface="微软雅黑" panose="020B0503020204020204" pitchFamily="34" charset="-122"/>
              </a:rPr>
              <a:t>S</a:t>
            </a:r>
            <a:r>
              <a:rPr lang="en-US" altLang="zh-CN" b="1" dirty="0">
                <a:latin typeface="微软雅黑" panose="020B0503020204020204" pitchFamily="34" charset="-122"/>
                <a:ea typeface="微软雅黑" panose="020B0503020204020204" pitchFamily="34" charset="-122"/>
              </a:rPr>
              <a:t> = </a:t>
            </a:r>
            <a:r>
              <a:rPr lang="en-US" altLang="zh-CN" b="1" dirty="0" err="1">
                <a:latin typeface="微软雅黑" panose="020B0503020204020204" pitchFamily="34" charset="-122"/>
                <a:ea typeface="微软雅黑" panose="020B0503020204020204" pitchFamily="34" charset="-122"/>
              </a:rPr>
              <a:t>eNB</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例：</a:t>
            </a:r>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访问</a:t>
            </a:r>
            <a:r>
              <a:rPr lang="zh-CN" altLang="en-US" sz="2000" b="1" dirty="0">
                <a:solidFill>
                  <a:schemeClr val="bg1"/>
                </a:solidFill>
                <a:latin typeface="微软雅黑" panose="020B0503020204020204" pitchFamily="34" charset="-122"/>
                <a:ea typeface="微软雅黑" panose="020B0503020204020204" pitchFamily="34" charset="-122"/>
              </a:rPr>
              <a:t>百度网站（</a:t>
            </a:r>
            <a:r>
              <a:rPr lang="en-US" altLang="zh-CN" sz="2000" b="1" dirty="0">
                <a:solidFill>
                  <a:schemeClr val="bg1"/>
                </a:solidFill>
                <a:latin typeface="微软雅黑" panose="020B0503020204020204" pitchFamily="34" charset="-122"/>
                <a:ea typeface="微软雅黑" panose="020B0503020204020204" pitchFamily="34" charset="-122"/>
              </a:rPr>
              <a:t>www.baidu.com</a:t>
            </a:r>
            <a:r>
              <a:rPr lang="zh-CN" altLang="en-US" sz="2000" b="1" dirty="0">
                <a:solidFill>
                  <a:schemeClr val="bg1"/>
                </a:solidFill>
                <a:latin typeface="微软雅黑" panose="020B0503020204020204" pitchFamily="34" charset="-122"/>
                <a:ea typeface="微软雅黑" panose="020B0503020204020204" pitchFamily="34" charset="-122"/>
              </a:rPr>
              <a: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在 </a:t>
            </a:r>
            <a:r>
              <a:rPr lang="en-US" altLang="zh-CN"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S-GW → P-GW</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 隧道中传输 </a:t>
            </a:r>
            <a:r>
              <a:rPr lang="en-US" altLang="zh-CN"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分组</a:t>
            </a:r>
            <a:endParaRPr lang="en-US" altLang="zh-CN"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anose="020B0503020204020204" pitchFamily="34" charset="-122"/>
                <a:ea typeface="微软雅黑" panose="020B0503020204020204" pitchFamily="34" charset="-122"/>
              </a:rPr>
              <a:t>S-GW </a:t>
            </a:r>
            <a:r>
              <a:rPr lang="zh-CN" altLang="en-US" b="1" dirty="0">
                <a:latin typeface="微软雅黑" panose="020B0503020204020204" pitchFamily="34" charset="-122"/>
                <a:ea typeface="微软雅黑" panose="020B0503020204020204" pitchFamily="34" charset="-122"/>
              </a:rPr>
              <a:t>收到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分组后，用同样的方法解封，并再次用协议 </a:t>
            </a:r>
            <a:r>
              <a:rPr lang="en-US" altLang="zh-CN" b="1" dirty="0">
                <a:solidFill>
                  <a:srgbClr val="0000CC"/>
                </a:solidFill>
                <a:latin typeface="微软雅黑" panose="020B0503020204020204" pitchFamily="34" charset="-122"/>
                <a:ea typeface="微软雅黑" panose="020B0503020204020204" pitchFamily="34" charset="-122"/>
              </a:rPr>
              <a:t>GTP-U </a:t>
            </a:r>
            <a:r>
              <a:rPr lang="zh-CN" altLang="en-US" b="1" dirty="0">
                <a:solidFill>
                  <a:srgbClr val="0000CC"/>
                </a:solidFill>
                <a:latin typeface="微软雅黑" panose="020B0503020204020204" pitchFamily="34" charset="-122"/>
                <a:ea typeface="微软雅黑" panose="020B0503020204020204" pitchFamily="34" charset="-122"/>
              </a:rPr>
              <a:t>进行封装，</a:t>
            </a:r>
            <a:r>
              <a:rPr lang="zh-CN" altLang="en-US" b="1" dirty="0">
                <a:latin typeface="微软雅黑" panose="020B0503020204020204" pitchFamily="34" charset="-122"/>
                <a:ea typeface="微软雅黑" panose="020B0503020204020204" pitchFamily="34" charset="-122"/>
              </a:rPr>
              <a:t>把一个该 </a:t>
            </a:r>
            <a:r>
              <a:rPr lang="en-US" altLang="zh-CN" b="1" dirty="0">
                <a:latin typeface="微软雅黑" panose="020B0503020204020204" pitchFamily="34" charset="-122"/>
                <a:ea typeface="微软雅黑" panose="020B0503020204020204" pitchFamily="34" charset="-122"/>
              </a:rPr>
              <a:t>GTP </a:t>
            </a:r>
            <a:r>
              <a:rPr lang="zh-CN" altLang="en-US" b="1" dirty="0">
                <a:latin typeface="微软雅黑" panose="020B0503020204020204" pitchFamily="34" charset="-122"/>
                <a:ea typeface="微软雅黑" panose="020B0503020204020204" pitchFamily="34" charset="-122"/>
              </a:rPr>
              <a:t>隧道端点标识符 </a:t>
            </a:r>
            <a:r>
              <a:rPr lang="en-US" altLang="zh-CN" b="1" dirty="0">
                <a:solidFill>
                  <a:srgbClr val="0000CC"/>
                </a:solidFill>
                <a:latin typeface="微软雅黑" panose="020B0503020204020204" pitchFamily="34" charset="-122"/>
                <a:ea typeface="微软雅黑" panose="020B0503020204020204" pitchFamily="34" charset="-122"/>
              </a:rPr>
              <a:t>TEID</a:t>
            </a:r>
            <a:r>
              <a:rPr lang="en-US" altLang="zh-CN" b="1" baseline="-25000" dirty="0">
                <a:solidFill>
                  <a:srgbClr val="0000CC"/>
                </a:solidFill>
                <a:latin typeface="微软雅黑" panose="020B0503020204020204" pitchFamily="34" charset="-122"/>
                <a:ea typeface="微软雅黑" panose="020B0503020204020204" pitchFamily="34" charset="-122"/>
              </a:rPr>
              <a:t>2</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写入到 </a:t>
            </a:r>
            <a:r>
              <a:rPr lang="en-US" altLang="zh-CN" b="1" dirty="0">
                <a:latin typeface="微软雅黑" panose="020B0503020204020204" pitchFamily="34" charset="-122"/>
                <a:ea typeface="微软雅黑" panose="020B0503020204020204" pitchFamily="34" charset="-122"/>
              </a:rPr>
              <a:t>GTP </a:t>
            </a:r>
            <a:r>
              <a:rPr lang="zh-CN" altLang="en-US" b="1" dirty="0">
                <a:latin typeface="微软雅黑" panose="020B0503020204020204" pitchFamily="34" charset="-122"/>
                <a:ea typeface="微软雅黑" panose="020B0503020204020204" pitchFamily="34" charset="-122"/>
              </a:rPr>
              <a:t>首部中。</a:t>
            </a:r>
            <a:endParaRPr lang="en-US" altLang="zh-CN" b="1" dirty="0">
              <a:latin typeface="微软雅黑" panose="020B0503020204020204" pitchFamily="34" charset="-122"/>
              <a:ea typeface="微软雅黑" panose="020B0503020204020204"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rPr>
              <a:t>在 </a:t>
            </a:r>
            <a:r>
              <a:rPr lang="en-US" altLang="zh-CN" b="1" dirty="0">
                <a:latin typeface="微软雅黑" panose="020B0503020204020204" pitchFamily="34" charset="-122"/>
                <a:ea typeface="微软雅黑" panose="020B0503020204020204" pitchFamily="34" charset="-122"/>
              </a:rPr>
              <a:t>S-GW → P-GW </a:t>
            </a:r>
            <a:r>
              <a:rPr lang="zh-CN" altLang="en-US" b="1" dirty="0">
                <a:latin typeface="微软雅黑" panose="020B0503020204020204" pitchFamily="34" charset="-122"/>
                <a:ea typeface="微软雅黑" panose="020B0503020204020204" pitchFamily="34" charset="-122"/>
              </a:rPr>
              <a:t>隧道中传送的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分组：</a:t>
            </a:r>
            <a:endParaRPr lang="en-US" altLang="zh-CN" b="1" dirty="0">
              <a:latin typeface="微软雅黑" panose="020B0503020204020204" pitchFamily="34" charset="-122"/>
              <a:ea typeface="微软雅黑" panose="020B0503020204020204"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目的地址 </a:t>
            </a:r>
            <a:r>
              <a:rPr lang="en-US" altLang="zh-CN" b="1" dirty="0">
                <a:latin typeface="微软雅黑" panose="020B0503020204020204" pitchFamily="34" charset="-122"/>
                <a:ea typeface="微软雅黑" panose="020B0503020204020204" pitchFamily="34" charset="-122"/>
              </a:rPr>
              <a:t>IP</a:t>
            </a:r>
            <a:r>
              <a:rPr lang="en-US" altLang="zh-CN" b="1" baseline="-25000" dirty="0">
                <a:latin typeface="微软雅黑" panose="020B0503020204020204" pitchFamily="34" charset="-122"/>
                <a:ea typeface="微软雅黑" panose="020B0503020204020204" pitchFamily="34" charset="-122"/>
              </a:rPr>
              <a:t>D</a:t>
            </a:r>
            <a:r>
              <a:rPr lang="en-US" altLang="zh-CN" b="1" dirty="0">
                <a:latin typeface="微软雅黑" panose="020B0503020204020204" pitchFamily="34" charset="-122"/>
                <a:ea typeface="微软雅黑" panose="020B0503020204020204" pitchFamily="34" charset="-122"/>
              </a:rPr>
              <a:t> = P-GW</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源地址 </a:t>
            </a:r>
            <a:r>
              <a:rPr lang="en-US" altLang="zh-CN" b="1" dirty="0">
                <a:latin typeface="微软雅黑" panose="020B0503020204020204" pitchFamily="34" charset="-122"/>
                <a:ea typeface="微软雅黑" panose="020B0503020204020204" pitchFamily="34" charset="-122"/>
              </a:rPr>
              <a:t>IP</a:t>
            </a:r>
            <a:r>
              <a:rPr lang="en-US" altLang="zh-CN" b="1" baseline="-25000" dirty="0">
                <a:latin typeface="微软雅黑" panose="020B0503020204020204" pitchFamily="34" charset="-122"/>
                <a:ea typeface="微软雅黑" panose="020B0503020204020204" pitchFamily="34" charset="-122"/>
              </a:rPr>
              <a:t>S</a:t>
            </a:r>
            <a:r>
              <a:rPr lang="en-US" altLang="zh-CN" b="1" dirty="0">
                <a:latin typeface="微软雅黑" panose="020B0503020204020204" pitchFamily="34" charset="-122"/>
                <a:ea typeface="微软雅黑" panose="020B0503020204020204" pitchFamily="34" charset="-122"/>
              </a:rPr>
              <a:t> = S-GW</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最后</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P-GW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把从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GTP-U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隧道</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收到</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分组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解封，</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得到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发送的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分组，转发</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到互联网的百度网站</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smtClean="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例：</a:t>
            </a:r>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访问</a:t>
            </a:r>
            <a:r>
              <a:rPr lang="zh-CN" altLang="en-US" sz="2000" b="1" dirty="0">
                <a:solidFill>
                  <a:schemeClr val="bg1"/>
                </a:solidFill>
                <a:latin typeface="微软雅黑" panose="020B0503020204020204" pitchFamily="34" charset="-122"/>
                <a:ea typeface="微软雅黑" panose="020B0503020204020204" pitchFamily="34" charset="-122"/>
              </a:rPr>
              <a:t>百度网站（</a:t>
            </a:r>
            <a:r>
              <a:rPr lang="en-US" altLang="zh-CN" sz="2000" b="1" dirty="0">
                <a:solidFill>
                  <a:schemeClr val="bg1"/>
                </a:solidFill>
                <a:latin typeface="微软雅黑" panose="020B0503020204020204" pitchFamily="34" charset="-122"/>
                <a:ea typeface="微软雅黑" panose="020B0503020204020204" pitchFamily="34" charset="-122"/>
              </a:rPr>
              <a:t>www.baidu.com</a:t>
            </a:r>
            <a:r>
              <a:rPr lang="zh-CN" altLang="en-US" sz="2000" b="1" dirty="0">
                <a:solidFill>
                  <a:schemeClr val="bg1"/>
                </a:solidFill>
                <a:latin typeface="微软雅黑" panose="020B0503020204020204" pitchFamily="34" charset="-122"/>
                <a:ea typeface="微软雅黑" panose="020B0503020204020204" pitchFamily="34" charset="-122"/>
              </a:rPr>
              <a: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在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漫游时，</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所关联的基</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站 </a:t>
            </a:r>
            <a:r>
              <a:rPr lang="en-US" altLang="zh-CN" b="1" dirty="0" err="1"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eNB</a:t>
            </a:r>
            <a:r>
              <a:rPr lang="en-US" altLang="zh-CN"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会</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经常</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改变。</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使得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P-GW/GGSN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和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S-GW/SGSN</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 无法根据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地址</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，用传统的路由选择协议，</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把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分组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转发</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到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但所有的 </a:t>
            </a:r>
            <a:r>
              <a:rPr lang="en-US" altLang="zh-CN"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和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P-GW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地理位置都是</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固定不变</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的，因而可以让</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核心</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网 </a:t>
            </a:r>
            <a:r>
              <a:rPr lang="en-US" altLang="zh-CN"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EPC </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只</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负责</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核心网</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内部的路由选择</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2800"/>
              </a:lnSpc>
              <a:buClr>
                <a:srgbClr val="0070C0"/>
              </a:buClr>
              <a:buFont typeface="Wingdings" panose="05000000000000000000" pitchFamily="2" charset="2"/>
              <a:buChar char="l"/>
            </a:pP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采用 </a:t>
            </a:r>
            <a:r>
              <a:rPr lang="en-US" altLang="zh-CN"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GTP </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隧道</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方式</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核心网</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将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发送</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到互联网</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分组</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封装</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为新</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分组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，在隧道中传送</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到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P-GW</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。以后再</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由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P-GW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转发</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给互联网中的其他路由器</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。同理</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，从互联网发送</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给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分组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，一律先转发</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到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P-GW</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由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P-GW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负责</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确定从哪个隧道转发</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到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和 </a:t>
            </a:r>
            <a:r>
              <a:rPr lang="en-US" altLang="zh-CN"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，最后</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再从 </a:t>
            </a:r>
            <a:r>
              <a:rPr lang="en-US" altLang="zh-CN"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转发</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到</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目的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238835" y="585623"/>
            <a:ext cx="26525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为何</a:t>
            </a:r>
            <a:r>
              <a:rPr lang="zh-CN" altLang="en-US" sz="2000" b="1" dirty="0" smtClean="0">
                <a:solidFill>
                  <a:schemeClr val="bg1"/>
                </a:solidFill>
                <a:latin typeface="微软雅黑" panose="020B0503020204020204" pitchFamily="34" charset="-122"/>
                <a:ea typeface="微软雅黑" panose="020B0503020204020204" pitchFamily="34" charset="-122"/>
              </a:rPr>
              <a:t>使用 </a:t>
            </a:r>
            <a:r>
              <a:rPr lang="en-US" altLang="zh-CN" sz="2000" b="1" dirty="0" smtClean="0">
                <a:solidFill>
                  <a:schemeClr val="bg1"/>
                </a:solidFill>
                <a:latin typeface="微软雅黑" panose="020B0503020204020204" pitchFamily="34" charset="-122"/>
                <a:ea typeface="微软雅黑" panose="020B0503020204020204" pitchFamily="34" charset="-122"/>
              </a:rPr>
              <a:t>GTP </a:t>
            </a:r>
            <a:r>
              <a:rPr lang="zh-CN" altLang="en-US" sz="2000" b="1" dirty="0" smtClean="0">
                <a:solidFill>
                  <a:schemeClr val="bg1"/>
                </a:solidFill>
                <a:latin typeface="微软雅黑" panose="020B0503020204020204" pitchFamily="34" charset="-122"/>
                <a:ea typeface="微软雅黑" panose="020B0503020204020204" pitchFamily="34" charset="-122"/>
              </a:rPr>
              <a:t>隧道？</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4265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百度服务器并</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不知道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空口状态，而只</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知道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地址。</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正常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IP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分组转发</a:t>
            </a:r>
            <a:endPar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百度服务器以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地址为目的地址，构成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分组发送出去</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互联网</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中的路由器根据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分组的目的地址，能够找到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所驻留的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P-GW</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在隧道中转发给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S-GW</a:t>
            </a:r>
            <a:endPar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P-GW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通过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地址就能通过对应的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GTP-U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隧道，把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分组封装为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GTP-U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分组，在隧道中转发给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S-GW</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例：百度服务器</a:t>
            </a:r>
            <a:r>
              <a:rPr lang="zh-CN" altLang="en-US" sz="2000" b="1" dirty="0" smtClean="0">
                <a:solidFill>
                  <a:schemeClr val="bg1"/>
                </a:solidFill>
                <a:latin typeface="微软雅黑" panose="020B0503020204020204" pitchFamily="34" charset="-122"/>
                <a:ea typeface="微软雅黑" panose="020B0503020204020204" pitchFamily="34" charset="-122"/>
              </a:rPr>
              <a:t>向 </a:t>
            </a:r>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发送数据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en-US" altLang="zh-CN" sz="2000" b="1" dirty="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通过 </a:t>
            </a:r>
            <a:r>
              <a:rPr lang="en-US" altLang="zh-CN" sz="2000"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向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转发。</a:t>
            </a:r>
            <a:r>
              <a:rPr lang="zh-CN" altLang="en-US" sz="2000"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有</a:t>
            </a:r>
            <a:r>
              <a:rPr lang="zh-CN" altLang="en-US" sz="2000"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两种情况：</a:t>
            </a:r>
            <a:endParaRPr lang="zh-CN" altLang="en-US" sz="2000"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28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S-GW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和 </a:t>
            </a:r>
            <a:r>
              <a:rPr lang="en-US" altLang="zh-CN" sz="2000" b="1" dirty="0" err="1"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eNB</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之间的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GTP-U</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隧道存在。</a:t>
            </a:r>
            <a:endPar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把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GTP-U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分组通过隧道发送给 </a:t>
            </a:r>
            <a:r>
              <a:rPr lang="en-US" altLang="zh-CN" b="1" dirty="0" err="1">
                <a:latin typeface="微软雅黑" panose="020B0503020204020204" pitchFamily="34" charset="-122"/>
                <a:ea typeface="微软雅黑" panose="020B0503020204020204" pitchFamily="34" charset="-122"/>
                <a:sym typeface="Wingdings 2" panose="05020102010507070707" pitchFamily="18" charset="2"/>
              </a:rPr>
              <a:t>eNB</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err="1">
                <a:latin typeface="微软雅黑" panose="020B0503020204020204" pitchFamily="34" charset="-122"/>
                <a:ea typeface="微软雅黑" panose="020B0503020204020204" pitchFamily="34" charset="-122"/>
                <a:sym typeface="Wingdings 2" panose="05020102010507070707" pitchFamily="18" charset="2"/>
              </a:rPr>
              <a:t>eNB</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把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GTP-U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分组解封，在空口链路上采用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PDCP/RLC/MAC/PHY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层封装，把数据发送给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UE</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28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S-GW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和 </a:t>
            </a:r>
            <a:r>
              <a:rPr lang="en-US" altLang="zh-CN" sz="2000" b="1" dirty="0" err="1"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eNB</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之间的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GTP-U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隧道</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不存在。</a:t>
            </a:r>
            <a:endPar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此时，</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处于空口空闲状态。</a:t>
            </a:r>
            <a:endParaRPr lang="en-US" altLang="zh-CN"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因为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LTE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中的所有基站 </a:t>
            </a:r>
            <a:r>
              <a:rPr lang="en-US" altLang="zh-CN"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都不知道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在什么地方，</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只好先把收到的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分组</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暂时缓存，</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并触发移动性管理实体 </a:t>
            </a:r>
            <a:r>
              <a:rPr lang="en-US" altLang="zh-CN"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MME</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寻呼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（有时称为唤醒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smtClean="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例：百度服务器</a:t>
            </a:r>
            <a:r>
              <a:rPr lang="zh-CN" altLang="en-US" sz="2000" b="1" dirty="0" smtClean="0">
                <a:solidFill>
                  <a:schemeClr val="bg1"/>
                </a:solidFill>
                <a:latin typeface="微软雅黑" panose="020B0503020204020204" pitchFamily="34" charset="-122"/>
                <a:ea typeface="微软雅黑" panose="020B0503020204020204" pitchFamily="34" charset="-122"/>
              </a:rPr>
              <a:t>向 </a:t>
            </a:r>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发送数据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23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跟踪区 </a:t>
            </a:r>
            <a:r>
              <a:rPr lang="en-US" altLang="zh-CN" sz="2000"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TA </a:t>
            </a:r>
            <a:r>
              <a:rPr lang="en-US" altLang="zh-CN" sz="2000" b="1" dirty="0">
                <a:latin typeface="微软雅黑" panose="020B0503020204020204" pitchFamily="34" charset="-122"/>
                <a:ea typeface="微软雅黑" panose="020B0503020204020204" pitchFamily="34" charset="-122"/>
                <a:sym typeface="Wingdings 2" panose="05020102010507070707" pitchFamily="18" charset="2"/>
              </a:rPr>
              <a:t>(Tracking Area)</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整个覆盖范围划分为很多跟踪区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TA</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，由唯一的跟踪区标识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TAI (Tracking Area Identity)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标识。</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是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LTE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系统中</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位置更新</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和</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寻呼</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的基本单位。</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一个跟踪区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TA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可以覆盖多个小区。</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处于待机状态的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必须收听邻近 </a:t>
            </a:r>
            <a:r>
              <a:rPr lang="en-US" altLang="zh-CN" b="1" dirty="0" err="1">
                <a:latin typeface="微软雅黑" panose="020B0503020204020204" pitchFamily="34" charset="-122"/>
                <a:ea typeface="微软雅黑" panose="020B0503020204020204" pitchFamily="34" charset="-122"/>
                <a:sym typeface="Wingdings 2" panose="05020102010507070707" pitchFamily="18" charset="2"/>
              </a:rPr>
              <a:t>eNB</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的广播，以便知道自己位于哪个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TA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中。</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必须</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周期性</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向核心网的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MME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报告自己的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TAI</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，以便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MME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能够寻呼到自己。</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MME </a:t>
            </a:r>
            <a:r>
              <a:rPr lang="zh-CN" altLang="en-US" sz="2000" b="1" dirty="0">
                <a:solidFill>
                  <a:schemeClr val="bg1"/>
                </a:solidFill>
                <a:latin typeface="微软雅黑" panose="020B0503020204020204" pitchFamily="34" charset="-122"/>
                <a:ea typeface="微软雅黑" panose="020B0503020204020204" pitchFamily="34" charset="-122"/>
              </a:rPr>
              <a:t>寻呼 </a:t>
            </a:r>
            <a:r>
              <a:rPr lang="en-US" altLang="zh-CN" sz="2000" b="1" dirty="0">
                <a:solidFill>
                  <a:schemeClr val="bg1"/>
                </a:solidFill>
                <a:latin typeface="微软雅黑" panose="020B0503020204020204" pitchFamily="34" charset="-122"/>
                <a:ea typeface="微软雅黑" panose="020B0503020204020204" pitchFamily="34" charset="-122"/>
              </a:rPr>
              <a:t>UE</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2467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跟踪区</a:t>
            </a:r>
            <a:r>
              <a:rPr lang="zh-CN" altLang="en-US" sz="2000"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列表 </a:t>
            </a:r>
            <a:r>
              <a:rPr lang="en-US" altLang="zh-CN" sz="2000"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TAL </a:t>
            </a:r>
            <a:r>
              <a:rPr lang="en-US" altLang="zh-CN" sz="2000" b="1" dirty="0">
                <a:latin typeface="微软雅黑" panose="020B0503020204020204" pitchFamily="34" charset="-122"/>
                <a:ea typeface="微软雅黑" panose="020B0503020204020204" pitchFamily="34" charset="-122"/>
                <a:sym typeface="Wingdings 2" panose="05020102010507070707" pitchFamily="18" charset="2"/>
              </a:rPr>
              <a:t>(Tracking Area List</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为了避免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在 </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TA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区域间频繁切换时造成核心网信令负荷过重，</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MME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把一组（</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1 ~ 16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个）</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TA </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写入一个</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跟踪区列表 </a:t>
            </a:r>
            <a:r>
              <a:rPr lang="en-US" altLang="zh-CN"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TAL</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当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在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TAL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范围</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内</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跨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漫游</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时</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不必</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向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MME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发送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更新</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报文</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如果这时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MME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需要</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寻呼</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UE</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，只需在一</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个 </a:t>
            </a:r>
            <a:r>
              <a:rPr lang="en-US" altLang="zh-CN"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TAL </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小范围</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内进行寻呼。</a:t>
            </a:r>
            <a:endParaRPr lang="en-US" altLang="zh-CN" b="1" dirty="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2800"/>
              </a:lnSpc>
              <a:buClr>
                <a:srgbClr val="0070C0"/>
              </a:buClr>
              <a:buFont typeface="Wingdings" panose="05000000000000000000" pitchFamily="2" charset="2"/>
              <a:buChar char="l"/>
            </a:pPr>
            <a:endParaRPr lang="en-US" altLang="zh-CN" sz="20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MME </a:t>
            </a:r>
            <a:r>
              <a:rPr lang="zh-CN" altLang="en-US" sz="2000" b="1" dirty="0">
                <a:solidFill>
                  <a:schemeClr val="bg1"/>
                </a:solidFill>
                <a:latin typeface="微软雅黑" panose="020B0503020204020204" pitchFamily="34" charset="-122"/>
                <a:ea typeface="微软雅黑" panose="020B0503020204020204" pitchFamily="34" charset="-122"/>
              </a:rPr>
              <a:t>寻呼 </a:t>
            </a:r>
            <a:r>
              <a:rPr lang="en-US" altLang="zh-CN" sz="2000" b="1" dirty="0">
                <a:solidFill>
                  <a:schemeClr val="bg1"/>
                </a:solidFill>
                <a:latin typeface="微软雅黑" panose="020B0503020204020204" pitchFamily="34" charset="-122"/>
                <a:ea typeface="微软雅黑" panose="020B0503020204020204" pitchFamily="34" charset="-122"/>
              </a:rPr>
              <a:t>UE</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跟踪</a:t>
            </a:r>
            <a:r>
              <a:rPr lang="zh-CN" altLang="en-US" sz="2000" b="1" dirty="0">
                <a:solidFill>
                  <a:schemeClr val="bg1"/>
                </a:solidFill>
                <a:latin typeface="微软雅黑" panose="020B0503020204020204" pitchFamily="34" charset="-122"/>
                <a:ea typeface="微软雅黑" panose="020B0503020204020204" pitchFamily="34" charset="-122"/>
              </a:rPr>
              <a:t>区</a:t>
            </a:r>
            <a:r>
              <a:rPr lang="zh-CN" altLang="en-US" sz="2000" b="1" dirty="0" smtClean="0">
                <a:solidFill>
                  <a:schemeClr val="bg1"/>
                </a:solidFill>
                <a:latin typeface="微软雅黑" panose="020B0503020204020204" pitchFamily="34" charset="-122"/>
                <a:ea typeface="微软雅黑" panose="020B0503020204020204" pitchFamily="34" charset="-122"/>
              </a:rPr>
              <a:t>列表 </a:t>
            </a:r>
            <a:r>
              <a:rPr lang="en-US" altLang="zh-CN" sz="2000" b="1" dirty="0" smtClean="0">
                <a:solidFill>
                  <a:schemeClr val="bg1"/>
                </a:solidFill>
                <a:latin typeface="微软雅黑" panose="020B0503020204020204" pitchFamily="34" charset="-122"/>
                <a:ea typeface="微软雅黑" panose="020B0503020204020204" pitchFamily="34" charset="-122"/>
              </a:rPr>
              <a:t>TAL </a:t>
            </a:r>
            <a:r>
              <a:rPr lang="zh-CN" altLang="en-US" sz="2000" b="1" dirty="0" smtClean="0">
                <a:solidFill>
                  <a:schemeClr val="bg1"/>
                </a:solidFill>
                <a:latin typeface="微软雅黑" panose="020B0503020204020204" pitchFamily="34" charset="-122"/>
                <a:ea typeface="微软雅黑" panose="020B0503020204020204" pitchFamily="34" charset="-122"/>
              </a:rPr>
              <a:t>更新</a:t>
            </a:r>
            <a:r>
              <a:rPr lang="zh-CN" altLang="en-US" sz="2000" b="1" dirty="0">
                <a:solidFill>
                  <a:schemeClr val="bg1"/>
                </a:solidFill>
                <a:latin typeface="微软雅黑" panose="020B0503020204020204" pitchFamily="34" charset="-122"/>
                <a:ea typeface="微软雅黑" panose="020B0503020204020204" pitchFamily="34" charset="-122"/>
              </a:rPr>
              <a:t>的过程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endParaRPr lang="zh-CN" altLang="en-US" sz="1200" b="1" dirty="0">
              <a:solidFill>
                <a:srgbClr val="9900CC"/>
              </a:solidFill>
              <a:latin typeface="微软雅黑" panose="020B0503020204020204" pitchFamily="34" charset="-122"/>
              <a:ea typeface="微软雅黑" panose="020B0503020204020204" pitchFamily="34" charset="-122"/>
            </a:endParaRP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endParaRPr kumimoji="1" lang="zh-CN" altLang="en-US" sz="1400" b="1" dirty="0">
              <a:latin typeface="微软雅黑" panose="020B0503020204020204" pitchFamily="34" charset="-122"/>
              <a:ea typeface="微软雅黑" panose="020B0503020204020204" pitchFamily="34" charset="-122"/>
            </a:endParaRP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1" fmla="*/ 174171 w 1248228"/>
              <a:gd name="connsiteY0-2" fmla="*/ 0 h 925286"/>
              <a:gd name="connsiteX1-3" fmla="*/ 0 w 1248228"/>
              <a:gd name="connsiteY1-4" fmla="*/ 315686 h 925286"/>
              <a:gd name="connsiteX2-5" fmla="*/ 200907 w 1248228"/>
              <a:gd name="connsiteY2-6" fmla="*/ 632530 h 925286"/>
              <a:gd name="connsiteX3-7" fmla="*/ 533400 w 1248228"/>
              <a:gd name="connsiteY3-8" fmla="*/ 627743 h 925286"/>
              <a:gd name="connsiteX4-9" fmla="*/ 707571 w 1248228"/>
              <a:gd name="connsiteY4-10" fmla="*/ 925286 h 925286"/>
              <a:gd name="connsiteX5-11" fmla="*/ 1059542 w 1248228"/>
              <a:gd name="connsiteY5-12" fmla="*/ 925286 h 925286"/>
              <a:gd name="connsiteX6-13" fmla="*/ 1248228 w 1248228"/>
              <a:gd name="connsiteY6-14" fmla="*/ 613229 h 925286"/>
              <a:gd name="connsiteX7-15" fmla="*/ 1070428 w 1248228"/>
              <a:gd name="connsiteY7-16" fmla="*/ 304800 h 925286"/>
              <a:gd name="connsiteX8-17" fmla="*/ 703942 w 1248228"/>
              <a:gd name="connsiteY8-18" fmla="*/ 297543 h 925286"/>
              <a:gd name="connsiteX9-19" fmla="*/ 526142 w 1248228"/>
              <a:gd name="connsiteY9-20" fmla="*/ 0 h 925286"/>
              <a:gd name="connsiteX10-21" fmla="*/ 174171 w 1248228"/>
              <a:gd name="connsiteY10-22" fmla="*/ 0 h 925286"/>
              <a:gd name="connsiteX0-23" fmla="*/ 174171 w 1248228"/>
              <a:gd name="connsiteY0-24" fmla="*/ 0 h 925286"/>
              <a:gd name="connsiteX1-25" fmla="*/ 0 w 1248228"/>
              <a:gd name="connsiteY1-26" fmla="*/ 315686 h 925286"/>
              <a:gd name="connsiteX2-27" fmla="*/ 200907 w 1248228"/>
              <a:gd name="connsiteY2-28" fmla="*/ 632530 h 925286"/>
              <a:gd name="connsiteX3-29" fmla="*/ 533400 w 1248228"/>
              <a:gd name="connsiteY3-30" fmla="*/ 627743 h 925286"/>
              <a:gd name="connsiteX4-31" fmla="*/ 707571 w 1248228"/>
              <a:gd name="connsiteY4-32" fmla="*/ 925286 h 925286"/>
              <a:gd name="connsiteX5-33" fmla="*/ 1059542 w 1248228"/>
              <a:gd name="connsiteY5-34" fmla="*/ 925286 h 925286"/>
              <a:gd name="connsiteX6-35" fmla="*/ 1248228 w 1248228"/>
              <a:gd name="connsiteY6-36" fmla="*/ 613229 h 925286"/>
              <a:gd name="connsiteX7-37" fmla="*/ 1070428 w 1248228"/>
              <a:gd name="connsiteY7-38" fmla="*/ 304800 h 925286"/>
              <a:gd name="connsiteX8-39" fmla="*/ 711907 w 1248228"/>
              <a:gd name="connsiteY8-40" fmla="*/ 300099 h 925286"/>
              <a:gd name="connsiteX9-41" fmla="*/ 526142 w 1248228"/>
              <a:gd name="connsiteY9-42" fmla="*/ 0 h 925286"/>
              <a:gd name="connsiteX10-43" fmla="*/ 174171 w 1248228"/>
              <a:gd name="connsiteY10-44" fmla="*/ 0 h 92528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在位置</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属于跟踪</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区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600" b="1" kern="500" baseline="-25000" dirty="0" smtClean="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把</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这个位置信息报告</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，然后</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向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发送</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一个跟踪区</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列表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4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跟踪</a:t>
            </a:r>
            <a:r>
              <a:rPr lang="zh-CN" altLang="en-US" sz="2000" b="1" dirty="0">
                <a:solidFill>
                  <a:schemeClr val="bg1"/>
                </a:solidFill>
                <a:latin typeface="微软雅黑" panose="020B0503020204020204" pitchFamily="34" charset="-122"/>
                <a:ea typeface="微软雅黑" panose="020B0503020204020204" pitchFamily="34" charset="-122"/>
              </a:rPr>
              <a:t>区</a:t>
            </a:r>
            <a:r>
              <a:rPr lang="zh-CN" altLang="en-US" sz="2000" b="1" dirty="0" smtClean="0">
                <a:solidFill>
                  <a:schemeClr val="bg1"/>
                </a:solidFill>
                <a:latin typeface="微软雅黑" panose="020B0503020204020204" pitchFamily="34" charset="-122"/>
                <a:ea typeface="微软雅黑" panose="020B0503020204020204" pitchFamily="34" charset="-122"/>
              </a:rPr>
              <a:t>列表 </a:t>
            </a:r>
            <a:r>
              <a:rPr lang="en-US" altLang="zh-CN" sz="2000" b="1" dirty="0" smtClean="0">
                <a:solidFill>
                  <a:schemeClr val="bg1"/>
                </a:solidFill>
                <a:latin typeface="微软雅黑" panose="020B0503020204020204" pitchFamily="34" charset="-122"/>
                <a:ea typeface="微软雅黑" panose="020B0503020204020204" pitchFamily="34" charset="-122"/>
              </a:rPr>
              <a:t>TAL </a:t>
            </a:r>
            <a:r>
              <a:rPr lang="zh-CN" altLang="en-US" sz="2000" b="1" dirty="0" smtClean="0">
                <a:solidFill>
                  <a:schemeClr val="bg1"/>
                </a:solidFill>
                <a:latin typeface="微软雅黑" panose="020B0503020204020204" pitchFamily="34" charset="-122"/>
                <a:ea typeface="微软雅黑" panose="020B0503020204020204" pitchFamily="34" charset="-122"/>
              </a:rPr>
              <a:t>更新</a:t>
            </a:r>
            <a:r>
              <a:rPr lang="zh-CN" altLang="en-US" sz="2000" b="1" dirty="0">
                <a:solidFill>
                  <a:schemeClr val="bg1"/>
                </a:solidFill>
                <a:latin typeface="微软雅黑" panose="020B0503020204020204" pitchFamily="34" charset="-122"/>
                <a:ea typeface="微软雅黑" panose="020B0503020204020204" pitchFamily="34" charset="-122"/>
              </a:rPr>
              <a:t>的过程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endParaRPr lang="zh-CN" altLang="en-US" sz="1200" b="1" dirty="0">
              <a:solidFill>
                <a:srgbClr val="9900CC"/>
              </a:solidFill>
              <a:latin typeface="微软雅黑" panose="020B0503020204020204" pitchFamily="34" charset="-122"/>
              <a:ea typeface="微软雅黑" panose="020B0503020204020204" pitchFamily="34" charset="-122"/>
            </a:endParaRP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endParaRPr kumimoji="1" lang="zh-CN" altLang="en-US" sz="1400" b="1" dirty="0">
              <a:latin typeface="微软雅黑" panose="020B0503020204020204" pitchFamily="34" charset="-122"/>
              <a:ea typeface="微软雅黑" panose="020B0503020204020204" pitchFamily="34" charset="-122"/>
            </a:endParaRP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1" fmla="*/ 174171 w 1248228"/>
              <a:gd name="connsiteY0-2" fmla="*/ 0 h 925286"/>
              <a:gd name="connsiteX1-3" fmla="*/ 0 w 1248228"/>
              <a:gd name="connsiteY1-4" fmla="*/ 315686 h 925286"/>
              <a:gd name="connsiteX2-5" fmla="*/ 200907 w 1248228"/>
              <a:gd name="connsiteY2-6" fmla="*/ 632530 h 925286"/>
              <a:gd name="connsiteX3-7" fmla="*/ 533400 w 1248228"/>
              <a:gd name="connsiteY3-8" fmla="*/ 627743 h 925286"/>
              <a:gd name="connsiteX4-9" fmla="*/ 707571 w 1248228"/>
              <a:gd name="connsiteY4-10" fmla="*/ 925286 h 925286"/>
              <a:gd name="connsiteX5-11" fmla="*/ 1059542 w 1248228"/>
              <a:gd name="connsiteY5-12" fmla="*/ 925286 h 925286"/>
              <a:gd name="connsiteX6-13" fmla="*/ 1248228 w 1248228"/>
              <a:gd name="connsiteY6-14" fmla="*/ 613229 h 925286"/>
              <a:gd name="connsiteX7-15" fmla="*/ 1070428 w 1248228"/>
              <a:gd name="connsiteY7-16" fmla="*/ 304800 h 925286"/>
              <a:gd name="connsiteX8-17" fmla="*/ 703942 w 1248228"/>
              <a:gd name="connsiteY8-18" fmla="*/ 297543 h 925286"/>
              <a:gd name="connsiteX9-19" fmla="*/ 526142 w 1248228"/>
              <a:gd name="connsiteY9-20" fmla="*/ 0 h 925286"/>
              <a:gd name="connsiteX10-21" fmla="*/ 174171 w 1248228"/>
              <a:gd name="connsiteY10-22" fmla="*/ 0 h 925286"/>
              <a:gd name="connsiteX0-23" fmla="*/ 174171 w 1248228"/>
              <a:gd name="connsiteY0-24" fmla="*/ 0 h 925286"/>
              <a:gd name="connsiteX1-25" fmla="*/ 0 w 1248228"/>
              <a:gd name="connsiteY1-26" fmla="*/ 315686 h 925286"/>
              <a:gd name="connsiteX2-27" fmla="*/ 200907 w 1248228"/>
              <a:gd name="connsiteY2-28" fmla="*/ 632530 h 925286"/>
              <a:gd name="connsiteX3-29" fmla="*/ 533400 w 1248228"/>
              <a:gd name="connsiteY3-30" fmla="*/ 627743 h 925286"/>
              <a:gd name="connsiteX4-31" fmla="*/ 707571 w 1248228"/>
              <a:gd name="connsiteY4-32" fmla="*/ 925286 h 925286"/>
              <a:gd name="connsiteX5-33" fmla="*/ 1059542 w 1248228"/>
              <a:gd name="connsiteY5-34" fmla="*/ 925286 h 925286"/>
              <a:gd name="connsiteX6-35" fmla="*/ 1248228 w 1248228"/>
              <a:gd name="connsiteY6-36" fmla="*/ 613229 h 925286"/>
              <a:gd name="connsiteX7-37" fmla="*/ 1070428 w 1248228"/>
              <a:gd name="connsiteY7-38" fmla="*/ 304800 h 925286"/>
              <a:gd name="connsiteX8-39" fmla="*/ 711907 w 1248228"/>
              <a:gd name="connsiteY8-40" fmla="*/ 300099 h 925286"/>
              <a:gd name="connsiteX9-41" fmla="*/ 526142 w 1248228"/>
              <a:gd name="connsiteY9-42" fmla="*/ 0 h 925286"/>
              <a:gd name="connsiteX10-43" fmla="*/ 174171 w 1248228"/>
              <a:gd name="connsiteY10-44" fmla="*/ 0 h 92528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0"/>
            <a:ext cx="406509" cy="35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漫游</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位置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，其跟踪区</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列表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没</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变</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因此不向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发送</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2"/>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35" presetClass="emph" presetSubtype="0" repeatCount="3000" fill="hold" grpId="0" nodeType="afterEffect">
                                  <p:stCondLst>
                                    <p:cond delay="0"/>
                                  </p:stCondLst>
                                  <p:childTnLst>
                                    <p:anim calcmode="discrete" valueType="str">
                                      <p:cBhvr>
                                        <p:cTn id="9" dur="1000" fill="hold"/>
                                        <p:tgtEl>
                                          <p:spTgt spid="2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 grpId="0"/>
      <p:bldP spid="242"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跟踪</a:t>
            </a:r>
            <a:r>
              <a:rPr lang="zh-CN" altLang="en-US" sz="2000" b="1" dirty="0">
                <a:solidFill>
                  <a:schemeClr val="bg1"/>
                </a:solidFill>
                <a:latin typeface="微软雅黑" panose="020B0503020204020204" pitchFamily="34" charset="-122"/>
                <a:ea typeface="微软雅黑" panose="020B0503020204020204" pitchFamily="34" charset="-122"/>
              </a:rPr>
              <a:t>区</a:t>
            </a:r>
            <a:r>
              <a:rPr lang="zh-CN" altLang="en-US" sz="2000" b="1" dirty="0" smtClean="0">
                <a:solidFill>
                  <a:schemeClr val="bg1"/>
                </a:solidFill>
                <a:latin typeface="微软雅黑" panose="020B0503020204020204" pitchFamily="34" charset="-122"/>
                <a:ea typeface="微软雅黑" panose="020B0503020204020204" pitchFamily="34" charset="-122"/>
              </a:rPr>
              <a:t>列表 </a:t>
            </a:r>
            <a:r>
              <a:rPr lang="en-US" altLang="zh-CN" sz="2000" b="1" dirty="0" smtClean="0">
                <a:solidFill>
                  <a:schemeClr val="bg1"/>
                </a:solidFill>
                <a:latin typeface="微软雅黑" panose="020B0503020204020204" pitchFamily="34" charset="-122"/>
                <a:ea typeface="微软雅黑" panose="020B0503020204020204" pitchFamily="34" charset="-122"/>
              </a:rPr>
              <a:t>TAL </a:t>
            </a:r>
            <a:r>
              <a:rPr lang="zh-CN" altLang="en-US" sz="2000" b="1" dirty="0" smtClean="0">
                <a:solidFill>
                  <a:schemeClr val="bg1"/>
                </a:solidFill>
                <a:latin typeface="微软雅黑" panose="020B0503020204020204" pitchFamily="34" charset="-122"/>
                <a:ea typeface="微软雅黑" panose="020B0503020204020204" pitchFamily="34" charset="-122"/>
              </a:rPr>
              <a:t>更新</a:t>
            </a:r>
            <a:r>
              <a:rPr lang="zh-CN" altLang="en-US" sz="2000" b="1" dirty="0">
                <a:solidFill>
                  <a:schemeClr val="bg1"/>
                </a:solidFill>
                <a:latin typeface="微软雅黑" panose="020B0503020204020204" pitchFamily="34" charset="-122"/>
                <a:ea typeface="微软雅黑" panose="020B0503020204020204" pitchFamily="34" charset="-122"/>
              </a:rPr>
              <a:t>的过程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endParaRPr lang="zh-CN" altLang="en-US" sz="1200" b="1" dirty="0">
              <a:solidFill>
                <a:srgbClr val="9900CC"/>
              </a:solidFill>
              <a:latin typeface="微软雅黑" panose="020B0503020204020204" pitchFamily="34" charset="-122"/>
              <a:ea typeface="微软雅黑" panose="020B0503020204020204" pitchFamily="34" charset="-122"/>
            </a:endParaRP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endParaRP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endParaRPr kumimoji="1" lang="zh-CN" altLang="en-US" sz="1400" b="1" dirty="0">
              <a:latin typeface="微软雅黑" panose="020B0503020204020204" pitchFamily="34" charset="-122"/>
              <a:ea typeface="微软雅黑" panose="020B0503020204020204" pitchFamily="34" charset="-122"/>
            </a:endParaRP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1" fmla="*/ 174171 w 1248228"/>
              <a:gd name="connsiteY0-2" fmla="*/ 0 h 925286"/>
              <a:gd name="connsiteX1-3" fmla="*/ 0 w 1248228"/>
              <a:gd name="connsiteY1-4" fmla="*/ 315686 h 925286"/>
              <a:gd name="connsiteX2-5" fmla="*/ 200907 w 1248228"/>
              <a:gd name="connsiteY2-6" fmla="*/ 632530 h 925286"/>
              <a:gd name="connsiteX3-7" fmla="*/ 533400 w 1248228"/>
              <a:gd name="connsiteY3-8" fmla="*/ 627743 h 925286"/>
              <a:gd name="connsiteX4-9" fmla="*/ 707571 w 1248228"/>
              <a:gd name="connsiteY4-10" fmla="*/ 925286 h 925286"/>
              <a:gd name="connsiteX5-11" fmla="*/ 1059542 w 1248228"/>
              <a:gd name="connsiteY5-12" fmla="*/ 925286 h 925286"/>
              <a:gd name="connsiteX6-13" fmla="*/ 1248228 w 1248228"/>
              <a:gd name="connsiteY6-14" fmla="*/ 613229 h 925286"/>
              <a:gd name="connsiteX7-15" fmla="*/ 1070428 w 1248228"/>
              <a:gd name="connsiteY7-16" fmla="*/ 304800 h 925286"/>
              <a:gd name="connsiteX8-17" fmla="*/ 703942 w 1248228"/>
              <a:gd name="connsiteY8-18" fmla="*/ 297543 h 925286"/>
              <a:gd name="connsiteX9-19" fmla="*/ 526142 w 1248228"/>
              <a:gd name="connsiteY9-20" fmla="*/ 0 h 925286"/>
              <a:gd name="connsiteX10-21" fmla="*/ 174171 w 1248228"/>
              <a:gd name="connsiteY10-22" fmla="*/ 0 h 925286"/>
              <a:gd name="connsiteX0-23" fmla="*/ 174171 w 1248228"/>
              <a:gd name="connsiteY0-24" fmla="*/ 0 h 925286"/>
              <a:gd name="connsiteX1-25" fmla="*/ 0 w 1248228"/>
              <a:gd name="connsiteY1-26" fmla="*/ 315686 h 925286"/>
              <a:gd name="connsiteX2-27" fmla="*/ 200907 w 1248228"/>
              <a:gd name="connsiteY2-28" fmla="*/ 632530 h 925286"/>
              <a:gd name="connsiteX3-29" fmla="*/ 533400 w 1248228"/>
              <a:gd name="connsiteY3-30" fmla="*/ 627743 h 925286"/>
              <a:gd name="connsiteX4-31" fmla="*/ 707571 w 1248228"/>
              <a:gd name="connsiteY4-32" fmla="*/ 925286 h 925286"/>
              <a:gd name="connsiteX5-33" fmla="*/ 1059542 w 1248228"/>
              <a:gd name="connsiteY5-34" fmla="*/ 925286 h 925286"/>
              <a:gd name="connsiteX6-35" fmla="*/ 1248228 w 1248228"/>
              <a:gd name="connsiteY6-36" fmla="*/ 613229 h 925286"/>
              <a:gd name="connsiteX7-37" fmla="*/ 1070428 w 1248228"/>
              <a:gd name="connsiteY7-38" fmla="*/ 304800 h 925286"/>
              <a:gd name="connsiteX8-39" fmla="*/ 711907 w 1248228"/>
              <a:gd name="connsiteY8-40" fmla="*/ 300099 h 925286"/>
              <a:gd name="connsiteX9-41" fmla="*/ 526142 w 1248228"/>
              <a:gd name="connsiteY9-42" fmla="*/ 0 h 925286"/>
              <a:gd name="connsiteX10-43" fmla="*/ 174171 w 1248228"/>
              <a:gd name="connsiteY10-44" fmla="*/ 0 h 92528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868048" y="3781807"/>
            <a:ext cx="7785464" cy="938719"/>
          </a:xfrm>
          <a:prstGeom prst="rect">
            <a:avLst/>
          </a:prstGeom>
        </p:spPr>
        <p:txBody>
          <a:bodyPr wrap="square">
            <a:spAutoFit/>
          </a:bodyPr>
          <a:lstStyle/>
          <a:p>
            <a:pPr>
              <a:lnSpc>
                <a:spcPts val="2200"/>
              </a:lnSpc>
            </a:pP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漫游</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到</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位置 </a:t>
            </a:r>
            <a:r>
              <a:rPr lang="zh-CN" altLang="en-US" sz="15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时，发现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smtClean="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不在</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自己的跟踪区</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列表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中</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因此向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更新报文，</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把</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的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发送给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。只要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内</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漫游（即</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3</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范围</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中），就可以不</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向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更新</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报文</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，减小</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了对核心网的信令压力</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MME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对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进行</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寻呼时，不必在</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整个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LTE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网络</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范围内广播，而只需</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向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所在</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的跟踪区</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列表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TAL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内</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数量不太多的基</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站 </a:t>
            </a:r>
            <a:r>
              <a:rPr lang="en-US" altLang="zh-CN" sz="2000"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发送</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寻呼报文</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当</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某个基</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站 </a:t>
            </a:r>
            <a:r>
              <a:rPr lang="en-US" altLang="zh-CN" sz="2000"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寻呼到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后</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就</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在小区响应寻呼，</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触发 </a:t>
            </a:r>
            <a:r>
              <a:rPr lang="en-US" altLang="zh-CN" sz="2000"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建立</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与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之间的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GTP-U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隧道。</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之后</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把</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刚才缓存</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分组</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转发</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给 </a:t>
            </a:r>
            <a:r>
              <a:rPr lang="en-US" altLang="zh-CN" sz="2000"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再转发</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给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由于分组交换流量的突发性，同时为了节省无线空口资源，</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经常</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会处于空闲状态，因此可能会发生频繁的寻呼。</a:t>
            </a:r>
            <a:endParaRPr lang="en-US" altLang="zh-CN" sz="20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MME </a:t>
            </a:r>
            <a:r>
              <a:rPr lang="zh-CN" altLang="en-US" sz="2000" b="1" dirty="0">
                <a:solidFill>
                  <a:schemeClr val="bg1"/>
                </a:solidFill>
                <a:latin typeface="微软雅黑" panose="020B0503020204020204" pitchFamily="34" charset="-122"/>
                <a:ea typeface="微软雅黑" panose="020B0503020204020204" pitchFamily="34" charset="-122"/>
              </a:rPr>
              <a:t>寻呼 </a:t>
            </a:r>
            <a:r>
              <a:rPr lang="en-US" altLang="zh-CN" sz="2000" b="1" dirty="0">
                <a:solidFill>
                  <a:schemeClr val="bg1"/>
                </a:solidFill>
                <a:latin typeface="微软雅黑" panose="020B0503020204020204" pitchFamily="34" charset="-122"/>
                <a:ea typeface="微软雅黑" panose="020B0503020204020204" pitchFamily="34" charset="-122"/>
              </a:rPr>
              <a:t>UE</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在</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漫游中不断测量小区</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导频信号强度，</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并将测量结果上报给基</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站 </a:t>
            </a:r>
            <a:r>
              <a:rPr lang="en-US" altLang="zh-CN" sz="2000"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若 </a:t>
            </a:r>
            <a:r>
              <a:rPr lang="en-US" altLang="zh-CN" sz="2000"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发现</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有更合适的小区，会</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触发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进行</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切换</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，并在新小区</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建立</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空口</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链路，</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释放</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旧小区的空口链路，同时也</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把 </a:t>
            </a:r>
            <a:r>
              <a:rPr lang="en-US" altLang="zh-CN" sz="2000" b="1" dirty="0" err="1" smtClean="0">
                <a:latin typeface="微软雅黑" panose="020B0503020204020204" pitchFamily="34" charset="-122"/>
                <a:ea typeface="微软雅黑" panose="020B0503020204020204" pitchFamily="34" charset="-122"/>
                <a:sym typeface="Wingdings 2" panose="05020102010507070707" pitchFamily="18" charset="2"/>
              </a:rPr>
              <a:t>eNB</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和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之间的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GTP-U</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隧道从旧小区</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切换</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到新小区</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由于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覆盖</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范围很大，</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通常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S-GW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和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P-GW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之间的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GTP-U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隧道</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并不会重新建立</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在</a:t>
            </a:r>
            <a:r>
              <a:rPr lang="zh-CN" altLang="en-US" sz="2000"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切换过程中，数据通信不会中断。</a:t>
            </a:r>
            <a:endParaRPr lang="en-US" altLang="zh-CN" sz="2000"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5"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在</a:t>
            </a:r>
            <a:r>
              <a:rPr lang="zh-CN" altLang="en-US" sz="2000" b="1" dirty="0">
                <a:solidFill>
                  <a:schemeClr val="bg1"/>
                </a:solidFill>
                <a:latin typeface="微软雅黑" panose="020B0503020204020204" pitchFamily="34" charset="-122"/>
                <a:ea typeface="微软雅黑" panose="020B0503020204020204" pitchFamily="34" charset="-122"/>
              </a:rPr>
              <a:t>空口链路已建立的情况下进行漫游</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041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不难看出，从一</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个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UE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发送</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到百度服务器的</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往返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IP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分组</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共通过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4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段隧道，</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一共</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要在 </a:t>
            </a:r>
            <a:r>
              <a:rPr lang="en-US" altLang="zh-CN" sz="2000" b="1" dirty="0">
                <a:latin typeface="微软雅黑" panose="020B0503020204020204" pitchFamily="34" charset="-122"/>
                <a:ea typeface="微软雅黑" panose="020B0503020204020204" pitchFamily="34" charset="-122"/>
                <a:sym typeface="Wingdings 2" panose="05020102010507070707" pitchFamily="18" charset="2"/>
              </a:rPr>
              <a:t>GTP </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首部中使用 </a:t>
            </a:r>
            <a:r>
              <a:rPr lang="en-US" altLang="zh-CN"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4 </a:t>
            </a:r>
            <a:r>
              <a:rPr lang="zh-CN" altLang="en-US"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个</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不同的 </a:t>
            </a:r>
            <a:r>
              <a:rPr lang="en-US" altLang="zh-CN" sz="2000" b="1" dirty="0">
                <a:latin typeface="微软雅黑" panose="020B0503020204020204" pitchFamily="34" charset="-122"/>
                <a:ea typeface="微软雅黑" panose="020B0503020204020204" pitchFamily="34" charset="-122"/>
                <a:sym typeface="Wingdings 2" panose="05020102010507070707" pitchFamily="18" charset="2"/>
              </a:rPr>
              <a:t>GTP </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隧道端点标识符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TEID</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sz="2000" b="1" dirty="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两个上行隧道。</a:t>
            </a:r>
            <a:endParaRPr lang="en-US" altLang="zh-CN" sz="2000" b="1" dirty="0">
              <a:latin typeface="微软雅黑" panose="020B0503020204020204" pitchFamily="34" charset="-122"/>
              <a:ea typeface="微软雅黑" panose="020B0503020204020204"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两个下行隧道。</a:t>
            </a:r>
            <a:endParaRPr lang="en-US" altLang="zh-CN" sz="20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364319" y="585623"/>
            <a:ext cx="240161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UE </a:t>
            </a:r>
            <a:r>
              <a:rPr lang="zh-CN" altLang="en-US" sz="2000" b="1" dirty="0" smtClean="0">
                <a:solidFill>
                  <a:schemeClr val="bg1"/>
                </a:solidFill>
                <a:latin typeface="微软雅黑" panose="020B0503020204020204" pitchFamily="34" charset="-122"/>
                <a:ea typeface="微软雅黑" panose="020B0503020204020204" pitchFamily="34" charset="-122"/>
              </a:rPr>
              <a:t>与互联网的通信</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en-US" altLang="zh-CN"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IEEE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802.16 </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标准：</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全球微波接入的</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互操作性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WiMAX (</a:t>
            </a:r>
            <a:r>
              <a:rPr lang="en-US" altLang="zh-CN" sz="2000" b="1" dirty="0">
                <a:latin typeface="微软雅黑" panose="020B0503020204020204" pitchFamily="34" charset="-122"/>
                <a:ea typeface="微软雅黑" panose="020B0503020204020204" pitchFamily="34" charset="-122"/>
                <a:sym typeface="Wingdings 2" panose="05020102010507070707" pitchFamily="18" charset="2"/>
              </a:rPr>
              <a:t>Worldwide Interoperability for Microwave Access</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标准，</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2011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年，</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3GPP R10</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LTE-Advanced</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，简称为</a:t>
            </a:r>
            <a:r>
              <a:rPr lang="en-US" altLang="zh-CN" sz="2000" b="1" dirty="0">
                <a:latin typeface="微软雅黑" panose="020B0503020204020204" pitchFamily="34" charset="-122"/>
                <a:ea typeface="微软雅黑" panose="020B0503020204020204" pitchFamily="34" charset="-122"/>
                <a:sym typeface="Wingdings 2" panose="05020102010507070707" pitchFamily="18" charset="2"/>
              </a:rPr>
              <a:t>LTE-A</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，达到了</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ITU-R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制订的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4G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标准。</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2015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年，</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3GPP R13</a:t>
            </a:r>
            <a:r>
              <a:rPr lang="zh-CN" altLang="en-US"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LTE-A </a:t>
            </a:r>
            <a:r>
              <a:rPr lang="en-US" altLang="zh-CN"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Pro</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，吞吐量超过</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了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3 </a:t>
            </a:r>
            <a:r>
              <a:rPr lang="en-US" altLang="zh-CN" sz="2000" b="1" dirty="0" err="1">
                <a:latin typeface="微软雅黑" panose="020B0503020204020204" pitchFamily="34" charset="-122"/>
                <a:ea typeface="微软雅黑" panose="020B0503020204020204" pitchFamily="34" charset="-122"/>
                <a:sym typeface="Wingdings 2" panose="05020102010507070707" pitchFamily="18" charset="2"/>
              </a:rPr>
              <a:t>Gbit</a:t>
            </a:r>
            <a:r>
              <a:rPr lang="en-US" altLang="zh-CN" sz="2000" b="1" dirty="0">
                <a:latin typeface="微软雅黑" panose="020B0503020204020204" pitchFamily="34" charset="-122"/>
                <a:ea typeface="微软雅黑" panose="020B0503020204020204" pitchFamily="34" charset="-122"/>
                <a:sym typeface="Wingdings 2" panose="05020102010507070707" pitchFamily="18" charset="2"/>
              </a:rPr>
              <a:t>/s</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，俗称</a:t>
            </a:r>
            <a:r>
              <a:rPr lang="en-US" altLang="zh-CN" sz="20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4.5G</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，表示已经</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超过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4G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水平了。</a:t>
            </a:r>
            <a:endParaRPr lang="zh-CN" altLang="en-US" sz="2000" b="1" dirty="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从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2017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年第 </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4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季度</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开始，</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3GPP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又</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陆续</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发布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R15/16</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等</a:t>
            </a:r>
            <a:r>
              <a:rPr lang="zh-CN" altLang="en-US" sz="2000"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第 </a:t>
            </a:r>
            <a:r>
              <a:rPr lang="en-US" altLang="zh-CN" sz="2000"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5 </a:t>
            </a:r>
            <a:r>
              <a:rPr lang="zh-CN" altLang="en-US" sz="2000"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代</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蜂窝移动通信</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系统 </a:t>
            </a:r>
            <a:r>
              <a:rPr lang="en-US" altLang="zh-CN" sz="2000"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5G</a:t>
            </a: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标准</a:t>
            </a:r>
            <a:r>
              <a:rPr lang="zh-CN" altLang="en-US" sz="2000" b="1" dirty="0">
                <a:latin typeface="微软雅黑" panose="020B0503020204020204" pitchFamily="34" charset="-122"/>
                <a:ea typeface="微软雅黑" panose="020B0503020204020204" pitchFamily="34" charset="-122"/>
                <a:sym typeface="Wingdings 2" panose="05020102010507070707" pitchFamily="18" charset="2"/>
              </a:rPr>
              <a:t>的</a:t>
            </a:r>
            <a:r>
              <a:rPr lang="zh-CN" altLang="en-US" sz="2000" b="1" dirty="0" smtClean="0">
                <a:latin typeface="微软雅黑" panose="020B0503020204020204" pitchFamily="34" charset="-122"/>
                <a:ea typeface="微软雅黑" panose="020B0503020204020204" pitchFamily="34" charset="-122"/>
                <a:sym typeface="Wingdings 2" panose="05020102010507070707" pitchFamily="18" charset="2"/>
              </a:rPr>
              <a:t>版本。</a:t>
            </a:r>
            <a:endPar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27446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anose="020B0503020204020204" pitchFamily="34" charset="-122"/>
                <a:ea typeface="微软雅黑" panose="020B0503020204020204" pitchFamily="34" charset="-122"/>
              </a:rPr>
              <a:t>其他 </a:t>
            </a:r>
            <a:r>
              <a:rPr lang="en-US" altLang="zh-CN" sz="2000" b="1" dirty="0">
                <a:latin typeface="微软雅黑" panose="020B0503020204020204" pitchFamily="34" charset="-122"/>
                <a:ea typeface="微软雅黑" panose="020B0503020204020204" pitchFamily="34" charset="-122"/>
              </a:rPr>
              <a:t>4G </a:t>
            </a:r>
            <a:r>
              <a:rPr lang="zh-CN" altLang="en-US" sz="2000" b="1" dirty="0">
                <a:latin typeface="微软雅黑" panose="020B0503020204020204" pitchFamily="34" charset="-122"/>
                <a:ea typeface="微软雅黑" panose="020B0503020204020204" pitchFamily="34" charset="-122"/>
              </a:rPr>
              <a:t>无线网络技术</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6" name="Rectangle 29"/>
          <p:cNvSpPr>
            <a:spLocks noChangeArrowheads="1"/>
          </p:cNvSpPr>
          <p:nvPr/>
        </p:nvSpPr>
        <p:spPr bwMode="auto">
          <a:xfrm>
            <a:off x="716986" y="134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anose="020B0503020204020204" pitchFamily="34" charset="-122"/>
                <a:ea typeface="微软雅黑" panose="020B0503020204020204" pitchFamily="34" charset="-122"/>
              </a:rPr>
              <a:t>9.4</a:t>
            </a:r>
            <a:endParaRPr lang="fr-FR"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移动 </a:t>
            </a:r>
            <a:r>
              <a:rPr lang="en-US" altLang="zh-CN" sz="2000" b="1" dirty="0" smtClean="0">
                <a:solidFill>
                  <a:schemeClr val="bg1"/>
                </a:solidFill>
                <a:latin typeface="微软雅黑" panose="020B0503020204020204" pitchFamily="34" charset="-122"/>
                <a:ea typeface="微软雅黑" panose="020B0503020204020204" pitchFamily="34" charset="-122"/>
              </a:rPr>
              <a:t>IP</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smtClean="0">
                <a:solidFill>
                  <a:schemeClr val="bg1"/>
                </a:solidFill>
                <a:latin typeface="微软雅黑" panose="020B0503020204020204" pitchFamily="34" charset="-122"/>
                <a:ea typeface="微软雅黑" panose="020B0503020204020204" pitchFamily="34" charset="-122"/>
              </a:rPr>
              <a:t>9.4.1  	                               </a:t>
            </a:r>
            <a:r>
              <a:rPr lang="zh-CN" altLang="en-US" sz="2000" b="1" dirty="0" smtClean="0">
                <a:solidFill>
                  <a:schemeClr val="bg1"/>
                </a:solidFill>
                <a:latin typeface="微软雅黑" panose="020B0503020204020204" pitchFamily="34" charset="-122"/>
                <a:ea typeface="微软雅黑" panose="020B0503020204020204" pitchFamily="34" charset="-122"/>
              </a:rPr>
              <a:t>移动 </a:t>
            </a:r>
            <a:r>
              <a:rPr lang="en-US" altLang="zh-CN" sz="2000" b="1" dirty="0" smtClean="0">
                <a:solidFill>
                  <a:schemeClr val="bg1"/>
                </a:solidFill>
                <a:latin typeface="微软雅黑" panose="020B0503020204020204" pitchFamily="34" charset="-122"/>
                <a:ea typeface="微软雅黑" panose="020B0503020204020204" pitchFamily="34" charset="-122"/>
              </a:rPr>
              <a:t>IP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基本概念</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smtClean="0">
                <a:solidFill>
                  <a:schemeClr val="bg1"/>
                </a:solidFill>
                <a:latin typeface="微软雅黑" panose="020B0503020204020204" pitchFamily="34" charset="-122"/>
                <a:ea typeface="微软雅黑" panose="020B0503020204020204" pitchFamily="34" charset="-122"/>
              </a:rPr>
              <a:t>9.4.2  		        </a:t>
            </a:r>
            <a:r>
              <a:rPr lang="zh-CN" altLang="en-US" sz="2000" b="1" dirty="0" smtClean="0">
                <a:solidFill>
                  <a:schemeClr val="bg1"/>
                </a:solidFill>
                <a:latin typeface="微软雅黑" panose="020B0503020204020204" pitchFamily="34" charset="-122"/>
                <a:ea typeface="微软雅黑" panose="020B0503020204020204" pitchFamily="34" charset="-122"/>
              </a:rPr>
              <a:t>移动</a:t>
            </a:r>
            <a:r>
              <a:rPr lang="zh-CN" altLang="en-US" sz="2000" b="1" dirty="0">
                <a:solidFill>
                  <a:schemeClr val="bg1"/>
                </a:solidFill>
                <a:latin typeface="微软雅黑" panose="020B0503020204020204" pitchFamily="34" charset="-122"/>
                <a:ea typeface="微软雅黑" panose="020B0503020204020204" pitchFamily="34" charset="-122"/>
              </a:rPr>
              <a:t>网络对高层协议的</a:t>
            </a:r>
            <a:r>
              <a:rPr lang="zh-CN" altLang="en-US" sz="2000" b="1" dirty="0" smtClean="0">
                <a:solidFill>
                  <a:schemeClr val="bg1"/>
                </a:solidFill>
                <a:latin typeface="微软雅黑" panose="020B0503020204020204" pitchFamily="34" charset="-122"/>
                <a:ea typeface="微软雅黑" panose="020B0503020204020204" pitchFamily="34" charset="-122"/>
              </a:rPr>
              <a:t>影响</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2745615" y="594451"/>
            <a:ext cx="36615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9.4.1 </a:t>
            </a:r>
            <a:r>
              <a:rPr lang="zh-CN" altLang="en-US" sz="2400" b="1" dirty="0" smtClean="0">
                <a:solidFill>
                  <a:schemeClr val="bg1"/>
                </a:solidFill>
                <a:latin typeface="微软雅黑" panose="020B0503020204020204" pitchFamily="34" charset="-122"/>
                <a:ea typeface="微软雅黑" panose="020B0503020204020204" pitchFamily="34" charset="-122"/>
              </a:rPr>
              <a:t>移动 </a:t>
            </a:r>
            <a:r>
              <a:rPr lang="en-US" altLang="zh-CN" sz="2400" b="1" dirty="0" smtClean="0">
                <a:solidFill>
                  <a:schemeClr val="bg1"/>
                </a:solidFill>
                <a:latin typeface="微软雅黑" panose="020B0503020204020204" pitchFamily="34" charset="-122"/>
                <a:ea typeface="微软雅黑" panose="020B0503020204020204" pitchFamily="34" charset="-122"/>
              </a:rPr>
              <a:t>IP </a:t>
            </a:r>
            <a:r>
              <a:rPr lang="zh-CN" altLang="en-US" sz="2400" b="1" dirty="0" smtClean="0">
                <a:solidFill>
                  <a:schemeClr val="bg1"/>
                </a:solidFill>
                <a:latin typeface="微软雅黑" panose="020B0503020204020204" pitchFamily="34" charset="-122"/>
                <a:ea typeface="微软雅黑" panose="020B0503020204020204" pitchFamily="34" charset="-122"/>
              </a:rPr>
              <a:t>的</a:t>
            </a:r>
            <a:r>
              <a:rPr lang="zh-CN" altLang="en-US" sz="2400" b="1" dirty="0">
                <a:solidFill>
                  <a:schemeClr val="bg1"/>
                </a:solidFill>
                <a:latin typeface="微软雅黑" panose="020B0503020204020204" pitchFamily="34" charset="-122"/>
                <a:ea typeface="微软雅黑" panose="020B0503020204020204" pitchFamily="34" charset="-122"/>
              </a:rPr>
              <a:t>基本概念</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042920"/>
            <a:ext cx="8129016"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传统</a:t>
            </a:r>
            <a:r>
              <a:rPr lang="zh-CN" altLang="en-US" sz="2000" b="1" dirty="0" smtClean="0">
                <a:latin typeface="微软雅黑" panose="020B0503020204020204" pitchFamily="34" charset="-122"/>
                <a:ea typeface="微软雅黑" panose="020B0503020204020204" pitchFamily="34" charset="-122"/>
              </a:rPr>
              <a:t>计算机</a:t>
            </a:r>
            <a:r>
              <a:rPr lang="zh-CN" altLang="en-US" sz="2000" b="1" dirty="0">
                <a:latin typeface="微软雅黑" panose="020B0503020204020204" pitchFamily="34" charset="-122"/>
                <a:ea typeface="微软雅黑" panose="020B0503020204020204" pitchFamily="34" charset="-122"/>
              </a:rPr>
              <a:t>的位置都是固定不变的</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便携式笔记本</a:t>
            </a:r>
            <a:r>
              <a:rPr lang="zh-CN" altLang="en-US" sz="2000" b="1" dirty="0" smtClean="0">
                <a:latin typeface="微软雅黑" panose="020B0503020204020204" pitchFamily="34" charset="-122"/>
                <a:ea typeface="微软雅黑" panose="020B0503020204020204" pitchFamily="34" charset="-122"/>
              </a:rPr>
              <a:t>电脑允许用户</a:t>
            </a:r>
            <a:r>
              <a:rPr lang="zh-CN" altLang="en-US" sz="2000" b="1" dirty="0">
                <a:latin typeface="微软雅黑" panose="020B0503020204020204" pitchFamily="34" charset="-122"/>
                <a:ea typeface="微软雅黑" panose="020B0503020204020204" pitchFamily="34" charset="-122"/>
              </a:rPr>
              <a:t>在不同地点</a:t>
            </a:r>
            <a:r>
              <a:rPr lang="zh-CN" altLang="en-US" sz="2000" b="1" dirty="0" smtClean="0">
                <a:latin typeface="微软雅黑" panose="020B0503020204020204" pitchFamily="34" charset="-122"/>
                <a:ea typeface="微软雅黑" panose="020B0503020204020204" pitchFamily="34" charset="-122"/>
              </a:rPr>
              <a:t>上网，使用不同的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地址，不是</a:t>
            </a:r>
            <a:r>
              <a:rPr lang="zh-CN" altLang="en-US" sz="2000" b="1" dirty="0" smtClean="0">
                <a:latin typeface="微软雅黑" panose="020B0503020204020204" pitchFamily="34" charset="-122"/>
                <a:ea typeface="微软雅黑" panose="020B0503020204020204" pitchFamily="34" charset="-122"/>
              </a:rPr>
              <a:t>移动 </a:t>
            </a:r>
            <a:r>
              <a:rPr lang="en-US" altLang="zh-CN" sz="2000" b="1" dirty="0" smtClean="0">
                <a:latin typeface="微软雅黑" panose="020B0503020204020204" pitchFamily="34" charset="-122"/>
                <a:ea typeface="微软雅黑" panose="020B0503020204020204" pitchFamily="34" charset="-122"/>
              </a:rPr>
              <a:t>IP</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移动中浏览网页</a:t>
            </a:r>
            <a:r>
              <a:rPr lang="zh-CN" altLang="en-US" sz="2000" b="1" dirty="0" smtClean="0">
                <a:latin typeface="微软雅黑" panose="020B0503020204020204" pitchFamily="34" charset="-122"/>
                <a:ea typeface="微软雅黑" panose="020B0503020204020204" pitchFamily="34" charset="-122"/>
              </a:rPr>
              <a:t>，若要在</a:t>
            </a:r>
            <a:r>
              <a:rPr lang="zh-CN" altLang="en-US" sz="2000" b="1" dirty="0">
                <a:latin typeface="微软雅黑" panose="020B0503020204020204" pitchFamily="34" charset="-122"/>
                <a:ea typeface="微软雅黑" panose="020B0503020204020204" pitchFamily="34" charset="-122"/>
              </a:rPr>
              <a:t>移动中</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不中断，就必须使移动站</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solidFill>
                  <a:srgbClr val="0000CC"/>
                </a:solidFill>
                <a:latin typeface="微软雅黑" panose="020B0503020204020204" pitchFamily="34" charset="-122"/>
                <a:ea typeface="微软雅黑" panose="020B0503020204020204" pitchFamily="34" charset="-122"/>
              </a:rPr>
              <a:t>IP </a:t>
            </a:r>
            <a:r>
              <a:rPr lang="zh-CN" altLang="en-US" sz="2000" b="1" dirty="0" smtClean="0">
                <a:solidFill>
                  <a:srgbClr val="0000CC"/>
                </a:solidFill>
                <a:latin typeface="微软雅黑" panose="020B0503020204020204" pitchFamily="34" charset="-122"/>
                <a:ea typeface="微软雅黑" panose="020B0503020204020204" pitchFamily="34" charset="-122"/>
              </a:rPr>
              <a:t>地址</a:t>
            </a:r>
            <a:r>
              <a:rPr lang="zh-CN" altLang="en-US" sz="2000" b="1" dirty="0">
                <a:latin typeface="微软雅黑" panose="020B0503020204020204" pitchFamily="34" charset="-122"/>
                <a:ea typeface="微软雅黑" panose="020B0503020204020204" pitchFamily="34" charset="-122"/>
              </a:rPr>
              <a:t>在移动中</a:t>
            </a:r>
            <a:r>
              <a:rPr lang="zh-CN" altLang="en-US" sz="2000" b="1" dirty="0">
                <a:solidFill>
                  <a:srgbClr val="0000CC"/>
                </a:solidFill>
                <a:latin typeface="微软雅黑" panose="020B0503020204020204" pitchFamily="34" charset="-122"/>
                <a:ea typeface="微软雅黑" panose="020B0503020204020204" pitchFamily="34" charset="-122"/>
              </a:rPr>
              <a:t>保持不变</a:t>
            </a:r>
            <a:r>
              <a:rPr lang="zh-CN" altLang="en-US" sz="2000" b="1" dirty="0" smtClean="0">
                <a:solidFill>
                  <a:srgbClr val="0000CC"/>
                </a:solidFill>
                <a:latin typeface="微软雅黑" panose="020B0503020204020204" pitchFamily="34" charset="-122"/>
                <a:ea typeface="微软雅黑" panose="020B0503020204020204" pitchFamily="34" charset="-122"/>
              </a:rPr>
              <a:t>。</a:t>
            </a:r>
            <a:endParaRPr lang="en-US" altLang="zh-CN" sz="2000" b="1" dirty="0" smtClean="0">
              <a:solidFill>
                <a:srgbClr val="0000CC"/>
              </a:solidFill>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LTE </a:t>
            </a:r>
            <a:r>
              <a:rPr lang="zh-CN" altLang="en-US" sz="2000" b="1" dirty="0" smtClean="0">
                <a:latin typeface="微软雅黑" panose="020B0503020204020204" pitchFamily="34" charset="-122"/>
                <a:ea typeface="微软雅黑" panose="020B0503020204020204" pitchFamily="34" charset="-122"/>
              </a:rPr>
              <a:t>中手机可以在漫游（移动）中保持与互联网的通信。</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移动 </a:t>
            </a:r>
            <a:r>
              <a:rPr lang="en-US" altLang="zh-CN" sz="2000" b="1" dirty="0">
                <a:solidFill>
                  <a:srgbClr val="C00000"/>
                </a:solidFill>
                <a:latin typeface="微软雅黑" panose="020B0503020204020204" pitchFamily="34" charset="-122"/>
                <a:ea typeface="微软雅黑" panose="020B0503020204020204" pitchFamily="34" charset="-122"/>
              </a:rPr>
              <a:t>IP (Mobile IP) </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由 </a:t>
            </a:r>
            <a:r>
              <a:rPr lang="en-US" altLang="zh-CN" sz="2000" b="1" dirty="0">
                <a:latin typeface="微软雅黑" panose="020B0503020204020204" pitchFamily="34" charset="-122"/>
                <a:ea typeface="微软雅黑" panose="020B0503020204020204" pitchFamily="34" charset="-122"/>
              </a:rPr>
              <a:t>IETF </a:t>
            </a:r>
            <a:r>
              <a:rPr lang="zh-CN" altLang="en-US" sz="2000" b="1" dirty="0">
                <a:latin typeface="微软雅黑" panose="020B0503020204020204" pitchFamily="34" charset="-122"/>
                <a:ea typeface="微软雅黑" panose="020B0503020204020204" pitchFamily="34" charset="-122"/>
              </a:rPr>
              <a:t>开发的一种技术，允许计算机移动到外地时，仍然保留其原来的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移动 </a:t>
            </a:r>
            <a:r>
              <a:rPr lang="en-US" altLang="zh-CN" sz="2000" b="1" dirty="0">
                <a:solidFill>
                  <a:srgbClr val="C00000"/>
                </a:solidFill>
                <a:latin typeface="微软雅黑" panose="020B0503020204020204" pitchFamily="34" charset="-122"/>
                <a:ea typeface="微软雅黑" panose="020B0503020204020204" pitchFamily="34" charset="-122"/>
              </a:rPr>
              <a:t>IP </a:t>
            </a:r>
            <a:r>
              <a:rPr lang="zh-CN" altLang="en-US" sz="2000" b="1" dirty="0">
                <a:solidFill>
                  <a:srgbClr val="C00000"/>
                </a:solidFill>
                <a:latin typeface="微软雅黑" panose="020B0503020204020204" pitchFamily="34" charset="-122"/>
                <a:ea typeface="微软雅黑" panose="020B0503020204020204" pitchFamily="34" charset="-122"/>
              </a:rPr>
              <a:t>要解决的问题：</a:t>
            </a:r>
            <a:r>
              <a:rPr lang="zh-CN" altLang="en-US" sz="2000" b="1" dirty="0">
                <a:latin typeface="微软雅黑" panose="020B0503020204020204" pitchFamily="34" charset="-122"/>
                <a:ea typeface="微软雅黑" panose="020B0503020204020204" pitchFamily="34" charset="-122"/>
              </a:rPr>
              <a:t>使用户的移动性对上层的网络应用透明。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移动 </a:t>
            </a:r>
            <a:r>
              <a:rPr lang="en-US" altLang="zh-CN" sz="2000" b="1" dirty="0">
                <a:solidFill>
                  <a:schemeClr val="bg1"/>
                </a:solidFill>
                <a:ea typeface="微软雅黑" panose="020B0503020204020204" pitchFamily="34" charset="-122"/>
              </a:rPr>
              <a:t>IP </a:t>
            </a:r>
            <a:r>
              <a:rPr lang="zh-CN" altLang="en-US" sz="2000" b="1" dirty="0">
                <a:solidFill>
                  <a:schemeClr val="bg1"/>
                </a:solidFill>
                <a:ea typeface="微软雅黑" panose="020B0503020204020204" pitchFamily="34" charset="-122"/>
              </a:rPr>
              <a:t>使用的基本概念 </a:t>
            </a:r>
            <a:endParaRPr lang="zh-CN" altLang="en-US" sz="2000" b="1" dirty="0">
              <a:solidFill>
                <a:schemeClr val="bg1"/>
              </a:solidFill>
              <a:ea typeface="微软雅黑" panose="020B0503020204020204" pitchFamily="34" charset="-122"/>
            </a:endParaRPr>
          </a:p>
        </p:txBody>
      </p:sp>
      <p:sp>
        <p:nvSpPr>
          <p:cNvPr id="5" name="矩形 4"/>
          <p:cNvSpPr/>
          <p:nvPr/>
        </p:nvSpPr>
        <p:spPr>
          <a:xfrm>
            <a:off x="804804" y="2924706"/>
            <a:ext cx="7737886" cy="1631216"/>
          </a:xfrm>
          <a:prstGeom prst="rect">
            <a:avLst/>
          </a:prstGeom>
          <a:noFill/>
          <a:ln>
            <a:noFill/>
          </a:ln>
        </p:spPr>
        <p:txBody>
          <a:bodyPr wrap="square">
            <a:spAutoFit/>
          </a:bodyPr>
          <a:lstStyle/>
          <a:p>
            <a:pPr>
              <a:lnSpc>
                <a:spcPts val="2400"/>
              </a:lnSpc>
            </a:pPr>
            <a:r>
              <a:rPr lang="zh-CN" altLang="en-US" sz="1600" b="1" dirty="0" smtClean="0">
                <a:latin typeface="微软雅黑" panose="020B0503020204020204" pitchFamily="34" charset="-122"/>
                <a:ea typeface="微软雅黑" panose="020B0503020204020204" pitchFamily="34" charset="-122"/>
              </a:rPr>
              <a:t>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必须</a:t>
            </a:r>
            <a:r>
              <a:rPr lang="zh-CN" altLang="en-US" sz="1600" b="1" dirty="0">
                <a:latin typeface="微软雅黑" panose="020B0503020204020204" pitchFamily="34" charset="-122"/>
                <a:ea typeface="微软雅黑" panose="020B0503020204020204" pitchFamily="34" charset="-122"/>
              </a:rPr>
              <a:t>有一个原始地址，即</a:t>
            </a:r>
            <a:r>
              <a:rPr lang="zh-CN" altLang="en-US" sz="1600" b="1" dirty="0">
                <a:solidFill>
                  <a:srgbClr val="0000FF"/>
                </a:solidFill>
                <a:latin typeface="微软雅黑" panose="020B0503020204020204" pitchFamily="34" charset="-122"/>
                <a:ea typeface="微软雅黑" panose="020B0503020204020204" pitchFamily="34" charset="-122"/>
              </a:rPr>
              <a:t>永久地址</a:t>
            </a:r>
            <a:r>
              <a:rPr lang="zh-CN" altLang="en-US" sz="1600" b="1" dirty="0">
                <a:latin typeface="微软雅黑" panose="020B0503020204020204" pitchFamily="34" charset="-122"/>
                <a:ea typeface="微软雅黑" panose="020B0503020204020204" pitchFamily="34" charset="-122"/>
              </a:rPr>
              <a:t>，或</a:t>
            </a:r>
            <a:r>
              <a:rPr lang="zh-CN" altLang="en-US" sz="1600" b="1" dirty="0">
                <a:solidFill>
                  <a:srgbClr val="0000CC"/>
                </a:solidFill>
                <a:latin typeface="微软雅黑" panose="020B0503020204020204" pitchFamily="34" charset="-122"/>
                <a:ea typeface="微软雅黑" panose="020B0503020204020204" pitchFamily="34" charset="-122"/>
              </a:rPr>
              <a:t>归属</a:t>
            </a:r>
            <a:r>
              <a:rPr lang="zh-CN" altLang="en-US" sz="1600" b="1" dirty="0" smtClean="0">
                <a:solidFill>
                  <a:srgbClr val="0000CC"/>
                </a:solidFill>
                <a:latin typeface="微软雅黑" panose="020B0503020204020204" pitchFamily="34" charset="-122"/>
                <a:ea typeface="微软雅黑" panose="020B0503020204020204" pitchFamily="34" charset="-122"/>
              </a:rPr>
              <a:t>地址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home address)</a:t>
            </a:r>
            <a:r>
              <a:rPr lang="zh-CN" altLang="en-US" sz="1600" b="1" dirty="0">
                <a:latin typeface="微软雅黑" panose="020B0503020204020204" pitchFamily="34" charset="-122"/>
                <a:ea typeface="微软雅黑" panose="020B0503020204020204" pitchFamily="34" charset="-122"/>
              </a:rPr>
              <a:t>。移动站原始连接到的网络叫做</a:t>
            </a:r>
            <a:r>
              <a:rPr lang="zh-CN" altLang="en-US" sz="1600" b="1" dirty="0">
                <a:solidFill>
                  <a:srgbClr val="0000FF"/>
                </a:solidFill>
                <a:latin typeface="微软雅黑" panose="020B0503020204020204" pitchFamily="34" charset="-122"/>
                <a:ea typeface="微软雅黑" panose="020B0503020204020204" pitchFamily="34" charset="-122"/>
              </a:rPr>
              <a:t>归属</a:t>
            </a:r>
            <a:r>
              <a:rPr lang="zh-CN" altLang="en-US" sz="1600" b="1" dirty="0" smtClean="0">
                <a:solidFill>
                  <a:srgbClr val="0000FF"/>
                </a:solidFill>
                <a:latin typeface="微软雅黑" panose="020B0503020204020204" pitchFamily="34" charset="-122"/>
                <a:ea typeface="微软雅黑" panose="020B0503020204020204" pitchFamily="34" charset="-122"/>
              </a:rPr>
              <a:t>网络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home network)</a:t>
            </a:r>
            <a:r>
              <a:rPr lang="zh-CN" altLang="en-US" sz="1600" b="1" dirty="0">
                <a:latin typeface="微软雅黑" panose="020B0503020204020204" pitchFamily="34" charset="-122"/>
                <a:ea typeface="微软雅黑" panose="020B0503020204020204" pitchFamily="34" charset="-122"/>
              </a:rPr>
              <a:t>。</a:t>
            </a:r>
            <a:r>
              <a:rPr lang="zh-CN" altLang="en-US" sz="1600" b="1" dirty="0">
                <a:solidFill>
                  <a:srgbClr val="C00000"/>
                </a:solidFill>
                <a:latin typeface="微软雅黑" panose="020B0503020204020204" pitchFamily="34" charset="-122"/>
                <a:ea typeface="微软雅黑" panose="020B0503020204020204" pitchFamily="34" charset="-122"/>
              </a:rPr>
              <a:t>永久地址和归属网络的关联是不变</a:t>
            </a:r>
            <a:r>
              <a:rPr lang="zh-CN" altLang="en-US" sz="1600" b="1" dirty="0" smtClean="0">
                <a:solidFill>
                  <a:srgbClr val="C00000"/>
                </a:solidFill>
                <a:latin typeface="微软雅黑" panose="020B0503020204020204" pitchFamily="34" charset="-122"/>
                <a:ea typeface="微软雅黑" panose="020B0503020204020204" pitchFamily="34" charset="-122"/>
              </a:rPr>
              <a:t>的。</a:t>
            </a:r>
            <a:r>
              <a:rPr lang="zh-CN" altLang="en-US" sz="1600" b="1" dirty="0" smtClean="0">
                <a:solidFill>
                  <a:srgbClr val="0000CC"/>
                </a:solidFill>
                <a:latin typeface="微软雅黑" panose="020B0503020204020204" pitchFamily="34" charset="-122"/>
                <a:ea typeface="微软雅黑" panose="020B0503020204020204" pitchFamily="34" charset="-122"/>
              </a:rPr>
              <a:t>归属代理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home agent</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让</a:t>
            </a:r>
            <a:r>
              <a:rPr lang="zh-CN" altLang="en-US" sz="1600" b="1" dirty="0">
                <a:latin typeface="微软雅黑" panose="020B0503020204020204" pitchFamily="34" charset="-122"/>
                <a:ea typeface="微软雅黑" panose="020B0503020204020204" pitchFamily="34" charset="-122"/>
              </a:rPr>
              <a:t>地址的改变对互联网的其余</a:t>
            </a:r>
            <a:r>
              <a:rPr lang="zh-CN" altLang="en-US" sz="1600" b="1" dirty="0" smtClean="0">
                <a:latin typeface="微软雅黑" panose="020B0503020204020204" pitchFamily="34" charset="-122"/>
                <a:ea typeface="微软雅黑" panose="020B0503020204020204" pitchFamily="34" charset="-122"/>
              </a:rPr>
              <a:t>部分透明，它通常</a:t>
            </a:r>
            <a:r>
              <a:rPr lang="zh-CN" altLang="en-US" sz="1600" b="1" dirty="0">
                <a:latin typeface="微软雅黑" panose="020B0503020204020204" pitchFamily="34" charset="-122"/>
                <a:ea typeface="微软雅黑" panose="020B0503020204020204" pitchFamily="34" charset="-122"/>
              </a:rPr>
              <a:t>就是连接在归属网络上的路由器</a:t>
            </a:r>
            <a:r>
              <a:rPr lang="zh-CN" altLang="en-US" sz="1600" b="1" dirty="0" smtClean="0">
                <a:latin typeface="微软雅黑" panose="020B0503020204020204" pitchFamily="34" charset="-122"/>
                <a:ea typeface="微软雅黑" panose="020B0503020204020204" pitchFamily="34" charset="-122"/>
              </a:rPr>
              <a:t>，代理功能在</a:t>
            </a:r>
            <a:r>
              <a:rPr lang="zh-CN" altLang="en-US" sz="1600" b="1" dirty="0">
                <a:solidFill>
                  <a:srgbClr val="0000CC"/>
                </a:solidFill>
                <a:latin typeface="微软雅黑" panose="020B0503020204020204" pitchFamily="34" charset="-122"/>
                <a:ea typeface="微软雅黑" panose="020B0503020204020204" pitchFamily="34" charset="-122"/>
              </a:rPr>
              <a:t>应用层</a:t>
            </a:r>
            <a:r>
              <a:rPr lang="zh-CN" altLang="en-US" sz="1600" b="1" dirty="0" smtClean="0">
                <a:latin typeface="微软雅黑" panose="020B0503020204020204" pitchFamily="34" charset="-122"/>
                <a:ea typeface="微软雅黑" panose="020B0503020204020204" pitchFamily="34" charset="-122"/>
              </a:rPr>
              <a:t>完成。</a:t>
            </a:r>
            <a:r>
              <a:rPr lang="zh-CN" altLang="en-US" sz="1600" b="1" dirty="0">
                <a:latin typeface="微软雅黑" panose="020B0503020204020204" pitchFamily="34" charset="-122"/>
                <a:ea typeface="微软雅黑" panose="020B0503020204020204" pitchFamily="34" charset="-122"/>
              </a:rPr>
              <a:t>归属代理既是路由器，也是主机</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endParaRPr kumimoji="1" lang="en-US" altLang="zh-CN" sz="1400" b="1" dirty="0">
              <a:latin typeface="微软雅黑" panose="020B0503020204020204" pitchFamily="34" charset="-122"/>
              <a:ea typeface="微软雅黑" panose="020B0503020204020204" pitchFamily="34" charset="-122"/>
            </a:endParaRP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endParaRPr kumimoji="1" lang="en-US" altLang="zh-CN" sz="1100" b="1" dirty="0">
              <a:latin typeface="微软雅黑" panose="020B0503020204020204" pitchFamily="34" charset="-122"/>
              <a:ea typeface="微软雅黑" panose="020B0503020204020204" pitchFamily="34" charset="-122"/>
            </a:endParaRP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endParaRPr kumimoji="1" lang="en-US" altLang="zh-CN" sz="1100" b="1" dirty="0">
              <a:latin typeface="微软雅黑" panose="020B0503020204020204" pitchFamily="34" charset="-122"/>
              <a:ea typeface="微软雅黑" panose="020B0503020204020204" pitchFamily="34" charset="-122"/>
            </a:endParaRP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endParaRPr kumimoji="1" lang="zh-CN" altLang="en-US" sz="1100" b="1" dirty="0">
              <a:latin typeface="微软雅黑" panose="020B0503020204020204" pitchFamily="34" charset="-122"/>
              <a:ea typeface="微软雅黑" panose="020B0503020204020204" pitchFamily="34" charset="-122"/>
            </a:endParaRP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1" fmla="*/ 0 w 10063"/>
              <a:gd name="connsiteY0-2" fmla="*/ 0 h 10000"/>
              <a:gd name="connsiteX1-3" fmla="*/ 6400 w 10063"/>
              <a:gd name="connsiteY1-4" fmla="*/ 1025 h 10000"/>
              <a:gd name="connsiteX2-5" fmla="*/ 9607 w 10063"/>
              <a:gd name="connsiteY2-6" fmla="*/ 3023 h 10000"/>
              <a:gd name="connsiteX3-7" fmla="*/ 9808 w 10063"/>
              <a:gd name="connsiteY3-8" fmla="*/ 5711 h 10000"/>
              <a:gd name="connsiteX4-9" fmla="*/ 7380 w 10063"/>
              <a:gd name="connsiteY4-10" fmla="*/ 8384 h 10000"/>
              <a:gd name="connsiteX5-11" fmla="*/ 3150 w 10063"/>
              <a:gd name="connsiteY5-12" fmla="*/ 10000 h 10000"/>
              <a:gd name="connsiteX0-13" fmla="*/ 0 w 10063"/>
              <a:gd name="connsiteY0-14" fmla="*/ 0 h 10000"/>
              <a:gd name="connsiteX1-15" fmla="*/ 6400 w 10063"/>
              <a:gd name="connsiteY1-16" fmla="*/ 1025 h 10000"/>
              <a:gd name="connsiteX2-17" fmla="*/ 9607 w 10063"/>
              <a:gd name="connsiteY2-18" fmla="*/ 3023 h 10000"/>
              <a:gd name="connsiteX3-19" fmla="*/ 9808 w 10063"/>
              <a:gd name="connsiteY3-20" fmla="*/ 5711 h 10000"/>
              <a:gd name="connsiteX4-21" fmla="*/ 7380 w 10063"/>
              <a:gd name="connsiteY4-22" fmla="*/ 8384 h 10000"/>
              <a:gd name="connsiteX5-23" fmla="*/ 3150 w 10063"/>
              <a:gd name="connsiteY5-24" fmla="*/ 10000 h 10000"/>
              <a:gd name="connsiteX0-25" fmla="*/ 0 w 10063"/>
              <a:gd name="connsiteY0-26" fmla="*/ 0 h 9724"/>
              <a:gd name="connsiteX1-27" fmla="*/ 6400 w 10063"/>
              <a:gd name="connsiteY1-28" fmla="*/ 1025 h 9724"/>
              <a:gd name="connsiteX2-29" fmla="*/ 9607 w 10063"/>
              <a:gd name="connsiteY2-30" fmla="*/ 3023 h 9724"/>
              <a:gd name="connsiteX3-31" fmla="*/ 9808 w 10063"/>
              <a:gd name="connsiteY3-32" fmla="*/ 5711 h 9724"/>
              <a:gd name="connsiteX4-33" fmla="*/ 7380 w 10063"/>
              <a:gd name="connsiteY4-34" fmla="*/ 8384 h 9724"/>
              <a:gd name="connsiteX5-35" fmla="*/ 2859 w 10063"/>
              <a:gd name="connsiteY5-36" fmla="*/ 9724 h 9724"/>
              <a:gd name="connsiteX0-37" fmla="*/ 0 w 10000"/>
              <a:gd name="connsiteY0-38" fmla="*/ 0 h 10000"/>
              <a:gd name="connsiteX1-39" fmla="*/ 6360 w 10000"/>
              <a:gd name="connsiteY1-40" fmla="*/ 1054 h 10000"/>
              <a:gd name="connsiteX2-41" fmla="*/ 9547 w 10000"/>
              <a:gd name="connsiteY2-42" fmla="*/ 3109 h 10000"/>
              <a:gd name="connsiteX3-43" fmla="*/ 9747 w 10000"/>
              <a:gd name="connsiteY3-44" fmla="*/ 5873 h 10000"/>
              <a:gd name="connsiteX4-45" fmla="*/ 7334 w 10000"/>
              <a:gd name="connsiteY4-46" fmla="*/ 8622 h 10000"/>
              <a:gd name="connsiteX5-47" fmla="*/ 2841 w 10000"/>
              <a:gd name="connsiteY5-48" fmla="*/ 1000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endParaRPr kumimoji="1" lang="zh-CN" altLang="en-US" sz="1200" b="1" dirty="0">
              <a:latin typeface="微软雅黑" panose="020B0503020204020204" pitchFamily="34" charset="-122"/>
              <a:ea typeface="微软雅黑" panose="020B0503020204020204" pitchFamily="34" charset="-122"/>
            </a:endParaRP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9" name="Group 424"/>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170"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移动 </a:t>
            </a:r>
            <a:r>
              <a:rPr lang="en-US" altLang="zh-CN" sz="2000" b="1" dirty="0">
                <a:solidFill>
                  <a:schemeClr val="bg1"/>
                </a:solidFill>
                <a:ea typeface="微软雅黑" panose="020B0503020204020204" pitchFamily="34" charset="-122"/>
              </a:rPr>
              <a:t>IP </a:t>
            </a:r>
            <a:r>
              <a:rPr lang="zh-CN" altLang="en-US" sz="2000" b="1" dirty="0">
                <a:solidFill>
                  <a:schemeClr val="bg1"/>
                </a:solidFill>
                <a:ea typeface="微软雅黑" panose="020B0503020204020204" pitchFamily="34" charset="-122"/>
              </a:rPr>
              <a:t>使用的基本概念 </a:t>
            </a:r>
            <a:endParaRPr lang="zh-CN" altLang="en-US" sz="2000" b="1" dirty="0">
              <a:solidFill>
                <a:schemeClr val="bg1"/>
              </a:solidFill>
              <a:ea typeface="微软雅黑" panose="020B0503020204020204" pitchFamily="34" charset="-122"/>
            </a:endParaRPr>
          </a:p>
        </p:txBody>
      </p:sp>
      <p:sp>
        <p:nvSpPr>
          <p:cNvPr id="5" name="矩形 4"/>
          <p:cNvSpPr/>
          <p:nvPr/>
        </p:nvSpPr>
        <p:spPr>
          <a:xfrm>
            <a:off x="804804" y="2924706"/>
            <a:ext cx="7737886" cy="1323439"/>
          </a:xfrm>
          <a:prstGeom prst="rect">
            <a:avLst/>
          </a:prstGeom>
          <a:noFill/>
          <a:ln>
            <a:noFill/>
          </a:ln>
        </p:spPr>
        <p:txBody>
          <a:bodyPr wrap="square">
            <a:spAutoFit/>
          </a:bodyPr>
          <a:lstStyle/>
          <a:p>
            <a:pPr>
              <a:lnSpc>
                <a:spcPts val="2400"/>
              </a:lnSpc>
            </a:pPr>
            <a:r>
              <a:rPr lang="zh-CN" altLang="en-US" sz="1600" b="1" dirty="0">
                <a:latin typeface="微软雅黑" panose="020B0503020204020204" pitchFamily="34" charset="-122"/>
                <a:ea typeface="微软雅黑" panose="020B0503020204020204" pitchFamily="34" charset="-122"/>
              </a:rPr>
              <a:t>当移动站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移动到另一个地点，接入的网络称为</a:t>
            </a:r>
            <a:r>
              <a:rPr lang="zh-CN" altLang="en-US" sz="1600" b="1" dirty="0">
                <a:solidFill>
                  <a:srgbClr val="0000CC"/>
                </a:solidFill>
                <a:latin typeface="微软雅黑" panose="020B0503020204020204" pitchFamily="34" charset="-122"/>
                <a:ea typeface="微软雅黑" panose="020B0503020204020204" pitchFamily="34" charset="-122"/>
              </a:rPr>
              <a:t>被访</a:t>
            </a:r>
            <a:r>
              <a:rPr lang="zh-CN" altLang="en-US" sz="1600" b="1" dirty="0" smtClean="0">
                <a:solidFill>
                  <a:srgbClr val="0000CC"/>
                </a:solidFill>
                <a:latin typeface="微软雅黑" panose="020B0503020204020204" pitchFamily="34" charset="-122"/>
                <a:ea typeface="微软雅黑" panose="020B0503020204020204" pitchFamily="34" charset="-122"/>
              </a:rPr>
              <a:t>网络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visited network)</a:t>
            </a:r>
            <a:r>
              <a:rPr lang="zh-CN" altLang="en-US" sz="1600" b="1" dirty="0">
                <a:latin typeface="微软雅黑" panose="020B0503020204020204" pitchFamily="34" charset="-122"/>
                <a:ea typeface="微软雅黑" panose="020B0503020204020204" pitchFamily="34" charset="-122"/>
              </a:rPr>
              <a:t>或</a:t>
            </a:r>
            <a:r>
              <a:rPr lang="zh-CN" altLang="en-US" sz="1600" b="1" dirty="0">
                <a:solidFill>
                  <a:srgbClr val="0000CC"/>
                </a:solidFill>
                <a:latin typeface="微软雅黑" panose="020B0503020204020204" pitchFamily="34" charset="-122"/>
                <a:ea typeface="微软雅黑" panose="020B0503020204020204" pitchFamily="34" charset="-122"/>
              </a:rPr>
              <a:t>外地</a:t>
            </a:r>
            <a:r>
              <a:rPr lang="zh-CN" altLang="en-US" sz="1600" b="1" dirty="0" smtClean="0">
                <a:solidFill>
                  <a:srgbClr val="0000CC"/>
                </a:solidFill>
                <a:latin typeface="微软雅黑" panose="020B0503020204020204" pitchFamily="34" charset="-122"/>
                <a:ea typeface="微软雅黑" panose="020B0503020204020204" pitchFamily="34" charset="-122"/>
              </a:rPr>
              <a:t>网络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foreign network)</a:t>
            </a:r>
            <a:r>
              <a:rPr lang="zh-CN" altLang="en-US" sz="1600" b="1" dirty="0">
                <a:latin typeface="微软雅黑" panose="020B0503020204020204" pitchFamily="34" charset="-122"/>
                <a:ea typeface="微软雅黑" panose="020B0503020204020204" pitchFamily="34" charset="-122"/>
              </a:rPr>
              <a:t>。被访网络中使用的代理叫做</a:t>
            </a:r>
            <a:r>
              <a:rPr lang="zh-CN" altLang="en-US" sz="1600" b="1" dirty="0">
                <a:solidFill>
                  <a:srgbClr val="0000CC"/>
                </a:solidFill>
                <a:latin typeface="微软雅黑" panose="020B0503020204020204" pitchFamily="34" charset="-122"/>
                <a:ea typeface="微软雅黑" panose="020B0503020204020204" pitchFamily="34" charset="-122"/>
              </a:rPr>
              <a:t>外地</a:t>
            </a:r>
            <a:r>
              <a:rPr lang="zh-CN" altLang="en-US" sz="1600" b="1" dirty="0" smtClean="0">
                <a:solidFill>
                  <a:srgbClr val="0000CC"/>
                </a:solidFill>
                <a:latin typeface="微软雅黑" panose="020B0503020204020204" pitchFamily="34" charset="-122"/>
                <a:ea typeface="微软雅黑" panose="020B0503020204020204" pitchFamily="34" charset="-122"/>
              </a:rPr>
              <a:t>代理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foreign agent</a:t>
            </a:r>
            <a:r>
              <a:rPr lang="en-US" altLang="zh-CN" sz="1600" b="1" dirty="0" smtClean="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，它</a:t>
            </a:r>
            <a:r>
              <a:rPr lang="zh-CN" altLang="en-US" sz="1600" b="1" dirty="0">
                <a:latin typeface="微软雅黑" panose="020B0503020204020204" pitchFamily="34" charset="-122"/>
                <a:ea typeface="微软雅黑" panose="020B0503020204020204" pitchFamily="34" charset="-122"/>
              </a:rPr>
              <a:t>通常就是连接在被访网络上的</a:t>
            </a:r>
            <a:r>
              <a:rPr lang="zh-CN" altLang="en-US" sz="1600" b="1" dirty="0" smtClean="0">
                <a:latin typeface="微软雅黑" panose="020B0503020204020204" pitchFamily="34" charset="-122"/>
                <a:ea typeface="微软雅黑" panose="020B0503020204020204" pitchFamily="34" charset="-122"/>
              </a:rPr>
              <a:t>路由器。为移动站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solidFill>
                  <a:srgbClr val="C00000"/>
                </a:solidFill>
                <a:latin typeface="微软雅黑" panose="020B0503020204020204" pitchFamily="34" charset="-122"/>
                <a:ea typeface="微软雅黑" panose="020B0503020204020204" pitchFamily="34" charset="-122"/>
              </a:rPr>
              <a:t>在</a:t>
            </a:r>
            <a:r>
              <a:rPr lang="zh-CN" altLang="en-US" sz="1600" b="1" dirty="0">
                <a:solidFill>
                  <a:srgbClr val="C00000"/>
                </a:solidFill>
                <a:latin typeface="微软雅黑" panose="020B0503020204020204" pitchFamily="34" charset="-122"/>
                <a:ea typeface="微软雅黑" panose="020B0503020204020204" pitchFamily="34" charset="-122"/>
              </a:rPr>
              <a:t>被访网络中</a:t>
            </a:r>
            <a:r>
              <a:rPr lang="zh-CN" altLang="en-US" sz="1600" b="1" dirty="0">
                <a:latin typeface="微软雅黑" panose="020B0503020204020204" pitchFamily="34" charset="-122"/>
                <a:ea typeface="微软雅黑" panose="020B0503020204020204" pitchFamily="34" charset="-122"/>
              </a:rPr>
              <a:t>创建的</a:t>
            </a:r>
            <a:r>
              <a:rPr lang="zh-CN" altLang="en-US" sz="1600" b="1" dirty="0">
                <a:solidFill>
                  <a:srgbClr val="C00000"/>
                </a:solidFill>
                <a:latin typeface="微软雅黑" panose="020B0503020204020204" pitchFamily="34" charset="-122"/>
                <a:ea typeface="微软雅黑" panose="020B0503020204020204" pitchFamily="34" charset="-122"/>
              </a:rPr>
              <a:t>临时地址</a:t>
            </a:r>
            <a:r>
              <a:rPr lang="zh-CN" altLang="en-US" sz="1600" b="1" dirty="0">
                <a:latin typeface="微软雅黑" panose="020B0503020204020204" pitchFamily="34" charset="-122"/>
                <a:ea typeface="微软雅黑" panose="020B0503020204020204" pitchFamily="34" charset="-122"/>
              </a:rPr>
              <a:t>叫做</a:t>
            </a:r>
            <a:r>
              <a:rPr lang="zh-CN" altLang="en-US" sz="1600" b="1" dirty="0">
                <a:solidFill>
                  <a:srgbClr val="0000CC"/>
                </a:solidFill>
                <a:latin typeface="微软雅黑" panose="020B0503020204020204" pitchFamily="34" charset="-122"/>
                <a:ea typeface="微软雅黑" panose="020B0503020204020204" pitchFamily="34" charset="-122"/>
              </a:rPr>
              <a:t>转交</a:t>
            </a:r>
            <a:r>
              <a:rPr lang="zh-CN" altLang="en-US" sz="1600" b="1" dirty="0" smtClean="0">
                <a:solidFill>
                  <a:srgbClr val="0000CC"/>
                </a:solidFill>
                <a:latin typeface="微软雅黑" panose="020B0503020204020204" pitchFamily="34" charset="-122"/>
                <a:ea typeface="微软雅黑" panose="020B0503020204020204" pitchFamily="34" charset="-122"/>
              </a:rPr>
              <a:t>地址</a:t>
            </a:r>
            <a:r>
              <a:rPr lang="zh-CN" altLang="en-US" sz="1600" b="1" dirty="0" smtClean="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care-of address)</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endParaRPr kumimoji="1" lang="en-US" altLang="zh-CN" sz="1400" b="1" dirty="0">
              <a:latin typeface="微软雅黑" panose="020B0503020204020204" pitchFamily="34" charset="-122"/>
              <a:ea typeface="微软雅黑" panose="020B0503020204020204" pitchFamily="34" charset="-122"/>
            </a:endParaRP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endParaRPr kumimoji="1" lang="en-US" altLang="zh-CN" sz="1100" b="1" dirty="0">
              <a:latin typeface="微软雅黑" panose="020B0503020204020204" pitchFamily="34" charset="-122"/>
              <a:ea typeface="微软雅黑" panose="020B0503020204020204" pitchFamily="34" charset="-122"/>
            </a:endParaRP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endParaRPr kumimoji="1" lang="en-US" altLang="zh-CN" sz="1100" b="1" dirty="0">
              <a:latin typeface="微软雅黑" panose="020B0503020204020204" pitchFamily="34" charset="-122"/>
              <a:ea typeface="微软雅黑" panose="020B0503020204020204" pitchFamily="34" charset="-122"/>
            </a:endParaRP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endParaRPr kumimoji="1" lang="zh-CN" altLang="en-US" sz="1100" b="1" dirty="0">
              <a:latin typeface="微软雅黑" panose="020B0503020204020204" pitchFamily="34" charset="-122"/>
              <a:ea typeface="微软雅黑" panose="020B0503020204020204" pitchFamily="34" charset="-122"/>
            </a:endParaRP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1" fmla="*/ 0 w 10063"/>
              <a:gd name="connsiteY0-2" fmla="*/ 0 h 10000"/>
              <a:gd name="connsiteX1-3" fmla="*/ 6400 w 10063"/>
              <a:gd name="connsiteY1-4" fmla="*/ 1025 h 10000"/>
              <a:gd name="connsiteX2-5" fmla="*/ 9607 w 10063"/>
              <a:gd name="connsiteY2-6" fmla="*/ 3023 h 10000"/>
              <a:gd name="connsiteX3-7" fmla="*/ 9808 w 10063"/>
              <a:gd name="connsiteY3-8" fmla="*/ 5711 h 10000"/>
              <a:gd name="connsiteX4-9" fmla="*/ 7380 w 10063"/>
              <a:gd name="connsiteY4-10" fmla="*/ 8384 h 10000"/>
              <a:gd name="connsiteX5-11" fmla="*/ 3150 w 10063"/>
              <a:gd name="connsiteY5-12" fmla="*/ 10000 h 10000"/>
              <a:gd name="connsiteX0-13" fmla="*/ 0 w 10063"/>
              <a:gd name="connsiteY0-14" fmla="*/ 0 h 10000"/>
              <a:gd name="connsiteX1-15" fmla="*/ 6400 w 10063"/>
              <a:gd name="connsiteY1-16" fmla="*/ 1025 h 10000"/>
              <a:gd name="connsiteX2-17" fmla="*/ 9607 w 10063"/>
              <a:gd name="connsiteY2-18" fmla="*/ 3023 h 10000"/>
              <a:gd name="connsiteX3-19" fmla="*/ 9808 w 10063"/>
              <a:gd name="connsiteY3-20" fmla="*/ 5711 h 10000"/>
              <a:gd name="connsiteX4-21" fmla="*/ 7380 w 10063"/>
              <a:gd name="connsiteY4-22" fmla="*/ 8384 h 10000"/>
              <a:gd name="connsiteX5-23" fmla="*/ 3150 w 10063"/>
              <a:gd name="connsiteY5-24" fmla="*/ 10000 h 10000"/>
              <a:gd name="connsiteX0-25" fmla="*/ 0 w 10063"/>
              <a:gd name="connsiteY0-26" fmla="*/ 0 h 9724"/>
              <a:gd name="connsiteX1-27" fmla="*/ 6400 w 10063"/>
              <a:gd name="connsiteY1-28" fmla="*/ 1025 h 9724"/>
              <a:gd name="connsiteX2-29" fmla="*/ 9607 w 10063"/>
              <a:gd name="connsiteY2-30" fmla="*/ 3023 h 9724"/>
              <a:gd name="connsiteX3-31" fmla="*/ 9808 w 10063"/>
              <a:gd name="connsiteY3-32" fmla="*/ 5711 h 9724"/>
              <a:gd name="connsiteX4-33" fmla="*/ 7380 w 10063"/>
              <a:gd name="connsiteY4-34" fmla="*/ 8384 h 9724"/>
              <a:gd name="connsiteX5-35" fmla="*/ 2859 w 10063"/>
              <a:gd name="connsiteY5-36" fmla="*/ 9724 h 9724"/>
              <a:gd name="connsiteX0-37" fmla="*/ 0 w 10000"/>
              <a:gd name="connsiteY0-38" fmla="*/ 0 h 10000"/>
              <a:gd name="connsiteX1-39" fmla="*/ 6360 w 10000"/>
              <a:gd name="connsiteY1-40" fmla="*/ 1054 h 10000"/>
              <a:gd name="connsiteX2-41" fmla="*/ 9547 w 10000"/>
              <a:gd name="connsiteY2-42" fmla="*/ 3109 h 10000"/>
              <a:gd name="connsiteX3-43" fmla="*/ 9747 w 10000"/>
              <a:gd name="connsiteY3-44" fmla="*/ 5873 h 10000"/>
              <a:gd name="connsiteX4-45" fmla="*/ 7334 w 10000"/>
              <a:gd name="connsiteY4-46" fmla="*/ 8622 h 10000"/>
              <a:gd name="connsiteX5-47" fmla="*/ 2841 w 10000"/>
              <a:gd name="connsiteY5-48" fmla="*/ 1000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endParaRPr kumimoji="1" lang="zh-CN" altLang="en-US" sz="1200" b="1" dirty="0">
              <a:latin typeface="微软雅黑" panose="020B0503020204020204" pitchFamily="34" charset="-122"/>
              <a:ea typeface="微软雅黑" panose="020B0503020204020204" pitchFamily="34" charset="-122"/>
            </a:endParaRP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9" name="Group 424"/>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170"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309888"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1</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转交</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地址</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是供移动站、归属代理以及外地代理使用的，</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各种应用程序都</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不使用</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这种转交</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地址。</a:t>
            </a:r>
            <a:endParaRPr lang="en-US" altLang="zh-CN"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000"/>
              </a:lnSpc>
              <a:buClr>
                <a:srgbClr val="0070C0"/>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2</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转交</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地址</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在互联网中</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并</a:t>
            </a:r>
            <a:r>
              <a:rPr lang="zh-CN" altLang="en-US" b="1" dirty="0" smtClean="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不唯一。</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外地</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代理可以给好几个移动站指派同样的转交地址，甚至把自己</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地址</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指派为移动站的转交地址。</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这样并不</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会引起</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混乱，因为</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当</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外地代理</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要向连接在</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被访网络上的移动站</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发送数据报时</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直接</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使用这个移动站</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MAC </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地址</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（当移动站首次和外地代理通信时，外地代理就记录下这个移动站</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MAC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地址</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latin typeface="微软雅黑" panose="020B0503020204020204" pitchFamily="34" charset="-122"/>
              <a:ea typeface="微软雅黑" panose="020B0503020204020204" pitchFamily="34" charset="-122"/>
              <a:sym typeface="Wingdings 2" panose="05020102010507070707" pitchFamily="18" charset="2"/>
            </a:endParaRPr>
          </a:p>
          <a:p>
            <a:pPr marL="342900" indent="-342900" eaLnBrk="0" hangingPunct="0">
              <a:lnSpc>
                <a:spcPts val="3000"/>
              </a:lnSpc>
              <a:buClr>
                <a:srgbClr val="0070C0"/>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有时，</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移动站本身也可以充当外地代理，</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即移动站和外地代理是同一个设备。这时的转交地址叫做</a:t>
            </a:r>
            <a:r>
              <a:rPr lang="zh-CN" altLang="en-US"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同址转交地址</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(co-located care-of address)</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en-US" altLang="zh-CN" b="1" dirty="0" smtClean="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9541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anose="020B0503020204020204" pitchFamily="34" charset="-122"/>
                <a:ea typeface="微软雅黑" panose="020B0503020204020204" pitchFamily="34" charset="-122"/>
              </a:rPr>
              <a:t>注意：</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通信</a:t>
            </a:r>
            <a:r>
              <a:rPr lang="zh-CN" altLang="en-US" sz="2000" b="1" dirty="0" smtClean="0">
                <a:solidFill>
                  <a:schemeClr val="bg1"/>
                </a:solidFill>
                <a:latin typeface="微软雅黑" panose="020B0503020204020204" pitchFamily="34" charset="-122"/>
                <a:ea typeface="微软雅黑" panose="020B0503020204020204" pitchFamily="34" charset="-122"/>
              </a:rPr>
              <a:t>者 </a:t>
            </a:r>
            <a:r>
              <a:rPr lang="en-US" altLang="zh-CN" sz="2000" b="1" dirty="0" smtClean="0">
                <a:solidFill>
                  <a:schemeClr val="bg1"/>
                </a:solidFill>
                <a:latin typeface="微软雅黑" panose="020B0503020204020204" pitchFamily="34" charset="-122"/>
                <a:ea typeface="微软雅黑" panose="020B0503020204020204" pitchFamily="34" charset="-122"/>
              </a:rPr>
              <a:t>B </a:t>
            </a:r>
            <a:r>
              <a:rPr lang="zh-CN" altLang="en-US" sz="2000" b="1" dirty="0" smtClean="0">
                <a:solidFill>
                  <a:schemeClr val="bg1"/>
                </a:solidFill>
                <a:latin typeface="微软雅黑" panose="020B0503020204020204" pitchFamily="34" charset="-122"/>
                <a:ea typeface="微软雅黑" panose="020B0503020204020204" pitchFamily="34" charset="-122"/>
              </a:rPr>
              <a:t>和移动站 </a:t>
            </a:r>
            <a:r>
              <a:rPr lang="en-US" altLang="zh-CN" sz="2000" b="1" dirty="0" smtClean="0">
                <a:solidFill>
                  <a:schemeClr val="bg1"/>
                </a:solidFill>
                <a:latin typeface="微软雅黑" panose="020B0503020204020204" pitchFamily="34" charset="-122"/>
                <a:ea typeface="微软雅黑" panose="020B0503020204020204" pitchFamily="34" charset="-122"/>
              </a:rPr>
              <a:t>A </a:t>
            </a:r>
            <a:r>
              <a:rPr lang="zh-CN" altLang="en-US" sz="2000" b="1" dirty="0" smtClean="0">
                <a:solidFill>
                  <a:schemeClr val="bg1"/>
                </a:solidFill>
                <a:latin typeface="微软雅黑" panose="020B0503020204020204" pitchFamily="34" charset="-122"/>
                <a:ea typeface="微软雅黑" panose="020B0503020204020204" pitchFamily="34" charset="-122"/>
              </a:rPr>
              <a:t>通信</a:t>
            </a:r>
            <a:r>
              <a:rPr lang="zh-CN" altLang="en-US" sz="2000" b="1" dirty="0">
                <a:solidFill>
                  <a:schemeClr val="bg1"/>
                </a:solidFill>
                <a:latin typeface="微软雅黑" panose="020B0503020204020204" pitchFamily="34" charset="-122"/>
                <a:ea typeface="微软雅黑" panose="020B0503020204020204" pitchFamily="34" charset="-122"/>
              </a:rPr>
              <a:t>的四个</a:t>
            </a:r>
            <a:r>
              <a:rPr lang="zh-CN" altLang="en-US" sz="2000" b="1" dirty="0" smtClean="0">
                <a:solidFill>
                  <a:schemeClr val="bg1"/>
                </a:solidFill>
                <a:latin typeface="微软雅黑" panose="020B0503020204020204" pitchFamily="34" charset="-122"/>
                <a:ea typeface="微软雅黑" panose="020B0503020204020204" pitchFamily="34" charset="-122"/>
              </a:rPr>
              <a:t>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46198"/>
            <a:ext cx="3098801" cy="1282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8" name="矩形 7"/>
          <p:cNvSpPr/>
          <p:nvPr/>
        </p:nvSpPr>
        <p:spPr>
          <a:xfrm>
            <a:off x="626451" y="2870757"/>
            <a:ext cx="7895059" cy="759182"/>
          </a:xfrm>
          <a:prstGeom prst="rect">
            <a:avLst/>
          </a:prstGeom>
          <a:noFill/>
          <a:ln>
            <a:noFill/>
          </a:ln>
        </p:spPr>
        <p:txBody>
          <a:bodyPr wrap="square">
            <a:spAutoFit/>
          </a:bodyPr>
          <a:lstStyle/>
          <a:p>
            <a:pPr>
              <a:lnSpc>
                <a:spcPts val="2600"/>
              </a:lnSpc>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 </a:t>
            </a:r>
            <a:r>
              <a:rPr lang="en-US" altLang="zh-CN" b="1" dirty="0" smtClean="0">
                <a:latin typeface="微软雅黑" panose="020B0503020204020204" pitchFamily="34" charset="-122"/>
                <a:ea typeface="微软雅黑" panose="020B0503020204020204" pitchFamily="34" charset="-122"/>
              </a:rPr>
              <a:t>B </a:t>
            </a:r>
            <a:r>
              <a:rPr lang="zh-CN" altLang="en-US" b="1" dirty="0" smtClean="0">
                <a:latin typeface="微软雅黑" panose="020B0503020204020204" pitchFamily="34" charset="-122"/>
                <a:ea typeface="微软雅黑" panose="020B0503020204020204" pitchFamily="34" charset="-122"/>
              </a:rPr>
              <a:t>发送给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数据报的目的地址是：</a:t>
            </a:r>
            <a:r>
              <a:rPr lang="en-US" altLang="zh-CN" b="1" dirty="0">
                <a:latin typeface="微软雅黑" panose="020B0503020204020204" pitchFamily="34" charset="-122"/>
                <a:ea typeface="微软雅黑" panose="020B0503020204020204" pitchFamily="34" charset="-122"/>
              </a:rPr>
              <a:t>131.8.6.7</a:t>
            </a:r>
            <a:r>
              <a:rPr lang="zh-CN" altLang="en-US" b="1" dirty="0">
                <a:latin typeface="微软雅黑" panose="020B0503020204020204" pitchFamily="34" charset="-122"/>
                <a:ea typeface="微软雅黑" panose="020B0503020204020204" pitchFamily="34" charset="-122"/>
              </a:rPr>
              <a:t>。此数据报</a:t>
            </a:r>
            <a:r>
              <a:rPr lang="zh-CN" altLang="en-US" b="1" dirty="0" smtClean="0">
                <a:latin typeface="微软雅黑" panose="020B0503020204020204" pitchFamily="34" charset="-122"/>
                <a:ea typeface="微软雅黑" panose="020B0503020204020204" pitchFamily="34" charset="-122"/>
              </a:rPr>
              <a:t>被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的</a:t>
            </a:r>
            <a:r>
              <a:rPr lang="zh-CN" altLang="en-US" b="1" dirty="0">
                <a:solidFill>
                  <a:srgbClr val="0000CC"/>
                </a:solidFill>
                <a:latin typeface="微软雅黑" panose="020B0503020204020204" pitchFamily="34" charset="-122"/>
                <a:ea typeface="微软雅黑" panose="020B0503020204020204" pitchFamily="34" charset="-122"/>
              </a:rPr>
              <a:t>归属代理</a:t>
            </a:r>
            <a:r>
              <a:rPr lang="zh-CN" altLang="en-US" b="1" dirty="0" smtClean="0">
                <a:solidFill>
                  <a:srgbClr val="0000CC"/>
                </a:solidFill>
                <a:latin typeface="微软雅黑" panose="020B0503020204020204" pitchFamily="34" charset="-122"/>
                <a:ea typeface="微软雅黑" panose="020B0503020204020204" pitchFamily="34" charset="-122"/>
              </a:rPr>
              <a:t>截获</a:t>
            </a:r>
            <a:r>
              <a:rPr lang="zh-CN" altLang="en-US" b="1" dirty="0" smtClean="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只有</a:t>
            </a:r>
            <a:r>
              <a:rPr lang="zh-CN" altLang="en-US" b="1" dirty="0" smtClean="0">
                <a:latin typeface="微软雅黑" panose="020B0503020204020204" pitchFamily="34" charset="-122"/>
                <a:ea typeface="微软雅黑" panose="020B0503020204020204" pitchFamily="34" charset="-122"/>
              </a:rPr>
              <a:t>当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离开</a:t>
            </a:r>
            <a:r>
              <a:rPr lang="zh-CN" altLang="en-US" b="1" dirty="0">
                <a:latin typeface="微软雅黑" panose="020B0503020204020204" pitchFamily="34" charset="-122"/>
                <a:ea typeface="微软雅黑" panose="020B0503020204020204" pitchFamily="34" charset="-122"/>
              </a:rPr>
              <a:t>归属网络时，归属代理才能截获</a:t>
            </a:r>
            <a:r>
              <a:rPr lang="zh-CN" altLang="en-US" b="1" dirty="0" smtClean="0">
                <a:latin typeface="微软雅黑" panose="020B0503020204020204" pitchFamily="34" charset="-122"/>
                <a:ea typeface="微软雅黑" panose="020B0503020204020204" pitchFamily="34" charset="-122"/>
              </a:rPr>
              <a:t>发给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数据报）</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9"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endParaRPr kumimoji="1" lang="en-US" altLang="zh-CN" sz="1400" b="1" dirty="0">
              <a:latin typeface="微软雅黑" panose="020B0503020204020204" pitchFamily="34" charset="-122"/>
              <a:ea typeface="微软雅黑" panose="020B0503020204020204" pitchFamily="34" charset="-122"/>
            </a:endParaRPr>
          </a:p>
        </p:txBody>
      </p:sp>
      <p:sp>
        <p:nvSpPr>
          <p:cNvPr id="10"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11"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12"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13" name="Line 94"/>
          <p:cNvSpPr>
            <a:spLocks noChangeShapeType="1"/>
          </p:cNvSpPr>
          <p:nvPr/>
        </p:nvSpPr>
        <p:spPr bwMode="auto">
          <a:xfrm>
            <a:off x="2166379" y="1529227"/>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endParaRPr kumimoji="1" lang="en-US" altLang="zh-CN" sz="1100" b="1" dirty="0">
              <a:latin typeface="微软雅黑" panose="020B0503020204020204" pitchFamily="34" charset="-122"/>
              <a:ea typeface="微软雅黑" panose="020B0503020204020204" pitchFamily="34" charset="-122"/>
            </a:endParaRPr>
          </a:p>
        </p:txBody>
      </p:sp>
      <p:sp>
        <p:nvSpPr>
          <p:cNvPr id="15"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rot="16200000" flipV="1">
            <a:off x="2209274" y="1284064"/>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128"/>
          <p:cNvSpPr>
            <a:spLocks noChangeShapeType="1"/>
          </p:cNvSpPr>
          <p:nvPr/>
        </p:nvSpPr>
        <p:spPr bwMode="auto">
          <a:xfrm>
            <a:off x="2325949" y="1712160"/>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29"/>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20"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21" name="Line 90"/>
          <p:cNvSpPr>
            <a:spLocks noChangeShapeType="1"/>
          </p:cNvSpPr>
          <p:nvPr/>
        </p:nvSpPr>
        <p:spPr bwMode="auto">
          <a:xfrm flipH="1">
            <a:off x="6054970" y="1533188"/>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22"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3"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endParaRPr kumimoji="1" lang="en-US" altLang="zh-CN" sz="1100" b="1" dirty="0">
              <a:latin typeface="微软雅黑" panose="020B0503020204020204" pitchFamily="34" charset="-122"/>
              <a:ea typeface="微软雅黑" panose="020B0503020204020204" pitchFamily="34" charset="-122"/>
            </a:endParaRPr>
          </a:p>
        </p:txBody>
      </p:sp>
      <p:sp>
        <p:nvSpPr>
          <p:cNvPr id="24"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endParaRPr kumimoji="1" lang="zh-CN" altLang="en-US" sz="1100" b="1" dirty="0">
              <a:latin typeface="微软雅黑" panose="020B0503020204020204" pitchFamily="34" charset="-122"/>
              <a:ea typeface="微软雅黑" panose="020B0503020204020204" pitchFamily="34" charset="-122"/>
            </a:endParaRPr>
          </a:p>
        </p:txBody>
      </p:sp>
      <p:sp>
        <p:nvSpPr>
          <p:cNvPr id="25" name="Line 130"/>
          <p:cNvSpPr>
            <a:spLocks noChangeShapeType="1"/>
          </p:cNvSpPr>
          <p:nvPr/>
        </p:nvSpPr>
        <p:spPr bwMode="auto">
          <a:xfrm rot="16200000" flipV="1">
            <a:off x="6016364" y="1284064"/>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Line 142"/>
          <p:cNvSpPr>
            <a:spLocks noChangeShapeType="1"/>
          </p:cNvSpPr>
          <p:nvPr/>
        </p:nvSpPr>
        <p:spPr bwMode="auto">
          <a:xfrm flipH="1">
            <a:off x="5743550" y="1712160"/>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28"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29"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32" name="Line 92"/>
          <p:cNvSpPr>
            <a:spLocks noChangeShapeType="1"/>
          </p:cNvSpPr>
          <p:nvPr/>
        </p:nvSpPr>
        <p:spPr bwMode="auto">
          <a:xfrm>
            <a:off x="2283388" y="1573575"/>
            <a:ext cx="3301874" cy="0"/>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endParaRPr kumimoji="1" lang="zh-CN" altLang="en-US" sz="1200" b="1" dirty="0">
              <a:latin typeface="微软雅黑" panose="020B0503020204020204" pitchFamily="34" charset="-122"/>
              <a:ea typeface="微软雅黑" panose="020B0503020204020204" pitchFamily="34" charset="-122"/>
            </a:endParaRPr>
          </a:p>
        </p:txBody>
      </p:sp>
      <p:grpSp>
        <p:nvGrpSpPr>
          <p:cNvPr id="36" name="组合 35"/>
          <p:cNvGrpSpPr/>
          <p:nvPr/>
        </p:nvGrpSpPr>
        <p:grpSpPr>
          <a:xfrm>
            <a:off x="6238223" y="2317040"/>
            <a:ext cx="309983" cy="332183"/>
            <a:chOff x="2565534" y="4101618"/>
            <a:chExt cx="360485" cy="386301"/>
          </a:xfrm>
        </p:grpSpPr>
        <p:sp>
          <p:nvSpPr>
            <p:cNvPr id="3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8" name="Group 424"/>
            <p:cNvGrpSpPr/>
            <p:nvPr/>
          </p:nvGrpSpPr>
          <p:grpSpPr bwMode="auto">
            <a:xfrm>
              <a:off x="2565534" y="4101618"/>
              <a:ext cx="360485" cy="119330"/>
              <a:chOff x="748" y="2251"/>
              <a:chExt cx="306" cy="90"/>
            </a:xfrm>
          </p:grpSpPr>
          <p:sp>
            <p:nvSpPr>
              <p:cNvPr id="4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39"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6" name="组合 45"/>
          <p:cNvGrpSpPr/>
          <p:nvPr/>
        </p:nvGrpSpPr>
        <p:grpSpPr>
          <a:xfrm>
            <a:off x="1877866" y="1316516"/>
            <a:ext cx="528586" cy="356119"/>
            <a:chOff x="4406004" y="4260453"/>
            <a:chExt cx="558674" cy="429804"/>
          </a:xfrm>
        </p:grpSpPr>
        <p:grpSp>
          <p:nvGrpSpPr>
            <p:cNvPr id="47" name="Group 460"/>
            <p:cNvGrpSpPr/>
            <p:nvPr/>
          </p:nvGrpSpPr>
          <p:grpSpPr bwMode="auto">
            <a:xfrm>
              <a:off x="4543772" y="4322623"/>
              <a:ext cx="420906" cy="367634"/>
              <a:chOff x="657" y="1570"/>
              <a:chExt cx="318" cy="318"/>
            </a:xfrm>
          </p:grpSpPr>
          <p:sp>
            <p:nvSpPr>
              <p:cNvPr id="5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 name="Group 463"/>
            <p:cNvGrpSpPr/>
            <p:nvPr/>
          </p:nvGrpSpPr>
          <p:grpSpPr bwMode="auto">
            <a:xfrm>
              <a:off x="4406004" y="4260453"/>
              <a:ext cx="405022" cy="119404"/>
              <a:chOff x="748" y="2251"/>
              <a:chExt cx="306" cy="90"/>
            </a:xfrm>
            <a:solidFill>
              <a:srgbClr val="0066FF"/>
            </a:solidFill>
          </p:grpSpPr>
          <p:sp>
            <p:nvSpPr>
              <p:cNvPr id="4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57" name="组合 56"/>
          <p:cNvGrpSpPr/>
          <p:nvPr/>
        </p:nvGrpSpPr>
        <p:grpSpPr>
          <a:xfrm>
            <a:off x="5797409" y="1316516"/>
            <a:ext cx="528586" cy="356119"/>
            <a:chOff x="4406004" y="4260453"/>
            <a:chExt cx="558674" cy="429804"/>
          </a:xfrm>
        </p:grpSpPr>
        <p:grpSp>
          <p:nvGrpSpPr>
            <p:cNvPr id="58" name="Group 460"/>
            <p:cNvGrpSpPr/>
            <p:nvPr/>
          </p:nvGrpSpPr>
          <p:grpSpPr bwMode="auto">
            <a:xfrm>
              <a:off x="4543772" y="4322623"/>
              <a:ext cx="420906" cy="367634"/>
              <a:chOff x="657" y="1570"/>
              <a:chExt cx="318" cy="318"/>
            </a:xfrm>
          </p:grpSpPr>
          <p:sp>
            <p:nvSpPr>
              <p:cNvPr id="66"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7"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 name="Group 463"/>
            <p:cNvGrpSpPr/>
            <p:nvPr/>
          </p:nvGrpSpPr>
          <p:grpSpPr bwMode="auto">
            <a:xfrm>
              <a:off x="4406004" y="4260453"/>
              <a:ext cx="405022" cy="119404"/>
              <a:chOff x="748" y="2251"/>
              <a:chExt cx="306" cy="90"/>
            </a:xfrm>
            <a:solidFill>
              <a:srgbClr val="0066FF"/>
            </a:solidFill>
          </p:grpSpPr>
          <p:sp>
            <p:nvSpPr>
              <p:cNvPr id="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72" name="组合 71"/>
          <p:cNvGrpSpPr/>
          <p:nvPr/>
        </p:nvGrpSpPr>
        <p:grpSpPr>
          <a:xfrm>
            <a:off x="2494098" y="1993453"/>
            <a:ext cx="3761679" cy="571185"/>
            <a:chOff x="2494098" y="1993453"/>
            <a:chExt cx="3761679" cy="571185"/>
          </a:xfrm>
        </p:grpSpPr>
        <p:sp>
          <p:nvSpPr>
            <p:cNvPr id="33" name="Line 111"/>
            <p:cNvSpPr>
              <a:spLocks noChangeShapeType="1"/>
            </p:cNvSpPr>
            <p:nvPr/>
          </p:nvSpPr>
          <p:spPr bwMode="auto">
            <a:xfrm flipH="1" flipV="1">
              <a:off x="2494098" y="1993453"/>
              <a:ext cx="3761679" cy="50319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wipe(right)">
                                      <p:cBhvr>
                                        <p:cTn id="7" dur="1000"/>
                                        <p:tgtEl>
                                          <p:spTgt spid="7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通信</a:t>
            </a:r>
            <a:r>
              <a:rPr lang="zh-CN" altLang="en-US" sz="2000" b="1" dirty="0" smtClean="0">
                <a:solidFill>
                  <a:schemeClr val="bg1"/>
                </a:solidFill>
                <a:latin typeface="微软雅黑" panose="020B0503020204020204" pitchFamily="34" charset="-122"/>
                <a:ea typeface="微软雅黑" panose="020B0503020204020204" pitchFamily="34" charset="-122"/>
              </a:rPr>
              <a:t>者 </a:t>
            </a:r>
            <a:r>
              <a:rPr lang="en-US" altLang="zh-CN" sz="2000" b="1" dirty="0" smtClean="0">
                <a:solidFill>
                  <a:schemeClr val="bg1"/>
                </a:solidFill>
                <a:latin typeface="微软雅黑" panose="020B0503020204020204" pitchFamily="34" charset="-122"/>
                <a:ea typeface="微软雅黑" panose="020B0503020204020204" pitchFamily="34" charset="-122"/>
              </a:rPr>
              <a:t>B </a:t>
            </a:r>
            <a:r>
              <a:rPr lang="zh-CN" altLang="en-US" sz="2000" b="1" dirty="0" smtClean="0">
                <a:solidFill>
                  <a:schemeClr val="bg1"/>
                </a:solidFill>
                <a:latin typeface="微软雅黑" panose="020B0503020204020204" pitchFamily="34" charset="-122"/>
                <a:ea typeface="微软雅黑" panose="020B0503020204020204" pitchFamily="34" charset="-122"/>
              </a:rPr>
              <a:t>和移动站 </a:t>
            </a:r>
            <a:r>
              <a:rPr lang="en-US" altLang="zh-CN" sz="2000" b="1" dirty="0" smtClean="0">
                <a:solidFill>
                  <a:schemeClr val="bg1"/>
                </a:solidFill>
                <a:latin typeface="微软雅黑" panose="020B0503020204020204" pitchFamily="34" charset="-122"/>
                <a:ea typeface="微软雅黑" panose="020B0503020204020204" pitchFamily="34" charset="-122"/>
              </a:rPr>
              <a:t>A </a:t>
            </a:r>
            <a:r>
              <a:rPr lang="zh-CN" altLang="en-US" sz="2000" b="1" dirty="0" smtClean="0">
                <a:solidFill>
                  <a:schemeClr val="bg1"/>
                </a:solidFill>
                <a:latin typeface="微软雅黑" panose="020B0503020204020204" pitchFamily="34" charset="-122"/>
                <a:ea typeface="微软雅黑" panose="020B0503020204020204" pitchFamily="34" charset="-122"/>
              </a:rPr>
              <a:t>通信</a:t>
            </a:r>
            <a:r>
              <a:rPr lang="zh-CN" altLang="en-US" sz="2000" b="1" dirty="0">
                <a:solidFill>
                  <a:schemeClr val="bg1"/>
                </a:solidFill>
                <a:latin typeface="微软雅黑" panose="020B0503020204020204" pitchFamily="34" charset="-122"/>
                <a:ea typeface="微软雅黑" panose="020B0503020204020204" pitchFamily="34" charset="-122"/>
              </a:rPr>
              <a:t>的四个</a:t>
            </a:r>
            <a:r>
              <a:rPr lang="zh-CN" altLang="en-US" sz="2000" b="1" dirty="0" smtClean="0">
                <a:solidFill>
                  <a:schemeClr val="bg1"/>
                </a:solidFill>
                <a:latin typeface="微软雅黑" panose="020B0503020204020204" pitchFamily="34" charset="-122"/>
                <a:ea typeface="微软雅黑" panose="020B0503020204020204" pitchFamily="34" charset="-122"/>
              </a:rPr>
              <a:t>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rPr>
              <a:t>归属</a:t>
            </a:r>
            <a:r>
              <a:rPr lang="zh-CN" altLang="en-US" b="1" dirty="0">
                <a:latin typeface="微软雅黑" panose="020B0503020204020204" pitchFamily="34" charset="-122"/>
                <a:ea typeface="微软雅黑" panose="020B0503020204020204" pitchFamily="34" charset="-122"/>
              </a:rPr>
              <a:t>代理</a:t>
            </a:r>
            <a:r>
              <a:rPr lang="zh-CN" altLang="en-US" b="1" dirty="0" smtClean="0">
                <a:latin typeface="微软雅黑" panose="020B0503020204020204" pitchFamily="34" charset="-122"/>
                <a:ea typeface="微软雅黑" panose="020B0503020204020204" pitchFamily="34" charset="-122"/>
              </a:rPr>
              <a:t>把 </a:t>
            </a:r>
            <a:r>
              <a:rPr lang="en-US" altLang="zh-CN" b="1" dirty="0" smtClean="0">
                <a:latin typeface="微软雅黑" panose="020B0503020204020204" pitchFamily="34" charset="-122"/>
                <a:ea typeface="微软雅黑" panose="020B0503020204020204" pitchFamily="34" charset="-122"/>
              </a:rPr>
              <a:t>B </a:t>
            </a:r>
            <a:r>
              <a:rPr lang="zh-CN" altLang="en-US" b="1" dirty="0" smtClean="0">
                <a:latin typeface="微软雅黑" panose="020B0503020204020204" pitchFamily="34" charset="-122"/>
                <a:ea typeface="微软雅黑" panose="020B0503020204020204" pitchFamily="34" charset="-122"/>
              </a:rPr>
              <a:t>发</a:t>
            </a:r>
            <a:r>
              <a:rPr lang="zh-CN" altLang="en-US" b="1" dirty="0">
                <a:latin typeface="微软雅黑" panose="020B0503020204020204" pitchFamily="34" charset="-122"/>
                <a:ea typeface="微软雅黑" panose="020B0503020204020204" pitchFamily="34" charset="-122"/>
              </a:rPr>
              <a:t>来的数据报进行</a:t>
            </a:r>
            <a:r>
              <a:rPr lang="zh-CN" altLang="en-US" b="1" dirty="0">
                <a:solidFill>
                  <a:srgbClr val="0000CC"/>
                </a:solidFill>
                <a:latin typeface="微软雅黑" panose="020B0503020204020204" pitchFamily="34" charset="-122"/>
                <a:ea typeface="微软雅黑" panose="020B0503020204020204" pitchFamily="34" charset="-122"/>
              </a:rPr>
              <a:t>再封装，</a:t>
            </a:r>
            <a:r>
              <a:rPr lang="zh-CN" altLang="en-US" b="1" dirty="0">
                <a:latin typeface="微软雅黑" panose="020B0503020204020204" pitchFamily="34" charset="-122"/>
                <a:ea typeface="微软雅黑" panose="020B0503020204020204" pitchFamily="34" charset="-122"/>
              </a:rPr>
              <a:t>新的数据报的目的地址是：</a:t>
            </a:r>
            <a:r>
              <a:rPr lang="en-US" altLang="zh-CN" b="1" dirty="0">
                <a:latin typeface="微软雅黑" panose="020B0503020204020204" pitchFamily="34" charset="-122"/>
                <a:ea typeface="微软雅黑" panose="020B0503020204020204" pitchFamily="34" charset="-122"/>
              </a:rPr>
              <a:t>15.5.6.7</a:t>
            </a:r>
            <a:r>
              <a:rPr lang="zh-CN" altLang="en-US" b="1" dirty="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就是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现在</a:t>
            </a:r>
            <a:r>
              <a:rPr lang="zh-CN" altLang="en-US" b="1" dirty="0">
                <a:latin typeface="微软雅黑" panose="020B0503020204020204" pitchFamily="34" charset="-122"/>
                <a:ea typeface="微软雅黑" panose="020B0503020204020204" pitchFamily="34" charset="-122"/>
              </a:rPr>
              <a:t>的转交地址</a:t>
            </a:r>
            <a:r>
              <a:rPr lang="zh-CN" altLang="en-US" b="1" dirty="0" smtClean="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使用</a:t>
            </a:r>
            <a:r>
              <a:rPr lang="zh-CN" altLang="en-US" b="1" dirty="0" smtClean="0">
                <a:solidFill>
                  <a:srgbClr val="0000CC"/>
                </a:solidFill>
                <a:latin typeface="微软雅黑" panose="020B0503020204020204" pitchFamily="34" charset="-122"/>
                <a:ea typeface="微软雅黑" panose="020B0503020204020204" pitchFamily="34" charset="-122"/>
              </a:rPr>
              <a:t>隧道</a:t>
            </a:r>
            <a:r>
              <a:rPr lang="zh-CN" altLang="en-US" b="1" dirty="0">
                <a:solidFill>
                  <a:srgbClr val="0000CC"/>
                </a:solidFill>
                <a:latin typeface="微软雅黑" panose="020B0503020204020204" pitchFamily="34" charset="-122"/>
                <a:ea typeface="微软雅黑" panose="020B0503020204020204" pitchFamily="34" charset="-122"/>
              </a:rPr>
              <a:t>技术</a:t>
            </a:r>
            <a:r>
              <a:rPr lang="zh-CN" altLang="en-US" b="1" dirty="0" smtClean="0">
                <a:latin typeface="微软雅黑" panose="020B0503020204020204" pitchFamily="34" charset="-122"/>
                <a:ea typeface="微软雅黑" panose="020B0503020204020204" pitchFamily="34" charset="-122"/>
              </a:rPr>
              <a:t>或 </a:t>
            </a:r>
            <a:r>
              <a:rPr lang="en-US" altLang="zh-CN" b="1" dirty="0" smtClean="0">
                <a:solidFill>
                  <a:srgbClr val="0000CC"/>
                </a:solidFill>
                <a:latin typeface="微软雅黑" panose="020B0503020204020204" pitchFamily="34" charset="-122"/>
                <a:ea typeface="微软雅黑" panose="020B0503020204020204" pitchFamily="34" charset="-122"/>
              </a:rPr>
              <a:t>IP-in-IP</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将新</a:t>
            </a:r>
            <a:r>
              <a:rPr lang="zh-CN" altLang="en-US" b="1" dirty="0">
                <a:latin typeface="微软雅黑" panose="020B0503020204020204" pitchFamily="34" charset="-122"/>
                <a:ea typeface="微软雅黑" panose="020B0503020204020204" pitchFamily="34" charset="-122"/>
              </a:rPr>
              <a:t>封装的</a:t>
            </a:r>
            <a:r>
              <a:rPr lang="zh-CN" altLang="en-US" b="1" dirty="0" smtClean="0">
                <a:latin typeface="微软雅黑" panose="020B0503020204020204" pitchFamily="34" charset="-122"/>
                <a:ea typeface="微软雅黑" panose="020B0503020204020204" pitchFamily="34" charset="-122"/>
              </a:rPr>
              <a:t>数据报发送</a:t>
            </a:r>
            <a:r>
              <a:rPr lang="zh-CN" altLang="en-US" b="1" dirty="0">
                <a:latin typeface="微软雅黑" panose="020B0503020204020204" pitchFamily="34" charset="-122"/>
                <a:ea typeface="微软雅黑" panose="020B0503020204020204" pitchFamily="34" charset="-122"/>
              </a:rPr>
              <a:t>到被访网络的</a:t>
            </a:r>
            <a:r>
              <a:rPr lang="zh-CN" altLang="en-US" b="1" dirty="0">
                <a:solidFill>
                  <a:srgbClr val="0000CC"/>
                </a:solidFill>
                <a:latin typeface="微软雅黑" panose="020B0503020204020204" pitchFamily="34" charset="-122"/>
                <a:ea typeface="微软雅黑" panose="020B0503020204020204" pitchFamily="34" charset="-122"/>
              </a:rPr>
              <a:t>外地代理</a:t>
            </a:r>
            <a:r>
              <a:rPr lang="zh-CN" altLang="en-US" b="1" dirty="0" smtClean="0">
                <a:solidFill>
                  <a:srgbClr val="0000CC"/>
                </a:solidFill>
                <a:latin typeface="微软雅黑" panose="020B0503020204020204" pitchFamily="34" charset="-122"/>
                <a:ea typeface="微软雅黑" panose="020B0503020204020204" pitchFamily="34" charset="-122"/>
              </a:rPr>
              <a:t>。</a:t>
            </a:r>
            <a:endParaRPr lang="zh-CN" altLang="en-US" b="1" dirty="0">
              <a:solidFill>
                <a:srgbClr val="0000CC"/>
              </a:solidFill>
              <a:latin typeface="微软雅黑" panose="020B0503020204020204" pitchFamily="34" charset="-122"/>
              <a:ea typeface="微软雅黑" panose="020B0503020204020204"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endParaRPr kumimoji="1" lang="en-US" altLang="zh-CN" sz="1400" b="1" dirty="0">
              <a:latin typeface="微软雅黑" panose="020B0503020204020204" pitchFamily="34" charset="-122"/>
              <a:ea typeface="微软雅黑" panose="020B0503020204020204" pitchFamily="34" charset="-122"/>
            </a:endParaRP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endParaRPr kumimoji="1" lang="en-US" altLang="zh-CN" sz="1100" b="1" dirty="0">
              <a:latin typeface="微软雅黑" panose="020B0503020204020204" pitchFamily="34" charset="-122"/>
              <a:ea typeface="微软雅黑" panose="020B0503020204020204" pitchFamily="34" charset="-122"/>
            </a:endParaRP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endParaRPr kumimoji="1" lang="en-US" altLang="zh-CN" sz="1100" b="1" dirty="0">
              <a:latin typeface="微软雅黑" panose="020B0503020204020204" pitchFamily="34" charset="-122"/>
              <a:ea typeface="微软雅黑" panose="020B0503020204020204" pitchFamily="34" charset="-122"/>
            </a:endParaRP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endParaRPr kumimoji="1" lang="zh-CN" altLang="en-US" sz="1100" b="1" dirty="0">
              <a:latin typeface="微软雅黑" panose="020B0503020204020204" pitchFamily="34" charset="-122"/>
              <a:ea typeface="微软雅黑" panose="020B0503020204020204" pitchFamily="34" charset="-122"/>
            </a:endParaRP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ln>
          <a:effectLst/>
        </p:spPr>
        <p:txBody>
          <a:bodyPr/>
          <a:lstStyle/>
          <a:p>
            <a:pPr algn="ctr">
              <a:lnSpc>
                <a:spcPct val="85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endParaRPr kumimoji="1" lang="zh-CN" altLang="en-US" sz="1200" b="1" dirty="0">
              <a:latin typeface="微软雅黑" panose="020B0503020204020204" pitchFamily="34" charset="-122"/>
              <a:ea typeface="微软雅黑" panose="020B0503020204020204" pitchFamily="34" charset="-122"/>
            </a:endParaRP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0" name="Group 424"/>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101"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33" name="组合 132"/>
          <p:cNvGrpSpPr/>
          <p:nvPr/>
        </p:nvGrpSpPr>
        <p:grpSpPr>
          <a:xfrm>
            <a:off x="2494100" y="1572084"/>
            <a:ext cx="3103098" cy="348671"/>
            <a:chOff x="2494100" y="1572084"/>
            <a:chExt cx="3103098" cy="348671"/>
          </a:xfrm>
        </p:grpSpPr>
        <p:sp>
          <p:nvSpPr>
            <p:cNvPr id="134" name="Freeform 114"/>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2" name="矩形 1"/>
          <p:cNvSpPr/>
          <p:nvPr/>
        </p:nvSpPr>
        <p:spPr>
          <a:xfrm>
            <a:off x="5926385" y="1893877"/>
            <a:ext cx="1127183" cy="406265"/>
          </a:xfrm>
          <a:prstGeom prst="rect">
            <a:avLst/>
          </a:prstGeom>
        </p:spPr>
        <p:txBody>
          <a:bodyPr wrap="square">
            <a:spAutoFit/>
          </a:bodyPr>
          <a:lstStyle/>
          <a:p>
            <a:pPr algn="ctr">
              <a:lnSpc>
                <a:spcPct val="85000"/>
              </a:lnSpc>
            </a:pPr>
            <a:r>
              <a:rPr kumimoji="1" lang="zh-CN" altLang="en-US" sz="1200" b="1" dirty="0">
                <a:solidFill>
                  <a:schemeClr val="bg1"/>
                </a:solidFill>
                <a:latin typeface="微软雅黑" panose="020B0503020204020204" pitchFamily="34" charset="-122"/>
                <a:ea typeface="微软雅黑" panose="020B0503020204020204" pitchFamily="34" charset="-122"/>
              </a:rPr>
              <a:t>转交地址 </a:t>
            </a:r>
            <a:r>
              <a:rPr kumimoji="1" lang="en-US" altLang="zh-CN" sz="1200" b="1" dirty="0">
                <a:solidFill>
                  <a:schemeClr val="bg1"/>
                </a:solidFill>
                <a:latin typeface="微软雅黑" panose="020B0503020204020204" pitchFamily="34" charset="-122"/>
                <a:ea typeface="微软雅黑" panose="020B0503020204020204" pitchFamily="34" charset="-122"/>
              </a:rPr>
              <a:t>15.5.6.7/8</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wipe(left)">
                                      <p:cBhvr>
                                        <p:cTn id="7" dur="1000"/>
                                        <p:tgtEl>
                                          <p:spTgt spid="133"/>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通信</a:t>
            </a:r>
            <a:r>
              <a:rPr lang="zh-CN" altLang="en-US" sz="2000" b="1" dirty="0" smtClean="0">
                <a:solidFill>
                  <a:schemeClr val="bg1"/>
                </a:solidFill>
                <a:latin typeface="微软雅黑" panose="020B0503020204020204" pitchFamily="34" charset="-122"/>
                <a:ea typeface="微软雅黑" panose="020B0503020204020204" pitchFamily="34" charset="-122"/>
              </a:rPr>
              <a:t>者 </a:t>
            </a:r>
            <a:r>
              <a:rPr lang="en-US" altLang="zh-CN" sz="2000" b="1" dirty="0" smtClean="0">
                <a:solidFill>
                  <a:schemeClr val="bg1"/>
                </a:solidFill>
                <a:latin typeface="微软雅黑" panose="020B0503020204020204" pitchFamily="34" charset="-122"/>
                <a:ea typeface="微软雅黑" panose="020B0503020204020204" pitchFamily="34" charset="-122"/>
              </a:rPr>
              <a:t>B </a:t>
            </a:r>
            <a:r>
              <a:rPr lang="zh-CN" altLang="en-US" sz="2000" b="1" dirty="0" smtClean="0">
                <a:solidFill>
                  <a:schemeClr val="bg1"/>
                </a:solidFill>
                <a:latin typeface="微软雅黑" panose="020B0503020204020204" pitchFamily="34" charset="-122"/>
                <a:ea typeface="微软雅黑" panose="020B0503020204020204" pitchFamily="34" charset="-122"/>
              </a:rPr>
              <a:t>和移动站 </a:t>
            </a:r>
            <a:r>
              <a:rPr lang="en-US" altLang="zh-CN" sz="2000" b="1" dirty="0" smtClean="0">
                <a:solidFill>
                  <a:schemeClr val="bg1"/>
                </a:solidFill>
                <a:latin typeface="微软雅黑" panose="020B0503020204020204" pitchFamily="34" charset="-122"/>
                <a:ea typeface="微软雅黑" panose="020B0503020204020204" pitchFamily="34" charset="-122"/>
              </a:rPr>
              <a:t>A </a:t>
            </a:r>
            <a:r>
              <a:rPr lang="zh-CN" altLang="en-US" sz="2000" b="1" dirty="0" smtClean="0">
                <a:solidFill>
                  <a:schemeClr val="bg1"/>
                </a:solidFill>
                <a:latin typeface="微软雅黑" panose="020B0503020204020204" pitchFamily="34" charset="-122"/>
                <a:ea typeface="微软雅黑" panose="020B0503020204020204" pitchFamily="34" charset="-122"/>
              </a:rPr>
              <a:t>通信</a:t>
            </a:r>
            <a:r>
              <a:rPr lang="zh-CN" altLang="en-US" sz="2000" b="1" dirty="0">
                <a:solidFill>
                  <a:schemeClr val="bg1"/>
                </a:solidFill>
                <a:latin typeface="微软雅黑" panose="020B0503020204020204" pitchFamily="34" charset="-122"/>
                <a:ea typeface="微软雅黑" panose="020B0503020204020204" pitchFamily="34" charset="-122"/>
              </a:rPr>
              <a:t>的四个</a:t>
            </a:r>
            <a:r>
              <a:rPr lang="zh-CN" altLang="en-US" sz="2000" b="1" dirty="0" smtClean="0">
                <a:solidFill>
                  <a:schemeClr val="bg1"/>
                </a:solidFill>
                <a:latin typeface="微软雅黑" panose="020B0503020204020204" pitchFamily="34" charset="-122"/>
                <a:ea typeface="微软雅黑" panose="020B0503020204020204" pitchFamily="34" charset="-122"/>
              </a:rPr>
              <a:t>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 被</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访网络中的</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外地代理</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把收到的封装的数据报进行</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拆封，</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取出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B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发送</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的原始数据报，然后</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转发</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给</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移动站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。这个数据报的目的地址是：</a:t>
            </a:r>
            <a:r>
              <a:rPr lang="en-US" altLang="zh-CN" b="1" dirty="0">
                <a:latin typeface="微软雅黑" panose="020B0503020204020204" pitchFamily="34" charset="-122"/>
                <a:ea typeface="微软雅黑" panose="020B0503020204020204" pitchFamily="34" charset="-122"/>
                <a:sym typeface="Wingdings 2" panose="05020102010507070707" pitchFamily="18" charset="2"/>
              </a:rPr>
              <a:t>131.8.6.7</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就是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永久地址。</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收到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B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发送</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的原始数据报后，也得到</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了 </a:t>
            </a:r>
            <a:r>
              <a:rPr lang="en-US" altLang="zh-CN"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B </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的</a:t>
            </a:r>
            <a:r>
              <a:rPr lang="en-US" altLang="zh-CN"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IP</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地址</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solidFill>
                <a:srgbClr val="0000CC"/>
              </a:solidFill>
              <a:latin typeface="微软雅黑" panose="020B0503020204020204" pitchFamily="34" charset="-122"/>
              <a:ea typeface="微软雅黑" panose="020B0503020204020204"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endParaRPr kumimoji="1" lang="en-US" altLang="zh-CN" sz="1400" b="1" dirty="0">
              <a:latin typeface="微软雅黑" panose="020B0503020204020204" pitchFamily="34" charset="-122"/>
              <a:ea typeface="微软雅黑" panose="020B0503020204020204" pitchFamily="34" charset="-122"/>
            </a:endParaRP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endParaRPr kumimoji="1" lang="en-US" altLang="zh-CN" sz="1100" b="1" dirty="0">
              <a:latin typeface="微软雅黑" panose="020B0503020204020204" pitchFamily="34" charset="-122"/>
              <a:ea typeface="微软雅黑" panose="020B0503020204020204" pitchFamily="34" charset="-122"/>
            </a:endParaRP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endParaRPr kumimoji="1" lang="en-US" altLang="zh-CN" sz="1100" b="1" dirty="0">
              <a:latin typeface="微软雅黑" panose="020B0503020204020204" pitchFamily="34" charset="-122"/>
              <a:ea typeface="微软雅黑" panose="020B0503020204020204" pitchFamily="34" charset="-122"/>
            </a:endParaRP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endParaRPr kumimoji="1" lang="zh-CN" altLang="en-US" sz="1100" b="1" dirty="0">
              <a:latin typeface="微软雅黑" panose="020B0503020204020204" pitchFamily="34" charset="-122"/>
              <a:ea typeface="微软雅黑" panose="020B0503020204020204" pitchFamily="34" charset="-122"/>
            </a:endParaRP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endParaRPr kumimoji="1" lang="zh-CN" altLang="en-US" sz="1200" b="1" dirty="0">
              <a:latin typeface="微软雅黑" panose="020B0503020204020204" pitchFamily="34" charset="-122"/>
              <a:ea typeface="微软雅黑" panose="020B0503020204020204" pitchFamily="34" charset="-122"/>
            </a:endParaRP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0" name="Group 424"/>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101"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33" name="组合 132"/>
          <p:cNvGrpSpPr/>
          <p:nvPr/>
        </p:nvGrpSpPr>
        <p:grpSpPr>
          <a:xfrm>
            <a:off x="2494100" y="1572084"/>
            <a:ext cx="3103098" cy="348671"/>
            <a:chOff x="2494100" y="1572084"/>
            <a:chExt cx="3103098" cy="348671"/>
          </a:xfrm>
        </p:grpSpPr>
        <p:sp>
          <p:nvSpPr>
            <p:cNvPr id="134" name="Freeform 114"/>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wipe(down)">
                                      <p:cBhvr>
                                        <p:cTn id="7" dur="2000"/>
                                        <p:tgtEl>
                                          <p:spTgt spid="136"/>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通信</a:t>
            </a:r>
            <a:r>
              <a:rPr lang="zh-CN" altLang="en-US" sz="2000" b="1" dirty="0" smtClean="0">
                <a:solidFill>
                  <a:schemeClr val="bg1"/>
                </a:solidFill>
                <a:latin typeface="微软雅黑" panose="020B0503020204020204" pitchFamily="34" charset="-122"/>
                <a:ea typeface="微软雅黑" panose="020B0503020204020204" pitchFamily="34" charset="-122"/>
              </a:rPr>
              <a:t>者 </a:t>
            </a:r>
            <a:r>
              <a:rPr lang="en-US" altLang="zh-CN" sz="2000" b="1" dirty="0" smtClean="0">
                <a:solidFill>
                  <a:schemeClr val="bg1"/>
                </a:solidFill>
                <a:latin typeface="微软雅黑" panose="020B0503020204020204" pitchFamily="34" charset="-122"/>
                <a:ea typeface="微软雅黑" panose="020B0503020204020204" pitchFamily="34" charset="-122"/>
              </a:rPr>
              <a:t>B </a:t>
            </a:r>
            <a:r>
              <a:rPr lang="zh-CN" altLang="en-US" sz="2000" b="1" dirty="0" smtClean="0">
                <a:solidFill>
                  <a:schemeClr val="bg1"/>
                </a:solidFill>
                <a:latin typeface="微软雅黑" panose="020B0503020204020204" pitchFamily="34" charset="-122"/>
                <a:ea typeface="微软雅黑" panose="020B0503020204020204" pitchFamily="34" charset="-122"/>
              </a:rPr>
              <a:t>和移动站 </a:t>
            </a:r>
            <a:r>
              <a:rPr lang="en-US" altLang="zh-CN" sz="2000" b="1" dirty="0" smtClean="0">
                <a:solidFill>
                  <a:schemeClr val="bg1"/>
                </a:solidFill>
                <a:latin typeface="微软雅黑" panose="020B0503020204020204" pitchFamily="34" charset="-122"/>
                <a:ea typeface="微软雅黑" panose="020B0503020204020204" pitchFamily="34" charset="-122"/>
              </a:rPr>
              <a:t>A </a:t>
            </a:r>
            <a:r>
              <a:rPr lang="zh-CN" altLang="en-US" sz="2000" b="1" dirty="0" smtClean="0">
                <a:solidFill>
                  <a:schemeClr val="bg1"/>
                </a:solidFill>
                <a:latin typeface="微软雅黑" panose="020B0503020204020204" pitchFamily="34" charset="-122"/>
                <a:ea typeface="微软雅黑" panose="020B0503020204020204" pitchFamily="34" charset="-122"/>
              </a:rPr>
              <a:t>通信</a:t>
            </a:r>
            <a:r>
              <a:rPr lang="zh-CN" altLang="en-US" sz="2000" b="1" dirty="0">
                <a:solidFill>
                  <a:schemeClr val="bg1"/>
                </a:solidFill>
                <a:latin typeface="微软雅黑" panose="020B0503020204020204" pitchFamily="34" charset="-122"/>
                <a:ea typeface="微软雅黑" panose="020B0503020204020204" pitchFamily="34" charset="-122"/>
              </a:rPr>
              <a:t>的四个</a:t>
            </a:r>
            <a:r>
              <a:rPr lang="zh-CN" altLang="en-US" sz="2000" b="1" dirty="0" smtClean="0">
                <a:solidFill>
                  <a:schemeClr val="bg1"/>
                </a:solidFill>
                <a:latin typeface="微软雅黑" panose="020B0503020204020204" pitchFamily="34" charset="-122"/>
                <a:ea typeface="微软雅黑" panose="020B0503020204020204" pitchFamily="34" charset="-122"/>
              </a:rPr>
              <a:t>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 如果现在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要向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B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发送</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数据报</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仍然</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使用自己的永久地址作为数据报的源地址，</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用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B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IP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地址</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作为数据报的目的地址。这个数据报显然没有必要在</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通过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归属代理进行转发了</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solidFill>
                <a:srgbClr val="0000CC"/>
              </a:solidFill>
              <a:latin typeface="微软雅黑" panose="020B0503020204020204" pitchFamily="34" charset="-122"/>
              <a:ea typeface="微软雅黑" panose="020B0503020204020204"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endParaRPr kumimoji="1" lang="en-US" altLang="zh-CN" sz="1400" b="1" dirty="0">
              <a:latin typeface="微软雅黑" panose="020B0503020204020204" pitchFamily="34" charset="-122"/>
              <a:ea typeface="微软雅黑" panose="020B0503020204020204" pitchFamily="34" charset="-122"/>
            </a:endParaRP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endParaRPr kumimoji="1" lang="en-US" altLang="zh-CN" sz="1100" b="1" dirty="0">
              <a:latin typeface="微软雅黑" panose="020B0503020204020204" pitchFamily="34" charset="-122"/>
              <a:ea typeface="微软雅黑" panose="020B0503020204020204" pitchFamily="34" charset="-122"/>
            </a:endParaRP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endParaRPr kumimoji="1" lang="en-US" altLang="zh-CN" sz="1100" b="1" dirty="0">
              <a:latin typeface="微软雅黑" panose="020B0503020204020204" pitchFamily="34" charset="-122"/>
              <a:ea typeface="微软雅黑" panose="020B0503020204020204" pitchFamily="34" charset="-122"/>
            </a:endParaRP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endParaRPr kumimoji="1" lang="zh-CN" altLang="en-US" sz="1100" b="1" dirty="0">
              <a:latin typeface="微软雅黑" panose="020B0503020204020204" pitchFamily="34" charset="-122"/>
              <a:ea typeface="微软雅黑" panose="020B0503020204020204" pitchFamily="34" charset="-122"/>
            </a:endParaRP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endParaRPr kumimoji="1" lang="en-US" altLang="zh-CN" sz="1100" b="1" dirty="0">
              <a:latin typeface="微软雅黑" panose="020B0503020204020204" pitchFamily="34" charset="-122"/>
              <a:ea typeface="微软雅黑" panose="020B0503020204020204" pitchFamily="34" charset="-122"/>
            </a:endParaRP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endParaRPr kumimoji="1" lang="zh-CN" altLang="en-US" sz="1200" b="1" dirty="0">
              <a:latin typeface="微软雅黑" panose="020B0503020204020204" pitchFamily="34" charset="-122"/>
              <a:ea typeface="微软雅黑" panose="020B0503020204020204" pitchFamily="34" charset="-122"/>
            </a:endParaRP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0" name="Group 424"/>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pic>
          <p:nvPicPr>
            <p:cNvPr id="101"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33" name="组合 132"/>
          <p:cNvGrpSpPr/>
          <p:nvPr/>
        </p:nvGrpSpPr>
        <p:grpSpPr>
          <a:xfrm>
            <a:off x="2494100" y="1572084"/>
            <a:ext cx="3103098" cy="348671"/>
            <a:chOff x="2494100" y="1572084"/>
            <a:chExt cx="3103098" cy="348671"/>
          </a:xfrm>
        </p:grpSpPr>
        <p:sp>
          <p:nvSpPr>
            <p:cNvPr id="134" name="Freeform 114"/>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39" name="组合 138"/>
          <p:cNvGrpSpPr/>
          <p:nvPr/>
        </p:nvGrpSpPr>
        <p:grpSpPr>
          <a:xfrm>
            <a:off x="6223967" y="1509126"/>
            <a:ext cx="1098283" cy="989245"/>
            <a:chOff x="6223967" y="1509126"/>
            <a:chExt cx="1098283" cy="989245"/>
          </a:xfrm>
        </p:grpSpPr>
        <p:sp>
          <p:nvSpPr>
            <p:cNvPr id="140" name="Freeform 115"/>
            <p:cNvSpPr/>
            <p:nvPr/>
          </p:nvSpPr>
          <p:spPr bwMode="auto">
            <a:xfrm>
              <a:off x="6223967" y="1604459"/>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1" fmla="*/ 0 w 10063"/>
                <a:gd name="connsiteY0-2" fmla="*/ 0 h 10000"/>
                <a:gd name="connsiteX1-3" fmla="*/ 6400 w 10063"/>
                <a:gd name="connsiteY1-4" fmla="*/ 1025 h 10000"/>
                <a:gd name="connsiteX2-5" fmla="*/ 9607 w 10063"/>
                <a:gd name="connsiteY2-6" fmla="*/ 3023 h 10000"/>
                <a:gd name="connsiteX3-7" fmla="*/ 9808 w 10063"/>
                <a:gd name="connsiteY3-8" fmla="*/ 5711 h 10000"/>
                <a:gd name="connsiteX4-9" fmla="*/ 7380 w 10063"/>
                <a:gd name="connsiteY4-10" fmla="*/ 8384 h 10000"/>
                <a:gd name="connsiteX5-11" fmla="*/ 3150 w 10063"/>
                <a:gd name="connsiteY5-12" fmla="*/ 10000 h 10000"/>
                <a:gd name="connsiteX0-13" fmla="*/ 0 w 10063"/>
                <a:gd name="connsiteY0-14" fmla="*/ 0 h 10000"/>
                <a:gd name="connsiteX1-15" fmla="*/ 6400 w 10063"/>
                <a:gd name="connsiteY1-16" fmla="*/ 1025 h 10000"/>
                <a:gd name="connsiteX2-17" fmla="*/ 9607 w 10063"/>
                <a:gd name="connsiteY2-18" fmla="*/ 3023 h 10000"/>
                <a:gd name="connsiteX3-19" fmla="*/ 9808 w 10063"/>
                <a:gd name="connsiteY3-20" fmla="*/ 5711 h 10000"/>
                <a:gd name="connsiteX4-21" fmla="*/ 7380 w 10063"/>
                <a:gd name="connsiteY4-22" fmla="*/ 8384 h 10000"/>
                <a:gd name="connsiteX5-23" fmla="*/ 3150 w 10063"/>
                <a:gd name="connsiteY5-24" fmla="*/ 10000 h 10000"/>
                <a:gd name="connsiteX0-25" fmla="*/ 0 w 10063"/>
                <a:gd name="connsiteY0-26" fmla="*/ 0 h 9724"/>
                <a:gd name="connsiteX1-27" fmla="*/ 6400 w 10063"/>
                <a:gd name="connsiteY1-28" fmla="*/ 1025 h 9724"/>
                <a:gd name="connsiteX2-29" fmla="*/ 9607 w 10063"/>
                <a:gd name="connsiteY2-30" fmla="*/ 3023 h 9724"/>
                <a:gd name="connsiteX3-31" fmla="*/ 9808 w 10063"/>
                <a:gd name="connsiteY3-32" fmla="*/ 5711 h 9724"/>
                <a:gd name="connsiteX4-33" fmla="*/ 7380 w 10063"/>
                <a:gd name="connsiteY4-34" fmla="*/ 8384 h 9724"/>
                <a:gd name="connsiteX5-35" fmla="*/ 2859 w 10063"/>
                <a:gd name="connsiteY5-36" fmla="*/ 9724 h 9724"/>
                <a:gd name="connsiteX0-37" fmla="*/ 0 w 10000"/>
                <a:gd name="connsiteY0-38" fmla="*/ 0 h 10000"/>
                <a:gd name="connsiteX1-39" fmla="*/ 6360 w 10000"/>
                <a:gd name="connsiteY1-40" fmla="*/ 1054 h 10000"/>
                <a:gd name="connsiteX2-41" fmla="*/ 9547 w 10000"/>
                <a:gd name="connsiteY2-42" fmla="*/ 3109 h 10000"/>
                <a:gd name="connsiteX3-43" fmla="*/ 9747 w 10000"/>
                <a:gd name="connsiteY3-44" fmla="*/ 5873 h 10000"/>
                <a:gd name="connsiteX4-45" fmla="*/ 7334 w 10000"/>
                <a:gd name="connsiteY4-46" fmla="*/ 8622 h 10000"/>
                <a:gd name="connsiteX5-47" fmla="*/ 2841 w 10000"/>
                <a:gd name="connsiteY5-48" fmla="*/ 1000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Text Box 145"/>
            <p:cNvSpPr txBox="1">
              <a:spLocks noChangeArrowheads="1"/>
            </p:cNvSpPr>
            <p:nvPr/>
          </p:nvSpPr>
          <p:spPr bwMode="auto">
            <a:xfrm flipH="1">
              <a:off x="6892993" y="1509126"/>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wipe(up)">
                                      <p:cBhvr>
                                        <p:cTn id="7" dur="1000"/>
                                        <p:tgtEl>
                                          <p:spTgt spid="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4627"/>
            <a:ext cx="8129015"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移动站</a:t>
            </a:r>
            <a:r>
              <a:rPr lang="zh-CN" altLang="en-US" sz="2000" b="1" dirty="0">
                <a:latin typeface="微软雅黑" panose="020B0503020204020204" pitchFamily="34" charset="-122"/>
                <a:ea typeface="微软雅黑" panose="020B0503020204020204" pitchFamily="34" charset="-122"/>
              </a:rPr>
              <a:t>到外地代理的</a:t>
            </a:r>
            <a:r>
              <a:rPr lang="zh-CN" altLang="en-US" sz="2000" b="1" dirty="0" smtClean="0">
                <a:latin typeface="微软雅黑" panose="020B0503020204020204" pitchFamily="34" charset="-122"/>
                <a:ea typeface="微软雅黑" panose="020B0503020204020204" pitchFamily="34" charset="-122"/>
              </a:rPr>
              <a:t>协议。</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外地</a:t>
            </a:r>
            <a:r>
              <a:rPr lang="zh-CN" altLang="en-US" sz="2000" b="1" dirty="0">
                <a:latin typeface="微软雅黑" panose="020B0503020204020204" pitchFamily="34" charset="-122"/>
                <a:ea typeface="微软雅黑" panose="020B0503020204020204" pitchFamily="34" charset="-122"/>
              </a:rPr>
              <a:t>代理到归属代理的登记协议。</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归属</a:t>
            </a:r>
            <a:r>
              <a:rPr lang="zh-CN" altLang="en-US" sz="2000" b="1" dirty="0">
                <a:latin typeface="微软雅黑" panose="020B0503020204020204" pitchFamily="34" charset="-122"/>
                <a:ea typeface="微软雅黑" panose="020B0503020204020204" pitchFamily="34" charset="-122"/>
              </a:rPr>
              <a:t>代理数据报封装协议。</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外地</a:t>
            </a:r>
            <a:r>
              <a:rPr lang="zh-CN" altLang="en-US" sz="2000" b="1" dirty="0">
                <a:latin typeface="微软雅黑" panose="020B0503020204020204" pitchFamily="34" charset="-122"/>
                <a:ea typeface="微软雅黑" panose="020B0503020204020204" pitchFamily="34" charset="-122"/>
              </a:rPr>
              <a:t>代理拆封协议。</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11897" y="620341"/>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01668" y="587130"/>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网络层应增加的新功能</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间接路由选择：</a:t>
            </a:r>
            <a:r>
              <a:rPr lang="zh-CN" altLang="en-US" sz="2000" b="1" dirty="0">
                <a:latin typeface="微软雅黑" panose="020B0503020204020204" pitchFamily="34" charset="-122"/>
                <a:ea typeface="微软雅黑" panose="020B0503020204020204" pitchFamily="34" charset="-122"/>
              </a:rPr>
              <a:t>把数据报发往移动站的归属网络，由</a:t>
            </a:r>
            <a:r>
              <a:rPr lang="zh-CN" altLang="en-US" sz="2000" b="1" dirty="0">
                <a:solidFill>
                  <a:srgbClr val="0000CC"/>
                </a:solidFill>
                <a:latin typeface="微软雅黑" panose="020B0503020204020204" pitchFamily="34" charset="-122"/>
                <a:ea typeface="微软雅黑" panose="020B0503020204020204" pitchFamily="34" charset="-122"/>
              </a:rPr>
              <a:t>归属代理</a:t>
            </a:r>
            <a:r>
              <a:rPr lang="zh-CN" altLang="en-US" sz="2000" b="1" dirty="0">
                <a:latin typeface="微软雅黑" panose="020B0503020204020204" pitchFamily="34" charset="-122"/>
                <a:ea typeface="微软雅黑" panose="020B0503020204020204" pitchFamily="34" charset="-122"/>
              </a:rPr>
              <a:t>完成以后的</a:t>
            </a:r>
            <a:r>
              <a:rPr lang="zh-CN" altLang="en-US" sz="2000" b="1" dirty="0">
                <a:solidFill>
                  <a:srgbClr val="0000CC"/>
                </a:solidFill>
                <a:latin typeface="微软雅黑" panose="020B0503020204020204" pitchFamily="34" charset="-122"/>
                <a:ea typeface="微软雅黑" panose="020B0503020204020204" pitchFamily="34" charset="-122"/>
              </a:rPr>
              <a:t>寻址</a:t>
            </a:r>
            <a:r>
              <a:rPr lang="zh-CN" altLang="en-US" sz="2000" b="1" dirty="0">
                <a:latin typeface="微软雅黑" panose="020B0503020204020204" pitchFamily="34" charset="-122"/>
                <a:ea typeface="微软雅黑" panose="020B0503020204020204" pitchFamily="34" charset="-122"/>
              </a:rPr>
              <a:t>工作，进而完成数据报</a:t>
            </a:r>
            <a:r>
              <a:rPr lang="zh-CN" altLang="en-US" sz="2000" b="1" dirty="0">
                <a:solidFill>
                  <a:srgbClr val="0000CC"/>
                </a:solidFill>
                <a:latin typeface="微软雅黑" panose="020B0503020204020204" pitchFamily="34" charset="-122"/>
                <a:ea typeface="微软雅黑" panose="020B0503020204020204" pitchFamily="34" charset="-122"/>
              </a:rPr>
              <a:t>转发</a:t>
            </a:r>
            <a:r>
              <a:rPr lang="zh-CN" altLang="en-US" sz="2000" b="1" dirty="0">
                <a:latin typeface="微软雅黑" panose="020B0503020204020204" pitchFamily="34" charset="-122"/>
                <a:ea typeface="微软雅黑" panose="020B0503020204020204" pitchFamily="34" charset="-122"/>
              </a:rPr>
              <a:t>的方式。</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问题：</a:t>
            </a:r>
            <a:r>
              <a:rPr lang="zh-CN" altLang="en-US" sz="2000" b="1" dirty="0" smtClean="0">
                <a:latin typeface="微软雅黑" panose="020B0503020204020204" pitchFamily="34" charset="-122"/>
                <a:ea typeface="微软雅黑" panose="020B0503020204020204" pitchFamily="34" charset="-122"/>
              </a:rPr>
              <a:t>可能</a:t>
            </a:r>
            <a:r>
              <a:rPr lang="zh-CN" altLang="en-US" sz="2000" b="1" dirty="0">
                <a:latin typeface="微软雅黑" panose="020B0503020204020204" pitchFamily="34" charset="-122"/>
                <a:ea typeface="微软雅黑" panose="020B0503020204020204" pitchFamily="34" charset="-122"/>
              </a:rPr>
              <a:t>会引起数据报转发的</a:t>
            </a:r>
            <a:r>
              <a:rPr lang="zh-CN" altLang="en-US" sz="2000" b="1" dirty="0">
                <a:solidFill>
                  <a:srgbClr val="C00000"/>
                </a:solidFill>
                <a:latin typeface="微软雅黑" panose="020B0503020204020204" pitchFamily="34" charset="-122"/>
                <a:ea typeface="微软雅黑" panose="020B0503020204020204" pitchFamily="34" charset="-122"/>
              </a:rPr>
              <a:t>低效</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即</a:t>
            </a:r>
            <a:r>
              <a:rPr lang="zh-CN" altLang="en-US" sz="2000" b="1" dirty="0" smtClean="0">
                <a:solidFill>
                  <a:srgbClr val="C00000"/>
                </a:solidFill>
                <a:latin typeface="微软雅黑" panose="020B0503020204020204" pitchFamily="34" charset="-122"/>
                <a:ea typeface="微软雅黑" panose="020B0503020204020204" pitchFamily="34" charset="-122"/>
              </a:rPr>
              <a:t>三角形</a:t>
            </a:r>
            <a:r>
              <a:rPr lang="zh-CN" altLang="en-US" sz="2000" b="1" dirty="0">
                <a:solidFill>
                  <a:srgbClr val="C00000"/>
                </a:solidFill>
                <a:latin typeface="微软雅黑" panose="020B0503020204020204" pitchFamily="34" charset="-122"/>
                <a:ea typeface="微软雅黑" panose="020B0503020204020204" pitchFamily="34" charset="-122"/>
              </a:rPr>
              <a:t>路由选择问题</a:t>
            </a:r>
            <a:r>
              <a:rPr lang="en-US" altLang="zh-CN" sz="2000" b="1" dirty="0">
                <a:latin typeface="微软雅黑" panose="020B0503020204020204" pitchFamily="34" charset="-122"/>
                <a:ea typeface="微软雅黑" panose="020B0503020204020204" pitchFamily="34" charset="-122"/>
              </a:rPr>
              <a:t>(triangle routing problem)</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329908" y="58808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三角形</a:t>
            </a:r>
            <a:r>
              <a:rPr lang="zh-CN" altLang="en-US" sz="2000" b="1" dirty="0">
                <a:solidFill>
                  <a:schemeClr val="bg1"/>
                </a:solidFill>
                <a:latin typeface="微软雅黑" panose="020B0503020204020204" pitchFamily="34" charset="-122"/>
                <a:ea typeface="微软雅黑" panose="020B0503020204020204" pitchFamily="34" charset="-122"/>
              </a:rPr>
              <a:t>路由选择问题</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矩形 4"/>
          <p:cNvSpPr/>
          <p:nvPr/>
        </p:nvSpPr>
        <p:spPr>
          <a:xfrm>
            <a:off x="951000" y="2565893"/>
            <a:ext cx="7376159" cy="1759456"/>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本来</a:t>
            </a:r>
            <a:r>
              <a:rPr lang="zh-CN" altLang="en-US" b="1" dirty="0" smtClean="0">
                <a:latin typeface="微软雅黑" panose="020B0503020204020204" pitchFamily="34" charset="-122"/>
                <a:ea typeface="微软雅黑" panose="020B0503020204020204" pitchFamily="34" charset="-122"/>
              </a:rPr>
              <a:t>在 </a:t>
            </a:r>
            <a:r>
              <a:rPr lang="en-US" altLang="zh-CN" b="1" dirty="0" smtClean="0">
                <a:latin typeface="微软雅黑" panose="020B0503020204020204" pitchFamily="34" charset="-122"/>
                <a:ea typeface="微软雅黑" panose="020B0503020204020204" pitchFamily="34" charset="-122"/>
              </a:rPr>
              <a:t>B </a:t>
            </a:r>
            <a:r>
              <a:rPr lang="zh-CN" altLang="en-US" b="1" dirty="0" smtClean="0">
                <a:latin typeface="微软雅黑" panose="020B0503020204020204" pitchFamily="34" charset="-122"/>
                <a:ea typeface="微软雅黑" panose="020B0503020204020204" pitchFamily="34" charset="-122"/>
              </a:rPr>
              <a:t>和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之间</a:t>
            </a:r>
            <a:r>
              <a:rPr lang="zh-CN" altLang="en-US" b="1" dirty="0">
                <a:latin typeface="微软雅黑" panose="020B0503020204020204" pitchFamily="34" charset="-122"/>
                <a:ea typeface="微软雅黑" panose="020B0503020204020204" pitchFamily="34" charset="-122"/>
              </a:rPr>
              <a:t>可能有一条更有效的路由，但现在要走另外</a:t>
            </a:r>
            <a:r>
              <a:rPr lang="zh-CN" altLang="en-US" b="1" dirty="0">
                <a:solidFill>
                  <a:srgbClr val="0000CC"/>
                </a:solidFill>
                <a:latin typeface="微软雅黑" panose="020B0503020204020204" pitchFamily="34" charset="-122"/>
                <a:ea typeface="微软雅黑" panose="020B0503020204020204" pitchFamily="34" charset="-122"/>
              </a:rPr>
              <a:t>两条路：</a:t>
            </a:r>
            <a:r>
              <a:rPr lang="zh-CN" altLang="en-US" b="1" dirty="0">
                <a:latin typeface="微软雅黑" panose="020B0503020204020204" pitchFamily="34" charset="-122"/>
                <a:ea typeface="微软雅黑" panose="020B0503020204020204" pitchFamily="34" charset="-122"/>
              </a:rPr>
              <a:t>先要把数据报</a:t>
            </a:r>
            <a:r>
              <a:rPr lang="zh-CN" altLang="en-US" b="1" dirty="0" smtClean="0">
                <a:latin typeface="微软雅黑" panose="020B0503020204020204" pitchFamily="34" charset="-122"/>
                <a:ea typeface="微软雅黑" panose="020B0503020204020204" pitchFamily="34" charset="-122"/>
              </a:rPr>
              <a:t>从 </a:t>
            </a:r>
            <a:r>
              <a:rPr lang="en-US" altLang="zh-CN" b="1" dirty="0" smtClean="0">
                <a:latin typeface="微软雅黑" panose="020B0503020204020204" pitchFamily="34" charset="-122"/>
                <a:ea typeface="微软雅黑" panose="020B0503020204020204" pitchFamily="34" charset="-122"/>
              </a:rPr>
              <a:t>B </a:t>
            </a:r>
            <a:r>
              <a:rPr lang="zh-CN" altLang="en-US" b="1" dirty="0" smtClean="0">
                <a:latin typeface="微软雅黑" panose="020B0503020204020204" pitchFamily="34" charset="-122"/>
                <a:ea typeface="微软雅黑" panose="020B0503020204020204" pitchFamily="34" charset="-122"/>
              </a:rPr>
              <a:t>发送到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归属代理，然后再转发给漫游到被访网络</a:t>
            </a:r>
            <a:r>
              <a:rPr lang="zh-CN" altLang="en-US" b="1" dirty="0" smtClean="0">
                <a:latin typeface="微软雅黑" panose="020B0503020204020204" pitchFamily="34" charset="-122"/>
                <a:ea typeface="微软雅黑" panose="020B0503020204020204" pitchFamily="34" charset="-122"/>
              </a:rPr>
              <a:t>的 </a:t>
            </a:r>
            <a:r>
              <a:rPr lang="en-US" altLang="zh-CN" b="1" dirty="0" smtClean="0">
                <a:latin typeface="微软雅黑" panose="020B0503020204020204" pitchFamily="34" charset="-122"/>
                <a:ea typeface="微软雅黑" panose="020B0503020204020204" pitchFamily="34" charset="-122"/>
              </a:rPr>
              <a:t>A</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a:lnSpc>
                <a:spcPts val="2600"/>
              </a:lnSpc>
            </a:pPr>
            <a:r>
              <a:rPr lang="zh-CN" altLang="en-US" b="1" dirty="0" smtClean="0">
                <a:solidFill>
                  <a:srgbClr val="C00000"/>
                </a:solidFill>
                <a:latin typeface="微软雅黑" panose="020B0503020204020204" pitchFamily="34" charset="-122"/>
                <a:ea typeface="微软雅黑" panose="020B0503020204020204" pitchFamily="34" charset="-122"/>
              </a:rPr>
              <a:t>如果 </a:t>
            </a:r>
            <a:r>
              <a:rPr lang="en-US" altLang="zh-CN" b="1" dirty="0" smtClean="0">
                <a:solidFill>
                  <a:srgbClr val="C00000"/>
                </a:solidFill>
                <a:latin typeface="微软雅黑" panose="020B0503020204020204" pitchFamily="34" charset="-122"/>
                <a:ea typeface="微软雅黑" panose="020B0503020204020204" pitchFamily="34" charset="-122"/>
              </a:rPr>
              <a:t>B </a:t>
            </a:r>
            <a:r>
              <a:rPr lang="zh-CN" altLang="en-US" b="1" dirty="0" smtClean="0">
                <a:solidFill>
                  <a:srgbClr val="C00000"/>
                </a:solidFill>
                <a:latin typeface="微软雅黑" panose="020B0503020204020204" pitchFamily="34" charset="-122"/>
                <a:ea typeface="微软雅黑" panose="020B0503020204020204" pitchFamily="34" charset="-122"/>
              </a:rPr>
              <a:t>所在</a:t>
            </a:r>
            <a:r>
              <a:rPr lang="zh-CN" altLang="en-US" b="1" dirty="0">
                <a:solidFill>
                  <a:srgbClr val="C00000"/>
                </a:solidFill>
                <a:latin typeface="微软雅黑" panose="020B0503020204020204" pitchFamily="34" charset="-122"/>
                <a:ea typeface="微软雅黑" panose="020B0503020204020204" pitchFamily="34" charset="-122"/>
              </a:rPr>
              <a:t>的网络</a:t>
            </a:r>
            <a:r>
              <a:rPr lang="zh-CN" altLang="en-US" b="1" dirty="0" smtClean="0">
                <a:solidFill>
                  <a:srgbClr val="C00000"/>
                </a:solidFill>
                <a:latin typeface="微软雅黑" panose="020B0503020204020204" pitchFamily="34" charset="-122"/>
                <a:ea typeface="微软雅黑" panose="020B0503020204020204" pitchFamily="34" charset="-122"/>
              </a:rPr>
              <a:t>就是 </a:t>
            </a:r>
            <a:r>
              <a:rPr lang="en-US" altLang="zh-CN" b="1" dirty="0" smtClean="0">
                <a:solidFill>
                  <a:srgbClr val="C00000"/>
                </a:solidFill>
                <a:latin typeface="微软雅黑" panose="020B0503020204020204" pitchFamily="34" charset="-122"/>
                <a:ea typeface="微软雅黑" panose="020B0503020204020204" pitchFamily="34" charset="-122"/>
              </a:rPr>
              <a:t>A </a:t>
            </a:r>
            <a:r>
              <a:rPr lang="zh-CN" altLang="en-US" b="1" dirty="0" smtClean="0">
                <a:solidFill>
                  <a:srgbClr val="C00000"/>
                </a:solidFill>
                <a:latin typeface="微软雅黑" panose="020B0503020204020204" pitchFamily="34" charset="-122"/>
                <a:ea typeface="微软雅黑" panose="020B0503020204020204" pitchFamily="34" charset="-122"/>
              </a:rPr>
              <a:t>到达</a:t>
            </a:r>
            <a:r>
              <a:rPr lang="zh-CN" altLang="en-US" b="1" dirty="0">
                <a:solidFill>
                  <a:srgbClr val="C00000"/>
                </a:solidFill>
                <a:latin typeface="微软雅黑" panose="020B0503020204020204" pitchFamily="34" charset="-122"/>
                <a:ea typeface="微软雅黑" panose="020B0503020204020204" pitchFamily="34" charset="-122"/>
              </a:rPr>
              <a:t>的被访</a:t>
            </a:r>
            <a:r>
              <a:rPr lang="zh-CN" altLang="en-US" b="1" dirty="0" smtClean="0">
                <a:solidFill>
                  <a:srgbClr val="C00000"/>
                </a:solidFill>
                <a:latin typeface="微软雅黑" panose="020B0503020204020204" pitchFamily="34" charset="-122"/>
                <a:ea typeface="微软雅黑" panose="020B0503020204020204" pitchFamily="34" charset="-122"/>
              </a:rPr>
              <a:t>网络</a:t>
            </a:r>
            <a:r>
              <a:rPr lang="zh-CN" altLang="en-US" b="1" dirty="0">
                <a:solidFill>
                  <a:srgbClr val="C00000"/>
                </a:solidFill>
                <a:latin typeface="微软雅黑" panose="020B0503020204020204" pitchFamily="34" charset="-122"/>
                <a:ea typeface="微软雅黑" panose="020B0503020204020204" pitchFamily="34" charset="-122"/>
              </a:rPr>
              <a:t>呢</a:t>
            </a:r>
            <a:r>
              <a:rPr lang="zh-CN" altLang="en-US" b="1" dirty="0" smtClean="0">
                <a:solidFill>
                  <a:srgbClr val="C00000"/>
                </a:solidFill>
                <a:latin typeface="微软雅黑" panose="020B0503020204020204" pitchFamily="34" charset="-122"/>
                <a:ea typeface="微软雅黑" panose="020B0503020204020204" pitchFamily="34" charset="-122"/>
              </a:rPr>
              <a:t>？</a:t>
            </a:r>
            <a:endParaRPr lang="en-US" altLang="zh-CN" b="1" dirty="0" smtClean="0">
              <a:solidFill>
                <a:srgbClr val="C00000"/>
              </a:solidFill>
              <a:latin typeface="微软雅黑" panose="020B0503020204020204" pitchFamily="34" charset="-122"/>
              <a:ea typeface="微软雅黑" panose="020B0503020204020204" pitchFamily="34" charset="-122"/>
            </a:endParaRPr>
          </a:p>
          <a:p>
            <a:pPr>
              <a:lnSpc>
                <a:spcPts val="2600"/>
              </a:lnSpc>
            </a:pPr>
            <a:r>
              <a:rPr lang="zh-CN" altLang="en-US" b="1" dirty="0" smtClean="0">
                <a:solidFill>
                  <a:srgbClr val="0000CC"/>
                </a:solidFill>
                <a:latin typeface="微软雅黑" panose="020B0503020204020204" pitchFamily="34" charset="-122"/>
                <a:ea typeface="微软雅黑" panose="020B0503020204020204" pitchFamily="34" charset="-122"/>
              </a:rPr>
              <a:t>直接交付即可，</a:t>
            </a:r>
            <a:r>
              <a:rPr lang="zh-CN" altLang="en-US" b="1" dirty="0">
                <a:solidFill>
                  <a:srgbClr val="0000CC"/>
                </a:solidFill>
                <a:latin typeface="微软雅黑" panose="020B0503020204020204" pitchFamily="34" charset="-122"/>
                <a:ea typeface="微软雅黑" panose="020B0503020204020204" pitchFamily="34" charset="-122"/>
              </a:rPr>
              <a:t>根本不需要使用路由器。</a:t>
            </a:r>
            <a:endParaRPr lang="zh-CN" altLang="en-US" b="1" dirty="0">
              <a:solidFill>
                <a:srgbClr val="00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bg/>
                                          </p:spTgt>
                                        </p:tgtEl>
                                        <p:attrNameLst>
                                          <p:attrName>style.visibility</p:attrName>
                                        </p:attrNameLst>
                                      </p:cBhvr>
                                      <p:to>
                                        <p:strVal val="visible"/>
                                      </p:to>
                                    </p:set>
                                    <p:animEffect transition="in" filter="fade">
                                      <p:cBhvr>
                                        <p:cTn id="7" dur="1000"/>
                                        <p:tgtEl>
                                          <p:spTgt spid="5">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fade">
                                      <p:cBhvr>
                                        <p:cTn id="10" dur="1000"/>
                                        <p:tgtEl>
                                          <p:spTgt spid="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animEffect transition="in" filter="fade">
                                      <p:cBhvr>
                                        <p:cTn id="15" dur="1000"/>
                                        <p:tgtEl>
                                          <p:spTgt spid="5">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xEl>
                                              <p:pRg st="2" end="2"/>
                                            </p:txEl>
                                          </p:spTgt>
                                        </p:tgtEl>
                                        <p:attrNameLst>
                                          <p:attrName>style.visibility</p:attrName>
                                        </p:attrNameLst>
                                      </p:cBhvr>
                                      <p:to>
                                        <p:strVal val="visible"/>
                                      </p:to>
                                    </p:set>
                                    <p:animEffect transition="in" filter="fade">
                                      <p:cBhvr>
                                        <p:cTn id="20" dur="10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uiExpand="1" build="p"/>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301565" y="598587"/>
            <a:ext cx="45448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a:t>
            </a:r>
            <a:r>
              <a:rPr lang="zh-CN" altLang="en-US" sz="2000" b="1" dirty="0">
                <a:solidFill>
                  <a:srgbClr val="FFFF00"/>
                </a:solidFill>
                <a:ea typeface="微软雅黑" panose="020B0503020204020204" pitchFamily="34" charset="-122"/>
              </a:rPr>
              <a:t>直接路由选择</a:t>
            </a:r>
            <a:r>
              <a:rPr lang="zh-CN" altLang="en-US" sz="2000" b="1" dirty="0">
                <a:solidFill>
                  <a:schemeClr val="bg1"/>
                </a:solidFill>
                <a:ea typeface="微软雅黑" panose="020B0503020204020204" pitchFamily="34" charset="-122"/>
              </a:rPr>
              <a:t>向移动站发送数据报</a:t>
            </a:r>
            <a:endParaRPr lang="zh-CN" altLang="en-US" sz="2000" b="1" dirty="0">
              <a:solidFill>
                <a:schemeClr val="bg1"/>
              </a:solidFill>
              <a:ea typeface="微软雅黑" panose="020B0503020204020204" pitchFamily="34" charset="-122"/>
            </a:endParaRPr>
          </a:p>
        </p:txBody>
      </p:sp>
      <p:sp>
        <p:nvSpPr>
          <p:cNvPr id="5" name="矩形 4"/>
          <p:cNvSpPr/>
          <p:nvPr/>
        </p:nvSpPr>
        <p:spPr>
          <a:xfrm>
            <a:off x="966651" y="3161212"/>
            <a:ext cx="7245532" cy="1220847"/>
          </a:xfrm>
          <a:prstGeom prst="rect">
            <a:avLst/>
          </a:prstGeom>
          <a:noFill/>
          <a:ln>
            <a:noFill/>
          </a:ln>
        </p:spPr>
        <p:txBody>
          <a:bodyPr wrap="square">
            <a:spAutoFit/>
          </a:bodyPr>
          <a:lstStyle/>
          <a:p>
            <a:pPr>
              <a:lnSpc>
                <a:spcPts val="2200"/>
              </a:lnSpc>
            </a:pPr>
            <a:r>
              <a:rPr lang="zh-CN" altLang="en-US" sz="1600" b="1" dirty="0">
                <a:latin typeface="微软雅黑" panose="020B0503020204020204" pitchFamily="34" charset="-122"/>
                <a:ea typeface="微软雅黑" panose="020B0503020204020204" pitchFamily="34" charset="-122"/>
              </a:rPr>
              <a:t>让通信</a:t>
            </a:r>
            <a:r>
              <a:rPr lang="zh-CN" altLang="en-US" sz="1600" b="1" dirty="0" smtClean="0">
                <a:latin typeface="微软雅黑" panose="020B0503020204020204" pitchFamily="34" charset="-122"/>
                <a:ea typeface="微软雅黑" panose="020B0503020204020204" pitchFamily="34" charset="-122"/>
              </a:rPr>
              <a:t>者 </a:t>
            </a:r>
            <a:r>
              <a:rPr lang="en-US" altLang="zh-CN" sz="1600" b="1" dirty="0" smtClean="0">
                <a:latin typeface="微软雅黑" panose="020B0503020204020204" pitchFamily="34" charset="-122"/>
                <a:ea typeface="微软雅黑" panose="020B0503020204020204" pitchFamily="34" charset="-122"/>
              </a:rPr>
              <a:t>B </a:t>
            </a:r>
            <a:r>
              <a:rPr lang="zh-CN" altLang="en-US" sz="1600" b="1" dirty="0" smtClean="0">
                <a:latin typeface="微软雅黑" panose="020B0503020204020204" pitchFamily="34" charset="-122"/>
                <a:ea typeface="微软雅黑" panose="020B0503020204020204" pitchFamily="34" charset="-122"/>
              </a:rPr>
              <a:t>创建</a:t>
            </a:r>
            <a:r>
              <a:rPr lang="zh-CN" altLang="en-US" sz="1600" b="1" dirty="0">
                <a:latin typeface="微软雅黑" panose="020B0503020204020204" pitchFamily="34" charset="-122"/>
                <a:ea typeface="微软雅黑" panose="020B0503020204020204" pitchFamily="34" charset="-122"/>
              </a:rPr>
              <a:t>一个</a:t>
            </a:r>
            <a:r>
              <a:rPr lang="zh-CN" altLang="en-US" sz="1600" b="1" dirty="0">
                <a:solidFill>
                  <a:srgbClr val="C00000"/>
                </a:solidFill>
                <a:latin typeface="微软雅黑" panose="020B0503020204020204" pitchFamily="34" charset="-122"/>
                <a:ea typeface="微软雅黑" panose="020B0503020204020204" pitchFamily="34" charset="-122"/>
              </a:rPr>
              <a:t>通信者</a:t>
            </a:r>
            <a:r>
              <a:rPr lang="zh-CN" altLang="en-US" sz="1600" b="1" dirty="0" smtClean="0">
                <a:solidFill>
                  <a:srgbClr val="C00000"/>
                </a:solidFill>
                <a:latin typeface="微软雅黑" panose="020B0503020204020204" pitchFamily="34" charset="-122"/>
                <a:ea typeface="微软雅黑" panose="020B0503020204020204" pitchFamily="34" charset="-122"/>
              </a:rPr>
              <a:t>代理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correspondent agent)</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让通信</a:t>
            </a:r>
            <a:r>
              <a:rPr lang="zh-CN" altLang="en-US" sz="1600" b="1" dirty="0">
                <a:latin typeface="微软雅黑" panose="020B0503020204020204" pitchFamily="34" charset="-122"/>
                <a:ea typeface="微软雅黑" panose="020B0503020204020204" pitchFamily="34" charset="-122"/>
              </a:rPr>
              <a:t>者代理向</a:t>
            </a:r>
            <a:r>
              <a:rPr lang="zh-CN" altLang="en-US" sz="1600" b="1" dirty="0">
                <a:solidFill>
                  <a:srgbClr val="0000CC"/>
                </a:solidFill>
                <a:latin typeface="微软雅黑" panose="020B0503020204020204" pitchFamily="34" charset="-122"/>
                <a:ea typeface="微软雅黑" panose="020B0503020204020204" pitchFamily="34" charset="-122"/>
              </a:rPr>
              <a:t>归属代理</a:t>
            </a:r>
            <a:r>
              <a:rPr lang="zh-CN" altLang="en-US" sz="1600" b="1" dirty="0">
                <a:solidFill>
                  <a:srgbClr val="C00000"/>
                </a:solidFill>
                <a:latin typeface="微软雅黑" panose="020B0503020204020204" pitchFamily="34" charset="-122"/>
                <a:ea typeface="微软雅黑" panose="020B0503020204020204" pitchFamily="34" charset="-122"/>
              </a:rPr>
              <a:t>询问</a:t>
            </a:r>
            <a:r>
              <a:rPr lang="zh-CN" altLang="en-US" sz="1600" b="1" dirty="0">
                <a:latin typeface="微软雅黑" panose="020B0503020204020204" pitchFamily="34" charset="-122"/>
                <a:ea typeface="微软雅黑" panose="020B0503020204020204" pitchFamily="34" charset="-122"/>
              </a:rPr>
              <a:t>到移动站在被访网络的</a:t>
            </a:r>
            <a:r>
              <a:rPr lang="zh-CN" altLang="en-US" sz="1600" b="1" dirty="0">
                <a:solidFill>
                  <a:srgbClr val="0000CC"/>
                </a:solidFill>
                <a:latin typeface="微软雅黑" panose="020B0503020204020204" pitchFamily="34" charset="-122"/>
                <a:ea typeface="微软雅黑" panose="020B0503020204020204" pitchFamily="34" charset="-122"/>
              </a:rPr>
              <a:t>转交地址。</a:t>
            </a:r>
            <a:r>
              <a:rPr lang="zh-CN" altLang="en-US" sz="1600" b="1" dirty="0">
                <a:latin typeface="微软雅黑" panose="020B0503020204020204" pitchFamily="34" charset="-122"/>
                <a:ea typeface="微软雅黑" panose="020B0503020204020204" pitchFamily="34" charset="-122"/>
              </a:rPr>
              <a:t>然后由通信者代理把数据报用</a:t>
            </a:r>
            <a:r>
              <a:rPr lang="zh-CN" altLang="en-US" sz="1600" b="1" dirty="0">
                <a:solidFill>
                  <a:srgbClr val="C00000"/>
                </a:solidFill>
                <a:latin typeface="微软雅黑" panose="020B0503020204020204" pitchFamily="34" charset="-122"/>
                <a:ea typeface="微软雅黑" panose="020B0503020204020204" pitchFamily="34" charset="-122"/>
              </a:rPr>
              <a:t>隧道技术</a:t>
            </a:r>
            <a:r>
              <a:rPr lang="zh-CN" altLang="en-US" sz="1600" b="1" dirty="0">
                <a:latin typeface="微软雅黑" panose="020B0503020204020204" pitchFamily="34" charset="-122"/>
                <a:ea typeface="微软雅黑" panose="020B0503020204020204" pitchFamily="34" charset="-122"/>
              </a:rPr>
              <a:t>发送到被访网络的</a:t>
            </a:r>
            <a:r>
              <a:rPr lang="zh-CN" altLang="en-US" sz="1600" b="1" dirty="0">
                <a:solidFill>
                  <a:srgbClr val="0000CC"/>
                </a:solidFill>
                <a:latin typeface="微软雅黑" panose="020B0503020204020204" pitchFamily="34" charset="-122"/>
                <a:ea typeface="微软雅黑" panose="020B0503020204020204" pitchFamily="34" charset="-122"/>
              </a:rPr>
              <a:t>外地代理，</a:t>
            </a:r>
            <a:r>
              <a:rPr lang="zh-CN" altLang="en-US" sz="1600" b="1" dirty="0">
                <a:latin typeface="微软雅黑" panose="020B0503020204020204" pitchFamily="34" charset="-122"/>
                <a:ea typeface="微软雅黑" panose="020B0503020204020204" pitchFamily="34" charset="-122"/>
              </a:rPr>
              <a:t>最后再由这个外地代理拆封，把数据报转发给移动站</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
        <p:nvSpPr>
          <p:cNvPr id="100"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01" name="Line 5"/>
          <p:cNvSpPr>
            <a:spLocks noChangeShapeType="1"/>
          </p:cNvSpPr>
          <p:nvPr/>
        </p:nvSpPr>
        <p:spPr bwMode="auto">
          <a:xfrm rot="16200000" flipV="1">
            <a:off x="3740776" y="2350343"/>
            <a:ext cx="0" cy="50474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2"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pic>
        <p:nvPicPr>
          <p:cNvPr id="103" name="Picture 144"/>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4"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endParaRPr kumimoji="1" lang="zh-CN" altLang="en-US" sz="12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105"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endParaRPr kumimoji="1" lang="zh-CN" altLang="en-US" sz="1200" b="1" dirty="0">
              <a:latin typeface="微软雅黑" panose="020B0503020204020204" pitchFamily="34" charset="-122"/>
              <a:ea typeface="微软雅黑" panose="020B0503020204020204" pitchFamily="34" charset="-122"/>
            </a:endParaRPr>
          </a:p>
        </p:txBody>
      </p:sp>
      <p:sp>
        <p:nvSpPr>
          <p:cNvPr id="106"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07" name="组合 106"/>
          <p:cNvGrpSpPr/>
          <p:nvPr/>
        </p:nvGrpSpPr>
        <p:grpSpPr>
          <a:xfrm>
            <a:off x="1812942" y="1105129"/>
            <a:ext cx="1524445" cy="1036309"/>
            <a:chOff x="1812942" y="1105129"/>
            <a:chExt cx="1524445" cy="1036309"/>
          </a:xfrm>
        </p:grpSpPr>
        <p:sp>
          <p:nvSpPr>
            <p:cNvPr id="10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09"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113" name="Line 94"/>
            <p:cNvSpPr>
              <a:spLocks noChangeShapeType="1"/>
            </p:cNvSpPr>
            <p:nvPr/>
          </p:nvSpPr>
          <p:spPr bwMode="auto">
            <a:xfrm>
              <a:off x="2781252" y="1534453"/>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4"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endParaRPr kumimoji="1" lang="zh-CN" altLang="en-US" sz="1100" b="1" dirty="0">
                <a:latin typeface="微软雅黑" panose="020B0503020204020204" pitchFamily="34" charset="-122"/>
                <a:ea typeface="微软雅黑" panose="020B0503020204020204" pitchFamily="34" charset="-122"/>
              </a:endParaRPr>
            </a:p>
          </p:txBody>
        </p:sp>
        <p:sp>
          <p:nvSpPr>
            <p:cNvPr id="115" name="Line 113"/>
            <p:cNvSpPr>
              <a:spLocks noChangeShapeType="1"/>
            </p:cNvSpPr>
            <p:nvPr/>
          </p:nvSpPr>
          <p:spPr bwMode="auto">
            <a:xfrm rot="16200000" flipV="1">
              <a:off x="2824686"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6" name="Line 125"/>
            <p:cNvSpPr>
              <a:spLocks noChangeShapeType="1"/>
            </p:cNvSpPr>
            <p:nvPr/>
          </p:nvSpPr>
          <p:spPr bwMode="auto">
            <a:xfrm>
              <a:off x="2942829" y="1698746"/>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17" name="Picture 126"/>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8" name="组合 117"/>
            <p:cNvGrpSpPr/>
            <p:nvPr/>
          </p:nvGrpSpPr>
          <p:grpSpPr>
            <a:xfrm>
              <a:off x="2527029" y="1360798"/>
              <a:ext cx="424510" cy="296144"/>
              <a:chOff x="4406004" y="4260453"/>
              <a:chExt cx="558674" cy="429804"/>
            </a:xfrm>
          </p:grpSpPr>
          <p:grpSp>
            <p:nvGrpSpPr>
              <p:cNvPr id="119" name="Group 460"/>
              <p:cNvGrpSpPr/>
              <p:nvPr/>
            </p:nvGrpSpPr>
            <p:grpSpPr bwMode="auto">
              <a:xfrm>
                <a:off x="4543772" y="4322623"/>
                <a:ext cx="420906" cy="367634"/>
                <a:chOff x="657" y="1570"/>
                <a:chExt cx="318" cy="318"/>
              </a:xfrm>
            </p:grpSpPr>
            <p:sp>
              <p:nvSpPr>
                <p:cNvPr id="12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8"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 name="Group 463"/>
              <p:cNvGrpSpPr/>
              <p:nvPr/>
            </p:nvGrpSpPr>
            <p:grpSpPr bwMode="auto">
              <a:xfrm>
                <a:off x="4406004" y="4260453"/>
                <a:ext cx="405022" cy="119404"/>
                <a:chOff x="748" y="2251"/>
                <a:chExt cx="306" cy="90"/>
              </a:xfrm>
              <a:solidFill>
                <a:srgbClr val="0066FF"/>
              </a:solidFill>
            </p:grpSpPr>
            <p:sp>
              <p:nvSpPr>
                <p:cNvPr id="12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29" name="组合 128"/>
          <p:cNvGrpSpPr/>
          <p:nvPr/>
        </p:nvGrpSpPr>
        <p:grpSpPr>
          <a:xfrm>
            <a:off x="5169053" y="1105766"/>
            <a:ext cx="1356746" cy="982674"/>
            <a:chOff x="5169053" y="1105766"/>
            <a:chExt cx="1356746" cy="982674"/>
          </a:xfrm>
        </p:grpSpPr>
        <p:sp>
          <p:nvSpPr>
            <p:cNvPr id="130"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31" name="Line 90"/>
            <p:cNvSpPr>
              <a:spLocks noChangeShapeType="1"/>
            </p:cNvSpPr>
            <p:nvPr/>
          </p:nvSpPr>
          <p:spPr bwMode="auto">
            <a:xfrm flipH="1">
              <a:off x="5779987" y="1538008"/>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32"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134" name="Line 127"/>
            <p:cNvSpPr>
              <a:spLocks noChangeShapeType="1"/>
            </p:cNvSpPr>
            <p:nvPr/>
          </p:nvSpPr>
          <p:spPr bwMode="auto">
            <a:xfrm rot="16200000" flipV="1">
              <a:off x="5740895"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5" name="Line 139"/>
            <p:cNvSpPr>
              <a:spLocks noChangeShapeType="1"/>
            </p:cNvSpPr>
            <p:nvPr/>
          </p:nvSpPr>
          <p:spPr bwMode="auto">
            <a:xfrm flipH="1">
              <a:off x="5464651" y="1698746"/>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6"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grpSp>
          <p:nvGrpSpPr>
            <p:cNvPr id="137" name="组合 136"/>
            <p:cNvGrpSpPr/>
            <p:nvPr/>
          </p:nvGrpSpPr>
          <p:grpSpPr>
            <a:xfrm>
              <a:off x="5565692" y="1317271"/>
              <a:ext cx="424510" cy="296144"/>
              <a:chOff x="4406004" y="4260453"/>
              <a:chExt cx="558674" cy="429804"/>
            </a:xfrm>
          </p:grpSpPr>
          <p:grpSp>
            <p:nvGrpSpPr>
              <p:cNvPr id="138" name="Group 460"/>
              <p:cNvGrpSpPr/>
              <p:nvPr/>
            </p:nvGrpSpPr>
            <p:grpSpPr bwMode="auto">
              <a:xfrm>
                <a:off x="4543772" y="4322623"/>
                <a:ext cx="420906" cy="367634"/>
                <a:chOff x="657" y="1570"/>
                <a:chExt cx="318" cy="318"/>
              </a:xfrm>
            </p:grpSpPr>
            <p:sp>
              <p:nvSpPr>
                <p:cNvPr id="15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6"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9" name="Group 463"/>
              <p:cNvGrpSpPr/>
              <p:nvPr/>
            </p:nvGrpSpPr>
            <p:grpSpPr bwMode="auto">
              <a:xfrm>
                <a:off x="4406004" y="4260453"/>
                <a:ext cx="405022" cy="119404"/>
                <a:chOff x="748" y="2251"/>
                <a:chExt cx="306" cy="90"/>
              </a:xfrm>
              <a:solidFill>
                <a:srgbClr val="0066FF"/>
              </a:solidFill>
            </p:grpSpPr>
            <p:sp>
              <p:nvSpPr>
                <p:cNvPr id="1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57" name="组合 156"/>
          <p:cNvGrpSpPr/>
          <p:nvPr/>
        </p:nvGrpSpPr>
        <p:grpSpPr>
          <a:xfrm>
            <a:off x="5842731" y="1759566"/>
            <a:ext cx="1794687" cy="1042396"/>
            <a:chOff x="5842731" y="1759566"/>
            <a:chExt cx="1794687" cy="1042396"/>
          </a:xfrm>
        </p:grpSpPr>
        <p:sp>
          <p:nvSpPr>
            <p:cNvPr id="158"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59" name="Line 174"/>
            <p:cNvSpPr>
              <a:spLocks noChangeShapeType="1"/>
            </p:cNvSpPr>
            <p:nvPr/>
          </p:nvSpPr>
          <p:spPr bwMode="auto">
            <a:xfrm flipH="1">
              <a:off x="7016341" y="2270527"/>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60" name="Picture 17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Line 177"/>
            <p:cNvSpPr>
              <a:spLocks noChangeShapeType="1"/>
            </p:cNvSpPr>
            <p:nvPr/>
          </p:nvSpPr>
          <p:spPr bwMode="auto">
            <a:xfrm rot="16200000" flipV="1">
              <a:off x="6662782" y="1997784"/>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2" name="Line 189"/>
            <p:cNvSpPr>
              <a:spLocks noChangeShapeType="1"/>
            </p:cNvSpPr>
            <p:nvPr/>
          </p:nvSpPr>
          <p:spPr bwMode="auto">
            <a:xfrm flipH="1">
              <a:off x="6386537" y="2431264"/>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3"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endParaRPr kumimoji="1" lang="en-US" altLang="zh-CN" sz="1100" b="1" dirty="0">
                <a:solidFill>
                  <a:srgbClr val="0000CC"/>
                </a:solidFill>
                <a:latin typeface="微软雅黑" panose="020B0503020204020204" pitchFamily="34" charset="-122"/>
                <a:ea typeface="微软雅黑" panose="020B0503020204020204" pitchFamily="34" charset="-122"/>
              </a:endParaRPr>
            </a:p>
          </p:txBody>
        </p:sp>
        <p:sp>
          <p:nvSpPr>
            <p:cNvPr id="197"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6802182" y="2064362"/>
              <a:ext cx="424510" cy="296144"/>
              <a:chOff x="4406004" y="4260453"/>
              <a:chExt cx="558674" cy="429804"/>
            </a:xfrm>
          </p:grpSpPr>
          <p:grpSp>
            <p:nvGrpSpPr>
              <p:cNvPr id="199" name="Group 460"/>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09" name="组合 208"/>
          <p:cNvGrpSpPr/>
          <p:nvPr/>
        </p:nvGrpSpPr>
        <p:grpSpPr>
          <a:xfrm>
            <a:off x="5910665" y="1585668"/>
            <a:ext cx="910539" cy="603000"/>
            <a:chOff x="5927347" y="1585668"/>
            <a:chExt cx="910539" cy="603000"/>
          </a:xfrm>
        </p:grpSpPr>
        <p:sp>
          <p:nvSpPr>
            <p:cNvPr id="210" name="Line 191"/>
            <p:cNvSpPr>
              <a:spLocks noChangeShapeType="1"/>
            </p:cNvSpPr>
            <p:nvPr/>
          </p:nvSpPr>
          <p:spPr bwMode="auto">
            <a:xfrm>
              <a:off x="5927347" y="1610728"/>
              <a:ext cx="910539" cy="577940"/>
            </a:xfrm>
            <a:prstGeom prst="line">
              <a:avLst/>
            </a:prstGeom>
            <a:noFill/>
            <a:ln w="38100">
              <a:solidFill>
                <a:srgbClr val="C00000"/>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1"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2" name="组合 211"/>
          <p:cNvGrpSpPr/>
          <p:nvPr/>
        </p:nvGrpSpPr>
        <p:grpSpPr>
          <a:xfrm>
            <a:off x="4203306" y="1956921"/>
            <a:ext cx="1064151" cy="631387"/>
            <a:chOff x="4203306" y="1956921"/>
            <a:chExt cx="1064151" cy="631387"/>
          </a:xfrm>
        </p:grpSpPr>
        <p:sp>
          <p:nvSpPr>
            <p:cNvPr id="213" name="Line 192"/>
            <p:cNvSpPr>
              <a:spLocks noChangeShapeType="1"/>
            </p:cNvSpPr>
            <p:nvPr/>
          </p:nvSpPr>
          <p:spPr bwMode="auto">
            <a:xfrm flipV="1">
              <a:off x="4203306" y="1956921"/>
              <a:ext cx="1064151" cy="581783"/>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4"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5" name="组合 214"/>
          <p:cNvGrpSpPr/>
          <p:nvPr/>
        </p:nvGrpSpPr>
        <p:grpSpPr>
          <a:xfrm>
            <a:off x="3100063" y="1956921"/>
            <a:ext cx="787907" cy="581071"/>
            <a:chOff x="3100063" y="1956921"/>
            <a:chExt cx="787907" cy="581071"/>
          </a:xfrm>
        </p:grpSpPr>
        <p:sp>
          <p:nvSpPr>
            <p:cNvPr id="216"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7"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8" name="组合 217"/>
          <p:cNvGrpSpPr/>
          <p:nvPr/>
        </p:nvGrpSpPr>
        <p:grpSpPr>
          <a:xfrm>
            <a:off x="5487060" y="1602019"/>
            <a:ext cx="383825" cy="384087"/>
            <a:chOff x="5503742" y="1602019"/>
            <a:chExt cx="383825" cy="384087"/>
          </a:xfrm>
        </p:grpSpPr>
        <p:sp>
          <p:nvSpPr>
            <p:cNvPr id="219" name="Line 199"/>
            <p:cNvSpPr>
              <a:spLocks noChangeShapeType="1"/>
            </p:cNvSpPr>
            <p:nvPr/>
          </p:nvSpPr>
          <p:spPr bwMode="auto">
            <a:xfrm flipV="1">
              <a:off x="5503742" y="1602019"/>
              <a:ext cx="236285" cy="258175"/>
            </a:xfrm>
            <a:prstGeom prst="line">
              <a:avLst/>
            </a:prstGeom>
            <a:noFill/>
            <a:ln w="190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0"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21" name="组合 220"/>
          <p:cNvGrpSpPr/>
          <p:nvPr/>
        </p:nvGrpSpPr>
        <p:grpSpPr>
          <a:xfrm>
            <a:off x="6470747" y="2169014"/>
            <a:ext cx="458331" cy="405583"/>
            <a:chOff x="6504679" y="2187129"/>
            <a:chExt cx="458331" cy="405583"/>
          </a:xfrm>
        </p:grpSpPr>
        <p:sp>
          <p:nvSpPr>
            <p:cNvPr id="222" name="Line 193"/>
            <p:cNvSpPr>
              <a:spLocks noChangeShapeType="1"/>
            </p:cNvSpPr>
            <p:nvPr/>
          </p:nvSpPr>
          <p:spPr bwMode="auto">
            <a:xfrm rot="10800000" flipV="1">
              <a:off x="6504679" y="2334537"/>
              <a:ext cx="433479" cy="258175"/>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3"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24" name="组合 223"/>
          <p:cNvGrpSpPr/>
          <p:nvPr/>
        </p:nvGrpSpPr>
        <p:grpSpPr>
          <a:xfrm>
            <a:off x="5542833" y="1956921"/>
            <a:ext cx="710643" cy="635080"/>
            <a:chOff x="5542833" y="1956921"/>
            <a:chExt cx="710643" cy="635080"/>
          </a:xfrm>
        </p:grpSpPr>
        <p:sp>
          <p:nvSpPr>
            <p:cNvPr id="225" name="Line 194"/>
            <p:cNvSpPr>
              <a:spLocks noChangeShapeType="1"/>
            </p:cNvSpPr>
            <p:nvPr/>
          </p:nvSpPr>
          <p:spPr bwMode="auto">
            <a:xfrm flipH="1" flipV="1">
              <a:off x="5542833" y="1956921"/>
              <a:ext cx="686470" cy="63508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6"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27" name="组合 226"/>
          <p:cNvGrpSpPr/>
          <p:nvPr/>
        </p:nvGrpSpPr>
        <p:grpSpPr>
          <a:xfrm>
            <a:off x="5350468" y="1960422"/>
            <a:ext cx="1676767" cy="781658"/>
            <a:chOff x="5350468" y="1960422"/>
            <a:chExt cx="1676767" cy="781658"/>
          </a:xfrm>
        </p:grpSpPr>
        <p:sp>
          <p:nvSpPr>
            <p:cNvPr id="228" name="Freeform 195"/>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1" fmla="*/ 0 w 8944"/>
                <a:gd name="connsiteY0-2" fmla="*/ 0 h 10000"/>
                <a:gd name="connsiteX1-3" fmla="*/ 603 w 8944"/>
                <a:gd name="connsiteY1-4" fmla="*/ 3570 h 10000"/>
                <a:gd name="connsiteX2-5" fmla="*/ 1556 w 8944"/>
                <a:gd name="connsiteY2-6" fmla="*/ 6755 h 10000"/>
                <a:gd name="connsiteX3-7" fmla="*/ 3281 w 8944"/>
                <a:gd name="connsiteY3-8" fmla="*/ 9825 h 10000"/>
                <a:gd name="connsiteX4-9" fmla="*/ 6414 w 8944"/>
                <a:gd name="connsiteY4-10" fmla="*/ 9187 h 10000"/>
                <a:gd name="connsiteX5-11" fmla="*/ 8944 w 8944"/>
                <a:gd name="connsiteY5-12" fmla="*/ 4998 h 10000"/>
                <a:gd name="connsiteX0-13" fmla="*/ 0 w 10000"/>
                <a:gd name="connsiteY0-14" fmla="*/ 0 h 10000"/>
                <a:gd name="connsiteX1-15" fmla="*/ 674 w 10000"/>
                <a:gd name="connsiteY1-16" fmla="*/ 3570 h 10000"/>
                <a:gd name="connsiteX2-17" fmla="*/ 1740 w 10000"/>
                <a:gd name="connsiteY2-18" fmla="*/ 6755 h 10000"/>
                <a:gd name="connsiteX3-19" fmla="*/ 3668 w 10000"/>
                <a:gd name="connsiteY3-20" fmla="*/ 9825 h 10000"/>
                <a:gd name="connsiteX4-21" fmla="*/ 7171 w 10000"/>
                <a:gd name="connsiteY4-22" fmla="*/ 9187 h 10000"/>
                <a:gd name="connsiteX5-23" fmla="*/ 10000 w 10000"/>
                <a:gd name="connsiteY5-24" fmla="*/ 4998 h 10000"/>
                <a:gd name="connsiteX0-25" fmla="*/ 0 w 10000"/>
                <a:gd name="connsiteY0-26" fmla="*/ 0 h 9656"/>
                <a:gd name="connsiteX1-27" fmla="*/ 674 w 10000"/>
                <a:gd name="connsiteY1-28" fmla="*/ 3570 h 9656"/>
                <a:gd name="connsiteX2-29" fmla="*/ 1740 w 10000"/>
                <a:gd name="connsiteY2-30" fmla="*/ 6755 h 9656"/>
                <a:gd name="connsiteX3-31" fmla="*/ 4376 w 10000"/>
                <a:gd name="connsiteY3-32" fmla="*/ 9284 h 9656"/>
                <a:gd name="connsiteX4-33" fmla="*/ 7171 w 10000"/>
                <a:gd name="connsiteY4-34" fmla="*/ 9187 h 9656"/>
                <a:gd name="connsiteX5-35" fmla="*/ 10000 w 10000"/>
                <a:gd name="connsiteY5-36" fmla="*/ 4998 h 9656"/>
                <a:gd name="connsiteX0-37" fmla="*/ 0 w 10000"/>
                <a:gd name="connsiteY0-38" fmla="*/ 0 h 9984"/>
                <a:gd name="connsiteX1-39" fmla="*/ 674 w 10000"/>
                <a:gd name="connsiteY1-40" fmla="*/ 3697 h 9984"/>
                <a:gd name="connsiteX2-41" fmla="*/ 2684 w 10000"/>
                <a:gd name="connsiteY2-42" fmla="*/ 7276 h 9984"/>
                <a:gd name="connsiteX3-43" fmla="*/ 4376 w 10000"/>
                <a:gd name="connsiteY3-44" fmla="*/ 9615 h 9984"/>
                <a:gd name="connsiteX4-45" fmla="*/ 7171 w 10000"/>
                <a:gd name="connsiteY4-46" fmla="*/ 9514 h 9984"/>
                <a:gd name="connsiteX5-47" fmla="*/ 10000 w 10000"/>
                <a:gd name="connsiteY5-48" fmla="*/ 5176 h 9984"/>
                <a:gd name="connsiteX0-49" fmla="*/ 0 w 10000"/>
                <a:gd name="connsiteY0-50" fmla="*/ 0 h 9960"/>
                <a:gd name="connsiteX1-51" fmla="*/ 674 w 10000"/>
                <a:gd name="connsiteY1-52" fmla="*/ 3703 h 9960"/>
                <a:gd name="connsiteX2-53" fmla="*/ 2763 w 10000"/>
                <a:gd name="connsiteY2-54" fmla="*/ 7990 h 9960"/>
                <a:gd name="connsiteX3-55" fmla="*/ 4376 w 10000"/>
                <a:gd name="connsiteY3-56" fmla="*/ 9630 h 9960"/>
                <a:gd name="connsiteX4-57" fmla="*/ 7171 w 10000"/>
                <a:gd name="connsiteY4-58" fmla="*/ 9529 h 9960"/>
                <a:gd name="connsiteX5-59" fmla="*/ 10000 w 10000"/>
                <a:gd name="connsiteY5-60" fmla="*/ 5184 h 9960"/>
                <a:gd name="connsiteX0-61" fmla="*/ 0 w 10000"/>
                <a:gd name="connsiteY0-62" fmla="*/ 0 h 10000"/>
                <a:gd name="connsiteX1-63" fmla="*/ 1028 w 10000"/>
                <a:gd name="connsiteY1-64" fmla="*/ 4000 h 10000"/>
                <a:gd name="connsiteX2-65" fmla="*/ 2763 w 10000"/>
                <a:gd name="connsiteY2-66" fmla="*/ 8022 h 10000"/>
                <a:gd name="connsiteX3-67" fmla="*/ 4376 w 10000"/>
                <a:gd name="connsiteY3-68" fmla="*/ 9669 h 10000"/>
                <a:gd name="connsiteX4-69" fmla="*/ 7171 w 10000"/>
                <a:gd name="connsiteY4-70" fmla="*/ 9567 h 10000"/>
                <a:gd name="connsiteX5-71" fmla="*/ 10000 w 10000"/>
                <a:gd name="connsiteY5-72" fmla="*/ 5205 h 10000"/>
                <a:gd name="connsiteX0-73" fmla="*/ 0 w 10000"/>
                <a:gd name="connsiteY0-74" fmla="*/ 0 h 10039"/>
                <a:gd name="connsiteX1-75" fmla="*/ 1028 w 10000"/>
                <a:gd name="connsiteY1-76" fmla="*/ 4000 h 10039"/>
                <a:gd name="connsiteX2-77" fmla="*/ 2488 w 10000"/>
                <a:gd name="connsiteY2-78" fmla="*/ 7317 h 10039"/>
                <a:gd name="connsiteX3-79" fmla="*/ 4376 w 10000"/>
                <a:gd name="connsiteY3-80" fmla="*/ 9669 h 10039"/>
                <a:gd name="connsiteX4-81" fmla="*/ 7171 w 10000"/>
                <a:gd name="connsiteY4-82" fmla="*/ 9567 h 10039"/>
                <a:gd name="connsiteX5-83" fmla="*/ 10000 w 10000"/>
                <a:gd name="connsiteY5-84" fmla="*/ 5205 h 10039"/>
                <a:gd name="connsiteX0-85" fmla="*/ 0 w 10000"/>
                <a:gd name="connsiteY0-86" fmla="*/ 0 h 9881"/>
                <a:gd name="connsiteX1-87" fmla="*/ 1028 w 10000"/>
                <a:gd name="connsiteY1-88" fmla="*/ 4000 h 9881"/>
                <a:gd name="connsiteX2-89" fmla="*/ 2488 w 10000"/>
                <a:gd name="connsiteY2-90" fmla="*/ 7317 h 9881"/>
                <a:gd name="connsiteX3-91" fmla="*/ 4337 w 10000"/>
                <a:gd name="connsiteY3-92" fmla="*/ 9176 h 9881"/>
                <a:gd name="connsiteX4-93" fmla="*/ 7171 w 10000"/>
                <a:gd name="connsiteY4-94" fmla="*/ 9567 h 9881"/>
                <a:gd name="connsiteX5-95" fmla="*/ 10000 w 10000"/>
                <a:gd name="connsiteY5-96" fmla="*/ 5205 h 9881"/>
                <a:gd name="connsiteX0-97" fmla="*/ 0 w 10000"/>
                <a:gd name="connsiteY0-98" fmla="*/ 0 h 10046"/>
                <a:gd name="connsiteX1-99" fmla="*/ 1028 w 10000"/>
                <a:gd name="connsiteY1-100" fmla="*/ 4048 h 10046"/>
                <a:gd name="connsiteX2-101" fmla="*/ 2488 w 10000"/>
                <a:gd name="connsiteY2-102" fmla="*/ 7405 h 10046"/>
                <a:gd name="connsiteX3-103" fmla="*/ 4337 w 10000"/>
                <a:gd name="connsiteY3-104" fmla="*/ 9287 h 10046"/>
                <a:gd name="connsiteX4-105" fmla="*/ 7171 w 10000"/>
                <a:gd name="connsiteY4-106" fmla="*/ 9682 h 10046"/>
                <a:gd name="connsiteX5-107" fmla="*/ 10000 w 10000"/>
                <a:gd name="connsiteY5-108" fmla="*/ 5268 h 10046"/>
                <a:gd name="connsiteX0-109" fmla="*/ 0 w 10000"/>
                <a:gd name="connsiteY0-110" fmla="*/ 0 h 9856"/>
                <a:gd name="connsiteX1-111" fmla="*/ 1028 w 10000"/>
                <a:gd name="connsiteY1-112" fmla="*/ 4048 h 9856"/>
                <a:gd name="connsiteX2-113" fmla="*/ 2488 w 10000"/>
                <a:gd name="connsiteY2-114" fmla="*/ 7405 h 9856"/>
                <a:gd name="connsiteX3-115" fmla="*/ 4337 w 10000"/>
                <a:gd name="connsiteY3-116" fmla="*/ 9287 h 9856"/>
                <a:gd name="connsiteX4-117" fmla="*/ 7171 w 10000"/>
                <a:gd name="connsiteY4-118" fmla="*/ 9682 h 9856"/>
                <a:gd name="connsiteX5-119" fmla="*/ 10000 w 10000"/>
                <a:gd name="connsiteY5-120" fmla="*/ 5268 h 9856"/>
                <a:gd name="connsiteX0-121" fmla="*/ 0 w 10000"/>
                <a:gd name="connsiteY0-122" fmla="*/ 0 h 9933"/>
                <a:gd name="connsiteX1-123" fmla="*/ 1028 w 10000"/>
                <a:gd name="connsiteY1-124" fmla="*/ 4107 h 9933"/>
                <a:gd name="connsiteX2-125" fmla="*/ 2488 w 10000"/>
                <a:gd name="connsiteY2-126" fmla="*/ 7513 h 9933"/>
                <a:gd name="connsiteX3-127" fmla="*/ 4337 w 10000"/>
                <a:gd name="connsiteY3-128" fmla="*/ 9423 h 9933"/>
                <a:gd name="connsiteX4-129" fmla="*/ 7171 w 10000"/>
                <a:gd name="connsiteY4-130" fmla="*/ 9823 h 9933"/>
                <a:gd name="connsiteX5-131" fmla="*/ 10000 w 10000"/>
                <a:gd name="connsiteY5-132" fmla="*/ 5345 h 993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9"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30" name="组合 229"/>
          <p:cNvGrpSpPr/>
          <p:nvPr/>
        </p:nvGrpSpPr>
        <p:grpSpPr>
          <a:xfrm>
            <a:off x="3268827" y="2424345"/>
            <a:ext cx="424510" cy="296144"/>
            <a:chOff x="4406004" y="4260453"/>
            <a:chExt cx="558674" cy="429804"/>
          </a:xfrm>
        </p:grpSpPr>
        <p:grpSp>
          <p:nvGrpSpPr>
            <p:cNvPr id="231" name="Group 460"/>
            <p:cNvGrpSpPr/>
            <p:nvPr/>
          </p:nvGrpSpPr>
          <p:grpSpPr bwMode="auto">
            <a:xfrm>
              <a:off x="4543772" y="4322623"/>
              <a:ext cx="420906" cy="367634"/>
              <a:chOff x="657" y="1570"/>
              <a:chExt cx="318" cy="318"/>
            </a:xfrm>
          </p:grpSpPr>
          <p:sp>
            <p:nvSpPr>
              <p:cNvPr id="239"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40"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 name="Group 463"/>
            <p:cNvGrpSpPr/>
            <p:nvPr/>
          </p:nvGrpSpPr>
          <p:grpSpPr bwMode="auto">
            <a:xfrm>
              <a:off x="4406004" y="4260453"/>
              <a:ext cx="405022" cy="119404"/>
              <a:chOff x="748" y="2251"/>
              <a:chExt cx="306" cy="90"/>
            </a:xfrm>
            <a:solidFill>
              <a:srgbClr val="0066FF"/>
            </a:solidFill>
          </p:grpSpPr>
          <p:sp>
            <p:nvSpPr>
              <p:cNvPr id="23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41"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endParaRPr kumimoji="1"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242"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243" name="Line 92"/>
          <p:cNvSpPr>
            <a:spLocks noChangeShapeType="1"/>
          </p:cNvSpPr>
          <p:nvPr/>
        </p:nvSpPr>
        <p:spPr bwMode="auto">
          <a:xfrm>
            <a:off x="2902869" y="1581400"/>
            <a:ext cx="2793723" cy="4268"/>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如何</a:t>
            </a:r>
            <a:r>
              <a:rPr lang="zh-CN" altLang="en-US" sz="2000" b="1" dirty="0" smtClean="0">
                <a:latin typeface="微软雅黑" panose="020B0503020204020204" pitchFamily="34" charset="-122"/>
                <a:ea typeface="微软雅黑" panose="020B0503020204020204" pitchFamily="34" charset="-122"/>
              </a:rPr>
              <a:t>使</a:t>
            </a:r>
            <a:r>
              <a:rPr lang="zh-CN" altLang="en-US" sz="2000" b="1" dirty="0">
                <a:latin typeface="微软雅黑" panose="020B0503020204020204" pitchFamily="34" charset="-122"/>
                <a:ea typeface="微软雅黑" panose="020B0503020204020204" pitchFamily="34" charset="-122"/>
              </a:rPr>
              <a:t>通信者代理向移动站的归属代理</a:t>
            </a:r>
            <a:r>
              <a:rPr lang="zh-CN" altLang="en-US" sz="2000" b="1" dirty="0" smtClean="0">
                <a:solidFill>
                  <a:srgbClr val="C00000"/>
                </a:solidFill>
                <a:latin typeface="微软雅黑" panose="020B0503020204020204" pitchFamily="34" charset="-122"/>
                <a:ea typeface="微软雅黑" panose="020B0503020204020204" pitchFamily="34" charset="-122"/>
              </a:rPr>
              <a:t>查询到</a:t>
            </a:r>
            <a:r>
              <a:rPr lang="zh-CN" altLang="en-US" sz="2000" b="1" dirty="0" smtClean="0">
                <a:latin typeface="微软雅黑" panose="020B0503020204020204" pitchFamily="34" charset="-122"/>
                <a:ea typeface="微软雅黑" panose="020B0503020204020204" pitchFamily="34" charset="-122"/>
              </a:rPr>
              <a:t>移动站</a:t>
            </a:r>
            <a:r>
              <a:rPr lang="zh-CN" altLang="en-US" sz="2000" b="1" dirty="0">
                <a:latin typeface="微软雅黑" panose="020B0503020204020204" pitchFamily="34" charset="-122"/>
                <a:ea typeface="微软雅黑" panose="020B0503020204020204" pitchFamily="34" charset="-122"/>
              </a:rPr>
              <a:t>的转交</a:t>
            </a:r>
            <a:r>
              <a:rPr lang="zh-CN" altLang="en-US" sz="2000" b="1" dirty="0" smtClean="0">
                <a:latin typeface="微软雅黑" panose="020B0503020204020204" pitchFamily="34" charset="-122"/>
                <a:ea typeface="微软雅黑" panose="020B0503020204020204" pitchFamily="34" charset="-122"/>
              </a:rPr>
              <a:t>地址？</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a:t>
            </a:r>
            <a:r>
              <a:rPr lang="zh-CN" altLang="en-US" sz="2000" b="1" dirty="0">
                <a:latin typeface="微软雅黑" panose="020B0503020204020204" pitchFamily="34" charset="-122"/>
                <a:ea typeface="微软雅黑" panose="020B0503020204020204" pitchFamily="34" charset="-122"/>
              </a:rPr>
              <a:t>移动站</a:t>
            </a:r>
            <a:r>
              <a:rPr lang="zh-CN" altLang="en-US" sz="2000" b="1" dirty="0">
                <a:solidFill>
                  <a:srgbClr val="C00000"/>
                </a:solidFill>
                <a:latin typeface="微软雅黑" panose="020B0503020204020204" pitchFamily="34" charset="-122"/>
                <a:ea typeface="微软雅黑" panose="020B0503020204020204" pitchFamily="34" charset="-122"/>
              </a:rPr>
              <a:t>再移动</a:t>
            </a:r>
            <a:r>
              <a:rPr lang="zh-CN" altLang="en-US" sz="2000" b="1" dirty="0">
                <a:latin typeface="微软雅黑" panose="020B0503020204020204" pitchFamily="34" charset="-122"/>
                <a:ea typeface="微软雅黑" panose="020B0503020204020204" pitchFamily="34" charset="-122"/>
              </a:rPr>
              <a:t>到其他网络时，怎样得到移动站的位置信息</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98649" y="588089"/>
            <a:ext cx="25555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smtClean="0">
                <a:solidFill>
                  <a:schemeClr val="bg1"/>
                </a:solidFill>
                <a:latin typeface="微软雅黑" panose="020B0503020204020204" pitchFamily="34" charset="-122"/>
                <a:ea typeface="微软雅黑" panose="020B0503020204020204" pitchFamily="34" charset="-122"/>
              </a:rPr>
              <a:t>需要解决的两</a:t>
            </a:r>
            <a:r>
              <a:rPr lang="zh-CN" altLang="en-US" sz="2000" b="1">
                <a:solidFill>
                  <a:schemeClr val="bg1"/>
                </a:solidFill>
                <a:latin typeface="微软雅黑" panose="020B0503020204020204" pitchFamily="34" charset="-122"/>
                <a:ea typeface="微软雅黑" panose="020B0503020204020204" pitchFamily="34" charset="-122"/>
              </a:rPr>
              <a:t>个</a:t>
            </a:r>
            <a:r>
              <a:rPr lang="zh-CN" altLang="en-US" sz="2000" b="1" smtClean="0">
                <a:solidFill>
                  <a:schemeClr val="bg1"/>
                </a:solidFill>
                <a:latin typeface="微软雅黑" panose="020B0503020204020204" pitchFamily="34" charset="-122"/>
                <a:ea typeface="微软雅黑" panose="020B0503020204020204" pitchFamily="34" charset="-122"/>
              </a:rPr>
              <a:t>问题</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1230595" y="1485841"/>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增加一</a:t>
            </a:r>
            <a:r>
              <a:rPr lang="zh-CN" altLang="en-US" b="1" dirty="0" smtClean="0">
                <a:latin typeface="微软雅黑" panose="020B0503020204020204" pitchFamily="34" charset="-122"/>
                <a:ea typeface="微软雅黑" panose="020B0503020204020204" pitchFamily="34" charset="-122"/>
              </a:rPr>
              <a:t>个</a:t>
            </a:r>
            <a:r>
              <a:rPr lang="zh-CN" altLang="en-US" b="1" dirty="0" smtClean="0">
                <a:solidFill>
                  <a:srgbClr val="0000CC"/>
                </a:solidFill>
                <a:latin typeface="微软雅黑" panose="020B0503020204020204" pitchFamily="34" charset="-122"/>
                <a:ea typeface="微软雅黑" panose="020B0503020204020204" pitchFamily="34" charset="-122"/>
              </a:rPr>
              <a:t>移动</a:t>
            </a:r>
            <a:r>
              <a:rPr lang="zh-CN" altLang="en-US" b="1" dirty="0">
                <a:solidFill>
                  <a:srgbClr val="0000CC"/>
                </a:solidFill>
                <a:latin typeface="微软雅黑" panose="020B0503020204020204" pitchFamily="34" charset="-122"/>
                <a:ea typeface="微软雅黑" panose="020B0503020204020204" pitchFamily="34" charset="-122"/>
              </a:rPr>
              <a:t>用户定位</a:t>
            </a:r>
            <a:r>
              <a:rPr lang="zh-CN" altLang="en-US" b="1" dirty="0" smtClean="0">
                <a:solidFill>
                  <a:srgbClr val="0000CC"/>
                </a:solidFill>
                <a:latin typeface="微软雅黑" panose="020B0503020204020204" pitchFamily="34" charset="-122"/>
                <a:ea typeface="微软雅黑" panose="020B0503020204020204" pitchFamily="34" charset="-122"/>
              </a:rPr>
              <a:t>协议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mobile-user location protocol)</a:t>
            </a:r>
            <a:endParaRPr lang="zh-CN" altLang="en-US" b="1" dirty="0">
              <a:latin typeface="微软雅黑" panose="020B0503020204020204" pitchFamily="34" charset="-122"/>
              <a:ea typeface="微软雅黑" panose="020B0503020204020204" pitchFamily="34" charset="-122"/>
            </a:endParaRPr>
          </a:p>
        </p:txBody>
      </p:sp>
      <p:sp>
        <p:nvSpPr>
          <p:cNvPr id="7" name="矩形 6"/>
          <p:cNvSpPr/>
          <p:nvPr/>
        </p:nvSpPr>
        <p:spPr>
          <a:xfrm>
            <a:off x="1230595" y="2616802"/>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使用</a:t>
            </a:r>
            <a:r>
              <a:rPr lang="zh-CN" altLang="en-US" b="1" dirty="0" smtClean="0">
                <a:solidFill>
                  <a:srgbClr val="0000CC"/>
                </a:solidFill>
                <a:latin typeface="微软雅黑" panose="020B0503020204020204" pitchFamily="34" charset="-122"/>
                <a:ea typeface="微软雅黑" panose="020B0503020204020204" pitchFamily="34" charset="-122"/>
              </a:rPr>
              <a:t>锚</a:t>
            </a:r>
            <a:r>
              <a:rPr lang="zh-CN" altLang="en-US" b="1" dirty="0">
                <a:solidFill>
                  <a:srgbClr val="0000CC"/>
                </a:solidFill>
                <a:latin typeface="微软雅黑" panose="020B0503020204020204" pitchFamily="34" charset="-122"/>
                <a:ea typeface="微软雅黑" panose="020B0503020204020204" pitchFamily="34" charset="-122"/>
              </a:rPr>
              <a:t>外地</a:t>
            </a:r>
            <a:r>
              <a:rPr lang="zh-CN" altLang="en-US" b="1" dirty="0" smtClean="0">
                <a:solidFill>
                  <a:srgbClr val="0000CC"/>
                </a:solidFill>
                <a:latin typeface="微软雅黑" panose="020B0503020204020204" pitchFamily="34" charset="-122"/>
                <a:ea typeface="微软雅黑" panose="020B0503020204020204" pitchFamily="34" charset="-122"/>
              </a:rPr>
              <a:t>代理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anchor foreign agent</a:t>
            </a:r>
            <a:r>
              <a:rPr lang="en-US" altLang="zh-CN"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a:t>
            </a:r>
            <a:r>
              <a:rPr lang="zh-CN" altLang="en-US" sz="2000" b="1" dirty="0">
                <a:solidFill>
                  <a:srgbClr val="FFFF00"/>
                </a:solidFill>
                <a:ea typeface="微软雅黑" panose="020B0503020204020204" pitchFamily="34" charset="-122"/>
              </a:rPr>
              <a:t>直接路由选择</a:t>
            </a:r>
            <a:r>
              <a:rPr lang="zh-CN" altLang="en-US" sz="2000" b="1" dirty="0">
                <a:solidFill>
                  <a:schemeClr val="bg1"/>
                </a:solidFill>
                <a:ea typeface="微软雅黑" panose="020B0503020204020204" pitchFamily="34" charset="-122"/>
              </a:rPr>
              <a:t>向移动站发送</a:t>
            </a:r>
            <a:r>
              <a:rPr lang="zh-CN" altLang="en-US" sz="2000" b="1" dirty="0" smtClean="0">
                <a:solidFill>
                  <a:schemeClr val="bg1"/>
                </a:solidFill>
                <a:ea typeface="微软雅黑" panose="020B0503020204020204" pitchFamily="34" charset="-122"/>
              </a:rPr>
              <a:t>数据报的重要步骤</a:t>
            </a:r>
            <a:endParaRPr lang="zh-CN" altLang="en-US" sz="2000" b="1" dirty="0">
              <a:solidFill>
                <a:schemeClr val="bg1"/>
              </a:solidFill>
              <a:ea typeface="微软雅黑" panose="020B0503020204020204" pitchFamily="34" charset="-122"/>
            </a:endParaRP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en-US" altLang="zh-CN" b="1" dirty="0" smtClean="0">
                <a:latin typeface="微软雅黑" panose="020B0503020204020204" pitchFamily="34" charset="-122"/>
                <a:ea typeface="微软雅黑" panose="020B0503020204020204" pitchFamily="34" charset="-122"/>
              </a:rPr>
              <a:t>B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通信者代理从</a:t>
            </a:r>
            <a:r>
              <a:rPr lang="zh-CN" altLang="en-US" b="1" dirty="0" smtClean="0">
                <a:latin typeface="微软雅黑" panose="020B0503020204020204" pitchFamily="34" charset="-122"/>
                <a:ea typeface="微软雅黑" panose="020B0503020204020204" pitchFamily="34" charset="-122"/>
              </a:rPr>
              <a:t>移动站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归属代理</a:t>
            </a:r>
            <a:r>
              <a:rPr lang="zh-CN" altLang="en-US" b="1" dirty="0" smtClean="0">
                <a:latin typeface="微软雅黑" panose="020B0503020204020204" pitchFamily="34" charset="-122"/>
                <a:ea typeface="微软雅黑" panose="020B0503020204020204" pitchFamily="34" charset="-122"/>
              </a:rPr>
              <a:t>得到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所</a:t>
            </a:r>
            <a:r>
              <a:rPr lang="zh-CN" altLang="en-US" b="1" dirty="0">
                <a:latin typeface="微软雅黑" panose="020B0503020204020204" pitchFamily="34" charset="-122"/>
                <a:ea typeface="微软雅黑" panose="020B0503020204020204" pitchFamily="34" charset="-122"/>
              </a:rPr>
              <a:t>漫游到的被访</a:t>
            </a:r>
            <a:r>
              <a:rPr lang="zh-CN" altLang="en-US" b="1" dirty="0" smtClean="0">
                <a:latin typeface="微软雅黑" panose="020B0503020204020204" pitchFamily="34" charset="-122"/>
                <a:ea typeface="微软雅黑" panose="020B0503020204020204" pitchFamily="34" charset="-122"/>
              </a:rPr>
              <a:t>网络 </a:t>
            </a:r>
            <a:r>
              <a:rPr lang="en-US" altLang="zh-CN" b="1" dirty="0" smtClean="0">
                <a:latin typeface="微软雅黑" panose="020B0503020204020204" pitchFamily="34" charset="-122"/>
                <a:ea typeface="微软雅黑" panose="020B0503020204020204" pitchFamily="34" charset="-122"/>
              </a:rPr>
              <a:t>N</a:t>
            </a:r>
            <a:r>
              <a:rPr lang="en-US" altLang="zh-CN" b="1" baseline="-25000" dirty="0" smtClean="0">
                <a:latin typeface="微软雅黑" panose="020B0503020204020204" pitchFamily="34" charset="-122"/>
                <a:ea typeface="微软雅黑" panose="020B0503020204020204" pitchFamily="34" charset="-122"/>
              </a:rPr>
              <a:t>1</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外地代理</a:t>
            </a:r>
            <a:r>
              <a:rPr lang="zh-CN" altLang="en-US" b="1" dirty="0" smtClean="0">
                <a:latin typeface="微软雅黑" panose="020B0503020204020204" pitchFamily="34" charset="-122"/>
                <a:ea typeface="微软雅黑" panose="020B0503020204020204" pitchFamily="34" charset="-122"/>
              </a:rPr>
              <a:t>。把</a:t>
            </a:r>
            <a:r>
              <a:rPr lang="zh-CN" altLang="en-US" b="1" dirty="0">
                <a:latin typeface="微软雅黑" panose="020B0503020204020204" pitchFamily="34" charset="-122"/>
                <a:ea typeface="微软雅黑" panose="020B0503020204020204" pitchFamily="34" charset="-122"/>
              </a:rPr>
              <a:t>移动站</a:t>
            </a:r>
            <a:r>
              <a:rPr lang="zh-CN" altLang="en-US" b="1" dirty="0">
                <a:solidFill>
                  <a:srgbClr val="C00000"/>
                </a:solidFill>
                <a:latin typeface="微软雅黑" panose="020B0503020204020204" pitchFamily="34" charset="-122"/>
                <a:ea typeface="微软雅黑" panose="020B0503020204020204" pitchFamily="34" charset="-122"/>
              </a:rPr>
              <a:t>首次漫游</a:t>
            </a:r>
            <a:r>
              <a:rPr lang="zh-CN" altLang="en-US" b="1" dirty="0">
                <a:latin typeface="微软雅黑" panose="020B0503020204020204" pitchFamily="34" charset="-122"/>
                <a:ea typeface="微软雅黑" panose="020B0503020204020204" pitchFamily="34" charset="-122"/>
              </a:rPr>
              <a:t>到的被访网络的外地代理称为</a:t>
            </a:r>
            <a:r>
              <a:rPr lang="zh-CN" altLang="en-US" b="1" dirty="0">
                <a:solidFill>
                  <a:srgbClr val="0000CC"/>
                </a:solidFill>
                <a:latin typeface="微软雅黑" panose="020B0503020204020204" pitchFamily="34" charset="-122"/>
                <a:ea typeface="微软雅黑" panose="020B0503020204020204" pitchFamily="34" charset="-122"/>
              </a:rPr>
              <a:t>锚外地</a:t>
            </a:r>
            <a:r>
              <a:rPr lang="zh-CN" altLang="en-US" b="1" dirty="0" smtClean="0">
                <a:solidFill>
                  <a:srgbClr val="0000CC"/>
                </a:solidFill>
                <a:latin typeface="微软雅黑" panose="020B0503020204020204" pitchFamily="34" charset="-122"/>
                <a:ea typeface="微软雅黑" panose="020B0503020204020204" pitchFamily="34" charset="-122"/>
              </a:rPr>
              <a:t>代理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anchor foreign agent)</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pic>
        <p:nvPicPr>
          <p:cNvPr id="66" name="Picture 144"/>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endParaRPr kumimoji="1" lang="zh-CN" altLang="en-US" sz="12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endParaRPr kumimoji="1" lang="zh-CN" altLang="en-US" sz="1200" b="1" dirty="0">
              <a:latin typeface="微软雅黑" panose="020B0503020204020204" pitchFamily="34" charset="-122"/>
              <a:ea typeface="微软雅黑" panose="020B0503020204020204" pitchFamily="34" charset="-122"/>
            </a:endParaRP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endParaRPr kumimoji="1" lang="zh-CN" altLang="en-US" sz="1100" b="1" dirty="0">
                <a:latin typeface="微软雅黑" panose="020B0503020204020204" pitchFamily="34" charset="-122"/>
                <a:ea typeface="微软雅黑" panose="020B0503020204020204" pitchFamily="34" charset="-122"/>
              </a:endParaRP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grpSp>
          <p:nvGrpSpPr>
            <p:cNvPr id="164" name="组合 163"/>
            <p:cNvGrpSpPr/>
            <p:nvPr/>
          </p:nvGrpSpPr>
          <p:grpSpPr>
            <a:xfrm>
              <a:off x="5565692" y="1317271"/>
              <a:ext cx="424510" cy="296144"/>
              <a:chOff x="4406004" y="4260453"/>
              <a:chExt cx="558674" cy="429804"/>
            </a:xfrm>
          </p:grpSpPr>
          <p:grpSp>
            <p:nvGrpSpPr>
              <p:cNvPr id="165" name="Group 460"/>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endParaRPr kumimoji="1" lang="en-US" altLang="zh-CN" sz="1100" b="1" dirty="0">
                <a:solidFill>
                  <a:srgbClr val="0000CC"/>
                </a:solidFill>
                <a:latin typeface="微软雅黑" panose="020B0503020204020204" pitchFamily="34" charset="-122"/>
                <a:ea typeface="微软雅黑" panose="020B0503020204020204" pitchFamily="34" charset="-122"/>
              </a:endParaRP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grpSp>
          <p:nvGrpSpPr>
            <p:cNvPr id="175" name="组合 174"/>
            <p:cNvGrpSpPr/>
            <p:nvPr/>
          </p:nvGrpSpPr>
          <p:grpSpPr>
            <a:xfrm>
              <a:off x="6802182" y="2064362"/>
              <a:ext cx="424510" cy="296144"/>
              <a:chOff x="4406004" y="4260453"/>
              <a:chExt cx="558674" cy="429804"/>
            </a:xfrm>
          </p:grpSpPr>
          <p:grpSp>
            <p:nvGrpSpPr>
              <p:cNvPr id="176" name="Group 460"/>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endParaRPr kumimoji="1"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1000"/>
                                        <p:tgtEl>
                                          <p:spTgt spid="6"/>
                                        </p:tgtEl>
                                      </p:cBhvr>
                                    </p:animEffect>
                                  </p:childTnLst>
                                </p:cTn>
                              </p:par>
                            </p:childTnLst>
                          </p:cTn>
                        </p:par>
                        <p:par>
                          <p:cTn id="8" fill="hold">
                            <p:stCondLst>
                              <p:cond delay="1000"/>
                            </p:stCondLst>
                            <p:childTnLst>
                              <p:par>
                                <p:cTn id="9" presetID="35" presetClass="emph" presetSubtype="0" repeatCount="3000" fill="hold" grpId="0" nodeType="afterEffect">
                                  <p:stCondLst>
                                    <p:cond delay="0"/>
                                  </p:stCondLst>
                                  <p:childTnLst>
                                    <p:anim calcmode="discrete" valueType="str">
                                      <p:cBhvr>
                                        <p:cTn id="10" dur="1000" fill="hold"/>
                                        <p:tgtEl>
                                          <p:spTgt spid="21"/>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a:t>
            </a:r>
            <a:r>
              <a:rPr lang="zh-CN" altLang="en-US" sz="2000" b="1" dirty="0">
                <a:solidFill>
                  <a:srgbClr val="FFFF00"/>
                </a:solidFill>
                <a:ea typeface="微软雅黑" panose="020B0503020204020204" pitchFamily="34" charset="-122"/>
              </a:rPr>
              <a:t>直接路由选择</a:t>
            </a:r>
            <a:r>
              <a:rPr lang="zh-CN" altLang="en-US" sz="2000" b="1" dirty="0">
                <a:solidFill>
                  <a:schemeClr val="bg1"/>
                </a:solidFill>
                <a:ea typeface="微软雅黑" panose="020B0503020204020204" pitchFamily="34" charset="-122"/>
              </a:rPr>
              <a:t>向移动站发送</a:t>
            </a:r>
            <a:r>
              <a:rPr lang="zh-CN" altLang="en-US" sz="2000" b="1" dirty="0" smtClean="0">
                <a:solidFill>
                  <a:schemeClr val="bg1"/>
                </a:solidFill>
                <a:ea typeface="微软雅黑" panose="020B0503020204020204" pitchFamily="34" charset="-122"/>
              </a:rPr>
              <a:t>数据报的重要步骤</a:t>
            </a:r>
            <a:endParaRPr lang="zh-CN" altLang="en-US" sz="2000" b="1" dirty="0">
              <a:solidFill>
                <a:schemeClr val="bg1"/>
              </a:solidFill>
              <a:ea typeface="微软雅黑" panose="020B0503020204020204" pitchFamily="34" charset="-122"/>
            </a:endParaRPr>
          </a:p>
        </p:txBody>
      </p:sp>
      <p:sp>
        <p:nvSpPr>
          <p:cNvPr id="5" name="矩形 4"/>
          <p:cNvSpPr/>
          <p:nvPr/>
        </p:nvSpPr>
        <p:spPr>
          <a:xfrm>
            <a:off x="966651" y="3161212"/>
            <a:ext cx="7550332" cy="425758"/>
          </a:xfrm>
          <a:prstGeom prst="rect">
            <a:avLst/>
          </a:prstGeom>
          <a:noFill/>
          <a:ln>
            <a:noFill/>
          </a:ln>
        </p:spPr>
        <p:txBody>
          <a:bodyPr wrap="square">
            <a:spAutoFit/>
          </a:bodyPr>
          <a:lstStyle/>
          <a:p>
            <a:pPr>
              <a:lnSpc>
                <a:spcPts val="2600"/>
              </a:lnSpc>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通信</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者代理</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把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B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发给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数据报再封装后，发送</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到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锚外地代理</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solidFill>
                <a:srgbClr val="0000CC"/>
              </a:solidFill>
              <a:latin typeface="微软雅黑" panose="020B0503020204020204" pitchFamily="34" charset="-122"/>
              <a:ea typeface="微软雅黑" panose="020B0503020204020204"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pic>
        <p:nvPicPr>
          <p:cNvPr id="66" name="Picture 144"/>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endParaRPr kumimoji="1" lang="zh-CN" altLang="en-US" sz="12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endParaRPr kumimoji="1" lang="zh-CN" altLang="en-US" sz="1200" b="1" dirty="0">
              <a:latin typeface="微软雅黑" panose="020B0503020204020204" pitchFamily="34" charset="-122"/>
              <a:ea typeface="微软雅黑" panose="020B0503020204020204" pitchFamily="34" charset="-122"/>
            </a:endParaRP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endParaRPr kumimoji="1" lang="zh-CN" altLang="en-US" sz="1100" b="1" dirty="0">
                <a:latin typeface="微软雅黑" panose="020B0503020204020204" pitchFamily="34" charset="-122"/>
                <a:ea typeface="微软雅黑" panose="020B0503020204020204" pitchFamily="34" charset="-122"/>
              </a:endParaRP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grpSp>
          <p:nvGrpSpPr>
            <p:cNvPr id="164" name="组合 163"/>
            <p:cNvGrpSpPr/>
            <p:nvPr/>
          </p:nvGrpSpPr>
          <p:grpSpPr>
            <a:xfrm>
              <a:off x="5565692" y="1317271"/>
              <a:ext cx="424510" cy="296144"/>
              <a:chOff x="4406004" y="4260453"/>
              <a:chExt cx="558674" cy="429804"/>
            </a:xfrm>
          </p:grpSpPr>
          <p:grpSp>
            <p:nvGrpSpPr>
              <p:cNvPr id="165" name="Group 460"/>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endParaRPr kumimoji="1" lang="en-US" altLang="zh-CN" sz="1100" b="1" dirty="0">
                <a:solidFill>
                  <a:srgbClr val="0000CC"/>
                </a:solidFill>
                <a:latin typeface="微软雅黑" panose="020B0503020204020204" pitchFamily="34" charset="-122"/>
                <a:ea typeface="微软雅黑" panose="020B0503020204020204" pitchFamily="34" charset="-122"/>
              </a:endParaRP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grpSp>
          <p:nvGrpSpPr>
            <p:cNvPr id="175" name="组合 174"/>
            <p:cNvGrpSpPr/>
            <p:nvPr/>
          </p:nvGrpSpPr>
          <p:grpSpPr>
            <a:xfrm>
              <a:off x="6802182" y="2064362"/>
              <a:ext cx="424510" cy="296144"/>
              <a:chOff x="4406004" y="4260453"/>
              <a:chExt cx="558674" cy="429804"/>
            </a:xfrm>
          </p:grpSpPr>
          <p:grpSp>
            <p:nvGrpSpPr>
              <p:cNvPr id="176" name="Group 460"/>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endParaRPr kumimoji="1"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a:t>
            </a:r>
            <a:r>
              <a:rPr lang="zh-CN" altLang="en-US" sz="2000" b="1" dirty="0">
                <a:solidFill>
                  <a:srgbClr val="FFFF00"/>
                </a:solidFill>
                <a:ea typeface="微软雅黑" panose="020B0503020204020204" pitchFamily="34" charset="-122"/>
              </a:rPr>
              <a:t>直接路由选择</a:t>
            </a:r>
            <a:r>
              <a:rPr lang="zh-CN" altLang="en-US" sz="2000" b="1" dirty="0">
                <a:solidFill>
                  <a:schemeClr val="bg1"/>
                </a:solidFill>
                <a:ea typeface="微软雅黑" panose="020B0503020204020204" pitchFamily="34" charset="-122"/>
              </a:rPr>
              <a:t>向移动站发送</a:t>
            </a:r>
            <a:r>
              <a:rPr lang="zh-CN" altLang="en-US" sz="2000" b="1" dirty="0" smtClean="0">
                <a:solidFill>
                  <a:schemeClr val="bg1"/>
                </a:solidFill>
                <a:ea typeface="微软雅黑" panose="020B0503020204020204" pitchFamily="34" charset="-122"/>
              </a:rPr>
              <a:t>数据报的重要步骤</a:t>
            </a:r>
            <a:endParaRPr lang="zh-CN" altLang="en-US" sz="2000" b="1" dirty="0">
              <a:solidFill>
                <a:schemeClr val="bg1"/>
              </a:solidFill>
              <a:ea typeface="微软雅黑" panose="020B0503020204020204" pitchFamily="34" charset="-122"/>
            </a:endParaRP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锚</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外地代理把拆封后的数据报发送</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给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latin typeface="微软雅黑" panose="020B0503020204020204" pitchFamily="34" charset="-122"/>
              <a:ea typeface="微软雅黑" panose="020B0503020204020204"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pic>
        <p:nvPicPr>
          <p:cNvPr id="66" name="Picture 144"/>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endParaRPr kumimoji="1" lang="zh-CN" altLang="en-US" sz="12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endParaRPr kumimoji="1" lang="zh-CN" altLang="en-US" sz="1200" b="1" dirty="0">
              <a:latin typeface="微软雅黑" panose="020B0503020204020204" pitchFamily="34" charset="-122"/>
              <a:ea typeface="微软雅黑" panose="020B0503020204020204" pitchFamily="34" charset="-122"/>
            </a:endParaRP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endParaRPr kumimoji="1" lang="zh-CN" altLang="en-US" sz="1100" b="1" dirty="0">
                <a:latin typeface="微软雅黑" panose="020B0503020204020204" pitchFamily="34" charset="-122"/>
                <a:ea typeface="微软雅黑" panose="020B0503020204020204" pitchFamily="34" charset="-122"/>
              </a:endParaRP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grpSp>
          <p:nvGrpSpPr>
            <p:cNvPr id="164" name="组合 163"/>
            <p:cNvGrpSpPr/>
            <p:nvPr/>
          </p:nvGrpSpPr>
          <p:grpSpPr>
            <a:xfrm>
              <a:off x="5565692" y="1317271"/>
              <a:ext cx="424510" cy="296144"/>
              <a:chOff x="4406004" y="4260453"/>
              <a:chExt cx="558674" cy="429804"/>
            </a:xfrm>
          </p:grpSpPr>
          <p:grpSp>
            <p:nvGrpSpPr>
              <p:cNvPr id="165" name="Group 460"/>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endParaRPr kumimoji="1" lang="en-US" altLang="zh-CN" sz="1100" b="1" dirty="0">
                <a:solidFill>
                  <a:srgbClr val="0000CC"/>
                </a:solidFill>
                <a:latin typeface="微软雅黑" panose="020B0503020204020204" pitchFamily="34" charset="-122"/>
                <a:ea typeface="微软雅黑" panose="020B0503020204020204" pitchFamily="34" charset="-122"/>
              </a:endParaRP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grpSp>
          <p:nvGrpSpPr>
            <p:cNvPr id="175" name="组合 174"/>
            <p:cNvGrpSpPr/>
            <p:nvPr/>
          </p:nvGrpSpPr>
          <p:grpSpPr>
            <a:xfrm>
              <a:off x="6802182" y="2064362"/>
              <a:ext cx="424510" cy="296144"/>
              <a:chOff x="4406004" y="4260453"/>
              <a:chExt cx="558674" cy="429804"/>
            </a:xfrm>
          </p:grpSpPr>
          <p:grpSp>
            <p:nvGrpSpPr>
              <p:cNvPr id="176" name="Group 460"/>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endParaRPr kumimoji="1"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a:t>
            </a:r>
            <a:r>
              <a:rPr lang="zh-CN" altLang="en-US" sz="2000" b="1" dirty="0">
                <a:solidFill>
                  <a:srgbClr val="FFFF00"/>
                </a:solidFill>
                <a:ea typeface="微软雅黑" panose="020B0503020204020204" pitchFamily="34" charset="-122"/>
              </a:rPr>
              <a:t>直接路由选择</a:t>
            </a:r>
            <a:r>
              <a:rPr lang="zh-CN" altLang="en-US" sz="2000" b="1" dirty="0">
                <a:solidFill>
                  <a:schemeClr val="bg1"/>
                </a:solidFill>
                <a:ea typeface="微软雅黑" panose="020B0503020204020204" pitchFamily="34" charset="-122"/>
              </a:rPr>
              <a:t>向移动站发送</a:t>
            </a:r>
            <a:r>
              <a:rPr lang="zh-CN" altLang="en-US" sz="2000" b="1" dirty="0" smtClean="0">
                <a:solidFill>
                  <a:schemeClr val="bg1"/>
                </a:solidFill>
                <a:ea typeface="微软雅黑" panose="020B0503020204020204" pitchFamily="34" charset="-122"/>
              </a:rPr>
              <a:t>数据报的重要步骤</a:t>
            </a:r>
            <a:endParaRPr lang="zh-CN" altLang="en-US" sz="2000" b="1" dirty="0">
              <a:solidFill>
                <a:schemeClr val="bg1"/>
              </a:solidFill>
              <a:ea typeface="微软雅黑" panose="020B0503020204020204" pitchFamily="34" charset="-122"/>
            </a:endParaRP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移动</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到另一个被访</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网络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N</a:t>
            </a:r>
            <a:r>
              <a:rPr lang="en-US" altLang="zh-CN" b="1" baseline="-25000" dirty="0" smtClean="0">
                <a:latin typeface="微软雅黑" panose="020B0503020204020204" pitchFamily="34" charset="-122"/>
                <a:ea typeface="微软雅黑" panose="020B0503020204020204" pitchFamily="34" charset="-122"/>
                <a:sym typeface="Wingdings 2" panose="05020102010507070707" pitchFamily="18" charset="2"/>
              </a:rPr>
              <a:t>2</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latin typeface="微软雅黑" panose="020B0503020204020204" pitchFamily="34" charset="-122"/>
              <a:ea typeface="微软雅黑" panose="020B0503020204020204"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pic>
        <p:nvPicPr>
          <p:cNvPr id="66" name="Picture 144"/>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endParaRPr kumimoji="1" lang="zh-CN" altLang="en-US" sz="12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endParaRPr kumimoji="1" lang="zh-CN" altLang="en-US" sz="1200" b="1" dirty="0">
              <a:latin typeface="微软雅黑" panose="020B0503020204020204" pitchFamily="34" charset="-122"/>
              <a:ea typeface="微软雅黑" panose="020B0503020204020204" pitchFamily="34" charset="-122"/>
            </a:endParaRP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endParaRPr kumimoji="1" lang="zh-CN" altLang="en-US" sz="1100" b="1" dirty="0">
                <a:latin typeface="微软雅黑" panose="020B0503020204020204" pitchFamily="34" charset="-122"/>
                <a:ea typeface="微软雅黑" panose="020B0503020204020204" pitchFamily="34" charset="-122"/>
              </a:endParaRP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grpSp>
          <p:nvGrpSpPr>
            <p:cNvPr id="164" name="组合 163"/>
            <p:cNvGrpSpPr/>
            <p:nvPr/>
          </p:nvGrpSpPr>
          <p:grpSpPr>
            <a:xfrm>
              <a:off x="5565692" y="1317271"/>
              <a:ext cx="424510" cy="296144"/>
              <a:chOff x="4406004" y="4260453"/>
              <a:chExt cx="558674" cy="429804"/>
            </a:xfrm>
          </p:grpSpPr>
          <p:grpSp>
            <p:nvGrpSpPr>
              <p:cNvPr id="165" name="Group 460"/>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grpSp>
        <p:nvGrpSpPr>
          <p:cNvPr id="23" name="组合 22"/>
          <p:cNvGrpSpPr/>
          <p:nvPr/>
        </p:nvGrpSpPr>
        <p:grpSpPr>
          <a:xfrm>
            <a:off x="5842731" y="1970750"/>
            <a:ext cx="1488503" cy="831212"/>
            <a:chOff x="5842731" y="1970750"/>
            <a:chExt cx="1488503" cy="831212"/>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endParaRPr kumimoji="1" lang="en-US" altLang="zh-CN" sz="1100" b="1" dirty="0">
                <a:solidFill>
                  <a:srgbClr val="0000CC"/>
                </a:solidFill>
                <a:latin typeface="微软雅黑" panose="020B0503020204020204" pitchFamily="34" charset="-122"/>
                <a:ea typeface="微软雅黑" panose="020B0503020204020204" pitchFamily="34" charset="-122"/>
              </a:endParaRPr>
            </a:p>
          </p:txBody>
        </p:sp>
        <p:grpSp>
          <p:nvGrpSpPr>
            <p:cNvPr id="175" name="组合 174"/>
            <p:cNvGrpSpPr/>
            <p:nvPr/>
          </p:nvGrpSpPr>
          <p:grpSpPr>
            <a:xfrm>
              <a:off x="6802182" y="2064362"/>
              <a:ext cx="424510" cy="296144"/>
              <a:chOff x="4406004" y="4260453"/>
              <a:chExt cx="558674" cy="429804"/>
            </a:xfrm>
          </p:grpSpPr>
          <p:grpSp>
            <p:nvGrpSpPr>
              <p:cNvPr id="176" name="Group 460"/>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endParaRPr kumimoji="1"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a:t>
            </a:r>
            <a:r>
              <a:rPr lang="zh-CN" altLang="en-US" sz="2000" b="1" dirty="0">
                <a:solidFill>
                  <a:srgbClr val="FFFF00"/>
                </a:solidFill>
                <a:ea typeface="微软雅黑" panose="020B0503020204020204" pitchFamily="34" charset="-122"/>
              </a:rPr>
              <a:t>直接路由选择</a:t>
            </a:r>
            <a:r>
              <a:rPr lang="zh-CN" altLang="en-US" sz="2000" b="1" dirty="0">
                <a:solidFill>
                  <a:schemeClr val="bg1"/>
                </a:solidFill>
                <a:ea typeface="微软雅黑" panose="020B0503020204020204" pitchFamily="34" charset="-122"/>
              </a:rPr>
              <a:t>向移动站发送</a:t>
            </a:r>
            <a:r>
              <a:rPr lang="zh-CN" altLang="en-US" sz="2000" b="1" dirty="0" smtClean="0">
                <a:solidFill>
                  <a:schemeClr val="bg1"/>
                </a:solidFill>
                <a:ea typeface="微软雅黑" panose="020B0503020204020204" pitchFamily="34" charset="-122"/>
              </a:rPr>
              <a:t>数据报的重要步骤</a:t>
            </a:r>
            <a:endParaRPr lang="zh-CN" altLang="en-US" sz="2000" b="1" dirty="0">
              <a:solidFill>
                <a:schemeClr val="bg1"/>
              </a:solidFill>
              <a:ea typeface="微软雅黑" panose="020B0503020204020204" pitchFamily="34" charset="-122"/>
            </a:endParaRP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向</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被访</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网络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N</a:t>
            </a:r>
            <a:r>
              <a:rPr lang="en-US" altLang="zh-CN" b="1" baseline="-25000" dirty="0" smtClean="0">
                <a:latin typeface="微软雅黑" panose="020B0503020204020204" pitchFamily="34" charset="-122"/>
                <a:ea typeface="微软雅黑" panose="020B0503020204020204" pitchFamily="34" charset="-122"/>
                <a:sym typeface="Wingdings 2" panose="05020102010507070707" pitchFamily="18" charset="2"/>
              </a:rPr>
              <a:t>2</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新外地代理</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登记。</a:t>
            </a:r>
            <a:endParaRPr lang="zh-CN" altLang="en-US" b="1" dirty="0">
              <a:latin typeface="微软雅黑" panose="020B0503020204020204" pitchFamily="34" charset="-122"/>
              <a:ea typeface="微软雅黑" panose="020B0503020204020204"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pic>
        <p:nvPicPr>
          <p:cNvPr id="66" name="Picture 144"/>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endParaRPr kumimoji="1" lang="zh-CN" altLang="en-US" sz="12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endParaRPr kumimoji="1" lang="zh-CN" altLang="en-US" sz="1200" b="1" dirty="0">
              <a:latin typeface="微软雅黑" panose="020B0503020204020204" pitchFamily="34" charset="-122"/>
              <a:ea typeface="微软雅黑" panose="020B0503020204020204" pitchFamily="34" charset="-122"/>
            </a:endParaRP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endParaRPr kumimoji="1" lang="zh-CN" altLang="en-US" sz="1100" b="1" dirty="0">
                <a:latin typeface="微软雅黑" panose="020B0503020204020204" pitchFamily="34" charset="-122"/>
                <a:ea typeface="微软雅黑" panose="020B0503020204020204" pitchFamily="34" charset="-122"/>
              </a:endParaRP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grpSp>
          <p:nvGrpSpPr>
            <p:cNvPr id="164" name="组合 163"/>
            <p:cNvGrpSpPr/>
            <p:nvPr/>
          </p:nvGrpSpPr>
          <p:grpSpPr>
            <a:xfrm>
              <a:off x="5565692" y="1317271"/>
              <a:ext cx="424510" cy="296144"/>
              <a:chOff x="4406004" y="4260453"/>
              <a:chExt cx="558674" cy="429804"/>
            </a:xfrm>
          </p:grpSpPr>
          <p:grpSp>
            <p:nvGrpSpPr>
              <p:cNvPr id="165" name="Group 460"/>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endParaRPr kumimoji="1" lang="en-US" altLang="zh-CN" sz="1100" b="1" dirty="0">
                <a:solidFill>
                  <a:srgbClr val="0000CC"/>
                </a:solidFill>
                <a:latin typeface="微软雅黑" panose="020B0503020204020204" pitchFamily="34" charset="-122"/>
                <a:ea typeface="微软雅黑" panose="020B0503020204020204" pitchFamily="34" charset="-122"/>
              </a:endParaRP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grpSp>
          <p:nvGrpSpPr>
            <p:cNvPr id="175" name="组合 174"/>
            <p:cNvGrpSpPr/>
            <p:nvPr/>
          </p:nvGrpSpPr>
          <p:grpSpPr>
            <a:xfrm>
              <a:off x="6802182" y="2064362"/>
              <a:ext cx="424510" cy="296144"/>
              <a:chOff x="4406004" y="4260453"/>
              <a:chExt cx="558674" cy="429804"/>
            </a:xfrm>
          </p:grpSpPr>
          <p:grpSp>
            <p:nvGrpSpPr>
              <p:cNvPr id="176" name="Group 460"/>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endParaRPr kumimoji="1"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1000"/>
                                        <p:tgtEl>
                                          <p:spTgt spid="10"/>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a:t>
            </a:r>
            <a:r>
              <a:rPr lang="zh-CN" altLang="en-US" sz="2000" b="1" dirty="0">
                <a:solidFill>
                  <a:srgbClr val="FFFF00"/>
                </a:solidFill>
                <a:ea typeface="微软雅黑" panose="020B0503020204020204" pitchFamily="34" charset="-122"/>
              </a:rPr>
              <a:t>直接路由选择</a:t>
            </a:r>
            <a:r>
              <a:rPr lang="zh-CN" altLang="en-US" sz="2000" b="1" dirty="0">
                <a:solidFill>
                  <a:schemeClr val="bg1"/>
                </a:solidFill>
                <a:ea typeface="微软雅黑" panose="020B0503020204020204" pitchFamily="34" charset="-122"/>
              </a:rPr>
              <a:t>向移动站发送</a:t>
            </a:r>
            <a:r>
              <a:rPr lang="zh-CN" altLang="en-US" sz="2000" b="1" dirty="0" smtClean="0">
                <a:solidFill>
                  <a:schemeClr val="bg1"/>
                </a:solidFill>
                <a:ea typeface="微软雅黑" panose="020B0503020204020204" pitchFamily="34" charset="-122"/>
              </a:rPr>
              <a:t>数据报的重要步骤</a:t>
            </a:r>
            <a:endParaRPr lang="zh-CN" altLang="en-US" sz="2000" b="1" dirty="0">
              <a:solidFill>
                <a:schemeClr val="bg1"/>
              </a:solidFill>
              <a:ea typeface="微软雅黑" panose="020B0503020204020204" pitchFamily="34" charset="-122"/>
            </a:endParaRPr>
          </a:p>
        </p:txBody>
      </p:sp>
      <p:sp>
        <p:nvSpPr>
          <p:cNvPr id="5" name="矩形 4"/>
          <p:cNvSpPr/>
          <p:nvPr/>
        </p:nvSpPr>
        <p:spPr>
          <a:xfrm>
            <a:off x="966651" y="3161212"/>
            <a:ext cx="7245532" cy="403893"/>
          </a:xfrm>
          <a:prstGeom prst="rect">
            <a:avLst/>
          </a:prstGeom>
          <a:noFill/>
          <a:ln>
            <a:noFill/>
          </a:ln>
        </p:spPr>
        <p:txBody>
          <a:bodyPr wrap="square">
            <a:spAutoFit/>
          </a:bodyPr>
          <a:lstStyle/>
          <a:p>
            <a:pPr>
              <a:lnSpc>
                <a:spcPts val="2600"/>
              </a:lnSpc>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新</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外地代理</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把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新转交地址告诉</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锚外地代理</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solidFill>
                <a:srgbClr val="0000CC"/>
              </a:solidFill>
              <a:latin typeface="微软雅黑" panose="020B0503020204020204" pitchFamily="34" charset="-122"/>
              <a:ea typeface="微软雅黑" panose="020B0503020204020204"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pic>
        <p:nvPicPr>
          <p:cNvPr id="66" name="Picture 144"/>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endParaRPr kumimoji="1" lang="zh-CN" altLang="en-US" sz="12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endParaRPr kumimoji="1" lang="zh-CN" altLang="en-US" sz="1200" b="1" dirty="0">
              <a:latin typeface="微软雅黑" panose="020B0503020204020204" pitchFamily="34" charset="-122"/>
              <a:ea typeface="微软雅黑" panose="020B0503020204020204" pitchFamily="34" charset="-122"/>
            </a:endParaRP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endParaRPr kumimoji="1" lang="zh-CN" altLang="en-US" sz="1100" b="1" dirty="0">
                <a:latin typeface="微软雅黑" panose="020B0503020204020204" pitchFamily="34" charset="-122"/>
                <a:ea typeface="微软雅黑" panose="020B0503020204020204" pitchFamily="34" charset="-122"/>
              </a:endParaRP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grpSp>
          <p:nvGrpSpPr>
            <p:cNvPr id="164" name="组合 163"/>
            <p:cNvGrpSpPr/>
            <p:nvPr/>
          </p:nvGrpSpPr>
          <p:grpSpPr>
            <a:xfrm>
              <a:off x="5565692" y="1317271"/>
              <a:ext cx="424510" cy="296144"/>
              <a:chOff x="4406004" y="4260453"/>
              <a:chExt cx="558674" cy="429804"/>
            </a:xfrm>
          </p:grpSpPr>
          <p:grpSp>
            <p:nvGrpSpPr>
              <p:cNvPr id="165" name="Group 460"/>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endParaRPr kumimoji="1" lang="en-US" altLang="zh-CN" sz="1100" b="1" dirty="0">
                <a:solidFill>
                  <a:srgbClr val="0000CC"/>
                </a:solidFill>
                <a:latin typeface="微软雅黑" panose="020B0503020204020204" pitchFamily="34" charset="-122"/>
                <a:ea typeface="微软雅黑" panose="020B0503020204020204" pitchFamily="34" charset="-122"/>
              </a:endParaRP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grpSp>
          <p:nvGrpSpPr>
            <p:cNvPr id="175" name="组合 174"/>
            <p:cNvGrpSpPr/>
            <p:nvPr/>
          </p:nvGrpSpPr>
          <p:grpSpPr>
            <a:xfrm>
              <a:off x="6802182" y="2064362"/>
              <a:ext cx="424510" cy="296144"/>
              <a:chOff x="4406004" y="4260453"/>
              <a:chExt cx="558674" cy="429804"/>
            </a:xfrm>
          </p:grpSpPr>
          <p:grpSp>
            <p:nvGrpSpPr>
              <p:cNvPr id="176" name="Group 460"/>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endParaRPr kumimoji="1"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1000"/>
                                        <p:tgtEl>
                                          <p:spTgt spid="11"/>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a:t>
            </a:r>
            <a:r>
              <a:rPr lang="zh-CN" altLang="en-US" sz="2000" b="1" dirty="0">
                <a:solidFill>
                  <a:srgbClr val="FFFF00"/>
                </a:solidFill>
                <a:ea typeface="微软雅黑" panose="020B0503020204020204" pitchFamily="34" charset="-122"/>
              </a:rPr>
              <a:t>直接路由选择</a:t>
            </a:r>
            <a:r>
              <a:rPr lang="zh-CN" altLang="en-US" sz="2000" b="1" dirty="0">
                <a:solidFill>
                  <a:schemeClr val="bg1"/>
                </a:solidFill>
                <a:ea typeface="微软雅黑" panose="020B0503020204020204" pitchFamily="34" charset="-122"/>
              </a:rPr>
              <a:t>向移动站发送</a:t>
            </a:r>
            <a:r>
              <a:rPr lang="zh-CN" altLang="en-US" sz="2000" b="1" dirty="0" smtClean="0">
                <a:solidFill>
                  <a:schemeClr val="bg1"/>
                </a:solidFill>
                <a:ea typeface="微软雅黑" panose="020B0503020204020204" pitchFamily="34" charset="-122"/>
              </a:rPr>
              <a:t>数据报的重要步骤</a:t>
            </a:r>
            <a:endParaRPr lang="zh-CN" altLang="en-US" sz="2000" b="1" dirty="0">
              <a:solidFill>
                <a:schemeClr val="bg1"/>
              </a:solidFill>
              <a:ea typeface="微软雅黑" panose="020B0503020204020204" pitchFamily="34" charset="-122"/>
            </a:endParaRP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锚</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外地代理收到</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发给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封装数据报后</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，用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新转交地址对数据报进行再封装，然后发送给被访</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网络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N</a:t>
            </a:r>
            <a:r>
              <a:rPr lang="en-US" altLang="zh-CN" b="1" baseline="-25000" dirty="0" smtClean="0">
                <a:latin typeface="微软雅黑" panose="020B0503020204020204" pitchFamily="34" charset="-122"/>
                <a:ea typeface="微软雅黑" panose="020B0503020204020204" pitchFamily="34" charset="-122"/>
                <a:sym typeface="Wingdings 2" panose="05020102010507070707" pitchFamily="18" charset="2"/>
              </a:rPr>
              <a:t>2</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上</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的</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新外地</a:t>
            </a:r>
            <a:r>
              <a:rPr lang="zh-CN" altLang="en-US" b="1" dirty="0" smtClean="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代理</a:t>
            </a:r>
            <a:r>
              <a:rPr lang="zh-CN" altLang="en-US" b="1" dirty="0">
                <a:solidFill>
                  <a:srgbClr val="0000CC"/>
                </a:solidFill>
                <a:latin typeface="微软雅黑" panose="020B0503020204020204" pitchFamily="34" charset="-122"/>
                <a:ea typeface="微软雅黑" panose="020B0503020204020204" pitchFamily="34" charset="-122"/>
                <a:sym typeface="Wingdings 2" panose="05020102010507070707" pitchFamily="18" charset="2"/>
              </a:rPr>
              <a:t>，</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拆封</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后转发给</a:t>
            </a:r>
            <a:r>
              <a:rPr lang="zh-CN" altLang="en-US" b="1" dirty="0" smtClean="0">
                <a:latin typeface="微软雅黑" panose="020B0503020204020204" pitchFamily="34" charset="-122"/>
                <a:ea typeface="微软雅黑" panose="020B0503020204020204" pitchFamily="34" charset="-122"/>
                <a:sym typeface="Wingdings 2" panose="05020102010507070707" pitchFamily="18" charset="2"/>
              </a:rPr>
              <a:t>移动站 </a:t>
            </a:r>
            <a:r>
              <a:rPr lang="en-US" altLang="zh-CN" b="1" dirty="0" smtClean="0">
                <a:latin typeface="微软雅黑" panose="020B0503020204020204" pitchFamily="34" charset="-122"/>
                <a:ea typeface="微软雅黑" panose="020B0503020204020204" pitchFamily="34" charset="-122"/>
                <a:sym typeface="Wingdings 2" panose="05020102010507070707" pitchFamily="18" charset="2"/>
              </a:rPr>
              <a:t>A</a:t>
            </a:r>
            <a:r>
              <a:rPr lang="zh-CN" altLang="en-US" b="1" dirty="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b="1" dirty="0">
              <a:latin typeface="微软雅黑" panose="020B0503020204020204" pitchFamily="34" charset="-122"/>
              <a:ea typeface="微软雅黑" panose="020B0503020204020204"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pic>
        <p:nvPicPr>
          <p:cNvPr id="66" name="Picture 144"/>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endParaRPr kumimoji="1" lang="zh-CN" altLang="en-US" sz="1200" b="1" dirty="0">
              <a:solidFill>
                <a:srgbClr val="C00000"/>
              </a:solidFill>
              <a:latin typeface="微软雅黑" panose="020B0503020204020204" pitchFamily="34" charset="-122"/>
              <a:ea typeface="微软雅黑" panose="020B0503020204020204" pitchFamily="34" charset="-122"/>
            </a:endParaRP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endParaRPr kumimoji="1" lang="zh-CN" altLang="en-US" sz="1200" b="1" dirty="0">
              <a:latin typeface="微软雅黑" panose="020B0503020204020204" pitchFamily="34" charset="-122"/>
              <a:ea typeface="微软雅黑" panose="020B0503020204020204" pitchFamily="34" charset="-122"/>
            </a:endParaRP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endParaRPr kumimoji="1" lang="zh-CN" altLang="en-US" sz="1100" b="1" dirty="0">
                <a:latin typeface="微软雅黑" panose="020B0503020204020204" pitchFamily="34" charset="-122"/>
                <a:ea typeface="微软雅黑" panose="020B0503020204020204" pitchFamily="34" charset="-122"/>
              </a:endParaRP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endParaRPr kumimoji="1" lang="en-US" altLang="zh-CN" sz="1200" b="1" dirty="0">
                <a:solidFill>
                  <a:srgbClr val="0000CC"/>
                </a:solidFill>
                <a:latin typeface="微软雅黑" panose="020B0503020204020204" pitchFamily="34" charset="-122"/>
                <a:ea typeface="微软雅黑" panose="020B0503020204020204" pitchFamily="34" charset="-122"/>
              </a:endParaRPr>
            </a:p>
          </p:txBody>
        </p:sp>
        <p:grpSp>
          <p:nvGrpSpPr>
            <p:cNvPr id="164" name="组合 163"/>
            <p:cNvGrpSpPr/>
            <p:nvPr/>
          </p:nvGrpSpPr>
          <p:grpSpPr>
            <a:xfrm>
              <a:off x="5565692" y="1317271"/>
              <a:ext cx="424510" cy="296144"/>
              <a:chOff x="4406004" y="4260453"/>
              <a:chExt cx="558674" cy="429804"/>
            </a:xfrm>
          </p:grpSpPr>
          <p:grpSp>
            <p:nvGrpSpPr>
              <p:cNvPr id="165" name="Group 460"/>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ln>
            <a:effectLst/>
          </p:spPr>
          <p:txBody>
            <a:bodyPr vert="horz" wrap="square" lIns="91440" tIns="45720" rIns="91440" bIns="45720" numCol="1" anchor="t" anchorCtr="0" compatLnSpc="1"/>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endParaRPr kumimoji="1" lang="en-US" altLang="zh-CN" sz="1100" b="1" dirty="0">
                <a:solidFill>
                  <a:srgbClr val="0000CC"/>
                </a:solidFill>
                <a:latin typeface="微软雅黑" panose="020B0503020204020204" pitchFamily="34" charset="-122"/>
                <a:ea typeface="微软雅黑" panose="020B0503020204020204" pitchFamily="34" charset="-122"/>
              </a:endParaRP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endParaRPr kumimoji="1" lang="en-US" altLang="zh-CN" sz="1100" b="1" baseline="-25000" dirty="0">
                <a:latin typeface="微软雅黑" panose="020B0503020204020204" pitchFamily="34" charset="-122"/>
                <a:ea typeface="微软雅黑" panose="020B0503020204020204" pitchFamily="34" charset="-122"/>
              </a:endParaRPr>
            </a:p>
          </p:txBody>
        </p:sp>
        <p:grpSp>
          <p:nvGrpSpPr>
            <p:cNvPr id="175" name="组合 174"/>
            <p:cNvGrpSpPr/>
            <p:nvPr/>
          </p:nvGrpSpPr>
          <p:grpSpPr>
            <a:xfrm>
              <a:off x="6802182" y="2064362"/>
              <a:ext cx="424510" cy="296144"/>
              <a:chOff x="4406004" y="4260453"/>
              <a:chExt cx="558674" cy="429804"/>
            </a:xfrm>
          </p:grpSpPr>
          <p:grpSp>
            <p:nvGrpSpPr>
              <p:cNvPr id="176" name="Group 460"/>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2" name="组合 21"/>
          <p:cNvGrpSpPr/>
          <p:nvPr/>
        </p:nvGrpSpPr>
        <p:grpSpPr>
          <a:xfrm>
            <a:off x="5350468" y="1960422"/>
            <a:ext cx="1676767" cy="781658"/>
            <a:chOff x="5350468" y="1960422"/>
            <a:chExt cx="1676767" cy="781658"/>
          </a:xfrm>
        </p:grpSpPr>
        <p:sp>
          <p:nvSpPr>
            <p:cNvPr id="89" name="Freeform 195"/>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1" fmla="*/ 0 w 8944"/>
                <a:gd name="connsiteY0-2" fmla="*/ 0 h 10000"/>
                <a:gd name="connsiteX1-3" fmla="*/ 603 w 8944"/>
                <a:gd name="connsiteY1-4" fmla="*/ 3570 h 10000"/>
                <a:gd name="connsiteX2-5" fmla="*/ 1556 w 8944"/>
                <a:gd name="connsiteY2-6" fmla="*/ 6755 h 10000"/>
                <a:gd name="connsiteX3-7" fmla="*/ 3281 w 8944"/>
                <a:gd name="connsiteY3-8" fmla="*/ 9825 h 10000"/>
                <a:gd name="connsiteX4-9" fmla="*/ 6414 w 8944"/>
                <a:gd name="connsiteY4-10" fmla="*/ 9187 h 10000"/>
                <a:gd name="connsiteX5-11" fmla="*/ 8944 w 8944"/>
                <a:gd name="connsiteY5-12" fmla="*/ 4998 h 10000"/>
                <a:gd name="connsiteX0-13" fmla="*/ 0 w 10000"/>
                <a:gd name="connsiteY0-14" fmla="*/ 0 h 10000"/>
                <a:gd name="connsiteX1-15" fmla="*/ 674 w 10000"/>
                <a:gd name="connsiteY1-16" fmla="*/ 3570 h 10000"/>
                <a:gd name="connsiteX2-17" fmla="*/ 1740 w 10000"/>
                <a:gd name="connsiteY2-18" fmla="*/ 6755 h 10000"/>
                <a:gd name="connsiteX3-19" fmla="*/ 3668 w 10000"/>
                <a:gd name="connsiteY3-20" fmla="*/ 9825 h 10000"/>
                <a:gd name="connsiteX4-21" fmla="*/ 7171 w 10000"/>
                <a:gd name="connsiteY4-22" fmla="*/ 9187 h 10000"/>
                <a:gd name="connsiteX5-23" fmla="*/ 10000 w 10000"/>
                <a:gd name="connsiteY5-24" fmla="*/ 4998 h 10000"/>
                <a:gd name="connsiteX0-25" fmla="*/ 0 w 10000"/>
                <a:gd name="connsiteY0-26" fmla="*/ 0 h 9656"/>
                <a:gd name="connsiteX1-27" fmla="*/ 674 w 10000"/>
                <a:gd name="connsiteY1-28" fmla="*/ 3570 h 9656"/>
                <a:gd name="connsiteX2-29" fmla="*/ 1740 w 10000"/>
                <a:gd name="connsiteY2-30" fmla="*/ 6755 h 9656"/>
                <a:gd name="connsiteX3-31" fmla="*/ 4376 w 10000"/>
                <a:gd name="connsiteY3-32" fmla="*/ 9284 h 9656"/>
                <a:gd name="connsiteX4-33" fmla="*/ 7171 w 10000"/>
                <a:gd name="connsiteY4-34" fmla="*/ 9187 h 9656"/>
                <a:gd name="connsiteX5-35" fmla="*/ 10000 w 10000"/>
                <a:gd name="connsiteY5-36" fmla="*/ 4998 h 9656"/>
                <a:gd name="connsiteX0-37" fmla="*/ 0 w 10000"/>
                <a:gd name="connsiteY0-38" fmla="*/ 0 h 9984"/>
                <a:gd name="connsiteX1-39" fmla="*/ 674 w 10000"/>
                <a:gd name="connsiteY1-40" fmla="*/ 3697 h 9984"/>
                <a:gd name="connsiteX2-41" fmla="*/ 2684 w 10000"/>
                <a:gd name="connsiteY2-42" fmla="*/ 7276 h 9984"/>
                <a:gd name="connsiteX3-43" fmla="*/ 4376 w 10000"/>
                <a:gd name="connsiteY3-44" fmla="*/ 9615 h 9984"/>
                <a:gd name="connsiteX4-45" fmla="*/ 7171 w 10000"/>
                <a:gd name="connsiteY4-46" fmla="*/ 9514 h 9984"/>
                <a:gd name="connsiteX5-47" fmla="*/ 10000 w 10000"/>
                <a:gd name="connsiteY5-48" fmla="*/ 5176 h 9984"/>
                <a:gd name="connsiteX0-49" fmla="*/ 0 w 10000"/>
                <a:gd name="connsiteY0-50" fmla="*/ 0 h 9960"/>
                <a:gd name="connsiteX1-51" fmla="*/ 674 w 10000"/>
                <a:gd name="connsiteY1-52" fmla="*/ 3703 h 9960"/>
                <a:gd name="connsiteX2-53" fmla="*/ 2763 w 10000"/>
                <a:gd name="connsiteY2-54" fmla="*/ 7990 h 9960"/>
                <a:gd name="connsiteX3-55" fmla="*/ 4376 w 10000"/>
                <a:gd name="connsiteY3-56" fmla="*/ 9630 h 9960"/>
                <a:gd name="connsiteX4-57" fmla="*/ 7171 w 10000"/>
                <a:gd name="connsiteY4-58" fmla="*/ 9529 h 9960"/>
                <a:gd name="connsiteX5-59" fmla="*/ 10000 w 10000"/>
                <a:gd name="connsiteY5-60" fmla="*/ 5184 h 9960"/>
                <a:gd name="connsiteX0-61" fmla="*/ 0 w 10000"/>
                <a:gd name="connsiteY0-62" fmla="*/ 0 h 10000"/>
                <a:gd name="connsiteX1-63" fmla="*/ 1028 w 10000"/>
                <a:gd name="connsiteY1-64" fmla="*/ 4000 h 10000"/>
                <a:gd name="connsiteX2-65" fmla="*/ 2763 w 10000"/>
                <a:gd name="connsiteY2-66" fmla="*/ 8022 h 10000"/>
                <a:gd name="connsiteX3-67" fmla="*/ 4376 w 10000"/>
                <a:gd name="connsiteY3-68" fmla="*/ 9669 h 10000"/>
                <a:gd name="connsiteX4-69" fmla="*/ 7171 w 10000"/>
                <a:gd name="connsiteY4-70" fmla="*/ 9567 h 10000"/>
                <a:gd name="connsiteX5-71" fmla="*/ 10000 w 10000"/>
                <a:gd name="connsiteY5-72" fmla="*/ 5205 h 10000"/>
                <a:gd name="connsiteX0-73" fmla="*/ 0 w 10000"/>
                <a:gd name="connsiteY0-74" fmla="*/ 0 h 10039"/>
                <a:gd name="connsiteX1-75" fmla="*/ 1028 w 10000"/>
                <a:gd name="connsiteY1-76" fmla="*/ 4000 h 10039"/>
                <a:gd name="connsiteX2-77" fmla="*/ 2488 w 10000"/>
                <a:gd name="connsiteY2-78" fmla="*/ 7317 h 10039"/>
                <a:gd name="connsiteX3-79" fmla="*/ 4376 w 10000"/>
                <a:gd name="connsiteY3-80" fmla="*/ 9669 h 10039"/>
                <a:gd name="connsiteX4-81" fmla="*/ 7171 w 10000"/>
                <a:gd name="connsiteY4-82" fmla="*/ 9567 h 10039"/>
                <a:gd name="connsiteX5-83" fmla="*/ 10000 w 10000"/>
                <a:gd name="connsiteY5-84" fmla="*/ 5205 h 10039"/>
                <a:gd name="connsiteX0-85" fmla="*/ 0 w 10000"/>
                <a:gd name="connsiteY0-86" fmla="*/ 0 h 9881"/>
                <a:gd name="connsiteX1-87" fmla="*/ 1028 w 10000"/>
                <a:gd name="connsiteY1-88" fmla="*/ 4000 h 9881"/>
                <a:gd name="connsiteX2-89" fmla="*/ 2488 w 10000"/>
                <a:gd name="connsiteY2-90" fmla="*/ 7317 h 9881"/>
                <a:gd name="connsiteX3-91" fmla="*/ 4337 w 10000"/>
                <a:gd name="connsiteY3-92" fmla="*/ 9176 h 9881"/>
                <a:gd name="connsiteX4-93" fmla="*/ 7171 w 10000"/>
                <a:gd name="connsiteY4-94" fmla="*/ 9567 h 9881"/>
                <a:gd name="connsiteX5-95" fmla="*/ 10000 w 10000"/>
                <a:gd name="connsiteY5-96" fmla="*/ 5205 h 9881"/>
                <a:gd name="connsiteX0-97" fmla="*/ 0 w 10000"/>
                <a:gd name="connsiteY0-98" fmla="*/ 0 h 10046"/>
                <a:gd name="connsiteX1-99" fmla="*/ 1028 w 10000"/>
                <a:gd name="connsiteY1-100" fmla="*/ 4048 h 10046"/>
                <a:gd name="connsiteX2-101" fmla="*/ 2488 w 10000"/>
                <a:gd name="connsiteY2-102" fmla="*/ 7405 h 10046"/>
                <a:gd name="connsiteX3-103" fmla="*/ 4337 w 10000"/>
                <a:gd name="connsiteY3-104" fmla="*/ 9287 h 10046"/>
                <a:gd name="connsiteX4-105" fmla="*/ 7171 w 10000"/>
                <a:gd name="connsiteY4-106" fmla="*/ 9682 h 10046"/>
                <a:gd name="connsiteX5-107" fmla="*/ 10000 w 10000"/>
                <a:gd name="connsiteY5-108" fmla="*/ 5268 h 10046"/>
                <a:gd name="connsiteX0-109" fmla="*/ 0 w 10000"/>
                <a:gd name="connsiteY0-110" fmla="*/ 0 h 9856"/>
                <a:gd name="connsiteX1-111" fmla="*/ 1028 w 10000"/>
                <a:gd name="connsiteY1-112" fmla="*/ 4048 h 9856"/>
                <a:gd name="connsiteX2-113" fmla="*/ 2488 w 10000"/>
                <a:gd name="connsiteY2-114" fmla="*/ 7405 h 9856"/>
                <a:gd name="connsiteX3-115" fmla="*/ 4337 w 10000"/>
                <a:gd name="connsiteY3-116" fmla="*/ 9287 h 9856"/>
                <a:gd name="connsiteX4-117" fmla="*/ 7171 w 10000"/>
                <a:gd name="connsiteY4-118" fmla="*/ 9682 h 9856"/>
                <a:gd name="connsiteX5-119" fmla="*/ 10000 w 10000"/>
                <a:gd name="connsiteY5-120" fmla="*/ 5268 h 9856"/>
                <a:gd name="connsiteX0-121" fmla="*/ 0 w 10000"/>
                <a:gd name="connsiteY0-122" fmla="*/ 0 h 9933"/>
                <a:gd name="connsiteX1-123" fmla="*/ 1028 w 10000"/>
                <a:gd name="connsiteY1-124" fmla="*/ 4107 h 9933"/>
                <a:gd name="connsiteX2-125" fmla="*/ 2488 w 10000"/>
                <a:gd name="connsiteY2-126" fmla="*/ 7513 h 9933"/>
                <a:gd name="connsiteX3-127" fmla="*/ 4337 w 10000"/>
                <a:gd name="connsiteY3-128" fmla="*/ 9423 h 9933"/>
                <a:gd name="connsiteX4-129" fmla="*/ 7171 w 10000"/>
                <a:gd name="connsiteY4-130" fmla="*/ 9823 h 9933"/>
                <a:gd name="connsiteX5-131" fmla="*/ 10000 w 10000"/>
                <a:gd name="connsiteY5-132" fmla="*/ 5345 h 993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endParaRPr kumimoji="1" lang="zh-CN" altLang="en-US" sz="1100" b="1" dirty="0">
              <a:solidFill>
                <a:srgbClr val="0000CC"/>
              </a:solidFill>
              <a:latin typeface="微软雅黑" panose="020B0503020204020204" pitchFamily="34" charset="-122"/>
              <a:ea typeface="微软雅黑" panose="020B0503020204020204" pitchFamily="34" charset="-122"/>
            </a:endParaRP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endParaRPr kumimoji="1" lang="zh-CN" altLang="en-US" sz="1100" b="1" dirty="0">
              <a:latin typeface="微软雅黑" panose="020B0503020204020204" pitchFamily="34" charset="-122"/>
              <a:ea typeface="微软雅黑" panose="020B0503020204020204" pitchFamily="34" charset="-122"/>
            </a:endParaRP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矩形 22"/>
          <p:cNvSpPr/>
          <p:nvPr/>
        </p:nvSpPr>
        <p:spPr>
          <a:xfrm>
            <a:off x="844732" y="4218983"/>
            <a:ext cx="7297783" cy="369332"/>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b="1" dirty="0" smtClean="0">
                <a:latin typeface="微软雅黑" panose="020B0503020204020204" pitchFamily="34" charset="-122"/>
                <a:ea typeface="微软雅黑" panose="020B0503020204020204" pitchFamily="34" charset="-122"/>
              </a:rPr>
              <a:t>如果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再</a:t>
            </a:r>
            <a:r>
              <a:rPr lang="zh-CN" altLang="en-US" b="1" dirty="0">
                <a:latin typeface="微软雅黑" panose="020B0503020204020204" pitchFamily="34" charset="-122"/>
                <a:ea typeface="微软雅黑" panose="020B0503020204020204" pitchFamily="34" charset="-122"/>
              </a:rPr>
              <a:t>漫游到另一个网络</a:t>
            </a:r>
            <a:r>
              <a:rPr lang="zh-CN" altLang="en-US" b="1" dirty="0" smtClean="0">
                <a:latin typeface="微软雅黑" panose="020B0503020204020204" pitchFamily="34" charset="-122"/>
                <a:ea typeface="微软雅黑" panose="020B0503020204020204" pitchFamily="34" charset="-122"/>
              </a:rPr>
              <a:t>，也是通过锚</a:t>
            </a:r>
            <a:r>
              <a:rPr lang="zh-CN" altLang="en-US" b="1" dirty="0">
                <a:latin typeface="微软雅黑" panose="020B0503020204020204" pitchFamily="34" charset="-122"/>
                <a:ea typeface="微软雅黑" panose="020B0503020204020204" pitchFamily="34" charset="-122"/>
              </a:rPr>
              <a:t>外地</a:t>
            </a:r>
            <a:r>
              <a:rPr lang="zh-CN" altLang="en-US" b="1" dirty="0" smtClean="0">
                <a:latin typeface="微软雅黑" panose="020B0503020204020204" pitchFamily="34" charset="-122"/>
                <a:ea typeface="微软雅黑" panose="020B0503020204020204" pitchFamily="34" charset="-122"/>
              </a:rPr>
              <a:t>代理转发给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的数据报。</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1000"/>
                                        <p:tgtEl>
                                          <p:spTgt spid="2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23"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zh-CN" altLang="en-US"/>
          </a:p>
        </p:txBody>
      </p:sp>
      <p:sp>
        <p:nvSpPr>
          <p:cNvPr id="3" name="Rectangle 13"/>
          <p:cNvSpPr>
            <a:spLocks noChangeArrowheads="1"/>
          </p:cNvSpPr>
          <p:nvPr/>
        </p:nvSpPr>
        <p:spPr bwMode="auto">
          <a:xfrm>
            <a:off x="2219830" y="594451"/>
            <a:ext cx="47131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9.4.2 </a:t>
            </a:r>
            <a:r>
              <a:rPr lang="zh-CN" altLang="en-US" sz="2400" b="1" dirty="0" smtClean="0">
                <a:solidFill>
                  <a:schemeClr val="bg1"/>
                </a:solidFill>
                <a:latin typeface="微软雅黑" panose="020B0503020204020204" pitchFamily="34" charset="-122"/>
                <a:ea typeface="微软雅黑" panose="020B0503020204020204" pitchFamily="34" charset="-122"/>
              </a:rPr>
              <a:t>移动</a:t>
            </a:r>
            <a:r>
              <a:rPr lang="zh-CN" altLang="en-US" sz="2400" b="1" dirty="0">
                <a:solidFill>
                  <a:schemeClr val="bg1"/>
                </a:solidFill>
                <a:latin typeface="微软雅黑" panose="020B0503020204020204" pitchFamily="34" charset="-122"/>
                <a:ea typeface="微软雅黑" panose="020B0503020204020204" pitchFamily="34" charset="-122"/>
              </a:rPr>
              <a:t>网络对高层协议的影响</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46"/>
          <p:cNvSpPr>
            <a:spLocks noChangeArrowheads="1"/>
          </p:cNvSpPr>
          <p:nvPr/>
        </p:nvSpPr>
        <p:spPr bwMode="auto">
          <a:xfrm>
            <a:off x="511896" y="1042920"/>
            <a:ext cx="8129016" cy="20928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漫游时，会经常更换移动用户到无线网络的</a:t>
            </a:r>
            <a:r>
              <a:rPr lang="zh-CN" altLang="en-US" sz="2000" b="1" dirty="0" smtClean="0">
                <a:latin typeface="微软雅黑" panose="020B0503020204020204" pitchFamily="34" charset="-122"/>
                <a:ea typeface="微软雅黑" panose="020B0503020204020204" pitchFamily="34" charset="-122"/>
              </a:rPr>
              <a:t>连接点</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网络连接</a:t>
            </a:r>
            <a:r>
              <a:rPr lang="zh-CN" altLang="en-US" sz="2000" b="1" dirty="0">
                <a:latin typeface="微软雅黑" panose="020B0503020204020204" pitchFamily="34" charset="-122"/>
                <a:ea typeface="微软雅黑" panose="020B0503020204020204" pitchFamily="34" charset="-122"/>
              </a:rPr>
              <a:t>就会发生很短时间的中断</a:t>
            </a:r>
            <a:r>
              <a:rPr lang="zh-CN" altLang="en-US" sz="2000" b="1" dirty="0" smtClean="0">
                <a:latin typeface="微软雅黑" panose="020B0503020204020204" pitchFamily="34" charset="-122"/>
                <a:ea typeface="微软雅黑" panose="020B0503020204020204" pitchFamily="34" charset="-122"/>
              </a:rPr>
              <a:t>。这种</a:t>
            </a:r>
            <a:r>
              <a:rPr lang="zh-CN" altLang="en-US" sz="2000" b="1" dirty="0">
                <a:latin typeface="微软雅黑" panose="020B0503020204020204" pitchFamily="34" charset="-122"/>
                <a:ea typeface="微软雅黑" panose="020B0503020204020204" pitchFamily="34" charset="-122"/>
              </a:rPr>
              <a:t>情况对高层协议有没有影响呢</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报文段会</a:t>
            </a:r>
            <a:r>
              <a:rPr lang="zh-CN" altLang="en-US" sz="2000" b="1" dirty="0" smtClean="0">
                <a:latin typeface="微软雅黑" panose="020B0503020204020204" pitchFamily="34" charset="-122"/>
                <a:ea typeface="微软雅黑" panose="020B0503020204020204" pitchFamily="34" charset="-122"/>
              </a:rPr>
              <a:t>丢失  </a:t>
            </a:r>
            <a:r>
              <a:rPr lang="zh-CN" altLang="en-US" sz="2800" b="1" dirty="0" smtClean="0">
                <a:solidFill>
                  <a:srgbClr val="C00000"/>
                </a:solidFill>
                <a:latin typeface="微软雅黑" panose="020B0503020204020204" pitchFamily="34" charset="-122"/>
                <a:ea typeface="微软雅黑" panose="020B0503020204020204" pitchFamily="34" charset="-122"/>
                <a:sym typeface="Wingdings 3" panose="05040102010807070707" pitchFamily="18" charset="2"/>
              </a:rPr>
              <a:t></a:t>
            </a:r>
            <a:endParaRPr lang="en-US" altLang="zh-CN" sz="2800" b="1" dirty="0">
              <a:solidFill>
                <a:srgbClr val="C00000"/>
              </a:solidFill>
              <a:latin typeface="微软雅黑" panose="020B0503020204020204" pitchFamily="34" charset="-122"/>
              <a:ea typeface="微软雅黑" panose="020B0503020204020204"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拥塞控制就会采取措施，减小其拥塞窗口，使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发送方的报文段发送速率降低。</a:t>
            </a:r>
            <a:endParaRPr lang="en-US" altLang="zh-CN"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81957"/>
            <a:ext cx="8222801"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505" indent="-357505" eaLnBrk="0" hangingPunct="0">
              <a:lnSpc>
                <a:spcPts val="3200"/>
              </a:lnSpc>
              <a:buClr>
                <a:srgbClr val="9900CC"/>
              </a:buClr>
              <a:buFont typeface="+mj-lt"/>
              <a:buAutoNum type="arabicPeriod"/>
            </a:pPr>
            <a:r>
              <a:rPr lang="zh-CN" altLang="en-US" sz="2000" b="1" dirty="0" smtClean="0">
                <a:solidFill>
                  <a:srgbClr val="C00000"/>
                </a:solidFill>
                <a:latin typeface="微软雅黑" panose="020B0503020204020204" pitchFamily="34" charset="-122"/>
                <a:ea typeface="微软雅黑" panose="020B0503020204020204" pitchFamily="34" charset="-122"/>
              </a:rPr>
              <a:t>本地</a:t>
            </a:r>
            <a:r>
              <a:rPr lang="zh-CN" altLang="en-US" sz="2000" b="1" dirty="0">
                <a:solidFill>
                  <a:srgbClr val="C00000"/>
                </a:solidFill>
                <a:latin typeface="微软雅黑" panose="020B0503020204020204" pitchFamily="34" charset="-122"/>
                <a:ea typeface="微软雅黑" panose="020B0503020204020204" pitchFamily="34" charset="-122"/>
              </a:rPr>
              <a:t>恢复</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差错</a:t>
            </a:r>
            <a:r>
              <a:rPr lang="zh-CN" altLang="en-US" sz="2000" b="1" dirty="0">
                <a:latin typeface="微软雅黑" panose="020B0503020204020204" pitchFamily="34" charset="-122"/>
                <a:ea typeface="微软雅黑" panose="020B0503020204020204" pitchFamily="34" charset="-122"/>
              </a:rPr>
              <a:t>出现</a:t>
            </a: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什么</a:t>
            </a:r>
            <a:r>
              <a:rPr lang="zh-CN" altLang="en-US" sz="2000" b="1" dirty="0" smtClean="0">
                <a:latin typeface="微软雅黑" panose="020B0503020204020204" pitchFamily="34" charset="-122"/>
                <a:ea typeface="微软雅黑" panose="020B0503020204020204" pitchFamily="34" charset="-122"/>
              </a:rPr>
              <a:t>地方，</a:t>
            </a:r>
            <a:r>
              <a:rPr lang="zh-CN" altLang="en-US" sz="2000" b="1" dirty="0">
                <a:latin typeface="微软雅黑" panose="020B0503020204020204" pitchFamily="34" charset="-122"/>
                <a:ea typeface="微软雅黑" panose="020B0503020204020204" pitchFamily="34" charset="-122"/>
              </a:rPr>
              <a:t>就在什么地方改正。例如，在无线局域网中使用的自动请求</a:t>
            </a:r>
            <a:r>
              <a:rPr lang="zh-CN" altLang="en-US" sz="2000" b="1" dirty="0" smtClean="0">
                <a:latin typeface="微软雅黑" panose="020B0503020204020204" pitchFamily="34" charset="-122"/>
                <a:ea typeface="微软雅黑" panose="020B0503020204020204" pitchFamily="34" charset="-122"/>
              </a:rPr>
              <a:t>重传 </a:t>
            </a:r>
            <a:r>
              <a:rPr lang="en-US" altLang="zh-CN" sz="2000" b="1" dirty="0" smtClean="0">
                <a:latin typeface="微软雅黑" panose="020B0503020204020204" pitchFamily="34" charset="-122"/>
                <a:ea typeface="微软雅黑" panose="020B0503020204020204" pitchFamily="34" charset="-122"/>
              </a:rPr>
              <a:t>ARQ </a:t>
            </a:r>
            <a:r>
              <a:rPr lang="zh-CN" altLang="en-US" sz="2000" b="1" dirty="0" smtClean="0">
                <a:latin typeface="微软雅黑" panose="020B0503020204020204" pitchFamily="34" charset="-122"/>
                <a:ea typeface="微软雅黑" panose="020B0503020204020204" pitchFamily="34" charset="-122"/>
              </a:rPr>
              <a:t>协议</a:t>
            </a:r>
            <a:r>
              <a:rPr lang="zh-CN" altLang="en-US" sz="2000" b="1" dirty="0">
                <a:latin typeface="微软雅黑" panose="020B0503020204020204" pitchFamily="34" charset="-122"/>
                <a:ea typeface="微软雅黑" panose="020B0503020204020204" pitchFamily="34" charset="-122"/>
              </a:rPr>
              <a:t>就属于本地恢复措施。</a:t>
            </a:r>
            <a:endParaRPr lang="zh-CN" altLang="en-US" sz="2000" b="1" dirty="0">
              <a:latin typeface="微软雅黑" panose="020B0503020204020204" pitchFamily="34" charset="-122"/>
              <a:ea typeface="微软雅黑" panose="020B0503020204020204" pitchFamily="34" charset="-122"/>
            </a:endParaRPr>
          </a:p>
          <a:p>
            <a:pPr marL="357505" indent="-357505" eaLnBrk="0" hangingPunct="0">
              <a:lnSpc>
                <a:spcPts val="3200"/>
              </a:lnSpc>
              <a:buClr>
                <a:srgbClr val="9900CC"/>
              </a:buClr>
              <a:buFont typeface="+mj-lt"/>
              <a:buAutoNum type="arabicPeriod"/>
            </a:pPr>
            <a:r>
              <a:rPr lang="zh-CN" altLang="en-US" sz="2000" b="1" dirty="0" smtClean="0">
                <a:solidFill>
                  <a:srgbClr val="C00000"/>
                </a:solidFill>
                <a:latin typeface="微软雅黑" panose="020B0503020204020204" pitchFamily="34" charset="-122"/>
                <a:ea typeface="微软雅黑" panose="020B0503020204020204" pitchFamily="34" charset="-122"/>
              </a:rPr>
              <a:t>让 </a:t>
            </a:r>
            <a:r>
              <a:rPr lang="en-US" altLang="zh-CN" sz="2000" b="1" dirty="0" smtClean="0">
                <a:solidFill>
                  <a:srgbClr val="C00000"/>
                </a:solidFill>
                <a:latin typeface="微软雅黑" panose="020B0503020204020204" pitchFamily="34" charset="-122"/>
                <a:ea typeface="微软雅黑" panose="020B0503020204020204" pitchFamily="34" charset="-122"/>
              </a:rPr>
              <a:t>TCP </a:t>
            </a:r>
            <a:r>
              <a:rPr lang="zh-CN" altLang="en-US" sz="2000" b="1" dirty="0" smtClean="0">
                <a:solidFill>
                  <a:srgbClr val="C00000"/>
                </a:solidFill>
                <a:latin typeface="微软雅黑" panose="020B0503020204020204" pitchFamily="34" charset="-122"/>
                <a:ea typeface="微软雅黑" panose="020B0503020204020204" pitchFamily="34" charset="-122"/>
              </a:rPr>
              <a:t>发送</a:t>
            </a:r>
            <a:r>
              <a:rPr lang="zh-CN" altLang="en-US" sz="2000" b="1" dirty="0">
                <a:solidFill>
                  <a:srgbClr val="C00000"/>
                </a:solidFill>
                <a:latin typeface="微软雅黑" panose="020B0503020204020204" pitchFamily="34" charset="-122"/>
                <a:ea typeface="微软雅黑" panose="020B0503020204020204" pitchFamily="34" charset="-122"/>
              </a:rPr>
              <a:t>方知道什么地方使用了无线链路</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仅在有线</a:t>
            </a:r>
            <a:r>
              <a:rPr lang="zh-CN" altLang="en-US" sz="2000" b="1" dirty="0">
                <a:latin typeface="微软雅黑" panose="020B0503020204020204" pitchFamily="34" charset="-122"/>
                <a:ea typeface="微软雅黑" panose="020B0503020204020204" pitchFamily="34" charset="-122"/>
              </a:rPr>
              <a:t>网络部分发生了</a:t>
            </a:r>
            <a:r>
              <a:rPr lang="zh-CN" altLang="en-US" sz="2000" b="1" dirty="0" smtClean="0">
                <a:latin typeface="微软雅黑" panose="020B0503020204020204" pitchFamily="34" charset="-122"/>
                <a:ea typeface="微软雅黑" panose="020B0503020204020204" pitchFamily="34" charset="-122"/>
              </a:rPr>
              <a:t>拥塞，</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才</a:t>
            </a:r>
            <a:r>
              <a:rPr lang="zh-CN" altLang="en-US" sz="2000" b="1" dirty="0">
                <a:latin typeface="微软雅黑" panose="020B0503020204020204" pitchFamily="34" charset="-122"/>
                <a:ea typeface="微软雅黑" panose="020B0503020204020204" pitchFamily="34" charset="-122"/>
              </a:rPr>
              <a:t>采用拥塞控制的策略</a:t>
            </a:r>
            <a:r>
              <a:rPr lang="zh-CN" altLang="en-US" sz="2000" b="1" dirty="0" smtClean="0">
                <a:latin typeface="微软雅黑" panose="020B0503020204020204" pitchFamily="34" charset="-122"/>
                <a:ea typeface="微软雅黑" panose="020B0503020204020204" pitchFamily="34" charset="-122"/>
              </a:rPr>
              <a:t>。但要区分</a:t>
            </a:r>
            <a:r>
              <a:rPr lang="zh-CN" altLang="en-US" sz="2000" b="1" dirty="0">
                <a:latin typeface="微软雅黑" panose="020B0503020204020204" pitchFamily="34" charset="-122"/>
                <a:ea typeface="微软雅黑" panose="020B0503020204020204" pitchFamily="34" charset="-122"/>
              </a:rPr>
              <a:t>是在有线网段还是无线网段出现报文段丢失，则还需要一些特殊的技术。</a:t>
            </a:r>
            <a:endParaRPr lang="zh-CN" altLang="en-US" sz="2000" b="1" dirty="0">
              <a:latin typeface="微软雅黑" panose="020B0503020204020204" pitchFamily="34" charset="-122"/>
              <a:ea typeface="微软雅黑" panose="020B0503020204020204" pitchFamily="34" charset="-122"/>
            </a:endParaRPr>
          </a:p>
          <a:p>
            <a:pPr marL="357505" indent="-357505" eaLnBrk="0" hangingPunct="0">
              <a:lnSpc>
                <a:spcPts val="3200"/>
              </a:lnSpc>
              <a:buClr>
                <a:srgbClr val="9900CC"/>
              </a:buClr>
              <a:buFont typeface="+mj-lt"/>
              <a:buAutoNum type="arabicPeriod"/>
            </a:pPr>
            <a:r>
              <a:rPr lang="zh-CN" altLang="en-US" sz="2000" b="1" dirty="0" smtClean="0">
                <a:solidFill>
                  <a:srgbClr val="C00000"/>
                </a:solidFill>
                <a:latin typeface="微软雅黑" panose="020B0503020204020204" pitchFamily="34" charset="-122"/>
                <a:ea typeface="微软雅黑" panose="020B0503020204020204" pitchFamily="34" charset="-122"/>
              </a:rPr>
              <a:t>把</a:t>
            </a:r>
            <a:r>
              <a:rPr lang="zh-CN" altLang="en-US" sz="2000" b="1" dirty="0">
                <a:solidFill>
                  <a:srgbClr val="C00000"/>
                </a:solidFill>
                <a:latin typeface="微软雅黑" panose="020B0503020204020204" pitchFamily="34" charset="-122"/>
                <a:ea typeface="微软雅黑" panose="020B0503020204020204" pitchFamily="34" charset="-122"/>
              </a:rPr>
              <a:t>含有移动用户的端到</a:t>
            </a:r>
            <a:r>
              <a:rPr lang="zh-CN" altLang="en-US" sz="2000" b="1" dirty="0" smtClean="0">
                <a:solidFill>
                  <a:srgbClr val="C00000"/>
                </a:solidFill>
                <a:latin typeface="微软雅黑" panose="020B0503020204020204" pitchFamily="34" charset="-122"/>
                <a:ea typeface="微软雅黑" panose="020B0503020204020204" pitchFamily="34" charset="-122"/>
              </a:rPr>
              <a:t>端 </a:t>
            </a:r>
            <a:r>
              <a:rPr lang="en-US" altLang="zh-CN" sz="2000" b="1" dirty="0" smtClean="0">
                <a:solidFill>
                  <a:srgbClr val="C00000"/>
                </a:solidFill>
                <a:latin typeface="微软雅黑" panose="020B0503020204020204" pitchFamily="34" charset="-122"/>
                <a:ea typeface="微软雅黑" panose="020B0503020204020204" pitchFamily="34" charset="-122"/>
              </a:rPr>
              <a:t>TCP </a:t>
            </a:r>
            <a:r>
              <a:rPr lang="zh-CN" altLang="en-US" sz="2000" b="1" dirty="0" smtClean="0">
                <a:solidFill>
                  <a:srgbClr val="C00000"/>
                </a:solidFill>
                <a:latin typeface="微软雅黑" panose="020B0503020204020204" pitchFamily="34" charset="-122"/>
                <a:ea typeface="微软雅黑" panose="020B0503020204020204" pitchFamily="34" charset="-122"/>
              </a:rPr>
              <a:t>连接</a:t>
            </a:r>
            <a:r>
              <a:rPr lang="zh-CN" altLang="en-US" sz="2000" b="1" dirty="0">
                <a:solidFill>
                  <a:srgbClr val="C00000"/>
                </a:solidFill>
                <a:latin typeface="微软雅黑" panose="020B0503020204020204" pitchFamily="34" charset="-122"/>
                <a:ea typeface="微软雅黑" panose="020B0503020204020204" pitchFamily="34" charset="-122"/>
              </a:rPr>
              <a:t>拆成两个互相串接</a:t>
            </a:r>
            <a:r>
              <a:rPr lang="zh-CN" altLang="en-US" sz="2000" b="1" dirty="0" smtClean="0">
                <a:solidFill>
                  <a:srgbClr val="C00000"/>
                </a:solidFill>
                <a:latin typeface="微软雅黑" panose="020B0503020204020204" pitchFamily="34" charset="-122"/>
                <a:ea typeface="微软雅黑" panose="020B0503020204020204" pitchFamily="34" charset="-122"/>
              </a:rPr>
              <a:t>的 </a:t>
            </a:r>
            <a:r>
              <a:rPr lang="en-US" altLang="zh-CN" sz="2000" b="1" dirty="0" smtClean="0">
                <a:solidFill>
                  <a:srgbClr val="C00000"/>
                </a:solidFill>
                <a:latin typeface="微软雅黑" panose="020B0503020204020204" pitchFamily="34" charset="-122"/>
                <a:ea typeface="微软雅黑" panose="020B0503020204020204" pitchFamily="34" charset="-122"/>
              </a:rPr>
              <a:t>TCP </a:t>
            </a:r>
            <a:r>
              <a:rPr lang="zh-CN" altLang="en-US" sz="2000" b="1" dirty="0" smtClean="0">
                <a:solidFill>
                  <a:srgbClr val="C00000"/>
                </a:solidFill>
                <a:latin typeface="微软雅黑" panose="020B0503020204020204" pitchFamily="34" charset="-122"/>
                <a:ea typeface="微软雅黑" panose="020B0503020204020204" pitchFamily="34" charset="-122"/>
              </a:rPr>
              <a:t>连接</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从移动用户到无线接入点是一</a:t>
            </a:r>
            <a:r>
              <a:rPr lang="zh-CN" altLang="en-US" sz="2000" b="1" dirty="0" smtClean="0">
                <a:latin typeface="微软雅黑" panose="020B0503020204020204" pitchFamily="34" charset="-122"/>
                <a:ea typeface="微软雅黑" panose="020B0503020204020204" pitchFamily="34" charset="-122"/>
              </a:rPr>
              <a:t>个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连接（无线</a:t>
            </a:r>
            <a:r>
              <a:rPr lang="zh-CN" altLang="en-US" sz="2000" b="1" dirty="0">
                <a:latin typeface="微软雅黑" panose="020B0503020204020204" pitchFamily="34" charset="-122"/>
                <a:ea typeface="微软雅黑" panose="020B0503020204020204" pitchFamily="34" charset="-122"/>
              </a:rPr>
              <a:t>信道），而剩下的使用有线网段连接的部分则是另一</a:t>
            </a:r>
            <a:r>
              <a:rPr lang="zh-CN" altLang="en-US" sz="2000" b="1" dirty="0" smtClean="0">
                <a:latin typeface="微软雅黑" panose="020B0503020204020204" pitchFamily="34" charset="-122"/>
                <a:ea typeface="微软雅黑" panose="020B0503020204020204" pitchFamily="34" charset="-122"/>
              </a:rPr>
              <a:t>个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a:t>
            </a:r>
            <a:endParaRPr lang="en-US" altLang="zh-CN"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99248" y="598587"/>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anose="020B0503020204020204" pitchFamily="34" charset="-122"/>
              </a:rPr>
              <a:t>使用三种</a:t>
            </a:r>
            <a:r>
              <a:rPr lang="zh-CN" altLang="en-US" sz="2000" b="1" dirty="0" smtClean="0">
                <a:solidFill>
                  <a:schemeClr val="bg1"/>
                </a:solidFill>
                <a:ea typeface="微软雅黑" panose="020B0503020204020204" pitchFamily="34" charset="-122"/>
              </a:rPr>
              <a:t>方法处理问题</a:t>
            </a:r>
            <a:endParaRPr lang="zh-CN" altLang="en-US" sz="2000" b="1" dirty="0">
              <a:solidFill>
                <a:schemeClr val="bg1"/>
              </a:solidFill>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tags/tag1.xml><?xml version="1.0" encoding="utf-8"?>
<p:tagLst xmlns:p="http://schemas.openxmlformats.org/presentationml/2006/main">
  <p:tag name="COMMONDATA" val="eyJoZGlkIjoiNTBhOGQyNTBiYTA5MzhiNDgwMjJjZGI4MTFkZDc0YjQifQ=="/>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32063</Words>
  <Application>WPS 演示</Application>
  <PresentationFormat>全屏显示(16:9)</PresentationFormat>
  <Paragraphs>4790</Paragraphs>
  <Slides>162</Slides>
  <Notes>51</Notes>
  <HiddenSlides>0</HiddenSlides>
  <MMClips>0</MMClips>
  <ScaleCrop>false</ScaleCrop>
  <HeadingPairs>
    <vt:vector size="8" baseType="variant">
      <vt:variant>
        <vt:lpstr>已用的字体</vt:lpstr>
      </vt:variant>
      <vt:variant>
        <vt:i4>10</vt:i4>
      </vt:variant>
      <vt:variant>
        <vt:lpstr>主题</vt:lpstr>
      </vt:variant>
      <vt:variant>
        <vt:i4>1</vt:i4>
      </vt:variant>
      <vt:variant>
        <vt:lpstr>嵌入 OLE 服务器</vt:lpstr>
      </vt:variant>
      <vt:variant>
        <vt:i4>0</vt:i4>
      </vt:variant>
      <vt:variant>
        <vt:lpstr>幻灯片标题</vt:lpstr>
      </vt:variant>
      <vt:variant>
        <vt:i4>162</vt:i4>
      </vt:variant>
    </vt:vector>
  </HeadingPairs>
  <TitlesOfParts>
    <vt:vector size="173" baseType="lpstr">
      <vt:lpstr>Arial</vt:lpstr>
      <vt:lpstr>宋体</vt:lpstr>
      <vt:lpstr>Wingdings</vt:lpstr>
      <vt:lpstr>微软雅黑</vt:lpstr>
      <vt:lpstr>Times New Roman</vt:lpstr>
      <vt:lpstr>Calibri</vt:lpstr>
      <vt:lpstr>Arial Unicode MS</vt:lpstr>
      <vt:lpstr>Wingdings 2</vt:lpstr>
      <vt:lpstr>Comic Sans MS</vt:lpstr>
      <vt:lpstr>Wingdings 3</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Administrator</cp:lastModifiedBy>
  <cp:revision>659</cp:revision>
  <dcterms:created xsi:type="dcterms:W3CDTF">2018-07-18T08:51:00Z</dcterms:created>
  <dcterms:modified xsi:type="dcterms:W3CDTF">2024-10-16T01:24:33Z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6C4988406C4F4AC3A967FFB50E7ECB27_12</vt:lpwstr>
  </property>
  <property fmtid="{D5CDD505-2E9C-101B-9397-08002B2CF9AE}" pid="3" name="KSOProductBuildVer">
    <vt:lpwstr>2052-11.1.0.14309</vt:lpwstr>
  </property>
</Properties>
</file>